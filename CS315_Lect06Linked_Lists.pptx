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33"/>
  </p:notesMasterIdLst>
  <p:handoutMasterIdLst>
    <p:handoutMasterId r:id="rId34"/>
  </p:handoutMasterIdLst>
  <p:sldIdLst>
    <p:sldId id="256" r:id="rId5"/>
    <p:sldId id="609" r:id="rId6"/>
    <p:sldId id="610" r:id="rId7"/>
    <p:sldId id="612" r:id="rId8"/>
    <p:sldId id="611" r:id="rId9"/>
    <p:sldId id="516" r:id="rId10"/>
    <p:sldId id="554" r:id="rId11"/>
    <p:sldId id="555" r:id="rId12"/>
    <p:sldId id="556" r:id="rId13"/>
    <p:sldId id="557" r:id="rId14"/>
    <p:sldId id="558" r:id="rId15"/>
    <p:sldId id="548" r:id="rId16"/>
    <p:sldId id="559" r:id="rId17"/>
    <p:sldId id="280" r:id="rId18"/>
    <p:sldId id="564" r:id="rId19"/>
    <p:sldId id="292" r:id="rId20"/>
    <p:sldId id="297" r:id="rId21"/>
    <p:sldId id="561" r:id="rId22"/>
    <p:sldId id="589" r:id="rId23"/>
    <p:sldId id="592" r:id="rId24"/>
    <p:sldId id="593" r:id="rId25"/>
    <p:sldId id="591" r:id="rId26"/>
    <p:sldId id="600" r:id="rId27"/>
    <p:sldId id="594" r:id="rId28"/>
    <p:sldId id="595" r:id="rId29"/>
    <p:sldId id="260" r:id="rId30"/>
    <p:sldId id="607" r:id="rId31"/>
    <p:sldId id="580"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14" autoAdjust="0"/>
    <p:restoredTop sz="80101" autoAdjust="0"/>
  </p:normalViewPr>
  <p:slideViewPr>
    <p:cSldViewPr snapToGrid="0">
      <p:cViewPr varScale="1">
        <p:scale>
          <a:sx n="78" d="100"/>
          <a:sy n="78" d="100"/>
        </p:scale>
        <p:origin x="408" y="8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Times New Roman" panose="02020603050405020304" pitchFamily="18" charset="0"/>
            </a:endParaRPr>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latin typeface="Times New Roman" panose="02020603050405020304" pitchFamily="18" charset="0"/>
              </a:rPr>
              <a:t>9/3/2026</a:t>
            </a:fld>
            <a:endParaRPr lang="en-US" dirty="0">
              <a:latin typeface="Times New Roman" panose="02020603050405020304" pitchFamily="18" charset="0"/>
            </a:endParaRPr>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Times New Roman" panose="02020603050405020304" pitchFamily="18" charset="0"/>
            </a:endParaRPr>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latin typeface="Times New Roman" panose="02020603050405020304" pitchFamily="18" charset="0"/>
              </a:rPr>
              <a:t>‹#›</a:t>
            </a:fld>
            <a:endParaRPr lang="en-US" dirty="0">
              <a:latin typeface="Times New Roman" panose="02020603050405020304" pitchFamily="18" charset="0"/>
            </a:endParaRPr>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Times New Roman" panose="02020603050405020304" pitchFamily="18"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Times New Roman" panose="02020603050405020304" pitchFamily="18" charset="0"/>
              </a:defRPr>
            </a:lvl1pPr>
          </a:lstStyle>
          <a:p>
            <a:fld id="{C732326A-4C88-4AFB-AA5B-5919D81DFF5B}" type="datetimeFigureOut">
              <a:rPr lang="en-US" smtClean="0"/>
              <a:pPr/>
              <a:t>9/3/2026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Times New Roman" panose="02020603050405020304" pitchFamily="18"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Times New Roman" panose="02020603050405020304" pitchFamily="18" charset="0"/>
              </a:defRPr>
            </a:lvl1pPr>
          </a:lstStyle>
          <a:p>
            <a:fld id="{C6B3AB32-59DF-41F1-9618-EDFBF5049629}" type="slidenum">
              <a:rPr lang="en-US" smtClean="0"/>
              <a:pPr/>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Times New Roman" panose="02020603050405020304" pitchFamily="18" charset="0"/>
        <a:ea typeface="+mn-ea"/>
        <a:cs typeface="+mn-cs"/>
      </a:defRPr>
    </a:lvl1pPr>
    <a:lvl2pPr marL="457200" algn="l" defTabSz="914400" rtl="0" eaLnBrk="1" latinLnBrk="0" hangingPunct="1">
      <a:defRPr sz="1200" b="0" i="0" kern="1200">
        <a:solidFill>
          <a:schemeClr val="tx1"/>
        </a:solidFill>
        <a:latin typeface="Times New Roman" panose="02020603050405020304" pitchFamily="18" charset="0"/>
        <a:ea typeface="+mn-ea"/>
        <a:cs typeface="+mn-cs"/>
      </a:defRPr>
    </a:lvl2pPr>
    <a:lvl3pPr marL="914400" algn="l" defTabSz="914400" rtl="0" eaLnBrk="1" latinLnBrk="0" hangingPunct="1">
      <a:defRPr sz="1200" b="0" i="0" kern="1200">
        <a:solidFill>
          <a:schemeClr val="tx1"/>
        </a:solidFill>
        <a:latin typeface="Times New Roman" panose="02020603050405020304" pitchFamily="18" charset="0"/>
        <a:ea typeface="+mn-ea"/>
        <a:cs typeface="+mn-cs"/>
      </a:defRPr>
    </a:lvl3pPr>
    <a:lvl4pPr marL="1371600" algn="l" defTabSz="914400" rtl="0" eaLnBrk="1" latinLnBrk="0" hangingPunct="1">
      <a:defRPr sz="1200" b="0" i="0" kern="1200">
        <a:solidFill>
          <a:schemeClr val="tx1"/>
        </a:solidFill>
        <a:latin typeface="Times New Roman" panose="02020603050405020304" pitchFamily="18" charset="0"/>
        <a:ea typeface="+mn-ea"/>
        <a:cs typeface="+mn-cs"/>
      </a:defRPr>
    </a:lvl4pPr>
    <a:lvl5pPr marL="1828800" algn="l" defTabSz="914400" rtl="0" eaLnBrk="1" latinLnBrk="0" hangingPunct="1">
      <a:defRPr sz="1200" b="0" i="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Knowing that array is only 5, the whole program runs in O(1)</a:t>
            </a:r>
          </a:p>
          <a:p>
            <a:endParaRPr lang="en-US" dirty="0"/>
          </a:p>
          <a:p>
            <a:r>
              <a:rPr lang="en-US" dirty="0"/>
              <a:t>If</a:t>
            </a:r>
            <a:r>
              <a:rPr lang="en-US" baseline="0" dirty="0"/>
              <a:t> you do not know the size of array, </a:t>
            </a:r>
            <a:r>
              <a:rPr lang="en-US" baseline="0" dirty="0" err="1"/>
              <a:t>sumArray</a:t>
            </a:r>
            <a:r>
              <a:rPr lang="en-US" baseline="0" dirty="0"/>
              <a:t> by itself is O(n)</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C6B3AB32-59DF-41F1-9618-EDFBF5049629}" type="slidenum">
              <a:rPr lang="en-US" smtClean="0"/>
              <a:pPr/>
              <a:t>2</a:t>
            </a:fld>
            <a:endParaRPr lang="en-US" dirty="0"/>
          </a:p>
        </p:txBody>
      </p:sp>
    </p:spTree>
    <p:extLst>
      <p:ext uri="{BB962C8B-B14F-4D97-AF65-F5344CB8AC3E}">
        <p14:creationId xmlns:p14="http://schemas.microsoft.com/office/powerpoint/2010/main" val="695505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6B3AB32-59DF-41F1-9618-EDFBF5049629}" type="slidenum">
              <a:rPr lang="en-US" smtClean="0"/>
              <a:pPr/>
              <a:t>3</a:t>
            </a:fld>
            <a:endParaRPr lang="en-US" dirty="0"/>
          </a:p>
        </p:txBody>
      </p:sp>
    </p:spTree>
    <p:extLst>
      <p:ext uri="{BB962C8B-B14F-4D97-AF65-F5344CB8AC3E}">
        <p14:creationId xmlns:p14="http://schemas.microsoft.com/office/powerpoint/2010/main" val="1937682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E2AE4-5D56-826D-E4E2-A0610338BF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12F1F1-5037-82E3-2515-EDB6441DE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87613C-63DD-5BF7-ECD0-C3E64D8B503E}"/>
              </a:ext>
            </a:extLst>
          </p:cNvPr>
          <p:cNvSpPr>
            <a:spLocks noGrp="1"/>
          </p:cNvSpPr>
          <p:nvPr>
            <p:ph type="body" idx="1"/>
          </p:nvPr>
        </p:nvSpPr>
        <p:spPr/>
        <p:txBody>
          <a:bodyPr/>
          <a:lstStyle/>
          <a:p>
            <a:r>
              <a:rPr lang="en-US" dirty="0"/>
              <a:t>O(log n)</a:t>
            </a:r>
          </a:p>
        </p:txBody>
      </p:sp>
      <p:sp>
        <p:nvSpPr>
          <p:cNvPr id="4" name="Slide Number Placeholder 3">
            <a:extLst>
              <a:ext uri="{FF2B5EF4-FFF2-40B4-BE49-F238E27FC236}">
                <a16:creationId xmlns:a16="http://schemas.microsoft.com/office/drawing/2014/main" id="{9176F2D2-7B46-F853-2376-7B89AD03966F}"/>
              </a:ext>
            </a:extLst>
          </p:cNvPr>
          <p:cNvSpPr>
            <a:spLocks noGrp="1"/>
          </p:cNvSpPr>
          <p:nvPr>
            <p:ph type="sldNum" sz="quarter" idx="10"/>
          </p:nvPr>
        </p:nvSpPr>
        <p:spPr/>
        <p:txBody>
          <a:bodyPr/>
          <a:lstStyle/>
          <a:p>
            <a:fld id="{C6B3AB32-59DF-41F1-9618-EDFBF5049629}" type="slidenum">
              <a:rPr lang="en-US" smtClean="0"/>
              <a:pPr/>
              <a:t>4</a:t>
            </a:fld>
            <a:endParaRPr lang="en-US" dirty="0"/>
          </a:p>
        </p:txBody>
      </p:sp>
    </p:spTree>
    <p:extLst>
      <p:ext uri="{BB962C8B-B14F-4D97-AF65-F5344CB8AC3E}">
        <p14:creationId xmlns:p14="http://schemas.microsoft.com/office/powerpoint/2010/main" val="3560140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6B3AB32-59DF-41F1-9618-EDFBF5049629}" type="slidenum">
              <a:rPr lang="en-US" smtClean="0"/>
              <a:pPr/>
              <a:t>5</a:t>
            </a:fld>
            <a:endParaRPr lang="en-US" dirty="0"/>
          </a:p>
        </p:txBody>
      </p:sp>
    </p:spTree>
    <p:extLst>
      <p:ext uri="{BB962C8B-B14F-4D97-AF65-F5344CB8AC3E}">
        <p14:creationId xmlns:p14="http://schemas.microsoft.com/office/powerpoint/2010/main" val="25011965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10509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94568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79540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666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 &lt;</a:t>
            </a:r>
            <a:r>
              <a:rPr lang="en-US" dirty="0" err="1"/>
              <a:t>stdio.h</a:t>
            </a:r>
            <a:r>
              <a:rPr lang="en-US" dirty="0"/>
              <a:t>&gt;</a:t>
            </a:r>
          </a:p>
          <a:p>
            <a:r>
              <a:rPr lang="en-US" dirty="0"/>
              <a:t>int main() {</a:t>
            </a:r>
          </a:p>
          <a:p>
            <a:r>
              <a:rPr lang="en-US" dirty="0"/>
              <a:t>    int num=5;</a:t>
            </a:r>
          </a:p>
          <a:p>
            <a:r>
              <a:rPr lang="en-US" dirty="0"/>
              <a:t>    int*  </a:t>
            </a:r>
            <a:r>
              <a:rPr lang="en-US" dirty="0" err="1"/>
              <a:t>ptr</a:t>
            </a:r>
            <a:r>
              <a:rPr lang="en-US" dirty="0"/>
              <a:t> = &amp;num;</a:t>
            </a:r>
          </a:p>
          <a:p>
            <a:r>
              <a:rPr lang="en-US" dirty="0"/>
              <a:t>    </a:t>
            </a:r>
            <a:r>
              <a:rPr lang="en-US" dirty="0" err="1"/>
              <a:t>printf</a:t>
            </a:r>
            <a:r>
              <a:rPr lang="en-US" dirty="0"/>
              <a:t>("num=%d &amp;num=%p\n", num, &amp;num); </a:t>
            </a:r>
          </a:p>
          <a:p>
            <a:r>
              <a:rPr lang="en-US" dirty="0"/>
              <a:t>    </a:t>
            </a:r>
            <a:r>
              <a:rPr lang="en-US" dirty="0" err="1"/>
              <a:t>printf</a:t>
            </a:r>
            <a:r>
              <a:rPr lang="en-US" dirty="0"/>
              <a:t>("</a:t>
            </a:r>
            <a:r>
              <a:rPr lang="en-US" dirty="0" err="1"/>
              <a:t>ptr</a:t>
            </a:r>
            <a:r>
              <a:rPr lang="en-US" dirty="0"/>
              <a:t>=%p *</a:t>
            </a:r>
            <a:r>
              <a:rPr lang="en-US" dirty="0" err="1"/>
              <a:t>ptr</a:t>
            </a:r>
            <a:r>
              <a:rPr lang="en-US" dirty="0"/>
              <a:t>=%d\n", </a:t>
            </a:r>
            <a:r>
              <a:rPr lang="en-US" dirty="0" err="1"/>
              <a:t>ptr</a:t>
            </a:r>
            <a:r>
              <a:rPr lang="en-US" dirty="0"/>
              <a:t>, *</a:t>
            </a:r>
            <a:r>
              <a:rPr lang="en-US" dirty="0" err="1"/>
              <a:t>ptr</a:t>
            </a:r>
            <a:r>
              <a:rPr lang="en-US" dirty="0"/>
              <a:t>);</a:t>
            </a:r>
          </a:p>
          <a:p>
            <a:r>
              <a:rPr lang="en-US" dirty="0"/>
              <a:t>    return 0;</a:t>
            </a:r>
          </a:p>
          <a:p>
            <a:r>
              <a:rPr lang="en-US" dirty="0"/>
              <a:t> }</a:t>
            </a:r>
          </a:p>
          <a:p>
            <a:endParaRPr lang="en-US" dirty="0"/>
          </a:p>
        </p:txBody>
      </p:sp>
    </p:spTree>
    <p:extLst>
      <p:ext uri="{BB962C8B-B14F-4D97-AF65-F5344CB8AC3E}">
        <p14:creationId xmlns:p14="http://schemas.microsoft.com/office/powerpoint/2010/main" val="402190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 &lt;</a:t>
            </a:r>
            <a:r>
              <a:rPr lang="en-US" dirty="0" err="1"/>
              <a:t>stdio.h</a:t>
            </a:r>
            <a:r>
              <a:rPr lang="en-US" dirty="0"/>
              <a:t>&gt;</a:t>
            </a:r>
          </a:p>
          <a:p>
            <a:endParaRPr lang="en-US" dirty="0"/>
          </a:p>
          <a:p>
            <a:r>
              <a:rPr lang="en-US" dirty="0"/>
              <a:t>int main() {</a:t>
            </a:r>
          </a:p>
          <a:p>
            <a:r>
              <a:rPr lang="en-US" dirty="0"/>
              <a:t>    int num=5;</a:t>
            </a:r>
          </a:p>
          <a:p>
            <a:r>
              <a:rPr lang="en-US" dirty="0"/>
              <a:t>    int* </a:t>
            </a:r>
            <a:r>
              <a:rPr lang="en-US" dirty="0" err="1"/>
              <a:t>ptr</a:t>
            </a:r>
            <a:r>
              <a:rPr lang="en-US" dirty="0"/>
              <a:t> = &amp;num;</a:t>
            </a:r>
          </a:p>
          <a:p>
            <a:endParaRPr lang="en-US" dirty="0"/>
          </a:p>
          <a:p>
            <a:r>
              <a:rPr lang="en-US" dirty="0"/>
              <a:t>    </a:t>
            </a:r>
            <a:r>
              <a:rPr lang="en-US" dirty="0" err="1"/>
              <a:t>printf</a:t>
            </a:r>
            <a:r>
              <a:rPr lang="en-US" dirty="0"/>
              <a:t>("num is set to: %d %d\n", num, *</a:t>
            </a:r>
            <a:r>
              <a:rPr lang="en-US" dirty="0" err="1"/>
              <a:t>ptr</a:t>
            </a:r>
            <a:r>
              <a:rPr lang="en-US" dirty="0"/>
              <a:t>);</a:t>
            </a:r>
          </a:p>
          <a:p>
            <a:r>
              <a:rPr lang="en-US" dirty="0"/>
              <a:t>    </a:t>
            </a:r>
            <a:r>
              <a:rPr lang="en-US" dirty="0" err="1"/>
              <a:t>printf</a:t>
            </a:r>
            <a:r>
              <a:rPr lang="en-US" dirty="0"/>
              <a:t>("num is stored at: %p %p\n", &amp;num, </a:t>
            </a:r>
            <a:r>
              <a:rPr lang="en-US" dirty="0" err="1"/>
              <a:t>ptr</a:t>
            </a:r>
            <a:r>
              <a:rPr lang="en-US" dirty="0"/>
              <a:t>);</a:t>
            </a:r>
          </a:p>
          <a:p>
            <a:endParaRPr lang="en-US" dirty="0"/>
          </a:p>
          <a:p>
            <a:r>
              <a:rPr lang="en-US" dirty="0"/>
              <a:t>    num++;</a:t>
            </a:r>
          </a:p>
          <a:p>
            <a:r>
              <a:rPr lang="en-US" dirty="0"/>
              <a:t>    (*</a:t>
            </a:r>
            <a:r>
              <a:rPr lang="en-US" dirty="0" err="1"/>
              <a:t>ptr</a:t>
            </a:r>
            <a:r>
              <a:rPr lang="en-US" dirty="0"/>
              <a:t>)++;</a:t>
            </a:r>
          </a:p>
          <a:p>
            <a:r>
              <a:rPr lang="en-US" dirty="0"/>
              <a:t>    </a:t>
            </a:r>
            <a:r>
              <a:rPr lang="en-US" dirty="0" err="1"/>
              <a:t>printf</a:t>
            </a:r>
            <a:r>
              <a:rPr lang="en-US" dirty="0"/>
              <a:t>("new num is %d\n", num);</a:t>
            </a:r>
          </a:p>
          <a:p>
            <a:endParaRPr lang="en-US" dirty="0"/>
          </a:p>
          <a:p>
            <a:r>
              <a:rPr lang="en-US" dirty="0"/>
              <a:t>    return 0;</a:t>
            </a:r>
          </a:p>
          <a:p>
            <a:r>
              <a:rPr lang="en-US" dirty="0"/>
              <a:t>}</a:t>
            </a:r>
          </a:p>
          <a:p>
            <a:endParaRPr lang="en-US" dirty="0"/>
          </a:p>
        </p:txBody>
      </p:sp>
    </p:spTree>
    <p:extLst>
      <p:ext uri="{BB962C8B-B14F-4D97-AF65-F5344CB8AC3E}">
        <p14:creationId xmlns:p14="http://schemas.microsoft.com/office/powerpoint/2010/main" val="17275213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49626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 math is done and you need a spot in memory to store 10</a:t>
            </a:r>
          </a:p>
        </p:txBody>
      </p:sp>
      <p:sp>
        <p:nvSpPr>
          <p:cNvPr id="4" name="Slide Number Placeholder 3"/>
          <p:cNvSpPr>
            <a:spLocks noGrp="1"/>
          </p:cNvSpPr>
          <p:nvPr>
            <p:ph type="sldNum" sz="quarter" idx="5"/>
          </p:nvPr>
        </p:nvSpPr>
        <p:spPr/>
        <p:txBody>
          <a:bodyPr/>
          <a:lstStyle/>
          <a:p>
            <a:fld id="{C6B3AB32-59DF-41F1-9618-EDFBF5049629}" type="slidenum">
              <a:rPr lang="en-US" smtClean="0"/>
              <a:pPr/>
              <a:t>14</a:t>
            </a:fld>
            <a:endParaRPr lang="en-US" dirty="0"/>
          </a:p>
        </p:txBody>
      </p:sp>
    </p:spTree>
    <p:extLst>
      <p:ext uri="{BB962C8B-B14F-4D97-AF65-F5344CB8AC3E}">
        <p14:creationId xmlns:p14="http://schemas.microsoft.com/office/powerpoint/2010/main" val="38885877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660741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A7DD7BD1-6825-4DC0-9099-B9E78B685343}" type="slidenum">
              <a:rPr lang="en-US" altLang="en-US" sz="1200">
                <a:solidFill>
                  <a:schemeClr val="tx1"/>
                </a:solidFill>
              </a:rPr>
              <a:pPr eaLnBrk="1" hangingPunct="1"/>
              <a:t>20</a:t>
            </a:fld>
            <a:endParaRPr lang="en-US" altLang="en-US" sz="1200">
              <a:solidFill>
                <a:schemeClr val="tx1"/>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dirty="0"/>
              <a:t> </a:t>
            </a:r>
          </a:p>
          <a:p>
            <a:pPr eaLnBrk="1" hangingPunct="1"/>
            <a:r>
              <a:rPr lang="en-US" altLang="en-US" dirty="0" err="1"/>
              <a:t>Pokemon</a:t>
            </a:r>
            <a:r>
              <a:rPr lang="en-US" altLang="en-US" dirty="0"/>
              <a:t>* mine=NULL;</a:t>
            </a:r>
          </a:p>
          <a:p>
            <a:pPr eaLnBrk="1" hangingPunct="1"/>
            <a:r>
              <a:rPr lang="en-US" altLang="en-US" dirty="0"/>
              <a:t>  </a:t>
            </a:r>
          </a:p>
        </p:txBody>
      </p:sp>
    </p:spTree>
    <p:extLst>
      <p:ext uri="{BB962C8B-B14F-4D97-AF65-F5344CB8AC3E}">
        <p14:creationId xmlns:p14="http://schemas.microsoft.com/office/powerpoint/2010/main" val="18376624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A7DD7BD1-6825-4DC0-9099-B9E78B685343}" type="slidenum">
              <a:rPr lang="en-US" altLang="en-US" sz="1200">
                <a:solidFill>
                  <a:schemeClr val="tx1"/>
                </a:solidFill>
              </a:rPr>
              <a:pPr eaLnBrk="1" hangingPunct="1"/>
              <a:t>21</a:t>
            </a:fld>
            <a:endParaRPr lang="en-US" altLang="en-US" sz="1200">
              <a:solidFill>
                <a:schemeClr val="tx1"/>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dirty="0" err="1"/>
              <a:t>Pokemon</a:t>
            </a:r>
            <a:r>
              <a:rPr lang="en-US" altLang="en-US" dirty="0"/>
              <a:t>* </a:t>
            </a:r>
            <a:r>
              <a:rPr lang="en-US" altLang="en-US" dirty="0" err="1"/>
              <a:t>addPokemon</a:t>
            </a:r>
            <a:r>
              <a:rPr lang="en-US" altLang="en-US" dirty="0"/>
              <a:t>(</a:t>
            </a:r>
            <a:r>
              <a:rPr lang="en-US" altLang="en-US" dirty="0" err="1"/>
              <a:t>Pokemon</a:t>
            </a:r>
            <a:r>
              <a:rPr lang="en-US" altLang="en-US" dirty="0"/>
              <a:t>* list){</a:t>
            </a:r>
          </a:p>
          <a:p>
            <a:pPr eaLnBrk="1" hangingPunct="1"/>
            <a:r>
              <a:rPr lang="en-US" altLang="en-US" dirty="0"/>
              <a:t>  if(list== NULL){    //This will be the first </a:t>
            </a:r>
            <a:r>
              <a:rPr lang="en-US" altLang="en-US" dirty="0" err="1"/>
              <a:t>Pokemon</a:t>
            </a:r>
            <a:r>
              <a:rPr lang="en-US" altLang="en-US" dirty="0"/>
              <a:t> in the list</a:t>
            </a:r>
          </a:p>
          <a:p>
            <a:pPr eaLnBrk="1" hangingPunct="1"/>
            <a:r>
              <a:rPr lang="en-US" altLang="en-US" dirty="0"/>
              <a:t>    list=malloc(</a:t>
            </a:r>
            <a:r>
              <a:rPr lang="en-US" altLang="en-US" dirty="0" err="1"/>
              <a:t>sizeof</a:t>
            </a:r>
            <a:r>
              <a:rPr lang="en-US" altLang="en-US" dirty="0"/>
              <a:t>(</a:t>
            </a:r>
            <a:r>
              <a:rPr lang="en-US" altLang="en-US" dirty="0" err="1"/>
              <a:t>Pokemon</a:t>
            </a:r>
            <a:r>
              <a:rPr lang="en-US" altLang="en-US" dirty="0"/>
              <a:t>));  //dynamically allocate memory for </a:t>
            </a:r>
            <a:r>
              <a:rPr lang="en-US" altLang="en-US" dirty="0" err="1"/>
              <a:t>Pokemon</a:t>
            </a:r>
            <a:endParaRPr lang="en-US" altLang="en-US" dirty="0"/>
          </a:p>
          <a:p>
            <a:pPr eaLnBrk="1" hangingPunct="1"/>
            <a:r>
              <a:rPr lang="en-US" altLang="en-US" dirty="0"/>
              <a:t>    </a:t>
            </a:r>
            <a:r>
              <a:rPr lang="en-US" altLang="en-US" dirty="0" err="1"/>
              <a:t>strcpy</a:t>
            </a:r>
            <a:r>
              <a:rPr lang="en-US" altLang="en-US" dirty="0"/>
              <a:t>(list-&gt;name, "</a:t>
            </a:r>
            <a:r>
              <a:rPr lang="en-US" altLang="en-US" dirty="0" err="1"/>
              <a:t>squirtle</a:t>
            </a:r>
            <a:r>
              <a:rPr lang="en-US" altLang="en-US" dirty="0"/>
              <a:t>");</a:t>
            </a:r>
          </a:p>
          <a:p>
            <a:pPr eaLnBrk="1" hangingPunct="1"/>
            <a:r>
              <a:rPr lang="en-US" altLang="en-US" dirty="0"/>
              <a:t>    list-&gt;cp=400;</a:t>
            </a:r>
          </a:p>
          <a:p>
            <a:pPr eaLnBrk="1" hangingPunct="1"/>
            <a:r>
              <a:rPr lang="en-US" altLang="en-US" dirty="0"/>
              <a:t>    list-&gt;next=NULL;</a:t>
            </a:r>
          </a:p>
          <a:p>
            <a:pPr eaLnBrk="1" hangingPunct="1"/>
            <a:r>
              <a:rPr lang="en-US" altLang="en-US" dirty="0"/>
              <a:t>    return list; </a:t>
            </a:r>
          </a:p>
          <a:p>
            <a:pPr eaLnBrk="1" hangingPunct="1"/>
            <a:r>
              <a:rPr lang="en-US" altLang="en-US" dirty="0"/>
              <a:t>  }</a:t>
            </a:r>
          </a:p>
          <a:p>
            <a:pPr eaLnBrk="1" hangingPunct="1"/>
            <a:r>
              <a:rPr lang="en-US" altLang="en-US" dirty="0"/>
              <a:t>  else{  //Find the end of the list and add a new </a:t>
            </a:r>
            <a:r>
              <a:rPr lang="en-US" altLang="en-US" dirty="0" err="1"/>
              <a:t>Pokemon</a:t>
            </a:r>
            <a:endParaRPr lang="en-US" altLang="en-US" dirty="0"/>
          </a:p>
          <a:p>
            <a:pPr eaLnBrk="1" hangingPunct="1"/>
            <a:r>
              <a:rPr lang="en-US" altLang="en-US" dirty="0"/>
              <a:t>    </a:t>
            </a:r>
            <a:r>
              <a:rPr lang="en-US" altLang="en-US" dirty="0" err="1"/>
              <a:t>Pokemon</a:t>
            </a:r>
            <a:r>
              <a:rPr lang="en-US" altLang="en-US" dirty="0"/>
              <a:t>* </a:t>
            </a:r>
            <a:r>
              <a:rPr lang="en-US" altLang="en-US" dirty="0" err="1"/>
              <a:t>frontOfList</a:t>
            </a:r>
            <a:r>
              <a:rPr lang="en-US" altLang="en-US" dirty="0"/>
              <a:t>=list;</a:t>
            </a:r>
          </a:p>
          <a:p>
            <a:pPr eaLnBrk="1" hangingPunct="1"/>
            <a:r>
              <a:rPr lang="en-US" altLang="en-US" dirty="0"/>
              <a:t>    while(list-&gt;next != NULL){</a:t>
            </a:r>
          </a:p>
          <a:p>
            <a:pPr eaLnBrk="1" hangingPunct="1"/>
            <a:r>
              <a:rPr lang="en-US" altLang="en-US" dirty="0"/>
              <a:t>      list=list-&gt;next;</a:t>
            </a:r>
          </a:p>
          <a:p>
            <a:pPr eaLnBrk="1" hangingPunct="1"/>
            <a:r>
              <a:rPr lang="en-US" altLang="en-US" dirty="0"/>
              <a:t>    }</a:t>
            </a:r>
          </a:p>
          <a:p>
            <a:pPr eaLnBrk="1" hangingPunct="1"/>
            <a:r>
              <a:rPr lang="en-US" altLang="en-US" dirty="0"/>
              <a:t>    list-&gt;next=malloc(</a:t>
            </a:r>
            <a:r>
              <a:rPr lang="en-US" altLang="en-US" dirty="0" err="1"/>
              <a:t>sizeof</a:t>
            </a:r>
            <a:r>
              <a:rPr lang="en-US" altLang="en-US" dirty="0"/>
              <a:t>(</a:t>
            </a:r>
            <a:r>
              <a:rPr lang="en-US" altLang="en-US" dirty="0" err="1"/>
              <a:t>Pokemon</a:t>
            </a:r>
            <a:r>
              <a:rPr lang="en-US" altLang="en-US" dirty="0"/>
              <a:t>));</a:t>
            </a:r>
          </a:p>
          <a:p>
            <a:pPr eaLnBrk="1" hangingPunct="1"/>
            <a:r>
              <a:rPr lang="en-US" altLang="en-US" dirty="0"/>
              <a:t>    </a:t>
            </a:r>
            <a:r>
              <a:rPr lang="en-US" altLang="en-US" dirty="0" err="1"/>
              <a:t>Pokemon</a:t>
            </a:r>
            <a:r>
              <a:rPr lang="en-US" altLang="en-US" dirty="0"/>
              <a:t>* </a:t>
            </a:r>
            <a:r>
              <a:rPr lang="en-US" altLang="en-US" dirty="0" err="1"/>
              <a:t>newPokemon</a:t>
            </a:r>
            <a:r>
              <a:rPr lang="en-US" altLang="en-US" dirty="0"/>
              <a:t>=list-&gt;next;</a:t>
            </a:r>
          </a:p>
          <a:p>
            <a:pPr eaLnBrk="1" hangingPunct="1"/>
            <a:r>
              <a:rPr lang="en-US" altLang="en-US" dirty="0"/>
              <a:t>    </a:t>
            </a:r>
            <a:r>
              <a:rPr lang="en-US" altLang="en-US" dirty="0" err="1"/>
              <a:t>strcpy</a:t>
            </a:r>
            <a:r>
              <a:rPr lang="en-US" altLang="en-US" dirty="0"/>
              <a:t>( (*</a:t>
            </a:r>
            <a:r>
              <a:rPr lang="en-US" altLang="en-US" dirty="0" err="1"/>
              <a:t>newPokemon</a:t>
            </a:r>
            <a:r>
              <a:rPr lang="en-US" altLang="en-US" dirty="0"/>
              <a:t>).name, names[rand()%10]); //</a:t>
            </a:r>
            <a:r>
              <a:rPr lang="en-US" altLang="en-US" dirty="0" err="1"/>
              <a:t>newPokemon</a:t>
            </a:r>
            <a:r>
              <a:rPr lang="en-US" altLang="en-US" dirty="0"/>
              <a:t>-&gt;name</a:t>
            </a:r>
          </a:p>
          <a:p>
            <a:pPr eaLnBrk="1" hangingPunct="1"/>
            <a:r>
              <a:rPr lang="en-US" altLang="en-US" dirty="0"/>
              <a:t>    </a:t>
            </a:r>
            <a:r>
              <a:rPr lang="en-US" altLang="en-US" dirty="0" err="1"/>
              <a:t>newPokemon</a:t>
            </a:r>
            <a:r>
              <a:rPr lang="en-US" altLang="en-US" dirty="0"/>
              <a:t>-&gt;cp=rand()%2000;</a:t>
            </a:r>
          </a:p>
          <a:p>
            <a:pPr eaLnBrk="1" hangingPunct="1"/>
            <a:r>
              <a:rPr lang="en-US" altLang="en-US" dirty="0"/>
              <a:t>    </a:t>
            </a:r>
            <a:r>
              <a:rPr lang="en-US" altLang="en-US" dirty="0" err="1"/>
              <a:t>newPokemon</a:t>
            </a:r>
            <a:r>
              <a:rPr lang="en-US" altLang="en-US" dirty="0"/>
              <a:t>-&gt;next=NULL;</a:t>
            </a:r>
          </a:p>
          <a:p>
            <a:pPr eaLnBrk="1" hangingPunct="1"/>
            <a:r>
              <a:rPr lang="en-US" altLang="en-US" dirty="0"/>
              <a:t>    return </a:t>
            </a:r>
            <a:r>
              <a:rPr lang="en-US" altLang="en-US" dirty="0" err="1"/>
              <a:t>frontOfList</a:t>
            </a:r>
            <a:r>
              <a:rPr lang="en-US" altLang="en-US" dirty="0"/>
              <a:t>;</a:t>
            </a:r>
          </a:p>
          <a:p>
            <a:pPr eaLnBrk="1" hangingPunct="1"/>
            <a:r>
              <a:rPr lang="en-US" altLang="en-US" dirty="0"/>
              <a:t>  }  </a:t>
            </a:r>
          </a:p>
          <a:p>
            <a:pPr eaLnBrk="1" hangingPunct="1"/>
            <a:r>
              <a:rPr lang="en-US" altLang="en-US" dirty="0"/>
              <a:t>}</a:t>
            </a:r>
          </a:p>
          <a:p>
            <a:pPr eaLnBrk="1" hangingPunct="1"/>
            <a:endParaRPr lang="en-US" altLang="en-US" dirty="0"/>
          </a:p>
          <a:p>
            <a:pPr eaLnBrk="1" hangingPunct="1"/>
            <a:endParaRPr lang="en-US" altLang="en-US" dirty="0"/>
          </a:p>
        </p:txBody>
      </p:sp>
    </p:spTree>
    <p:extLst>
      <p:ext uri="{BB962C8B-B14F-4D97-AF65-F5344CB8AC3E}">
        <p14:creationId xmlns:p14="http://schemas.microsoft.com/office/powerpoint/2010/main" val="3491736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A7DD7BD1-6825-4DC0-9099-B9E78B685343}" type="slidenum">
              <a:rPr lang="en-US" altLang="en-US" sz="1200">
                <a:solidFill>
                  <a:schemeClr val="tx1"/>
                </a:solidFill>
              </a:rPr>
              <a:pPr eaLnBrk="1" hangingPunct="1"/>
              <a:t>22</a:t>
            </a:fld>
            <a:endParaRPr lang="en-US" altLang="en-US" sz="1200">
              <a:solidFill>
                <a:schemeClr val="tx1"/>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dirty="0"/>
              <a:t>#include &lt;</a:t>
            </a:r>
            <a:r>
              <a:rPr lang="en-US" altLang="en-US" dirty="0" err="1"/>
              <a:t>stdio.h</a:t>
            </a:r>
            <a:r>
              <a:rPr lang="en-US" altLang="en-US" dirty="0"/>
              <a:t>&gt;</a:t>
            </a:r>
          </a:p>
          <a:p>
            <a:pPr eaLnBrk="1" hangingPunct="1"/>
            <a:r>
              <a:rPr lang="en-US" altLang="en-US" dirty="0"/>
              <a:t>#include &lt;</a:t>
            </a:r>
            <a:r>
              <a:rPr lang="en-US" altLang="en-US" dirty="0" err="1"/>
              <a:t>stdlib.h</a:t>
            </a:r>
            <a:r>
              <a:rPr lang="en-US" altLang="en-US" dirty="0"/>
              <a:t>&gt;</a:t>
            </a:r>
          </a:p>
          <a:p>
            <a:pPr eaLnBrk="1" hangingPunct="1"/>
            <a:r>
              <a:rPr lang="en-US" altLang="en-US" dirty="0"/>
              <a:t>#include &lt;</a:t>
            </a:r>
            <a:r>
              <a:rPr lang="en-US" altLang="en-US" dirty="0" err="1"/>
              <a:t>string.h</a:t>
            </a:r>
            <a:r>
              <a:rPr lang="en-US" altLang="en-US" dirty="0"/>
              <a:t>&gt;</a:t>
            </a:r>
          </a:p>
          <a:p>
            <a:pPr eaLnBrk="1" hangingPunct="1"/>
            <a:endParaRPr lang="en-US" altLang="en-US" dirty="0"/>
          </a:p>
          <a:p>
            <a:pPr eaLnBrk="1" hangingPunct="1"/>
            <a:endParaRPr lang="en-US" altLang="en-US" dirty="0"/>
          </a:p>
          <a:p>
            <a:pPr eaLnBrk="1" hangingPunct="1"/>
            <a:r>
              <a:rPr lang="en-US" altLang="en-US" dirty="0"/>
              <a:t>typedef struct </a:t>
            </a:r>
            <a:r>
              <a:rPr lang="en-US" altLang="en-US" dirty="0" err="1"/>
              <a:t>pokemon</a:t>
            </a:r>
            <a:r>
              <a:rPr lang="en-US" altLang="en-US" dirty="0"/>
              <a:t>{     //define the </a:t>
            </a:r>
            <a:r>
              <a:rPr lang="en-US" altLang="en-US" dirty="0" err="1"/>
              <a:t>Pokemon</a:t>
            </a:r>
            <a:r>
              <a:rPr lang="en-US" altLang="en-US" dirty="0"/>
              <a:t> data type alias </a:t>
            </a:r>
            <a:r>
              <a:rPr lang="en-US" altLang="en-US" dirty="0" err="1"/>
              <a:t>to:struct</a:t>
            </a:r>
            <a:r>
              <a:rPr lang="en-US" altLang="en-US" dirty="0"/>
              <a:t> </a:t>
            </a:r>
            <a:r>
              <a:rPr lang="en-US" altLang="en-US" dirty="0" err="1"/>
              <a:t>pokemon</a:t>
            </a:r>
            <a:endParaRPr lang="en-US" altLang="en-US" dirty="0"/>
          </a:p>
          <a:p>
            <a:pPr eaLnBrk="1" hangingPunct="1"/>
            <a:r>
              <a:rPr lang="en-US" altLang="en-US" dirty="0"/>
              <a:t>  char name[30];</a:t>
            </a:r>
          </a:p>
          <a:p>
            <a:pPr eaLnBrk="1" hangingPunct="1"/>
            <a:r>
              <a:rPr lang="en-US" altLang="en-US" dirty="0"/>
              <a:t>  int cp;</a:t>
            </a:r>
          </a:p>
          <a:p>
            <a:pPr eaLnBrk="1" hangingPunct="1"/>
            <a:r>
              <a:rPr lang="en-US" altLang="en-US" dirty="0"/>
              <a:t>  struct </a:t>
            </a:r>
            <a:r>
              <a:rPr lang="en-US" altLang="en-US" dirty="0" err="1"/>
              <a:t>pokemon</a:t>
            </a:r>
            <a:r>
              <a:rPr lang="en-US" altLang="en-US" dirty="0"/>
              <a:t>* next;</a:t>
            </a:r>
          </a:p>
          <a:p>
            <a:pPr eaLnBrk="1" hangingPunct="1"/>
            <a:r>
              <a:rPr lang="en-US" altLang="en-US" dirty="0"/>
              <a:t>} </a:t>
            </a:r>
            <a:r>
              <a:rPr lang="en-US" altLang="en-US" dirty="0" err="1"/>
              <a:t>Pokemon</a:t>
            </a:r>
            <a:r>
              <a:rPr lang="en-US" altLang="en-US" dirty="0"/>
              <a:t>;</a:t>
            </a:r>
          </a:p>
          <a:p>
            <a:pPr eaLnBrk="1" hangingPunct="1"/>
            <a:endParaRPr lang="en-US" altLang="en-US" dirty="0"/>
          </a:p>
          <a:p>
            <a:pPr eaLnBrk="1" hangingPunct="1"/>
            <a:r>
              <a:rPr lang="en-US" altLang="en-US" dirty="0"/>
              <a:t>//a 2D array with 10 </a:t>
            </a:r>
            <a:r>
              <a:rPr lang="en-US" altLang="en-US" dirty="0" err="1"/>
              <a:t>pokemon</a:t>
            </a:r>
            <a:r>
              <a:rPr lang="en-US" altLang="en-US" dirty="0"/>
              <a:t> names that are all less than 50 characters</a:t>
            </a:r>
          </a:p>
          <a:p>
            <a:pPr eaLnBrk="1" hangingPunct="1"/>
            <a:r>
              <a:rPr lang="en-US" altLang="en-US" dirty="0"/>
              <a:t>char names[10][50]={ "</a:t>
            </a:r>
            <a:r>
              <a:rPr lang="en-US" altLang="en-US" dirty="0" err="1"/>
              <a:t>pikachu</a:t>
            </a:r>
            <a:r>
              <a:rPr lang="en-US" altLang="en-US" dirty="0"/>
              <a:t>", "</a:t>
            </a:r>
            <a:r>
              <a:rPr lang="en-US" altLang="en-US" dirty="0" err="1"/>
              <a:t>magik</a:t>
            </a:r>
            <a:r>
              <a:rPr lang="en-US" altLang="en-US" dirty="0"/>
              <a:t> carp", "</a:t>
            </a:r>
            <a:r>
              <a:rPr lang="en-US" altLang="en-US" dirty="0" err="1"/>
              <a:t>eevee</a:t>
            </a:r>
            <a:r>
              <a:rPr lang="en-US" altLang="en-US" dirty="0"/>
              <a:t>", "</a:t>
            </a:r>
            <a:r>
              <a:rPr lang="en-US" altLang="en-US" dirty="0" err="1"/>
              <a:t>charmander</a:t>
            </a:r>
            <a:r>
              <a:rPr lang="en-US" altLang="en-US" dirty="0"/>
              <a:t>", "</a:t>
            </a:r>
            <a:r>
              <a:rPr lang="en-US" altLang="en-US" dirty="0" err="1"/>
              <a:t>squirtle</a:t>
            </a:r>
            <a:r>
              <a:rPr lang="en-US" altLang="en-US" dirty="0"/>
              <a:t>", </a:t>
            </a:r>
          </a:p>
          <a:p>
            <a:pPr eaLnBrk="1" hangingPunct="1"/>
            <a:r>
              <a:rPr lang="en-US" altLang="en-US" dirty="0"/>
              <a:t>                     "</a:t>
            </a:r>
            <a:r>
              <a:rPr lang="en-US" altLang="en-US" dirty="0" err="1"/>
              <a:t>vaporeon</a:t>
            </a:r>
            <a:r>
              <a:rPr lang="en-US" altLang="en-US" dirty="0"/>
              <a:t>", "ditto", "</a:t>
            </a:r>
            <a:r>
              <a:rPr lang="en-US" altLang="en-US" dirty="0" err="1"/>
              <a:t>jigglypuff</a:t>
            </a:r>
            <a:r>
              <a:rPr lang="en-US" altLang="en-US" dirty="0"/>
              <a:t>", "</a:t>
            </a:r>
            <a:r>
              <a:rPr lang="en-US" altLang="en-US" dirty="0" err="1"/>
              <a:t>hypno</a:t>
            </a:r>
            <a:r>
              <a:rPr lang="en-US" altLang="en-US" dirty="0"/>
              <a:t>", "</a:t>
            </a:r>
            <a:r>
              <a:rPr lang="en-US" altLang="en-US" dirty="0" err="1"/>
              <a:t>drowzee</a:t>
            </a:r>
            <a:r>
              <a:rPr lang="en-US" altLang="en-US" dirty="0"/>
              <a:t>"};</a:t>
            </a:r>
          </a:p>
          <a:p>
            <a:pPr eaLnBrk="1" hangingPunct="1"/>
            <a:endParaRPr lang="en-US" altLang="en-US" dirty="0"/>
          </a:p>
          <a:p>
            <a:pPr eaLnBrk="1" hangingPunct="1"/>
            <a:r>
              <a:rPr lang="en-US" altLang="en-US" dirty="0"/>
              <a:t>//***********************************************************</a:t>
            </a:r>
          </a:p>
          <a:p>
            <a:pPr eaLnBrk="1" hangingPunct="1"/>
            <a:r>
              <a:rPr lang="en-US" altLang="en-US" dirty="0"/>
              <a:t>//*  The </a:t>
            </a:r>
            <a:r>
              <a:rPr lang="en-US" altLang="en-US" dirty="0" err="1"/>
              <a:t>printPokemon</a:t>
            </a:r>
            <a:r>
              <a:rPr lang="en-US" altLang="en-US" dirty="0"/>
              <a:t> function expects a </a:t>
            </a:r>
            <a:r>
              <a:rPr lang="en-US" altLang="en-US" dirty="0" err="1"/>
              <a:t>Pokemon</a:t>
            </a:r>
            <a:r>
              <a:rPr lang="en-US" altLang="en-US" dirty="0"/>
              <a:t> pointer</a:t>
            </a:r>
          </a:p>
          <a:p>
            <a:pPr eaLnBrk="1" hangingPunct="1"/>
            <a:r>
              <a:rPr lang="en-US" altLang="en-US" dirty="0"/>
              <a:t>//*  that is a pointer to the beginning of the linked list.</a:t>
            </a:r>
          </a:p>
          <a:p>
            <a:pPr eaLnBrk="1" hangingPunct="1"/>
            <a:r>
              <a:rPr lang="en-US" altLang="en-US" dirty="0"/>
              <a:t>//*  It will print the </a:t>
            </a:r>
            <a:r>
              <a:rPr lang="en-US" altLang="en-US" dirty="0" err="1"/>
              <a:t>pokemon</a:t>
            </a:r>
            <a:r>
              <a:rPr lang="en-US" altLang="en-US" dirty="0"/>
              <a:t> info and then traverse the </a:t>
            </a:r>
          </a:p>
          <a:p>
            <a:pPr eaLnBrk="1" hangingPunct="1"/>
            <a:r>
              <a:rPr lang="en-US" altLang="en-US" dirty="0"/>
              <a:t>//*  until it reaches the end of the list.</a:t>
            </a:r>
          </a:p>
          <a:p>
            <a:pPr eaLnBrk="1" hangingPunct="1"/>
            <a:r>
              <a:rPr lang="en-US" altLang="en-US" dirty="0"/>
              <a:t>//**********************************************************</a:t>
            </a:r>
          </a:p>
          <a:p>
            <a:pPr eaLnBrk="1" hangingPunct="1"/>
            <a:r>
              <a:rPr lang="en-US" altLang="en-US" dirty="0"/>
              <a:t>void </a:t>
            </a:r>
            <a:r>
              <a:rPr lang="en-US" altLang="en-US" dirty="0" err="1"/>
              <a:t>printPokemon</a:t>
            </a:r>
            <a:r>
              <a:rPr lang="en-US" altLang="en-US" dirty="0"/>
              <a:t>(</a:t>
            </a:r>
            <a:r>
              <a:rPr lang="en-US" altLang="en-US" dirty="0" err="1"/>
              <a:t>Pokemon</a:t>
            </a:r>
            <a:r>
              <a:rPr lang="en-US" altLang="en-US" dirty="0"/>
              <a:t>* list){</a:t>
            </a:r>
          </a:p>
          <a:p>
            <a:pPr eaLnBrk="1" hangingPunct="1"/>
            <a:r>
              <a:rPr lang="en-US" altLang="en-US" dirty="0"/>
              <a:t>  </a:t>
            </a:r>
            <a:r>
              <a:rPr lang="en-US" altLang="en-US" dirty="0" err="1"/>
              <a:t>printf</a:t>
            </a:r>
            <a:r>
              <a:rPr lang="en-US" altLang="en-US" dirty="0"/>
              <a:t>("Your </a:t>
            </a:r>
            <a:r>
              <a:rPr lang="en-US" altLang="en-US" dirty="0" err="1"/>
              <a:t>Pokemon</a:t>
            </a:r>
            <a:r>
              <a:rPr lang="en-US" altLang="en-US" dirty="0"/>
              <a:t> Are: \n****************\n");</a:t>
            </a:r>
          </a:p>
          <a:p>
            <a:pPr eaLnBrk="1" hangingPunct="1"/>
            <a:r>
              <a:rPr lang="en-US" altLang="en-US" dirty="0"/>
              <a:t>  while(list != NULL){</a:t>
            </a:r>
          </a:p>
          <a:p>
            <a:pPr eaLnBrk="1" hangingPunct="1"/>
            <a:r>
              <a:rPr lang="en-US" altLang="en-US" dirty="0"/>
              <a:t>    </a:t>
            </a:r>
            <a:r>
              <a:rPr lang="en-US" altLang="en-US" dirty="0" err="1"/>
              <a:t>printf</a:t>
            </a:r>
            <a:r>
              <a:rPr lang="en-US" altLang="en-US" dirty="0"/>
              <a:t>("</a:t>
            </a:r>
            <a:r>
              <a:rPr lang="en-US" altLang="en-US" dirty="0" err="1"/>
              <a:t>Pokemon</a:t>
            </a:r>
            <a:r>
              <a:rPr lang="en-US" altLang="en-US" dirty="0"/>
              <a:t>: %s cp:%d\n", (*list).name, (*list).cp);</a:t>
            </a:r>
          </a:p>
          <a:p>
            <a:pPr eaLnBrk="1" hangingPunct="1"/>
            <a:r>
              <a:rPr lang="en-US" altLang="en-US" dirty="0"/>
              <a:t>    list=(*list).next;  //or list-&gt;next</a:t>
            </a:r>
          </a:p>
          <a:p>
            <a:pPr eaLnBrk="1" hangingPunct="1"/>
            <a:r>
              <a:rPr lang="en-US" altLang="en-US" dirty="0"/>
              <a:t>  }</a:t>
            </a:r>
          </a:p>
          <a:p>
            <a:pPr eaLnBrk="1" hangingPunct="1"/>
            <a:r>
              <a:rPr lang="en-US" altLang="en-US" dirty="0"/>
              <a:t>  </a:t>
            </a:r>
            <a:r>
              <a:rPr lang="en-US" altLang="en-US" dirty="0" err="1"/>
              <a:t>printf</a:t>
            </a:r>
            <a:r>
              <a:rPr lang="en-US" altLang="en-US" dirty="0"/>
              <a:t>("\n");</a:t>
            </a:r>
          </a:p>
          <a:p>
            <a:pPr eaLnBrk="1" hangingPunct="1"/>
            <a:r>
              <a:rPr lang="en-US" altLang="en-US" dirty="0"/>
              <a:t>}</a:t>
            </a:r>
          </a:p>
          <a:p>
            <a:pPr eaLnBrk="1" hangingPunct="1"/>
            <a:endParaRPr lang="en-US" altLang="en-US" dirty="0"/>
          </a:p>
          <a:p>
            <a:pPr eaLnBrk="1" hangingPunct="1"/>
            <a:r>
              <a:rPr lang="en-US" altLang="en-US" dirty="0"/>
              <a:t>//***********************************************************</a:t>
            </a:r>
          </a:p>
          <a:p>
            <a:pPr eaLnBrk="1" hangingPunct="1"/>
            <a:r>
              <a:rPr lang="en-US" altLang="en-US" dirty="0"/>
              <a:t>//* </a:t>
            </a:r>
            <a:r>
              <a:rPr lang="en-US" altLang="en-US" dirty="0" err="1"/>
              <a:t>addPokemon</a:t>
            </a:r>
            <a:r>
              <a:rPr lang="en-US" altLang="en-US" dirty="0"/>
              <a:t> adds a new </a:t>
            </a:r>
            <a:r>
              <a:rPr lang="en-US" altLang="en-US" dirty="0" err="1"/>
              <a:t>Pokemon</a:t>
            </a:r>
            <a:r>
              <a:rPr lang="en-US" altLang="en-US" dirty="0"/>
              <a:t> object to the end of the list.</a:t>
            </a:r>
          </a:p>
          <a:p>
            <a:pPr eaLnBrk="1" hangingPunct="1"/>
            <a:r>
              <a:rPr lang="en-US" altLang="en-US" dirty="0"/>
              <a:t>//* dynamic memory allocation is used. The name of the new </a:t>
            </a:r>
          </a:p>
          <a:p>
            <a:pPr eaLnBrk="1" hangingPunct="1"/>
            <a:r>
              <a:rPr lang="en-US" altLang="en-US" dirty="0"/>
              <a:t>//* </a:t>
            </a:r>
            <a:r>
              <a:rPr lang="en-US" altLang="en-US" dirty="0" err="1"/>
              <a:t>Pokemon</a:t>
            </a:r>
            <a:r>
              <a:rPr lang="en-US" altLang="en-US" dirty="0"/>
              <a:t> is randomly selected from the list.  The cp is</a:t>
            </a:r>
          </a:p>
          <a:p>
            <a:pPr eaLnBrk="1" hangingPunct="1"/>
            <a:r>
              <a:rPr lang="en-US" altLang="en-US" dirty="0"/>
              <a:t>//* randomly selected (0-1999).</a:t>
            </a:r>
          </a:p>
          <a:p>
            <a:pPr eaLnBrk="1" hangingPunct="1"/>
            <a:r>
              <a:rPr lang="en-US" altLang="en-US" dirty="0"/>
              <a:t>//***********************************************************</a:t>
            </a:r>
          </a:p>
          <a:p>
            <a:pPr eaLnBrk="1" hangingPunct="1"/>
            <a:r>
              <a:rPr lang="en-US" altLang="en-US" dirty="0" err="1"/>
              <a:t>Pokemon</a:t>
            </a:r>
            <a:r>
              <a:rPr lang="en-US" altLang="en-US" dirty="0"/>
              <a:t>* </a:t>
            </a:r>
            <a:r>
              <a:rPr lang="en-US" altLang="en-US" dirty="0" err="1"/>
              <a:t>addPokemon</a:t>
            </a:r>
            <a:r>
              <a:rPr lang="en-US" altLang="en-US" dirty="0"/>
              <a:t>(</a:t>
            </a:r>
            <a:r>
              <a:rPr lang="en-US" altLang="en-US" dirty="0" err="1"/>
              <a:t>Pokemon</a:t>
            </a:r>
            <a:r>
              <a:rPr lang="en-US" altLang="en-US" dirty="0"/>
              <a:t>* list){</a:t>
            </a:r>
          </a:p>
          <a:p>
            <a:pPr eaLnBrk="1" hangingPunct="1"/>
            <a:r>
              <a:rPr lang="en-US" altLang="en-US" dirty="0"/>
              <a:t>  if(list== NULL){    //This will be the first </a:t>
            </a:r>
            <a:r>
              <a:rPr lang="en-US" altLang="en-US" dirty="0" err="1"/>
              <a:t>Pokemon</a:t>
            </a:r>
            <a:r>
              <a:rPr lang="en-US" altLang="en-US" dirty="0"/>
              <a:t> in the list</a:t>
            </a:r>
          </a:p>
          <a:p>
            <a:pPr eaLnBrk="1" hangingPunct="1"/>
            <a:r>
              <a:rPr lang="en-US" altLang="en-US" dirty="0"/>
              <a:t>    list=malloc(</a:t>
            </a:r>
            <a:r>
              <a:rPr lang="en-US" altLang="en-US" dirty="0" err="1"/>
              <a:t>sizeof</a:t>
            </a:r>
            <a:r>
              <a:rPr lang="en-US" altLang="en-US" dirty="0"/>
              <a:t>(</a:t>
            </a:r>
            <a:r>
              <a:rPr lang="en-US" altLang="en-US" dirty="0" err="1"/>
              <a:t>Pokemon</a:t>
            </a:r>
            <a:r>
              <a:rPr lang="en-US" altLang="en-US" dirty="0"/>
              <a:t>));  //dynamically allocate memory for </a:t>
            </a:r>
            <a:r>
              <a:rPr lang="en-US" altLang="en-US" dirty="0" err="1"/>
              <a:t>Pokemon</a:t>
            </a:r>
            <a:endParaRPr lang="en-US" altLang="en-US" dirty="0"/>
          </a:p>
          <a:p>
            <a:pPr eaLnBrk="1" hangingPunct="1"/>
            <a:r>
              <a:rPr lang="en-US" altLang="en-US" dirty="0"/>
              <a:t>    </a:t>
            </a:r>
            <a:r>
              <a:rPr lang="en-US" altLang="en-US" dirty="0" err="1"/>
              <a:t>strcpy</a:t>
            </a:r>
            <a:r>
              <a:rPr lang="en-US" altLang="en-US" dirty="0"/>
              <a:t>(list-&gt;name, "</a:t>
            </a:r>
            <a:r>
              <a:rPr lang="en-US" altLang="en-US" dirty="0" err="1"/>
              <a:t>squirtle</a:t>
            </a:r>
            <a:r>
              <a:rPr lang="en-US" altLang="en-US" dirty="0"/>
              <a:t>");</a:t>
            </a:r>
          </a:p>
          <a:p>
            <a:pPr eaLnBrk="1" hangingPunct="1"/>
            <a:r>
              <a:rPr lang="en-US" altLang="en-US" dirty="0"/>
              <a:t>    list-&gt;cp=400;</a:t>
            </a:r>
          </a:p>
          <a:p>
            <a:pPr eaLnBrk="1" hangingPunct="1"/>
            <a:r>
              <a:rPr lang="en-US" altLang="en-US" dirty="0"/>
              <a:t>    list-&gt;next=NULL;</a:t>
            </a:r>
          </a:p>
          <a:p>
            <a:pPr eaLnBrk="1" hangingPunct="1"/>
            <a:r>
              <a:rPr lang="en-US" altLang="en-US" dirty="0"/>
              <a:t>    return list; </a:t>
            </a:r>
          </a:p>
          <a:p>
            <a:pPr eaLnBrk="1" hangingPunct="1"/>
            <a:r>
              <a:rPr lang="en-US" altLang="en-US" dirty="0"/>
              <a:t>  }</a:t>
            </a:r>
          </a:p>
          <a:p>
            <a:pPr eaLnBrk="1" hangingPunct="1"/>
            <a:r>
              <a:rPr lang="en-US" altLang="en-US" dirty="0"/>
              <a:t>  else{  //Find the end of the list and add a new </a:t>
            </a:r>
            <a:r>
              <a:rPr lang="en-US" altLang="en-US" dirty="0" err="1"/>
              <a:t>Pokemon</a:t>
            </a:r>
            <a:endParaRPr lang="en-US" altLang="en-US" dirty="0"/>
          </a:p>
          <a:p>
            <a:pPr eaLnBrk="1" hangingPunct="1"/>
            <a:r>
              <a:rPr lang="en-US" altLang="en-US" dirty="0"/>
              <a:t>    </a:t>
            </a:r>
            <a:r>
              <a:rPr lang="en-US" altLang="en-US" dirty="0" err="1"/>
              <a:t>Pokemon</a:t>
            </a:r>
            <a:r>
              <a:rPr lang="en-US" altLang="en-US" dirty="0"/>
              <a:t>* </a:t>
            </a:r>
            <a:r>
              <a:rPr lang="en-US" altLang="en-US" dirty="0" err="1"/>
              <a:t>frontOfList</a:t>
            </a:r>
            <a:r>
              <a:rPr lang="en-US" altLang="en-US" dirty="0"/>
              <a:t>=list;</a:t>
            </a:r>
          </a:p>
          <a:p>
            <a:pPr eaLnBrk="1" hangingPunct="1"/>
            <a:r>
              <a:rPr lang="en-US" altLang="en-US" dirty="0"/>
              <a:t>    while(list-&gt;next != NULL){</a:t>
            </a:r>
          </a:p>
          <a:p>
            <a:pPr eaLnBrk="1" hangingPunct="1"/>
            <a:r>
              <a:rPr lang="en-US" altLang="en-US" dirty="0"/>
              <a:t>      list=list-&gt;next;</a:t>
            </a:r>
          </a:p>
          <a:p>
            <a:pPr eaLnBrk="1" hangingPunct="1"/>
            <a:r>
              <a:rPr lang="en-US" altLang="en-US" dirty="0"/>
              <a:t>    }</a:t>
            </a:r>
          </a:p>
          <a:p>
            <a:pPr eaLnBrk="1" hangingPunct="1"/>
            <a:r>
              <a:rPr lang="en-US" altLang="en-US" dirty="0"/>
              <a:t>    list-&gt;next=malloc(</a:t>
            </a:r>
            <a:r>
              <a:rPr lang="en-US" altLang="en-US" dirty="0" err="1"/>
              <a:t>sizeof</a:t>
            </a:r>
            <a:r>
              <a:rPr lang="en-US" altLang="en-US" dirty="0"/>
              <a:t>(</a:t>
            </a:r>
            <a:r>
              <a:rPr lang="en-US" altLang="en-US" dirty="0" err="1"/>
              <a:t>Pokemon</a:t>
            </a:r>
            <a:r>
              <a:rPr lang="en-US" altLang="en-US" dirty="0"/>
              <a:t>));</a:t>
            </a:r>
          </a:p>
          <a:p>
            <a:pPr eaLnBrk="1" hangingPunct="1"/>
            <a:r>
              <a:rPr lang="en-US" altLang="en-US" dirty="0"/>
              <a:t>    </a:t>
            </a:r>
            <a:r>
              <a:rPr lang="en-US" altLang="en-US" dirty="0" err="1"/>
              <a:t>Pokemon</a:t>
            </a:r>
            <a:r>
              <a:rPr lang="en-US" altLang="en-US" dirty="0"/>
              <a:t>* </a:t>
            </a:r>
            <a:r>
              <a:rPr lang="en-US" altLang="en-US" dirty="0" err="1"/>
              <a:t>newPokemon</a:t>
            </a:r>
            <a:r>
              <a:rPr lang="en-US" altLang="en-US" dirty="0"/>
              <a:t>=list-&gt;next;</a:t>
            </a:r>
          </a:p>
          <a:p>
            <a:pPr eaLnBrk="1" hangingPunct="1"/>
            <a:r>
              <a:rPr lang="en-US" altLang="en-US" dirty="0"/>
              <a:t>    </a:t>
            </a:r>
            <a:r>
              <a:rPr lang="en-US" altLang="en-US" dirty="0" err="1"/>
              <a:t>strcpy</a:t>
            </a:r>
            <a:r>
              <a:rPr lang="en-US" altLang="en-US" dirty="0"/>
              <a:t>( (*</a:t>
            </a:r>
            <a:r>
              <a:rPr lang="en-US" altLang="en-US" dirty="0" err="1"/>
              <a:t>newPokemon</a:t>
            </a:r>
            <a:r>
              <a:rPr lang="en-US" altLang="en-US" dirty="0"/>
              <a:t>).name, names[rand()%10]); //</a:t>
            </a:r>
            <a:r>
              <a:rPr lang="en-US" altLang="en-US" dirty="0" err="1"/>
              <a:t>newPokemon</a:t>
            </a:r>
            <a:r>
              <a:rPr lang="en-US" altLang="en-US" dirty="0"/>
              <a:t>-&gt;name</a:t>
            </a:r>
          </a:p>
          <a:p>
            <a:pPr eaLnBrk="1" hangingPunct="1"/>
            <a:r>
              <a:rPr lang="en-US" altLang="en-US" dirty="0"/>
              <a:t>    </a:t>
            </a:r>
            <a:r>
              <a:rPr lang="en-US" altLang="en-US" dirty="0" err="1"/>
              <a:t>newPokemon</a:t>
            </a:r>
            <a:r>
              <a:rPr lang="en-US" altLang="en-US" dirty="0"/>
              <a:t>-&gt;cp=rand()%2000;</a:t>
            </a:r>
          </a:p>
          <a:p>
            <a:pPr eaLnBrk="1" hangingPunct="1"/>
            <a:r>
              <a:rPr lang="en-US" altLang="en-US" dirty="0"/>
              <a:t>    </a:t>
            </a:r>
            <a:r>
              <a:rPr lang="en-US" altLang="en-US" dirty="0" err="1"/>
              <a:t>newPokemon</a:t>
            </a:r>
            <a:r>
              <a:rPr lang="en-US" altLang="en-US" dirty="0"/>
              <a:t>-&gt;next=NULL;</a:t>
            </a:r>
          </a:p>
          <a:p>
            <a:pPr eaLnBrk="1" hangingPunct="1"/>
            <a:r>
              <a:rPr lang="en-US" altLang="en-US" dirty="0"/>
              <a:t>    return </a:t>
            </a:r>
            <a:r>
              <a:rPr lang="en-US" altLang="en-US" dirty="0" err="1"/>
              <a:t>frontOfList</a:t>
            </a:r>
            <a:r>
              <a:rPr lang="en-US" altLang="en-US" dirty="0"/>
              <a:t>;</a:t>
            </a:r>
          </a:p>
          <a:p>
            <a:pPr eaLnBrk="1" hangingPunct="1"/>
            <a:r>
              <a:rPr lang="en-US" altLang="en-US" dirty="0"/>
              <a:t>  }  </a:t>
            </a:r>
          </a:p>
          <a:p>
            <a:pPr eaLnBrk="1" hangingPunct="1"/>
            <a:r>
              <a:rPr lang="en-US" altLang="en-US" dirty="0"/>
              <a:t>}</a:t>
            </a:r>
          </a:p>
          <a:p>
            <a:pPr eaLnBrk="1" hangingPunct="1"/>
            <a:endParaRPr lang="en-US" altLang="en-US" dirty="0"/>
          </a:p>
          <a:p>
            <a:pPr eaLnBrk="1" hangingPunct="1"/>
            <a:r>
              <a:rPr lang="en-US" altLang="en-US" dirty="0"/>
              <a:t>int main(){</a:t>
            </a:r>
          </a:p>
          <a:p>
            <a:pPr eaLnBrk="1" hangingPunct="1"/>
            <a:r>
              <a:rPr lang="en-US" altLang="en-US" dirty="0"/>
              <a:t> </a:t>
            </a:r>
          </a:p>
          <a:p>
            <a:pPr eaLnBrk="1" hangingPunct="1"/>
            <a:r>
              <a:rPr lang="en-US" altLang="en-US" dirty="0"/>
              <a:t>  </a:t>
            </a:r>
            <a:r>
              <a:rPr lang="en-US" altLang="en-US" dirty="0" err="1"/>
              <a:t>Pokemon</a:t>
            </a:r>
            <a:r>
              <a:rPr lang="en-US" altLang="en-US" dirty="0"/>
              <a:t>* mine=NULL;</a:t>
            </a:r>
          </a:p>
          <a:p>
            <a:pPr eaLnBrk="1" hangingPunct="1"/>
            <a:r>
              <a:rPr lang="en-US" altLang="en-US" dirty="0"/>
              <a:t>  int catch=1;</a:t>
            </a:r>
          </a:p>
          <a:p>
            <a:pPr eaLnBrk="1" hangingPunct="1"/>
            <a:endParaRPr lang="en-US" altLang="en-US" dirty="0"/>
          </a:p>
          <a:p>
            <a:pPr eaLnBrk="1" hangingPunct="1"/>
            <a:r>
              <a:rPr lang="en-US" altLang="en-US" dirty="0"/>
              <a:t>  while(catch==1){</a:t>
            </a:r>
          </a:p>
          <a:p>
            <a:pPr eaLnBrk="1" hangingPunct="1"/>
            <a:r>
              <a:rPr lang="en-US" altLang="en-US" dirty="0"/>
              <a:t>    </a:t>
            </a:r>
            <a:r>
              <a:rPr lang="en-US" altLang="en-US" dirty="0" err="1"/>
              <a:t>printf</a:t>
            </a:r>
            <a:r>
              <a:rPr lang="en-US" altLang="en-US" dirty="0"/>
              <a:t>("A </a:t>
            </a:r>
            <a:r>
              <a:rPr lang="en-US" altLang="en-US" dirty="0" err="1"/>
              <a:t>Pokemon</a:t>
            </a:r>
            <a:r>
              <a:rPr lang="en-US" altLang="en-US" dirty="0"/>
              <a:t> appears in the wild. \n");</a:t>
            </a:r>
          </a:p>
          <a:p>
            <a:pPr eaLnBrk="1" hangingPunct="1"/>
            <a:r>
              <a:rPr lang="en-US" altLang="en-US" dirty="0"/>
              <a:t>    </a:t>
            </a:r>
            <a:r>
              <a:rPr lang="en-US" altLang="en-US" dirty="0" err="1"/>
              <a:t>printf</a:t>
            </a:r>
            <a:r>
              <a:rPr lang="en-US" altLang="en-US" dirty="0"/>
              <a:t>("Would you like to catch it? (0=no,1=yes) ");</a:t>
            </a:r>
          </a:p>
          <a:p>
            <a:pPr eaLnBrk="1" hangingPunct="1"/>
            <a:r>
              <a:rPr lang="en-US" altLang="en-US" dirty="0"/>
              <a:t>    </a:t>
            </a:r>
            <a:r>
              <a:rPr lang="en-US" altLang="en-US" dirty="0" err="1"/>
              <a:t>scanf</a:t>
            </a:r>
            <a:r>
              <a:rPr lang="en-US" altLang="en-US" dirty="0"/>
              <a:t>("%d", &amp;catch);</a:t>
            </a:r>
          </a:p>
          <a:p>
            <a:pPr eaLnBrk="1" hangingPunct="1"/>
            <a:r>
              <a:rPr lang="en-US" altLang="en-US" dirty="0"/>
              <a:t>    if(catch==1){</a:t>
            </a:r>
          </a:p>
          <a:p>
            <a:pPr eaLnBrk="1" hangingPunct="1"/>
            <a:r>
              <a:rPr lang="en-US" altLang="en-US" dirty="0"/>
              <a:t>        mine=</a:t>
            </a:r>
            <a:r>
              <a:rPr lang="en-US" altLang="en-US" dirty="0" err="1"/>
              <a:t>addPokemon</a:t>
            </a:r>
            <a:r>
              <a:rPr lang="en-US" altLang="en-US" dirty="0"/>
              <a:t>(mine);</a:t>
            </a:r>
          </a:p>
          <a:p>
            <a:pPr eaLnBrk="1" hangingPunct="1"/>
            <a:r>
              <a:rPr lang="en-US" altLang="en-US" dirty="0"/>
              <a:t>    }</a:t>
            </a:r>
          </a:p>
          <a:p>
            <a:pPr eaLnBrk="1" hangingPunct="1"/>
            <a:r>
              <a:rPr lang="en-US" altLang="en-US" dirty="0"/>
              <a:t>    </a:t>
            </a:r>
            <a:r>
              <a:rPr lang="en-US" altLang="en-US" dirty="0" err="1"/>
              <a:t>printPokemon</a:t>
            </a:r>
            <a:r>
              <a:rPr lang="en-US" altLang="en-US" dirty="0"/>
              <a:t>(mine); </a:t>
            </a:r>
          </a:p>
          <a:p>
            <a:pPr eaLnBrk="1" hangingPunct="1"/>
            <a:r>
              <a:rPr lang="en-US" altLang="en-US" dirty="0"/>
              <a:t>  }</a:t>
            </a:r>
          </a:p>
          <a:p>
            <a:pPr eaLnBrk="1" hangingPunct="1"/>
            <a:r>
              <a:rPr lang="en-US" altLang="en-US" dirty="0"/>
              <a:t>  //Note: the dynamically allocated memory should be released.</a:t>
            </a:r>
          </a:p>
          <a:p>
            <a:pPr eaLnBrk="1" hangingPunct="1"/>
            <a:r>
              <a:rPr lang="en-US" altLang="en-US" dirty="0"/>
              <a:t>  //This step is left as an exercise.  </a:t>
            </a:r>
          </a:p>
          <a:p>
            <a:pPr eaLnBrk="1" hangingPunct="1"/>
            <a:r>
              <a:rPr lang="en-US" altLang="en-US" dirty="0"/>
              <a:t>  return 0;</a:t>
            </a:r>
          </a:p>
          <a:p>
            <a:pPr eaLnBrk="1" hangingPunct="1"/>
            <a:r>
              <a:rPr lang="en-US" altLang="en-US" dirty="0"/>
              <a:t>}</a:t>
            </a:r>
          </a:p>
          <a:p>
            <a:pPr eaLnBrk="1" hangingPunct="1"/>
            <a:endParaRPr lang="en-US" altLang="en-US" dirty="0"/>
          </a:p>
        </p:txBody>
      </p:sp>
    </p:spTree>
    <p:extLst>
      <p:ext uri="{BB962C8B-B14F-4D97-AF65-F5344CB8AC3E}">
        <p14:creationId xmlns:p14="http://schemas.microsoft.com/office/powerpoint/2010/main" val="39889292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A7DD7BD1-6825-4DC0-9099-B9E78B685343}" type="slidenum">
              <a:rPr lang="en-US" altLang="en-US" sz="1200">
                <a:solidFill>
                  <a:schemeClr val="tx1"/>
                </a:solidFill>
              </a:rPr>
              <a:pPr eaLnBrk="1" hangingPunct="1"/>
              <a:t>23</a:t>
            </a:fld>
            <a:endParaRPr lang="en-US" altLang="en-US" sz="1200">
              <a:solidFill>
                <a:schemeClr val="tx1"/>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dirty="0"/>
              <a:t>#include &lt;</a:t>
            </a:r>
            <a:r>
              <a:rPr lang="en-US" altLang="en-US" dirty="0" err="1"/>
              <a:t>stdio.h</a:t>
            </a:r>
            <a:r>
              <a:rPr lang="en-US" altLang="en-US" dirty="0"/>
              <a:t>&gt;</a:t>
            </a:r>
          </a:p>
          <a:p>
            <a:pPr eaLnBrk="1" hangingPunct="1"/>
            <a:r>
              <a:rPr lang="en-US" altLang="en-US" dirty="0"/>
              <a:t>#include &lt;</a:t>
            </a:r>
            <a:r>
              <a:rPr lang="en-US" altLang="en-US" dirty="0" err="1"/>
              <a:t>stdlib.h</a:t>
            </a:r>
            <a:r>
              <a:rPr lang="en-US" altLang="en-US" dirty="0"/>
              <a:t>&gt;</a:t>
            </a:r>
          </a:p>
          <a:p>
            <a:pPr eaLnBrk="1" hangingPunct="1"/>
            <a:r>
              <a:rPr lang="en-US" altLang="en-US" dirty="0"/>
              <a:t>#include &lt;</a:t>
            </a:r>
            <a:r>
              <a:rPr lang="en-US" altLang="en-US" dirty="0" err="1"/>
              <a:t>string.h</a:t>
            </a:r>
            <a:r>
              <a:rPr lang="en-US" altLang="en-US" dirty="0"/>
              <a:t>&gt;</a:t>
            </a:r>
          </a:p>
          <a:p>
            <a:pPr eaLnBrk="1" hangingPunct="1"/>
            <a:endParaRPr lang="en-US" altLang="en-US" dirty="0"/>
          </a:p>
          <a:p>
            <a:pPr eaLnBrk="1" hangingPunct="1"/>
            <a:endParaRPr lang="en-US" altLang="en-US" dirty="0"/>
          </a:p>
          <a:p>
            <a:pPr eaLnBrk="1" hangingPunct="1"/>
            <a:r>
              <a:rPr lang="en-US" altLang="en-US" dirty="0"/>
              <a:t>typedef struct </a:t>
            </a:r>
            <a:r>
              <a:rPr lang="en-US" altLang="en-US" dirty="0" err="1"/>
              <a:t>pokemon</a:t>
            </a:r>
            <a:r>
              <a:rPr lang="en-US" altLang="en-US" dirty="0"/>
              <a:t>{     //define the </a:t>
            </a:r>
            <a:r>
              <a:rPr lang="en-US" altLang="en-US" dirty="0" err="1"/>
              <a:t>Pokemon</a:t>
            </a:r>
            <a:r>
              <a:rPr lang="en-US" altLang="en-US" dirty="0"/>
              <a:t> data type alias </a:t>
            </a:r>
            <a:r>
              <a:rPr lang="en-US" altLang="en-US" dirty="0" err="1"/>
              <a:t>to:struct</a:t>
            </a:r>
            <a:r>
              <a:rPr lang="en-US" altLang="en-US" dirty="0"/>
              <a:t> </a:t>
            </a:r>
            <a:r>
              <a:rPr lang="en-US" altLang="en-US" dirty="0" err="1"/>
              <a:t>pokemon</a:t>
            </a:r>
            <a:endParaRPr lang="en-US" altLang="en-US" dirty="0"/>
          </a:p>
          <a:p>
            <a:pPr eaLnBrk="1" hangingPunct="1"/>
            <a:r>
              <a:rPr lang="en-US" altLang="en-US" dirty="0"/>
              <a:t>  char name[30];</a:t>
            </a:r>
          </a:p>
          <a:p>
            <a:pPr eaLnBrk="1" hangingPunct="1"/>
            <a:r>
              <a:rPr lang="en-US" altLang="en-US" dirty="0"/>
              <a:t>  int cp;</a:t>
            </a:r>
          </a:p>
          <a:p>
            <a:pPr eaLnBrk="1" hangingPunct="1"/>
            <a:r>
              <a:rPr lang="en-US" altLang="en-US" dirty="0"/>
              <a:t>  struct </a:t>
            </a:r>
            <a:r>
              <a:rPr lang="en-US" altLang="en-US" dirty="0" err="1"/>
              <a:t>pokemon</a:t>
            </a:r>
            <a:r>
              <a:rPr lang="en-US" altLang="en-US" dirty="0"/>
              <a:t>* next;</a:t>
            </a:r>
          </a:p>
          <a:p>
            <a:pPr eaLnBrk="1" hangingPunct="1"/>
            <a:r>
              <a:rPr lang="en-US" altLang="en-US" dirty="0"/>
              <a:t>} </a:t>
            </a:r>
            <a:r>
              <a:rPr lang="en-US" altLang="en-US" dirty="0" err="1"/>
              <a:t>Pokemon</a:t>
            </a:r>
            <a:r>
              <a:rPr lang="en-US" altLang="en-US" dirty="0"/>
              <a:t>;</a:t>
            </a:r>
          </a:p>
          <a:p>
            <a:pPr eaLnBrk="1" hangingPunct="1"/>
            <a:endParaRPr lang="en-US" altLang="en-US" dirty="0"/>
          </a:p>
          <a:p>
            <a:pPr eaLnBrk="1" hangingPunct="1"/>
            <a:r>
              <a:rPr lang="en-US" altLang="en-US" dirty="0"/>
              <a:t>//a 2D array with 10 </a:t>
            </a:r>
            <a:r>
              <a:rPr lang="en-US" altLang="en-US" dirty="0" err="1"/>
              <a:t>pokemon</a:t>
            </a:r>
            <a:r>
              <a:rPr lang="en-US" altLang="en-US" dirty="0"/>
              <a:t> names that are all less than 50 characters</a:t>
            </a:r>
          </a:p>
          <a:p>
            <a:pPr eaLnBrk="1" hangingPunct="1"/>
            <a:r>
              <a:rPr lang="en-US" altLang="en-US" dirty="0"/>
              <a:t>char names[10][50]={ "</a:t>
            </a:r>
            <a:r>
              <a:rPr lang="en-US" altLang="en-US" dirty="0" err="1"/>
              <a:t>pikachu</a:t>
            </a:r>
            <a:r>
              <a:rPr lang="en-US" altLang="en-US" dirty="0"/>
              <a:t>", "</a:t>
            </a:r>
            <a:r>
              <a:rPr lang="en-US" altLang="en-US" dirty="0" err="1"/>
              <a:t>magik</a:t>
            </a:r>
            <a:r>
              <a:rPr lang="en-US" altLang="en-US" dirty="0"/>
              <a:t> carp", "</a:t>
            </a:r>
            <a:r>
              <a:rPr lang="en-US" altLang="en-US" dirty="0" err="1"/>
              <a:t>eevee</a:t>
            </a:r>
            <a:r>
              <a:rPr lang="en-US" altLang="en-US" dirty="0"/>
              <a:t>", "</a:t>
            </a:r>
            <a:r>
              <a:rPr lang="en-US" altLang="en-US" dirty="0" err="1"/>
              <a:t>charmander</a:t>
            </a:r>
            <a:r>
              <a:rPr lang="en-US" altLang="en-US" dirty="0"/>
              <a:t>", "</a:t>
            </a:r>
            <a:r>
              <a:rPr lang="en-US" altLang="en-US" dirty="0" err="1"/>
              <a:t>squirtle</a:t>
            </a:r>
            <a:r>
              <a:rPr lang="en-US" altLang="en-US" dirty="0"/>
              <a:t>", </a:t>
            </a:r>
          </a:p>
          <a:p>
            <a:pPr eaLnBrk="1" hangingPunct="1"/>
            <a:r>
              <a:rPr lang="en-US" altLang="en-US" dirty="0"/>
              <a:t>                     "</a:t>
            </a:r>
            <a:r>
              <a:rPr lang="en-US" altLang="en-US" dirty="0" err="1"/>
              <a:t>vaporeon</a:t>
            </a:r>
            <a:r>
              <a:rPr lang="en-US" altLang="en-US" dirty="0"/>
              <a:t>", "ditto", "</a:t>
            </a:r>
            <a:r>
              <a:rPr lang="en-US" altLang="en-US" dirty="0" err="1"/>
              <a:t>jigglypuff</a:t>
            </a:r>
            <a:r>
              <a:rPr lang="en-US" altLang="en-US" dirty="0"/>
              <a:t>", "</a:t>
            </a:r>
            <a:r>
              <a:rPr lang="en-US" altLang="en-US" dirty="0" err="1"/>
              <a:t>hypno</a:t>
            </a:r>
            <a:r>
              <a:rPr lang="en-US" altLang="en-US" dirty="0"/>
              <a:t>", "</a:t>
            </a:r>
            <a:r>
              <a:rPr lang="en-US" altLang="en-US" dirty="0" err="1"/>
              <a:t>drowzee</a:t>
            </a:r>
            <a:r>
              <a:rPr lang="en-US" altLang="en-US" dirty="0"/>
              <a:t>"};</a:t>
            </a:r>
          </a:p>
          <a:p>
            <a:pPr eaLnBrk="1" hangingPunct="1"/>
            <a:endParaRPr lang="en-US" altLang="en-US" dirty="0"/>
          </a:p>
          <a:p>
            <a:pPr eaLnBrk="1" hangingPunct="1"/>
            <a:r>
              <a:rPr lang="en-US" altLang="en-US" dirty="0"/>
              <a:t>//***********************************************************</a:t>
            </a:r>
          </a:p>
          <a:p>
            <a:pPr eaLnBrk="1" hangingPunct="1"/>
            <a:r>
              <a:rPr lang="en-US" altLang="en-US" dirty="0"/>
              <a:t>//*  The </a:t>
            </a:r>
            <a:r>
              <a:rPr lang="en-US" altLang="en-US" dirty="0" err="1"/>
              <a:t>printPokemon</a:t>
            </a:r>
            <a:r>
              <a:rPr lang="en-US" altLang="en-US" dirty="0"/>
              <a:t> function expects a </a:t>
            </a:r>
            <a:r>
              <a:rPr lang="en-US" altLang="en-US" dirty="0" err="1"/>
              <a:t>Pokemon</a:t>
            </a:r>
            <a:r>
              <a:rPr lang="en-US" altLang="en-US" dirty="0"/>
              <a:t> pointer</a:t>
            </a:r>
          </a:p>
          <a:p>
            <a:pPr eaLnBrk="1" hangingPunct="1"/>
            <a:r>
              <a:rPr lang="en-US" altLang="en-US" dirty="0"/>
              <a:t>//*  that is a pointer to the beginning of the linked list.</a:t>
            </a:r>
          </a:p>
          <a:p>
            <a:pPr eaLnBrk="1" hangingPunct="1"/>
            <a:r>
              <a:rPr lang="en-US" altLang="en-US" dirty="0"/>
              <a:t>//*  It will print the </a:t>
            </a:r>
            <a:r>
              <a:rPr lang="en-US" altLang="en-US" dirty="0" err="1"/>
              <a:t>pokemon</a:t>
            </a:r>
            <a:r>
              <a:rPr lang="en-US" altLang="en-US" dirty="0"/>
              <a:t> info and then traverse the </a:t>
            </a:r>
          </a:p>
          <a:p>
            <a:pPr eaLnBrk="1" hangingPunct="1"/>
            <a:r>
              <a:rPr lang="en-US" altLang="en-US" dirty="0"/>
              <a:t>//*  until it reaches the end of the list.</a:t>
            </a:r>
          </a:p>
          <a:p>
            <a:pPr eaLnBrk="1" hangingPunct="1"/>
            <a:r>
              <a:rPr lang="en-US" altLang="en-US" dirty="0"/>
              <a:t>//**********************************************************</a:t>
            </a:r>
          </a:p>
          <a:p>
            <a:pPr eaLnBrk="1" hangingPunct="1"/>
            <a:r>
              <a:rPr lang="en-US" altLang="en-US" dirty="0"/>
              <a:t>void </a:t>
            </a:r>
            <a:r>
              <a:rPr lang="en-US" altLang="en-US" dirty="0" err="1"/>
              <a:t>printPokemon</a:t>
            </a:r>
            <a:r>
              <a:rPr lang="en-US" altLang="en-US" dirty="0"/>
              <a:t>(</a:t>
            </a:r>
            <a:r>
              <a:rPr lang="en-US" altLang="en-US" dirty="0" err="1"/>
              <a:t>Pokemon</a:t>
            </a:r>
            <a:r>
              <a:rPr lang="en-US" altLang="en-US" dirty="0"/>
              <a:t>* list){</a:t>
            </a:r>
          </a:p>
          <a:p>
            <a:pPr eaLnBrk="1" hangingPunct="1"/>
            <a:r>
              <a:rPr lang="en-US" altLang="en-US" dirty="0"/>
              <a:t>  </a:t>
            </a:r>
            <a:r>
              <a:rPr lang="en-US" altLang="en-US" dirty="0" err="1"/>
              <a:t>printf</a:t>
            </a:r>
            <a:r>
              <a:rPr lang="en-US" altLang="en-US" dirty="0"/>
              <a:t>("Your </a:t>
            </a:r>
            <a:r>
              <a:rPr lang="en-US" altLang="en-US" dirty="0" err="1"/>
              <a:t>Pokemon</a:t>
            </a:r>
            <a:r>
              <a:rPr lang="en-US" altLang="en-US" dirty="0"/>
              <a:t> Are: \n****************\n");</a:t>
            </a:r>
          </a:p>
          <a:p>
            <a:pPr eaLnBrk="1" hangingPunct="1"/>
            <a:r>
              <a:rPr lang="en-US" altLang="en-US" dirty="0"/>
              <a:t>  while(list != NULL){</a:t>
            </a:r>
          </a:p>
          <a:p>
            <a:pPr eaLnBrk="1" hangingPunct="1"/>
            <a:r>
              <a:rPr lang="en-US" altLang="en-US" dirty="0"/>
              <a:t>    </a:t>
            </a:r>
            <a:r>
              <a:rPr lang="en-US" altLang="en-US" dirty="0" err="1"/>
              <a:t>printf</a:t>
            </a:r>
            <a:r>
              <a:rPr lang="en-US" altLang="en-US" dirty="0"/>
              <a:t>("</a:t>
            </a:r>
            <a:r>
              <a:rPr lang="en-US" altLang="en-US" dirty="0" err="1"/>
              <a:t>Pokemon</a:t>
            </a:r>
            <a:r>
              <a:rPr lang="en-US" altLang="en-US" dirty="0"/>
              <a:t>: %s cp:%d\n", (*list).name, (*list).cp);</a:t>
            </a:r>
          </a:p>
          <a:p>
            <a:pPr eaLnBrk="1" hangingPunct="1"/>
            <a:r>
              <a:rPr lang="en-US" altLang="en-US" dirty="0"/>
              <a:t>    list=(*list).next;  //or list-&gt;next</a:t>
            </a:r>
          </a:p>
          <a:p>
            <a:pPr eaLnBrk="1" hangingPunct="1"/>
            <a:r>
              <a:rPr lang="en-US" altLang="en-US" dirty="0"/>
              <a:t>  }</a:t>
            </a:r>
          </a:p>
          <a:p>
            <a:pPr eaLnBrk="1" hangingPunct="1"/>
            <a:r>
              <a:rPr lang="en-US" altLang="en-US" dirty="0"/>
              <a:t>  </a:t>
            </a:r>
            <a:r>
              <a:rPr lang="en-US" altLang="en-US" dirty="0" err="1"/>
              <a:t>printf</a:t>
            </a:r>
            <a:r>
              <a:rPr lang="en-US" altLang="en-US" dirty="0"/>
              <a:t>("\n");</a:t>
            </a:r>
          </a:p>
          <a:p>
            <a:pPr eaLnBrk="1" hangingPunct="1"/>
            <a:r>
              <a:rPr lang="en-US" altLang="en-US" dirty="0"/>
              <a:t>}</a:t>
            </a:r>
          </a:p>
          <a:p>
            <a:pPr eaLnBrk="1" hangingPunct="1"/>
            <a:endParaRPr lang="en-US" altLang="en-US" dirty="0"/>
          </a:p>
          <a:p>
            <a:pPr eaLnBrk="1" hangingPunct="1"/>
            <a:r>
              <a:rPr lang="en-US" altLang="en-US" dirty="0"/>
              <a:t>//***********************************************************</a:t>
            </a:r>
          </a:p>
          <a:p>
            <a:pPr eaLnBrk="1" hangingPunct="1"/>
            <a:r>
              <a:rPr lang="en-US" altLang="en-US" dirty="0"/>
              <a:t>//* </a:t>
            </a:r>
            <a:r>
              <a:rPr lang="en-US" altLang="en-US" dirty="0" err="1"/>
              <a:t>addPokemon</a:t>
            </a:r>
            <a:r>
              <a:rPr lang="en-US" altLang="en-US" dirty="0"/>
              <a:t> adds a new </a:t>
            </a:r>
            <a:r>
              <a:rPr lang="en-US" altLang="en-US" dirty="0" err="1"/>
              <a:t>Pokemon</a:t>
            </a:r>
            <a:r>
              <a:rPr lang="en-US" altLang="en-US" dirty="0"/>
              <a:t> object to the end of the list.</a:t>
            </a:r>
          </a:p>
          <a:p>
            <a:pPr eaLnBrk="1" hangingPunct="1"/>
            <a:r>
              <a:rPr lang="en-US" altLang="en-US" dirty="0"/>
              <a:t>//* dynamic memory allocation is used. The name of the new </a:t>
            </a:r>
          </a:p>
          <a:p>
            <a:pPr eaLnBrk="1" hangingPunct="1"/>
            <a:r>
              <a:rPr lang="en-US" altLang="en-US" dirty="0"/>
              <a:t>//* </a:t>
            </a:r>
            <a:r>
              <a:rPr lang="en-US" altLang="en-US" dirty="0" err="1"/>
              <a:t>Pokemon</a:t>
            </a:r>
            <a:r>
              <a:rPr lang="en-US" altLang="en-US" dirty="0"/>
              <a:t> is randomly selected from the list.  The cp is</a:t>
            </a:r>
          </a:p>
          <a:p>
            <a:pPr eaLnBrk="1" hangingPunct="1"/>
            <a:r>
              <a:rPr lang="en-US" altLang="en-US" dirty="0"/>
              <a:t>//* randomly selected (0-1999).</a:t>
            </a:r>
          </a:p>
          <a:p>
            <a:pPr eaLnBrk="1" hangingPunct="1"/>
            <a:r>
              <a:rPr lang="en-US" altLang="en-US" dirty="0"/>
              <a:t>//***********************************************************</a:t>
            </a:r>
          </a:p>
          <a:p>
            <a:pPr eaLnBrk="1" hangingPunct="1"/>
            <a:r>
              <a:rPr lang="en-US" altLang="en-US" dirty="0" err="1"/>
              <a:t>Pokemon</a:t>
            </a:r>
            <a:r>
              <a:rPr lang="en-US" altLang="en-US" dirty="0"/>
              <a:t>* </a:t>
            </a:r>
            <a:r>
              <a:rPr lang="en-US" altLang="en-US" dirty="0" err="1"/>
              <a:t>addPokemon</a:t>
            </a:r>
            <a:r>
              <a:rPr lang="en-US" altLang="en-US" dirty="0"/>
              <a:t>(</a:t>
            </a:r>
            <a:r>
              <a:rPr lang="en-US" altLang="en-US" dirty="0" err="1"/>
              <a:t>Pokemon</a:t>
            </a:r>
            <a:r>
              <a:rPr lang="en-US" altLang="en-US" dirty="0"/>
              <a:t>* list){</a:t>
            </a:r>
          </a:p>
          <a:p>
            <a:pPr eaLnBrk="1" hangingPunct="1"/>
            <a:r>
              <a:rPr lang="en-US" altLang="en-US" dirty="0"/>
              <a:t>  if(list== NULL){    //This will be the first </a:t>
            </a:r>
            <a:r>
              <a:rPr lang="en-US" altLang="en-US" dirty="0" err="1"/>
              <a:t>Pokemon</a:t>
            </a:r>
            <a:r>
              <a:rPr lang="en-US" altLang="en-US" dirty="0"/>
              <a:t> in the list</a:t>
            </a:r>
          </a:p>
          <a:p>
            <a:pPr eaLnBrk="1" hangingPunct="1"/>
            <a:r>
              <a:rPr lang="en-US" altLang="en-US" dirty="0"/>
              <a:t>    list=malloc(</a:t>
            </a:r>
            <a:r>
              <a:rPr lang="en-US" altLang="en-US" dirty="0" err="1"/>
              <a:t>sizeof</a:t>
            </a:r>
            <a:r>
              <a:rPr lang="en-US" altLang="en-US" dirty="0"/>
              <a:t>(</a:t>
            </a:r>
            <a:r>
              <a:rPr lang="en-US" altLang="en-US" dirty="0" err="1"/>
              <a:t>Pokemon</a:t>
            </a:r>
            <a:r>
              <a:rPr lang="en-US" altLang="en-US" dirty="0"/>
              <a:t>));  //dynamically allocate memory for </a:t>
            </a:r>
            <a:r>
              <a:rPr lang="en-US" altLang="en-US" dirty="0" err="1"/>
              <a:t>Pokemon</a:t>
            </a:r>
            <a:endParaRPr lang="en-US" altLang="en-US" dirty="0"/>
          </a:p>
          <a:p>
            <a:pPr eaLnBrk="1" hangingPunct="1"/>
            <a:r>
              <a:rPr lang="en-US" altLang="en-US" dirty="0"/>
              <a:t>    </a:t>
            </a:r>
            <a:r>
              <a:rPr lang="en-US" altLang="en-US" dirty="0" err="1"/>
              <a:t>strcpy</a:t>
            </a:r>
            <a:r>
              <a:rPr lang="en-US" altLang="en-US" dirty="0"/>
              <a:t>(list-&gt;name, "</a:t>
            </a:r>
            <a:r>
              <a:rPr lang="en-US" altLang="en-US" dirty="0" err="1"/>
              <a:t>squirtle</a:t>
            </a:r>
            <a:r>
              <a:rPr lang="en-US" altLang="en-US" dirty="0"/>
              <a:t>");</a:t>
            </a:r>
          </a:p>
          <a:p>
            <a:pPr eaLnBrk="1" hangingPunct="1"/>
            <a:r>
              <a:rPr lang="en-US" altLang="en-US" dirty="0"/>
              <a:t>    list-&gt;cp=400;</a:t>
            </a:r>
          </a:p>
          <a:p>
            <a:pPr eaLnBrk="1" hangingPunct="1"/>
            <a:r>
              <a:rPr lang="en-US" altLang="en-US" dirty="0"/>
              <a:t>    list-&gt;next=NULL;</a:t>
            </a:r>
          </a:p>
          <a:p>
            <a:pPr eaLnBrk="1" hangingPunct="1"/>
            <a:r>
              <a:rPr lang="en-US" altLang="en-US" dirty="0"/>
              <a:t>    return list; </a:t>
            </a:r>
          </a:p>
          <a:p>
            <a:pPr eaLnBrk="1" hangingPunct="1"/>
            <a:r>
              <a:rPr lang="en-US" altLang="en-US" dirty="0"/>
              <a:t>  }</a:t>
            </a:r>
          </a:p>
          <a:p>
            <a:pPr eaLnBrk="1" hangingPunct="1"/>
            <a:r>
              <a:rPr lang="en-US" altLang="en-US" dirty="0"/>
              <a:t>  else{  //Find the end of the list and add a new </a:t>
            </a:r>
            <a:r>
              <a:rPr lang="en-US" altLang="en-US" dirty="0" err="1"/>
              <a:t>Pokemon</a:t>
            </a:r>
            <a:endParaRPr lang="en-US" altLang="en-US" dirty="0"/>
          </a:p>
          <a:p>
            <a:pPr eaLnBrk="1" hangingPunct="1"/>
            <a:r>
              <a:rPr lang="en-US" altLang="en-US" dirty="0"/>
              <a:t>    </a:t>
            </a:r>
            <a:r>
              <a:rPr lang="en-US" altLang="en-US" dirty="0" err="1"/>
              <a:t>Pokemon</a:t>
            </a:r>
            <a:r>
              <a:rPr lang="en-US" altLang="en-US" dirty="0"/>
              <a:t>* </a:t>
            </a:r>
            <a:r>
              <a:rPr lang="en-US" altLang="en-US" dirty="0" err="1"/>
              <a:t>frontOfList</a:t>
            </a:r>
            <a:r>
              <a:rPr lang="en-US" altLang="en-US" dirty="0"/>
              <a:t>=list;</a:t>
            </a:r>
          </a:p>
          <a:p>
            <a:pPr eaLnBrk="1" hangingPunct="1"/>
            <a:r>
              <a:rPr lang="en-US" altLang="en-US" dirty="0"/>
              <a:t>    while(list-&gt;next != NULL){</a:t>
            </a:r>
          </a:p>
          <a:p>
            <a:pPr eaLnBrk="1" hangingPunct="1"/>
            <a:r>
              <a:rPr lang="en-US" altLang="en-US" dirty="0"/>
              <a:t>      list=list-&gt;next;</a:t>
            </a:r>
          </a:p>
          <a:p>
            <a:pPr eaLnBrk="1" hangingPunct="1"/>
            <a:r>
              <a:rPr lang="en-US" altLang="en-US" dirty="0"/>
              <a:t>    }</a:t>
            </a:r>
          </a:p>
          <a:p>
            <a:pPr eaLnBrk="1" hangingPunct="1"/>
            <a:r>
              <a:rPr lang="en-US" altLang="en-US" dirty="0"/>
              <a:t>    list-&gt;next=malloc(</a:t>
            </a:r>
            <a:r>
              <a:rPr lang="en-US" altLang="en-US" dirty="0" err="1"/>
              <a:t>sizeof</a:t>
            </a:r>
            <a:r>
              <a:rPr lang="en-US" altLang="en-US" dirty="0"/>
              <a:t>(</a:t>
            </a:r>
            <a:r>
              <a:rPr lang="en-US" altLang="en-US" dirty="0" err="1"/>
              <a:t>Pokemon</a:t>
            </a:r>
            <a:r>
              <a:rPr lang="en-US" altLang="en-US" dirty="0"/>
              <a:t>));</a:t>
            </a:r>
          </a:p>
          <a:p>
            <a:pPr eaLnBrk="1" hangingPunct="1"/>
            <a:r>
              <a:rPr lang="en-US" altLang="en-US" dirty="0"/>
              <a:t>    </a:t>
            </a:r>
            <a:r>
              <a:rPr lang="en-US" altLang="en-US" dirty="0" err="1"/>
              <a:t>Pokemon</a:t>
            </a:r>
            <a:r>
              <a:rPr lang="en-US" altLang="en-US" dirty="0"/>
              <a:t>* </a:t>
            </a:r>
            <a:r>
              <a:rPr lang="en-US" altLang="en-US" dirty="0" err="1"/>
              <a:t>newPokemon</a:t>
            </a:r>
            <a:r>
              <a:rPr lang="en-US" altLang="en-US" dirty="0"/>
              <a:t>=list-&gt;next;</a:t>
            </a:r>
          </a:p>
          <a:p>
            <a:pPr eaLnBrk="1" hangingPunct="1"/>
            <a:r>
              <a:rPr lang="en-US" altLang="en-US" dirty="0"/>
              <a:t>    </a:t>
            </a:r>
            <a:r>
              <a:rPr lang="en-US" altLang="en-US" dirty="0" err="1"/>
              <a:t>strcpy</a:t>
            </a:r>
            <a:r>
              <a:rPr lang="en-US" altLang="en-US" dirty="0"/>
              <a:t>( (*</a:t>
            </a:r>
            <a:r>
              <a:rPr lang="en-US" altLang="en-US" dirty="0" err="1"/>
              <a:t>newPokemon</a:t>
            </a:r>
            <a:r>
              <a:rPr lang="en-US" altLang="en-US" dirty="0"/>
              <a:t>).name, names[rand()%10]); //</a:t>
            </a:r>
            <a:r>
              <a:rPr lang="en-US" altLang="en-US" dirty="0" err="1"/>
              <a:t>newPokemon</a:t>
            </a:r>
            <a:r>
              <a:rPr lang="en-US" altLang="en-US" dirty="0"/>
              <a:t>-&gt;name</a:t>
            </a:r>
          </a:p>
          <a:p>
            <a:pPr eaLnBrk="1" hangingPunct="1"/>
            <a:r>
              <a:rPr lang="en-US" altLang="en-US" dirty="0"/>
              <a:t>    </a:t>
            </a:r>
            <a:r>
              <a:rPr lang="en-US" altLang="en-US" dirty="0" err="1"/>
              <a:t>newPokemon</a:t>
            </a:r>
            <a:r>
              <a:rPr lang="en-US" altLang="en-US" dirty="0"/>
              <a:t>-&gt;cp=rand()%2000;</a:t>
            </a:r>
          </a:p>
          <a:p>
            <a:pPr eaLnBrk="1" hangingPunct="1"/>
            <a:r>
              <a:rPr lang="en-US" altLang="en-US" dirty="0"/>
              <a:t>    </a:t>
            </a:r>
            <a:r>
              <a:rPr lang="en-US" altLang="en-US" dirty="0" err="1"/>
              <a:t>newPokemon</a:t>
            </a:r>
            <a:r>
              <a:rPr lang="en-US" altLang="en-US" dirty="0"/>
              <a:t>-&gt;next=NULL;</a:t>
            </a:r>
          </a:p>
          <a:p>
            <a:pPr eaLnBrk="1" hangingPunct="1"/>
            <a:r>
              <a:rPr lang="en-US" altLang="en-US" dirty="0"/>
              <a:t>    return </a:t>
            </a:r>
            <a:r>
              <a:rPr lang="en-US" altLang="en-US" dirty="0" err="1"/>
              <a:t>frontOfList</a:t>
            </a:r>
            <a:r>
              <a:rPr lang="en-US" altLang="en-US" dirty="0"/>
              <a:t>;</a:t>
            </a:r>
          </a:p>
          <a:p>
            <a:pPr eaLnBrk="1" hangingPunct="1"/>
            <a:r>
              <a:rPr lang="en-US" altLang="en-US" dirty="0"/>
              <a:t>  }  </a:t>
            </a:r>
          </a:p>
          <a:p>
            <a:pPr eaLnBrk="1" hangingPunct="1"/>
            <a:r>
              <a:rPr lang="en-US" altLang="en-US" dirty="0"/>
              <a:t>}</a:t>
            </a:r>
          </a:p>
          <a:p>
            <a:pPr eaLnBrk="1" hangingPunct="1"/>
            <a:endParaRPr lang="en-US" altLang="en-US" dirty="0"/>
          </a:p>
          <a:p>
            <a:pPr eaLnBrk="1" hangingPunct="1"/>
            <a:r>
              <a:rPr lang="en-US" altLang="en-US" dirty="0"/>
              <a:t>int main(){</a:t>
            </a:r>
          </a:p>
          <a:p>
            <a:pPr eaLnBrk="1" hangingPunct="1"/>
            <a:r>
              <a:rPr lang="en-US" altLang="en-US" dirty="0"/>
              <a:t> </a:t>
            </a:r>
          </a:p>
          <a:p>
            <a:pPr eaLnBrk="1" hangingPunct="1"/>
            <a:r>
              <a:rPr lang="en-US" altLang="en-US" dirty="0"/>
              <a:t>  </a:t>
            </a:r>
            <a:r>
              <a:rPr lang="en-US" altLang="en-US" dirty="0" err="1"/>
              <a:t>Pokemon</a:t>
            </a:r>
            <a:r>
              <a:rPr lang="en-US" altLang="en-US" dirty="0"/>
              <a:t>* mine=NULL;</a:t>
            </a:r>
          </a:p>
          <a:p>
            <a:pPr eaLnBrk="1" hangingPunct="1"/>
            <a:r>
              <a:rPr lang="en-US" altLang="en-US" dirty="0"/>
              <a:t>  int catch=1;</a:t>
            </a:r>
          </a:p>
          <a:p>
            <a:pPr eaLnBrk="1" hangingPunct="1"/>
            <a:endParaRPr lang="en-US" altLang="en-US" dirty="0"/>
          </a:p>
          <a:p>
            <a:pPr eaLnBrk="1" hangingPunct="1"/>
            <a:r>
              <a:rPr lang="en-US" altLang="en-US" dirty="0"/>
              <a:t>  while(catch==1){</a:t>
            </a:r>
          </a:p>
          <a:p>
            <a:pPr eaLnBrk="1" hangingPunct="1"/>
            <a:r>
              <a:rPr lang="en-US" altLang="en-US" dirty="0"/>
              <a:t>    </a:t>
            </a:r>
            <a:r>
              <a:rPr lang="en-US" altLang="en-US" dirty="0" err="1"/>
              <a:t>printf</a:t>
            </a:r>
            <a:r>
              <a:rPr lang="en-US" altLang="en-US" dirty="0"/>
              <a:t>("A </a:t>
            </a:r>
            <a:r>
              <a:rPr lang="en-US" altLang="en-US" dirty="0" err="1"/>
              <a:t>Pokemon</a:t>
            </a:r>
            <a:r>
              <a:rPr lang="en-US" altLang="en-US" dirty="0"/>
              <a:t> appears in the wild. \n");</a:t>
            </a:r>
          </a:p>
          <a:p>
            <a:pPr eaLnBrk="1" hangingPunct="1"/>
            <a:r>
              <a:rPr lang="en-US" altLang="en-US" dirty="0"/>
              <a:t>    </a:t>
            </a:r>
            <a:r>
              <a:rPr lang="en-US" altLang="en-US" dirty="0" err="1"/>
              <a:t>printf</a:t>
            </a:r>
            <a:r>
              <a:rPr lang="en-US" altLang="en-US" dirty="0"/>
              <a:t>("Would you like to catch it? (0=no,1=yes) ");</a:t>
            </a:r>
          </a:p>
          <a:p>
            <a:pPr eaLnBrk="1" hangingPunct="1"/>
            <a:r>
              <a:rPr lang="en-US" altLang="en-US" dirty="0"/>
              <a:t>    </a:t>
            </a:r>
            <a:r>
              <a:rPr lang="en-US" altLang="en-US" dirty="0" err="1"/>
              <a:t>scanf</a:t>
            </a:r>
            <a:r>
              <a:rPr lang="en-US" altLang="en-US" dirty="0"/>
              <a:t>("%d", &amp;catch);</a:t>
            </a:r>
          </a:p>
          <a:p>
            <a:pPr eaLnBrk="1" hangingPunct="1"/>
            <a:r>
              <a:rPr lang="en-US" altLang="en-US" dirty="0"/>
              <a:t>    if(catch==1){</a:t>
            </a:r>
          </a:p>
          <a:p>
            <a:pPr eaLnBrk="1" hangingPunct="1"/>
            <a:r>
              <a:rPr lang="en-US" altLang="en-US" dirty="0"/>
              <a:t>        mine=</a:t>
            </a:r>
            <a:r>
              <a:rPr lang="en-US" altLang="en-US" dirty="0" err="1"/>
              <a:t>addPokemon</a:t>
            </a:r>
            <a:r>
              <a:rPr lang="en-US" altLang="en-US" dirty="0"/>
              <a:t>(mine);</a:t>
            </a:r>
          </a:p>
          <a:p>
            <a:pPr eaLnBrk="1" hangingPunct="1"/>
            <a:r>
              <a:rPr lang="en-US" altLang="en-US" dirty="0"/>
              <a:t>    }</a:t>
            </a:r>
          </a:p>
          <a:p>
            <a:pPr eaLnBrk="1" hangingPunct="1"/>
            <a:r>
              <a:rPr lang="en-US" altLang="en-US" dirty="0"/>
              <a:t>    </a:t>
            </a:r>
            <a:r>
              <a:rPr lang="en-US" altLang="en-US" dirty="0" err="1"/>
              <a:t>printPokemon</a:t>
            </a:r>
            <a:r>
              <a:rPr lang="en-US" altLang="en-US" dirty="0"/>
              <a:t>(mine); </a:t>
            </a:r>
          </a:p>
          <a:p>
            <a:pPr eaLnBrk="1" hangingPunct="1"/>
            <a:r>
              <a:rPr lang="en-US" altLang="en-US" dirty="0"/>
              <a:t>  }</a:t>
            </a:r>
          </a:p>
          <a:p>
            <a:pPr eaLnBrk="1" hangingPunct="1"/>
            <a:r>
              <a:rPr lang="en-US" altLang="en-US" dirty="0"/>
              <a:t>  //Note: the dynamically allocated memory should be released.</a:t>
            </a:r>
          </a:p>
          <a:p>
            <a:pPr eaLnBrk="1" hangingPunct="1"/>
            <a:r>
              <a:rPr lang="en-US" altLang="en-US" dirty="0"/>
              <a:t>  //This step is left as an exercise.  </a:t>
            </a:r>
          </a:p>
          <a:p>
            <a:pPr eaLnBrk="1" hangingPunct="1"/>
            <a:r>
              <a:rPr lang="en-US" altLang="en-US" dirty="0"/>
              <a:t>  return 0;</a:t>
            </a:r>
          </a:p>
          <a:p>
            <a:pPr eaLnBrk="1" hangingPunct="1"/>
            <a:r>
              <a:rPr lang="en-US" altLang="en-US" dirty="0"/>
              <a:t>}</a:t>
            </a:r>
          </a:p>
          <a:p>
            <a:pPr eaLnBrk="1" hangingPunct="1"/>
            <a:endParaRPr lang="en-US" altLang="en-US" dirty="0"/>
          </a:p>
        </p:txBody>
      </p:sp>
    </p:spTree>
    <p:extLst>
      <p:ext uri="{BB962C8B-B14F-4D97-AF65-F5344CB8AC3E}">
        <p14:creationId xmlns:p14="http://schemas.microsoft.com/office/powerpoint/2010/main" val="24195196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A7DD7BD1-6825-4DC0-9099-B9E78B685343}" type="slidenum">
              <a:rPr lang="en-US" altLang="en-US" sz="1200">
                <a:solidFill>
                  <a:schemeClr val="tx1"/>
                </a:solidFill>
              </a:rPr>
              <a:pPr eaLnBrk="1" hangingPunct="1"/>
              <a:t>24</a:t>
            </a:fld>
            <a:endParaRPr lang="en-US" altLang="en-US" sz="1200">
              <a:solidFill>
                <a:schemeClr val="tx1"/>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dirty="0"/>
              <a:t>// how to delete Charmander, need </a:t>
            </a:r>
            <a:r>
              <a:rPr lang="en-US" altLang="en-US" dirty="0" err="1"/>
              <a:t>ptr</a:t>
            </a:r>
            <a:r>
              <a:rPr lang="en-US" altLang="en-US" dirty="0"/>
              <a:t> to </a:t>
            </a:r>
            <a:r>
              <a:rPr lang="en-US" altLang="en-US" dirty="0" err="1"/>
              <a:t>eevee</a:t>
            </a:r>
            <a:r>
              <a:rPr lang="en-US" altLang="en-US" dirty="0"/>
              <a:t>.  Also keep </a:t>
            </a:r>
            <a:r>
              <a:rPr lang="en-US" altLang="en-US" dirty="0" err="1"/>
              <a:t>ptr</a:t>
            </a:r>
            <a:r>
              <a:rPr lang="en-US" altLang="en-US" dirty="0"/>
              <a:t> to Charmander to free.</a:t>
            </a:r>
          </a:p>
          <a:p>
            <a:pPr eaLnBrk="1" hangingPunct="1"/>
            <a:r>
              <a:rPr lang="en-US" altLang="en-US" dirty="0"/>
              <a:t>//  </a:t>
            </a:r>
            <a:r>
              <a:rPr lang="en-US" altLang="en-US" dirty="0" err="1"/>
              <a:t>ptr</a:t>
            </a:r>
            <a:r>
              <a:rPr lang="en-US" altLang="en-US" dirty="0"/>
              <a:t>-&gt;next- = </a:t>
            </a:r>
            <a:r>
              <a:rPr lang="en-US" altLang="en-US" dirty="0" err="1"/>
              <a:t>ptr</a:t>
            </a:r>
            <a:r>
              <a:rPr lang="en-US" altLang="en-US" dirty="0"/>
              <a:t>-&gt;next-&gt;next;  </a:t>
            </a:r>
          </a:p>
          <a:p>
            <a:pPr eaLnBrk="1" hangingPunct="1"/>
            <a:r>
              <a:rPr lang="en-US" altLang="en-US" dirty="0"/>
              <a:t>// free(</a:t>
            </a:r>
            <a:r>
              <a:rPr lang="en-US" altLang="en-US" dirty="0" err="1"/>
              <a:t>charmanderPtr</a:t>
            </a:r>
            <a:r>
              <a:rPr lang="en-US" altLang="en-US" dirty="0"/>
              <a:t>);</a:t>
            </a:r>
          </a:p>
          <a:p>
            <a:pPr eaLnBrk="1" hangingPunct="1"/>
            <a:endParaRPr lang="en-US" altLang="en-US" dirty="0"/>
          </a:p>
          <a:p>
            <a:pPr eaLnBrk="1" hangingPunct="1"/>
            <a:endParaRPr lang="en-US" altLang="en-US" dirty="0"/>
          </a:p>
          <a:p>
            <a:pPr eaLnBrk="1" hangingPunct="1"/>
            <a:r>
              <a:rPr lang="en-US" altLang="en-US" dirty="0"/>
              <a:t>#include &lt;</a:t>
            </a:r>
            <a:r>
              <a:rPr lang="en-US" altLang="en-US" dirty="0" err="1"/>
              <a:t>stdio.h</a:t>
            </a:r>
            <a:r>
              <a:rPr lang="en-US" altLang="en-US" dirty="0"/>
              <a:t>&gt;</a:t>
            </a:r>
          </a:p>
          <a:p>
            <a:pPr eaLnBrk="1" hangingPunct="1"/>
            <a:r>
              <a:rPr lang="en-US" altLang="en-US" dirty="0"/>
              <a:t>#include &lt;</a:t>
            </a:r>
            <a:r>
              <a:rPr lang="en-US" altLang="en-US" dirty="0" err="1"/>
              <a:t>stdlib.h</a:t>
            </a:r>
            <a:r>
              <a:rPr lang="en-US" altLang="en-US" dirty="0"/>
              <a:t>&gt;</a:t>
            </a:r>
          </a:p>
          <a:p>
            <a:pPr eaLnBrk="1" hangingPunct="1"/>
            <a:r>
              <a:rPr lang="en-US" altLang="en-US" dirty="0"/>
              <a:t>#include &lt;</a:t>
            </a:r>
            <a:r>
              <a:rPr lang="en-US" altLang="en-US" dirty="0" err="1"/>
              <a:t>string.h</a:t>
            </a:r>
            <a:r>
              <a:rPr lang="en-US" altLang="en-US" dirty="0"/>
              <a:t>&gt;</a:t>
            </a:r>
          </a:p>
          <a:p>
            <a:pPr eaLnBrk="1" hangingPunct="1"/>
            <a:endParaRPr lang="en-US" altLang="en-US" dirty="0"/>
          </a:p>
          <a:p>
            <a:pPr eaLnBrk="1" hangingPunct="1"/>
            <a:endParaRPr lang="en-US" altLang="en-US" dirty="0"/>
          </a:p>
          <a:p>
            <a:pPr eaLnBrk="1" hangingPunct="1"/>
            <a:r>
              <a:rPr lang="en-US" altLang="en-US" dirty="0"/>
              <a:t>typedef struct </a:t>
            </a:r>
            <a:r>
              <a:rPr lang="en-US" altLang="en-US" dirty="0" err="1"/>
              <a:t>pokemon</a:t>
            </a:r>
            <a:r>
              <a:rPr lang="en-US" altLang="en-US" dirty="0"/>
              <a:t>{     //define the </a:t>
            </a:r>
            <a:r>
              <a:rPr lang="en-US" altLang="en-US" dirty="0" err="1"/>
              <a:t>Pokemon</a:t>
            </a:r>
            <a:r>
              <a:rPr lang="en-US" altLang="en-US" dirty="0"/>
              <a:t> data type alias </a:t>
            </a:r>
            <a:r>
              <a:rPr lang="en-US" altLang="en-US" dirty="0" err="1"/>
              <a:t>to:struct</a:t>
            </a:r>
            <a:r>
              <a:rPr lang="en-US" altLang="en-US" dirty="0"/>
              <a:t> </a:t>
            </a:r>
            <a:r>
              <a:rPr lang="en-US" altLang="en-US" dirty="0" err="1"/>
              <a:t>pokemon</a:t>
            </a:r>
            <a:endParaRPr lang="en-US" altLang="en-US" dirty="0"/>
          </a:p>
          <a:p>
            <a:pPr eaLnBrk="1" hangingPunct="1"/>
            <a:r>
              <a:rPr lang="en-US" altLang="en-US" dirty="0"/>
              <a:t>  char name[30];</a:t>
            </a:r>
          </a:p>
          <a:p>
            <a:pPr eaLnBrk="1" hangingPunct="1"/>
            <a:r>
              <a:rPr lang="en-US" altLang="en-US" dirty="0"/>
              <a:t>  int cp;</a:t>
            </a:r>
          </a:p>
          <a:p>
            <a:pPr eaLnBrk="1" hangingPunct="1"/>
            <a:r>
              <a:rPr lang="en-US" altLang="en-US" dirty="0"/>
              <a:t>  struct </a:t>
            </a:r>
            <a:r>
              <a:rPr lang="en-US" altLang="en-US" dirty="0" err="1"/>
              <a:t>pokemon</a:t>
            </a:r>
            <a:r>
              <a:rPr lang="en-US" altLang="en-US" dirty="0"/>
              <a:t>* next;</a:t>
            </a:r>
          </a:p>
          <a:p>
            <a:pPr eaLnBrk="1" hangingPunct="1"/>
            <a:r>
              <a:rPr lang="en-US" altLang="en-US" dirty="0"/>
              <a:t>} </a:t>
            </a:r>
            <a:r>
              <a:rPr lang="en-US" altLang="en-US" dirty="0" err="1"/>
              <a:t>Pokemon</a:t>
            </a:r>
            <a:r>
              <a:rPr lang="en-US" altLang="en-US" dirty="0"/>
              <a:t>;</a:t>
            </a:r>
          </a:p>
          <a:p>
            <a:pPr eaLnBrk="1" hangingPunct="1"/>
            <a:endParaRPr lang="en-US" altLang="en-US" dirty="0"/>
          </a:p>
          <a:p>
            <a:pPr eaLnBrk="1" hangingPunct="1"/>
            <a:r>
              <a:rPr lang="en-US" altLang="en-US" dirty="0"/>
              <a:t>//a 2D array with 10 </a:t>
            </a:r>
            <a:r>
              <a:rPr lang="en-US" altLang="en-US" dirty="0" err="1"/>
              <a:t>pokemon</a:t>
            </a:r>
            <a:r>
              <a:rPr lang="en-US" altLang="en-US" dirty="0"/>
              <a:t> names that are all less than 50 characters</a:t>
            </a:r>
          </a:p>
          <a:p>
            <a:pPr eaLnBrk="1" hangingPunct="1"/>
            <a:r>
              <a:rPr lang="en-US" altLang="en-US" dirty="0"/>
              <a:t>char names[10][50]={ "</a:t>
            </a:r>
            <a:r>
              <a:rPr lang="en-US" altLang="en-US" dirty="0" err="1"/>
              <a:t>pikachu</a:t>
            </a:r>
            <a:r>
              <a:rPr lang="en-US" altLang="en-US" dirty="0"/>
              <a:t>", "</a:t>
            </a:r>
            <a:r>
              <a:rPr lang="en-US" altLang="en-US" dirty="0" err="1"/>
              <a:t>magik</a:t>
            </a:r>
            <a:r>
              <a:rPr lang="en-US" altLang="en-US" dirty="0"/>
              <a:t> carp", "</a:t>
            </a:r>
            <a:r>
              <a:rPr lang="en-US" altLang="en-US" dirty="0" err="1"/>
              <a:t>eevee</a:t>
            </a:r>
            <a:r>
              <a:rPr lang="en-US" altLang="en-US" dirty="0"/>
              <a:t>", "</a:t>
            </a:r>
            <a:r>
              <a:rPr lang="en-US" altLang="en-US" dirty="0" err="1"/>
              <a:t>charmander</a:t>
            </a:r>
            <a:r>
              <a:rPr lang="en-US" altLang="en-US" dirty="0"/>
              <a:t>", "</a:t>
            </a:r>
            <a:r>
              <a:rPr lang="en-US" altLang="en-US" dirty="0" err="1"/>
              <a:t>squirtle</a:t>
            </a:r>
            <a:r>
              <a:rPr lang="en-US" altLang="en-US" dirty="0"/>
              <a:t>", </a:t>
            </a:r>
          </a:p>
          <a:p>
            <a:pPr eaLnBrk="1" hangingPunct="1"/>
            <a:r>
              <a:rPr lang="en-US" altLang="en-US" dirty="0"/>
              <a:t>                     "</a:t>
            </a:r>
            <a:r>
              <a:rPr lang="en-US" altLang="en-US" dirty="0" err="1"/>
              <a:t>vaporeon</a:t>
            </a:r>
            <a:r>
              <a:rPr lang="en-US" altLang="en-US" dirty="0"/>
              <a:t>", "ditto", "</a:t>
            </a:r>
            <a:r>
              <a:rPr lang="en-US" altLang="en-US" dirty="0" err="1"/>
              <a:t>jigglypuff</a:t>
            </a:r>
            <a:r>
              <a:rPr lang="en-US" altLang="en-US" dirty="0"/>
              <a:t>", "</a:t>
            </a:r>
            <a:r>
              <a:rPr lang="en-US" altLang="en-US" dirty="0" err="1"/>
              <a:t>hypno</a:t>
            </a:r>
            <a:r>
              <a:rPr lang="en-US" altLang="en-US" dirty="0"/>
              <a:t>", "</a:t>
            </a:r>
            <a:r>
              <a:rPr lang="en-US" altLang="en-US" dirty="0" err="1"/>
              <a:t>drowzee</a:t>
            </a:r>
            <a:r>
              <a:rPr lang="en-US" altLang="en-US" dirty="0"/>
              <a:t>"};</a:t>
            </a:r>
          </a:p>
          <a:p>
            <a:pPr eaLnBrk="1" hangingPunct="1"/>
            <a:endParaRPr lang="en-US" altLang="en-US" dirty="0"/>
          </a:p>
          <a:p>
            <a:pPr eaLnBrk="1" hangingPunct="1"/>
            <a:r>
              <a:rPr lang="en-US" altLang="en-US" dirty="0"/>
              <a:t>//***********************************************************</a:t>
            </a:r>
          </a:p>
          <a:p>
            <a:pPr eaLnBrk="1" hangingPunct="1"/>
            <a:r>
              <a:rPr lang="en-US" altLang="en-US" dirty="0"/>
              <a:t>//*  The </a:t>
            </a:r>
            <a:r>
              <a:rPr lang="en-US" altLang="en-US" dirty="0" err="1"/>
              <a:t>printPokemon</a:t>
            </a:r>
            <a:r>
              <a:rPr lang="en-US" altLang="en-US" dirty="0"/>
              <a:t> function expects a </a:t>
            </a:r>
            <a:r>
              <a:rPr lang="en-US" altLang="en-US" dirty="0" err="1"/>
              <a:t>Pokemon</a:t>
            </a:r>
            <a:r>
              <a:rPr lang="en-US" altLang="en-US" dirty="0"/>
              <a:t> pointer</a:t>
            </a:r>
          </a:p>
          <a:p>
            <a:pPr eaLnBrk="1" hangingPunct="1"/>
            <a:r>
              <a:rPr lang="en-US" altLang="en-US" dirty="0"/>
              <a:t>//*  that is a pointer to the beginning of the linked list.</a:t>
            </a:r>
          </a:p>
          <a:p>
            <a:pPr eaLnBrk="1" hangingPunct="1"/>
            <a:r>
              <a:rPr lang="en-US" altLang="en-US" dirty="0"/>
              <a:t>//*  It will print the </a:t>
            </a:r>
            <a:r>
              <a:rPr lang="en-US" altLang="en-US" dirty="0" err="1"/>
              <a:t>pokemon</a:t>
            </a:r>
            <a:r>
              <a:rPr lang="en-US" altLang="en-US" dirty="0"/>
              <a:t> info and then traverse the </a:t>
            </a:r>
          </a:p>
          <a:p>
            <a:pPr eaLnBrk="1" hangingPunct="1"/>
            <a:r>
              <a:rPr lang="en-US" altLang="en-US" dirty="0"/>
              <a:t>//*  until it reaches the end of the list.</a:t>
            </a:r>
          </a:p>
          <a:p>
            <a:pPr eaLnBrk="1" hangingPunct="1"/>
            <a:r>
              <a:rPr lang="en-US" altLang="en-US" dirty="0"/>
              <a:t>//**********************************************************</a:t>
            </a:r>
          </a:p>
          <a:p>
            <a:pPr eaLnBrk="1" hangingPunct="1"/>
            <a:r>
              <a:rPr lang="en-US" altLang="en-US" dirty="0"/>
              <a:t>void </a:t>
            </a:r>
            <a:r>
              <a:rPr lang="en-US" altLang="en-US" dirty="0" err="1"/>
              <a:t>printPokemon</a:t>
            </a:r>
            <a:r>
              <a:rPr lang="en-US" altLang="en-US" dirty="0"/>
              <a:t>(</a:t>
            </a:r>
            <a:r>
              <a:rPr lang="en-US" altLang="en-US" dirty="0" err="1"/>
              <a:t>Pokemon</a:t>
            </a:r>
            <a:r>
              <a:rPr lang="en-US" altLang="en-US" dirty="0"/>
              <a:t>* list){</a:t>
            </a:r>
          </a:p>
          <a:p>
            <a:pPr eaLnBrk="1" hangingPunct="1"/>
            <a:r>
              <a:rPr lang="en-US" altLang="en-US" dirty="0"/>
              <a:t>  </a:t>
            </a:r>
            <a:r>
              <a:rPr lang="en-US" altLang="en-US" dirty="0" err="1"/>
              <a:t>printf</a:t>
            </a:r>
            <a:r>
              <a:rPr lang="en-US" altLang="en-US" dirty="0"/>
              <a:t>("Your </a:t>
            </a:r>
            <a:r>
              <a:rPr lang="en-US" altLang="en-US" dirty="0" err="1"/>
              <a:t>Pokemon</a:t>
            </a:r>
            <a:r>
              <a:rPr lang="en-US" altLang="en-US" dirty="0"/>
              <a:t> Are: \n****************\n");</a:t>
            </a:r>
          </a:p>
          <a:p>
            <a:pPr eaLnBrk="1" hangingPunct="1"/>
            <a:r>
              <a:rPr lang="en-US" altLang="en-US" dirty="0"/>
              <a:t>  while(list != NULL){</a:t>
            </a:r>
          </a:p>
          <a:p>
            <a:pPr eaLnBrk="1" hangingPunct="1"/>
            <a:r>
              <a:rPr lang="en-US" altLang="en-US" dirty="0"/>
              <a:t>    </a:t>
            </a:r>
            <a:r>
              <a:rPr lang="en-US" altLang="en-US" dirty="0" err="1"/>
              <a:t>printf</a:t>
            </a:r>
            <a:r>
              <a:rPr lang="en-US" altLang="en-US" dirty="0"/>
              <a:t>("</a:t>
            </a:r>
            <a:r>
              <a:rPr lang="en-US" altLang="en-US" dirty="0" err="1"/>
              <a:t>Pokemon</a:t>
            </a:r>
            <a:r>
              <a:rPr lang="en-US" altLang="en-US" dirty="0"/>
              <a:t>: %s cp:%d\n", (*list).name, (*list).cp);</a:t>
            </a:r>
          </a:p>
          <a:p>
            <a:pPr eaLnBrk="1" hangingPunct="1"/>
            <a:r>
              <a:rPr lang="en-US" altLang="en-US" dirty="0"/>
              <a:t>    list=(*list).next;  //or list-&gt;next</a:t>
            </a:r>
          </a:p>
          <a:p>
            <a:pPr eaLnBrk="1" hangingPunct="1"/>
            <a:r>
              <a:rPr lang="en-US" altLang="en-US" dirty="0"/>
              <a:t>  }</a:t>
            </a:r>
          </a:p>
          <a:p>
            <a:pPr eaLnBrk="1" hangingPunct="1"/>
            <a:r>
              <a:rPr lang="en-US" altLang="en-US" dirty="0"/>
              <a:t>  </a:t>
            </a:r>
            <a:r>
              <a:rPr lang="en-US" altLang="en-US" dirty="0" err="1"/>
              <a:t>printf</a:t>
            </a:r>
            <a:r>
              <a:rPr lang="en-US" altLang="en-US" dirty="0"/>
              <a:t>("\n");</a:t>
            </a:r>
          </a:p>
          <a:p>
            <a:pPr eaLnBrk="1" hangingPunct="1"/>
            <a:r>
              <a:rPr lang="en-US" altLang="en-US" dirty="0"/>
              <a:t>}</a:t>
            </a:r>
          </a:p>
          <a:p>
            <a:pPr eaLnBrk="1" hangingPunct="1"/>
            <a:endParaRPr lang="en-US" altLang="en-US" dirty="0"/>
          </a:p>
          <a:p>
            <a:pPr eaLnBrk="1" hangingPunct="1"/>
            <a:r>
              <a:rPr lang="en-US" altLang="en-US" dirty="0"/>
              <a:t>//***********************************************************</a:t>
            </a:r>
          </a:p>
          <a:p>
            <a:pPr eaLnBrk="1" hangingPunct="1"/>
            <a:r>
              <a:rPr lang="en-US" altLang="en-US" dirty="0"/>
              <a:t>//* </a:t>
            </a:r>
            <a:r>
              <a:rPr lang="en-US" altLang="en-US" dirty="0" err="1"/>
              <a:t>addPokemon</a:t>
            </a:r>
            <a:r>
              <a:rPr lang="en-US" altLang="en-US" dirty="0"/>
              <a:t> adds a new </a:t>
            </a:r>
            <a:r>
              <a:rPr lang="en-US" altLang="en-US" dirty="0" err="1"/>
              <a:t>Pokemon</a:t>
            </a:r>
            <a:r>
              <a:rPr lang="en-US" altLang="en-US" dirty="0"/>
              <a:t> object to the end of the list.</a:t>
            </a:r>
          </a:p>
          <a:p>
            <a:pPr eaLnBrk="1" hangingPunct="1"/>
            <a:r>
              <a:rPr lang="en-US" altLang="en-US" dirty="0"/>
              <a:t>//* dynamic memory allocation is used. The name of the new </a:t>
            </a:r>
          </a:p>
          <a:p>
            <a:pPr eaLnBrk="1" hangingPunct="1"/>
            <a:r>
              <a:rPr lang="en-US" altLang="en-US" dirty="0"/>
              <a:t>//* </a:t>
            </a:r>
            <a:r>
              <a:rPr lang="en-US" altLang="en-US" dirty="0" err="1"/>
              <a:t>Pokemon</a:t>
            </a:r>
            <a:r>
              <a:rPr lang="en-US" altLang="en-US" dirty="0"/>
              <a:t> is randomly selected from the list.  The cp is</a:t>
            </a:r>
          </a:p>
          <a:p>
            <a:pPr eaLnBrk="1" hangingPunct="1"/>
            <a:r>
              <a:rPr lang="en-US" altLang="en-US" dirty="0"/>
              <a:t>//* randomly selected (0-1999).</a:t>
            </a:r>
          </a:p>
          <a:p>
            <a:pPr eaLnBrk="1" hangingPunct="1"/>
            <a:r>
              <a:rPr lang="en-US" altLang="en-US" dirty="0"/>
              <a:t>//***********************************************************</a:t>
            </a:r>
          </a:p>
          <a:p>
            <a:pPr eaLnBrk="1" hangingPunct="1"/>
            <a:r>
              <a:rPr lang="en-US" altLang="en-US" dirty="0" err="1"/>
              <a:t>Pokemon</a:t>
            </a:r>
            <a:r>
              <a:rPr lang="en-US" altLang="en-US" dirty="0"/>
              <a:t>* </a:t>
            </a:r>
            <a:r>
              <a:rPr lang="en-US" altLang="en-US" dirty="0" err="1"/>
              <a:t>addPokemon</a:t>
            </a:r>
            <a:r>
              <a:rPr lang="en-US" altLang="en-US" dirty="0"/>
              <a:t>(</a:t>
            </a:r>
            <a:r>
              <a:rPr lang="en-US" altLang="en-US" dirty="0" err="1"/>
              <a:t>Pokemon</a:t>
            </a:r>
            <a:r>
              <a:rPr lang="en-US" altLang="en-US" dirty="0"/>
              <a:t>* list){</a:t>
            </a:r>
          </a:p>
          <a:p>
            <a:pPr eaLnBrk="1" hangingPunct="1"/>
            <a:r>
              <a:rPr lang="en-US" altLang="en-US" dirty="0"/>
              <a:t>  if(list== NULL){    //This will be the first </a:t>
            </a:r>
            <a:r>
              <a:rPr lang="en-US" altLang="en-US" dirty="0" err="1"/>
              <a:t>Pokemon</a:t>
            </a:r>
            <a:r>
              <a:rPr lang="en-US" altLang="en-US" dirty="0"/>
              <a:t> in the list</a:t>
            </a:r>
          </a:p>
          <a:p>
            <a:pPr eaLnBrk="1" hangingPunct="1"/>
            <a:r>
              <a:rPr lang="en-US" altLang="en-US" dirty="0"/>
              <a:t>    list=malloc(</a:t>
            </a:r>
            <a:r>
              <a:rPr lang="en-US" altLang="en-US" dirty="0" err="1"/>
              <a:t>sizeof</a:t>
            </a:r>
            <a:r>
              <a:rPr lang="en-US" altLang="en-US" dirty="0"/>
              <a:t>(</a:t>
            </a:r>
            <a:r>
              <a:rPr lang="en-US" altLang="en-US" dirty="0" err="1"/>
              <a:t>Pokemon</a:t>
            </a:r>
            <a:r>
              <a:rPr lang="en-US" altLang="en-US" dirty="0"/>
              <a:t>));  //dynamically allocate memory for </a:t>
            </a:r>
            <a:r>
              <a:rPr lang="en-US" altLang="en-US" dirty="0" err="1"/>
              <a:t>Pokemon</a:t>
            </a:r>
            <a:endParaRPr lang="en-US" altLang="en-US" dirty="0"/>
          </a:p>
          <a:p>
            <a:pPr eaLnBrk="1" hangingPunct="1"/>
            <a:r>
              <a:rPr lang="en-US" altLang="en-US" dirty="0"/>
              <a:t>    </a:t>
            </a:r>
            <a:r>
              <a:rPr lang="en-US" altLang="en-US" dirty="0" err="1"/>
              <a:t>strcpy</a:t>
            </a:r>
            <a:r>
              <a:rPr lang="en-US" altLang="en-US" dirty="0"/>
              <a:t>(list-&gt;name, "</a:t>
            </a:r>
            <a:r>
              <a:rPr lang="en-US" altLang="en-US" dirty="0" err="1"/>
              <a:t>squirtle</a:t>
            </a:r>
            <a:r>
              <a:rPr lang="en-US" altLang="en-US" dirty="0"/>
              <a:t>");</a:t>
            </a:r>
          </a:p>
          <a:p>
            <a:pPr eaLnBrk="1" hangingPunct="1"/>
            <a:r>
              <a:rPr lang="en-US" altLang="en-US" dirty="0"/>
              <a:t>    list-&gt;cp=400;</a:t>
            </a:r>
          </a:p>
          <a:p>
            <a:pPr eaLnBrk="1" hangingPunct="1"/>
            <a:r>
              <a:rPr lang="en-US" altLang="en-US" dirty="0"/>
              <a:t>    list-&gt;next=NULL;</a:t>
            </a:r>
          </a:p>
          <a:p>
            <a:pPr eaLnBrk="1" hangingPunct="1"/>
            <a:r>
              <a:rPr lang="en-US" altLang="en-US" dirty="0"/>
              <a:t>    return list; </a:t>
            </a:r>
          </a:p>
          <a:p>
            <a:pPr eaLnBrk="1" hangingPunct="1"/>
            <a:r>
              <a:rPr lang="en-US" altLang="en-US" dirty="0"/>
              <a:t>  }</a:t>
            </a:r>
          </a:p>
          <a:p>
            <a:pPr eaLnBrk="1" hangingPunct="1"/>
            <a:r>
              <a:rPr lang="en-US" altLang="en-US" dirty="0"/>
              <a:t>  else{  //Find the end of the list and add a new </a:t>
            </a:r>
            <a:r>
              <a:rPr lang="en-US" altLang="en-US" dirty="0" err="1"/>
              <a:t>Pokemon</a:t>
            </a:r>
            <a:endParaRPr lang="en-US" altLang="en-US" dirty="0"/>
          </a:p>
          <a:p>
            <a:pPr eaLnBrk="1" hangingPunct="1"/>
            <a:r>
              <a:rPr lang="en-US" altLang="en-US" dirty="0"/>
              <a:t>    </a:t>
            </a:r>
            <a:r>
              <a:rPr lang="en-US" altLang="en-US" dirty="0" err="1"/>
              <a:t>Pokemon</a:t>
            </a:r>
            <a:r>
              <a:rPr lang="en-US" altLang="en-US" dirty="0"/>
              <a:t>* </a:t>
            </a:r>
            <a:r>
              <a:rPr lang="en-US" altLang="en-US" dirty="0" err="1"/>
              <a:t>frontOfList</a:t>
            </a:r>
            <a:r>
              <a:rPr lang="en-US" altLang="en-US" dirty="0"/>
              <a:t>=list;</a:t>
            </a:r>
          </a:p>
          <a:p>
            <a:pPr eaLnBrk="1" hangingPunct="1"/>
            <a:r>
              <a:rPr lang="en-US" altLang="en-US" dirty="0"/>
              <a:t>    while(list-&gt;next != NULL){</a:t>
            </a:r>
          </a:p>
          <a:p>
            <a:pPr eaLnBrk="1" hangingPunct="1"/>
            <a:r>
              <a:rPr lang="en-US" altLang="en-US" dirty="0"/>
              <a:t>      list=list-&gt;next;</a:t>
            </a:r>
          </a:p>
          <a:p>
            <a:pPr eaLnBrk="1" hangingPunct="1"/>
            <a:r>
              <a:rPr lang="en-US" altLang="en-US" dirty="0"/>
              <a:t>    }</a:t>
            </a:r>
          </a:p>
          <a:p>
            <a:pPr eaLnBrk="1" hangingPunct="1"/>
            <a:r>
              <a:rPr lang="en-US" altLang="en-US" dirty="0"/>
              <a:t>    list-&gt;next=malloc(</a:t>
            </a:r>
            <a:r>
              <a:rPr lang="en-US" altLang="en-US" dirty="0" err="1"/>
              <a:t>sizeof</a:t>
            </a:r>
            <a:r>
              <a:rPr lang="en-US" altLang="en-US" dirty="0"/>
              <a:t>(</a:t>
            </a:r>
            <a:r>
              <a:rPr lang="en-US" altLang="en-US" dirty="0" err="1"/>
              <a:t>Pokemon</a:t>
            </a:r>
            <a:r>
              <a:rPr lang="en-US" altLang="en-US" dirty="0"/>
              <a:t>));</a:t>
            </a:r>
          </a:p>
          <a:p>
            <a:pPr eaLnBrk="1" hangingPunct="1"/>
            <a:r>
              <a:rPr lang="en-US" altLang="en-US" dirty="0"/>
              <a:t>    </a:t>
            </a:r>
            <a:r>
              <a:rPr lang="en-US" altLang="en-US" dirty="0" err="1"/>
              <a:t>Pokemon</a:t>
            </a:r>
            <a:r>
              <a:rPr lang="en-US" altLang="en-US" dirty="0"/>
              <a:t>* </a:t>
            </a:r>
            <a:r>
              <a:rPr lang="en-US" altLang="en-US" dirty="0" err="1"/>
              <a:t>newPokemon</a:t>
            </a:r>
            <a:r>
              <a:rPr lang="en-US" altLang="en-US" dirty="0"/>
              <a:t>=list-&gt;next;</a:t>
            </a:r>
          </a:p>
          <a:p>
            <a:pPr eaLnBrk="1" hangingPunct="1"/>
            <a:r>
              <a:rPr lang="en-US" altLang="en-US" dirty="0"/>
              <a:t>    </a:t>
            </a:r>
            <a:r>
              <a:rPr lang="en-US" altLang="en-US" dirty="0" err="1"/>
              <a:t>strcpy</a:t>
            </a:r>
            <a:r>
              <a:rPr lang="en-US" altLang="en-US" dirty="0"/>
              <a:t>( (*</a:t>
            </a:r>
            <a:r>
              <a:rPr lang="en-US" altLang="en-US" dirty="0" err="1"/>
              <a:t>newPokemon</a:t>
            </a:r>
            <a:r>
              <a:rPr lang="en-US" altLang="en-US" dirty="0"/>
              <a:t>).name, names[rand()%10]); //</a:t>
            </a:r>
            <a:r>
              <a:rPr lang="en-US" altLang="en-US" dirty="0" err="1"/>
              <a:t>newPokemon</a:t>
            </a:r>
            <a:r>
              <a:rPr lang="en-US" altLang="en-US" dirty="0"/>
              <a:t>-&gt;name</a:t>
            </a:r>
          </a:p>
          <a:p>
            <a:pPr eaLnBrk="1" hangingPunct="1"/>
            <a:r>
              <a:rPr lang="en-US" altLang="en-US" dirty="0"/>
              <a:t>    </a:t>
            </a:r>
            <a:r>
              <a:rPr lang="en-US" altLang="en-US" dirty="0" err="1"/>
              <a:t>newPokemon</a:t>
            </a:r>
            <a:r>
              <a:rPr lang="en-US" altLang="en-US" dirty="0"/>
              <a:t>-&gt;cp=rand()%2000;</a:t>
            </a:r>
          </a:p>
          <a:p>
            <a:pPr eaLnBrk="1" hangingPunct="1"/>
            <a:r>
              <a:rPr lang="en-US" altLang="en-US" dirty="0"/>
              <a:t>    </a:t>
            </a:r>
            <a:r>
              <a:rPr lang="en-US" altLang="en-US" dirty="0" err="1"/>
              <a:t>newPokemon</a:t>
            </a:r>
            <a:r>
              <a:rPr lang="en-US" altLang="en-US" dirty="0"/>
              <a:t>-&gt;next=NULL;</a:t>
            </a:r>
          </a:p>
          <a:p>
            <a:pPr eaLnBrk="1" hangingPunct="1"/>
            <a:r>
              <a:rPr lang="en-US" altLang="en-US" dirty="0"/>
              <a:t>    return </a:t>
            </a:r>
            <a:r>
              <a:rPr lang="en-US" altLang="en-US" dirty="0" err="1"/>
              <a:t>frontOfList</a:t>
            </a:r>
            <a:r>
              <a:rPr lang="en-US" altLang="en-US" dirty="0"/>
              <a:t>;</a:t>
            </a:r>
          </a:p>
          <a:p>
            <a:pPr eaLnBrk="1" hangingPunct="1"/>
            <a:r>
              <a:rPr lang="en-US" altLang="en-US" dirty="0"/>
              <a:t>  }  </a:t>
            </a:r>
          </a:p>
          <a:p>
            <a:pPr eaLnBrk="1" hangingPunct="1"/>
            <a:r>
              <a:rPr lang="en-US" altLang="en-US" dirty="0"/>
              <a:t>}</a:t>
            </a:r>
          </a:p>
          <a:p>
            <a:pPr eaLnBrk="1" hangingPunct="1"/>
            <a:endParaRPr lang="en-US" altLang="en-US" dirty="0"/>
          </a:p>
          <a:p>
            <a:pPr eaLnBrk="1" hangingPunct="1"/>
            <a:r>
              <a:rPr lang="en-US" altLang="en-US" dirty="0"/>
              <a:t>int main(){</a:t>
            </a:r>
          </a:p>
          <a:p>
            <a:pPr eaLnBrk="1" hangingPunct="1"/>
            <a:r>
              <a:rPr lang="en-US" altLang="en-US" dirty="0"/>
              <a:t> </a:t>
            </a:r>
          </a:p>
          <a:p>
            <a:pPr eaLnBrk="1" hangingPunct="1"/>
            <a:r>
              <a:rPr lang="en-US" altLang="en-US" dirty="0"/>
              <a:t>  </a:t>
            </a:r>
            <a:r>
              <a:rPr lang="en-US" altLang="en-US" dirty="0" err="1"/>
              <a:t>Pokemon</a:t>
            </a:r>
            <a:r>
              <a:rPr lang="en-US" altLang="en-US" dirty="0"/>
              <a:t>* mine=NULL;</a:t>
            </a:r>
          </a:p>
          <a:p>
            <a:pPr eaLnBrk="1" hangingPunct="1"/>
            <a:r>
              <a:rPr lang="en-US" altLang="en-US" dirty="0"/>
              <a:t>  int catch=1;</a:t>
            </a:r>
          </a:p>
          <a:p>
            <a:pPr eaLnBrk="1" hangingPunct="1"/>
            <a:endParaRPr lang="en-US" altLang="en-US" dirty="0"/>
          </a:p>
          <a:p>
            <a:pPr eaLnBrk="1" hangingPunct="1"/>
            <a:r>
              <a:rPr lang="en-US" altLang="en-US" dirty="0"/>
              <a:t>  while(catch==1){</a:t>
            </a:r>
          </a:p>
          <a:p>
            <a:pPr eaLnBrk="1" hangingPunct="1"/>
            <a:r>
              <a:rPr lang="en-US" altLang="en-US" dirty="0"/>
              <a:t>    </a:t>
            </a:r>
            <a:r>
              <a:rPr lang="en-US" altLang="en-US" dirty="0" err="1"/>
              <a:t>printf</a:t>
            </a:r>
            <a:r>
              <a:rPr lang="en-US" altLang="en-US" dirty="0"/>
              <a:t>("A </a:t>
            </a:r>
            <a:r>
              <a:rPr lang="en-US" altLang="en-US" dirty="0" err="1"/>
              <a:t>Pokemon</a:t>
            </a:r>
            <a:r>
              <a:rPr lang="en-US" altLang="en-US" dirty="0"/>
              <a:t> appears in the wild. \n");</a:t>
            </a:r>
          </a:p>
          <a:p>
            <a:pPr eaLnBrk="1" hangingPunct="1"/>
            <a:r>
              <a:rPr lang="en-US" altLang="en-US" dirty="0"/>
              <a:t>    </a:t>
            </a:r>
            <a:r>
              <a:rPr lang="en-US" altLang="en-US" dirty="0" err="1"/>
              <a:t>printf</a:t>
            </a:r>
            <a:r>
              <a:rPr lang="en-US" altLang="en-US" dirty="0"/>
              <a:t>("Would you like to catch it? (0=no,1=yes) ");</a:t>
            </a:r>
          </a:p>
          <a:p>
            <a:pPr eaLnBrk="1" hangingPunct="1"/>
            <a:r>
              <a:rPr lang="en-US" altLang="en-US" dirty="0"/>
              <a:t>    </a:t>
            </a:r>
            <a:r>
              <a:rPr lang="en-US" altLang="en-US" dirty="0" err="1"/>
              <a:t>scanf</a:t>
            </a:r>
            <a:r>
              <a:rPr lang="en-US" altLang="en-US" dirty="0"/>
              <a:t>("%d", &amp;catch);</a:t>
            </a:r>
          </a:p>
          <a:p>
            <a:pPr eaLnBrk="1" hangingPunct="1"/>
            <a:r>
              <a:rPr lang="en-US" altLang="en-US" dirty="0"/>
              <a:t>    if(catch==1){</a:t>
            </a:r>
          </a:p>
          <a:p>
            <a:pPr eaLnBrk="1" hangingPunct="1"/>
            <a:r>
              <a:rPr lang="en-US" altLang="en-US" dirty="0"/>
              <a:t>        mine=</a:t>
            </a:r>
            <a:r>
              <a:rPr lang="en-US" altLang="en-US" dirty="0" err="1"/>
              <a:t>addPokemon</a:t>
            </a:r>
            <a:r>
              <a:rPr lang="en-US" altLang="en-US" dirty="0"/>
              <a:t>(mine);</a:t>
            </a:r>
          </a:p>
          <a:p>
            <a:pPr eaLnBrk="1" hangingPunct="1"/>
            <a:r>
              <a:rPr lang="en-US" altLang="en-US" dirty="0"/>
              <a:t>    }</a:t>
            </a:r>
          </a:p>
          <a:p>
            <a:pPr eaLnBrk="1" hangingPunct="1"/>
            <a:r>
              <a:rPr lang="en-US" altLang="en-US" dirty="0"/>
              <a:t>    </a:t>
            </a:r>
            <a:r>
              <a:rPr lang="en-US" altLang="en-US" dirty="0" err="1"/>
              <a:t>printPokemon</a:t>
            </a:r>
            <a:r>
              <a:rPr lang="en-US" altLang="en-US" dirty="0"/>
              <a:t>(mine); </a:t>
            </a:r>
          </a:p>
          <a:p>
            <a:pPr eaLnBrk="1" hangingPunct="1"/>
            <a:r>
              <a:rPr lang="en-US" altLang="en-US" dirty="0"/>
              <a:t>  }</a:t>
            </a:r>
          </a:p>
          <a:p>
            <a:pPr eaLnBrk="1" hangingPunct="1"/>
            <a:r>
              <a:rPr lang="en-US" altLang="en-US" dirty="0"/>
              <a:t>  //Note: the dynamically allocated memory should be released.</a:t>
            </a:r>
          </a:p>
          <a:p>
            <a:pPr eaLnBrk="1" hangingPunct="1"/>
            <a:r>
              <a:rPr lang="en-US" altLang="en-US" dirty="0"/>
              <a:t>  //This step is left as an exercise.  </a:t>
            </a:r>
          </a:p>
          <a:p>
            <a:pPr eaLnBrk="1" hangingPunct="1"/>
            <a:r>
              <a:rPr lang="en-US" altLang="en-US" dirty="0"/>
              <a:t>  return 0;</a:t>
            </a:r>
          </a:p>
          <a:p>
            <a:pPr eaLnBrk="1" hangingPunct="1"/>
            <a:r>
              <a:rPr lang="en-US" altLang="en-US" dirty="0"/>
              <a:t>}</a:t>
            </a:r>
          </a:p>
          <a:p>
            <a:pPr eaLnBrk="1" hangingPunct="1"/>
            <a:endParaRPr lang="en-US" altLang="en-US" dirty="0"/>
          </a:p>
        </p:txBody>
      </p:sp>
    </p:spTree>
    <p:extLst>
      <p:ext uri="{BB962C8B-B14F-4D97-AF65-F5344CB8AC3E}">
        <p14:creationId xmlns:p14="http://schemas.microsoft.com/office/powerpoint/2010/main" val="33237790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A7DD7BD1-6825-4DC0-9099-B9E78B685343}" type="slidenum">
              <a:rPr lang="en-US" altLang="en-US" sz="1200">
                <a:solidFill>
                  <a:schemeClr val="tx1"/>
                </a:solidFill>
              </a:rPr>
              <a:pPr eaLnBrk="1" hangingPunct="1"/>
              <a:t>25</a:t>
            </a:fld>
            <a:endParaRPr lang="en-US" altLang="en-US" sz="1200">
              <a:solidFill>
                <a:schemeClr val="tx1"/>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dirty="0"/>
              <a:t>To print the last item, start at the head and follow next until you hit NULL.</a:t>
            </a:r>
          </a:p>
          <a:p>
            <a:pPr eaLnBrk="1" hangingPunct="1"/>
            <a:endParaRPr lang="en-US" altLang="en-US" dirty="0"/>
          </a:p>
          <a:p>
            <a:pPr eaLnBrk="1" hangingPunct="1"/>
            <a:endParaRPr lang="en-US" altLang="en-US" dirty="0"/>
          </a:p>
          <a:p>
            <a:pPr eaLnBrk="1" hangingPunct="1"/>
            <a:r>
              <a:rPr lang="en-US" altLang="en-US" dirty="0"/>
              <a:t>a singly linked list can not move backwards, so a common solution is a recursive one.  </a:t>
            </a:r>
          </a:p>
          <a:p>
            <a:pPr eaLnBrk="1" hangingPunct="1"/>
            <a:r>
              <a:rPr lang="en-US" altLang="en-US" dirty="0"/>
              <a:t>#include &lt;</a:t>
            </a:r>
            <a:r>
              <a:rPr lang="en-US" altLang="en-US" dirty="0" err="1"/>
              <a:t>stdio.h</a:t>
            </a:r>
            <a:r>
              <a:rPr lang="en-US" altLang="en-US" dirty="0"/>
              <a:t>&gt;</a:t>
            </a:r>
          </a:p>
          <a:p>
            <a:pPr eaLnBrk="1" hangingPunct="1"/>
            <a:r>
              <a:rPr lang="en-US" altLang="en-US" dirty="0"/>
              <a:t>#include &lt;</a:t>
            </a:r>
            <a:r>
              <a:rPr lang="en-US" altLang="en-US" dirty="0" err="1"/>
              <a:t>stdlib.h</a:t>
            </a:r>
            <a:r>
              <a:rPr lang="en-US" altLang="en-US" dirty="0"/>
              <a:t>&gt;</a:t>
            </a:r>
          </a:p>
          <a:p>
            <a:pPr eaLnBrk="1" hangingPunct="1"/>
            <a:endParaRPr lang="en-US" altLang="en-US" dirty="0"/>
          </a:p>
          <a:p>
            <a:pPr eaLnBrk="1" hangingPunct="1"/>
            <a:r>
              <a:rPr lang="en-US" altLang="en-US" dirty="0"/>
              <a:t>struct Node</a:t>
            </a:r>
          </a:p>
          <a:p>
            <a:pPr eaLnBrk="1" hangingPunct="1"/>
            <a:r>
              <a:rPr lang="en-US" altLang="en-US" dirty="0"/>
              <a:t>{</a:t>
            </a:r>
          </a:p>
          <a:p>
            <a:pPr eaLnBrk="1" hangingPunct="1"/>
            <a:r>
              <a:rPr lang="en-US" altLang="en-US" dirty="0"/>
              <a:t>    int data;</a:t>
            </a:r>
          </a:p>
          <a:p>
            <a:pPr eaLnBrk="1" hangingPunct="1"/>
            <a:r>
              <a:rPr lang="en-US" altLang="en-US" dirty="0"/>
              <a:t>    struct Node *next;</a:t>
            </a:r>
          </a:p>
          <a:p>
            <a:pPr eaLnBrk="1" hangingPunct="1"/>
            <a:r>
              <a:rPr lang="en-US" altLang="en-US" dirty="0"/>
              <a:t>};</a:t>
            </a:r>
          </a:p>
          <a:p>
            <a:pPr eaLnBrk="1" hangingPunct="1"/>
            <a:endParaRPr lang="en-US" altLang="en-US" dirty="0"/>
          </a:p>
          <a:p>
            <a:pPr eaLnBrk="1" hangingPunct="1"/>
            <a:r>
              <a:rPr lang="en-US" altLang="en-US" dirty="0"/>
              <a:t>/* Prints the list in its normal order */</a:t>
            </a:r>
          </a:p>
          <a:p>
            <a:pPr eaLnBrk="1" hangingPunct="1"/>
            <a:r>
              <a:rPr lang="en-US" altLang="en-US" dirty="0"/>
              <a:t>void </a:t>
            </a:r>
            <a:r>
              <a:rPr lang="en-US" altLang="en-US" dirty="0" err="1"/>
              <a:t>printForward</a:t>
            </a:r>
            <a:r>
              <a:rPr lang="en-US" altLang="en-US" dirty="0"/>
              <a:t>(struct Node *current)</a:t>
            </a:r>
          </a:p>
          <a:p>
            <a:pPr eaLnBrk="1" hangingPunct="1"/>
            <a:r>
              <a:rPr lang="en-US" altLang="en-US" dirty="0"/>
              <a:t>{</a:t>
            </a:r>
          </a:p>
          <a:p>
            <a:pPr eaLnBrk="1" hangingPunct="1"/>
            <a:r>
              <a:rPr lang="en-US" altLang="en-US" dirty="0"/>
              <a:t>    while (current != NULL)</a:t>
            </a:r>
          </a:p>
          <a:p>
            <a:pPr eaLnBrk="1" hangingPunct="1"/>
            <a:r>
              <a:rPr lang="en-US" altLang="en-US" dirty="0"/>
              <a:t>    {</a:t>
            </a:r>
          </a:p>
          <a:p>
            <a:pPr eaLnBrk="1" hangingPunct="1"/>
            <a:r>
              <a:rPr lang="en-US" altLang="en-US" dirty="0"/>
              <a:t>        </a:t>
            </a:r>
            <a:r>
              <a:rPr lang="en-US" altLang="en-US" dirty="0" err="1"/>
              <a:t>printf</a:t>
            </a:r>
            <a:r>
              <a:rPr lang="en-US" altLang="en-US" dirty="0"/>
              <a:t>("%d ", current-&gt;data);</a:t>
            </a:r>
          </a:p>
          <a:p>
            <a:pPr eaLnBrk="1" hangingPunct="1"/>
            <a:r>
              <a:rPr lang="en-US" altLang="en-US" dirty="0"/>
              <a:t>        current = current-&gt;next;</a:t>
            </a:r>
          </a:p>
          <a:p>
            <a:pPr eaLnBrk="1" hangingPunct="1"/>
            <a:r>
              <a:rPr lang="en-US" altLang="en-US" dirty="0"/>
              <a:t>    }</a:t>
            </a:r>
          </a:p>
          <a:p>
            <a:pPr eaLnBrk="1" hangingPunct="1"/>
            <a:endParaRPr lang="en-US" altLang="en-US" dirty="0"/>
          </a:p>
          <a:p>
            <a:pPr eaLnBrk="1" hangingPunct="1"/>
            <a:r>
              <a:rPr lang="en-US" altLang="en-US" dirty="0"/>
              <a:t>    </a:t>
            </a:r>
            <a:r>
              <a:rPr lang="en-US" altLang="en-US" dirty="0" err="1"/>
              <a:t>printf</a:t>
            </a:r>
            <a:r>
              <a:rPr lang="en-US" altLang="en-US" dirty="0"/>
              <a:t>("\n");</a:t>
            </a:r>
          </a:p>
          <a:p>
            <a:pPr eaLnBrk="1" hangingPunct="1"/>
            <a:r>
              <a:rPr lang="en-US" altLang="en-US" dirty="0"/>
              <a:t>}</a:t>
            </a:r>
          </a:p>
          <a:p>
            <a:pPr eaLnBrk="1" hangingPunct="1"/>
            <a:endParaRPr lang="en-US" altLang="en-US" dirty="0"/>
          </a:p>
          <a:p>
            <a:pPr eaLnBrk="1" hangingPunct="1"/>
            <a:r>
              <a:rPr lang="en-US" altLang="en-US" dirty="0"/>
              <a:t>/* Prints the list in reverse order using recursion */</a:t>
            </a:r>
          </a:p>
          <a:p>
            <a:pPr eaLnBrk="1" hangingPunct="1"/>
            <a:r>
              <a:rPr lang="en-US" altLang="en-US" dirty="0"/>
              <a:t>void </a:t>
            </a:r>
            <a:r>
              <a:rPr lang="en-US" altLang="en-US" dirty="0" err="1"/>
              <a:t>printBackward</a:t>
            </a:r>
            <a:r>
              <a:rPr lang="en-US" altLang="en-US" dirty="0"/>
              <a:t>(struct Node *current)</a:t>
            </a:r>
          </a:p>
          <a:p>
            <a:pPr eaLnBrk="1" hangingPunct="1"/>
            <a:r>
              <a:rPr lang="en-US" altLang="en-US" dirty="0"/>
              <a:t>{</a:t>
            </a:r>
          </a:p>
          <a:p>
            <a:pPr eaLnBrk="1" hangingPunct="1"/>
            <a:r>
              <a:rPr lang="en-US" altLang="en-US" dirty="0"/>
              <a:t>    /* Base case: the end of the list */</a:t>
            </a:r>
          </a:p>
          <a:p>
            <a:pPr eaLnBrk="1" hangingPunct="1"/>
            <a:r>
              <a:rPr lang="en-US" altLang="en-US" dirty="0"/>
              <a:t>    if (current == NULL)</a:t>
            </a:r>
          </a:p>
          <a:p>
            <a:pPr eaLnBrk="1" hangingPunct="1"/>
            <a:r>
              <a:rPr lang="en-US" altLang="en-US" dirty="0"/>
              <a:t>    {</a:t>
            </a:r>
          </a:p>
          <a:p>
            <a:pPr eaLnBrk="1" hangingPunct="1"/>
            <a:r>
              <a:rPr lang="en-US" altLang="en-US" dirty="0"/>
              <a:t>        return;</a:t>
            </a:r>
          </a:p>
          <a:p>
            <a:pPr eaLnBrk="1" hangingPunct="1"/>
            <a:r>
              <a:rPr lang="en-US" altLang="en-US" dirty="0"/>
              <a:t>    }</a:t>
            </a:r>
          </a:p>
          <a:p>
            <a:pPr eaLnBrk="1" hangingPunct="1"/>
            <a:endParaRPr lang="en-US" altLang="en-US" dirty="0"/>
          </a:p>
          <a:p>
            <a:pPr eaLnBrk="1" hangingPunct="1"/>
            <a:r>
              <a:rPr lang="en-US" altLang="en-US" dirty="0"/>
              <a:t>    /* Travel to the end of the list first */</a:t>
            </a:r>
          </a:p>
          <a:p>
            <a:pPr eaLnBrk="1" hangingPunct="1"/>
            <a:r>
              <a:rPr lang="en-US" altLang="en-US" dirty="0"/>
              <a:t>    </a:t>
            </a:r>
            <a:r>
              <a:rPr lang="en-US" altLang="en-US" dirty="0" err="1"/>
              <a:t>printBackward</a:t>
            </a:r>
            <a:r>
              <a:rPr lang="en-US" altLang="en-US" dirty="0"/>
              <a:t>(current-&gt;next);</a:t>
            </a:r>
          </a:p>
          <a:p>
            <a:pPr eaLnBrk="1" hangingPunct="1"/>
            <a:endParaRPr lang="en-US" altLang="en-US" dirty="0"/>
          </a:p>
          <a:p>
            <a:pPr eaLnBrk="1" hangingPunct="1"/>
            <a:r>
              <a:rPr lang="en-US" altLang="en-US" dirty="0"/>
              <a:t>    /* Print while the recursive calls return */</a:t>
            </a:r>
          </a:p>
          <a:p>
            <a:pPr eaLnBrk="1" hangingPunct="1"/>
            <a:r>
              <a:rPr lang="en-US" altLang="en-US" dirty="0"/>
              <a:t>    </a:t>
            </a:r>
            <a:r>
              <a:rPr lang="en-US" altLang="en-US" dirty="0" err="1"/>
              <a:t>printf</a:t>
            </a:r>
            <a:r>
              <a:rPr lang="en-US" altLang="en-US" dirty="0"/>
              <a:t>("%d ", current-&gt;data);</a:t>
            </a:r>
          </a:p>
          <a:p>
            <a:pPr eaLnBrk="1" hangingPunct="1"/>
            <a:r>
              <a:rPr lang="en-US" altLang="en-US" dirty="0"/>
              <a:t>}</a:t>
            </a:r>
          </a:p>
          <a:p>
            <a:pPr eaLnBrk="1" hangingPunct="1"/>
            <a:endParaRPr lang="en-US" altLang="en-US" dirty="0"/>
          </a:p>
          <a:p>
            <a:pPr eaLnBrk="1" hangingPunct="1"/>
            <a:r>
              <a:rPr lang="en-US" altLang="en-US" dirty="0"/>
              <a:t>/* Releases the dynamically allocated memory */</a:t>
            </a:r>
          </a:p>
          <a:p>
            <a:pPr eaLnBrk="1" hangingPunct="1"/>
            <a:r>
              <a:rPr lang="en-US" altLang="en-US" dirty="0"/>
              <a:t>void </a:t>
            </a:r>
            <a:r>
              <a:rPr lang="en-US" altLang="en-US" dirty="0" err="1"/>
              <a:t>freeList</a:t>
            </a:r>
            <a:r>
              <a:rPr lang="en-US" altLang="en-US" dirty="0"/>
              <a:t>(struct Node *head)</a:t>
            </a:r>
          </a:p>
          <a:p>
            <a:pPr eaLnBrk="1" hangingPunct="1"/>
            <a:r>
              <a:rPr lang="en-US" altLang="en-US" dirty="0"/>
              <a:t>{</a:t>
            </a:r>
          </a:p>
          <a:p>
            <a:pPr eaLnBrk="1" hangingPunct="1"/>
            <a:r>
              <a:rPr lang="en-US" altLang="en-US" dirty="0"/>
              <a:t>    struct Node *current = head;</a:t>
            </a:r>
          </a:p>
          <a:p>
            <a:pPr eaLnBrk="1" hangingPunct="1"/>
            <a:endParaRPr lang="en-US" altLang="en-US" dirty="0"/>
          </a:p>
          <a:p>
            <a:pPr eaLnBrk="1" hangingPunct="1"/>
            <a:r>
              <a:rPr lang="en-US" altLang="en-US" dirty="0"/>
              <a:t>    while (current != NULL)</a:t>
            </a:r>
          </a:p>
          <a:p>
            <a:pPr eaLnBrk="1" hangingPunct="1"/>
            <a:r>
              <a:rPr lang="en-US" altLang="en-US" dirty="0"/>
              <a:t>    {</a:t>
            </a:r>
          </a:p>
          <a:p>
            <a:pPr eaLnBrk="1" hangingPunct="1"/>
            <a:r>
              <a:rPr lang="en-US" altLang="en-US" dirty="0"/>
              <a:t>        struct Node *</a:t>
            </a:r>
            <a:r>
              <a:rPr lang="en-US" altLang="en-US" dirty="0" err="1"/>
              <a:t>nextNode</a:t>
            </a:r>
            <a:r>
              <a:rPr lang="en-US" altLang="en-US" dirty="0"/>
              <a:t> = current-&gt;next;</a:t>
            </a:r>
          </a:p>
          <a:p>
            <a:pPr eaLnBrk="1" hangingPunct="1"/>
            <a:r>
              <a:rPr lang="en-US" altLang="en-US" dirty="0"/>
              <a:t>        free(current);</a:t>
            </a:r>
          </a:p>
          <a:p>
            <a:pPr eaLnBrk="1" hangingPunct="1"/>
            <a:r>
              <a:rPr lang="en-US" altLang="en-US" dirty="0"/>
              <a:t>        current = </a:t>
            </a:r>
            <a:r>
              <a:rPr lang="en-US" altLang="en-US" dirty="0" err="1"/>
              <a:t>nextNode</a:t>
            </a:r>
            <a:r>
              <a:rPr lang="en-US" altLang="en-US" dirty="0"/>
              <a:t>;</a:t>
            </a:r>
          </a:p>
          <a:p>
            <a:pPr eaLnBrk="1" hangingPunct="1"/>
            <a:r>
              <a:rPr lang="en-US" altLang="en-US" dirty="0"/>
              <a:t>    }</a:t>
            </a:r>
          </a:p>
          <a:p>
            <a:pPr eaLnBrk="1" hangingPunct="1"/>
            <a:r>
              <a:rPr lang="en-US" altLang="en-US" dirty="0"/>
              <a:t>}</a:t>
            </a:r>
          </a:p>
          <a:p>
            <a:pPr eaLnBrk="1" hangingPunct="1"/>
            <a:endParaRPr lang="en-US" altLang="en-US" dirty="0"/>
          </a:p>
          <a:p>
            <a:pPr eaLnBrk="1" hangingPunct="1"/>
            <a:r>
              <a:rPr lang="en-US" altLang="en-US" dirty="0"/>
              <a:t>int main(void)</a:t>
            </a:r>
          </a:p>
          <a:p>
            <a:pPr eaLnBrk="1" hangingPunct="1"/>
            <a:r>
              <a:rPr lang="en-US" altLang="en-US" dirty="0"/>
              <a:t>{</a:t>
            </a:r>
          </a:p>
          <a:p>
            <a:pPr eaLnBrk="1" hangingPunct="1"/>
            <a:r>
              <a:rPr lang="en-US" altLang="en-US" dirty="0"/>
              <a:t>    /* Create four nodes */</a:t>
            </a:r>
          </a:p>
          <a:p>
            <a:pPr eaLnBrk="1" hangingPunct="1"/>
            <a:r>
              <a:rPr lang="en-US" altLang="en-US" dirty="0"/>
              <a:t>    struct Node *first = malloc(</a:t>
            </a:r>
            <a:r>
              <a:rPr lang="en-US" altLang="en-US" dirty="0" err="1"/>
              <a:t>sizeof</a:t>
            </a:r>
            <a:r>
              <a:rPr lang="en-US" altLang="en-US" dirty="0"/>
              <a:t>(struct Node));</a:t>
            </a:r>
          </a:p>
          <a:p>
            <a:pPr eaLnBrk="1" hangingPunct="1"/>
            <a:r>
              <a:rPr lang="en-US" altLang="en-US" dirty="0"/>
              <a:t>    struct Node *second = malloc(</a:t>
            </a:r>
            <a:r>
              <a:rPr lang="en-US" altLang="en-US" dirty="0" err="1"/>
              <a:t>sizeof</a:t>
            </a:r>
            <a:r>
              <a:rPr lang="en-US" altLang="en-US" dirty="0"/>
              <a:t>(struct Node));</a:t>
            </a:r>
          </a:p>
          <a:p>
            <a:pPr eaLnBrk="1" hangingPunct="1"/>
            <a:r>
              <a:rPr lang="en-US" altLang="en-US" dirty="0"/>
              <a:t>    struct Node *third = malloc(</a:t>
            </a:r>
            <a:r>
              <a:rPr lang="en-US" altLang="en-US" dirty="0" err="1"/>
              <a:t>sizeof</a:t>
            </a:r>
            <a:r>
              <a:rPr lang="en-US" altLang="en-US" dirty="0"/>
              <a:t>(struct Node));</a:t>
            </a:r>
          </a:p>
          <a:p>
            <a:pPr eaLnBrk="1" hangingPunct="1"/>
            <a:r>
              <a:rPr lang="en-US" altLang="en-US" dirty="0"/>
              <a:t>    struct Node *fourth = malloc(</a:t>
            </a:r>
            <a:r>
              <a:rPr lang="en-US" altLang="en-US" dirty="0" err="1"/>
              <a:t>sizeof</a:t>
            </a:r>
            <a:r>
              <a:rPr lang="en-US" altLang="en-US" dirty="0"/>
              <a:t>(struct Node));</a:t>
            </a:r>
          </a:p>
          <a:p>
            <a:pPr eaLnBrk="1" hangingPunct="1"/>
            <a:endParaRPr lang="en-US" altLang="en-US" dirty="0"/>
          </a:p>
          <a:p>
            <a:pPr eaLnBrk="1" hangingPunct="1"/>
            <a:r>
              <a:rPr lang="en-US" altLang="en-US" dirty="0"/>
              <a:t>    /* Check that memory allocation succeeded */</a:t>
            </a:r>
          </a:p>
          <a:p>
            <a:pPr eaLnBrk="1" hangingPunct="1"/>
            <a:r>
              <a:rPr lang="en-US" altLang="en-US" dirty="0"/>
              <a:t>    if (first == NULL || second == NULL ||</a:t>
            </a:r>
          </a:p>
          <a:p>
            <a:pPr eaLnBrk="1" hangingPunct="1"/>
            <a:r>
              <a:rPr lang="en-US" altLang="en-US" dirty="0"/>
              <a:t>        third == NULL || fourth == NULL)</a:t>
            </a:r>
          </a:p>
          <a:p>
            <a:pPr eaLnBrk="1" hangingPunct="1"/>
            <a:r>
              <a:rPr lang="en-US" altLang="en-US" dirty="0"/>
              <a:t>    {</a:t>
            </a:r>
          </a:p>
          <a:p>
            <a:pPr eaLnBrk="1" hangingPunct="1"/>
            <a:r>
              <a:rPr lang="en-US" altLang="en-US" dirty="0"/>
              <a:t>        </a:t>
            </a:r>
            <a:r>
              <a:rPr lang="en-US" altLang="en-US" dirty="0" err="1"/>
              <a:t>printf</a:t>
            </a:r>
            <a:r>
              <a:rPr lang="en-US" altLang="en-US" dirty="0"/>
              <a:t>("Memory allocation failed.\n");</a:t>
            </a:r>
          </a:p>
          <a:p>
            <a:pPr eaLnBrk="1" hangingPunct="1"/>
            <a:endParaRPr lang="en-US" altLang="en-US" dirty="0"/>
          </a:p>
          <a:p>
            <a:pPr eaLnBrk="1" hangingPunct="1"/>
            <a:r>
              <a:rPr lang="en-US" altLang="en-US" dirty="0"/>
              <a:t>        free(first);</a:t>
            </a:r>
          </a:p>
          <a:p>
            <a:pPr eaLnBrk="1" hangingPunct="1"/>
            <a:r>
              <a:rPr lang="en-US" altLang="en-US" dirty="0"/>
              <a:t>        free(second);</a:t>
            </a:r>
          </a:p>
          <a:p>
            <a:pPr eaLnBrk="1" hangingPunct="1"/>
            <a:r>
              <a:rPr lang="en-US" altLang="en-US" dirty="0"/>
              <a:t>        free(third);</a:t>
            </a:r>
          </a:p>
          <a:p>
            <a:pPr eaLnBrk="1" hangingPunct="1"/>
            <a:r>
              <a:rPr lang="en-US" altLang="en-US" dirty="0"/>
              <a:t>        free(fourth);</a:t>
            </a:r>
          </a:p>
          <a:p>
            <a:pPr eaLnBrk="1" hangingPunct="1"/>
            <a:endParaRPr lang="en-US" altLang="en-US" dirty="0"/>
          </a:p>
          <a:p>
            <a:pPr eaLnBrk="1" hangingPunct="1"/>
            <a:r>
              <a:rPr lang="en-US" altLang="en-US" dirty="0"/>
              <a:t>        return 1;</a:t>
            </a:r>
          </a:p>
          <a:p>
            <a:pPr eaLnBrk="1" hangingPunct="1"/>
            <a:r>
              <a:rPr lang="en-US" altLang="en-US" dirty="0"/>
              <a:t>    }</a:t>
            </a:r>
          </a:p>
          <a:p>
            <a:pPr eaLnBrk="1" hangingPunct="1"/>
            <a:endParaRPr lang="en-US" altLang="en-US" dirty="0"/>
          </a:p>
          <a:p>
            <a:pPr eaLnBrk="1" hangingPunct="1"/>
            <a:r>
              <a:rPr lang="en-US" altLang="en-US" dirty="0"/>
              <a:t>    /* Assign hard-coded data and connect the nodes */</a:t>
            </a:r>
          </a:p>
          <a:p>
            <a:pPr eaLnBrk="1" hangingPunct="1"/>
            <a:r>
              <a:rPr lang="en-US" altLang="en-US" dirty="0"/>
              <a:t>    first-&gt;data = 10;</a:t>
            </a:r>
          </a:p>
          <a:p>
            <a:pPr eaLnBrk="1" hangingPunct="1"/>
            <a:r>
              <a:rPr lang="en-US" altLang="en-US" dirty="0"/>
              <a:t>    first-&gt;next = second;</a:t>
            </a:r>
          </a:p>
          <a:p>
            <a:pPr eaLnBrk="1" hangingPunct="1"/>
            <a:endParaRPr lang="en-US" altLang="en-US" dirty="0"/>
          </a:p>
          <a:p>
            <a:pPr eaLnBrk="1" hangingPunct="1"/>
            <a:r>
              <a:rPr lang="en-US" altLang="en-US" dirty="0"/>
              <a:t>    second-&gt;data = 20;</a:t>
            </a:r>
          </a:p>
          <a:p>
            <a:pPr eaLnBrk="1" hangingPunct="1"/>
            <a:r>
              <a:rPr lang="en-US" altLang="en-US" dirty="0"/>
              <a:t>    second-&gt;next = third;</a:t>
            </a:r>
          </a:p>
          <a:p>
            <a:pPr eaLnBrk="1" hangingPunct="1"/>
            <a:endParaRPr lang="en-US" altLang="en-US" dirty="0"/>
          </a:p>
          <a:p>
            <a:pPr eaLnBrk="1" hangingPunct="1"/>
            <a:r>
              <a:rPr lang="en-US" altLang="en-US" dirty="0"/>
              <a:t>    third-&gt;data = 30;</a:t>
            </a:r>
          </a:p>
          <a:p>
            <a:pPr eaLnBrk="1" hangingPunct="1"/>
            <a:r>
              <a:rPr lang="en-US" altLang="en-US" dirty="0"/>
              <a:t>    third-&gt;next = fourth;</a:t>
            </a:r>
          </a:p>
          <a:p>
            <a:pPr eaLnBrk="1" hangingPunct="1"/>
            <a:endParaRPr lang="en-US" altLang="en-US" dirty="0"/>
          </a:p>
          <a:p>
            <a:pPr eaLnBrk="1" hangingPunct="1"/>
            <a:r>
              <a:rPr lang="en-US" altLang="en-US" dirty="0"/>
              <a:t>    fourth-&gt;data = 40;</a:t>
            </a:r>
          </a:p>
          <a:p>
            <a:pPr eaLnBrk="1" hangingPunct="1"/>
            <a:r>
              <a:rPr lang="en-US" altLang="en-US" dirty="0"/>
              <a:t>    fourth-&gt;next = NULL;</a:t>
            </a:r>
          </a:p>
          <a:p>
            <a:pPr eaLnBrk="1" hangingPunct="1"/>
            <a:endParaRPr lang="en-US" altLang="en-US" dirty="0"/>
          </a:p>
          <a:p>
            <a:pPr eaLnBrk="1" hangingPunct="1"/>
            <a:r>
              <a:rPr lang="en-US" altLang="en-US" dirty="0"/>
              <a:t>    /* The head points to the first node */</a:t>
            </a:r>
          </a:p>
          <a:p>
            <a:pPr eaLnBrk="1" hangingPunct="1"/>
            <a:r>
              <a:rPr lang="en-US" altLang="en-US" dirty="0"/>
              <a:t>    struct Node *head = first;</a:t>
            </a:r>
          </a:p>
          <a:p>
            <a:pPr eaLnBrk="1" hangingPunct="1"/>
            <a:endParaRPr lang="en-US" altLang="en-US" dirty="0"/>
          </a:p>
          <a:p>
            <a:pPr eaLnBrk="1" hangingPunct="1"/>
            <a:r>
              <a:rPr lang="en-US" altLang="en-US" dirty="0"/>
              <a:t>    </a:t>
            </a:r>
            <a:r>
              <a:rPr lang="en-US" altLang="en-US" dirty="0" err="1"/>
              <a:t>printf</a:t>
            </a:r>
            <a:r>
              <a:rPr lang="en-US" altLang="en-US" dirty="0"/>
              <a:t>("Forward: ");</a:t>
            </a:r>
          </a:p>
          <a:p>
            <a:pPr eaLnBrk="1" hangingPunct="1"/>
            <a:r>
              <a:rPr lang="en-US" altLang="en-US" dirty="0"/>
              <a:t>    </a:t>
            </a:r>
            <a:r>
              <a:rPr lang="en-US" altLang="en-US" dirty="0" err="1"/>
              <a:t>printForward</a:t>
            </a:r>
            <a:r>
              <a:rPr lang="en-US" altLang="en-US" dirty="0"/>
              <a:t>(head);</a:t>
            </a:r>
          </a:p>
          <a:p>
            <a:pPr eaLnBrk="1" hangingPunct="1"/>
            <a:endParaRPr lang="en-US" altLang="en-US" dirty="0"/>
          </a:p>
          <a:p>
            <a:pPr eaLnBrk="1" hangingPunct="1"/>
            <a:r>
              <a:rPr lang="en-US" altLang="en-US" dirty="0"/>
              <a:t>    </a:t>
            </a:r>
            <a:r>
              <a:rPr lang="en-US" altLang="en-US" dirty="0" err="1"/>
              <a:t>printf</a:t>
            </a:r>
            <a:r>
              <a:rPr lang="en-US" altLang="en-US" dirty="0"/>
              <a:t>("Backward: ");</a:t>
            </a:r>
          </a:p>
          <a:p>
            <a:pPr eaLnBrk="1" hangingPunct="1"/>
            <a:r>
              <a:rPr lang="en-US" altLang="en-US" dirty="0"/>
              <a:t>    </a:t>
            </a:r>
            <a:r>
              <a:rPr lang="en-US" altLang="en-US" dirty="0" err="1"/>
              <a:t>printBackward</a:t>
            </a:r>
            <a:r>
              <a:rPr lang="en-US" altLang="en-US" dirty="0"/>
              <a:t>(head);</a:t>
            </a:r>
          </a:p>
          <a:p>
            <a:pPr eaLnBrk="1" hangingPunct="1"/>
            <a:r>
              <a:rPr lang="en-US" altLang="en-US" dirty="0"/>
              <a:t>    </a:t>
            </a:r>
            <a:r>
              <a:rPr lang="en-US" altLang="en-US" dirty="0" err="1"/>
              <a:t>printf</a:t>
            </a:r>
            <a:r>
              <a:rPr lang="en-US" altLang="en-US" dirty="0"/>
              <a:t>("\n");</a:t>
            </a:r>
          </a:p>
          <a:p>
            <a:pPr eaLnBrk="1" hangingPunct="1"/>
            <a:endParaRPr lang="en-US" altLang="en-US" dirty="0"/>
          </a:p>
          <a:p>
            <a:pPr eaLnBrk="1" hangingPunct="1"/>
            <a:r>
              <a:rPr lang="en-US" altLang="en-US" dirty="0"/>
              <a:t>    </a:t>
            </a:r>
            <a:r>
              <a:rPr lang="en-US" altLang="en-US" dirty="0" err="1"/>
              <a:t>freeList</a:t>
            </a:r>
            <a:r>
              <a:rPr lang="en-US" altLang="en-US" dirty="0"/>
              <a:t>(head);</a:t>
            </a:r>
          </a:p>
          <a:p>
            <a:pPr eaLnBrk="1" hangingPunct="1"/>
            <a:endParaRPr lang="en-US" altLang="en-US" dirty="0"/>
          </a:p>
          <a:p>
            <a:pPr eaLnBrk="1" hangingPunct="1"/>
            <a:r>
              <a:rPr lang="en-US" altLang="en-US" dirty="0"/>
              <a:t>    return 0;</a:t>
            </a:r>
          </a:p>
          <a:p>
            <a:pPr eaLnBrk="1" hangingPunct="1"/>
            <a:r>
              <a:rPr lang="en-US" altLang="en-US"/>
              <a:t>}</a:t>
            </a:r>
            <a:endParaRPr lang="en-US" altLang="en-US" dirty="0"/>
          </a:p>
        </p:txBody>
      </p:sp>
    </p:spTree>
    <p:extLst>
      <p:ext uri="{BB962C8B-B14F-4D97-AF65-F5344CB8AC3E}">
        <p14:creationId xmlns:p14="http://schemas.microsoft.com/office/powerpoint/2010/main" val="624145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26</a:t>
            </a:fld>
            <a:endParaRPr lang="en-US" dirty="0"/>
          </a:p>
        </p:txBody>
      </p:sp>
    </p:spTree>
    <p:extLst>
      <p:ext uri="{BB962C8B-B14F-4D97-AF65-F5344CB8AC3E}">
        <p14:creationId xmlns:p14="http://schemas.microsoft.com/office/powerpoint/2010/main" val="10467141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2F12B-E762-9F7E-E28E-4E96DB31F49F}"/>
            </a:ext>
          </a:extLst>
        </p:cNvPr>
        <p:cNvGrpSpPr/>
        <p:nvPr/>
      </p:nvGrpSpPr>
      <p:grpSpPr>
        <a:xfrm>
          <a:off x="0" y="0"/>
          <a:ext cx="0" cy="0"/>
          <a:chOff x="0" y="0"/>
          <a:chExt cx="0" cy="0"/>
        </a:xfrm>
      </p:grpSpPr>
      <p:sp>
        <p:nvSpPr>
          <p:cNvPr id="35842" name="Rectangle 7">
            <a:extLst>
              <a:ext uri="{FF2B5EF4-FFF2-40B4-BE49-F238E27FC236}">
                <a16:creationId xmlns:a16="http://schemas.microsoft.com/office/drawing/2014/main" id="{2CAA2D07-3B28-5BA6-02CC-8D5BE90BE0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91329F50-FE46-44C9-8601-7B49262EBFE5}" type="slidenum">
              <a:rPr lang="en-US" altLang="en-US" sz="1200">
                <a:solidFill>
                  <a:schemeClr val="tx1"/>
                </a:solidFill>
              </a:rPr>
              <a:pPr eaLnBrk="1" hangingPunct="1"/>
              <a:t>27</a:t>
            </a:fld>
            <a:endParaRPr lang="en-US" altLang="en-US" sz="1200">
              <a:solidFill>
                <a:schemeClr val="tx1"/>
              </a:solidFill>
            </a:endParaRPr>
          </a:p>
        </p:txBody>
      </p:sp>
      <p:sp>
        <p:nvSpPr>
          <p:cNvPr id="35843" name="Rectangle 2">
            <a:extLst>
              <a:ext uri="{FF2B5EF4-FFF2-40B4-BE49-F238E27FC236}">
                <a16:creationId xmlns:a16="http://schemas.microsoft.com/office/drawing/2014/main" id="{2BAA0259-8EBF-78B5-38B3-0EF2FB8D1C1E}"/>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73BEEFE7-9535-5690-8F5A-0C5A61B474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#include &lt;</a:t>
            </a:r>
            <a:r>
              <a:rPr lang="en-US" altLang="en-US" dirty="0" err="1"/>
              <a:t>stdio.h</a:t>
            </a:r>
            <a:r>
              <a:rPr lang="en-US" altLang="en-US" dirty="0"/>
              <a:t>&gt;</a:t>
            </a:r>
          </a:p>
          <a:p>
            <a:pPr eaLnBrk="1" hangingPunct="1"/>
            <a:r>
              <a:rPr lang="en-US" altLang="en-US" dirty="0"/>
              <a:t>#include &lt;</a:t>
            </a:r>
            <a:r>
              <a:rPr lang="en-US" altLang="en-US" dirty="0" err="1"/>
              <a:t>stdlib.h</a:t>
            </a:r>
            <a:r>
              <a:rPr lang="en-US" altLang="en-US" dirty="0"/>
              <a:t>&gt;</a:t>
            </a:r>
          </a:p>
          <a:p>
            <a:pPr eaLnBrk="1" hangingPunct="1"/>
            <a:r>
              <a:rPr lang="en-US" altLang="en-US" dirty="0"/>
              <a:t>#include &lt;</a:t>
            </a:r>
            <a:r>
              <a:rPr lang="en-US" altLang="en-US" dirty="0" err="1"/>
              <a:t>string.h</a:t>
            </a:r>
            <a:r>
              <a:rPr lang="en-US" altLang="en-US" dirty="0"/>
              <a:t>&gt;</a:t>
            </a:r>
          </a:p>
          <a:p>
            <a:pPr eaLnBrk="1" hangingPunct="1"/>
            <a:endParaRPr lang="en-US" altLang="en-US" dirty="0"/>
          </a:p>
          <a:p>
            <a:pPr eaLnBrk="1" hangingPunct="1"/>
            <a:endParaRPr lang="en-US" altLang="en-US" dirty="0"/>
          </a:p>
          <a:p>
            <a:pPr eaLnBrk="1" hangingPunct="1"/>
            <a:r>
              <a:rPr lang="en-US" altLang="en-US" dirty="0"/>
              <a:t>typedef struct </a:t>
            </a:r>
            <a:r>
              <a:rPr lang="en-US" altLang="en-US" dirty="0" err="1"/>
              <a:t>pokemon</a:t>
            </a:r>
            <a:r>
              <a:rPr lang="en-US" altLang="en-US" dirty="0"/>
              <a:t>{     //define the </a:t>
            </a:r>
            <a:r>
              <a:rPr lang="en-US" altLang="en-US" dirty="0" err="1"/>
              <a:t>Pokemon</a:t>
            </a:r>
            <a:r>
              <a:rPr lang="en-US" altLang="en-US" dirty="0"/>
              <a:t> data type alias </a:t>
            </a:r>
            <a:r>
              <a:rPr lang="en-US" altLang="en-US" dirty="0" err="1"/>
              <a:t>to:struct</a:t>
            </a:r>
            <a:r>
              <a:rPr lang="en-US" altLang="en-US" dirty="0"/>
              <a:t> </a:t>
            </a:r>
            <a:r>
              <a:rPr lang="en-US" altLang="en-US" dirty="0" err="1"/>
              <a:t>pokemon</a:t>
            </a:r>
            <a:endParaRPr lang="en-US" altLang="en-US" dirty="0"/>
          </a:p>
          <a:p>
            <a:pPr eaLnBrk="1" hangingPunct="1"/>
            <a:r>
              <a:rPr lang="en-US" altLang="en-US" dirty="0"/>
              <a:t>  char name[30];</a:t>
            </a:r>
          </a:p>
          <a:p>
            <a:pPr eaLnBrk="1" hangingPunct="1"/>
            <a:r>
              <a:rPr lang="en-US" altLang="en-US" dirty="0"/>
              <a:t>  int cp;</a:t>
            </a:r>
          </a:p>
          <a:p>
            <a:pPr eaLnBrk="1" hangingPunct="1"/>
            <a:r>
              <a:rPr lang="en-US" altLang="en-US" dirty="0"/>
              <a:t>  struct </a:t>
            </a:r>
            <a:r>
              <a:rPr lang="en-US" altLang="en-US" dirty="0" err="1"/>
              <a:t>pokemon</a:t>
            </a:r>
            <a:r>
              <a:rPr lang="en-US" altLang="en-US" dirty="0"/>
              <a:t>* next;</a:t>
            </a:r>
          </a:p>
          <a:p>
            <a:pPr eaLnBrk="1" hangingPunct="1"/>
            <a:r>
              <a:rPr lang="en-US" altLang="en-US" dirty="0"/>
              <a:t>} </a:t>
            </a:r>
            <a:r>
              <a:rPr lang="en-US" altLang="en-US" dirty="0" err="1"/>
              <a:t>Pokemon</a:t>
            </a:r>
            <a:r>
              <a:rPr lang="en-US" altLang="en-US" dirty="0"/>
              <a:t>;</a:t>
            </a:r>
          </a:p>
          <a:p>
            <a:pPr eaLnBrk="1" hangingPunct="1"/>
            <a:endParaRPr lang="en-US" altLang="en-US" dirty="0"/>
          </a:p>
          <a:p>
            <a:pPr eaLnBrk="1" hangingPunct="1"/>
            <a:r>
              <a:rPr lang="en-US" altLang="en-US" dirty="0"/>
              <a:t>//a 2D array with 10 </a:t>
            </a:r>
            <a:r>
              <a:rPr lang="en-US" altLang="en-US" dirty="0" err="1"/>
              <a:t>pokemon</a:t>
            </a:r>
            <a:r>
              <a:rPr lang="en-US" altLang="en-US" dirty="0"/>
              <a:t> names that are all less than 50 characters</a:t>
            </a:r>
          </a:p>
          <a:p>
            <a:pPr eaLnBrk="1" hangingPunct="1"/>
            <a:r>
              <a:rPr lang="en-US" altLang="en-US" dirty="0"/>
              <a:t>char names[10][50]={ "</a:t>
            </a:r>
            <a:r>
              <a:rPr lang="en-US" altLang="en-US" dirty="0" err="1"/>
              <a:t>pikachu</a:t>
            </a:r>
            <a:r>
              <a:rPr lang="en-US" altLang="en-US" dirty="0"/>
              <a:t>", "</a:t>
            </a:r>
            <a:r>
              <a:rPr lang="en-US" altLang="en-US" dirty="0" err="1"/>
              <a:t>magik</a:t>
            </a:r>
            <a:r>
              <a:rPr lang="en-US" altLang="en-US" dirty="0"/>
              <a:t> carp", "</a:t>
            </a:r>
            <a:r>
              <a:rPr lang="en-US" altLang="en-US" dirty="0" err="1"/>
              <a:t>eevee</a:t>
            </a:r>
            <a:r>
              <a:rPr lang="en-US" altLang="en-US" dirty="0"/>
              <a:t>", "</a:t>
            </a:r>
            <a:r>
              <a:rPr lang="en-US" altLang="en-US" dirty="0" err="1"/>
              <a:t>charmander</a:t>
            </a:r>
            <a:r>
              <a:rPr lang="en-US" altLang="en-US" dirty="0"/>
              <a:t>", "</a:t>
            </a:r>
            <a:r>
              <a:rPr lang="en-US" altLang="en-US" dirty="0" err="1"/>
              <a:t>squirtle</a:t>
            </a:r>
            <a:r>
              <a:rPr lang="en-US" altLang="en-US" dirty="0"/>
              <a:t>", </a:t>
            </a:r>
          </a:p>
          <a:p>
            <a:pPr eaLnBrk="1" hangingPunct="1"/>
            <a:r>
              <a:rPr lang="en-US" altLang="en-US" dirty="0"/>
              <a:t>                     "</a:t>
            </a:r>
            <a:r>
              <a:rPr lang="en-US" altLang="en-US" dirty="0" err="1"/>
              <a:t>vaporeon</a:t>
            </a:r>
            <a:r>
              <a:rPr lang="en-US" altLang="en-US" dirty="0"/>
              <a:t>", "ditto", "</a:t>
            </a:r>
            <a:r>
              <a:rPr lang="en-US" altLang="en-US" dirty="0" err="1"/>
              <a:t>jigglypuff</a:t>
            </a:r>
            <a:r>
              <a:rPr lang="en-US" altLang="en-US" dirty="0"/>
              <a:t>", "</a:t>
            </a:r>
            <a:r>
              <a:rPr lang="en-US" altLang="en-US" dirty="0" err="1"/>
              <a:t>hypno</a:t>
            </a:r>
            <a:r>
              <a:rPr lang="en-US" altLang="en-US" dirty="0"/>
              <a:t>", "</a:t>
            </a:r>
            <a:r>
              <a:rPr lang="en-US" altLang="en-US" dirty="0" err="1"/>
              <a:t>drowzee</a:t>
            </a:r>
            <a:r>
              <a:rPr lang="en-US" altLang="en-US" dirty="0"/>
              <a:t>"};</a:t>
            </a:r>
          </a:p>
          <a:p>
            <a:pPr eaLnBrk="1" hangingPunct="1"/>
            <a:endParaRPr lang="en-US" altLang="en-US" dirty="0"/>
          </a:p>
          <a:p>
            <a:pPr eaLnBrk="1" hangingPunct="1"/>
            <a:r>
              <a:rPr lang="en-US" altLang="en-US" dirty="0"/>
              <a:t>//***********************************************************</a:t>
            </a:r>
          </a:p>
          <a:p>
            <a:pPr eaLnBrk="1" hangingPunct="1"/>
            <a:r>
              <a:rPr lang="en-US" altLang="en-US" dirty="0"/>
              <a:t>//*  The </a:t>
            </a:r>
            <a:r>
              <a:rPr lang="en-US" altLang="en-US" dirty="0" err="1"/>
              <a:t>printPokemon</a:t>
            </a:r>
            <a:r>
              <a:rPr lang="en-US" altLang="en-US" dirty="0"/>
              <a:t> function expects a </a:t>
            </a:r>
            <a:r>
              <a:rPr lang="en-US" altLang="en-US" dirty="0" err="1"/>
              <a:t>Pokemon</a:t>
            </a:r>
            <a:r>
              <a:rPr lang="en-US" altLang="en-US" dirty="0"/>
              <a:t> pointer</a:t>
            </a:r>
          </a:p>
          <a:p>
            <a:pPr eaLnBrk="1" hangingPunct="1"/>
            <a:r>
              <a:rPr lang="en-US" altLang="en-US" dirty="0"/>
              <a:t>//*  that is a pointer to the beginning of the linked list.</a:t>
            </a:r>
          </a:p>
          <a:p>
            <a:pPr eaLnBrk="1" hangingPunct="1"/>
            <a:r>
              <a:rPr lang="en-US" altLang="en-US" dirty="0"/>
              <a:t>//*  It will print the </a:t>
            </a:r>
            <a:r>
              <a:rPr lang="en-US" altLang="en-US" dirty="0" err="1"/>
              <a:t>pokemon</a:t>
            </a:r>
            <a:r>
              <a:rPr lang="en-US" altLang="en-US" dirty="0"/>
              <a:t> info and then traverse the </a:t>
            </a:r>
          </a:p>
          <a:p>
            <a:pPr eaLnBrk="1" hangingPunct="1"/>
            <a:r>
              <a:rPr lang="en-US" altLang="en-US" dirty="0"/>
              <a:t>//*  until it reaches the end of the list.</a:t>
            </a:r>
          </a:p>
          <a:p>
            <a:pPr eaLnBrk="1" hangingPunct="1"/>
            <a:r>
              <a:rPr lang="en-US" altLang="en-US" dirty="0"/>
              <a:t>//**********************************************************</a:t>
            </a:r>
          </a:p>
          <a:p>
            <a:pPr eaLnBrk="1" hangingPunct="1"/>
            <a:r>
              <a:rPr lang="en-US" altLang="en-US" dirty="0"/>
              <a:t>void </a:t>
            </a:r>
            <a:r>
              <a:rPr lang="en-US" altLang="en-US" dirty="0" err="1"/>
              <a:t>printPokemon</a:t>
            </a:r>
            <a:r>
              <a:rPr lang="en-US" altLang="en-US" dirty="0"/>
              <a:t>(</a:t>
            </a:r>
            <a:r>
              <a:rPr lang="en-US" altLang="en-US" dirty="0" err="1"/>
              <a:t>Pokemon</a:t>
            </a:r>
            <a:r>
              <a:rPr lang="en-US" altLang="en-US" dirty="0"/>
              <a:t>* list){</a:t>
            </a:r>
          </a:p>
          <a:p>
            <a:pPr eaLnBrk="1" hangingPunct="1"/>
            <a:r>
              <a:rPr lang="en-US" altLang="en-US" dirty="0"/>
              <a:t>  </a:t>
            </a:r>
            <a:r>
              <a:rPr lang="en-US" altLang="en-US" dirty="0" err="1"/>
              <a:t>printf</a:t>
            </a:r>
            <a:r>
              <a:rPr lang="en-US" altLang="en-US" dirty="0"/>
              <a:t>("Your </a:t>
            </a:r>
            <a:r>
              <a:rPr lang="en-US" altLang="en-US" dirty="0" err="1"/>
              <a:t>Pokemon</a:t>
            </a:r>
            <a:r>
              <a:rPr lang="en-US" altLang="en-US" dirty="0"/>
              <a:t> Are: \n****************\n");</a:t>
            </a:r>
          </a:p>
          <a:p>
            <a:pPr eaLnBrk="1" hangingPunct="1"/>
            <a:r>
              <a:rPr lang="en-US" altLang="en-US" dirty="0"/>
              <a:t>  while(list != NULL){</a:t>
            </a:r>
          </a:p>
          <a:p>
            <a:pPr eaLnBrk="1" hangingPunct="1"/>
            <a:r>
              <a:rPr lang="en-US" altLang="en-US" dirty="0"/>
              <a:t>    </a:t>
            </a:r>
            <a:r>
              <a:rPr lang="en-US" altLang="en-US" dirty="0" err="1"/>
              <a:t>printf</a:t>
            </a:r>
            <a:r>
              <a:rPr lang="en-US" altLang="en-US" dirty="0"/>
              <a:t>("</a:t>
            </a:r>
            <a:r>
              <a:rPr lang="en-US" altLang="en-US" dirty="0" err="1"/>
              <a:t>Pokemon</a:t>
            </a:r>
            <a:r>
              <a:rPr lang="en-US" altLang="en-US" dirty="0"/>
              <a:t>: %s cp:%d\n", (*list).name, (*list).cp);</a:t>
            </a:r>
          </a:p>
          <a:p>
            <a:pPr eaLnBrk="1" hangingPunct="1"/>
            <a:r>
              <a:rPr lang="en-US" altLang="en-US" dirty="0"/>
              <a:t>    list=(*list).next;  //or list-&gt;next</a:t>
            </a:r>
          </a:p>
          <a:p>
            <a:pPr eaLnBrk="1" hangingPunct="1"/>
            <a:r>
              <a:rPr lang="en-US" altLang="en-US" dirty="0"/>
              <a:t>  }</a:t>
            </a:r>
          </a:p>
          <a:p>
            <a:pPr eaLnBrk="1" hangingPunct="1"/>
            <a:r>
              <a:rPr lang="en-US" altLang="en-US" dirty="0"/>
              <a:t>  </a:t>
            </a:r>
            <a:r>
              <a:rPr lang="en-US" altLang="en-US" dirty="0" err="1"/>
              <a:t>printf</a:t>
            </a:r>
            <a:r>
              <a:rPr lang="en-US" altLang="en-US" dirty="0"/>
              <a:t>("\n");</a:t>
            </a:r>
          </a:p>
          <a:p>
            <a:pPr eaLnBrk="1" hangingPunct="1"/>
            <a:r>
              <a:rPr lang="en-US" altLang="en-US" dirty="0"/>
              <a:t>}</a:t>
            </a:r>
          </a:p>
          <a:p>
            <a:pPr eaLnBrk="1" hangingPunct="1"/>
            <a:endParaRPr lang="en-US" altLang="en-US" dirty="0"/>
          </a:p>
          <a:p>
            <a:pPr eaLnBrk="1" hangingPunct="1"/>
            <a:r>
              <a:rPr lang="en-US" altLang="en-US" dirty="0"/>
              <a:t>//***********************************************************</a:t>
            </a:r>
          </a:p>
          <a:p>
            <a:pPr eaLnBrk="1" hangingPunct="1"/>
            <a:r>
              <a:rPr lang="en-US" altLang="en-US" dirty="0"/>
              <a:t>//* </a:t>
            </a:r>
            <a:r>
              <a:rPr lang="en-US" altLang="en-US" dirty="0" err="1"/>
              <a:t>addPokemon</a:t>
            </a:r>
            <a:r>
              <a:rPr lang="en-US" altLang="en-US" dirty="0"/>
              <a:t> adds a new </a:t>
            </a:r>
            <a:r>
              <a:rPr lang="en-US" altLang="en-US" dirty="0" err="1"/>
              <a:t>Pokemon</a:t>
            </a:r>
            <a:r>
              <a:rPr lang="en-US" altLang="en-US" dirty="0"/>
              <a:t> object to the end of the list.</a:t>
            </a:r>
          </a:p>
          <a:p>
            <a:pPr eaLnBrk="1" hangingPunct="1"/>
            <a:r>
              <a:rPr lang="en-US" altLang="en-US" dirty="0"/>
              <a:t>//* dynamic memory allocation is used. The name of the new </a:t>
            </a:r>
          </a:p>
          <a:p>
            <a:pPr eaLnBrk="1" hangingPunct="1"/>
            <a:r>
              <a:rPr lang="en-US" altLang="en-US" dirty="0"/>
              <a:t>//* </a:t>
            </a:r>
            <a:r>
              <a:rPr lang="en-US" altLang="en-US" dirty="0" err="1"/>
              <a:t>Pokemon</a:t>
            </a:r>
            <a:r>
              <a:rPr lang="en-US" altLang="en-US" dirty="0"/>
              <a:t> is randomly selected from the list.  The cp is</a:t>
            </a:r>
          </a:p>
          <a:p>
            <a:pPr eaLnBrk="1" hangingPunct="1"/>
            <a:r>
              <a:rPr lang="en-US" altLang="en-US" dirty="0"/>
              <a:t>//* randomly selected (0-1999).</a:t>
            </a:r>
          </a:p>
          <a:p>
            <a:pPr eaLnBrk="1" hangingPunct="1"/>
            <a:r>
              <a:rPr lang="en-US" altLang="en-US" dirty="0"/>
              <a:t>//***********************************************************</a:t>
            </a:r>
          </a:p>
          <a:p>
            <a:pPr eaLnBrk="1" hangingPunct="1"/>
            <a:r>
              <a:rPr lang="en-US" altLang="en-US" dirty="0" err="1"/>
              <a:t>Pokemon</a:t>
            </a:r>
            <a:r>
              <a:rPr lang="en-US" altLang="en-US" dirty="0"/>
              <a:t>* </a:t>
            </a:r>
            <a:r>
              <a:rPr lang="en-US" altLang="en-US" dirty="0" err="1"/>
              <a:t>addPokemon</a:t>
            </a:r>
            <a:r>
              <a:rPr lang="en-US" altLang="en-US" dirty="0"/>
              <a:t>(</a:t>
            </a:r>
            <a:r>
              <a:rPr lang="en-US" altLang="en-US" dirty="0" err="1"/>
              <a:t>Pokemon</a:t>
            </a:r>
            <a:r>
              <a:rPr lang="en-US" altLang="en-US" dirty="0"/>
              <a:t>* list){</a:t>
            </a:r>
          </a:p>
          <a:p>
            <a:pPr eaLnBrk="1" hangingPunct="1"/>
            <a:r>
              <a:rPr lang="en-US" altLang="en-US" dirty="0"/>
              <a:t>  if(list== NULL){    //This will be the first </a:t>
            </a:r>
            <a:r>
              <a:rPr lang="en-US" altLang="en-US" dirty="0" err="1"/>
              <a:t>Pokemon</a:t>
            </a:r>
            <a:r>
              <a:rPr lang="en-US" altLang="en-US" dirty="0"/>
              <a:t> in the list</a:t>
            </a:r>
          </a:p>
          <a:p>
            <a:pPr eaLnBrk="1" hangingPunct="1"/>
            <a:r>
              <a:rPr lang="en-US" altLang="en-US" dirty="0"/>
              <a:t>    list=malloc(</a:t>
            </a:r>
            <a:r>
              <a:rPr lang="en-US" altLang="en-US" dirty="0" err="1"/>
              <a:t>sizeof</a:t>
            </a:r>
            <a:r>
              <a:rPr lang="en-US" altLang="en-US" dirty="0"/>
              <a:t>(</a:t>
            </a:r>
            <a:r>
              <a:rPr lang="en-US" altLang="en-US" dirty="0" err="1"/>
              <a:t>Pokemon</a:t>
            </a:r>
            <a:r>
              <a:rPr lang="en-US" altLang="en-US" dirty="0"/>
              <a:t>));  //dynamically allocate memory for </a:t>
            </a:r>
            <a:r>
              <a:rPr lang="en-US" altLang="en-US" dirty="0" err="1"/>
              <a:t>Pokemon</a:t>
            </a:r>
            <a:endParaRPr lang="en-US" altLang="en-US" dirty="0"/>
          </a:p>
          <a:p>
            <a:pPr eaLnBrk="1" hangingPunct="1"/>
            <a:r>
              <a:rPr lang="en-US" altLang="en-US" dirty="0"/>
              <a:t>    </a:t>
            </a:r>
            <a:r>
              <a:rPr lang="en-US" altLang="en-US" dirty="0" err="1"/>
              <a:t>strcpy</a:t>
            </a:r>
            <a:r>
              <a:rPr lang="en-US" altLang="en-US" dirty="0"/>
              <a:t>(list-&gt;name, "</a:t>
            </a:r>
            <a:r>
              <a:rPr lang="en-US" altLang="en-US" dirty="0" err="1"/>
              <a:t>squirtle</a:t>
            </a:r>
            <a:r>
              <a:rPr lang="en-US" altLang="en-US" dirty="0"/>
              <a:t>");</a:t>
            </a:r>
          </a:p>
          <a:p>
            <a:pPr eaLnBrk="1" hangingPunct="1"/>
            <a:r>
              <a:rPr lang="en-US" altLang="en-US" dirty="0"/>
              <a:t>    list-&gt;cp=400;</a:t>
            </a:r>
          </a:p>
          <a:p>
            <a:pPr eaLnBrk="1" hangingPunct="1"/>
            <a:r>
              <a:rPr lang="en-US" altLang="en-US" dirty="0"/>
              <a:t>    list-&gt;next=NULL;</a:t>
            </a:r>
          </a:p>
          <a:p>
            <a:pPr eaLnBrk="1" hangingPunct="1"/>
            <a:r>
              <a:rPr lang="en-US" altLang="en-US" dirty="0"/>
              <a:t>    return list; </a:t>
            </a:r>
          </a:p>
          <a:p>
            <a:pPr eaLnBrk="1" hangingPunct="1"/>
            <a:r>
              <a:rPr lang="en-US" altLang="en-US" dirty="0"/>
              <a:t>  }</a:t>
            </a:r>
          </a:p>
          <a:p>
            <a:pPr eaLnBrk="1" hangingPunct="1"/>
            <a:r>
              <a:rPr lang="en-US" altLang="en-US" dirty="0"/>
              <a:t>  else{  //Find the end of the list and add a new </a:t>
            </a:r>
            <a:r>
              <a:rPr lang="en-US" altLang="en-US" dirty="0" err="1"/>
              <a:t>Pokemon</a:t>
            </a:r>
            <a:endParaRPr lang="en-US" altLang="en-US" dirty="0"/>
          </a:p>
          <a:p>
            <a:pPr eaLnBrk="1" hangingPunct="1"/>
            <a:r>
              <a:rPr lang="en-US" altLang="en-US" dirty="0"/>
              <a:t>    </a:t>
            </a:r>
            <a:r>
              <a:rPr lang="en-US" altLang="en-US" dirty="0" err="1"/>
              <a:t>Pokemon</a:t>
            </a:r>
            <a:r>
              <a:rPr lang="en-US" altLang="en-US" dirty="0"/>
              <a:t>* </a:t>
            </a:r>
            <a:r>
              <a:rPr lang="en-US" altLang="en-US" dirty="0" err="1"/>
              <a:t>frontOfList</a:t>
            </a:r>
            <a:r>
              <a:rPr lang="en-US" altLang="en-US" dirty="0"/>
              <a:t>=list;</a:t>
            </a:r>
          </a:p>
          <a:p>
            <a:pPr eaLnBrk="1" hangingPunct="1"/>
            <a:r>
              <a:rPr lang="en-US" altLang="en-US" dirty="0"/>
              <a:t>    while(list-&gt;next != NULL){</a:t>
            </a:r>
          </a:p>
          <a:p>
            <a:pPr eaLnBrk="1" hangingPunct="1"/>
            <a:r>
              <a:rPr lang="en-US" altLang="en-US" dirty="0"/>
              <a:t>      list=list-&gt;next;</a:t>
            </a:r>
          </a:p>
          <a:p>
            <a:pPr eaLnBrk="1" hangingPunct="1"/>
            <a:r>
              <a:rPr lang="en-US" altLang="en-US" dirty="0"/>
              <a:t>    }</a:t>
            </a:r>
          </a:p>
          <a:p>
            <a:pPr eaLnBrk="1" hangingPunct="1"/>
            <a:r>
              <a:rPr lang="en-US" altLang="en-US" dirty="0"/>
              <a:t>    list-&gt;next=malloc(</a:t>
            </a:r>
            <a:r>
              <a:rPr lang="en-US" altLang="en-US" dirty="0" err="1"/>
              <a:t>sizeof</a:t>
            </a:r>
            <a:r>
              <a:rPr lang="en-US" altLang="en-US" dirty="0"/>
              <a:t>(</a:t>
            </a:r>
            <a:r>
              <a:rPr lang="en-US" altLang="en-US" dirty="0" err="1"/>
              <a:t>Pokemon</a:t>
            </a:r>
            <a:r>
              <a:rPr lang="en-US" altLang="en-US" dirty="0"/>
              <a:t>));</a:t>
            </a:r>
          </a:p>
          <a:p>
            <a:pPr eaLnBrk="1" hangingPunct="1"/>
            <a:r>
              <a:rPr lang="en-US" altLang="en-US" dirty="0"/>
              <a:t>    </a:t>
            </a:r>
            <a:r>
              <a:rPr lang="en-US" altLang="en-US" dirty="0" err="1"/>
              <a:t>Pokemon</a:t>
            </a:r>
            <a:r>
              <a:rPr lang="en-US" altLang="en-US" dirty="0"/>
              <a:t>* </a:t>
            </a:r>
            <a:r>
              <a:rPr lang="en-US" altLang="en-US" dirty="0" err="1"/>
              <a:t>newPokemon</a:t>
            </a:r>
            <a:r>
              <a:rPr lang="en-US" altLang="en-US" dirty="0"/>
              <a:t>=list-&gt;next;</a:t>
            </a:r>
          </a:p>
          <a:p>
            <a:pPr eaLnBrk="1" hangingPunct="1"/>
            <a:r>
              <a:rPr lang="en-US" altLang="en-US" dirty="0"/>
              <a:t>    </a:t>
            </a:r>
            <a:r>
              <a:rPr lang="en-US" altLang="en-US" dirty="0" err="1"/>
              <a:t>strcpy</a:t>
            </a:r>
            <a:r>
              <a:rPr lang="en-US" altLang="en-US" dirty="0"/>
              <a:t>( (*</a:t>
            </a:r>
            <a:r>
              <a:rPr lang="en-US" altLang="en-US" dirty="0" err="1"/>
              <a:t>newPokemon</a:t>
            </a:r>
            <a:r>
              <a:rPr lang="en-US" altLang="en-US" dirty="0"/>
              <a:t>).name, names[rand()%10]); //</a:t>
            </a:r>
            <a:r>
              <a:rPr lang="en-US" altLang="en-US" dirty="0" err="1"/>
              <a:t>newPokemon</a:t>
            </a:r>
            <a:r>
              <a:rPr lang="en-US" altLang="en-US" dirty="0"/>
              <a:t>-&gt;name</a:t>
            </a:r>
          </a:p>
          <a:p>
            <a:pPr eaLnBrk="1" hangingPunct="1"/>
            <a:r>
              <a:rPr lang="en-US" altLang="en-US" dirty="0"/>
              <a:t>    </a:t>
            </a:r>
            <a:r>
              <a:rPr lang="en-US" altLang="en-US" dirty="0" err="1"/>
              <a:t>newPokemon</a:t>
            </a:r>
            <a:r>
              <a:rPr lang="en-US" altLang="en-US" dirty="0"/>
              <a:t>-&gt;cp=rand()%2000;</a:t>
            </a:r>
          </a:p>
          <a:p>
            <a:pPr eaLnBrk="1" hangingPunct="1"/>
            <a:r>
              <a:rPr lang="en-US" altLang="en-US" dirty="0"/>
              <a:t>    </a:t>
            </a:r>
            <a:r>
              <a:rPr lang="en-US" altLang="en-US" dirty="0" err="1"/>
              <a:t>newPokemon</a:t>
            </a:r>
            <a:r>
              <a:rPr lang="en-US" altLang="en-US" dirty="0"/>
              <a:t>-&gt;next=NULL;</a:t>
            </a:r>
          </a:p>
          <a:p>
            <a:pPr eaLnBrk="1" hangingPunct="1"/>
            <a:r>
              <a:rPr lang="en-US" altLang="en-US" dirty="0"/>
              <a:t>    return </a:t>
            </a:r>
            <a:r>
              <a:rPr lang="en-US" altLang="en-US" dirty="0" err="1"/>
              <a:t>frontOfList</a:t>
            </a:r>
            <a:r>
              <a:rPr lang="en-US" altLang="en-US" dirty="0"/>
              <a:t>;</a:t>
            </a:r>
          </a:p>
          <a:p>
            <a:pPr eaLnBrk="1" hangingPunct="1"/>
            <a:r>
              <a:rPr lang="en-US" altLang="en-US" dirty="0"/>
              <a:t>  }  </a:t>
            </a:r>
          </a:p>
          <a:p>
            <a:pPr eaLnBrk="1" hangingPunct="1"/>
            <a:r>
              <a:rPr lang="en-US" altLang="en-US" dirty="0"/>
              <a:t>}</a:t>
            </a:r>
          </a:p>
          <a:p>
            <a:pPr eaLnBrk="1" hangingPunct="1"/>
            <a:endParaRPr lang="en-US" altLang="en-US" dirty="0"/>
          </a:p>
          <a:p>
            <a:pPr eaLnBrk="1" hangingPunct="1"/>
            <a:r>
              <a:rPr lang="en-US" altLang="en-US" dirty="0"/>
              <a:t>int main(){</a:t>
            </a:r>
          </a:p>
          <a:p>
            <a:pPr eaLnBrk="1" hangingPunct="1"/>
            <a:r>
              <a:rPr lang="en-US" altLang="en-US" dirty="0"/>
              <a:t> </a:t>
            </a:r>
          </a:p>
          <a:p>
            <a:pPr eaLnBrk="1" hangingPunct="1"/>
            <a:r>
              <a:rPr lang="en-US" altLang="en-US" dirty="0"/>
              <a:t>  </a:t>
            </a:r>
            <a:r>
              <a:rPr lang="en-US" altLang="en-US" dirty="0" err="1"/>
              <a:t>Pokemon</a:t>
            </a:r>
            <a:r>
              <a:rPr lang="en-US" altLang="en-US" dirty="0"/>
              <a:t>* mine=NULL;</a:t>
            </a:r>
          </a:p>
          <a:p>
            <a:pPr eaLnBrk="1" hangingPunct="1"/>
            <a:r>
              <a:rPr lang="en-US" altLang="en-US" dirty="0"/>
              <a:t>  int catch=1;</a:t>
            </a:r>
          </a:p>
          <a:p>
            <a:pPr eaLnBrk="1" hangingPunct="1"/>
            <a:endParaRPr lang="en-US" altLang="en-US" dirty="0"/>
          </a:p>
          <a:p>
            <a:pPr eaLnBrk="1" hangingPunct="1"/>
            <a:r>
              <a:rPr lang="en-US" altLang="en-US" dirty="0"/>
              <a:t>  while(catch==1){</a:t>
            </a:r>
          </a:p>
          <a:p>
            <a:pPr eaLnBrk="1" hangingPunct="1"/>
            <a:r>
              <a:rPr lang="en-US" altLang="en-US" dirty="0"/>
              <a:t>    </a:t>
            </a:r>
            <a:r>
              <a:rPr lang="en-US" altLang="en-US" dirty="0" err="1"/>
              <a:t>printf</a:t>
            </a:r>
            <a:r>
              <a:rPr lang="en-US" altLang="en-US" dirty="0"/>
              <a:t>("A </a:t>
            </a:r>
            <a:r>
              <a:rPr lang="en-US" altLang="en-US" dirty="0" err="1"/>
              <a:t>Pokemon</a:t>
            </a:r>
            <a:r>
              <a:rPr lang="en-US" altLang="en-US" dirty="0"/>
              <a:t> appears in the wild. \n");</a:t>
            </a:r>
          </a:p>
          <a:p>
            <a:pPr eaLnBrk="1" hangingPunct="1"/>
            <a:r>
              <a:rPr lang="en-US" altLang="en-US" dirty="0"/>
              <a:t>    </a:t>
            </a:r>
            <a:r>
              <a:rPr lang="en-US" altLang="en-US" dirty="0" err="1"/>
              <a:t>printf</a:t>
            </a:r>
            <a:r>
              <a:rPr lang="en-US" altLang="en-US" dirty="0"/>
              <a:t>("Would you like to catch it? (0=no,1=yes) ");</a:t>
            </a:r>
          </a:p>
          <a:p>
            <a:pPr eaLnBrk="1" hangingPunct="1"/>
            <a:r>
              <a:rPr lang="en-US" altLang="en-US" dirty="0"/>
              <a:t>    </a:t>
            </a:r>
            <a:r>
              <a:rPr lang="en-US" altLang="en-US" dirty="0" err="1"/>
              <a:t>scanf</a:t>
            </a:r>
            <a:r>
              <a:rPr lang="en-US" altLang="en-US" dirty="0"/>
              <a:t>("%d", &amp;catch);</a:t>
            </a:r>
          </a:p>
          <a:p>
            <a:pPr eaLnBrk="1" hangingPunct="1"/>
            <a:r>
              <a:rPr lang="en-US" altLang="en-US" dirty="0"/>
              <a:t>    if(catch==1){</a:t>
            </a:r>
          </a:p>
          <a:p>
            <a:pPr eaLnBrk="1" hangingPunct="1"/>
            <a:r>
              <a:rPr lang="en-US" altLang="en-US" dirty="0"/>
              <a:t>        mine=</a:t>
            </a:r>
            <a:r>
              <a:rPr lang="en-US" altLang="en-US" dirty="0" err="1"/>
              <a:t>addPokemon</a:t>
            </a:r>
            <a:r>
              <a:rPr lang="en-US" altLang="en-US" dirty="0"/>
              <a:t>(mine);</a:t>
            </a:r>
          </a:p>
          <a:p>
            <a:pPr eaLnBrk="1" hangingPunct="1"/>
            <a:r>
              <a:rPr lang="en-US" altLang="en-US" dirty="0"/>
              <a:t>    }</a:t>
            </a:r>
          </a:p>
          <a:p>
            <a:pPr eaLnBrk="1" hangingPunct="1"/>
            <a:r>
              <a:rPr lang="en-US" altLang="en-US" dirty="0"/>
              <a:t>    </a:t>
            </a:r>
            <a:r>
              <a:rPr lang="en-US" altLang="en-US" dirty="0" err="1"/>
              <a:t>printPokemon</a:t>
            </a:r>
            <a:r>
              <a:rPr lang="en-US" altLang="en-US" dirty="0"/>
              <a:t>(mine); </a:t>
            </a:r>
          </a:p>
          <a:p>
            <a:pPr eaLnBrk="1" hangingPunct="1"/>
            <a:r>
              <a:rPr lang="en-US" altLang="en-US" dirty="0"/>
              <a:t>  }</a:t>
            </a:r>
          </a:p>
          <a:p>
            <a:pPr eaLnBrk="1" hangingPunct="1"/>
            <a:r>
              <a:rPr lang="en-US" altLang="en-US" dirty="0"/>
              <a:t>  //Note: the dynamically allocated memory should be released.</a:t>
            </a:r>
          </a:p>
          <a:p>
            <a:pPr eaLnBrk="1" hangingPunct="1"/>
            <a:r>
              <a:rPr lang="en-US" altLang="en-US" dirty="0"/>
              <a:t>  //This step is left as an exercise.  </a:t>
            </a:r>
          </a:p>
          <a:p>
            <a:pPr eaLnBrk="1" hangingPunct="1"/>
            <a:r>
              <a:rPr lang="en-US" altLang="en-US" dirty="0"/>
              <a:t>  return 0;</a:t>
            </a:r>
          </a:p>
          <a:p>
            <a:pPr eaLnBrk="1" hangingPunct="1"/>
            <a:r>
              <a:rPr lang="en-US" altLang="en-US"/>
              <a:t>}</a:t>
            </a:r>
          </a:p>
          <a:p>
            <a:pPr eaLnBrk="1" hangingPunct="1"/>
            <a:endParaRPr lang="en-US" altLang="en-US" dirty="0"/>
          </a:p>
        </p:txBody>
      </p:sp>
    </p:spTree>
    <p:extLst>
      <p:ext uri="{BB962C8B-B14F-4D97-AF65-F5344CB8AC3E}">
        <p14:creationId xmlns:p14="http://schemas.microsoft.com/office/powerpoint/2010/main" val="17685427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91329F50-FE46-44C9-8601-7B49262EBFE5}" type="slidenum">
              <a:rPr lang="en-US" altLang="en-US" sz="1200">
                <a:solidFill>
                  <a:schemeClr val="tx1"/>
                </a:solidFill>
              </a:rPr>
              <a:pPr eaLnBrk="1" hangingPunct="1"/>
              <a:t>28</a:t>
            </a:fld>
            <a:endParaRPr lang="en-US" altLang="en-US" sz="1200">
              <a:solidFill>
                <a:schemeClr val="tx1"/>
              </a:solidFill>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782220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9/3/2026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b="0" i="0">
                <a:solidFill>
                  <a:schemeClr val="accent2"/>
                </a:solidFill>
                <a:latin typeface="Times New Roman" panose="02020603050405020304" pitchFamily="18" charset="0"/>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b="0" i="0" cap="all">
                <a:solidFill>
                  <a:schemeClr val="accent2"/>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b="0" i="0">
                <a:solidFill>
                  <a:schemeClr val="accent2"/>
                </a:solidFill>
                <a:latin typeface="Times New Roman" panose="02020603050405020304" pitchFamily="18" charset="0"/>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i="0" kern="1200" cap="all">
          <a:solidFill>
            <a:schemeClr val="bg1"/>
          </a:solidFill>
          <a:latin typeface="Times New Roman" panose="02020603050405020304" pitchFamily="18"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b="0" i="0" kern="1200">
          <a:solidFill>
            <a:schemeClr val="tx2"/>
          </a:solidFill>
          <a:latin typeface="Times New Roman" panose="02020603050405020304" pitchFamily="18" charset="0"/>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b="0" i="0" kern="1200">
          <a:solidFill>
            <a:schemeClr val="tx2"/>
          </a:solidFill>
          <a:latin typeface="Times New Roman" panose="02020603050405020304" pitchFamily="18" charset="0"/>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b="0" i="0" kern="1200">
          <a:solidFill>
            <a:schemeClr val="tx2"/>
          </a:solidFill>
          <a:latin typeface="Times New Roman" panose="02020603050405020304" pitchFamily="18" charset="0"/>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GI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youtu.be/TmdsSTua6Ps?si=75K_Vps8TG3Gczbn"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10.png"/><Relationship Id="rId4" Type="http://schemas.microsoft.com/office/2007/relationships/hdphoto" Target="../media/hdphoto1.wdp"/><Relationship Id="rId9"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10.png"/><Relationship Id="rId4" Type="http://schemas.microsoft.com/office/2007/relationships/hdphoto" Target="../media/hdphoto1.wdp"/><Relationship Id="rId9" Type="http://schemas.openxmlformats.org/officeDocument/2006/relationships/image" Target="../media/image8.png"/></Relationships>
</file>

<file path=ppt/slides/_rels/slide24.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10.png"/><Relationship Id="rId4" Type="http://schemas.microsoft.com/office/2007/relationships/hdphoto" Target="../media/hdphoto1.wdp"/><Relationship Id="rId9" Type="http://schemas.openxmlformats.org/officeDocument/2006/relationships/image" Target="../media/image8.png"/></Relationships>
</file>

<file path=ppt/slides/_rels/slide2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10.png"/><Relationship Id="rId4" Type="http://schemas.microsoft.com/office/2007/relationships/hdphoto" Target="../media/hdphoto1.wdp"/><Relationship Id="rId9"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6600" dirty="0">
                <a:solidFill>
                  <a:schemeClr val="bg1"/>
                </a:solidFill>
                <a:latin typeface="Times New Roman" panose="02020603050405020304" pitchFamily="18" charset="0"/>
                <a:cs typeface="Times New Roman" panose="02020603050405020304" pitchFamily="18" charset="0"/>
              </a:rPr>
              <a:t>Linked Lists</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Autofit/>
          </a:bodyPr>
          <a:lstStyle/>
          <a:p>
            <a:r>
              <a:rPr lang="en-US" sz="2800" dirty="0">
                <a:solidFill>
                  <a:srgbClr val="7CEBFF"/>
                </a:solidFill>
                <a:latin typeface="Times New Roman" panose="02020603050405020304" pitchFamily="18" charset="0"/>
                <a:cs typeface="Times New Roman" panose="02020603050405020304" pitchFamily="18" charset="0"/>
              </a:rPr>
              <a:t>Pointer Review, linked lists</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966" y="1605202"/>
            <a:ext cx="5418471" cy="5252798"/>
          </a:xfrm>
          <a:prstGeom prst="rect">
            <a:avLst/>
          </a:prstGeom>
        </p:spPr>
      </p:pic>
      <p:sp>
        <p:nvSpPr>
          <p:cNvPr id="3" name="Content Placeholder 2"/>
          <p:cNvSpPr txBox="1">
            <a:spLocks/>
          </p:cNvSpPr>
          <p:nvPr/>
        </p:nvSpPr>
        <p:spPr>
          <a:xfrm>
            <a:off x="355276" y="624332"/>
            <a:ext cx="10448321" cy="2461777"/>
          </a:xfrm>
          <a:prstGeom prst="rect">
            <a:avLst/>
          </a:prstGeom>
        </p:spPr>
        <p:txBody>
          <a:bodyPr anchor="t" anchorCtr="0">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b="0" i="0" kern="1200">
                <a:solidFill>
                  <a:schemeClr val="tx2"/>
                </a:solidFill>
                <a:latin typeface="Times New Roman" panose="02020603050405020304" pitchFamily="18" charset="0"/>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b="0" i="0" kern="1200">
                <a:solidFill>
                  <a:schemeClr val="tx2"/>
                </a:solidFill>
                <a:latin typeface="Times New Roman" panose="02020603050405020304" pitchFamily="18" charset="0"/>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b="0" i="0" kern="1200">
                <a:solidFill>
                  <a:schemeClr val="tx2"/>
                </a:solidFill>
                <a:latin typeface="Times New Roman" panose="02020603050405020304" pitchFamily="18" charset="0"/>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5000"/>
              </a:lnSpc>
              <a:spcAft>
                <a:spcPts val="450"/>
              </a:spcAft>
              <a:buFont typeface="Wingdings" pitchFamily="2" charset="2"/>
              <a:buChar char="Ø"/>
            </a:pPr>
            <a:r>
              <a:rPr lang="en-US" sz="3200"/>
              <a:t>Would the big O for each of these be the same?</a:t>
            </a:r>
          </a:p>
          <a:p>
            <a:pPr marL="0" indent="0">
              <a:lnSpc>
                <a:spcPct val="95000"/>
              </a:lnSpc>
              <a:spcAft>
                <a:spcPts val="450"/>
              </a:spcAft>
              <a:buFont typeface="Wingdings 2" panose="05020102010507070707" pitchFamily="18" charset="2"/>
              <a:buNone/>
            </a:pPr>
            <a:endParaRPr lang="en-US" sz="3200" dirty="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b="51796"/>
          <a:stretch/>
        </p:blipFill>
        <p:spPr>
          <a:xfrm>
            <a:off x="5964658" y="1605202"/>
            <a:ext cx="5817611" cy="2981788"/>
          </a:xfrm>
          <a:prstGeom prst="rect">
            <a:avLst/>
          </a:prstGeom>
        </p:spPr>
      </p:pic>
    </p:spTree>
    <p:extLst>
      <p:ext uri="{BB962C8B-B14F-4D97-AF65-F5344CB8AC3E}">
        <p14:creationId xmlns:p14="http://schemas.microsoft.com/office/powerpoint/2010/main" val="121821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355276" y="624332"/>
            <a:ext cx="10448321" cy="2461777"/>
          </a:xfrm>
          <a:prstGeom prst="rect">
            <a:avLst/>
          </a:prstGeom>
        </p:spPr>
        <p:txBody>
          <a:bodyPr anchor="t" anchorCtr="0">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b="0" i="0" kern="1200">
                <a:solidFill>
                  <a:schemeClr val="tx2"/>
                </a:solidFill>
                <a:latin typeface="Times New Roman" panose="02020603050405020304" pitchFamily="18" charset="0"/>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b="0" i="0" kern="1200">
                <a:solidFill>
                  <a:schemeClr val="tx2"/>
                </a:solidFill>
                <a:latin typeface="Times New Roman" panose="02020603050405020304" pitchFamily="18" charset="0"/>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b="0" i="0" kern="1200">
                <a:solidFill>
                  <a:schemeClr val="tx2"/>
                </a:solidFill>
                <a:latin typeface="Times New Roman" panose="02020603050405020304" pitchFamily="18" charset="0"/>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5000"/>
              </a:lnSpc>
              <a:spcAft>
                <a:spcPts val="450"/>
              </a:spcAft>
              <a:buFont typeface="Wingdings" pitchFamily="2" charset="2"/>
              <a:buChar char="Ø"/>
            </a:pPr>
            <a:r>
              <a:rPr lang="en-US" sz="3200"/>
              <a:t>Would the big O for each of these be the same?</a:t>
            </a:r>
          </a:p>
          <a:p>
            <a:pPr marL="0" indent="0">
              <a:lnSpc>
                <a:spcPct val="95000"/>
              </a:lnSpc>
              <a:spcAft>
                <a:spcPts val="450"/>
              </a:spcAft>
              <a:buFont typeface="Wingdings 2" panose="05020102010507070707" pitchFamily="18" charset="2"/>
              <a:buNone/>
            </a:pPr>
            <a:endParaRPr lang="en-US" sz="32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71872"/>
            <a:ext cx="4706911" cy="5686127"/>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14981" b="32822"/>
          <a:stretch/>
        </p:blipFill>
        <p:spPr>
          <a:xfrm>
            <a:off x="6066706" y="1892152"/>
            <a:ext cx="5295839" cy="3339416"/>
          </a:xfrm>
          <a:prstGeom prst="rect">
            <a:avLst/>
          </a:prstGeom>
        </p:spPr>
      </p:pic>
    </p:spTree>
    <p:extLst>
      <p:ext uri="{BB962C8B-B14F-4D97-AF65-F5344CB8AC3E}">
        <p14:creationId xmlns:p14="http://schemas.microsoft.com/office/powerpoint/2010/main" val="3269247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F2971-7B5E-CBCA-1707-084E68EB16B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54157-962E-2D74-984A-F582C03E1FC0}"/>
              </a:ext>
            </a:extLst>
          </p:cNvPr>
          <p:cNvSpPr txBox="1">
            <a:spLocks/>
          </p:cNvSpPr>
          <p:nvPr/>
        </p:nvSpPr>
        <p:spPr>
          <a:xfrm>
            <a:off x="355276" y="624332"/>
            <a:ext cx="10448321" cy="2461777"/>
          </a:xfrm>
          <a:prstGeom prst="rect">
            <a:avLst/>
          </a:prstGeom>
        </p:spPr>
        <p:txBody>
          <a:bodyPr anchor="t" anchorCtr="0">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b="0" i="0" kern="1200">
                <a:solidFill>
                  <a:schemeClr val="tx2"/>
                </a:solidFill>
                <a:latin typeface="Times New Roman" panose="02020603050405020304" pitchFamily="18" charset="0"/>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b="0" i="0" kern="1200">
                <a:solidFill>
                  <a:schemeClr val="tx2"/>
                </a:solidFill>
                <a:latin typeface="Times New Roman" panose="02020603050405020304" pitchFamily="18" charset="0"/>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b="0" i="0" kern="1200">
                <a:solidFill>
                  <a:schemeClr val="tx2"/>
                </a:solidFill>
                <a:latin typeface="Times New Roman" panose="02020603050405020304" pitchFamily="18" charset="0"/>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5000"/>
              </a:lnSpc>
              <a:spcAft>
                <a:spcPts val="450"/>
              </a:spcAft>
              <a:buFont typeface="Wingdings" pitchFamily="2" charset="2"/>
              <a:buChar char="Ø"/>
            </a:pPr>
            <a:r>
              <a:rPr lang="en-US" sz="3200" dirty="0"/>
              <a:t>Which of these Big O time complexities would result in the FASTEST algorithm:</a:t>
            </a:r>
          </a:p>
          <a:p>
            <a:pPr>
              <a:lnSpc>
                <a:spcPct val="95000"/>
              </a:lnSpc>
              <a:spcAft>
                <a:spcPts val="450"/>
              </a:spcAft>
              <a:buFont typeface="Wingdings" pitchFamily="2" charset="2"/>
              <a:buChar char="Ø"/>
            </a:pPr>
            <a:endParaRPr lang="en-US" sz="3200" dirty="0"/>
          </a:p>
          <a:p>
            <a:pPr marL="838350" lvl="1" indent="-514350">
              <a:lnSpc>
                <a:spcPct val="95000"/>
              </a:lnSpc>
              <a:spcAft>
                <a:spcPts val="450"/>
              </a:spcAft>
              <a:buFont typeface="+mj-lt"/>
              <a:buAutoNum type="alphaLcPeriod"/>
            </a:pPr>
            <a:r>
              <a:rPr lang="en-US" sz="3000" dirty="0"/>
              <a:t>O(n)</a:t>
            </a:r>
          </a:p>
          <a:p>
            <a:pPr marL="838350" lvl="1" indent="-514350">
              <a:lnSpc>
                <a:spcPct val="95000"/>
              </a:lnSpc>
              <a:spcAft>
                <a:spcPts val="450"/>
              </a:spcAft>
              <a:buFont typeface="+mj-lt"/>
              <a:buAutoNum type="alphaLcPeriod"/>
            </a:pPr>
            <a:r>
              <a:rPr lang="en-US" sz="3000" dirty="0"/>
              <a:t>O(log n)</a:t>
            </a:r>
          </a:p>
          <a:p>
            <a:pPr marL="838350" lvl="1" indent="-514350">
              <a:lnSpc>
                <a:spcPct val="95000"/>
              </a:lnSpc>
              <a:spcAft>
                <a:spcPts val="450"/>
              </a:spcAft>
              <a:buFont typeface="+mj-lt"/>
              <a:buAutoNum type="alphaLcPeriod"/>
            </a:pPr>
            <a:r>
              <a:rPr lang="en-US" sz="3000" dirty="0"/>
              <a:t>O(n</a:t>
            </a:r>
            <a:r>
              <a:rPr lang="en-US" sz="3000" baseline="30000" dirty="0"/>
              <a:t>2</a:t>
            </a:r>
            <a:r>
              <a:rPr lang="en-US" sz="3000" dirty="0"/>
              <a:t>)</a:t>
            </a:r>
          </a:p>
          <a:p>
            <a:pPr marL="838350" lvl="1" indent="-514350">
              <a:lnSpc>
                <a:spcPct val="95000"/>
              </a:lnSpc>
              <a:spcAft>
                <a:spcPts val="450"/>
              </a:spcAft>
              <a:buFont typeface="+mj-lt"/>
              <a:buAutoNum type="alphaLcPeriod"/>
            </a:pPr>
            <a:r>
              <a:rPr lang="en-US" sz="3000" dirty="0"/>
              <a:t>O(n</a:t>
            </a:r>
            <a:r>
              <a:rPr lang="en-US" sz="3000" baseline="30000" dirty="0"/>
              <a:t>3</a:t>
            </a:r>
            <a:r>
              <a:rPr lang="en-US" sz="3000" dirty="0"/>
              <a:t>)</a:t>
            </a:r>
          </a:p>
          <a:p>
            <a:pPr marL="0" indent="0">
              <a:lnSpc>
                <a:spcPct val="95000"/>
              </a:lnSpc>
              <a:spcAft>
                <a:spcPts val="450"/>
              </a:spcAft>
              <a:buFont typeface="Wingdings 2" panose="05020102010507070707" pitchFamily="18" charset="2"/>
              <a:buNone/>
            </a:pPr>
            <a:endParaRPr lang="en-US" sz="3200" dirty="0"/>
          </a:p>
        </p:txBody>
      </p:sp>
    </p:spTree>
    <p:extLst>
      <p:ext uri="{BB962C8B-B14F-4D97-AF65-F5344CB8AC3E}">
        <p14:creationId xmlns:p14="http://schemas.microsoft.com/office/powerpoint/2010/main" val="3312478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276" y="1457715"/>
            <a:ext cx="5768843" cy="2289826"/>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3245" y="2458387"/>
            <a:ext cx="6425280" cy="4263503"/>
          </a:xfrm>
          <a:prstGeom prst="rect">
            <a:avLst/>
          </a:prstGeom>
        </p:spPr>
      </p:pic>
      <p:sp>
        <p:nvSpPr>
          <p:cNvPr id="12" name="TextBox 11"/>
          <p:cNvSpPr txBox="1"/>
          <p:nvPr/>
        </p:nvSpPr>
        <p:spPr>
          <a:xfrm>
            <a:off x="6951220" y="2089055"/>
            <a:ext cx="4107305" cy="369332"/>
          </a:xfrm>
          <a:prstGeom prst="rect">
            <a:avLst/>
          </a:prstGeom>
          <a:noFill/>
        </p:spPr>
        <p:txBody>
          <a:bodyPr wrap="square" rtlCol="0">
            <a:spAutoFit/>
          </a:bodyPr>
          <a:lstStyle/>
          <a:p>
            <a:r>
              <a:rPr lang="en-US" dirty="0"/>
              <a:t>From Lect2, slide 28</a:t>
            </a:r>
          </a:p>
        </p:txBody>
      </p:sp>
    </p:spTree>
    <p:extLst>
      <p:ext uri="{BB962C8B-B14F-4D97-AF65-F5344CB8AC3E}">
        <p14:creationId xmlns:p14="http://schemas.microsoft.com/office/powerpoint/2010/main" val="2251902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8259" y="1808166"/>
            <a:ext cx="8983310" cy="2461777"/>
          </a:xfrm>
        </p:spPr>
        <p:txBody>
          <a:bodyPr anchor="t" anchorCtr="0">
            <a:noAutofit/>
          </a:bodyPr>
          <a:lstStyle/>
          <a:p>
            <a:pPr marL="0" indent="0">
              <a:buNone/>
            </a:pPr>
            <a:r>
              <a:rPr lang="en-US" sz="3200" dirty="0"/>
              <a:t>We use &amp; to see the address in memory</a:t>
            </a:r>
          </a:p>
          <a:p>
            <a:pPr marL="0" indent="0">
              <a:buNone/>
            </a:pPr>
            <a:endParaRPr lang="en-US" sz="3200" dirty="0"/>
          </a:p>
          <a:p>
            <a:pPr marL="0" indent="0">
              <a:buNone/>
            </a:pPr>
            <a:r>
              <a:rPr lang="en-US" sz="3200" dirty="0"/>
              <a:t>#include &lt;</a:t>
            </a:r>
            <a:r>
              <a:rPr lang="en-US" sz="3200" dirty="0" err="1"/>
              <a:t>stdio.h</a:t>
            </a:r>
            <a:r>
              <a:rPr lang="en-US" sz="3200" dirty="0"/>
              <a:t>&gt;</a:t>
            </a:r>
          </a:p>
          <a:p>
            <a:pPr marL="0" indent="0">
              <a:buNone/>
            </a:pPr>
            <a:r>
              <a:rPr lang="en-US" sz="3200" dirty="0"/>
              <a:t>int main() {</a:t>
            </a:r>
          </a:p>
          <a:p>
            <a:pPr marL="0" indent="0">
              <a:buNone/>
            </a:pPr>
            <a:r>
              <a:rPr lang="en-US" sz="3200" dirty="0"/>
              <a:t>    int num=5;</a:t>
            </a:r>
          </a:p>
          <a:p>
            <a:pPr marL="0" indent="0">
              <a:buNone/>
            </a:pPr>
            <a:r>
              <a:rPr lang="en-US" sz="3200" dirty="0"/>
              <a:t>    </a:t>
            </a:r>
            <a:r>
              <a:rPr lang="en-US" sz="3200" dirty="0" err="1"/>
              <a:t>printf</a:t>
            </a:r>
            <a:r>
              <a:rPr lang="en-US" sz="3200" dirty="0"/>
              <a:t>("num=%d </a:t>
            </a:r>
            <a:r>
              <a:rPr lang="en-US" sz="3200" b="1" dirty="0"/>
              <a:t>&amp;num=%p</a:t>
            </a:r>
            <a:r>
              <a:rPr lang="en-US" sz="3200" dirty="0"/>
              <a:t>\n", num, </a:t>
            </a:r>
            <a:r>
              <a:rPr lang="en-US" sz="3200" b="1" dirty="0"/>
              <a:t>&amp;num</a:t>
            </a:r>
            <a:r>
              <a:rPr lang="en-US" sz="3200" dirty="0"/>
              <a:t>); </a:t>
            </a:r>
          </a:p>
          <a:p>
            <a:pPr marL="0" indent="0">
              <a:buNone/>
            </a:pPr>
            <a:r>
              <a:rPr lang="en-US" sz="3200" dirty="0"/>
              <a:t>    return 0;</a:t>
            </a:r>
          </a:p>
          <a:p>
            <a:pPr marL="0" indent="0">
              <a:buNone/>
            </a:pPr>
            <a:r>
              <a:rPr lang="en-US" sz="3200" dirty="0"/>
              <a:t> }</a:t>
            </a:r>
          </a:p>
        </p:txBody>
      </p:sp>
      <p:sp>
        <p:nvSpPr>
          <p:cNvPr id="2" name="TextBox 1"/>
          <p:cNvSpPr txBox="1"/>
          <p:nvPr/>
        </p:nvSpPr>
        <p:spPr>
          <a:xfrm>
            <a:off x="524753" y="868691"/>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Addresses in Memory</a:t>
            </a:r>
          </a:p>
        </p:txBody>
      </p:sp>
      <p:sp>
        <p:nvSpPr>
          <p:cNvPr id="7" name="Rectangle 6">
            <a:extLst>
              <a:ext uri="{FF2B5EF4-FFF2-40B4-BE49-F238E27FC236}">
                <a16:creationId xmlns:a16="http://schemas.microsoft.com/office/drawing/2014/main" id="{A3AA4954-06E0-3388-EC09-E26319298780}"/>
              </a:ext>
            </a:extLst>
          </p:cNvPr>
          <p:cNvSpPr/>
          <p:nvPr/>
        </p:nvSpPr>
        <p:spPr>
          <a:xfrm>
            <a:off x="2494472" y="5681786"/>
            <a:ext cx="8153400" cy="114170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err="1">
                <a:latin typeface="Times New Roman" panose="02020603050405020304" pitchFamily="18" charset="0"/>
              </a:rPr>
              <a:t>num</a:t>
            </a:r>
            <a:r>
              <a:rPr lang="en-US" sz="2800" dirty="0">
                <a:latin typeface="Times New Roman" panose="02020603050405020304" pitchFamily="18" charset="0"/>
              </a:rPr>
              <a:t>=5 &amp;</a:t>
            </a:r>
            <a:r>
              <a:rPr lang="en-US" sz="2800" dirty="0" err="1">
                <a:latin typeface="Times New Roman" panose="02020603050405020304" pitchFamily="18" charset="0"/>
              </a:rPr>
              <a:t>num</a:t>
            </a:r>
            <a:r>
              <a:rPr lang="en-US" sz="2800" dirty="0">
                <a:latin typeface="Times New Roman" panose="02020603050405020304" pitchFamily="18" charset="0"/>
              </a:rPr>
              <a:t>=0x7ffc07b899e4</a:t>
            </a:r>
          </a:p>
          <a:p>
            <a:endParaRPr lang="en-US" sz="2800" dirty="0">
              <a:latin typeface="Times New Roman" panose="02020603050405020304" pitchFamily="18" charset="0"/>
            </a:endParaRPr>
          </a:p>
          <a:p>
            <a:endParaRPr lang="en-US" sz="2800" dirty="0">
              <a:latin typeface="Times New Roman" panose="02020603050405020304" pitchFamily="18" charset="0"/>
            </a:endParaRPr>
          </a:p>
        </p:txBody>
      </p:sp>
      <p:sp>
        <p:nvSpPr>
          <p:cNvPr id="8" name="TextBox 7">
            <a:extLst>
              <a:ext uri="{FF2B5EF4-FFF2-40B4-BE49-F238E27FC236}">
                <a16:creationId xmlns:a16="http://schemas.microsoft.com/office/drawing/2014/main" id="{8124F451-8060-37CE-32E9-2D5FE22126F2}"/>
              </a:ext>
            </a:extLst>
          </p:cNvPr>
          <p:cNvSpPr txBox="1"/>
          <p:nvPr/>
        </p:nvSpPr>
        <p:spPr>
          <a:xfrm>
            <a:off x="5602857" y="6138480"/>
            <a:ext cx="4572000" cy="584775"/>
          </a:xfrm>
          <a:prstGeom prst="rect">
            <a:avLst/>
          </a:prstGeom>
          <a:noFill/>
        </p:spPr>
        <p:txBody>
          <a:bodyPr wrap="square" rtlCol="0">
            <a:spAutoFit/>
          </a:bodyPr>
          <a:lstStyle/>
          <a:p>
            <a:r>
              <a:rPr lang="en-US" sz="3200" dirty="0">
                <a:latin typeface="Times New Roman" panose="02020603050405020304" pitchFamily="18" charset="0"/>
              </a:rPr>
              <a:t>0x7ffc07b899e4 </a:t>
            </a:r>
            <a:r>
              <a:rPr lang="en-US" sz="3200" dirty="0" err="1">
                <a:latin typeface="Times New Roman" panose="02020603050405020304" pitchFamily="18" charset="0"/>
              </a:rPr>
              <a:t>num</a:t>
            </a:r>
            <a:endParaRPr lang="en-US" sz="3200" dirty="0">
              <a:latin typeface="Times New Roman" panose="02020603050405020304" pitchFamily="18" charset="0"/>
            </a:endParaRPr>
          </a:p>
        </p:txBody>
      </p:sp>
      <p:graphicFrame>
        <p:nvGraphicFramePr>
          <p:cNvPr id="9" name="Table 8">
            <a:extLst>
              <a:ext uri="{FF2B5EF4-FFF2-40B4-BE49-F238E27FC236}">
                <a16:creationId xmlns:a16="http://schemas.microsoft.com/office/drawing/2014/main" id="{54DBB3CD-7A07-0AF7-C58E-0493C9A0FCC3}"/>
              </a:ext>
            </a:extLst>
          </p:cNvPr>
          <p:cNvGraphicFramePr>
            <a:graphicFrameLocks noGrp="1"/>
          </p:cNvGraphicFramePr>
          <p:nvPr/>
        </p:nvGraphicFramePr>
        <p:xfrm>
          <a:off x="9535553" y="6144134"/>
          <a:ext cx="639305" cy="579120"/>
        </p:xfrm>
        <a:graphic>
          <a:graphicData uri="http://schemas.openxmlformats.org/drawingml/2006/table">
            <a:tbl>
              <a:tblPr firstRow="1" bandRow="1">
                <a:tableStyleId>{5C22544A-7EE6-4342-B048-85BDC9FD1C3A}</a:tableStyleId>
              </a:tblPr>
              <a:tblGrid>
                <a:gridCol w="639305">
                  <a:extLst>
                    <a:ext uri="{9D8B030D-6E8A-4147-A177-3AD203B41FA5}">
                      <a16:colId xmlns:a16="http://schemas.microsoft.com/office/drawing/2014/main" val="3211877642"/>
                    </a:ext>
                  </a:extLst>
                </a:gridCol>
              </a:tblGrid>
              <a:tr h="570119">
                <a:tc>
                  <a:txBody>
                    <a:bodyPr/>
                    <a:lstStyle/>
                    <a:p>
                      <a:r>
                        <a:rPr lang="en-US" sz="3200" b="0" i="0" dirty="0">
                          <a:solidFill>
                            <a:schemeClr val="tx1"/>
                          </a:solidFill>
                          <a:latin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6643421"/>
                  </a:ext>
                </a:extLst>
              </a:tr>
            </a:tbl>
          </a:graphicData>
        </a:graphic>
      </p:graphicFrame>
    </p:spTree>
    <p:extLst>
      <p:ext uri="{BB962C8B-B14F-4D97-AF65-F5344CB8AC3E}">
        <p14:creationId xmlns:p14="http://schemas.microsoft.com/office/powerpoint/2010/main" val="3502800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4556" y="901018"/>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Creating a Pointer</a:t>
            </a:r>
          </a:p>
        </p:txBody>
      </p:sp>
      <p:sp>
        <p:nvSpPr>
          <p:cNvPr id="8" name="TextBox 7">
            <a:extLst>
              <a:ext uri="{FF2B5EF4-FFF2-40B4-BE49-F238E27FC236}">
                <a16:creationId xmlns:a16="http://schemas.microsoft.com/office/drawing/2014/main" id="{82C10EA6-9F98-6F07-E5AE-A10A6644F292}"/>
              </a:ext>
            </a:extLst>
          </p:cNvPr>
          <p:cNvSpPr txBox="1"/>
          <p:nvPr/>
        </p:nvSpPr>
        <p:spPr>
          <a:xfrm>
            <a:off x="734556" y="1978305"/>
            <a:ext cx="7942729" cy="4524315"/>
          </a:xfrm>
          <a:prstGeom prst="rect">
            <a:avLst/>
          </a:prstGeom>
          <a:noFill/>
        </p:spPr>
        <p:txBody>
          <a:bodyPr wrap="square">
            <a:spAutoFit/>
          </a:bodyPr>
          <a:lstStyle/>
          <a:p>
            <a:r>
              <a:rPr lang="en-US" sz="3200" dirty="0">
                <a:latin typeface="Times New Roman" panose="02020603050405020304" pitchFamily="18" charset="0"/>
              </a:rPr>
              <a:t>You can create a pointer data type by using * after the variable type.</a:t>
            </a:r>
          </a:p>
          <a:p>
            <a:endParaRPr lang="en-US" sz="3200" dirty="0">
              <a:latin typeface="Times New Roman" panose="02020603050405020304" pitchFamily="18" charset="0"/>
            </a:endParaRPr>
          </a:p>
          <a:p>
            <a:r>
              <a:rPr lang="en-US" sz="3200" dirty="0">
                <a:solidFill>
                  <a:srgbClr val="0000FF"/>
                </a:solidFill>
                <a:latin typeface="Times New Roman" panose="02020603050405020304" pitchFamily="18" charset="0"/>
              </a:rPr>
              <a:t>int*  x;               //x is a pointer to an int</a:t>
            </a:r>
          </a:p>
          <a:p>
            <a:r>
              <a:rPr lang="en-US" sz="3200" dirty="0">
                <a:solidFill>
                  <a:srgbClr val="0000FF"/>
                </a:solidFill>
                <a:latin typeface="Times New Roman" panose="02020603050405020304" pitchFamily="18" charset="0"/>
              </a:rPr>
              <a:t>char *c;            //c is a pointer to a char</a:t>
            </a:r>
          </a:p>
          <a:p>
            <a:r>
              <a:rPr lang="en-US" sz="3200" dirty="0">
                <a:solidFill>
                  <a:srgbClr val="0000FF"/>
                </a:solidFill>
                <a:latin typeface="Times New Roman" panose="02020603050405020304" pitchFamily="18" charset="0"/>
              </a:rPr>
              <a:t>float * </a:t>
            </a:r>
            <a:r>
              <a:rPr lang="en-US" sz="3200" dirty="0" err="1">
                <a:solidFill>
                  <a:srgbClr val="0000FF"/>
                </a:solidFill>
                <a:latin typeface="Times New Roman" panose="02020603050405020304" pitchFamily="18" charset="0"/>
              </a:rPr>
              <a:t>gpa</a:t>
            </a:r>
            <a:r>
              <a:rPr lang="en-US" sz="3200" dirty="0">
                <a:solidFill>
                  <a:srgbClr val="0000FF"/>
                </a:solidFill>
                <a:latin typeface="Times New Roman" panose="02020603050405020304" pitchFamily="18" charset="0"/>
              </a:rPr>
              <a:t>;       //</a:t>
            </a:r>
            <a:r>
              <a:rPr lang="en-US" sz="3200" dirty="0" err="1">
                <a:solidFill>
                  <a:srgbClr val="0000FF"/>
                </a:solidFill>
                <a:latin typeface="Times New Roman" panose="02020603050405020304" pitchFamily="18" charset="0"/>
              </a:rPr>
              <a:t>gpa</a:t>
            </a:r>
            <a:r>
              <a:rPr lang="en-US" sz="3200" dirty="0">
                <a:solidFill>
                  <a:srgbClr val="0000FF"/>
                </a:solidFill>
                <a:latin typeface="Times New Roman" panose="02020603050405020304" pitchFamily="18" charset="0"/>
              </a:rPr>
              <a:t> is a pointer to a float</a:t>
            </a:r>
          </a:p>
          <a:p>
            <a:endParaRPr lang="en-US" sz="3200" dirty="0">
              <a:solidFill>
                <a:srgbClr val="0000FF"/>
              </a:solidFill>
              <a:latin typeface="Times New Roman" panose="02020603050405020304" pitchFamily="18" charset="0"/>
            </a:endParaRPr>
          </a:p>
          <a:p>
            <a:endParaRPr lang="en-US" sz="3200" dirty="0">
              <a:latin typeface="Times New Roman" panose="02020603050405020304" pitchFamily="18" charset="0"/>
            </a:endParaRPr>
          </a:p>
          <a:p>
            <a:r>
              <a:rPr lang="en-US" sz="3200" dirty="0">
                <a:latin typeface="Times New Roman" panose="02020603050405020304" pitchFamily="18" charset="0"/>
              </a:rPr>
              <a:t>int*   and int  * are the same.</a:t>
            </a:r>
          </a:p>
        </p:txBody>
      </p:sp>
    </p:spTree>
    <p:extLst>
      <p:ext uri="{BB962C8B-B14F-4D97-AF65-F5344CB8AC3E}">
        <p14:creationId xmlns:p14="http://schemas.microsoft.com/office/powerpoint/2010/main" val="3170664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2986" y="915429"/>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Pointers</a:t>
            </a:r>
          </a:p>
        </p:txBody>
      </p:sp>
      <p:sp>
        <p:nvSpPr>
          <p:cNvPr id="8" name="TextBox 7">
            <a:extLst>
              <a:ext uri="{FF2B5EF4-FFF2-40B4-BE49-F238E27FC236}">
                <a16:creationId xmlns:a16="http://schemas.microsoft.com/office/drawing/2014/main" id="{82C10EA6-9F98-6F07-E5AE-A10A6644F292}"/>
              </a:ext>
            </a:extLst>
          </p:cNvPr>
          <p:cNvSpPr txBox="1"/>
          <p:nvPr/>
        </p:nvSpPr>
        <p:spPr>
          <a:xfrm>
            <a:off x="509579" y="1873306"/>
            <a:ext cx="7942729" cy="3539430"/>
          </a:xfrm>
          <a:prstGeom prst="rect">
            <a:avLst/>
          </a:prstGeom>
          <a:noFill/>
        </p:spPr>
        <p:txBody>
          <a:bodyPr wrap="square">
            <a:spAutoFit/>
          </a:bodyPr>
          <a:lstStyle/>
          <a:p>
            <a:r>
              <a:rPr lang="en-US" sz="3200" dirty="0">
                <a:latin typeface="Times New Roman" panose="02020603050405020304" pitchFamily="18" charset="0"/>
              </a:rPr>
              <a:t>The </a:t>
            </a:r>
            <a:r>
              <a:rPr lang="en-US" sz="3200" dirty="0" err="1">
                <a:latin typeface="Times New Roman" panose="02020603050405020304" pitchFamily="18" charset="0"/>
              </a:rPr>
              <a:t>ptr</a:t>
            </a:r>
            <a:r>
              <a:rPr lang="en-US" sz="3200" dirty="0">
                <a:latin typeface="Times New Roman" panose="02020603050405020304" pitchFamily="18" charset="0"/>
              </a:rPr>
              <a:t> variable holds the address of num.</a:t>
            </a:r>
          </a:p>
          <a:p>
            <a:endParaRPr lang="en-US" sz="3200" dirty="0">
              <a:latin typeface="Times New Roman" panose="02020603050405020304" pitchFamily="18" charset="0"/>
            </a:endParaRPr>
          </a:p>
          <a:p>
            <a:r>
              <a:rPr lang="en-US" sz="3200" dirty="0">
                <a:solidFill>
                  <a:srgbClr val="0070C0"/>
                </a:solidFill>
                <a:latin typeface="Times New Roman" panose="02020603050405020304" pitchFamily="18" charset="0"/>
              </a:rPr>
              <a:t>int num=5;</a:t>
            </a:r>
          </a:p>
          <a:p>
            <a:r>
              <a:rPr lang="en-US" sz="3200" dirty="0">
                <a:solidFill>
                  <a:srgbClr val="0070C0"/>
                </a:solidFill>
                <a:latin typeface="Times New Roman" panose="02020603050405020304" pitchFamily="18" charset="0"/>
              </a:rPr>
              <a:t>int*  </a:t>
            </a:r>
            <a:r>
              <a:rPr lang="en-US" sz="3200" dirty="0" err="1">
                <a:solidFill>
                  <a:srgbClr val="0070C0"/>
                </a:solidFill>
                <a:latin typeface="Times New Roman" panose="02020603050405020304" pitchFamily="18" charset="0"/>
              </a:rPr>
              <a:t>ptr</a:t>
            </a:r>
            <a:r>
              <a:rPr lang="en-US" sz="3200" dirty="0">
                <a:solidFill>
                  <a:srgbClr val="0070C0"/>
                </a:solidFill>
                <a:latin typeface="Times New Roman" panose="02020603050405020304" pitchFamily="18" charset="0"/>
              </a:rPr>
              <a:t> = &amp;num;  //store address of num</a:t>
            </a:r>
          </a:p>
          <a:p>
            <a:endParaRPr lang="en-US" sz="3200" dirty="0">
              <a:solidFill>
                <a:srgbClr val="0070C0"/>
              </a:solidFill>
              <a:latin typeface="Times New Roman" panose="02020603050405020304" pitchFamily="18" charset="0"/>
            </a:endParaRPr>
          </a:p>
          <a:p>
            <a:r>
              <a:rPr lang="en-US" sz="3200" dirty="0">
                <a:solidFill>
                  <a:srgbClr val="0070C0"/>
                </a:solidFill>
                <a:latin typeface="Times New Roman" panose="02020603050405020304" pitchFamily="18" charset="0"/>
              </a:rPr>
              <a:t>int  *ptr2 = &amp;num; //int * and int* are same</a:t>
            </a:r>
          </a:p>
          <a:p>
            <a:r>
              <a:rPr lang="en-US" sz="3200" dirty="0">
                <a:latin typeface="Times New Roman" panose="02020603050405020304" pitchFamily="18" charset="0"/>
              </a:rPr>
              <a:t>    </a:t>
            </a:r>
          </a:p>
        </p:txBody>
      </p:sp>
      <p:sp>
        <p:nvSpPr>
          <p:cNvPr id="3" name="TextBox 2">
            <a:extLst>
              <a:ext uri="{FF2B5EF4-FFF2-40B4-BE49-F238E27FC236}">
                <a16:creationId xmlns:a16="http://schemas.microsoft.com/office/drawing/2014/main" id="{1ACE0E09-D8FA-D2D6-0AF0-18A41F1E59E9}"/>
              </a:ext>
            </a:extLst>
          </p:cNvPr>
          <p:cNvSpPr txBox="1"/>
          <p:nvPr/>
        </p:nvSpPr>
        <p:spPr>
          <a:xfrm>
            <a:off x="6879405" y="5528127"/>
            <a:ext cx="938535" cy="461665"/>
          </a:xfrm>
          <a:prstGeom prst="rect">
            <a:avLst/>
          </a:prstGeom>
          <a:noFill/>
        </p:spPr>
        <p:txBody>
          <a:bodyPr wrap="square" rtlCol="0">
            <a:spAutoFit/>
          </a:bodyPr>
          <a:lstStyle/>
          <a:p>
            <a:r>
              <a:rPr lang="en-US" sz="2400" dirty="0" err="1">
                <a:latin typeface="Times New Roman" panose="02020603050405020304" pitchFamily="18" charset="0"/>
              </a:rPr>
              <a:t>num</a:t>
            </a:r>
            <a:endParaRPr lang="en-US" sz="2400" dirty="0">
              <a:latin typeface="Times New Roman" panose="02020603050405020304" pitchFamily="18" charset="0"/>
            </a:endParaRPr>
          </a:p>
        </p:txBody>
      </p:sp>
      <p:graphicFrame>
        <p:nvGraphicFramePr>
          <p:cNvPr id="4" name="Table 3">
            <a:extLst>
              <a:ext uri="{FF2B5EF4-FFF2-40B4-BE49-F238E27FC236}">
                <a16:creationId xmlns:a16="http://schemas.microsoft.com/office/drawing/2014/main" id="{C557F22D-C514-D400-9DE4-F3B52A2EE82B}"/>
              </a:ext>
            </a:extLst>
          </p:cNvPr>
          <p:cNvGraphicFramePr>
            <a:graphicFrameLocks noGrp="1"/>
          </p:cNvGraphicFramePr>
          <p:nvPr/>
        </p:nvGraphicFramePr>
        <p:xfrm>
          <a:off x="7895819" y="5528126"/>
          <a:ext cx="395453" cy="457200"/>
        </p:xfrm>
        <a:graphic>
          <a:graphicData uri="http://schemas.openxmlformats.org/drawingml/2006/table">
            <a:tbl>
              <a:tblPr firstRow="1" bandRow="1">
                <a:tableStyleId>{5C22544A-7EE6-4342-B048-85BDC9FD1C3A}</a:tableStyleId>
              </a:tblPr>
              <a:tblGrid>
                <a:gridCol w="395453">
                  <a:extLst>
                    <a:ext uri="{9D8B030D-6E8A-4147-A177-3AD203B41FA5}">
                      <a16:colId xmlns:a16="http://schemas.microsoft.com/office/drawing/2014/main" val="3211877642"/>
                    </a:ext>
                  </a:extLst>
                </a:gridCol>
              </a:tblGrid>
              <a:tr h="323166">
                <a:tc>
                  <a:txBody>
                    <a:bodyPr/>
                    <a:lstStyle/>
                    <a:p>
                      <a:r>
                        <a:rPr lang="en-US" sz="2400" b="0" i="0" dirty="0">
                          <a:solidFill>
                            <a:schemeClr val="tx1"/>
                          </a:solidFill>
                          <a:latin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6643421"/>
                  </a:ext>
                </a:extLst>
              </a:tr>
            </a:tbl>
          </a:graphicData>
        </a:graphic>
      </p:graphicFrame>
      <p:graphicFrame>
        <p:nvGraphicFramePr>
          <p:cNvPr id="5" name="Table 4">
            <a:extLst>
              <a:ext uri="{FF2B5EF4-FFF2-40B4-BE49-F238E27FC236}">
                <a16:creationId xmlns:a16="http://schemas.microsoft.com/office/drawing/2014/main" id="{5A672298-B6D4-7FE8-4E63-F04574E98EEE}"/>
              </a:ext>
            </a:extLst>
          </p:cNvPr>
          <p:cNvGraphicFramePr>
            <a:graphicFrameLocks noGrp="1"/>
          </p:cNvGraphicFramePr>
          <p:nvPr/>
        </p:nvGraphicFramePr>
        <p:xfrm>
          <a:off x="7860126" y="6067201"/>
          <a:ext cx="1838679" cy="423574"/>
        </p:xfrm>
        <a:graphic>
          <a:graphicData uri="http://schemas.openxmlformats.org/drawingml/2006/table">
            <a:tbl>
              <a:tblPr firstRow="1" bandRow="1">
                <a:tableStyleId>{5C22544A-7EE6-4342-B048-85BDC9FD1C3A}</a:tableStyleId>
              </a:tblPr>
              <a:tblGrid>
                <a:gridCol w="1838679">
                  <a:extLst>
                    <a:ext uri="{9D8B030D-6E8A-4147-A177-3AD203B41FA5}">
                      <a16:colId xmlns:a16="http://schemas.microsoft.com/office/drawing/2014/main" val="3211877642"/>
                    </a:ext>
                  </a:extLst>
                </a:gridCol>
              </a:tblGrid>
              <a:tr h="4235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chemeClr val="tx1"/>
                          </a:solidFill>
                          <a:latin typeface="Times New Roman" panose="02020603050405020304" pitchFamily="18" charset="0"/>
                        </a:rPr>
                        <a:t>0x7ffc07b899e4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6643421"/>
                  </a:ext>
                </a:extLst>
              </a:tr>
            </a:tbl>
          </a:graphicData>
        </a:graphic>
      </p:graphicFrame>
      <p:sp>
        <p:nvSpPr>
          <p:cNvPr id="7" name="TextBox 6">
            <a:extLst>
              <a:ext uri="{FF2B5EF4-FFF2-40B4-BE49-F238E27FC236}">
                <a16:creationId xmlns:a16="http://schemas.microsoft.com/office/drawing/2014/main" id="{9D6F7F6E-33A4-6DF9-42EB-8A08F0F57648}"/>
              </a:ext>
            </a:extLst>
          </p:cNvPr>
          <p:cNvSpPr txBox="1"/>
          <p:nvPr/>
        </p:nvSpPr>
        <p:spPr>
          <a:xfrm>
            <a:off x="7208728" y="5931764"/>
            <a:ext cx="717526" cy="461665"/>
          </a:xfrm>
          <a:prstGeom prst="rect">
            <a:avLst/>
          </a:prstGeom>
          <a:noFill/>
        </p:spPr>
        <p:txBody>
          <a:bodyPr wrap="square" rtlCol="0">
            <a:spAutoFit/>
          </a:bodyPr>
          <a:lstStyle/>
          <a:p>
            <a:r>
              <a:rPr lang="en-US" sz="2400" dirty="0" err="1">
                <a:latin typeface="Times New Roman" panose="02020603050405020304" pitchFamily="18" charset="0"/>
              </a:rPr>
              <a:t>ptr</a:t>
            </a:r>
            <a:endParaRPr lang="en-US" sz="2400" dirty="0">
              <a:latin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939E2E6A-FAC3-FF17-661C-A37AB4D67CE6}"/>
              </a:ext>
            </a:extLst>
          </p:cNvPr>
          <p:cNvCxnSpPr/>
          <p:nvPr/>
        </p:nvCxnSpPr>
        <p:spPr>
          <a:xfrm flipH="1" flipV="1">
            <a:off x="8147263" y="5642041"/>
            <a:ext cx="244642" cy="476962"/>
          </a:xfrm>
          <a:prstGeom prst="straightConnector1">
            <a:avLst/>
          </a:prstGeom>
          <a:ln cap="rnd">
            <a:headEnd type="oval" w="lg" len="med"/>
            <a:tailEnd type="triangle" w="lg" len="med"/>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76943D4D-CF41-D821-1BAB-A8B630BA3311}"/>
              </a:ext>
            </a:extLst>
          </p:cNvPr>
          <p:cNvSpPr txBox="1"/>
          <p:nvPr/>
        </p:nvSpPr>
        <p:spPr>
          <a:xfrm>
            <a:off x="7513773" y="4843173"/>
            <a:ext cx="938535" cy="461665"/>
          </a:xfrm>
          <a:prstGeom prst="rect">
            <a:avLst/>
          </a:prstGeom>
          <a:noFill/>
        </p:spPr>
        <p:txBody>
          <a:bodyPr wrap="square" rtlCol="0">
            <a:spAutoFit/>
          </a:bodyPr>
          <a:lstStyle/>
          <a:p>
            <a:r>
              <a:rPr lang="en-US" sz="2400" dirty="0">
                <a:latin typeface="Times New Roman" panose="02020603050405020304" pitchFamily="18" charset="0"/>
              </a:rPr>
              <a:t>ptr2</a:t>
            </a:r>
          </a:p>
        </p:txBody>
      </p:sp>
      <p:graphicFrame>
        <p:nvGraphicFramePr>
          <p:cNvPr id="11" name="Table 10">
            <a:extLst>
              <a:ext uri="{FF2B5EF4-FFF2-40B4-BE49-F238E27FC236}">
                <a16:creationId xmlns:a16="http://schemas.microsoft.com/office/drawing/2014/main" id="{CF2B9E71-B11C-FCB1-1994-E57706A49A08}"/>
              </a:ext>
            </a:extLst>
          </p:cNvPr>
          <p:cNvGraphicFramePr>
            <a:graphicFrameLocks noGrp="1"/>
          </p:cNvGraphicFramePr>
          <p:nvPr/>
        </p:nvGraphicFramePr>
        <p:xfrm>
          <a:off x="8526116" y="4969219"/>
          <a:ext cx="1838679" cy="423574"/>
        </p:xfrm>
        <a:graphic>
          <a:graphicData uri="http://schemas.openxmlformats.org/drawingml/2006/table">
            <a:tbl>
              <a:tblPr firstRow="1" bandRow="1">
                <a:tableStyleId>{5C22544A-7EE6-4342-B048-85BDC9FD1C3A}</a:tableStyleId>
              </a:tblPr>
              <a:tblGrid>
                <a:gridCol w="1838679">
                  <a:extLst>
                    <a:ext uri="{9D8B030D-6E8A-4147-A177-3AD203B41FA5}">
                      <a16:colId xmlns:a16="http://schemas.microsoft.com/office/drawing/2014/main" val="3211877642"/>
                    </a:ext>
                  </a:extLst>
                </a:gridCol>
              </a:tblGrid>
              <a:tr h="4235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chemeClr val="tx1"/>
                          </a:solidFill>
                          <a:latin typeface="Times New Roman" panose="02020603050405020304" pitchFamily="18" charset="0"/>
                        </a:rPr>
                        <a:t>0x7ffc07b899e4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6643421"/>
                  </a:ext>
                </a:extLst>
              </a:tr>
            </a:tbl>
          </a:graphicData>
        </a:graphic>
      </p:graphicFrame>
      <p:cxnSp>
        <p:nvCxnSpPr>
          <p:cNvPr id="12" name="Straight Arrow Connector 11">
            <a:extLst>
              <a:ext uri="{FF2B5EF4-FFF2-40B4-BE49-F238E27FC236}">
                <a16:creationId xmlns:a16="http://schemas.microsoft.com/office/drawing/2014/main" id="{B71C0373-B403-5AEA-78C7-6DEEF9FAC407}"/>
              </a:ext>
            </a:extLst>
          </p:cNvPr>
          <p:cNvCxnSpPr>
            <a:cxnSpLocks/>
          </p:cNvCxnSpPr>
          <p:nvPr/>
        </p:nvCxnSpPr>
        <p:spPr>
          <a:xfrm flipH="1">
            <a:off x="8291272" y="5335842"/>
            <a:ext cx="398937" cy="192285"/>
          </a:xfrm>
          <a:prstGeom prst="straightConnector1">
            <a:avLst/>
          </a:prstGeom>
          <a:ln cap="rnd">
            <a:headEnd type="oval" w="lg" len="med"/>
            <a:tailEnd type="triangle" w="lg" len="med"/>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39408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9729" y="868236"/>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Pointers</a:t>
            </a:r>
          </a:p>
        </p:txBody>
      </p:sp>
      <p:sp>
        <p:nvSpPr>
          <p:cNvPr id="8" name="TextBox 7">
            <a:extLst>
              <a:ext uri="{FF2B5EF4-FFF2-40B4-BE49-F238E27FC236}">
                <a16:creationId xmlns:a16="http://schemas.microsoft.com/office/drawing/2014/main" id="{52E2E45F-5BEF-9E31-DDB2-D6E905F21FDA}"/>
              </a:ext>
            </a:extLst>
          </p:cNvPr>
          <p:cNvSpPr txBox="1"/>
          <p:nvPr/>
        </p:nvSpPr>
        <p:spPr>
          <a:xfrm>
            <a:off x="1085664" y="1952216"/>
            <a:ext cx="6868886" cy="4688000"/>
          </a:xfrm>
          <a:prstGeom prst="rect">
            <a:avLst/>
          </a:prstGeom>
          <a:noFill/>
        </p:spPr>
        <p:txBody>
          <a:bodyPr wrap="square">
            <a:spAutoFit/>
          </a:bodyPr>
          <a:lstStyle/>
          <a:p>
            <a:r>
              <a:rPr lang="en-US" sz="3200" dirty="0">
                <a:latin typeface="Times New Roman" panose="02020603050405020304" pitchFamily="18" charset="0"/>
              </a:rPr>
              <a:t>Pointers can be used to store memory addresses.</a:t>
            </a:r>
          </a:p>
          <a:p>
            <a:endParaRPr lang="en-US" sz="3200" dirty="0">
              <a:latin typeface="Times New Roman" panose="02020603050405020304" pitchFamily="18" charset="0"/>
            </a:endParaRPr>
          </a:p>
          <a:p>
            <a:r>
              <a:rPr lang="en-US" sz="3200" dirty="0">
                <a:solidFill>
                  <a:srgbClr val="0000FF"/>
                </a:solidFill>
                <a:latin typeface="Times New Roman" panose="02020603050405020304" pitchFamily="18" charset="0"/>
              </a:rPr>
              <a:t>int   age=5;</a:t>
            </a:r>
          </a:p>
          <a:p>
            <a:r>
              <a:rPr lang="en-US" sz="3200" dirty="0">
                <a:solidFill>
                  <a:srgbClr val="0000FF"/>
                </a:solidFill>
                <a:latin typeface="Times New Roman" panose="02020603050405020304" pitchFamily="18" charset="0"/>
              </a:rPr>
              <a:t>int*  </a:t>
            </a:r>
            <a:r>
              <a:rPr lang="en-US" sz="3200" dirty="0" err="1">
                <a:solidFill>
                  <a:srgbClr val="0000FF"/>
                </a:solidFill>
                <a:latin typeface="Times New Roman" panose="02020603050405020304" pitchFamily="18" charset="0"/>
              </a:rPr>
              <a:t>agePtr</a:t>
            </a:r>
            <a:r>
              <a:rPr lang="en-US" sz="3200" dirty="0">
                <a:solidFill>
                  <a:srgbClr val="0000FF"/>
                </a:solidFill>
                <a:latin typeface="Times New Roman" panose="02020603050405020304" pitchFamily="18" charset="0"/>
              </a:rPr>
              <a:t>=&amp;age; </a:t>
            </a:r>
          </a:p>
          <a:p>
            <a:r>
              <a:rPr lang="en-US" sz="3200" dirty="0">
                <a:solidFill>
                  <a:srgbClr val="0000FF"/>
                </a:solidFill>
                <a:latin typeface="Times New Roman" panose="02020603050405020304" pitchFamily="18" charset="0"/>
              </a:rPr>
              <a:t>char initial='H';</a:t>
            </a:r>
          </a:p>
          <a:p>
            <a:r>
              <a:rPr lang="en-US" sz="3200" dirty="0">
                <a:solidFill>
                  <a:srgbClr val="0000FF"/>
                </a:solidFill>
                <a:latin typeface="Times New Roman" panose="02020603050405020304" pitchFamily="18" charset="0"/>
              </a:rPr>
              <a:t>char *c=&amp;initial;          </a:t>
            </a:r>
          </a:p>
          <a:p>
            <a:r>
              <a:rPr lang="en-US" sz="3200" dirty="0">
                <a:solidFill>
                  <a:srgbClr val="0000FF"/>
                </a:solidFill>
                <a:latin typeface="Times New Roman" panose="02020603050405020304" pitchFamily="18" charset="0"/>
              </a:rPr>
              <a:t>float  </a:t>
            </a:r>
            <a:r>
              <a:rPr lang="en-US" sz="3200" dirty="0" err="1">
                <a:solidFill>
                  <a:srgbClr val="0000FF"/>
                </a:solidFill>
                <a:latin typeface="Times New Roman" panose="02020603050405020304" pitchFamily="18" charset="0"/>
              </a:rPr>
              <a:t>gpa</a:t>
            </a:r>
            <a:r>
              <a:rPr lang="en-US" sz="3200" dirty="0">
                <a:solidFill>
                  <a:srgbClr val="0000FF"/>
                </a:solidFill>
                <a:latin typeface="Times New Roman" panose="02020603050405020304" pitchFamily="18" charset="0"/>
              </a:rPr>
              <a:t>=3.5;</a:t>
            </a:r>
          </a:p>
          <a:p>
            <a:r>
              <a:rPr lang="en-US" sz="3200" dirty="0">
                <a:solidFill>
                  <a:srgbClr val="0000FF"/>
                </a:solidFill>
                <a:latin typeface="Times New Roman" panose="02020603050405020304" pitchFamily="18" charset="0"/>
              </a:rPr>
              <a:t>float * </a:t>
            </a:r>
            <a:r>
              <a:rPr lang="en-US" sz="3200" dirty="0" err="1">
                <a:solidFill>
                  <a:srgbClr val="0000FF"/>
                </a:solidFill>
                <a:latin typeface="Times New Roman" panose="02020603050405020304" pitchFamily="18" charset="0"/>
              </a:rPr>
              <a:t>gpaPtr</a:t>
            </a:r>
            <a:r>
              <a:rPr lang="en-US" sz="3200" dirty="0">
                <a:solidFill>
                  <a:srgbClr val="0000FF"/>
                </a:solidFill>
                <a:latin typeface="Times New Roman" panose="02020603050405020304" pitchFamily="18" charset="0"/>
              </a:rPr>
              <a:t>=&amp;</a:t>
            </a:r>
            <a:r>
              <a:rPr lang="en-US" sz="3200" dirty="0" err="1">
                <a:solidFill>
                  <a:srgbClr val="0000FF"/>
                </a:solidFill>
                <a:latin typeface="Times New Roman" panose="02020603050405020304" pitchFamily="18" charset="0"/>
              </a:rPr>
              <a:t>gpa</a:t>
            </a:r>
            <a:r>
              <a:rPr lang="en-US" sz="3200" dirty="0">
                <a:solidFill>
                  <a:srgbClr val="0000FF"/>
                </a:solidFill>
                <a:latin typeface="Times New Roman" panose="02020603050405020304" pitchFamily="18" charset="0"/>
              </a:rPr>
              <a:t>; </a:t>
            </a:r>
            <a:endParaRPr lang="en-US" sz="3200" dirty="0">
              <a:latin typeface="Times New Roman" panose="02020603050405020304" pitchFamily="18" charset="0"/>
            </a:endParaRPr>
          </a:p>
        </p:txBody>
      </p:sp>
      <p:sp>
        <p:nvSpPr>
          <p:cNvPr id="9" name="Rectangle 8">
            <a:extLst>
              <a:ext uri="{FF2B5EF4-FFF2-40B4-BE49-F238E27FC236}">
                <a16:creationId xmlns:a16="http://schemas.microsoft.com/office/drawing/2014/main" id="{EFD1CC0E-56BC-905B-4D21-25854D88F942}"/>
              </a:ext>
            </a:extLst>
          </p:cNvPr>
          <p:cNvSpPr/>
          <p:nvPr/>
        </p:nvSpPr>
        <p:spPr>
          <a:xfrm>
            <a:off x="8882743" y="3000816"/>
            <a:ext cx="12954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latin typeface="Times New Roman" panose="02020603050405020304" pitchFamily="18" charset="0"/>
              </a:rPr>
              <a:t>5</a:t>
            </a:r>
          </a:p>
        </p:txBody>
      </p:sp>
      <p:sp>
        <p:nvSpPr>
          <p:cNvPr id="10" name="Rectangle 9">
            <a:extLst>
              <a:ext uri="{FF2B5EF4-FFF2-40B4-BE49-F238E27FC236}">
                <a16:creationId xmlns:a16="http://schemas.microsoft.com/office/drawing/2014/main" id="{96BA5927-D7E1-683E-E99B-1BE1C556BDFD}"/>
              </a:ext>
            </a:extLst>
          </p:cNvPr>
          <p:cNvSpPr/>
          <p:nvPr/>
        </p:nvSpPr>
        <p:spPr>
          <a:xfrm>
            <a:off x="8882743" y="4296216"/>
            <a:ext cx="12954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latin typeface="Times New Roman" panose="02020603050405020304" pitchFamily="18" charset="0"/>
              </a:rPr>
              <a:t>H</a:t>
            </a:r>
          </a:p>
        </p:txBody>
      </p:sp>
      <p:sp>
        <p:nvSpPr>
          <p:cNvPr id="11" name="Rectangle 10">
            <a:extLst>
              <a:ext uri="{FF2B5EF4-FFF2-40B4-BE49-F238E27FC236}">
                <a16:creationId xmlns:a16="http://schemas.microsoft.com/office/drawing/2014/main" id="{E77CA090-BB19-2170-2971-71606D139EFB}"/>
              </a:ext>
            </a:extLst>
          </p:cNvPr>
          <p:cNvSpPr/>
          <p:nvPr/>
        </p:nvSpPr>
        <p:spPr>
          <a:xfrm>
            <a:off x="8882743" y="5744016"/>
            <a:ext cx="1295400" cy="60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latin typeface="Times New Roman" panose="02020603050405020304" pitchFamily="18" charset="0"/>
              </a:rPr>
              <a:t>3.5</a:t>
            </a:r>
          </a:p>
        </p:txBody>
      </p:sp>
      <p:sp>
        <p:nvSpPr>
          <p:cNvPr id="12" name="Rectangle 11">
            <a:extLst>
              <a:ext uri="{FF2B5EF4-FFF2-40B4-BE49-F238E27FC236}">
                <a16:creationId xmlns:a16="http://schemas.microsoft.com/office/drawing/2014/main" id="{A0FAD31F-D1C7-D921-6A03-B280BCA91115}"/>
              </a:ext>
            </a:extLst>
          </p:cNvPr>
          <p:cNvSpPr/>
          <p:nvPr/>
        </p:nvSpPr>
        <p:spPr>
          <a:xfrm>
            <a:off x="8950972" y="2391217"/>
            <a:ext cx="755335" cy="584775"/>
          </a:xfrm>
          <a:prstGeom prst="rect">
            <a:avLst/>
          </a:prstGeom>
          <a:noFill/>
        </p:spPr>
        <p:txBody>
          <a:bodyPr wrap="none" lIns="91440" tIns="45720" rIns="91440" bIns="45720">
            <a:spAutoFit/>
          </a:bodyPr>
          <a:lstStyle/>
          <a:p>
            <a:pPr algn="ctr"/>
            <a:r>
              <a:rPr lang="en-US" sz="320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rPr>
              <a:t>age</a:t>
            </a:r>
          </a:p>
        </p:txBody>
      </p:sp>
      <p:sp>
        <p:nvSpPr>
          <p:cNvPr id="13" name="Rectangle 12">
            <a:extLst>
              <a:ext uri="{FF2B5EF4-FFF2-40B4-BE49-F238E27FC236}">
                <a16:creationId xmlns:a16="http://schemas.microsoft.com/office/drawing/2014/main" id="{EC66355B-D48B-5C38-C540-E2FFB93583CD}"/>
              </a:ext>
            </a:extLst>
          </p:cNvPr>
          <p:cNvSpPr/>
          <p:nvPr/>
        </p:nvSpPr>
        <p:spPr>
          <a:xfrm>
            <a:off x="8757810" y="3686617"/>
            <a:ext cx="1141658" cy="584775"/>
          </a:xfrm>
          <a:prstGeom prst="rect">
            <a:avLst/>
          </a:prstGeom>
          <a:noFill/>
        </p:spPr>
        <p:txBody>
          <a:bodyPr wrap="none" lIns="91440" tIns="45720" rIns="91440" bIns="45720">
            <a:spAutoFit/>
          </a:bodyPr>
          <a:lstStyle/>
          <a:p>
            <a:pPr algn="ctr"/>
            <a:r>
              <a:rPr lang="en-US" sz="320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rPr>
              <a:t>initial</a:t>
            </a:r>
          </a:p>
        </p:txBody>
      </p:sp>
      <p:sp>
        <p:nvSpPr>
          <p:cNvPr id="14" name="Rectangle 13">
            <a:extLst>
              <a:ext uri="{FF2B5EF4-FFF2-40B4-BE49-F238E27FC236}">
                <a16:creationId xmlns:a16="http://schemas.microsoft.com/office/drawing/2014/main" id="{7ED8755F-6F05-01E1-62F2-23F7DF201D55}"/>
              </a:ext>
            </a:extLst>
          </p:cNvPr>
          <p:cNvSpPr/>
          <p:nvPr/>
        </p:nvSpPr>
        <p:spPr>
          <a:xfrm>
            <a:off x="8939751" y="5134417"/>
            <a:ext cx="777777" cy="584775"/>
          </a:xfrm>
          <a:prstGeom prst="rect">
            <a:avLst/>
          </a:prstGeom>
          <a:noFill/>
        </p:spPr>
        <p:txBody>
          <a:bodyPr wrap="none" lIns="91440" tIns="45720" rIns="91440" bIns="45720">
            <a:spAutoFit/>
          </a:bodyPr>
          <a:lstStyle/>
          <a:p>
            <a:pPr algn="ctr"/>
            <a:r>
              <a:rPr lang="en-US" sz="3200"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rPr>
              <a:t>gpa</a:t>
            </a:r>
            <a:endParaRPr lang="en-US" sz="320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endParaRPr>
          </a:p>
        </p:txBody>
      </p:sp>
      <p:sp>
        <p:nvSpPr>
          <p:cNvPr id="15" name="Rectangle 14">
            <a:extLst>
              <a:ext uri="{FF2B5EF4-FFF2-40B4-BE49-F238E27FC236}">
                <a16:creationId xmlns:a16="http://schemas.microsoft.com/office/drawing/2014/main" id="{941E0FDB-E2A9-079D-E140-E220F5347464}"/>
              </a:ext>
            </a:extLst>
          </p:cNvPr>
          <p:cNvSpPr/>
          <p:nvPr/>
        </p:nvSpPr>
        <p:spPr>
          <a:xfrm>
            <a:off x="6896148" y="2696017"/>
            <a:ext cx="1233030" cy="584775"/>
          </a:xfrm>
          <a:prstGeom prst="rect">
            <a:avLst/>
          </a:prstGeom>
          <a:noFill/>
        </p:spPr>
        <p:txBody>
          <a:bodyPr wrap="none" lIns="91440" tIns="45720" rIns="91440" bIns="45720">
            <a:spAutoFit/>
          </a:bodyPr>
          <a:lstStyle/>
          <a:p>
            <a:pPr algn="ctr"/>
            <a:r>
              <a:rPr lang="en-US" sz="3200"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rPr>
              <a:t>agePtr</a:t>
            </a:r>
            <a:endParaRPr lang="en-US" sz="320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endParaRPr>
          </a:p>
        </p:txBody>
      </p:sp>
      <p:sp>
        <p:nvSpPr>
          <p:cNvPr id="16" name="Rectangle 15">
            <a:extLst>
              <a:ext uri="{FF2B5EF4-FFF2-40B4-BE49-F238E27FC236}">
                <a16:creationId xmlns:a16="http://schemas.microsoft.com/office/drawing/2014/main" id="{F14FCFB3-DDAC-F8FA-FA1F-EAEE6B70BE4D}"/>
              </a:ext>
            </a:extLst>
          </p:cNvPr>
          <p:cNvSpPr/>
          <p:nvPr/>
        </p:nvSpPr>
        <p:spPr>
          <a:xfrm>
            <a:off x="7387996" y="3991417"/>
            <a:ext cx="367408" cy="584775"/>
          </a:xfrm>
          <a:prstGeom prst="rect">
            <a:avLst/>
          </a:prstGeom>
          <a:noFill/>
        </p:spPr>
        <p:txBody>
          <a:bodyPr wrap="none" lIns="91440" tIns="45720" rIns="91440" bIns="45720">
            <a:spAutoFit/>
          </a:bodyPr>
          <a:lstStyle/>
          <a:p>
            <a:pPr algn="ctr"/>
            <a:r>
              <a:rPr lang="en-US" sz="320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rPr>
              <a:t>c</a:t>
            </a:r>
          </a:p>
        </p:txBody>
      </p:sp>
      <p:sp>
        <p:nvSpPr>
          <p:cNvPr id="17" name="Rectangle 16">
            <a:extLst>
              <a:ext uri="{FF2B5EF4-FFF2-40B4-BE49-F238E27FC236}">
                <a16:creationId xmlns:a16="http://schemas.microsoft.com/office/drawing/2014/main" id="{D2196FEF-9DFB-1AB9-96FC-85A60719463C}"/>
              </a:ext>
            </a:extLst>
          </p:cNvPr>
          <p:cNvSpPr/>
          <p:nvPr/>
        </p:nvSpPr>
        <p:spPr>
          <a:xfrm>
            <a:off x="6943965" y="5439217"/>
            <a:ext cx="1255472" cy="584775"/>
          </a:xfrm>
          <a:prstGeom prst="rect">
            <a:avLst/>
          </a:prstGeom>
          <a:noFill/>
        </p:spPr>
        <p:txBody>
          <a:bodyPr wrap="none" lIns="91440" tIns="45720" rIns="91440" bIns="45720">
            <a:spAutoFit/>
          </a:bodyPr>
          <a:lstStyle/>
          <a:p>
            <a:pPr algn="ctr"/>
            <a:r>
              <a:rPr lang="en-US" sz="3200"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rPr>
              <a:t>gpaPtr</a:t>
            </a:r>
            <a:endParaRPr lang="en-US" sz="320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endParaRPr>
          </a:p>
        </p:txBody>
      </p:sp>
      <p:graphicFrame>
        <p:nvGraphicFramePr>
          <p:cNvPr id="18" name="Table 17">
            <a:extLst>
              <a:ext uri="{FF2B5EF4-FFF2-40B4-BE49-F238E27FC236}">
                <a16:creationId xmlns:a16="http://schemas.microsoft.com/office/drawing/2014/main" id="{566E001D-4B6A-9737-C00E-588DA4432DB5}"/>
              </a:ext>
            </a:extLst>
          </p:cNvPr>
          <p:cNvGraphicFramePr>
            <a:graphicFrameLocks noGrp="1"/>
          </p:cNvGraphicFramePr>
          <p:nvPr/>
        </p:nvGraphicFramePr>
        <p:xfrm>
          <a:off x="7211942" y="3250312"/>
          <a:ext cx="395453" cy="365760"/>
        </p:xfrm>
        <a:graphic>
          <a:graphicData uri="http://schemas.openxmlformats.org/drawingml/2006/table">
            <a:tbl>
              <a:tblPr firstRow="1" bandRow="1">
                <a:tableStyleId>{5C22544A-7EE6-4342-B048-85BDC9FD1C3A}</a:tableStyleId>
              </a:tblPr>
              <a:tblGrid>
                <a:gridCol w="395453">
                  <a:extLst>
                    <a:ext uri="{9D8B030D-6E8A-4147-A177-3AD203B41FA5}">
                      <a16:colId xmlns:a16="http://schemas.microsoft.com/office/drawing/2014/main" val="3211877642"/>
                    </a:ext>
                  </a:extLst>
                </a:gridCol>
              </a:tblGrid>
              <a:tr h="323166">
                <a:tc>
                  <a:txBody>
                    <a:bodyPr/>
                    <a:lstStyle/>
                    <a:p>
                      <a:endParaRPr lang="en-US" b="0" i="0" dirty="0">
                        <a:solidFill>
                          <a:schemeClr val="tx1"/>
                        </a:solidFill>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6643421"/>
                  </a:ext>
                </a:extLst>
              </a:tr>
            </a:tbl>
          </a:graphicData>
        </a:graphic>
      </p:graphicFrame>
      <p:cxnSp>
        <p:nvCxnSpPr>
          <p:cNvPr id="19" name="Straight Arrow Connector 18">
            <a:extLst>
              <a:ext uri="{FF2B5EF4-FFF2-40B4-BE49-F238E27FC236}">
                <a16:creationId xmlns:a16="http://schemas.microsoft.com/office/drawing/2014/main" id="{88885A2D-D1E0-133A-6BBA-3140E1D7F8D5}"/>
              </a:ext>
            </a:extLst>
          </p:cNvPr>
          <p:cNvCxnSpPr/>
          <p:nvPr/>
        </p:nvCxnSpPr>
        <p:spPr>
          <a:xfrm flipV="1">
            <a:off x="7447767" y="3199470"/>
            <a:ext cx="1358776" cy="228600"/>
          </a:xfrm>
          <a:prstGeom prst="straightConnector1">
            <a:avLst/>
          </a:prstGeom>
          <a:ln>
            <a:headEnd type="oval" w="lg" len="lg"/>
            <a:tailEnd type="arrow"/>
          </a:ln>
        </p:spPr>
        <p:style>
          <a:lnRef idx="2">
            <a:schemeClr val="accent1"/>
          </a:lnRef>
          <a:fillRef idx="0">
            <a:schemeClr val="accent1"/>
          </a:fillRef>
          <a:effectRef idx="1">
            <a:schemeClr val="accent1"/>
          </a:effectRef>
          <a:fontRef idx="minor">
            <a:schemeClr val="tx1"/>
          </a:fontRef>
        </p:style>
      </p:cxnSp>
      <p:graphicFrame>
        <p:nvGraphicFramePr>
          <p:cNvPr id="20" name="Table 19">
            <a:extLst>
              <a:ext uri="{FF2B5EF4-FFF2-40B4-BE49-F238E27FC236}">
                <a16:creationId xmlns:a16="http://schemas.microsoft.com/office/drawing/2014/main" id="{F798319B-B9C0-18BB-3705-439CEF271C4A}"/>
              </a:ext>
            </a:extLst>
          </p:cNvPr>
          <p:cNvGraphicFramePr>
            <a:graphicFrameLocks noGrp="1"/>
          </p:cNvGraphicFramePr>
          <p:nvPr/>
        </p:nvGraphicFramePr>
        <p:xfrm>
          <a:off x="7402846" y="4580780"/>
          <a:ext cx="395453" cy="365760"/>
        </p:xfrm>
        <a:graphic>
          <a:graphicData uri="http://schemas.openxmlformats.org/drawingml/2006/table">
            <a:tbl>
              <a:tblPr firstRow="1" bandRow="1">
                <a:tableStyleId>{5C22544A-7EE6-4342-B048-85BDC9FD1C3A}</a:tableStyleId>
              </a:tblPr>
              <a:tblGrid>
                <a:gridCol w="395453">
                  <a:extLst>
                    <a:ext uri="{9D8B030D-6E8A-4147-A177-3AD203B41FA5}">
                      <a16:colId xmlns:a16="http://schemas.microsoft.com/office/drawing/2014/main" val="3211877642"/>
                    </a:ext>
                  </a:extLst>
                </a:gridCol>
              </a:tblGrid>
              <a:tr h="323166">
                <a:tc>
                  <a:txBody>
                    <a:bodyPr/>
                    <a:lstStyle/>
                    <a:p>
                      <a:endParaRPr lang="en-US" b="0" i="0" dirty="0">
                        <a:solidFill>
                          <a:schemeClr val="tx1"/>
                        </a:solidFill>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6643421"/>
                  </a:ext>
                </a:extLst>
              </a:tr>
            </a:tbl>
          </a:graphicData>
        </a:graphic>
      </p:graphicFrame>
      <p:cxnSp>
        <p:nvCxnSpPr>
          <p:cNvPr id="21" name="Straight Arrow Connector 20">
            <a:extLst>
              <a:ext uri="{FF2B5EF4-FFF2-40B4-BE49-F238E27FC236}">
                <a16:creationId xmlns:a16="http://schemas.microsoft.com/office/drawing/2014/main" id="{E0D826D5-0954-D3F7-E17C-FF95BDCF4260}"/>
              </a:ext>
            </a:extLst>
          </p:cNvPr>
          <p:cNvCxnSpPr/>
          <p:nvPr/>
        </p:nvCxnSpPr>
        <p:spPr>
          <a:xfrm flipV="1">
            <a:off x="7638671" y="4529938"/>
            <a:ext cx="1358776" cy="228600"/>
          </a:xfrm>
          <a:prstGeom prst="straightConnector1">
            <a:avLst/>
          </a:prstGeom>
          <a:ln>
            <a:headEnd type="oval" w="lg" len="lg"/>
            <a:tailEnd type="arrow"/>
          </a:ln>
        </p:spPr>
        <p:style>
          <a:lnRef idx="2">
            <a:schemeClr val="accent1"/>
          </a:lnRef>
          <a:fillRef idx="0">
            <a:schemeClr val="accent1"/>
          </a:fillRef>
          <a:effectRef idx="1">
            <a:schemeClr val="accent1"/>
          </a:effectRef>
          <a:fontRef idx="minor">
            <a:schemeClr val="tx1"/>
          </a:fontRef>
        </p:style>
      </p:cxnSp>
      <p:graphicFrame>
        <p:nvGraphicFramePr>
          <p:cNvPr id="22" name="Table 21">
            <a:extLst>
              <a:ext uri="{FF2B5EF4-FFF2-40B4-BE49-F238E27FC236}">
                <a16:creationId xmlns:a16="http://schemas.microsoft.com/office/drawing/2014/main" id="{8163F13E-230D-281B-7947-2A31FB5592DA}"/>
              </a:ext>
            </a:extLst>
          </p:cNvPr>
          <p:cNvGraphicFramePr>
            <a:graphicFrameLocks noGrp="1"/>
          </p:cNvGraphicFramePr>
          <p:nvPr/>
        </p:nvGraphicFramePr>
        <p:xfrm>
          <a:off x="7447767" y="6023993"/>
          <a:ext cx="476860" cy="466783"/>
        </p:xfrm>
        <a:graphic>
          <a:graphicData uri="http://schemas.openxmlformats.org/drawingml/2006/table">
            <a:tbl>
              <a:tblPr firstRow="1" bandRow="1">
                <a:tableStyleId>{5C22544A-7EE6-4342-B048-85BDC9FD1C3A}</a:tableStyleId>
              </a:tblPr>
              <a:tblGrid>
                <a:gridCol w="476860">
                  <a:extLst>
                    <a:ext uri="{9D8B030D-6E8A-4147-A177-3AD203B41FA5}">
                      <a16:colId xmlns:a16="http://schemas.microsoft.com/office/drawing/2014/main" val="3211877642"/>
                    </a:ext>
                  </a:extLst>
                </a:gridCol>
              </a:tblGrid>
              <a:tr h="466783">
                <a:tc>
                  <a:txBody>
                    <a:bodyPr/>
                    <a:lstStyle/>
                    <a:p>
                      <a:endParaRPr lang="en-US" b="0" i="0" dirty="0">
                        <a:solidFill>
                          <a:schemeClr val="tx1"/>
                        </a:solidFill>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6643421"/>
                  </a:ext>
                </a:extLst>
              </a:tr>
            </a:tbl>
          </a:graphicData>
        </a:graphic>
      </p:graphicFrame>
      <p:cxnSp>
        <p:nvCxnSpPr>
          <p:cNvPr id="23" name="Straight Arrow Connector 22">
            <a:extLst>
              <a:ext uri="{FF2B5EF4-FFF2-40B4-BE49-F238E27FC236}">
                <a16:creationId xmlns:a16="http://schemas.microsoft.com/office/drawing/2014/main" id="{1EDB1768-8D96-1026-5C0C-CB9924E55626}"/>
              </a:ext>
            </a:extLst>
          </p:cNvPr>
          <p:cNvCxnSpPr/>
          <p:nvPr/>
        </p:nvCxnSpPr>
        <p:spPr>
          <a:xfrm flipV="1">
            <a:off x="7765000" y="6013860"/>
            <a:ext cx="1358776" cy="228600"/>
          </a:xfrm>
          <a:prstGeom prst="straightConnector1">
            <a:avLst/>
          </a:prstGeom>
          <a:ln>
            <a:headEnd type="oval" w="lg" len="lg"/>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9253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4742" y="735955"/>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Pointers</a:t>
            </a:r>
          </a:p>
        </p:txBody>
      </p:sp>
      <p:sp>
        <p:nvSpPr>
          <p:cNvPr id="4" name="TextBox 3">
            <a:extLst>
              <a:ext uri="{FF2B5EF4-FFF2-40B4-BE49-F238E27FC236}">
                <a16:creationId xmlns:a16="http://schemas.microsoft.com/office/drawing/2014/main" id="{83FA9359-52BC-C34E-82D2-2394F8E3EB0D}"/>
              </a:ext>
            </a:extLst>
          </p:cNvPr>
          <p:cNvSpPr txBox="1"/>
          <p:nvPr/>
        </p:nvSpPr>
        <p:spPr>
          <a:xfrm>
            <a:off x="926123" y="2128803"/>
            <a:ext cx="8383593" cy="4401205"/>
          </a:xfrm>
          <a:prstGeom prst="rect">
            <a:avLst/>
          </a:prstGeom>
          <a:noFill/>
        </p:spPr>
        <p:txBody>
          <a:bodyPr wrap="square">
            <a:spAutoFit/>
          </a:bodyPr>
          <a:lstStyle/>
          <a:p>
            <a:r>
              <a:rPr lang="en-US" sz="2800" dirty="0" err="1">
                <a:latin typeface="Times New Roman" panose="02020603050405020304" pitchFamily="18" charset="0"/>
              </a:rPr>
              <a:t>ptr</a:t>
            </a:r>
            <a:r>
              <a:rPr lang="en-US" sz="2800" dirty="0">
                <a:latin typeface="Times New Roman" panose="02020603050405020304" pitchFamily="18" charset="0"/>
              </a:rPr>
              <a:t> stores the address, *</a:t>
            </a:r>
            <a:r>
              <a:rPr lang="en-US" sz="2800" dirty="0" err="1">
                <a:latin typeface="Times New Roman" panose="02020603050405020304" pitchFamily="18" charset="0"/>
              </a:rPr>
              <a:t>ptr</a:t>
            </a:r>
            <a:r>
              <a:rPr lang="en-US" sz="2800" dirty="0">
                <a:latin typeface="Times New Roman" panose="02020603050405020304" pitchFamily="18" charset="0"/>
              </a:rPr>
              <a:t> to de-reference the pointer</a:t>
            </a:r>
          </a:p>
          <a:p>
            <a:endParaRPr lang="en-US" sz="2800" dirty="0">
              <a:latin typeface="Times New Roman" panose="02020603050405020304" pitchFamily="18" charset="0"/>
            </a:endParaRPr>
          </a:p>
          <a:p>
            <a:r>
              <a:rPr lang="en-US" sz="2800" dirty="0">
                <a:latin typeface="Times New Roman" panose="02020603050405020304" pitchFamily="18" charset="0"/>
              </a:rPr>
              <a:t>#include &lt;</a:t>
            </a:r>
            <a:r>
              <a:rPr lang="en-US" sz="2800" dirty="0" err="1">
                <a:latin typeface="Times New Roman" panose="02020603050405020304" pitchFamily="18" charset="0"/>
              </a:rPr>
              <a:t>stdio.h</a:t>
            </a:r>
            <a:r>
              <a:rPr lang="en-US" sz="2800" dirty="0">
                <a:latin typeface="Times New Roman" panose="02020603050405020304" pitchFamily="18" charset="0"/>
              </a:rPr>
              <a:t>&gt;</a:t>
            </a:r>
          </a:p>
          <a:p>
            <a:r>
              <a:rPr lang="en-US" sz="2800" dirty="0">
                <a:latin typeface="Times New Roman" panose="02020603050405020304" pitchFamily="18" charset="0"/>
              </a:rPr>
              <a:t>int main() {</a:t>
            </a:r>
          </a:p>
          <a:p>
            <a:r>
              <a:rPr lang="en-US" sz="2800" dirty="0">
                <a:latin typeface="Times New Roman" panose="02020603050405020304" pitchFamily="18" charset="0"/>
              </a:rPr>
              <a:t>    int num=5;</a:t>
            </a:r>
          </a:p>
          <a:p>
            <a:r>
              <a:rPr lang="en-US" sz="2800" dirty="0">
                <a:latin typeface="Times New Roman" panose="02020603050405020304" pitchFamily="18" charset="0"/>
              </a:rPr>
              <a:t>    int*  </a:t>
            </a:r>
            <a:r>
              <a:rPr lang="en-US" sz="2800" dirty="0" err="1">
                <a:latin typeface="Times New Roman" panose="02020603050405020304" pitchFamily="18" charset="0"/>
              </a:rPr>
              <a:t>ptr</a:t>
            </a:r>
            <a:r>
              <a:rPr lang="en-US" sz="2800" dirty="0">
                <a:latin typeface="Times New Roman" panose="02020603050405020304" pitchFamily="18" charset="0"/>
              </a:rPr>
              <a:t> = &amp;num;</a:t>
            </a:r>
          </a:p>
          <a:p>
            <a:r>
              <a:rPr lang="en-US" sz="2800" dirty="0">
                <a:latin typeface="Times New Roman" panose="02020603050405020304" pitchFamily="18" charset="0"/>
              </a:rPr>
              <a:t>    </a:t>
            </a:r>
            <a:r>
              <a:rPr lang="en-US" sz="2800" dirty="0" err="1">
                <a:latin typeface="Times New Roman" panose="02020603050405020304" pitchFamily="18" charset="0"/>
              </a:rPr>
              <a:t>printf</a:t>
            </a:r>
            <a:r>
              <a:rPr lang="en-US" sz="2800" dirty="0">
                <a:latin typeface="Times New Roman" panose="02020603050405020304" pitchFamily="18" charset="0"/>
              </a:rPr>
              <a:t>("num=%d &amp;num=%p\n", num, &amp;num); </a:t>
            </a:r>
            <a:br>
              <a:rPr lang="en-US" sz="2800" dirty="0">
                <a:latin typeface="Times New Roman" panose="02020603050405020304" pitchFamily="18" charset="0"/>
              </a:rPr>
            </a:br>
            <a:r>
              <a:rPr lang="en-US" sz="2800" dirty="0">
                <a:latin typeface="Times New Roman" panose="02020603050405020304" pitchFamily="18" charset="0"/>
              </a:rPr>
              <a:t>    </a:t>
            </a:r>
            <a:r>
              <a:rPr lang="en-US" sz="2800" dirty="0" err="1">
                <a:latin typeface="Times New Roman" panose="02020603050405020304" pitchFamily="18" charset="0"/>
              </a:rPr>
              <a:t>printf</a:t>
            </a:r>
            <a:r>
              <a:rPr lang="en-US" sz="2800" dirty="0">
                <a:latin typeface="Times New Roman" panose="02020603050405020304" pitchFamily="18" charset="0"/>
              </a:rPr>
              <a:t>("</a:t>
            </a:r>
            <a:r>
              <a:rPr lang="en-US" sz="2800" dirty="0" err="1">
                <a:latin typeface="Times New Roman" panose="02020603050405020304" pitchFamily="18" charset="0"/>
              </a:rPr>
              <a:t>ptr</a:t>
            </a:r>
            <a:r>
              <a:rPr lang="en-US" sz="2800" dirty="0">
                <a:latin typeface="Times New Roman" panose="02020603050405020304" pitchFamily="18" charset="0"/>
              </a:rPr>
              <a:t>=%p *</a:t>
            </a:r>
            <a:r>
              <a:rPr lang="en-US" sz="2800" dirty="0" err="1">
                <a:latin typeface="Times New Roman" panose="02020603050405020304" pitchFamily="18" charset="0"/>
              </a:rPr>
              <a:t>ptr</a:t>
            </a:r>
            <a:r>
              <a:rPr lang="en-US" sz="2800" dirty="0">
                <a:latin typeface="Times New Roman" panose="02020603050405020304" pitchFamily="18" charset="0"/>
              </a:rPr>
              <a:t>=%d\n", </a:t>
            </a:r>
            <a:r>
              <a:rPr lang="en-US" sz="2800" dirty="0" err="1">
                <a:latin typeface="Times New Roman" panose="02020603050405020304" pitchFamily="18" charset="0"/>
              </a:rPr>
              <a:t>ptr</a:t>
            </a:r>
            <a:r>
              <a:rPr lang="en-US" sz="2800" dirty="0">
                <a:latin typeface="Times New Roman" panose="02020603050405020304" pitchFamily="18" charset="0"/>
              </a:rPr>
              <a:t>, *</a:t>
            </a:r>
            <a:r>
              <a:rPr lang="en-US" sz="2800" dirty="0" err="1">
                <a:latin typeface="Times New Roman" panose="02020603050405020304" pitchFamily="18" charset="0"/>
              </a:rPr>
              <a:t>ptr</a:t>
            </a:r>
            <a:r>
              <a:rPr lang="en-US" sz="2800" dirty="0">
                <a:latin typeface="Times New Roman" panose="02020603050405020304" pitchFamily="18" charset="0"/>
              </a:rPr>
              <a:t>);</a:t>
            </a:r>
          </a:p>
          <a:p>
            <a:r>
              <a:rPr lang="en-US" sz="2800" dirty="0">
                <a:latin typeface="Times New Roman" panose="02020603050405020304" pitchFamily="18" charset="0"/>
              </a:rPr>
              <a:t>    return 0;</a:t>
            </a:r>
          </a:p>
          <a:p>
            <a:r>
              <a:rPr lang="en-US" sz="2800" dirty="0">
                <a:latin typeface="Times New Roman" panose="02020603050405020304" pitchFamily="18" charset="0"/>
              </a:rPr>
              <a:t> }</a:t>
            </a:r>
          </a:p>
        </p:txBody>
      </p:sp>
    </p:spTree>
    <p:extLst>
      <p:ext uri="{BB962C8B-B14F-4D97-AF65-F5344CB8AC3E}">
        <p14:creationId xmlns:p14="http://schemas.microsoft.com/office/powerpoint/2010/main" val="881926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2520" y="913522"/>
            <a:ext cx="6046419" cy="769441"/>
          </a:xfrm>
          <a:prstGeom prst="rect">
            <a:avLst/>
          </a:prstGeom>
          <a:noFill/>
        </p:spPr>
        <p:txBody>
          <a:bodyPr wrap="square" rtlCol="0">
            <a:spAutoFit/>
          </a:bodyPr>
          <a:lstStyle/>
          <a:p>
            <a:r>
              <a:rPr lang="en-US" sz="4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Pointers</a:t>
            </a:r>
          </a:p>
        </p:txBody>
      </p:sp>
      <p:sp>
        <p:nvSpPr>
          <p:cNvPr id="4" name="TextBox 3">
            <a:extLst>
              <a:ext uri="{FF2B5EF4-FFF2-40B4-BE49-F238E27FC236}">
                <a16:creationId xmlns:a16="http://schemas.microsoft.com/office/drawing/2014/main" id="{EAD3B2BE-7257-9B81-308A-E1163DE02A99}"/>
              </a:ext>
            </a:extLst>
          </p:cNvPr>
          <p:cNvSpPr txBox="1"/>
          <p:nvPr/>
        </p:nvSpPr>
        <p:spPr>
          <a:xfrm>
            <a:off x="795997" y="2104632"/>
            <a:ext cx="8686801" cy="3323987"/>
          </a:xfrm>
          <a:prstGeom prst="rect">
            <a:avLst/>
          </a:prstGeom>
          <a:noFill/>
        </p:spPr>
        <p:txBody>
          <a:bodyPr wrap="square">
            <a:spAutoFit/>
          </a:bodyPr>
          <a:lstStyle/>
          <a:p>
            <a:r>
              <a:rPr lang="en-US" sz="3000" dirty="0">
                <a:latin typeface="Times New Roman" panose="02020603050405020304" pitchFamily="18" charset="0"/>
              </a:rPr>
              <a:t>You can make a change to the variable num through the pointer or the variable.</a:t>
            </a:r>
          </a:p>
          <a:p>
            <a:r>
              <a:rPr lang="pt-BR" sz="3000" dirty="0" err="1">
                <a:solidFill>
                  <a:srgbClr val="0070C0"/>
                </a:solidFill>
                <a:latin typeface="Times New Roman" panose="02020603050405020304" pitchFamily="18" charset="0"/>
              </a:rPr>
              <a:t>int</a:t>
            </a:r>
            <a:r>
              <a:rPr lang="pt-BR" sz="3000" dirty="0">
                <a:solidFill>
                  <a:srgbClr val="0070C0"/>
                </a:solidFill>
                <a:latin typeface="Times New Roman" panose="02020603050405020304" pitchFamily="18" charset="0"/>
              </a:rPr>
              <a:t> num=5;</a:t>
            </a:r>
          </a:p>
          <a:p>
            <a:r>
              <a:rPr lang="pt-BR" sz="3000" dirty="0" err="1">
                <a:solidFill>
                  <a:srgbClr val="0070C0"/>
                </a:solidFill>
                <a:latin typeface="Times New Roman" panose="02020603050405020304" pitchFamily="18" charset="0"/>
              </a:rPr>
              <a:t>int</a:t>
            </a:r>
            <a:r>
              <a:rPr lang="pt-BR" sz="3000" dirty="0">
                <a:solidFill>
                  <a:srgbClr val="0070C0"/>
                </a:solidFill>
                <a:latin typeface="Times New Roman" panose="02020603050405020304" pitchFamily="18" charset="0"/>
              </a:rPr>
              <a:t>* </a:t>
            </a:r>
            <a:r>
              <a:rPr lang="pt-BR" sz="3000" dirty="0" err="1">
                <a:solidFill>
                  <a:srgbClr val="0070C0"/>
                </a:solidFill>
                <a:latin typeface="Times New Roman" panose="02020603050405020304" pitchFamily="18" charset="0"/>
              </a:rPr>
              <a:t>ptr</a:t>
            </a:r>
            <a:r>
              <a:rPr lang="pt-BR" sz="3000" dirty="0">
                <a:solidFill>
                  <a:srgbClr val="0070C0"/>
                </a:solidFill>
                <a:latin typeface="Times New Roman" panose="02020603050405020304" pitchFamily="18" charset="0"/>
              </a:rPr>
              <a:t> = &amp;num;</a:t>
            </a:r>
          </a:p>
          <a:p>
            <a:endParaRPr lang="pt-BR" sz="3000" dirty="0">
              <a:solidFill>
                <a:srgbClr val="0070C0"/>
              </a:solidFill>
              <a:latin typeface="Times New Roman" panose="02020603050405020304" pitchFamily="18" charset="0"/>
            </a:endParaRPr>
          </a:p>
          <a:p>
            <a:r>
              <a:rPr lang="pt-BR" sz="3000" dirty="0">
                <a:solidFill>
                  <a:srgbClr val="0070C0"/>
                </a:solidFill>
                <a:latin typeface="Times New Roman" panose="02020603050405020304" pitchFamily="18" charset="0"/>
              </a:rPr>
              <a:t>num++;  //</a:t>
            </a:r>
            <a:r>
              <a:rPr lang="pt-BR" sz="3000" dirty="0" err="1">
                <a:solidFill>
                  <a:srgbClr val="0070C0"/>
                </a:solidFill>
                <a:latin typeface="Times New Roman" panose="02020603050405020304" pitchFamily="18" charset="0"/>
              </a:rPr>
              <a:t>add</a:t>
            </a:r>
            <a:r>
              <a:rPr lang="pt-BR" sz="3000" dirty="0">
                <a:solidFill>
                  <a:srgbClr val="0070C0"/>
                </a:solidFill>
                <a:latin typeface="Times New Roman" panose="02020603050405020304" pitchFamily="18" charset="0"/>
              </a:rPr>
              <a:t> 1 </a:t>
            </a:r>
            <a:r>
              <a:rPr lang="pt-BR" sz="3000" dirty="0" err="1">
                <a:solidFill>
                  <a:srgbClr val="0070C0"/>
                </a:solidFill>
                <a:latin typeface="Times New Roman" panose="02020603050405020304" pitchFamily="18" charset="0"/>
              </a:rPr>
              <a:t>to</a:t>
            </a:r>
            <a:r>
              <a:rPr lang="pt-BR" sz="3000" dirty="0">
                <a:solidFill>
                  <a:srgbClr val="0070C0"/>
                </a:solidFill>
                <a:latin typeface="Times New Roman" panose="02020603050405020304" pitchFamily="18" charset="0"/>
              </a:rPr>
              <a:t> num</a:t>
            </a:r>
          </a:p>
          <a:p>
            <a:r>
              <a:rPr lang="pt-BR" sz="3000" dirty="0">
                <a:solidFill>
                  <a:srgbClr val="0070C0"/>
                </a:solidFill>
                <a:latin typeface="Times New Roman" panose="02020603050405020304" pitchFamily="18" charset="0"/>
              </a:rPr>
              <a:t>(*</a:t>
            </a:r>
            <a:r>
              <a:rPr lang="pt-BR" sz="3000" dirty="0" err="1">
                <a:solidFill>
                  <a:srgbClr val="0070C0"/>
                </a:solidFill>
                <a:latin typeface="Times New Roman" panose="02020603050405020304" pitchFamily="18" charset="0"/>
              </a:rPr>
              <a:t>ptr</a:t>
            </a:r>
            <a:r>
              <a:rPr lang="pt-BR" sz="3000" dirty="0">
                <a:solidFill>
                  <a:srgbClr val="0070C0"/>
                </a:solidFill>
                <a:latin typeface="Times New Roman" panose="02020603050405020304" pitchFamily="18" charset="0"/>
              </a:rPr>
              <a:t>)++; //</a:t>
            </a:r>
            <a:r>
              <a:rPr lang="pt-BR" sz="3000" dirty="0" err="1">
                <a:solidFill>
                  <a:srgbClr val="0070C0"/>
                </a:solidFill>
                <a:latin typeface="Times New Roman" panose="02020603050405020304" pitchFamily="18" charset="0"/>
              </a:rPr>
              <a:t>add</a:t>
            </a:r>
            <a:r>
              <a:rPr lang="pt-BR" sz="3000" dirty="0">
                <a:solidFill>
                  <a:srgbClr val="0070C0"/>
                </a:solidFill>
                <a:latin typeface="Times New Roman" panose="02020603050405020304" pitchFamily="18" charset="0"/>
              </a:rPr>
              <a:t> 1 </a:t>
            </a:r>
            <a:r>
              <a:rPr lang="pt-BR" sz="3000" dirty="0" err="1">
                <a:solidFill>
                  <a:srgbClr val="0070C0"/>
                </a:solidFill>
                <a:latin typeface="Times New Roman" panose="02020603050405020304" pitchFamily="18" charset="0"/>
              </a:rPr>
              <a:t>to</a:t>
            </a:r>
            <a:r>
              <a:rPr lang="pt-BR" sz="3000" dirty="0">
                <a:solidFill>
                  <a:srgbClr val="0070C0"/>
                </a:solidFill>
                <a:latin typeface="Times New Roman" panose="02020603050405020304" pitchFamily="18" charset="0"/>
              </a:rPr>
              <a:t> num (</a:t>
            </a:r>
            <a:r>
              <a:rPr lang="pt-BR" sz="3000" dirty="0" err="1">
                <a:solidFill>
                  <a:srgbClr val="0070C0"/>
                </a:solidFill>
                <a:latin typeface="Times New Roman" panose="02020603050405020304" pitchFamily="18" charset="0"/>
              </a:rPr>
              <a:t>because</a:t>
            </a:r>
            <a:r>
              <a:rPr lang="pt-BR" sz="3000" dirty="0">
                <a:solidFill>
                  <a:srgbClr val="0070C0"/>
                </a:solidFill>
                <a:latin typeface="Times New Roman" panose="02020603050405020304" pitchFamily="18" charset="0"/>
              </a:rPr>
              <a:t> </a:t>
            </a:r>
            <a:r>
              <a:rPr lang="pt-BR" sz="3000" dirty="0" err="1">
                <a:solidFill>
                  <a:srgbClr val="0070C0"/>
                </a:solidFill>
                <a:latin typeface="Times New Roman" panose="02020603050405020304" pitchFamily="18" charset="0"/>
              </a:rPr>
              <a:t>ptr</a:t>
            </a:r>
            <a:r>
              <a:rPr lang="pt-BR" sz="3000" dirty="0">
                <a:solidFill>
                  <a:srgbClr val="0070C0"/>
                </a:solidFill>
                <a:latin typeface="Times New Roman" panose="02020603050405020304" pitchFamily="18" charset="0"/>
              </a:rPr>
              <a:t> points </a:t>
            </a:r>
            <a:r>
              <a:rPr lang="pt-BR" sz="3000" dirty="0" err="1">
                <a:solidFill>
                  <a:srgbClr val="0070C0"/>
                </a:solidFill>
                <a:latin typeface="Times New Roman" panose="02020603050405020304" pitchFamily="18" charset="0"/>
              </a:rPr>
              <a:t>at</a:t>
            </a:r>
            <a:r>
              <a:rPr lang="pt-BR" sz="3000" dirty="0">
                <a:solidFill>
                  <a:srgbClr val="0070C0"/>
                </a:solidFill>
                <a:latin typeface="Times New Roman" panose="02020603050405020304" pitchFamily="18" charset="0"/>
              </a:rPr>
              <a:t> num)</a:t>
            </a:r>
          </a:p>
        </p:txBody>
      </p:sp>
    </p:spTree>
    <p:extLst>
      <p:ext uri="{BB962C8B-B14F-4D97-AF65-F5344CB8AC3E}">
        <p14:creationId xmlns:p14="http://schemas.microsoft.com/office/powerpoint/2010/main" val="4011838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981200" y="76200"/>
            <a:ext cx="8229600" cy="990600"/>
          </a:xfrm>
        </p:spPr>
        <p:txBody>
          <a:bodyPr/>
          <a:lstStyle/>
          <a:p>
            <a:r>
              <a:rPr lang="en-US" dirty="0">
                <a:solidFill>
                  <a:schemeClr val="bg1"/>
                </a:solidFill>
              </a:rPr>
              <a:t>Pointers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0585" y="342900"/>
            <a:ext cx="7569031" cy="6286500"/>
          </a:xfrm>
          <a:prstGeom prst="rect">
            <a:avLst/>
          </a:prstGeom>
        </p:spPr>
      </p:pic>
    </p:spTree>
    <p:extLst>
      <p:ext uri="{BB962C8B-B14F-4D97-AF65-F5344CB8AC3E}">
        <p14:creationId xmlns:p14="http://schemas.microsoft.com/office/powerpoint/2010/main" val="344207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6607" y="784485"/>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Why use Pointers</a:t>
            </a:r>
          </a:p>
        </p:txBody>
      </p:sp>
      <p:sp>
        <p:nvSpPr>
          <p:cNvPr id="4" name="TextBox 3">
            <a:extLst>
              <a:ext uri="{FF2B5EF4-FFF2-40B4-BE49-F238E27FC236}">
                <a16:creationId xmlns:a16="http://schemas.microsoft.com/office/drawing/2014/main" id="{9A837A51-5BA1-A942-1CF6-6DEB8F5D1A00}"/>
              </a:ext>
            </a:extLst>
          </p:cNvPr>
          <p:cNvSpPr txBox="1"/>
          <p:nvPr/>
        </p:nvSpPr>
        <p:spPr>
          <a:xfrm>
            <a:off x="1904203" y="2103197"/>
            <a:ext cx="8383593" cy="3970318"/>
          </a:xfrm>
          <a:prstGeom prst="rect">
            <a:avLst/>
          </a:prstGeom>
          <a:noFill/>
        </p:spPr>
        <p:txBody>
          <a:bodyPr wrap="square">
            <a:spAutoFit/>
          </a:bodyPr>
          <a:lstStyle/>
          <a:p>
            <a:r>
              <a:rPr lang="en-US" sz="2800" dirty="0">
                <a:latin typeface="Times New Roman" panose="02020603050405020304" pitchFamily="18" charset="0"/>
              </a:rPr>
              <a:t>One of the main reasons to use pointers is you want the function to have the ability to make changes to memory instead of working with a copy.</a:t>
            </a:r>
          </a:p>
          <a:p>
            <a:endParaRPr lang="en-US" sz="2800" dirty="0">
              <a:latin typeface="Times New Roman" panose="02020603050405020304" pitchFamily="18" charset="0"/>
            </a:endParaRPr>
          </a:p>
          <a:p>
            <a:r>
              <a:rPr lang="en-US" sz="2800" dirty="0">
                <a:latin typeface="Times New Roman" panose="02020603050405020304" pitchFamily="18" charset="0"/>
              </a:rPr>
              <a:t>It can be a huge performance improvement when working with large arrays.</a:t>
            </a:r>
          </a:p>
          <a:p>
            <a:endParaRPr lang="en-US" sz="2800" dirty="0">
              <a:latin typeface="Times New Roman" panose="02020603050405020304" pitchFamily="18" charset="0"/>
            </a:endParaRPr>
          </a:p>
          <a:p>
            <a:r>
              <a:rPr lang="en-US" sz="2800" dirty="0">
                <a:latin typeface="Times New Roman" panose="02020603050405020304" pitchFamily="18" charset="0"/>
              </a:rPr>
              <a:t>Pointers will also allow us to create more complex data structures like linked lists.</a:t>
            </a:r>
          </a:p>
        </p:txBody>
      </p:sp>
    </p:spTree>
    <p:extLst>
      <p:ext uri="{BB962C8B-B14F-4D97-AF65-F5344CB8AC3E}">
        <p14:creationId xmlns:p14="http://schemas.microsoft.com/office/powerpoint/2010/main" val="1015451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7643F4-4664-C26F-53FD-7A5537B24600}"/>
              </a:ext>
            </a:extLst>
          </p:cNvPr>
          <p:cNvSpPr/>
          <p:nvPr/>
        </p:nvSpPr>
        <p:spPr>
          <a:xfrm>
            <a:off x="1909764" y="2276475"/>
            <a:ext cx="4594451" cy="438558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6147" name="Rectangle 2" descr=" 6147"/>
          <p:cNvSpPr>
            <a:spLocks noGrp="1" noChangeArrowheads="1"/>
          </p:cNvSpPr>
          <p:nvPr>
            <p:ph type="title"/>
          </p:nvPr>
        </p:nvSpPr>
        <p:spPr>
          <a:xfrm>
            <a:off x="671807" y="216250"/>
            <a:ext cx="10502471" cy="1325563"/>
          </a:xfrm>
        </p:spPr>
        <p:txBody>
          <a:bodyPr>
            <a:noAutofit/>
          </a:bodyPr>
          <a:lstStyle/>
          <a:p>
            <a:pPr eaLnBrk="1" hangingPunct="1"/>
            <a:r>
              <a:rPr lang="en-US" sz="4400" cap="none" dirty="0"/>
              <a:t>Passing Arguments To Functions In C </a:t>
            </a:r>
          </a:p>
        </p:txBody>
      </p:sp>
      <p:sp>
        <p:nvSpPr>
          <p:cNvPr id="6148" name="Rectangle 3" descr=" 6148"/>
          <p:cNvSpPr>
            <a:spLocks noGrp="1" noChangeArrowheads="1"/>
          </p:cNvSpPr>
          <p:nvPr>
            <p:ph type="body" idx="1"/>
          </p:nvPr>
        </p:nvSpPr>
        <p:spPr>
          <a:xfrm>
            <a:off x="318392" y="1758729"/>
            <a:ext cx="11412342" cy="935037"/>
          </a:xfrm>
        </p:spPr>
        <p:txBody>
          <a:bodyPr>
            <a:normAutofit fontScale="92500"/>
          </a:bodyPr>
          <a:lstStyle/>
          <a:p>
            <a:pPr marL="0" indent="0">
              <a:buNone/>
            </a:pPr>
            <a:r>
              <a:rPr lang="en-US" sz="2800" dirty="0"/>
              <a:t>The </a:t>
            </a:r>
            <a:r>
              <a:rPr lang="en-US" sz="2800" i="1" dirty="0"/>
              <a:t>only</a:t>
            </a:r>
            <a:r>
              <a:rPr lang="en-US" sz="2800" dirty="0"/>
              <a:t> way C passes argument values into functions is by copying (pass-by-value)</a:t>
            </a:r>
          </a:p>
          <a:p>
            <a:pPr marL="0" indent="0"/>
            <a:endParaRPr lang="en-US" dirty="0"/>
          </a:p>
        </p:txBody>
      </p:sp>
      <p:sp>
        <p:nvSpPr>
          <p:cNvPr id="387076" name="Text Box 4" descr=" 387076"/>
          <p:cNvSpPr txBox="1">
            <a:spLocks noChangeArrowheads="1"/>
          </p:cNvSpPr>
          <p:nvPr/>
        </p:nvSpPr>
        <p:spPr bwMode="auto">
          <a:xfrm>
            <a:off x="2208213" y="2492375"/>
            <a:ext cx="3816350" cy="1081088"/>
          </a:xfrm>
          <a:prstGeom prst="rect">
            <a:avLst/>
          </a:prstGeom>
          <a:solidFill>
            <a:srgbClr val="FFFFFF"/>
          </a:solidFill>
          <a:ln w="9525" algn="ctr">
            <a:noFill/>
            <a:miter lim="800000"/>
            <a:headEnd/>
            <a:tailEnd/>
          </a:ln>
          <a:effectLst>
            <a:outerShdw blurRad="50800" dist="38100" dir="2700000" algn="tl" rotWithShape="0">
              <a:prstClr val="black">
                <a:alpha val="40000"/>
              </a:prstClr>
            </a:outerShdw>
          </a:effectLst>
        </p:spPr>
        <p:txBody>
          <a:bodyPr/>
          <a:lstStyle/>
          <a:p>
            <a:pPr marL="174625" indent="-174625">
              <a:lnSpc>
                <a:spcPct val="80000"/>
              </a:lnSpc>
              <a:spcBef>
                <a:spcPct val="50000"/>
              </a:spcBef>
              <a:defRPr/>
            </a:pPr>
            <a:r>
              <a:rPr lang="en-US" sz="2000" dirty="0">
                <a:latin typeface="Times New Roman" panose="02020603050405020304" pitchFamily="18" charset="0"/>
              </a:rPr>
              <a:t>int funct1(int param1)</a:t>
            </a:r>
          </a:p>
          <a:p>
            <a:pPr marL="174625" indent="-174625">
              <a:lnSpc>
                <a:spcPct val="30000"/>
              </a:lnSpc>
              <a:spcBef>
                <a:spcPct val="50000"/>
              </a:spcBef>
              <a:defRPr/>
            </a:pPr>
            <a:r>
              <a:rPr lang="en-US" sz="2000" dirty="0">
                <a:latin typeface="Times New Roman" panose="02020603050405020304" pitchFamily="18" charset="0"/>
              </a:rPr>
              <a:t>{</a:t>
            </a:r>
          </a:p>
          <a:p>
            <a:pPr marL="174625" indent="-174625">
              <a:lnSpc>
                <a:spcPct val="0"/>
              </a:lnSpc>
              <a:spcBef>
                <a:spcPct val="50000"/>
              </a:spcBef>
              <a:defRPr/>
            </a:pPr>
            <a:r>
              <a:rPr lang="en-US" dirty="0">
                <a:latin typeface="Times New Roman" panose="02020603050405020304" pitchFamily="18" charset="0"/>
              </a:rPr>
              <a:t>  /* function body */</a:t>
            </a:r>
            <a:r>
              <a:rPr lang="en-US" sz="2000" dirty="0">
                <a:latin typeface="Times New Roman" panose="02020603050405020304" pitchFamily="18" charset="0"/>
              </a:rPr>
              <a:t> </a:t>
            </a:r>
          </a:p>
          <a:p>
            <a:pPr marL="174625" indent="-174625">
              <a:lnSpc>
                <a:spcPct val="40000"/>
              </a:lnSpc>
              <a:spcBef>
                <a:spcPct val="50000"/>
              </a:spcBef>
              <a:defRPr/>
            </a:pPr>
            <a:r>
              <a:rPr lang="en-US" sz="2000" dirty="0">
                <a:latin typeface="Times New Roman" panose="02020603050405020304" pitchFamily="18" charset="0"/>
              </a:rPr>
              <a:t>}</a:t>
            </a:r>
          </a:p>
        </p:txBody>
      </p:sp>
      <p:sp>
        <p:nvSpPr>
          <p:cNvPr id="387077" name="Text Box 5" descr=" 387077"/>
          <p:cNvSpPr txBox="1">
            <a:spLocks noChangeArrowheads="1"/>
          </p:cNvSpPr>
          <p:nvPr/>
        </p:nvSpPr>
        <p:spPr bwMode="auto">
          <a:xfrm>
            <a:off x="2208213" y="3789364"/>
            <a:ext cx="3816350" cy="2139047"/>
          </a:xfrm>
          <a:prstGeom prst="rect">
            <a:avLst/>
          </a:prstGeom>
          <a:solidFill>
            <a:srgbClr val="FFFFFF"/>
          </a:solidFill>
          <a:ln w="9525" algn="ctr">
            <a:noFill/>
            <a:miter lim="800000"/>
            <a:headEnd/>
            <a:tailEnd/>
          </a:ln>
          <a:effectLst>
            <a:outerShdw blurRad="50800" dist="38100" dir="2700000" algn="tl" rotWithShape="0">
              <a:prstClr val="black">
                <a:alpha val="40000"/>
              </a:prstClr>
            </a:outerShdw>
          </a:effectLst>
        </p:spPr>
        <p:txBody>
          <a:bodyPr>
            <a:spAutoFit/>
          </a:bodyPr>
          <a:lstStyle/>
          <a:p>
            <a:pPr marL="174625" indent="-174625">
              <a:lnSpc>
                <a:spcPct val="50000"/>
              </a:lnSpc>
              <a:spcBef>
                <a:spcPct val="50000"/>
              </a:spcBef>
              <a:defRPr/>
            </a:pPr>
            <a:endParaRPr lang="en-US" sz="800" dirty="0">
              <a:latin typeface="Times New Roman" panose="02020603050405020304" pitchFamily="18" charset="0"/>
            </a:endParaRPr>
          </a:p>
          <a:p>
            <a:pPr marL="174625" indent="-174625">
              <a:lnSpc>
                <a:spcPct val="50000"/>
              </a:lnSpc>
              <a:spcBef>
                <a:spcPct val="50000"/>
              </a:spcBef>
              <a:defRPr/>
            </a:pPr>
            <a:r>
              <a:rPr lang="en-US" sz="2000" dirty="0" err="1">
                <a:latin typeface="Times New Roman" panose="02020603050405020304" pitchFamily="18" charset="0"/>
              </a:rPr>
              <a:t>int</a:t>
            </a:r>
            <a:r>
              <a:rPr lang="en-US" sz="2000" dirty="0">
                <a:latin typeface="Times New Roman" panose="02020603050405020304" pitchFamily="18" charset="0"/>
              </a:rPr>
              <a:t> main()</a:t>
            </a:r>
          </a:p>
          <a:p>
            <a:pPr marL="174625" indent="-174625">
              <a:lnSpc>
                <a:spcPct val="50000"/>
              </a:lnSpc>
              <a:spcBef>
                <a:spcPct val="50000"/>
              </a:spcBef>
              <a:defRPr/>
            </a:pPr>
            <a:r>
              <a:rPr lang="en-US" sz="2000" dirty="0">
                <a:latin typeface="Times New Roman" panose="02020603050405020304" pitchFamily="18" charset="0"/>
              </a:rPr>
              <a:t>{</a:t>
            </a:r>
          </a:p>
          <a:p>
            <a:pPr marL="174625" indent="-174625">
              <a:lnSpc>
                <a:spcPct val="50000"/>
              </a:lnSpc>
              <a:spcBef>
                <a:spcPct val="50000"/>
              </a:spcBef>
              <a:defRPr/>
            </a:pPr>
            <a:r>
              <a:rPr lang="en-US" sz="2000" dirty="0">
                <a:latin typeface="Times New Roman" panose="02020603050405020304" pitchFamily="18" charset="0"/>
              </a:rPr>
              <a:t> </a:t>
            </a:r>
            <a:r>
              <a:rPr lang="en-US" sz="2000" dirty="0" err="1">
                <a:latin typeface="Times New Roman" panose="02020603050405020304" pitchFamily="18" charset="0"/>
              </a:rPr>
              <a:t>int</a:t>
            </a:r>
            <a:r>
              <a:rPr lang="en-US" sz="2000" dirty="0">
                <a:latin typeface="Times New Roman" panose="02020603050405020304" pitchFamily="18" charset="0"/>
              </a:rPr>
              <a:t> x;</a:t>
            </a:r>
          </a:p>
          <a:p>
            <a:pPr marL="174625" indent="-174625">
              <a:lnSpc>
                <a:spcPct val="50000"/>
              </a:lnSpc>
              <a:spcBef>
                <a:spcPct val="50000"/>
              </a:spcBef>
              <a:defRPr/>
            </a:pPr>
            <a:r>
              <a:rPr lang="en-US" sz="2000" dirty="0">
                <a:latin typeface="Times New Roman" panose="02020603050405020304" pitchFamily="18" charset="0"/>
              </a:rPr>
              <a:t> while (…)  </a:t>
            </a:r>
          </a:p>
          <a:p>
            <a:pPr marL="174625" indent="-174625">
              <a:lnSpc>
                <a:spcPct val="50000"/>
              </a:lnSpc>
              <a:spcBef>
                <a:spcPct val="50000"/>
              </a:spcBef>
              <a:defRPr/>
            </a:pPr>
            <a:r>
              <a:rPr lang="en-US" sz="2000" dirty="0">
                <a:latin typeface="Times New Roman" panose="02020603050405020304" pitchFamily="18" charset="0"/>
              </a:rPr>
              <a:t>   x = 2*funct1( 5*2  ); </a:t>
            </a:r>
          </a:p>
          <a:p>
            <a:pPr marL="174625" indent="-174625">
              <a:lnSpc>
                <a:spcPct val="50000"/>
              </a:lnSpc>
              <a:spcBef>
                <a:spcPct val="50000"/>
              </a:spcBef>
              <a:defRPr/>
            </a:pPr>
            <a:r>
              <a:rPr lang="en-US" sz="2000" dirty="0">
                <a:latin typeface="Times New Roman" panose="02020603050405020304" pitchFamily="18" charset="0"/>
              </a:rPr>
              <a:t>}</a:t>
            </a:r>
            <a:endParaRPr lang="en-US" sz="800" dirty="0">
              <a:latin typeface="Times New Roman" panose="02020603050405020304" pitchFamily="18" charset="0"/>
            </a:endParaRPr>
          </a:p>
          <a:p>
            <a:pPr marL="174625" indent="-174625">
              <a:lnSpc>
                <a:spcPct val="50000"/>
              </a:lnSpc>
              <a:spcBef>
                <a:spcPct val="50000"/>
              </a:spcBef>
              <a:defRPr/>
            </a:pPr>
            <a:endParaRPr lang="en-US" sz="800" dirty="0">
              <a:latin typeface="Times New Roman" panose="02020603050405020304" pitchFamily="18" charset="0"/>
            </a:endParaRPr>
          </a:p>
        </p:txBody>
      </p:sp>
      <p:sp>
        <p:nvSpPr>
          <p:cNvPr id="7" name="When it compiles" descr=" 387079">
            <a:extLst>
              <a:ext uri="{FF2B5EF4-FFF2-40B4-BE49-F238E27FC236}">
                <a16:creationId xmlns:a16="http://schemas.microsoft.com/office/drawing/2014/main" id="{CB7157AD-7BD1-474A-8876-B923EAB221C2}"/>
              </a:ext>
            </a:extLst>
          </p:cNvPr>
          <p:cNvSpPr>
            <a:spLocks noChangeArrowheads="1"/>
          </p:cNvSpPr>
          <p:nvPr/>
        </p:nvSpPr>
        <p:spPr bwMode="auto">
          <a:xfrm>
            <a:off x="6383338" y="2420938"/>
            <a:ext cx="3816350" cy="2544957"/>
          </a:xfrm>
          <a:prstGeom prst="wedgeRoundRectCallout">
            <a:avLst>
              <a:gd name="adj1" fmla="val -69060"/>
              <a:gd name="adj2" fmla="val -32917"/>
              <a:gd name="adj3" fmla="val 16667"/>
            </a:avLst>
          </a:prstGeom>
          <a:solidFill>
            <a:srgbClr val="00B0F0"/>
          </a:solidFill>
          <a:ln w="9525" algn="ctr">
            <a:no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lIns="182880"/>
          <a:lstStyle/>
          <a:p>
            <a:pPr>
              <a:lnSpc>
                <a:spcPct val="90000"/>
              </a:lnSpc>
              <a:spcBef>
                <a:spcPct val="20000"/>
              </a:spcBef>
              <a:buFont typeface="Wingdings" pitchFamily="2" charset="2"/>
              <a:buNone/>
              <a:defRPr/>
            </a:pPr>
            <a:r>
              <a:rPr lang="en-US" sz="2000" dirty="0">
                <a:latin typeface="Times New Roman" panose="02020603050405020304" pitchFamily="18" charset="0"/>
              </a:rPr>
              <a:t>Compiler generates code that causes each separate execution of the function to request new cells for the temporary storage of the function’s parameters before the statements in the body of the definition start executing</a:t>
            </a:r>
          </a:p>
        </p:txBody>
      </p:sp>
      <p:sp>
        <p:nvSpPr>
          <p:cNvPr id="3" name="Rectangle 2">
            <a:extLst>
              <a:ext uri="{FF2B5EF4-FFF2-40B4-BE49-F238E27FC236}">
                <a16:creationId xmlns:a16="http://schemas.microsoft.com/office/drawing/2014/main" id="{DE991B3F-CA3E-E3D0-7A0D-B98A5E1DEC72}"/>
              </a:ext>
            </a:extLst>
          </p:cNvPr>
          <p:cNvSpPr>
            <a:spLocks noChangeArrowheads="1"/>
          </p:cNvSpPr>
          <p:nvPr/>
        </p:nvSpPr>
        <p:spPr bwMode="auto">
          <a:xfrm>
            <a:off x="632272" y="2997994"/>
            <a:ext cx="647700" cy="430213"/>
          </a:xfrm>
          <a:prstGeom prst="rect">
            <a:avLst/>
          </a:prstGeom>
          <a:solidFill>
            <a:srgbClr val="00B0F0"/>
          </a:solidFill>
          <a:ln w="9525">
            <a:miter lim="800000"/>
            <a:headEnd/>
            <a:tailEnd/>
          </a:ln>
          <a:effectLst>
            <a:outerShdw blurRad="50800" dist="38100" dir="2700000" algn="tl" rotWithShape="0">
              <a:prstClr val="black">
                <a:alpha val="40000"/>
              </a:prstClr>
            </a:outerShdw>
          </a:effectLst>
          <a:scene3d>
            <a:camera prst="legacyObliqueTopRight"/>
            <a:lightRig rig="legacyFlat3" dir="b"/>
          </a:scene3d>
          <a:sp3d extrusionH="430200" prstMaterial="legacyMatte">
            <a:bevelT w="13500" h="13500" prst="angle"/>
            <a:bevelB w="13500" h="13500" prst="angle"/>
            <a:extrusionClr>
              <a:srgbClr val="009999"/>
            </a:extrusionClr>
          </a:sp3d>
        </p:spPr>
        <p:txBody>
          <a:bodyPr wrap="none" anchor="ctr">
            <a:flatTx/>
          </a:bodyPr>
          <a:lstStyle/>
          <a:p>
            <a:pPr>
              <a:defRPr/>
            </a:pPr>
            <a:r>
              <a:rPr lang="en-US" sz="3200" dirty="0">
                <a:latin typeface="Times New Roman" panose="02020603050405020304" pitchFamily="18" charset="0"/>
              </a:rPr>
              <a:t>10</a:t>
            </a:r>
          </a:p>
        </p:txBody>
      </p:sp>
      <p:sp>
        <p:nvSpPr>
          <p:cNvPr id="4" name="Text Box 10">
            <a:extLst>
              <a:ext uri="{FF2B5EF4-FFF2-40B4-BE49-F238E27FC236}">
                <a16:creationId xmlns:a16="http://schemas.microsoft.com/office/drawing/2014/main" id="{CC86AEF7-C102-2E69-1E5E-DA1596713CF7}"/>
              </a:ext>
            </a:extLst>
          </p:cNvPr>
          <p:cNvSpPr txBox="1">
            <a:spLocks noChangeArrowheads="1"/>
          </p:cNvSpPr>
          <p:nvPr/>
        </p:nvSpPr>
        <p:spPr bwMode="auto">
          <a:xfrm>
            <a:off x="502097" y="2543969"/>
            <a:ext cx="1223963"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defRPr/>
            </a:pPr>
            <a:r>
              <a:rPr lang="en-US" sz="2000" dirty="0"/>
              <a:t>param1</a:t>
            </a:r>
          </a:p>
        </p:txBody>
      </p:sp>
    </p:spTree>
    <p:extLst>
      <p:ext uri="{BB962C8B-B14F-4D97-AF65-F5344CB8AC3E}">
        <p14:creationId xmlns:p14="http://schemas.microsoft.com/office/powerpoint/2010/main" val="253871478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4784FB2-0F50-9901-C604-2522A127B907}"/>
              </a:ext>
            </a:extLst>
          </p:cNvPr>
          <p:cNvSpPr/>
          <p:nvPr/>
        </p:nvSpPr>
        <p:spPr>
          <a:xfrm>
            <a:off x="1948543" y="2250622"/>
            <a:ext cx="4294758" cy="424225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6147" name="Rectangle 2" descr=" 6147"/>
          <p:cNvSpPr>
            <a:spLocks noGrp="1" noChangeArrowheads="1"/>
          </p:cNvSpPr>
          <p:nvPr>
            <p:ph type="title"/>
          </p:nvPr>
        </p:nvSpPr>
        <p:spPr/>
        <p:txBody>
          <a:bodyPr>
            <a:normAutofit/>
          </a:bodyPr>
          <a:lstStyle/>
          <a:p>
            <a:pPr eaLnBrk="1" hangingPunct="1"/>
            <a:r>
              <a:rPr lang="en-US" sz="4400" cap="none" dirty="0"/>
              <a:t>Passing Arguments To Functions In C </a:t>
            </a:r>
          </a:p>
        </p:txBody>
      </p:sp>
      <p:sp>
        <p:nvSpPr>
          <p:cNvPr id="387076" name="Text Box 4" descr=" 387076"/>
          <p:cNvSpPr txBox="1">
            <a:spLocks noChangeArrowheads="1"/>
          </p:cNvSpPr>
          <p:nvPr/>
        </p:nvSpPr>
        <p:spPr bwMode="auto">
          <a:xfrm>
            <a:off x="2208213" y="2492375"/>
            <a:ext cx="3816350" cy="1081088"/>
          </a:xfrm>
          <a:prstGeom prst="rect">
            <a:avLst/>
          </a:prstGeom>
          <a:solidFill>
            <a:srgbClr val="FFFFFF"/>
          </a:solidFill>
          <a:ln w="9525" algn="ctr">
            <a:noFill/>
            <a:miter lim="800000"/>
            <a:headEnd/>
            <a:tailEnd/>
          </a:ln>
          <a:effectLst>
            <a:outerShdw blurRad="50800" dist="38100" dir="2700000" algn="tl" rotWithShape="0">
              <a:prstClr val="black">
                <a:alpha val="40000"/>
              </a:prstClr>
            </a:outerShdw>
          </a:effectLst>
        </p:spPr>
        <p:txBody>
          <a:bodyPr/>
          <a:lstStyle/>
          <a:p>
            <a:pPr marL="174625" indent="-174625">
              <a:lnSpc>
                <a:spcPct val="80000"/>
              </a:lnSpc>
              <a:spcBef>
                <a:spcPct val="50000"/>
              </a:spcBef>
              <a:defRPr/>
            </a:pPr>
            <a:r>
              <a:rPr lang="en-US" sz="2000" dirty="0">
                <a:latin typeface="Times New Roman" panose="02020603050405020304" pitchFamily="18" charset="0"/>
              </a:rPr>
              <a:t>int funct1(int param1)</a:t>
            </a:r>
          </a:p>
          <a:p>
            <a:pPr marL="174625" indent="-174625">
              <a:lnSpc>
                <a:spcPct val="30000"/>
              </a:lnSpc>
              <a:spcBef>
                <a:spcPct val="50000"/>
              </a:spcBef>
              <a:defRPr/>
            </a:pPr>
            <a:r>
              <a:rPr lang="en-US" sz="2000" dirty="0">
                <a:latin typeface="Times New Roman" panose="02020603050405020304" pitchFamily="18" charset="0"/>
              </a:rPr>
              <a:t>{</a:t>
            </a:r>
          </a:p>
          <a:p>
            <a:pPr marL="174625" indent="-174625">
              <a:lnSpc>
                <a:spcPct val="0"/>
              </a:lnSpc>
              <a:spcBef>
                <a:spcPct val="50000"/>
              </a:spcBef>
              <a:defRPr/>
            </a:pPr>
            <a:r>
              <a:rPr lang="en-US" dirty="0">
                <a:latin typeface="Times New Roman" panose="02020603050405020304" pitchFamily="18" charset="0"/>
              </a:rPr>
              <a:t>  /* function body */</a:t>
            </a:r>
            <a:r>
              <a:rPr lang="en-US" sz="2000" dirty="0">
                <a:latin typeface="Times New Roman" panose="02020603050405020304" pitchFamily="18" charset="0"/>
              </a:rPr>
              <a:t> </a:t>
            </a:r>
          </a:p>
          <a:p>
            <a:pPr marL="174625" indent="-174625">
              <a:lnSpc>
                <a:spcPct val="40000"/>
              </a:lnSpc>
              <a:spcBef>
                <a:spcPct val="50000"/>
              </a:spcBef>
              <a:defRPr/>
            </a:pPr>
            <a:r>
              <a:rPr lang="en-US" sz="2000" dirty="0">
                <a:latin typeface="Times New Roman" panose="02020603050405020304" pitchFamily="18" charset="0"/>
              </a:rPr>
              <a:t>}</a:t>
            </a:r>
          </a:p>
        </p:txBody>
      </p:sp>
      <p:sp>
        <p:nvSpPr>
          <p:cNvPr id="387077" name="Text Box 5" descr=" 387077"/>
          <p:cNvSpPr txBox="1">
            <a:spLocks noChangeArrowheads="1"/>
          </p:cNvSpPr>
          <p:nvPr/>
        </p:nvSpPr>
        <p:spPr bwMode="auto">
          <a:xfrm>
            <a:off x="2208213" y="3789364"/>
            <a:ext cx="3816350" cy="2132315"/>
          </a:xfrm>
          <a:prstGeom prst="rect">
            <a:avLst/>
          </a:prstGeom>
          <a:solidFill>
            <a:srgbClr val="FFFFFF"/>
          </a:solidFill>
          <a:ln w="9525" algn="ctr">
            <a:noFill/>
            <a:miter lim="800000"/>
            <a:headEnd/>
            <a:tailEnd/>
          </a:ln>
          <a:effectLst>
            <a:outerShdw blurRad="50800" dist="38100" dir="2700000" algn="tl" rotWithShape="0">
              <a:prstClr val="black">
                <a:alpha val="40000"/>
              </a:prstClr>
            </a:outerShdw>
          </a:effectLst>
        </p:spPr>
        <p:txBody>
          <a:bodyPr>
            <a:spAutoFit/>
          </a:bodyPr>
          <a:lstStyle/>
          <a:p>
            <a:pPr marL="174625" indent="-174625">
              <a:lnSpc>
                <a:spcPct val="50000"/>
              </a:lnSpc>
              <a:spcBef>
                <a:spcPct val="50000"/>
              </a:spcBef>
              <a:defRPr/>
            </a:pPr>
            <a:endParaRPr lang="en-US" sz="800" dirty="0">
              <a:latin typeface="Times New Roman" panose="02020603050405020304" pitchFamily="18" charset="0"/>
            </a:endParaRPr>
          </a:p>
          <a:p>
            <a:pPr marL="174625" indent="-174625">
              <a:lnSpc>
                <a:spcPct val="50000"/>
              </a:lnSpc>
              <a:spcBef>
                <a:spcPct val="50000"/>
              </a:spcBef>
              <a:defRPr/>
            </a:pPr>
            <a:r>
              <a:rPr lang="en-US" sz="2000" dirty="0" err="1">
                <a:latin typeface="Times New Roman" panose="02020603050405020304" pitchFamily="18" charset="0"/>
              </a:rPr>
              <a:t>int</a:t>
            </a:r>
            <a:r>
              <a:rPr lang="en-US" sz="2000" dirty="0">
                <a:latin typeface="Times New Roman" panose="02020603050405020304" pitchFamily="18" charset="0"/>
              </a:rPr>
              <a:t> main()</a:t>
            </a:r>
          </a:p>
          <a:p>
            <a:pPr marL="174625" indent="-174625">
              <a:lnSpc>
                <a:spcPct val="50000"/>
              </a:lnSpc>
              <a:spcBef>
                <a:spcPct val="50000"/>
              </a:spcBef>
              <a:defRPr/>
            </a:pPr>
            <a:r>
              <a:rPr lang="en-US" sz="2000" dirty="0">
                <a:latin typeface="Times New Roman" panose="02020603050405020304" pitchFamily="18" charset="0"/>
              </a:rPr>
              <a:t>{</a:t>
            </a:r>
          </a:p>
          <a:p>
            <a:pPr marL="174625" indent="-174625">
              <a:lnSpc>
                <a:spcPct val="50000"/>
              </a:lnSpc>
              <a:spcBef>
                <a:spcPct val="50000"/>
              </a:spcBef>
              <a:defRPr/>
            </a:pPr>
            <a:r>
              <a:rPr lang="en-US" sz="2000" dirty="0">
                <a:latin typeface="Times New Roman" panose="02020603050405020304" pitchFamily="18" charset="0"/>
              </a:rPr>
              <a:t> </a:t>
            </a:r>
            <a:r>
              <a:rPr lang="en-US" sz="2000" dirty="0" err="1">
                <a:latin typeface="Times New Roman" panose="02020603050405020304" pitchFamily="18" charset="0"/>
              </a:rPr>
              <a:t>int</a:t>
            </a:r>
            <a:r>
              <a:rPr lang="en-US" sz="2000" dirty="0">
                <a:latin typeface="Times New Roman" panose="02020603050405020304" pitchFamily="18" charset="0"/>
              </a:rPr>
              <a:t> x;</a:t>
            </a:r>
          </a:p>
          <a:p>
            <a:pPr marL="174625" indent="-174625">
              <a:lnSpc>
                <a:spcPct val="50000"/>
              </a:lnSpc>
              <a:spcBef>
                <a:spcPct val="50000"/>
              </a:spcBef>
              <a:defRPr/>
            </a:pPr>
            <a:r>
              <a:rPr lang="en-US" sz="2000" dirty="0">
                <a:latin typeface="Times New Roman" panose="02020603050405020304" pitchFamily="18" charset="0"/>
              </a:rPr>
              <a:t> while (…)  </a:t>
            </a:r>
          </a:p>
          <a:p>
            <a:pPr marL="174625" indent="-174625">
              <a:lnSpc>
                <a:spcPct val="50000"/>
              </a:lnSpc>
              <a:spcBef>
                <a:spcPct val="50000"/>
              </a:spcBef>
              <a:defRPr/>
            </a:pPr>
            <a:r>
              <a:rPr lang="en-US" sz="2000" dirty="0">
                <a:latin typeface="Times New Roman" panose="02020603050405020304" pitchFamily="18" charset="0"/>
              </a:rPr>
              <a:t>   x = 2*funct1(5</a:t>
            </a:r>
            <a:r>
              <a:rPr lang="en-US" sz="2000" dirty="0"/>
              <a:t>*2</a:t>
            </a:r>
            <a:r>
              <a:rPr lang="en-US" sz="2000" dirty="0">
                <a:latin typeface="Times New Roman" panose="02020603050405020304" pitchFamily="18" charset="0"/>
              </a:rPr>
              <a:t> ); </a:t>
            </a:r>
          </a:p>
          <a:p>
            <a:pPr marL="174625" indent="-174625">
              <a:lnSpc>
                <a:spcPct val="50000"/>
              </a:lnSpc>
              <a:spcBef>
                <a:spcPct val="50000"/>
              </a:spcBef>
              <a:defRPr/>
            </a:pPr>
            <a:r>
              <a:rPr lang="en-US" sz="2000" dirty="0">
                <a:latin typeface="Times New Roman" panose="02020603050405020304" pitchFamily="18" charset="0"/>
              </a:rPr>
              <a:t>}</a:t>
            </a:r>
            <a:endParaRPr lang="en-US" sz="800" dirty="0">
              <a:latin typeface="Times New Roman" panose="02020603050405020304" pitchFamily="18" charset="0"/>
            </a:endParaRPr>
          </a:p>
          <a:p>
            <a:pPr marL="174625" indent="-174625">
              <a:lnSpc>
                <a:spcPct val="50000"/>
              </a:lnSpc>
              <a:spcBef>
                <a:spcPct val="50000"/>
              </a:spcBef>
              <a:defRPr/>
            </a:pPr>
            <a:endParaRPr lang="en-US" sz="800" dirty="0">
              <a:latin typeface="Times New Roman" panose="02020603050405020304" pitchFamily="18" charset="0"/>
            </a:endParaRPr>
          </a:p>
        </p:txBody>
      </p:sp>
      <p:grpSp>
        <p:nvGrpSpPr>
          <p:cNvPr id="10" name="Group 8" descr=" 2">
            <a:extLst>
              <a:ext uri="{FF2B5EF4-FFF2-40B4-BE49-F238E27FC236}">
                <a16:creationId xmlns:a16="http://schemas.microsoft.com/office/drawing/2014/main" id="{5FCE67DA-C1A5-4F65-B03C-C03A345E4C41}"/>
              </a:ext>
            </a:extLst>
          </p:cNvPr>
          <p:cNvGrpSpPr>
            <a:grpSpLocks/>
          </p:cNvGrpSpPr>
          <p:nvPr/>
        </p:nvGrpSpPr>
        <p:grpSpPr bwMode="auto">
          <a:xfrm>
            <a:off x="6384926" y="2276475"/>
            <a:ext cx="1223963" cy="884238"/>
            <a:chOff x="1747" y="1653"/>
            <a:chExt cx="771" cy="557"/>
          </a:xfrm>
          <a:effectLst/>
        </p:grpSpPr>
        <p:sp>
          <p:nvSpPr>
            <p:cNvPr id="11" name="Rectangle 9">
              <a:extLst>
                <a:ext uri="{FF2B5EF4-FFF2-40B4-BE49-F238E27FC236}">
                  <a16:creationId xmlns:a16="http://schemas.microsoft.com/office/drawing/2014/main" id="{891C3252-0558-492B-8A66-0891BB7EF418}"/>
                </a:ext>
              </a:extLst>
            </p:cNvPr>
            <p:cNvSpPr>
              <a:spLocks noChangeArrowheads="1"/>
            </p:cNvSpPr>
            <p:nvPr/>
          </p:nvSpPr>
          <p:spPr bwMode="auto">
            <a:xfrm>
              <a:off x="1829" y="1939"/>
              <a:ext cx="408" cy="271"/>
            </a:xfrm>
            <a:prstGeom prst="rect">
              <a:avLst/>
            </a:prstGeom>
            <a:solidFill>
              <a:srgbClr val="009999"/>
            </a:solidFill>
            <a:ln w="9525">
              <a:miter lim="800000"/>
              <a:headEnd/>
              <a:tailEnd/>
            </a:ln>
            <a:effectLst>
              <a:outerShdw blurRad="50800" dist="38100" dir="2700000" algn="tl" rotWithShape="0">
                <a:prstClr val="black">
                  <a:alpha val="40000"/>
                </a:prstClr>
              </a:outerShdw>
            </a:effectLst>
            <a:scene3d>
              <a:camera prst="legacyObliqueTopRight"/>
              <a:lightRig rig="legacyFlat3" dir="b"/>
            </a:scene3d>
            <a:sp3d extrusionH="430200" prstMaterial="legacyMatte">
              <a:bevelT w="13500" h="13500" prst="angle"/>
              <a:bevelB w="13500" h="13500" prst="angle"/>
              <a:extrusionClr>
                <a:srgbClr val="009999"/>
              </a:extrusionClr>
            </a:sp3d>
          </p:spPr>
          <p:txBody>
            <a:bodyPr wrap="none" anchor="ctr">
              <a:flatTx/>
            </a:bodyPr>
            <a:lstStyle/>
            <a:p>
              <a:pPr>
                <a:defRPr/>
              </a:pPr>
              <a:endParaRPr lang="en-US" dirty="0">
                <a:latin typeface="Times New Roman" panose="02020603050405020304" pitchFamily="18" charset="0"/>
              </a:endParaRPr>
            </a:p>
          </p:txBody>
        </p:sp>
        <p:sp>
          <p:nvSpPr>
            <p:cNvPr id="12" name="Text Box 10">
              <a:extLst>
                <a:ext uri="{FF2B5EF4-FFF2-40B4-BE49-F238E27FC236}">
                  <a16:creationId xmlns:a16="http://schemas.microsoft.com/office/drawing/2014/main" id="{4737EEEA-0638-4507-9721-35DF84A0D791}"/>
                </a:ext>
              </a:extLst>
            </p:cNvPr>
            <p:cNvSpPr txBox="1">
              <a:spLocks noChangeArrowheads="1"/>
            </p:cNvSpPr>
            <p:nvPr/>
          </p:nvSpPr>
          <p:spPr bwMode="auto">
            <a:xfrm>
              <a:off x="1747" y="1653"/>
              <a:ext cx="77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defRPr/>
              </a:pPr>
              <a:r>
                <a:rPr lang="en-US" sz="2000" dirty="0"/>
                <a:t>param1</a:t>
              </a:r>
            </a:p>
          </p:txBody>
        </p:sp>
      </p:grpSp>
      <p:sp>
        <p:nvSpPr>
          <p:cNvPr id="15" name="Text Box 12" descr=" 387084">
            <a:extLst>
              <a:ext uri="{FF2B5EF4-FFF2-40B4-BE49-F238E27FC236}">
                <a16:creationId xmlns:a16="http://schemas.microsoft.com/office/drawing/2014/main" id="{F06F67BE-0B97-440F-9A0E-B005B8A9D804}"/>
              </a:ext>
            </a:extLst>
          </p:cNvPr>
          <p:cNvSpPr txBox="1">
            <a:spLocks noChangeArrowheads="1"/>
          </p:cNvSpPr>
          <p:nvPr/>
        </p:nvSpPr>
        <p:spPr bwMode="auto">
          <a:xfrm>
            <a:off x="6544473" y="2769080"/>
            <a:ext cx="57467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pPr>
            <a:r>
              <a:rPr lang="en-US" sz="2400" dirty="0"/>
              <a:t>10</a:t>
            </a:r>
          </a:p>
        </p:txBody>
      </p:sp>
      <p:sp>
        <p:nvSpPr>
          <p:cNvPr id="13" name="... the returned value" descr=" 387090">
            <a:extLst>
              <a:ext uri="{FF2B5EF4-FFF2-40B4-BE49-F238E27FC236}">
                <a16:creationId xmlns:a16="http://schemas.microsoft.com/office/drawing/2014/main" id="{5AEB62F0-B84F-47B8-A175-F33C648903A5}"/>
              </a:ext>
            </a:extLst>
          </p:cNvPr>
          <p:cNvSpPr>
            <a:spLocks noChangeArrowheads="1"/>
          </p:cNvSpPr>
          <p:nvPr/>
        </p:nvSpPr>
        <p:spPr bwMode="auto">
          <a:xfrm>
            <a:off x="4880894" y="3358924"/>
            <a:ext cx="5946162" cy="1325562"/>
          </a:xfrm>
          <a:prstGeom prst="wedgeRoundRectCallout">
            <a:avLst>
              <a:gd name="adj1" fmla="val -58964"/>
              <a:gd name="adj2" fmla="val 84763"/>
              <a:gd name="adj3" fmla="val 16667"/>
            </a:avLst>
          </a:prstGeom>
          <a:solidFill>
            <a:srgbClr val="00B0F0"/>
          </a:solidFill>
          <a:ln w="9525" algn="ctr">
            <a:no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a:lstStyle/>
          <a:p>
            <a:pPr marL="290513" indent="-290513">
              <a:lnSpc>
                <a:spcPct val="90000"/>
              </a:lnSpc>
              <a:spcBef>
                <a:spcPct val="20000"/>
              </a:spcBef>
              <a:defRPr/>
            </a:pPr>
            <a:r>
              <a:rPr lang="en-US" sz="2000" dirty="0">
                <a:latin typeface="Times New Roman" panose="02020603050405020304" pitchFamily="18" charset="0"/>
              </a:rPr>
              <a:t>When a function ends, the returned value (if any) is substituted for the function call, which is why in C a function is said to “return a value through its name”</a:t>
            </a:r>
          </a:p>
        </p:txBody>
      </p:sp>
      <p:sp>
        <p:nvSpPr>
          <p:cNvPr id="5" name="... and all storage" descr=" 387091">
            <a:extLst>
              <a:ext uri="{FF2B5EF4-FFF2-40B4-BE49-F238E27FC236}">
                <a16:creationId xmlns:a16="http://schemas.microsoft.com/office/drawing/2014/main" id="{3472EBEF-209E-DA2B-32CB-04D41613A153}"/>
              </a:ext>
            </a:extLst>
          </p:cNvPr>
          <p:cNvSpPr>
            <a:spLocks noChangeArrowheads="1"/>
          </p:cNvSpPr>
          <p:nvPr/>
        </p:nvSpPr>
        <p:spPr bwMode="auto">
          <a:xfrm>
            <a:off x="7369175" y="1710250"/>
            <a:ext cx="4822825" cy="721442"/>
          </a:xfrm>
          <a:prstGeom prst="wedgeRoundRectCallout">
            <a:avLst>
              <a:gd name="adj1" fmla="val -48517"/>
              <a:gd name="adj2" fmla="val 121449"/>
              <a:gd name="adj3" fmla="val 16667"/>
            </a:avLst>
          </a:prstGeom>
          <a:solidFill>
            <a:srgbClr val="00B0F0"/>
          </a:solidFill>
          <a:ln w="9525" algn="ctr">
            <a:no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a:lstStyle/>
          <a:p>
            <a:pPr marL="292100" indent="-292100">
              <a:lnSpc>
                <a:spcPct val="90000"/>
              </a:lnSpc>
              <a:spcBef>
                <a:spcPct val="20000"/>
              </a:spcBef>
              <a:defRPr/>
            </a:pPr>
            <a:r>
              <a:rPr lang="en-US" sz="2000" dirty="0">
                <a:latin typeface="Times New Roman" panose="02020603050405020304" pitchFamily="18" charset="0"/>
              </a:rPr>
              <a:t>… and all function’s local variables are destroyed (unless the variable was static)</a:t>
            </a:r>
          </a:p>
        </p:txBody>
      </p:sp>
    </p:spTree>
    <p:extLst>
      <p:ext uri="{BB962C8B-B14F-4D97-AF65-F5344CB8AC3E}">
        <p14:creationId xmlns:p14="http://schemas.microsoft.com/office/powerpoint/2010/main" val="3086526943"/>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xit" presetSubtype="0" fill="hold" grpId="0" nodeType="clickEffect">
                                  <p:stCondLst>
                                    <p:cond delay="0"/>
                                  </p:stCondLst>
                                  <p:childTnLst>
                                    <p:animEffect transition="out" filter="dissolv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par>
                                <p:cTn id="14" presetID="9" presetClass="exit" presetSubtype="0" fill="hold" nodeType="withEffect">
                                  <p:stCondLst>
                                    <p:cond delay="0"/>
                                  </p:stCondLst>
                                  <p:childTnLst>
                                    <p:animEffect transition="out" filter="dissolve">
                                      <p:cBhvr>
                                        <p:cTn id="15" dur="500"/>
                                        <p:tgtEl>
                                          <p:spTgt spid="10"/>
                                        </p:tgtEl>
                                      </p:cBhvr>
                                    </p:animEffect>
                                    <p:set>
                                      <p:cBhvr>
                                        <p:cTn id="16"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A87137-7764-8CD8-BB79-0EB47282EDE1}"/>
              </a:ext>
            </a:extLst>
          </p:cNvPr>
          <p:cNvSpPr/>
          <p:nvPr/>
        </p:nvSpPr>
        <p:spPr>
          <a:xfrm>
            <a:off x="1739901" y="1943101"/>
            <a:ext cx="8928099" cy="480059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8196" name="Rectangle 3" descr=" 8196"/>
          <p:cNvSpPr>
            <a:spLocks noGrp="1" noChangeArrowheads="1"/>
          </p:cNvSpPr>
          <p:nvPr>
            <p:ph type="title"/>
          </p:nvPr>
        </p:nvSpPr>
        <p:spPr>
          <a:xfrm>
            <a:off x="557939" y="365127"/>
            <a:ext cx="11453247" cy="1325563"/>
          </a:xfrm>
        </p:spPr>
        <p:txBody>
          <a:bodyPr>
            <a:noAutofit/>
          </a:bodyPr>
          <a:lstStyle/>
          <a:p>
            <a:pPr eaLnBrk="1" hangingPunct="1"/>
            <a:r>
              <a:rPr lang="en-US" sz="4400" cap="none" dirty="0"/>
              <a:t>Passing Pointers (Addresses) To A Function</a:t>
            </a:r>
          </a:p>
        </p:txBody>
      </p:sp>
      <p:sp>
        <p:nvSpPr>
          <p:cNvPr id="391172" name="Text Box 4" descr=" 391172"/>
          <p:cNvSpPr txBox="1">
            <a:spLocks noChangeArrowheads="1"/>
          </p:cNvSpPr>
          <p:nvPr/>
        </p:nvSpPr>
        <p:spPr bwMode="auto">
          <a:xfrm>
            <a:off x="6527800" y="3573463"/>
            <a:ext cx="3924300" cy="1669688"/>
          </a:xfrm>
          <a:prstGeom prst="rect">
            <a:avLst/>
          </a:prstGeom>
          <a:solidFill>
            <a:srgbClr val="FFFFFF"/>
          </a:solidFill>
          <a:ln w="9525" algn="ctr">
            <a:noFill/>
            <a:miter lim="800000"/>
            <a:headEnd/>
            <a:tailEnd/>
          </a:ln>
          <a:effectLst>
            <a:outerShdw blurRad="50800" dist="38100" dir="2700000" algn="tl" rotWithShape="0">
              <a:prstClr val="black">
                <a:alpha val="40000"/>
              </a:prstClr>
            </a:outerShdw>
          </a:effectLst>
        </p:spPr>
        <p:txBody>
          <a:bodyPr>
            <a:spAutoFit/>
          </a:bodyPr>
          <a:lstStyle/>
          <a:p>
            <a:pPr marL="174625" indent="-174625">
              <a:lnSpc>
                <a:spcPct val="90000"/>
              </a:lnSpc>
              <a:spcBef>
                <a:spcPct val="50000"/>
              </a:spcBef>
              <a:defRPr/>
            </a:pPr>
            <a:r>
              <a:rPr lang="en-US" sz="2000" dirty="0" err="1">
                <a:latin typeface="Times New Roman" panose="02020603050405020304" pitchFamily="18" charset="0"/>
              </a:rPr>
              <a:t>int</a:t>
            </a:r>
            <a:r>
              <a:rPr lang="en-US" sz="2000" dirty="0">
                <a:latin typeface="Times New Roman" panose="02020603050405020304" pitchFamily="18" charset="0"/>
              </a:rPr>
              <a:t> funct1(</a:t>
            </a:r>
            <a:r>
              <a:rPr lang="en-US" sz="2000" dirty="0" err="1">
                <a:latin typeface="Times New Roman" panose="02020603050405020304" pitchFamily="18" charset="0"/>
              </a:rPr>
              <a:t>int</a:t>
            </a:r>
            <a:r>
              <a:rPr lang="en-US" sz="2000" dirty="0">
                <a:latin typeface="Times New Roman" panose="02020603050405020304" pitchFamily="18" charset="0"/>
              </a:rPr>
              <a:t> *param1)</a:t>
            </a:r>
          </a:p>
          <a:p>
            <a:pPr marL="174625" indent="-174625">
              <a:lnSpc>
                <a:spcPct val="90000"/>
              </a:lnSpc>
              <a:spcBef>
                <a:spcPct val="50000"/>
              </a:spcBef>
              <a:defRPr/>
            </a:pPr>
            <a:r>
              <a:rPr lang="en-US" sz="2000" dirty="0">
                <a:latin typeface="Times New Roman" panose="02020603050405020304" pitchFamily="18" charset="0"/>
              </a:rPr>
              <a:t>{</a:t>
            </a:r>
          </a:p>
          <a:p>
            <a:pPr marL="174625" indent="-174625">
              <a:lnSpc>
                <a:spcPct val="90000"/>
              </a:lnSpc>
              <a:spcBef>
                <a:spcPct val="50000"/>
              </a:spcBef>
              <a:defRPr/>
            </a:pPr>
            <a:r>
              <a:rPr lang="en-US" sz="2000" dirty="0">
                <a:latin typeface="Times New Roman" panose="02020603050405020304" pitchFamily="18" charset="0"/>
              </a:rPr>
              <a:t>  *param1</a:t>
            </a:r>
            <a:r>
              <a:rPr lang="en-US" sz="800" dirty="0">
                <a:solidFill>
                  <a:srgbClr val="336600"/>
                </a:solidFill>
                <a:latin typeface="Times New Roman" panose="02020603050405020304" pitchFamily="18" charset="0"/>
              </a:rPr>
              <a:t> </a:t>
            </a:r>
            <a:r>
              <a:rPr lang="en-US" sz="2000" dirty="0">
                <a:latin typeface="Times New Roman" panose="02020603050405020304" pitchFamily="18" charset="0"/>
              </a:rPr>
              <a:t>=</a:t>
            </a:r>
            <a:r>
              <a:rPr lang="en-US" sz="800" dirty="0">
                <a:solidFill>
                  <a:srgbClr val="336600"/>
                </a:solidFill>
                <a:latin typeface="Times New Roman" panose="02020603050405020304" pitchFamily="18" charset="0"/>
              </a:rPr>
              <a:t> </a:t>
            </a:r>
            <a:r>
              <a:rPr lang="en-US" sz="2000" dirty="0">
                <a:latin typeface="Times New Roman" panose="02020603050405020304" pitchFamily="18" charset="0"/>
              </a:rPr>
              <a:t>17; </a:t>
            </a:r>
          </a:p>
          <a:p>
            <a:pPr marL="174625" indent="-174625">
              <a:lnSpc>
                <a:spcPct val="90000"/>
              </a:lnSpc>
              <a:spcBef>
                <a:spcPct val="50000"/>
              </a:spcBef>
              <a:defRPr/>
            </a:pPr>
            <a:r>
              <a:rPr lang="en-US" sz="2000" dirty="0">
                <a:latin typeface="Times New Roman" panose="02020603050405020304" pitchFamily="18" charset="0"/>
              </a:rPr>
              <a:t>}</a:t>
            </a:r>
          </a:p>
        </p:txBody>
      </p:sp>
      <p:sp>
        <p:nvSpPr>
          <p:cNvPr id="391173" name="Text Box 5" descr=" 391173"/>
          <p:cNvSpPr txBox="1">
            <a:spLocks noChangeArrowheads="1"/>
          </p:cNvSpPr>
          <p:nvPr/>
        </p:nvSpPr>
        <p:spPr bwMode="auto">
          <a:xfrm>
            <a:off x="1992314" y="3268664"/>
            <a:ext cx="3455987" cy="2916183"/>
          </a:xfrm>
          <a:prstGeom prst="rect">
            <a:avLst/>
          </a:prstGeom>
          <a:solidFill>
            <a:srgbClr val="FFFFFF"/>
          </a:solidFill>
          <a:ln w="9525" algn="ctr">
            <a:noFill/>
            <a:miter lim="800000"/>
            <a:headEnd/>
            <a:tailEnd/>
          </a:ln>
          <a:effectLst>
            <a:outerShdw blurRad="50800" dist="38100" dir="2700000" algn="tl" rotWithShape="0">
              <a:prstClr val="black">
                <a:alpha val="40000"/>
              </a:prstClr>
            </a:outerShdw>
          </a:effectLst>
        </p:spPr>
        <p:txBody>
          <a:bodyPr>
            <a:spAutoFit/>
          </a:bodyPr>
          <a:lstStyle/>
          <a:p>
            <a:pPr marL="174625" indent="-174625">
              <a:lnSpc>
                <a:spcPct val="70000"/>
              </a:lnSpc>
              <a:spcBef>
                <a:spcPct val="50000"/>
              </a:spcBef>
              <a:defRPr/>
            </a:pPr>
            <a:r>
              <a:rPr lang="en-US" sz="2000" dirty="0">
                <a:latin typeface="Times New Roman" panose="02020603050405020304" pitchFamily="18" charset="0"/>
              </a:rPr>
              <a:t>int main()</a:t>
            </a:r>
          </a:p>
          <a:p>
            <a:pPr marL="174625" indent="-174625">
              <a:lnSpc>
                <a:spcPct val="70000"/>
              </a:lnSpc>
              <a:spcBef>
                <a:spcPct val="50000"/>
              </a:spcBef>
              <a:defRPr/>
            </a:pPr>
            <a:r>
              <a:rPr lang="en-US" sz="2000" dirty="0">
                <a:latin typeface="Times New Roman" panose="02020603050405020304" pitchFamily="18" charset="0"/>
              </a:rPr>
              <a:t>{</a:t>
            </a:r>
          </a:p>
          <a:p>
            <a:pPr marL="174625" indent="-174625">
              <a:lnSpc>
                <a:spcPct val="70000"/>
              </a:lnSpc>
              <a:spcBef>
                <a:spcPct val="50000"/>
              </a:spcBef>
              <a:defRPr/>
            </a:pPr>
            <a:r>
              <a:rPr lang="en-US" sz="2000" dirty="0">
                <a:latin typeface="Times New Roman" panose="02020603050405020304" pitchFamily="18" charset="0"/>
              </a:rPr>
              <a:t> int x</a:t>
            </a:r>
            <a:r>
              <a:rPr lang="en-US" sz="800" dirty="0">
                <a:latin typeface="Times New Roman" panose="02020603050405020304" pitchFamily="18" charset="0"/>
              </a:rPr>
              <a:t> </a:t>
            </a:r>
            <a:r>
              <a:rPr lang="en-US" sz="2000" dirty="0">
                <a:latin typeface="Times New Roman" panose="02020603050405020304" pitchFamily="18" charset="0"/>
              </a:rPr>
              <a:t>=</a:t>
            </a:r>
            <a:r>
              <a:rPr lang="en-US" sz="800" dirty="0">
                <a:solidFill>
                  <a:srgbClr val="336600"/>
                </a:solidFill>
                <a:latin typeface="Times New Roman" panose="02020603050405020304" pitchFamily="18" charset="0"/>
              </a:rPr>
              <a:t> </a:t>
            </a:r>
            <a:r>
              <a:rPr lang="en-US" sz="2000" dirty="0">
                <a:latin typeface="Times New Roman" panose="02020603050405020304" pitchFamily="18" charset="0"/>
              </a:rPr>
              <a:t>5;</a:t>
            </a:r>
          </a:p>
          <a:p>
            <a:pPr marL="174625" indent="-174625">
              <a:lnSpc>
                <a:spcPct val="70000"/>
              </a:lnSpc>
              <a:spcBef>
                <a:spcPct val="50000"/>
              </a:spcBef>
              <a:defRPr/>
            </a:pPr>
            <a:r>
              <a:rPr lang="en-US" sz="2000" dirty="0">
                <a:latin typeface="Times New Roman" panose="02020603050405020304" pitchFamily="18" charset="0"/>
              </a:rPr>
              <a:t>   </a:t>
            </a:r>
          </a:p>
          <a:p>
            <a:pPr marL="174625" indent="-174625">
              <a:lnSpc>
                <a:spcPct val="70000"/>
              </a:lnSpc>
              <a:spcBef>
                <a:spcPct val="50000"/>
              </a:spcBef>
              <a:defRPr/>
            </a:pPr>
            <a:r>
              <a:rPr lang="en-US" sz="2000" dirty="0">
                <a:latin typeface="Times New Roman" panose="02020603050405020304" pitchFamily="18" charset="0"/>
              </a:rPr>
              <a:t> ... funct1(&amp;x); </a:t>
            </a:r>
          </a:p>
          <a:p>
            <a:pPr marL="174625" indent="-174625">
              <a:lnSpc>
                <a:spcPct val="70000"/>
              </a:lnSpc>
              <a:spcBef>
                <a:spcPct val="50000"/>
              </a:spcBef>
              <a:defRPr/>
            </a:pPr>
            <a:endParaRPr lang="en-US" sz="2000" dirty="0">
              <a:latin typeface="Times New Roman" panose="02020603050405020304" pitchFamily="18" charset="0"/>
            </a:endParaRPr>
          </a:p>
          <a:p>
            <a:pPr marL="174625" indent="-174625">
              <a:lnSpc>
                <a:spcPct val="70000"/>
              </a:lnSpc>
              <a:spcBef>
                <a:spcPct val="50000"/>
              </a:spcBef>
              <a:defRPr/>
            </a:pPr>
            <a:r>
              <a:rPr lang="en-US" sz="2000" dirty="0">
                <a:latin typeface="Times New Roman" panose="02020603050405020304" pitchFamily="18" charset="0"/>
              </a:rPr>
              <a:t>}</a:t>
            </a:r>
          </a:p>
          <a:p>
            <a:pPr marL="174625" indent="-174625">
              <a:lnSpc>
                <a:spcPct val="70000"/>
              </a:lnSpc>
              <a:spcBef>
                <a:spcPct val="50000"/>
              </a:spcBef>
              <a:defRPr/>
            </a:pPr>
            <a:endParaRPr lang="en-US" sz="2000" dirty="0">
              <a:latin typeface="Times New Roman" panose="02020603050405020304" pitchFamily="18" charset="0"/>
            </a:endParaRPr>
          </a:p>
        </p:txBody>
      </p:sp>
      <p:grpSp>
        <p:nvGrpSpPr>
          <p:cNvPr id="8199" name="Group 6" descr=" 8199"/>
          <p:cNvGrpSpPr>
            <a:grpSpLocks/>
          </p:cNvGrpSpPr>
          <p:nvPr/>
        </p:nvGrpSpPr>
        <p:grpSpPr bwMode="auto">
          <a:xfrm>
            <a:off x="2992439" y="5013326"/>
            <a:ext cx="363537" cy="544513"/>
            <a:chOff x="340" y="3158"/>
            <a:chExt cx="272" cy="343"/>
          </a:xfrm>
          <a:effectLst/>
        </p:grpSpPr>
        <p:sp>
          <p:nvSpPr>
            <p:cNvPr id="8227" name="Text Box 7"/>
            <p:cNvSpPr txBox="1">
              <a:spLocks noChangeArrowheads="1"/>
            </p:cNvSpPr>
            <p:nvPr/>
          </p:nvSpPr>
          <p:spPr bwMode="auto">
            <a:xfrm>
              <a:off x="340" y="3158"/>
              <a:ext cx="27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defRPr/>
              </a:pPr>
              <a:r>
                <a:rPr lang="en-US" sz="1200">
                  <a:cs typeface="Times New Roman" pitchFamily="18" charset="0"/>
                </a:rPr>
                <a:t>•</a:t>
              </a:r>
            </a:p>
          </p:txBody>
        </p:sp>
        <p:sp>
          <p:nvSpPr>
            <p:cNvPr id="8228" name="Text Box 8"/>
            <p:cNvSpPr txBox="1">
              <a:spLocks noChangeArrowheads="1"/>
            </p:cNvSpPr>
            <p:nvPr/>
          </p:nvSpPr>
          <p:spPr bwMode="auto">
            <a:xfrm>
              <a:off x="340" y="3249"/>
              <a:ext cx="27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defRPr/>
              </a:pPr>
              <a:r>
                <a:rPr lang="en-US" sz="1200">
                  <a:cs typeface="Times New Roman" pitchFamily="18" charset="0"/>
                </a:rPr>
                <a:t>•</a:t>
              </a:r>
            </a:p>
          </p:txBody>
        </p:sp>
        <p:sp>
          <p:nvSpPr>
            <p:cNvPr id="8229" name="Text Box 9"/>
            <p:cNvSpPr txBox="1">
              <a:spLocks noChangeArrowheads="1"/>
            </p:cNvSpPr>
            <p:nvPr/>
          </p:nvSpPr>
          <p:spPr bwMode="auto">
            <a:xfrm>
              <a:off x="340" y="3339"/>
              <a:ext cx="27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defRPr/>
              </a:pPr>
              <a:r>
                <a:rPr lang="en-US" sz="1200">
                  <a:cs typeface="Times New Roman" pitchFamily="18" charset="0"/>
                </a:rPr>
                <a:t>•</a:t>
              </a:r>
            </a:p>
          </p:txBody>
        </p:sp>
      </p:grpSp>
      <p:grpSp>
        <p:nvGrpSpPr>
          <p:cNvPr id="8200" name="Group 10" descr=" 8200"/>
          <p:cNvGrpSpPr>
            <a:grpSpLocks/>
          </p:cNvGrpSpPr>
          <p:nvPr/>
        </p:nvGrpSpPr>
        <p:grpSpPr bwMode="auto">
          <a:xfrm>
            <a:off x="2995614" y="4252913"/>
            <a:ext cx="363537" cy="544512"/>
            <a:chOff x="340" y="3158"/>
            <a:chExt cx="272" cy="343"/>
          </a:xfrm>
        </p:grpSpPr>
        <p:sp>
          <p:nvSpPr>
            <p:cNvPr id="8224" name="Text Box 11"/>
            <p:cNvSpPr txBox="1">
              <a:spLocks noChangeArrowheads="1"/>
            </p:cNvSpPr>
            <p:nvPr/>
          </p:nvSpPr>
          <p:spPr bwMode="auto">
            <a:xfrm>
              <a:off x="340" y="3158"/>
              <a:ext cx="27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pPr>
              <a:r>
                <a:rPr lang="en-US" sz="1200">
                  <a:cs typeface="Times New Roman" pitchFamily="18" charset="0"/>
                </a:rPr>
                <a:t>•</a:t>
              </a:r>
            </a:p>
          </p:txBody>
        </p:sp>
        <p:sp>
          <p:nvSpPr>
            <p:cNvPr id="8225" name="Text Box 12"/>
            <p:cNvSpPr txBox="1">
              <a:spLocks noChangeArrowheads="1"/>
            </p:cNvSpPr>
            <p:nvPr/>
          </p:nvSpPr>
          <p:spPr bwMode="auto">
            <a:xfrm>
              <a:off x="340" y="3249"/>
              <a:ext cx="27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pPr>
              <a:r>
                <a:rPr lang="en-US" sz="1200">
                  <a:cs typeface="Times New Roman" pitchFamily="18" charset="0"/>
                </a:rPr>
                <a:t>•</a:t>
              </a:r>
            </a:p>
          </p:txBody>
        </p:sp>
        <p:sp>
          <p:nvSpPr>
            <p:cNvPr id="8226" name="Text Box 13"/>
            <p:cNvSpPr txBox="1">
              <a:spLocks noChangeArrowheads="1"/>
            </p:cNvSpPr>
            <p:nvPr/>
          </p:nvSpPr>
          <p:spPr bwMode="auto">
            <a:xfrm>
              <a:off x="340" y="3339"/>
              <a:ext cx="27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pPr>
              <a:r>
                <a:rPr lang="en-US" sz="1200">
                  <a:cs typeface="Times New Roman" pitchFamily="18" charset="0"/>
                </a:rPr>
                <a:t>•</a:t>
              </a:r>
            </a:p>
          </p:txBody>
        </p:sp>
      </p:grpSp>
      <p:grpSp>
        <p:nvGrpSpPr>
          <p:cNvPr id="14" name="Group 17" descr=" 5">
            <a:extLst>
              <a:ext uri="{FF2B5EF4-FFF2-40B4-BE49-F238E27FC236}">
                <a16:creationId xmlns:a16="http://schemas.microsoft.com/office/drawing/2014/main" id="{C31A8D5E-CD5C-4D94-B3F9-1C828C38954D}"/>
              </a:ext>
            </a:extLst>
          </p:cNvPr>
          <p:cNvGrpSpPr>
            <a:grpSpLocks/>
          </p:cNvGrpSpPr>
          <p:nvPr/>
        </p:nvGrpSpPr>
        <p:grpSpPr bwMode="auto">
          <a:xfrm>
            <a:off x="3900489" y="3452817"/>
            <a:ext cx="1223963" cy="862013"/>
            <a:chOff x="1634" y="2085"/>
            <a:chExt cx="771" cy="543"/>
          </a:xfrm>
        </p:grpSpPr>
        <p:sp>
          <p:nvSpPr>
            <p:cNvPr id="15" name="Rectangle 18">
              <a:extLst>
                <a:ext uri="{FF2B5EF4-FFF2-40B4-BE49-F238E27FC236}">
                  <a16:creationId xmlns:a16="http://schemas.microsoft.com/office/drawing/2014/main" id="{76C0D77F-C9EB-4DF3-96F1-C127C8B8E08C}"/>
                </a:ext>
              </a:extLst>
            </p:cNvPr>
            <p:cNvSpPr>
              <a:spLocks noChangeArrowheads="1"/>
            </p:cNvSpPr>
            <p:nvPr/>
          </p:nvSpPr>
          <p:spPr bwMode="auto">
            <a:xfrm>
              <a:off x="1650" y="2402"/>
              <a:ext cx="420" cy="226"/>
            </a:xfrm>
            <a:prstGeom prst="rect">
              <a:avLst/>
            </a:prstGeom>
            <a:solidFill>
              <a:srgbClr val="0099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9999"/>
              </a:extrusionClr>
            </a:sp3d>
          </p:spPr>
          <p:txBody>
            <a:bodyPr wrap="none" anchor="ctr">
              <a:flatTx/>
            </a:bodyPr>
            <a:lstStyle/>
            <a:p>
              <a:pPr marL="174625" indent="-174625" algn="ctr">
                <a:lnSpc>
                  <a:spcPct val="90000"/>
                </a:lnSpc>
                <a:spcBef>
                  <a:spcPct val="20000"/>
                </a:spcBef>
              </a:pPr>
              <a:endParaRPr lang="en-US" sz="2000" dirty="0">
                <a:latin typeface="Times New Roman" panose="02020603050405020304" pitchFamily="18" charset="0"/>
              </a:endParaRPr>
            </a:p>
          </p:txBody>
        </p:sp>
        <p:sp>
          <p:nvSpPr>
            <p:cNvPr id="16" name="Text Box 19">
              <a:extLst>
                <a:ext uri="{FF2B5EF4-FFF2-40B4-BE49-F238E27FC236}">
                  <a16:creationId xmlns:a16="http://schemas.microsoft.com/office/drawing/2014/main" id="{95D65E69-269E-489E-B690-9B01C2610997}"/>
                </a:ext>
              </a:extLst>
            </p:cNvPr>
            <p:cNvSpPr txBox="1">
              <a:spLocks noChangeArrowheads="1"/>
            </p:cNvSpPr>
            <p:nvPr/>
          </p:nvSpPr>
          <p:spPr bwMode="auto">
            <a:xfrm>
              <a:off x="1634" y="2085"/>
              <a:ext cx="7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pPr>
              <a:r>
                <a:rPr lang="en-US" sz="2000" dirty="0"/>
                <a:t>  x</a:t>
              </a:r>
            </a:p>
          </p:txBody>
        </p:sp>
      </p:grpSp>
      <p:sp>
        <p:nvSpPr>
          <p:cNvPr id="18" name="Text Box 23" descr=" 391191">
            <a:extLst>
              <a:ext uri="{FF2B5EF4-FFF2-40B4-BE49-F238E27FC236}">
                <a16:creationId xmlns:a16="http://schemas.microsoft.com/office/drawing/2014/main" id="{03DA1D55-AB62-4DED-BDE6-59C635D36799}"/>
              </a:ext>
            </a:extLst>
          </p:cNvPr>
          <p:cNvSpPr txBox="1">
            <a:spLocks noChangeArrowheads="1"/>
          </p:cNvSpPr>
          <p:nvPr/>
        </p:nvSpPr>
        <p:spPr bwMode="auto">
          <a:xfrm>
            <a:off x="4078289" y="3925889"/>
            <a:ext cx="5048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pPr>
            <a:r>
              <a:rPr lang="en-US" sz="2400" dirty="0"/>
              <a:t>5</a:t>
            </a:r>
          </a:p>
        </p:txBody>
      </p:sp>
      <p:sp>
        <p:nvSpPr>
          <p:cNvPr id="19" name="Whenever this function" descr=" 391195">
            <a:extLst>
              <a:ext uri="{FF2B5EF4-FFF2-40B4-BE49-F238E27FC236}">
                <a16:creationId xmlns:a16="http://schemas.microsoft.com/office/drawing/2014/main" id="{85972535-918F-43F5-8BB3-B23B53FE37DE}"/>
              </a:ext>
            </a:extLst>
          </p:cNvPr>
          <p:cNvSpPr>
            <a:spLocks noChangeArrowheads="1"/>
          </p:cNvSpPr>
          <p:nvPr/>
        </p:nvSpPr>
        <p:spPr bwMode="auto">
          <a:xfrm>
            <a:off x="2208214" y="5949950"/>
            <a:ext cx="3455987" cy="823911"/>
          </a:xfrm>
          <a:prstGeom prst="wedgeRoundRectCallout">
            <a:avLst>
              <a:gd name="adj1" fmla="val -12121"/>
              <a:gd name="adj2" fmla="val -162917"/>
              <a:gd name="adj3" fmla="val 16667"/>
            </a:avLst>
          </a:prstGeom>
          <a:solidFill>
            <a:srgbClr val="00B0F0"/>
          </a:solidFill>
          <a:ln w="9525" algn="ctr">
            <a:no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a:lstStyle/>
          <a:p>
            <a:pPr marL="6350" indent="-6350">
              <a:lnSpc>
                <a:spcPct val="90000"/>
              </a:lnSpc>
              <a:spcBef>
                <a:spcPct val="20000"/>
              </a:spcBef>
              <a:defRPr/>
            </a:pPr>
            <a:r>
              <a:rPr lang="en-US" sz="2000" dirty="0">
                <a:latin typeface="Times New Roman" panose="02020603050405020304" pitchFamily="18" charset="0"/>
              </a:rPr>
              <a:t>Whenever  this function call gets executed ... </a:t>
            </a:r>
          </a:p>
        </p:txBody>
      </p:sp>
      <p:grpSp>
        <p:nvGrpSpPr>
          <p:cNvPr id="3" name="Group 14" descr=" 4">
            <a:extLst>
              <a:ext uri="{FF2B5EF4-FFF2-40B4-BE49-F238E27FC236}">
                <a16:creationId xmlns:a16="http://schemas.microsoft.com/office/drawing/2014/main" id="{4C4547A4-7B7F-5973-B536-AAECD8C4CB07}"/>
              </a:ext>
            </a:extLst>
          </p:cNvPr>
          <p:cNvGrpSpPr>
            <a:grpSpLocks/>
          </p:cNvGrpSpPr>
          <p:nvPr/>
        </p:nvGrpSpPr>
        <p:grpSpPr bwMode="auto">
          <a:xfrm>
            <a:off x="9317831" y="4189409"/>
            <a:ext cx="1223963" cy="814385"/>
            <a:chOff x="4630" y="1370"/>
            <a:chExt cx="771" cy="513"/>
          </a:xfrm>
        </p:grpSpPr>
        <p:sp>
          <p:nvSpPr>
            <p:cNvPr id="4" name="Rectangle 15">
              <a:extLst>
                <a:ext uri="{FF2B5EF4-FFF2-40B4-BE49-F238E27FC236}">
                  <a16:creationId xmlns:a16="http://schemas.microsoft.com/office/drawing/2014/main" id="{32325032-26F9-1860-5EF0-76197F6287FF}"/>
                </a:ext>
              </a:extLst>
            </p:cNvPr>
            <p:cNvSpPr>
              <a:spLocks noChangeArrowheads="1"/>
            </p:cNvSpPr>
            <p:nvPr/>
          </p:nvSpPr>
          <p:spPr bwMode="auto">
            <a:xfrm>
              <a:off x="4676" y="1676"/>
              <a:ext cx="430" cy="207"/>
            </a:xfrm>
            <a:prstGeom prst="rect">
              <a:avLst/>
            </a:prstGeom>
            <a:solidFill>
              <a:srgbClr val="0099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9999"/>
              </a:extrusionClr>
            </a:sp3d>
          </p:spPr>
          <p:txBody>
            <a:bodyPr wrap="none" anchor="ctr">
              <a:flatTx/>
            </a:bodyPr>
            <a:lstStyle/>
            <a:p>
              <a:endParaRPr lang="en-US" dirty="0">
                <a:latin typeface="Times New Roman" panose="02020603050405020304" pitchFamily="18" charset="0"/>
              </a:endParaRPr>
            </a:p>
          </p:txBody>
        </p:sp>
        <p:sp>
          <p:nvSpPr>
            <p:cNvPr id="5" name="Text Box 16">
              <a:extLst>
                <a:ext uri="{FF2B5EF4-FFF2-40B4-BE49-F238E27FC236}">
                  <a16:creationId xmlns:a16="http://schemas.microsoft.com/office/drawing/2014/main" id="{4E73FDB0-F920-C235-467E-F72D14522210}"/>
                </a:ext>
              </a:extLst>
            </p:cNvPr>
            <p:cNvSpPr txBox="1">
              <a:spLocks noChangeArrowheads="1"/>
            </p:cNvSpPr>
            <p:nvPr/>
          </p:nvSpPr>
          <p:spPr bwMode="auto">
            <a:xfrm>
              <a:off x="4630" y="1370"/>
              <a:ext cx="7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pPr>
              <a:r>
                <a:rPr lang="en-US" sz="2000" dirty="0"/>
                <a:t>param1</a:t>
              </a:r>
            </a:p>
          </p:txBody>
        </p:sp>
      </p:grpSp>
      <p:sp>
        <p:nvSpPr>
          <p:cNvPr id="6" name="... this (integer pointer" descr=" 391203">
            <a:extLst>
              <a:ext uri="{FF2B5EF4-FFF2-40B4-BE49-F238E27FC236}">
                <a16:creationId xmlns:a16="http://schemas.microsoft.com/office/drawing/2014/main" id="{40745C8E-DA7E-3E7D-4933-65D9CACFD269}"/>
              </a:ext>
            </a:extLst>
          </p:cNvPr>
          <p:cNvSpPr>
            <a:spLocks noChangeArrowheads="1"/>
          </p:cNvSpPr>
          <p:nvPr/>
        </p:nvSpPr>
        <p:spPr bwMode="auto">
          <a:xfrm>
            <a:off x="6490339" y="5856364"/>
            <a:ext cx="3246932" cy="636510"/>
          </a:xfrm>
          <a:prstGeom prst="wedgeRoundRectCallout">
            <a:avLst>
              <a:gd name="adj1" fmla="val 45986"/>
              <a:gd name="adj2" fmla="val -196079"/>
              <a:gd name="adj3" fmla="val 16667"/>
            </a:avLst>
          </a:prstGeom>
          <a:solidFill>
            <a:srgbClr val="00B0F0"/>
          </a:solidFill>
          <a:ln w="9525" algn="ctr">
            <a:no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a:lstStyle/>
          <a:p>
            <a:pPr marL="233363" indent="-233363">
              <a:lnSpc>
                <a:spcPct val="90000"/>
              </a:lnSpc>
              <a:spcBef>
                <a:spcPct val="20000"/>
              </a:spcBef>
              <a:defRPr/>
            </a:pPr>
            <a:r>
              <a:rPr lang="en-US" sz="2000" dirty="0">
                <a:latin typeface="Times New Roman" panose="02020603050405020304" pitchFamily="18" charset="0"/>
              </a:rPr>
              <a:t>... this (integer pointer type) cell gets created …</a:t>
            </a:r>
          </a:p>
        </p:txBody>
      </p:sp>
    </p:spTree>
    <p:extLst>
      <p:ext uri="{BB962C8B-B14F-4D97-AF65-F5344CB8AC3E}">
        <p14:creationId xmlns:p14="http://schemas.microsoft.com/office/powerpoint/2010/main" val="1688502304"/>
      </p:ext>
    </p:extLst>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2" name="Text Box 4" descr=" 391172"/>
          <p:cNvSpPr txBox="1">
            <a:spLocks noChangeArrowheads="1"/>
          </p:cNvSpPr>
          <p:nvPr/>
        </p:nvSpPr>
        <p:spPr bwMode="auto">
          <a:xfrm>
            <a:off x="6527800" y="3573463"/>
            <a:ext cx="3924300" cy="1669688"/>
          </a:xfrm>
          <a:prstGeom prst="rect">
            <a:avLst/>
          </a:prstGeom>
          <a:solidFill>
            <a:srgbClr val="FFFFFF"/>
          </a:solidFill>
          <a:ln w="9525" algn="ctr">
            <a:noFill/>
            <a:miter lim="800000"/>
            <a:headEnd/>
            <a:tailEnd/>
          </a:ln>
          <a:effectLst>
            <a:outerShdw blurRad="50800" dist="38100" dir="2700000" algn="tl" rotWithShape="0">
              <a:prstClr val="black">
                <a:alpha val="40000"/>
              </a:prstClr>
            </a:outerShdw>
          </a:effectLst>
        </p:spPr>
        <p:txBody>
          <a:bodyPr>
            <a:spAutoFit/>
          </a:bodyPr>
          <a:lstStyle/>
          <a:p>
            <a:pPr marL="174625" indent="-174625">
              <a:lnSpc>
                <a:spcPct val="90000"/>
              </a:lnSpc>
              <a:spcBef>
                <a:spcPct val="50000"/>
              </a:spcBef>
              <a:defRPr/>
            </a:pPr>
            <a:r>
              <a:rPr lang="en-US" sz="2000" dirty="0" err="1">
                <a:latin typeface="Times New Roman" panose="02020603050405020304" pitchFamily="18" charset="0"/>
              </a:rPr>
              <a:t>int</a:t>
            </a:r>
            <a:r>
              <a:rPr lang="en-US" sz="2000" dirty="0">
                <a:latin typeface="Times New Roman" panose="02020603050405020304" pitchFamily="18" charset="0"/>
              </a:rPr>
              <a:t> funct1(</a:t>
            </a:r>
            <a:r>
              <a:rPr lang="en-US" sz="2000" dirty="0" err="1">
                <a:latin typeface="Times New Roman" panose="02020603050405020304" pitchFamily="18" charset="0"/>
              </a:rPr>
              <a:t>int</a:t>
            </a:r>
            <a:r>
              <a:rPr lang="en-US" sz="2000" dirty="0">
                <a:latin typeface="Times New Roman" panose="02020603050405020304" pitchFamily="18" charset="0"/>
              </a:rPr>
              <a:t> *param1)</a:t>
            </a:r>
          </a:p>
          <a:p>
            <a:pPr marL="174625" indent="-174625">
              <a:lnSpc>
                <a:spcPct val="90000"/>
              </a:lnSpc>
              <a:spcBef>
                <a:spcPct val="50000"/>
              </a:spcBef>
              <a:defRPr/>
            </a:pPr>
            <a:r>
              <a:rPr lang="en-US" sz="2000" dirty="0">
                <a:latin typeface="Times New Roman" panose="02020603050405020304" pitchFamily="18" charset="0"/>
              </a:rPr>
              <a:t>{</a:t>
            </a:r>
          </a:p>
          <a:p>
            <a:pPr marL="174625" indent="-174625">
              <a:lnSpc>
                <a:spcPct val="90000"/>
              </a:lnSpc>
              <a:spcBef>
                <a:spcPct val="50000"/>
              </a:spcBef>
              <a:defRPr/>
            </a:pPr>
            <a:r>
              <a:rPr lang="en-US" sz="2000" dirty="0">
                <a:latin typeface="Times New Roman" panose="02020603050405020304" pitchFamily="18" charset="0"/>
              </a:rPr>
              <a:t>  *param1</a:t>
            </a:r>
            <a:r>
              <a:rPr lang="en-US" sz="800" dirty="0">
                <a:solidFill>
                  <a:srgbClr val="336600"/>
                </a:solidFill>
                <a:latin typeface="Times New Roman" panose="02020603050405020304" pitchFamily="18" charset="0"/>
              </a:rPr>
              <a:t> </a:t>
            </a:r>
            <a:r>
              <a:rPr lang="en-US" sz="2000" dirty="0">
                <a:latin typeface="Times New Roman" panose="02020603050405020304" pitchFamily="18" charset="0"/>
              </a:rPr>
              <a:t>=</a:t>
            </a:r>
            <a:r>
              <a:rPr lang="en-US" sz="800" dirty="0">
                <a:solidFill>
                  <a:srgbClr val="336600"/>
                </a:solidFill>
                <a:latin typeface="Times New Roman" panose="02020603050405020304" pitchFamily="18" charset="0"/>
              </a:rPr>
              <a:t> </a:t>
            </a:r>
            <a:r>
              <a:rPr lang="en-US" sz="2000" dirty="0">
                <a:latin typeface="Times New Roman" panose="02020603050405020304" pitchFamily="18" charset="0"/>
              </a:rPr>
              <a:t>17; </a:t>
            </a:r>
          </a:p>
          <a:p>
            <a:pPr marL="174625" indent="-174625">
              <a:lnSpc>
                <a:spcPct val="90000"/>
              </a:lnSpc>
              <a:spcBef>
                <a:spcPct val="50000"/>
              </a:spcBef>
              <a:defRPr/>
            </a:pPr>
            <a:r>
              <a:rPr lang="en-US" sz="2000" dirty="0">
                <a:latin typeface="Times New Roman" panose="02020603050405020304" pitchFamily="18" charset="0"/>
              </a:rPr>
              <a:t>}</a:t>
            </a:r>
          </a:p>
        </p:txBody>
      </p:sp>
      <p:sp>
        <p:nvSpPr>
          <p:cNvPr id="391173" name="Text Box 5" descr=" 391173"/>
          <p:cNvSpPr txBox="1">
            <a:spLocks noChangeArrowheads="1"/>
          </p:cNvSpPr>
          <p:nvPr/>
        </p:nvSpPr>
        <p:spPr bwMode="auto">
          <a:xfrm>
            <a:off x="1992314" y="3268664"/>
            <a:ext cx="3455987" cy="2916183"/>
          </a:xfrm>
          <a:prstGeom prst="rect">
            <a:avLst/>
          </a:prstGeom>
          <a:solidFill>
            <a:srgbClr val="FFFFFF"/>
          </a:solidFill>
          <a:ln w="9525" algn="ctr">
            <a:noFill/>
            <a:miter lim="800000"/>
            <a:headEnd/>
            <a:tailEnd/>
          </a:ln>
          <a:effectLst>
            <a:outerShdw blurRad="50800" dist="38100" dir="2700000" algn="tl" rotWithShape="0">
              <a:prstClr val="black">
                <a:alpha val="40000"/>
              </a:prstClr>
            </a:outerShdw>
          </a:effectLst>
        </p:spPr>
        <p:txBody>
          <a:bodyPr>
            <a:spAutoFit/>
          </a:bodyPr>
          <a:lstStyle/>
          <a:p>
            <a:pPr marL="174625" indent="-174625">
              <a:lnSpc>
                <a:spcPct val="70000"/>
              </a:lnSpc>
              <a:spcBef>
                <a:spcPct val="50000"/>
              </a:spcBef>
              <a:defRPr/>
            </a:pPr>
            <a:r>
              <a:rPr lang="en-US" sz="2000" dirty="0">
                <a:latin typeface="Times New Roman" panose="02020603050405020304" pitchFamily="18" charset="0"/>
              </a:rPr>
              <a:t>int main()</a:t>
            </a:r>
          </a:p>
          <a:p>
            <a:pPr marL="174625" indent="-174625">
              <a:lnSpc>
                <a:spcPct val="70000"/>
              </a:lnSpc>
              <a:spcBef>
                <a:spcPct val="50000"/>
              </a:spcBef>
              <a:defRPr/>
            </a:pPr>
            <a:r>
              <a:rPr lang="en-US" sz="2000" dirty="0">
                <a:latin typeface="Times New Roman" panose="02020603050405020304" pitchFamily="18" charset="0"/>
              </a:rPr>
              <a:t>{</a:t>
            </a:r>
          </a:p>
          <a:p>
            <a:pPr marL="174625" indent="-174625">
              <a:lnSpc>
                <a:spcPct val="70000"/>
              </a:lnSpc>
              <a:spcBef>
                <a:spcPct val="50000"/>
              </a:spcBef>
              <a:defRPr/>
            </a:pPr>
            <a:r>
              <a:rPr lang="en-US" sz="2000" dirty="0">
                <a:latin typeface="Times New Roman" panose="02020603050405020304" pitchFamily="18" charset="0"/>
              </a:rPr>
              <a:t> int x</a:t>
            </a:r>
            <a:r>
              <a:rPr lang="en-US" sz="800" dirty="0">
                <a:latin typeface="Times New Roman" panose="02020603050405020304" pitchFamily="18" charset="0"/>
              </a:rPr>
              <a:t> </a:t>
            </a:r>
            <a:r>
              <a:rPr lang="en-US" sz="2000" dirty="0">
                <a:latin typeface="Times New Roman" panose="02020603050405020304" pitchFamily="18" charset="0"/>
              </a:rPr>
              <a:t>=</a:t>
            </a:r>
            <a:r>
              <a:rPr lang="en-US" sz="800" dirty="0">
                <a:solidFill>
                  <a:srgbClr val="336600"/>
                </a:solidFill>
                <a:latin typeface="Times New Roman" panose="02020603050405020304" pitchFamily="18" charset="0"/>
              </a:rPr>
              <a:t> </a:t>
            </a:r>
            <a:r>
              <a:rPr lang="en-US" sz="2000" dirty="0">
                <a:latin typeface="Times New Roman" panose="02020603050405020304" pitchFamily="18" charset="0"/>
              </a:rPr>
              <a:t>5;</a:t>
            </a:r>
          </a:p>
          <a:p>
            <a:pPr marL="174625" indent="-174625">
              <a:lnSpc>
                <a:spcPct val="70000"/>
              </a:lnSpc>
              <a:spcBef>
                <a:spcPct val="50000"/>
              </a:spcBef>
              <a:defRPr/>
            </a:pPr>
            <a:r>
              <a:rPr lang="en-US" sz="2000" dirty="0">
                <a:latin typeface="Times New Roman" panose="02020603050405020304" pitchFamily="18" charset="0"/>
              </a:rPr>
              <a:t>   </a:t>
            </a:r>
          </a:p>
          <a:p>
            <a:pPr marL="174625" indent="-174625">
              <a:lnSpc>
                <a:spcPct val="70000"/>
              </a:lnSpc>
              <a:spcBef>
                <a:spcPct val="50000"/>
              </a:spcBef>
              <a:defRPr/>
            </a:pPr>
            <a:r>
              <a:rPr lang="en-US" sz="2000" dirty="0">
                <a:latin typeface="Times New Roman" panose="02020603050405020304" pitchFamily="18" charset="0"/>
              </a:rPr>
              <a:t> ... funct1(&amp;x); </a:t>
            </a:r>
          </a:p>
          <a:p>
            <a:pPr marL="174625" indent="-174625">
              <a:lnSpc>
                <a:spcPct val="70000"/>
              </a:lnSpc>
              <a:spcBef>
                <a:spcPct val="50000"/>
              </a:spcBef>
              <a:defRPr/>
            </a:pPr>
            <a:endParaRPr lang="en-US" sz="2000" dirty="0">
              <a:latin typeface="Times New Roman" panose="02020603050405020304" pitchFamily="18" charset="0"/>
            </a:endParaRPr>
          </a:p>
          <a:p>
            <a:pPr marL="174625" indent="-174625">
              <a:lnSpc>
                <a:spcPct val="70000"/>
              </a:lnSpc>
              <a:spcBef>
                <a:spcPct val="50000"/>
              </a:spcBef>
              <a:defRPr/>
            </a:pPr>
            <a:r>
              <a:rPr lang="en-US" sz="2000" dirty="0">
                <a:latin typeface="Times New Roman" panose="02020603050405020304" pitchFamily="18" charset="0"/>
              </a:rPr>
              <a:t>}</a:t>
            </a:r>
          </a:p>
          <a:p>
            <a:pPr marL="174625" indent="-174625">
              <a:lnSpc>
                <a:spcPct val="70000"/>
              </a:lnSpc>
              <a:spcBef>
                <a:spcPct val="50000"/>
              </a:spcBef>
              <a:defRPr/>
            </a:pPr>
            <a:endParaRPr lang="en-US" sz="2000" dirty="0">
              <a:latin typeface="Times New Roman" panose="02020603050405020304" pitchFamily="18" charset="0"/>
            </a:endParaRPr>
          </a:p>
        </p:txBody>
      </p:sp>
      <p:grpSp>
        <p:nvGrpSpPr>
          <p:cNvPr id="8199" name="Group 6" descr=" 8199"/>
          <p:cNvGrpSpPr>
            <a:grpSpLocks/>
          </p:cNvGrpSpPr>
          <p:nvPr/>
        </p:nvGrpSpPr>
        <p:grpSpPr bwMode="auto">
          <a:xfrm>
            <a:off x="2992439" y="5013326"/>
            <a:ext cx="363537" cy="544513"/>
            <a:chOff x="340" y="3158"/>
            <a:chExt cx="272" cy="343"/>
          </a:xfrm>
          <a:effectLst/>
        </p:grpSpPr>
        <p:sp>
          <p:nvSpPr>
            <p:cNvPr id="8227" name="Text Box 7"/>
            <p:cNvSpPr txBox="1">
              <a:spLocks noChangeArrowheads="1"/>
            </p:cNvSpPr>
            <p:nvPr/>
          </p:nvSpPr>
          <p:spPr bwMode="auto">
            <a:xfrm>
              <a:off x="340" y="3158"/>
              <a:ext cx="27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defRPr/>
              </a:pPr>
              <a:r>
                <a:rPr lang="en-US" sz="1200">
                  <a:cs typeface="Times New Roman" pitchFamily="18" charset="0"/>
                </a:rPr>
                <a:t>•</a:t>
              </a:r>
            </a:p>
          </p:txBody>
        </p:sp>
        <p:sp>
          <p:nvSpPr>
            <p:cNvPr id="8228" name="Text Box 8"/>
            <p:cNvSpPr txBox="1">
              <a:spLocks noChangeArrowheads="1"/>
            </p:cNvSpPr>
            <p:nvPr/>
          </p:nvSpPr>
          <p:spPr bwMode="auto">
            <a:xfrm>
              <a:off x="340" y="3249"/>
              <a:ext cx="27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defRPr/>
              </a:pPr>
              <a:r>
                <a:rPr lang="en-US" sz="1200">
                  <a:cs typeface="Times New Roman" pitchFamily="18" charset="0"/>
                </a:rPr>
                <a:t>•</a:t>
              </a:r>
            </a:p>
          </p:txBody>
        </p:sp>
        <p:sp>
          <p:nvSpPr>
            <p:cNvPr id="8229" name="Text Box 9"/>
            <p:cNvSpPr txBox="1">
              <a:spLocks noChangeArrowheads="1"/>
            </p:cNvSpPr>
            <p:nvPr/>
          </p:nvSpPr>
          <p:spPr bwMode="auto">
            <a:xfrm>
              <a:off x="340" y="3339"/>
              <a:ext cx="27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defRPr/>
              </a:pPr>
              <a:r>
                <a:rPr lang="en-US" sz="1200">
                  <a:cs typeface="Times New Roman" pitchFamily="18" charset="0"/>
                </a:rPr>
                <a:t>•</a:t>
              </a:r>
            </a:p>
          </p:txBody>
        </p:sp>
      </p:grpSp>
      <p:grpSp>
        <p:nvGrpSpPr>
          <p:cNvPr id="8200" name="Group 10" descr=" 8200"/>
          <p:cNvGrpSpPr>
            <a:grpSpLocks/>
          </p:cNvGrpSpPr>
          <p:nvPr/>
        </p:nvGrpSpPr>
        <p:grpSpPr bwMode="auto">
          <a:xfrm>
            <a:off x="2995614" y="4252913"/>
            <a:ext cx="363537" cy="544512"/>
            <a:chOff x="340" y="3158"/>
            <a:chExt cx="272" cy="343"/>
          </a:xfrm>
        </p:grpSpPr>
        <p:sp>
          <p:nvSpPr>
            <p:cNvPr id="8224" name="Text Box 11"/>
            <p:cNvSpPr txBox="1">
              <a:spLocks noChangeArrowheads="1"/>
            </p:cNvSpPr>
            <p:nvPr/>
          </p:nvSpPr>
          <p:spPr bwMode="auto">
            <a:xfrm>
              <a:off x="340" y="3158"/>
              <a:ext cx="27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pPr>
              <a:r>
                <a:rPr lang="en-US" sz="1200">
                  <a:cs typeface="Times New Roman" pitchFamily="18" charset="0"/>
                </a:rPr>
                <a:t>•</a:t>
              </a:r>
            </a:p>
          </p:txBody>
        </p:sp>
        <p:sp>
          <p:nvSpPr>
            <p:cNvPr id="8225" name="Text Box 12"/>
            <p:cNvSpPr txBox="1">
              <a:spLocks noChangeArrowheads="1"/>
            </p:cNvSpPr>
            <p:nvPr/>
          </p:nvSpPr>
          <p:spPr bwMode="auto">
            <a:xfrm>
              <a:off x="340" y="3249"/>
              <a:ext cx="27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pPr>
              <a:r>
                <a:rPr lang="en-US" sz="1200">
                  <a:cs typeface="Times New Roman" pitchFamily="18" charset="0"/>
                </a:rPr>
                <a:t>•</a:t>
              </a:r>
            </a:p>
          </p:txBody>
        </p:sp>
        <p:sp>
          <p:nvSpPr>
            <p:cNvPr id="8226" name="Text Box 13"/>
            <p:cNvSpPr txBox="1">
              <a:spLocks noChangeArrowheads="1"/>
            </p:cNvSpPr>
            <p:nvPr/>
          </p:nvSpPr>
          <p:spPr bwMode="auto">
            <a:xfrm>
              <a:off x="340" y="3339"/>
              <a:ext cx="27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pPr>
              <a:r>
                <a:rPr lang="en-US" sz="1200">
                  <a:cs typeface="Times New Roman" pitchFamily="18" charset="0"/>
                </a:rPr>
                <a:t>•</a:t>
              </a:r>
            </a:p>
          </p:txBody>
        </p:sp>
      </p:grpSp>
      <p:grpSp>
        <p:nvGrpSpPr>
          <p:cNvPr id="20" name="Group 14" descr=" 4">
            <a:extLst>
              <a:ext uri="{FF2B5EF4-FFF2-40B4-BE49-F238E27FC236}">
                <a16:creationId xmlns:a16="http://schemas.microsoft.com/office/drawing/2014/main" id="{2D75EA5C-1CF7-4DE3-90D8-8BD90E68D38C}"/>
              </a:ext>
            </a:extLst>
          </p:cNvPr>
          <p:cNvGrpSpPr>
            <a:grpSpLocks/>
          </p:cNvGrpSpPr>
          <p:nvPr/>
        </p:nvGrpSpPr>
        <p:grpSpPr bwMode="auto">
          <a:xfrm>
            <a:off x="9317831" y="4189409"/>
            <a:ext cx="1223963" cy="814385"/>
            <a:chOff x="4630" y="1370"/>
            <a:chExt cx="771" cy="513"/>
          </a:xfrm>
        </p:grpSpPr>
        <p:sp>
          <p:nvSpPr>
            <p:cNvPr id="21" name="Rectangle 15">
              <a:extLst>
                <a:ext uri="{FF2B5EF4-FFF2-40B4-BE49-F238E27FC236}">
                  <a16:creationId xmlns:a16="http://schemas.microsoft.com/office/drawing/2014/main" id="{54195230-6C23-4E42-8618-9B0010FE0D4B}"/>
                </a:ext>
              </a:extLst>
            </p:cNvPr>
            <p:cNvSpPr>
              <a:spLocks noChangeArrowheads="1"/>
            </p:cNvSpPr>
            <p:nvPr/>
          </p:nvSpPr>
          <p:spPr bwMode="auto">
            <a:xfrm>
              <a:off x="4676" y="1676"/>
              <a:ext cx="430" cy="207"/>
            </a:xfrm>
            <a:prstGeom prst="rect">
              <a:avLst/>
            </a:prstGeom>
            <a:solidFill>
              <a:srgbClr val="0099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9999"/>
              </a:extrusionClr>
            </a:sp3d>
          </p:spPr>
          <p:txBody>
            <a:bodyPr wrap="none" anchor="ctr">
              <a:flatTx/>
            </a:bodyPr>
            <a:lstStyle/>
            <a:p>
              <a:endParaRPr lang="en-US" dirty="0">
                <a:latin typeface="Times New Roman" panose="02020603050405020304" pitchFamily="18" charset="0"/>
              </a:endParaRPr>
            </a:p>
          </p:txBody>
        </p:sp>
        <p:sp>
          <p:nvSpPr>
            <p:cNvPr id="22" name="Text Box 16">
              <a:extLst>
                <a:ext uri="{FF2B5EF4-FFF2-40B4-BE49-F238E27FC236}">
                  <a16:creationId xmlns:a16="http://schemas.microsoft.com/office/drawing/2014/main" id="{4429ED3D-20D7-4BB8-8138-94F0285EF527}"/>
                </a:ext>
              </a:extLst>
            </p:cNvPr>
            <p:cNvSpPr txBox="1">
              <a:spLocks noChangeArrowheads="1"/>
            </p:cNvSpPr>
            <p:nvPr/>
          </p:nvSpPr>
          <p:spPr bwMode="auto">
            <a:xfrm>
              <a:off x="4630" y="1370"/>
              <a:ext cx="7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pPr>
              <a:r>
                <a:rPr lang="en-US" sz="2000" dirty="0"/>
                <a:t>param1</a:t>
              </a:r>
            </a:p>
          </p:txBody>
        </p:sp>
      </p:grpSp>
      <p:grpSp>
        <p:nvGrpSpPr>
          <p:cNvPr id="14" name="Group 17" descr=" 5">
            <a:extLst>
              <a:ext uri="{FF2B5EF4-FFF2-40B4-BE49-F238E27FC236}">
                <a16:creationId xmlns:a16="http://schemas.microsoft.com/office/drawing/2014/main" id="{C31A8D5E-CD5C-4D94-B3F9-1C828C38954D}"/>
              </a:ext>
            </a:extLst>
          </p:cNvPr>
          <p:cNvGrpSpPr>
            <a:grpSpLocks/>
          </p:cNvGrpSpPr>
          <p:nvPr/>
        </p:nvGrpSpPr>
        <p:grpSpPr bwMode="auto">
          <a:xfrm>
            <a:off x="3900489" y="3452817"/>
            <a:ext cx="1223963" cy="862013"/>
            <a:chOff x="1634" y="2085"/>
            <a:chExt cx="771" cy="543"/>
          </a:xfrm>
        </p:grpSpPr>
        <p:sp>
          <p:nvSpPr>
            <p:cNvPr id="15" name="Rectangle 18">
              <a:extLst>
                <a:ext uri="{FF2B5EF4-FFF2-40B4-BE49-F238E27FC236}">
                  <a16:creationId xmlns:a16="http://schemas.microsoft.com/office/drawing/2014/main" id="{76C0D77F-C9EB-4DF3-96F1-C127C8B8E08C}"/>
                </a:ext>
              </a:extLst>
            </p:cNvPr>
            <p:cNvSpPr>
              <a:spLocks noChangeArrowheads="1"/>
            </p:cNvSpPr>
            <p:nvPr/>
          </p:nvSpPr>
          <p:spPr bwMode="auto">
            <a:xfrm>
              <a:off x="1650" y="2402"/>
              <a:ext cx="420" cy="226"/>
            </a:xfrm>
            <a:prstGeom prst="rect">
              <a:avLst/>
            </a:prstGeom>
            <a:solidFill>
              <a:srgbClr val="0099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9999"/>
              </a:extrusionClr>
            </a:sp3d>
          </p:spPr>
          <p:txBody>
            <a:bodyPr wrap="none" anchor="ctr">
              <a:flatTx/>
            </a:bodyPr>
            <a:lstStyle/>
            <a:p>
              <a:pPr marL="174625" indent="-174625" algn="ctr">
                <a:lnSpc>
                  <a:spcPct val="90000"/>
                </a:lnSpc>
                <a:spcBef>
                  <a:spcPct val="20000"/>
                </a:spcBef>
              </a:pPr>
              <a:endParaRPr lang="en-US" sz="2000" dirty="0">
                <a:latin typeface="Times New Roman" panose="02020603050405020304" pitchFamily="18" charset="0"/>
              </a:endParaRPr>
            </a:p>
          </p:txBody>
        </p:sp>
        <p:sp>
          <p:nvSpPr>
            <p:cNvPr id="16" name="Text Box 19">
              <a:extLst>
                <a:ext uri="{FF2B5EF4-FFF2-40B4-BE49-F238E27FC236}">
                  <a16:creationId xmlns:a16="http://schemas.microsoft.com/office/drawing/2014/main" id="{95D65E69-269E-489E-B690-9B01C2610997}"/>
                </a:ext>
              </a:extLst>
            </p:cNvPr>
            <p:cNvSpPr txBox="1">
              <a:spLocks noChangeArrowheads="1"/>
            </p:cNvSpPr>
            <p:nvPr/>
          </p:nvSpPr>
          <p:spPr bwMode="auto">
            <a:xfrm>
              <a:off x="1634" y="2085"/>
              <a:ext cx="7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pPr>
              <a:r>
                <a:rPr lang="en-US" sz="2000" dirty="0"/>
                <a:t>  x</a:t>
              </a:r>
            </a:p>
          </p:txBody>
        </p:sp>
      </p:grpSp>
      <p:sp>
        <p:nvSpPr>
          <p:cNvPr id="28" name="Freeform 21" descr=" 391189">
            <a:extLst>
              <a:ext uri="{FF2B5EF4-FFF2-40B4-BE49-F238E27FC236}">
                <a16:creationId xmlns:a16="http://schemas.microsoft.com/office/drawing/2014/main" id="{244A5C52-9DE5-4DC0-8823-EB6E10ED0AE1}"/>
              </a:ext>
            </a:extLst>
          </p:cNvPr>
          <p:cNvSpPr>
            <a:spLocks/>
          </p:cNvSpPr>
          <p:nvPr/>
        </p:nvSpPr>
        <p:spPr bwMode="auto">
          <a:xfrm>
            <a:off x="4465637" y="4154490"/>
            <a:ext cx="5076948" cy="750880"/>
          </a:xfrm>
          <a:custGeom>
            <a:avLst/>
            <a:gdLst>
              <a:gd name="T0" fmla="*/ 2147483647 w 2751"/>
              <a:gd name="T1" fmla="*/ 2147483647 h 434"/>
              <a:gd name="T2" fmla="*/ 2147483647 w 2751"/>
              <a:gd name="T3" fmla="*/ 2147483647 h 434"/>
              <a:gd name="T4" fmla="*/ 0 w 2751"/>
              <a:gd name="T5" fmla="*/ 0 h 434"/>
              <a:gd name="T6" fmla="*/ 0 60000 65536"/>
              <a:gd name="T7" fmla="*/ 0 60000 65536"/>
              <a:gd name="T8" fmla="*/ 0 60000 65536"/>
              <a:gd name="T9" fmla="*/ 0 w 2751"/>
              <a:gd name="T10" fmla="*/ 0 h 434"/>
              <a:gd name="T11" fmla="*/ 2751 w 2751"/>
              <a:gd name="T12" fmla="*/ 434 h 434"/>
            </a:gdLst>
            <a:ahLst/>
            <a:cxnLst>
              <a:cxn ang="T6">
                <a:pos x="T0" y="T1"/>
              </a:cxn>
              <a:cxn ang="T7">
                <a:pos x="T2" y="T3"/>
              </a:cxn>
              <a:cxn ang="T8">
                <a:pos x="T4" y="T5"/>
              </a:cxn>
            </a:cxnLst>
            <a:rect l="T9" t="T10" r="T11" b="T12"/>
            <a:pathLst>
              <a:path w="2751" h="434">
                <a:moveTo>
                  <a:pt x="2751" y="379"/>
                </a:moveTo>
                <a:cubicBezTo>
                  <a:pt x="2519" y="379"/>
                  <a:pt x="1814" y="434"/>
                  <a:pt x="1356" y="371"/>
                </a:cubicBezTo>
                <a:cubicBezTo>
                  <a:pt x="898" y="308"/>
                  <a:pt x="282" y="77"/>
                  <a:pt x="0" y="0"/>
                </a:cubicBezTo>
              </a:path>
            </a:pathLst>
          </a:custGeom>
          <a:noFill/>
          <a:ln w="57150" cap="flat" cmpd="sng">
            <a:solidFill>
              <a:srgbClr val="FFCC00"/>
            </a:solidFill>
            <a:prstDash val="solid"/>
            <a:round/>
            <a:headEnd type="oval" w="med" len="me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a:lstStyle/>
          <a:p>
            <a:endParaRPr lang="en-US" dirty="0">
              <a:latin typeface="Times New Roman" panose="02020603050405020304" pitchFamily="18" charset="0"/>
            </a:endParaRPr>
          </a:p>
        </p:txBody>
      </p:sp>
      <p:sp>
        <p:nvSpPr>
          <p:cNvPr id="18" name="Text Box 23" descr=" 391191">
            <a:extLst>
              <a:ext uri="{FF2B5EF4-FFF2-40B4-BE49-F238E27FC236}">
                <a16:creationId xmlns:a16="http://schemas.microsoft.com/office/drawing/2014/main" id="{03DA1D55-AB62-4DED-BDE6-59C635D36799}"/>
              </a:ext>
            </a:extLst>
          </p:cNvPr>
          <p:cNvSpPr txBox="1">
            <a:spLocks noChangeArrowheads="1"/>
          </p:cNvSpPr>
          <p:nvPr/>
        </p:nvSpPr>
        <p:spPr bwMode="auto">
          <a:xfrm>
            <a:off x="4029301" y="3925889"/>
            <a:ext cx="666750"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174625" indent="-174625"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lnSpc>
                <a:spcPct val="90000"/>
              </a:lnSpc>
              <a:spcBef>
                <a:spcPct val="50000"/>
              </a:spcBef>
              <a:buFont typeface="Wingdings" pitchFamily="2" charset="2"/>
              <a:buNone/>
            </a:pPr>
            <a:r>
              <a:rPr lang="en-US" sz="2400" dirty="0"/>
              <a:t>17</a:t>
            </a:r>
          </a:p>
        </p:txBody>
      </p:sp>
      <p:sp>
        <p:nvSpPr>
          <p:cNvPr id="25" name="Now when" descr=" 391194">
            <a:extLst>
              <a:ext uri="{FF2B5EF4-FFF2-40B4-BE49-F238E27FC236}">
                <a16:creationId xmlns:a16="http://schemas.microsoft.com/office/drawing/2014/main" id="{BD5A1729-C44E-4975-A2BC-6E22ACC51CC0}"/>
              </a:ext>
            </a:extLst>
          </p:cNvPr>
          <p:cNvSpPr>
            <a:spLocks noChangeArrowheads="1"/>
          </p:cNvSpPr>
          <p:nvPr/>
        </p:nvSpPr>
        <p:spPr bwMode="auto">
          <a:xfrm>
            <a:off x="6667501" y="2025650"/>
            <a:ext cx="3783197" cy="856326"/>
          </a:xfrm>
          <a:prstGeom prst="wedgeRoundRectCallout">
            <a:avLst>
              <a:gd name="adj1" fmla="val -29123"/>
              <a:gd name="adj2" fmla="val 234996"/>
              <a:gd name="adj3" fmla="val 16667"/>
            </a:avLst>
          </a:prstGeom>
          <a:solidFill>
            <a:srgbClr val="00B0F0"/>
          </a:solidFill>
          <a:ln w="9525" algn="ctr">
            <a:no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a:lstStyle/>
          <a:p>
            <a:pPr marL="6350" indent="-6350">
              <a:lnSpc>
                <a:spcPct val="90000"/>
              </a:lnSpc>
              <a:spcBef>
                <a:spcPct val="20000"/>
              </a:spcBef>
              <a:defRPr/>
            </a:pPr>
            <a:r>
              <a:rPr lang="en-US" sz="2000" dirty="0">
                <a:latin typeface="Times New Roman" panose="02020603050405020304" pitchFamily="18" charset="0"/>
              </a:rPr>
              <a:t>Now when this statement gets executed ... </a:t>
            </a:r>
          </a:p>
        </p:txBody>
      </p:sp>
      <p:sp>
        <p:nvSpPr>
          <p:cNvPr id="27" name="Freeform 20" descr=" 36">
            <a:extLst>
              <a:ext uri="{FF2B5EF4-FFF2-40B4-BE49-F238E27FC236}">
                <a16:creationId xmlns:a16="http://schemas.microsoft.com/office/drawing/2014/main" id="{9EA210D2-A9CD-441B-8F2F-862C7EC5DD1D}"/>
              </a:ext>
            </a:extLst>
          </p:cNvPr>
          <p:cNvSpPr>
            <a:spLocks/>
          </p:cNvSpPr>
          <p:nvPr/>
        </p:nvSpPr>
        <p:spPr bwMode="auto">
          <a:xfrm>
            <a:off x="3448050" y="4148138"/>
            <a:ext cx="630238" cy="642937"/>
          </a:xfrm>
          <a:custGeom>
            <a:avLst/>
            <a:gdLst>
              <a:gd name="T0" fmla="*/ 2147483647 w 301"/>
              <a:gd name="T1" fmla="*/ 2147483647 h 407"/>
              <a:gd name="T2" fmla="*/ 2147483647 w 301"/>
              <a:gd name="T3" fmla="*/ 2147483647 h 407"/>
              <a:gd name="T4" fmla="*/ 2147483647 w 301"/>
              <a:gd name="T5" fmla="*/ 2147483647 h 407"/>
              <a:gd name="T6" fmla="*/ 2147483647 w 301"/>
              <a:gd name="T7" fmla="*/ 0 h 407"/>
              <a:gd name="T8" fmla="*/ 0 60000 65536"/>
              <a:gd name="T9" fmla="*/ 0 60000 65536"/>
              <a:gd name="T10" fmla="*/ 0 60000 65536"/>
              <a:gd name="T11" fmla="*/ 0 60000 65536"/>
              <a:gd name="T12" fmla="*/ 0 w 301"/>
              <a:gd name="T13" fmla="*/ 0 h 407"/>
              <a:gd name="T14" fmla="*/ 301 w 301"/>
              <a:gd name="T15" fmla="*/ 407 h 407"/>
            </a:gdLst>
            <a:ahLst/>
            <a:cxnLst>
              <a:cxn ang="T8">
                <a:pos x="T0" y="T1"/>
              </a:cxn>
              <a:cxn ang="T9">
                <a:pos x="T2" y="T3"/>
              </a:cxn>
              <a:cxn ang="T10">
                <a:pos x="T4" y="T5"/>
              </a:cxn>
              <a:cxn ang="T11">
                <a:pos x="T6" y="T7"/>
              </a:cxn>
            </a:cxnLst>
            <a:rect l="T12" t="T13" r="T14" b="T15"/>
            <a:pathLst>
              <a:path w="301" h="407">
                <a:moveTo>
                  <a:pt x="301" y="407"/>
                </a:moveTo>
                <a:cubicBezTo>
                  <a:pt x="258" y="384"/>
                  <a:pt x="93" y="326"/>
                  <a:pt x="48" y="277"/>
                </a:cubicBezTo>
                <a:cubicBezTo>
                  <a:pt x="3" y="228"/>
                  <a:pt x="0" y="161"/>
                  <a:pt x="32" y="115"/>
                </a:cubicBezTo>
                <a:cubicBezTo>
                  <a:pt x="64" y="69"/>
                  <a:pt x="197" y="24"/>
                  <a:pt x="240" y="0"/>
                </a:cubicBezTo>
              </a:path>
            </a:pathLst>
          </a:custGeom>
          <a:noFill/>
          <a:ln w="57150" cap="flat" cmpd="sng">
            <a:solidFill>
              <a:srgbClr val="FFCC00"/>
            </a:solidFill>
            <a:prstDash val="solid"/>
            <a:round/>
            <a:headEnd type="none" w="med" len="me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a:lstStyle/>
          <a:p>
            <a:endParaRPr lang="en-US" dirty="0">
              <a:latin typeface="Times New Roman" panose="02020603050405020304" pitchFamily="18" charset="0"/>
            </a:endParaRPr>
          </a:p>
        </p:txBody>
      </p:sp>
      <p:sp>
        <p:nvSpPr>
          <p:cNvPr id="2" name="... the value" descr=" 391193">
            <a:extLst>
              <a:ext uri="{FF2B5EF4-FFF2-40B4-BE49-F238E27FC236}">
                <a16:creationId xmlns:a16="http://schemas.microsoft.com/office/drawing/2014/main" id="{C90B9C73-5EBA-AABD-8731-BBB853CF6EB3}"/>
              </a:ext>
            </a:extLst>
          </p:cNvPr>
          <p:cNvSpPr>
            <a:spLocks noChangeArrowheads="1"/>
          </p:cNvSpPr>
          <p:nvPr/>
        </p:nvSpPr>
        <p:spPr bwMode="auto">
          <a:xfrm>
            <a:off x="5942041" y="5429251"/>
            <a:ext cx="4070547" cy="1337589"/>
          </a:xfrm>
          <a:prstGeom prst="wedgeRoundRectCallout">
            <a:avLst>
              <a:gd name="adj1" fmla="val -84093"/>
              <a:gd name="adj2" fmla="val -128455"/>
              <a:gd name="adj3" fmla="val 16667"/>
            </a:avLst>
          </a:prstGeom>
          <a:solidFill>
            <a:srgbClr val="00B0F0"/>
          </a:solidFill>
          <a:ln w="9525" algn="ctr">
            <a:no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a:lstStyle/>
          <a:p>
            <a:pPr marL="228600" indent="-228600">
              <a:lnSpc>
                <a:spcPct val="90000"/>
              </a:lnSpc>
              <a:spcBef>
                <a:spcPct val="20000"/>
              </a:spcBef>
              <a:defRPr/>
            </a:pPr>
            <a:r>
              <a:rPr lang="en-US" sz="2000" dirty="0">
                <a:latin typeface="Times New Roman" panose="02020603050405020304" pitchFamily="18" charset="0"/>
              </a:rPr>
              <a:t>… the value in </a:t>
            </a:r>
            <a:r>
              <a:rPr lang="en-US" sz="2400" dirty="0">
                <a:latin typeface="Times New Roman" panose="02020603050405020304" pitchFamily="18" charset="0"/>
              </a:rPr>
              <a:t>main</a:t>
            </a:r>
            <a:r>
              <a:rPr lang="en-US" sz="2000" dirty="0">
                <a:latin typeface="Times New Roman" panose="02020603050405020304" pitchFamily="18" charset="0"/>
              </a:rPr>
              <a:t>’s cell named </a:t>
            </a:r>
            <a:r>
              <a:rPr lang="en-US" sz="2400" dirty="0">
                <a:latin typeface="Times New Roman" panose="02020603050405020304" pitchFamily="18" charset="0"/>
              </a:rPr>
              <a:t>x</a:t>
            </a:r>
            <a:r>
              <a:rPr lang="en-US" sz="2000" dirty="0">
                <a:latin typeface="Times New Roman" panose="02020603050405020304" pitchFamily="18" charset="0"/>
              </a:rPr>
              <a:t> is changed; so </a:t>
            </a:r>
            <a:r>
              <a:rPr lang="en-US" sz="2400" dirty="0">
                <a:latin typeface="Times New Roman" panose="02020603050405020304" pitchFamily="18" charset="0"/>
              </a:rPr>
              <a:t>funct1</a:t>
            </a:r>
            <a:r>
              <a:rPr lang="en-US" sz="2000" dirty="0">
                <a:latin typeface="Times New Roman" panose="02020603050405020304" pitchFamily="18" charset="0"/>
              </a:rPr>
              <a:t> has produced a side-effect</a:t>
            </a:r>
          </a:p>
        </p:txBody>
      </p:sp>
      <p:sp>
        <p:nvSpPr>
          <p:cNvPr id="5" name="Rectangle 3" descr=" 8196">
            <a:extLst>
              <a:ext uri="{FF2B5EF4-FFF2-40B4-BE49-F238E27FC236}">
                <a16:creationId xmlns:a16="http://schemas.microsoft.com/office/drawing/2014/main" id="{5159F0A8-B42A-B4D1-1B90-9AB31AD64A84}"/>
              </a:ext>
            </a:extLst>
          </p:cNvPr>
          <p:cNvSpPr txBox="1">
            <a:spLocks noChangeArrowheads="1"/>
          </p:cNvSpPr>
          <p:nvPr/>
        </p:nvSpPr>
        <p:spPr>
          <a:xfrm>
            <a:off x="738753" y="302261"/>
            <a:ext cx="11453247" cy="1325563"/>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i="0" kern="1200" cap="all">
                <a:solidFill>
                  <a:schemeClr val="bg1"/>
                </a:solidFill>
                <a:latin typeface="Times New Roman" panose="02020603050405020304" pitchFamily="18"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cap="none" dirty="0"/>
              <a:t>Passing Pointers (Addresses) To A Function</a:t>
            </a:r>
          </a:p>
        </p:txBody>
      </p:sp>
    </p:spTree>
    <p:extLst>
      <p:ext uri="{BB962C8B-B14F-4D97-AF65-F5344CB8AC3E}">
        <p14:creationId xmlns:p14="http://schemas.microsoft.com/office/powerpoint/2010/main" val="253483580"/>
      </p:ext>
    </p:extLst>
  </p:cSld>
  <p:clrMapOvr>
    <a:masterClrMapping/>
  </p:clrMapOvr>
  <p:transition spd="slow">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5159" y="918208"/>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What is a Linked List</a:t>
            </a:r>
          </a:p>
        </p:txBody>
      </p:sp>
      <p:sp>
        <p:nvSpPr>
          <p:cNvPr id="3" name="Content Placeholder 2">
            <a:extLst>
              <a:ext uri="{FF2B5EF4-FFF2-40B4-BE49-F238E27FC236}">
                <a16:creationId xmlns:a16="http://schemas.microsoft.com/office/drawing/2014/main" id="{0DD4AC5F-AB24-C4C7-F79F-8502485D03EA}"/>
              </a:ext>
            </a:extLst>
          </p:cNvPr>
          <p:cNvSpPr txBox="1">
            <a:spLocks/>
          </p:cNvSpPr>
          <p:nvPr/>
        </p:nvSpPr>
        <p:spPr>
          <a:xfrm>
            <a:off x="879671" y="1997841"/>
            <a:ext cx="10149400" cy="2862318"/>
          </a:xfrm>
          <a:prstGeom prst="rect">
            <a:avLst/>
          </a:prstGeom>
        </p:spPr>
        <p:txBody>
          <a:bodyPr/>
          <a:lstStyle>
            <a:lvl1pPr marL="228600" indent="-228600" algn="l" rtl="0" eaLnBrk="1" fontAlgn="base" hangingPunct="1">
              <a:spcBef>
                <a:spcPct val="20000"/>
              </a:spcBef>
              <a:spcAft>
                <a:spcPct val="0"/>
              </a:spcAft>
              <a:buClr>
                <a:srgbClr val="004800"/>
              </a:buClr>
              <a:buSzPct val="120000"/>
              <a:buChar char="•"/>
              <a:defRPr sz="2400">
                <a:solidFill>
                  <a:srgbClr val="004800"/>
                </a:solidFill>
                <a:latin typeface="+mn-lt"/>
                <a:ea typeface="+mn-ea"/>
                <a:cs typeface="+mn-cs"/>
              </a:defRPr>
            </a:lvl1pPr>
            <a:lvl2pPr marL="685800" indent="-228600" algn="l" rtl="0" eaLnBrk="1" fontAlgn="base" hangingPunct="1">
              <a:spcBef>
                <a:spcPct val="20000"/>
              </a:spcBef>
              <a:spcAft>
                <a:spcPct val="0"/>
              </a:spcAft>
              <a:buClr>
                <a:srgbClr val="004800"/>
              </a:buClr>
              <a:buSzPct val="120000"/>
              <a:buChar char="•"/>
              <a:defRPr sz="2200">
                <a:solidFill>
                  <a:srgbClr val="004800"/>
                </a:solidFill>
                <a:latin typeface="+mn-lt"/>
              </a:defRPr>
            </a:lvl2pPr>
            <a:lvl3pPr marL="1143000" indent="-228600" algn="l" rtl="0" eaLnBrk="1" fontAlgn="base" hangingPunct="1">
              <a:spcBef>
                <a:spcPct val="20000"/>
              </a:spcBef>
              <a:spcAft>
                <a:spcPct val="0"/>
              </a:spcAft>
              <a:buClr>
                <a:srgbClr val="004800"/>
              </a:buClr>
              <a:buSzPct val="120000"/>
              <a:buChar char="•"/>
              <a:defRPr sz="2000">
                <a:solidFill>
                  <a:srgbClr val="004800"/>
                </a:solidFill>
                <a:latin typeface="+mn-lt"/>
              </a:defRPr>
            </a:lvl3pPr>
            <a:lvl4pPr marL="1600200" indent="-228600" algn="l" rtl="0" eaLnBrk="1" fontAlgn="base" hangingPunct="1">
              <a:spcBef>
                <a:spcPct val="20000"/>
              </a:spcBef>
              <a:spcAft>
                <a:spcPct val="0"/>
              </a:spcAft>
              <a:buClr>
                <a:srgbClr val="004800"/>
              </a:buClr>
              <a:buSzPct val="120000"/>
              <a:buChar char="•"/>
              <a:defRPr>
                <a:solidFill>
                  <a:srgbClr val="004800"/>
                </a:solidFill>
                <a:latin typeface="+mn-lt"/>
              </a:defRPr>
            </a:lvl4pPr>
            <a:lvl5pPr marL="2057400" indent="-228600" algn="l" rtl="0" eaLnBrk="1" fontAlgn="base" hangingPunct="1">
              <a:spcBef>
                <a:spcPct val="20000"/>
              </a:spcBef>
              <a:spcAft>
                <a:spcPct val="0"/>
              </a:spcAft>
              <a:buClr>
                <a:srgbClr val="004800"/>
              </a:buClr>
              <a:buSzPct val="120000"/>
              <a:buChar char="•"/>
              <a:defRPr sz="1600">
                <a:solidFill>
                  <a:srgbClr val="004800"/>
                </a:solidFill>
                <a:latin typeface="+mn-lt"/>
              </a:defRPr>
            </a:lvl5pPr>
            <a:lvl6pPr marL="2514600" indent="-228600" algn="l" rtl="0" eaLnBrk="1" fontAlgn="base" hangingPunct="1">
              <a:spcBef>
                <a:spcPct val="20000"/>
              </a:spcBef>
              <a:spcAft>
                <a:spcPct val="0"/>
              </a:spcAft>
              <a:buClr>
                <a:srgbClr val="006600"/>
              </a:buClr>
              <a:buSzPct val="120000"/>
              <a:buChar char="•"/>
              <a:defRPr sz="1600">
                <a:solidFill>
                  <a:srgbClr val="006600"/>
                </a:solidFill>
                <a:latin typeface="+mn-lt"/>
              </a:defRPr>
            </a:lvl6pPr>
            <a:lvl7pPr marL="2971800" indent="-228600" algn="l" rtl="0" eaLnBrk="1" fontAlgn="base" hangingPunct="1">
              <a:spcBef>
                <a:spcPct val="20000"/>
              </a:spcBef>
              <a:spcAft>
                <a:spcPct val="0"/>
              </a:spcAft>
              <a:buClr>
                <a:srgbClr val="006600"/>
              </a:buClr>
              <a:buSzPct val="120000"/>
              <a:buChar char="•"/>
              <a:defRPr sz="1600">
                <a:solidFill>
                  <a:srgbClr val="006600"/>
                </a:solidFill>
                <a:latin typeface="+mn-lt"/>
              </a:defRPr>
            </a:lvl7pPr>
            <a:lvl8pPr marL="3429000" indent="-228600" algn="l" rtl="0" eaLnBrk="1" fontAlgn="base" hangingPunct="1">
              <a:spcBef>
                <a:spcPct val="20000"/>
              </a:spcBef>
              <a:spcAft>
                <a:spcPct val="0"/>
              </a:spcAft>
              <a:buClr>
                <a:srgbClr val="006600"/>
              </a:buClr>
              <a:buSzPct val="120000"/>
              <a:buChar char="•"/>
              <a:defRPr sz="1600">
                <a:solidFill>
                  <a:srgbClr val="006600"/>
                </a:solidFill>
                <a:latin typeface="+mn-lt"/>
              </a:defRPr>
            </a:lvl8pPr>
            <a:lvl9pPr marL="3886200" indent="-228600" algn="l" rtl="0" eaLnBrk="1" fontAlgn="base" hangingPunct="1">
              <a:spcBef>
                <a:spcPct val="20000"/>
              </a:spcBef>
              <a:spcAft>
                <a:spcPct val="0"/>
              </a:spcAft>
              <a:buClr>
                <a:srgbClr val="006600"/>
              </a:buClr>
              <a:buSzPct val="120000"/>
              <a:buChar char="•"/>
              <a:defRPr sz="1600">
                <a:solidFill>
                  <a:srgbClr val="006600"/>
                </a:solidFill>
                <a:latin typeface="+mn-lt"/>
              </a:defRPr>
            </a:lvl9pPr>
          </a:lstStyle>
          <a:p>
            <a:pPr marL="0" indent="0">
              <a:spcBef>
                <a:spcPts val="450"/>
              </a:spcBef>
              <a:spcAft>
                <a:spcPts val="450"/>
              </a:spcAft>
              <a:buNone/>
            </a:pPr>
            <a:r>
              <a:rPr lang="en-US" sz="2800" kern="0" dirty="0">
                <a:solidFill>
                  <a:schemeClr val="tx1"/>
                </a:solidFill>
                <a:latin typeface="Times New Roman" panose="02020603050405020304" pitchFamily="18" charset="0"/>
              </a:rPr>
              <a:t>You can use C structs to create nodes that contain data as well as pointers to the next node.  This is what we call a linked list.</a:t>
            </a:r>
          </a:p>
          <a:p>
            <a:pPr marL="0" indent="0">
              <a:buNone/>
            </a:pPr>
            <a:endParaRPr lang="en-US" sz="1650" kern="0" dirty="0">
              <a:latin typeface="Times New Roman" panose="02020603050405020304" pitchFamily="18" charset="0"/>
            </a:endParaRPr>
          </a:p>
        </p:txBody>
      </p:sp>
      <p:graphicFrame>
        <p:nvGraphicFramePr>
          <p:cNvPr id="5" name="Table 4">
            <a:extLst>
              <a:ext uri="{FF2B5EF4-FFF2-40B4-BE49-F238E27FC236}">
                <a16:creationId xmlns:a16="http://schemas.microsoft.com/office/drawing/2014/main" id="{0FBDB4F4-FE8D-ABB2-7B71-CF7CF68E93D6}"/>
              </a:ext>
            </a:extLst>
          </p:cNvPr>
          <p:cNvGraphicFramePr>
            <a:graphicFrameLocks noGrp="1"/>
          </p:cNvGraphicFramePr>
          <p:nvPr/>
        </p:nvGraphicFramePr>
        <p:xfrm>
          <a:off x="3977410" y="4108882"/>
          <a:ext cx="1088332" cy="518160"/>
        </p:xfrm>
        <a:graphic>
          <a:graphicData uri="http://schemas.openxmlformats.org/drawingml/2006/table">
            <a:tbl>
              <a:tblPr firstRow="1" bandRow="1">
                <a:tableStyleId>{00A15C55-8517-42AA-B614-E9B94910E393}</a:tableStyleId>
              </a:tblPr>
              <a:tblGrid>
                <a:gridCol w="449580">
                  <a:extLst>
                    <a:ext uri="{9D8B030D-6E8A-4147-A177-3AD203B41FA5}">
                      <a16:colId xmlns:a16="http://schemas.microsoft.com/office/drawing/2014/main" val="2040420075"/>
                    </a:ext>
                  </a:extLst>
                </a:gridCol>
                <a:gridCol w="638752">
                  <a:extLst>
                    <a:ext uri="{9D8B030D-6E8A-4147-A177-3AD203B41FA5}">
                      <a16:colId xmlns:a16="http://schemas.microsoft.com/office/drawing/2014/main" val="1272438665"/>
                    </a:ext>
                  </a:extLst>
                </a:gridCol>
              </a:tblGrid>
              <a:tr h="404087">
                <a:tc>
                  <a:txBody>
                    <a:bodyPr/>
                    <a:lstStyle/>
                    <a:p>
                      <a:pPr algn="ctr"/>
                      <a:r>
                        <a:rPr lang="en-US" sz="2800" b="0" i="0" dirty="0">
                          <a:latin typeface="Times New Roman" panose="02020603050405020304" pitchFamily="18" charset="0"/>
                        </a:rPr>
                        <a:t>5</a:t>
                      </a:r>
                    </a:p>
                  </a:txBody>
                  <a:tcPr/>
                </a:tc>
                <a:tc>
                  <a:txBody>
                    <a:bodyPr/>
                    <a:lstStyle/>
                    <a:p>
                      <a:pPr marL="0" algn="ctr" defTabSz="685800" rtl="0" eaLnBrk="1" latinLnBrk="0" hangingPunct="1"/>
                      <a:endParaRPr lang="en-US" sz="2800" b="0" i="0" kern="1200" dirty="0">
                        <a:solidFill>
                          <a:schemeClr val="lt1"/>
                        </a:solidFill>
                        <a:latin typeface="Times New Roman" panose="02020603050405020304" pitchFamily="18" charset="0"/>
                        <a:ea typeface="+mn-ea"/>
                        <a:cs typeface="+mn-cs"/>
                      </a:endParaRPr>
                    </a:p>
                  </a:txBody>
                  <a:tcPr/>
                </a:tc>
                <a:extLst>
                  <a:ext uri="{0D108BD9-81ED-4DB2-BD59-A6C34878D82A}">
                    <a16:rowId xmlns:a16="http://schemas.microsoft.com/office/drawing/2014/main" val="2773382433"/>
                  </a:ext>
                </a:extLst>
              </a:tr>
            </a:tbl>
          </a:graphicData>
        </a:graphic>
      </p:graphicFrame>
      <p:graphicFrame>
        <p:nvGraphicFramePr>
          <p:cNvPr id="7" name="Table 6">
            <a:extLst>
              <a:ext uri="{FF2B5EF4-FFF2-40B4-BE49-F238E27FC236}">
                <a16:creationId xmlns:a16="http://schemas.microsoft.com/office/drawing/2014/main" id="{1D1D3677-7F6C-DAC1-B703-304FD82F12D1}"/>
              </a:ext>
            </a:extLst>
          </p:cNvPr>
          <p:cNvGraphicFramePr>
            <a:graphicFrameLocks noGrp="1"/>
          </p:cNvGraphicFramePr>
          <p:nvPr/>
        </p:nvGraphicFramePr>
        <p:xfrm>
          <a:off x="5387765" y="4091730"/>
          <a:ext cx="1099521" cy="518160"/>
        </p:xfrm>
        <a:graphic>
          <a:graphicData uri="http://schemas.openxmlformats.org/drawingml/2006/table">
            <a:tbl>
              <a:tblPr firstRow="1" bandRow="1">
                <a:tableStyleId>{00A15C55-8517-42AA-B614-E9B94910E393}</a:tableStyleId>
              </a:tblPr>
              <a:tblGrid>
                <a:gridCol w="481812">
                  <a:extLst>
                    <a:ext uri="{9D8B030D-6E8A-4147-A177-3AD203B41FA5}">
                      <a16:colId xmlns:a16="http://schemas.microsoft.com/office/drawing/2014/main" val="2040420075"/>
                    </a:ext>
                  </a:extLst>
                </a:gridCol>
                <a:gridCol w="617709">
                  <a:extLst>
                    <a:ext uri="{9D8B030D-6E8A-4147-A177-3AD203B41FA5}">
                      <a16:colId xmlns:a16="http://schemas.microsoft.com/office/drawing/2014/main" val="1272438665"/>
                    </a:ext>
                  </a:extLst>
                </a:gridCol>
              </a:tblGrid>
              <a:tr h="404087">
                <a:tc>
                  <a:txBody>
                    <a:bodyPr/>
                    <a:lstStyle/>
                    <a:p>
                      <a:pPr algn="ctr"/>
                      <a:r>
                        <a:rPr lang="en-US" sz="2800" b="0" i="0" dirty="0">
                          <a:latin typeface="Times New Roman" panose="02020603050405020304" pitchFamily="18" charset="0"/>
                        </a:rPr>
                        <a:t>9</a:t>
                      </a:r>
                    </a:p>
                  </a:txBody>
                  <a:tcPr/>
                </a:tc>
                <a:tc>
                  <a:txBody>
                    <a:bodyPr/>
                    <a:lstStyle/>
                    <a:p>
                      <a:pPr marL="0" algn="ctr" defTabSz="685800" rtl="0" eaLnBrk="1" latinLnBrk="0" hangingPunct="1"/>
                      <a:endParaRPr lang="en-US" sz="2800" b="0" i="0" kern="1200" dirty="0">
                        <a:solidFill>
                          <a:schemeClr val="lt1"/>
                        </a:solidFill>
                        <a:latin typeface="Times New Roman" panose="02020603050405020304" pitchFamily="18" charset="0"/>
                        <a:ea typeface="+mn-ea"/>
                        <a:cs typeface="+mn-cs"/>
                      </a:endParaRPr>
                    </a:p>
                  </a:txBody>
                  <a:tcPr/>
                </a:tc>
                <a:extLst>
                  <a:ext uri="{0D108BD9-81ED-4DB2-BD59-A6C34878D82A}">
                    <a16:rowId xmlns:a16="http://schemas.microsoft.com/office/drawing/2014/main" val="2773382433"/>
                  </a:ext>
                </a:extLst>
              </a:tr>
            </a:tbl>
          </a:graphicData>
        </a:graphic>
      </p:graphicFrame>
      <p:sp>
        <p:nvSpPr>
          <p:cNvPr id="8" name="Right Arrow 7">
            <a:extLst>
              <a:ext uri="{FF2B5EF4-FFF2-40B4-BE49-F238E27FC236}">
                <a16:creationId xmlns:a16="http://schemas.microsoft.com/office/drawing/2014/main" id="{FD0CB734-907E-FD66-8B44-EAC530D6D166}"/>
              </a:ext>
            </a:extLst>
          </p:cNvPr>
          <p:cNvSpPr/>
          <p:nvPr/>
        </p:nvSpPr>
        <p:spPr>
          <a:xfrm>
            <a:off x="4861065" y="4303402"/>
            <a:ext cx="526700" cy="1892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graphicFrame>
        <p:nvGraphicFramePr>
          <p:cNvPr id="9" name="Table 8">
            <a:extLst>
              <a:ext uri="{FF2B5EF4-FFF2-40B4-BE49-F238E27FC236}">
                <a16:creationId xmlns:a16="http://schemas.microsoft.com/office/drawing/2014/main" id="{F9FB1D66-8D33-B112-3167-6A03626372B2}"/>
              </a:ext>
            </a:extLst>
          </p:cNvPr>
          <p:cNvGraphicFramePr>
            <a:graphicFrameLocks noGrp="1"/>
          </p:cNvGraphicFramePr>
          <p:nvPr/>
        </p:nvGraphicFramePr>
        <p:xfrm>
          <a:off x="6977972" y="4106914"/>
          <a:ext cx="1332169" cy="518160"/>
        </p:xfrm>
        <a:graphic>
          <a:graphicData uri="http://schemas.openxmlformats.org/drawingml/2006/table">
            <a:tbl>
              <a:tblPr firstRow="1" bandRow="1">
                <a:tableStyleId>{00A15C55-8517-42AA-B614-E9B94910E393}</a:tableStyleId>
              </a:tblPr>
              <a:tblGrid>
                <a:gridCol w="583758">
                  <a:extLst>
                    <a:ext uri="{9D8B030D-6E8A-4147-A177-3AD203B41FA5}">
                      <a16:colId xmlns:a16="http://schemas.microsoft.com/office/drawing/2014/main" val="2040420075"/>
                    </a:ext>
                  </a:extLst>
                </a:gridCol>
                <a:gridCol w="748411">
                  <a:extLst>
                    <a:ext uri="{9D8B030D-6E8A-4147-A177-3AD203B41FA5}">
                      <a16:colId xmlns:a16="http://schemas.microsoft.com/office/drawing/2014/main" val="1272438665"/>
                    </a:ext>
                  </a:extLst>
                </a:gridCol>
              </a:tblGrid>
              <a:tr h="404087">
                <a:tc>
                  <a:txBody>
                    <a:bodyPr/>
                    <a:lstStyle/>
                    <a:p>
                      <a:pPr algn="ctr"/>
                      <a:r>
                        <a:rPr lang="en-US" sz="2800" b="0" i="0" dirty="0">
                          <a:latin typeface="Times New Roman" panose="02020603050405020304" pitchFamily="18" charset="0"/>
                        </a:rPr>
                        <a:t>8</a:t>
                      </a:r>
                    </a:p>
                  </a:txBody>
                  <a:tcPr/>
                </a:tc>
                <a:tc>
                  <a:txBody>
                    <a:bodyPr/>
                    <a:lstStyle/>
                    <a:p>
                      <a:pPr marL="0" algn="ctr" defTabSz="685800" rtl="0" eaLnBrk="1" latinLnBrk="0" hangingPunct="1"/>
                      <a:endParaRPr lang="en-US" sz="2800" b="0" i="0" kern="1200" dirty="0">
                        <a:solidFill>
                          <a:schemeClr val="lt1"/>
                        </a:solidFill>
                        <a:latin typeface="Times New Roman" panose="02020603050405020304" pitchFamily="18" charset="0"/>
                        <a:ea typeface="+mn-ea"/>
                        <a:cs typeface="+mn-cs"/>
                      </a:endParaRPr>
                    </a:p>
                  </a:txBody>
                  <a:tcPr/>
                </a:tc>
                <a:extLst>
                  <a:ext uri="{0D108BD9-81ED-4DB2-BD59-A6C34878D82A}">
                    <a16:rowId xmlns:a16="http://schemas.microsoft.com/office/drawing/2014/main" val="2773382433"/>
                  </a:ext>
                </a:extLst>
              </a:tr>
            </a:tbl>
          </a:graphicData>
        </a:graphic>
      </p:graphicFrame>
      <p:graphicFrame>
        <p:nvGraphicFramePr>
          <p:cNvPr id="11" name="Table 10">
            <a:extLst>
              <a:ext uri="{FF2B5EF4-FFF2-40B4-BE49-F238E27FC236}">
                <a16:creationId xmlns:a16="http://schemas.microsoft.com/office/drawing/2014/main" id="{FA849975-50F2-EF17-C2D2-923407F8F2E0}"/>
              </a:ext>
            </a:extLst>
          </p:cNvPr>
          <p:cNvGraphicFramePr>
            <a:graphicFrameLocks noGrp="1"/>
          </p:cNvGraphicFramePr>
          <p:nvPr/>
        </p:nvGraphicFramePr>
        <p:xfrm>
          <a:off x="8800826" y="4094095"/>
          <a:ext cx="1402153" cy="518160"/>
        </p:xfrm>
        <a:graphic>
          <a:graphicData uri="http://schemas.openxmlformats.org/drawingml/2006/table">
            <a:tbl>
              <a:tblPr firstRow="1" bandRow="1">
                <a:tableStyleId>{00A15C55-8517-42AA-B614-E9B94910E393}</a:tableStyleId>
              </a:tblPr>
              <a:tblGrid>
                <a:gridCol w="449580">
                  <a:extLst>
                    <a:ext uri="{9D8B030D-6E8A-4147-A177-3AD203B41FA5}">
                      <a16:colId xmlns:a16="http://schemas.microsoft.com/office/drawing/2014/main" val="2040420075"/>
                    </a:ext>
                  </a:extLst>
                </a:gridCol>
                <a:gridCol w="952573">
                  <a:extLst>
                    <a:ext uri="{9D8B030D-6E8A-4147-A177-3AD203B41FA5}">
                      <a16:colId xmlns:a16="http://schemas.microsoft.com/office/drawing/2014/main" val="1272438665"/>
                    </a:ext>
                  </a:extLst>
                </a:gridCol>
              </a:tblGrid>
              <a:tr h="404087">
                <a:tc>
                  <a:txBody>
                    <a:bodyPr/>
                    <a:lstStyle/>
                    <a:p>
                      <a:pPr algn="ctr"/>
                      <a:r>
                        <a:rPr lang="en-US" sz="2800" b="0" i="0" dirty="0">
                          <a:latin typeface="Times New Roman" panose="02020603050405020304" pitchFamily="18" charset="0"/>
                        </a:rPr>
                        <a:t>2</a:t>
                      </a:r>
                    </a:p>
                  </a:txBody>
                  <a:tcPr/>
                </a:tc>
                <a:tc>
                  <a:txBody>
                    <a:bodyPr/>
                    <a:lstStyle/>
                    <a:p>
                      <a:pPr marL="0" algn="ctr" defTabSz="685800" rtl="0" eaLnBrk="1" latinLnBrk="0" hangingPunct="1"/>
                      <a:r>
                        <a:rPr lang="en-US" sz="2000" b="0" i="0" kern="1200" dirty="0">
                          <a:solidFill>
                            <a:schemeClr val="lt1"/>
                          </a:solidFill>
                          <a:latin typeface="Times New Roman" panose="02020603050405020304" pitchFamily="18" charset="0"/>
                          <a:ea typeface="+mn-ea"/>
                          <a:cs typeface="+mn-cs"/>
                        </a:rPr>
                        <a:t>NULL</a:t>
                      </a:r>
                    </a:p>
                  </a:txBody>
                  <a:tcPr/>
                </a:tc>
                <a:extLst>
                  <a:ext uri="{0D108BD9-81ED-4DB2-BD59-A6C34878D82A}">
                    <a16:rowId xmlns:a16="http://schemas.microsoft.com/office/drawing/2014/main" val="2773382433"/>
                  </a:ext>
                </a:extLst>
              </a:tr>
            </a:tbl>
          </a:graphicData>
        </a:graphic>
      </p:graphicFrame>
      <p:sp>
        <p:nvSpPr>
          <p:cNvPr id="13" name="Right Arrow 12">
            <a:extLst>
              <a:ext uri="{FF2B5EF4-FFF2-40B4-BE49-F238E27FC236}">
                <a16:creationId xmlns:a16="http://schemas.microsoft.com/office/drawing/2014/main" id="{33A91980-E504-4987-7942-DE6B1C766D0A}"/>
              </a:ext>
            </a:extLst>
          </p:cNvPr>
          <p:cNvSpPr/>
          <p:nvPr/>
        </p:nvSpPr>
        <p:spPr>
          <a:xfrm>
            <a:off x="2949702" y="4209192"/>
            <a:ext cx="1027708" cy="1892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14" name="Content Placeholder 2">
            <a:extLst>
              <a:ext uri="{FF2B5EF4-FFF2-40B4-BE49-F238E27FC236}">
                <a16:creationId xmlns:a16="http://schemas.microsoft.com/office/drawing/2014/main" id="{8B4F497D-1045-981C-EEBE-33E2A04CF9C3}"/>
              </a:ext>
            </a:extLst>
          </p:cNvPr>
          <p:cNvSpPr txBox="1">
            <a:spLocks/>
          </p:cNvSpPr>
          <p:nvPr/>
        </p:nvSpPr>
        <p:spPr>
          <a:xfrm>
            <a:off x="1993589" y="3974445"/>
            <a:ext cx="1030563" cy="518160"/>
          </a:xfrm>
          <a:prstGeom prst="rect">
            <a:avLst/>
          </a:prstGeom>
        </p:spPr>
        <p:txBody>
          <a:bodyPr/>
          <a:lstStyle>
            <a:lvl1pPr marL="228600" indent="-228600" algn="l" rtl="0" eaLnBrk="1" fontAlgn="base" hangingPunct="1">
              <a:spcBef>
                <a:spcPct val="20000"/>
              </a:spcBef>
              <a:spcAft>
                <a:spcPct val="0"/>
              </a:spcAft>
              <a:buClr>
                <a:srgbClr val="004800"/>
              </a:buClr>
              <a:buSzPct val="120000"/>
              <a:buChar char="•"/>
              <a:defRPr sz="2400">
                <a:solidFill>
                  <a:srgbClr val="004800"/>
                </a:solidFill>
                <a:latin typeface="+mn-lt"/>
                <a:ea typeface="+mn-ea"/>
                <a:cs typeface="+mn-cs"/>
              </a:defRPr>
            </a:lvl1pPr>
            <a:lvl2pPr marL="685800" indent="-228600" algn="l" rtl="0" eaLnBrk="1" fontAlgn="base" hangingPunct="1">
              <a:spcBef>
                <a:spcPct val="20000"/>
              </a:spcBef>
              <a:spcAft>
                <a:spcPct val="0"/>
              </a:spcAft>
              <a:buClr>
                <a:srgbClr val="004800"/>
              </a:buClr>
              <a:buSzPct val="120000"/>
              <a:buChar char="•"/>
              <a:defRPr sz="2200">
                <a:solidFill>
                  <a:srgbClr val="004800"/>
                </a:solidFill>
                <a:latin typeface="+mn-lt"/>
              </a:defRPr>
            </a:lvl2pPr>
            <a:lvl3pPr marL="1143000" indent="-228600" algn="l" rtl="0" eaLnBrk="1" fontAlgn="base" hangingPunct="1">
              <a:spcBef>
                <a:spcPct val="20000"/>
              </a:spcBef>
              <a:spcAft>
                <a:spcPct val="0"/>
              </a:spcAft>
              <a:buClr>
                <a:srgbClr val="004800"/>
              </a:buClr>
              <a:buSzPct val="120000"/>
              <a:buChar char="•"/>
              <a:defRPr sz="2000">
                <a:solidFill>
                  <a:srgbClr val="004800"/>
                </a:solidFill>
                <a:latin typeface="+mn-lt"/>
              </a:defRPr>
            </a:lvl3pPr>
            <a:lvl4pPr marL="1600200" indent="-228600" algn="l" rtl="0" eaLnBrk="1" fontAlgn="base" hangingPunct="1">
              <a:spcBef>
                <a:spcPct val="20000"/>
              </a:spcBef>
              <a:spcAft>
                <a:spcPct val="0"/>
              </a:spcAft>
              <a:buClr>
                <a:srgbClr val="004800"/>
              </a:buClr>
              <a:buSzPct val="120000"/>
              <a:buChar char="•"/>
              <a:defRPr>
                <a:solidFill>
                  <a:srgbClr val="004800"/>
                </a:solidFill>
                <a:latin typeface="+mn-lt"/>
              </a:defRPr>
            </a:lvl4pPr>
            <a:lvl5pPr marL="2057400" indent="-228600" algn="l" rtl="0" eaLnBrk="1" fontAlgn="base" hangingPunct="1">
              <a:spcBef>
                <a:spcPct val="20000"/>
              </a:spcBef>
              <a:spcAft>
                <a:spcPct val="0"/>
              </a:spcAft>
              <a:buClr>
                <a:srgbClr val="004800"/>
              </a:buClr>
              <a:buSzPct val="120000"/>
              <a:buChar char="•"/>
              <a:defRPr sz="1600">
                <a:solidFill>
                  <a:srgbClr val="004800"/>
                </a:solidFill>
                <a:latin typeface="+mn-lt"/>
              </a:defRPr>
            </a:lvl5pPr>
            <a:lvl6pPr marL="2514600" indent="-228600" algn="l" rtl="0" eaLnBrk="1" fontAlgn="base" hangingPunct="1">
              <a:spcBef>
                <a:spcPct val="20000"/>
              </a:spcBef>
              <a:spcAft>
                <a:spcPct val="0"/>
              </a:spcAft>
              <a:buClr>
                <a:srgbClr val="006600"/>
              </a:buClr>
              <a:buSzPct val="120000"/>
              <a:buChar char="•"/>
              <a:defRPr sz="1600">
                <a:solidFill>
                  <a:srgbClr val="006600"/>
                </a:solidFill>
                <a:latin typeface="+mn-lt"/>
              </a:defRPr>
            </a:lvl6pPr>
            <a:lvl7pPr marL="2971800" indent="-228600" algn="l" rtl="0" eaLnBrk="1" fontAlgn="base" hangingPunct="1">
              <a:spcBef>
                <a:spcPct val="20000"/>
              </a:spcBef>
              <a:spcAft>
                <a:spcPct val="0"/>
              </a:spcAft>
              <a:buClr>
                <a:srgbClr val="006600"/>
              </a:buClr>
              <a:buSzPct val="120000"/>
              <a:buChar char="•"/>
              <a:defRPr sz="1600">
                <a:solidFill>
                  <a:srgbClr val="006600"/>
                </a:solidFill>
                <a:latin typeface="+mn-lt"/>
              </a:defRPr>
            </a:lvl7pPr>
            <a:lvl8pPr marL="3429000" indent="-228600" algn="l" rtl="0" eaLnBrk="1" fontAlgn="base" hangingPunct="1">
              <a:spcBef>
                <a:spcPct val="20000"/>
              </a:spcBef>
              <a:spcAft>
                <a:spcPct val="0"/>
              </a:spcAft>
              <a:buClr>
                <a:srgbClr val="006600"/>
              </a:buClr>
              <a:buSzPct val="120000"/>
              <a:buChar char="•"/>
              <a:defRPr sz="1600">
                <a:solidFill>
                  <a:srgbClr val="006600"/>
                </a:solidFill>
                <a:latin typeface="+mn-lt"/>
              </a:defRPr>
            </a:lvl8pPr>
            <a:lvl9pPr marL="3886200" indent="-228600" algn="l" rtl="0" eaLnBrk="1" fontAlgn="base" hangingPunct="1">
              <a:spcBef>
                <a:spcPct val="20000"/>
              </a:spcBef>
              <a:spcAft>
                <a:spcPct val="0"/>
              </a:spcAft>
              <a:buClr>
                <a:srgbClr val="006600"/>
              </a:buClr>
              <a:buSzPct val="120000"/>
              <a:buChar char="•"/>
              <a:defRPr sz="1600">
                <a:solidFill>
                  <a:srgbClr val="006600"/>
                </a:solidFill>
                <a:latin typeface="+mn-lt"/>
              </a:defRPr>
            </a:lvl9pPr>
          </a:lstStyle>
          <a:p>
            <a:pPr marL="0" indent="0">
              <a:spcBef>
                <a:spcPts val="450"/>
              </a:spcBef>
              <a:spcAft>
                <a:spcPts val="450"/>
              </a:spcAft>
              <a:buNone/>
            </a:pPr>
            <a:r>
              <a:rPr lang="en-US" sz="2800" kern="0" dirty="0">
                <a:solidFill>
                  <a:schemeClr val="tx1"/>
                </a:solidFill>
                <a:latin typeface="Times New Roman" panose="02020603050405020304" pitchFamily="18" charset="0"/>
              </a:rPr>
              <a:t>front</a:t>
            </a:r>
          </a:p>
          <a:p>
            <a:pPr marL="0" indent="0">
              <a:buNone/>
            </a:pPr>
            <a:endParaRPr lang="en-US" sz="1650" kern="0" dirty="0">
              <a:latin typeface="Times New Roman" panose="02020603050405020304" pitchFamily="18" charset="0"/>
            </a:endParaRPr>
          </a:p>
        </p:txBody>
      </p:sp>
      <p:sp>
        <p:nvSpPr>
          <p:cNvPr id="15" name="Right Arrow 14">
            <a:extLst>
              <a:ext uri="{FF2B5EF4-FFF2-40B4-BE49-F238E27FC236}">
                <a16:creationId xmlns:a16="http://schemas.microsoft.com/office/drawing/2014/main" id="{5BE10A33-D31C-799E-8948-DFB9DFAFC2AA}"/>
              </a:ext>
            </a:extLst>
          </p:cNvPr>
          <p:cNvSpPr/>
          <p:nvPr/>
        </p:nvSpPr>
        <p:spPr>
          <a:xfrm>
            <a:off x="6427698" y="4256209"/>
            <a:ext cx="526700" cy="1892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16" name="Right Arrow 15">
            <a:extLst>
              <a:ext uri="{FF2B5EF4-FFF2-40B4-BE49-F238E27FC236}">
                <a16:creationId xmlns:a16="http://schemas.microsoft.com/office/drawing/2014/main" id="{61D6D194-4362-A13C-BFE8-524C22930E43}"/>
              </a:ext>
            </a:extLst>
          </p:cNvPr>
          <p:cNvSpPr/>
          <p:nvPr/>
        </p:nvSpPr>
        <p:spPr>
          <a:xfrm>
            <a:off x="8274126" y="4256209"/>
            <a:ext cx="526700" cy="1892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10" name="TextBox 9">
            <a:extLst>
              <a:ext uri="{FF2B5EF4-FFF2-40B4-BE49-F238E27FC236}">
                <a16:creationId xmlns:a16="http://schemas.microsoft.com/office/drawing/2014/main" id="{286CEE6E-2EB5-DD60-F70D-3E98E2F95BE0}"/>
              </a:ext>
            </a:extLst>
          </p:cNvPr>
          <p:cNvSpPr txBox="1"/>
          <p:nvPr/>
        </p:nvSpPr>
        <p:spPr>
          <a:xfrm>
            <a:off x="2949702" y="5844445"/>
            <a:ext cx="6975348" cy="646331"/>
          </a:xfrm>
          <a:prstGeom prst="rect">
            <a:avLst/>
          </a:prstGeom>
          <a:noFill/>
        </p:spPr>
        <p:txBody>
          <a:bodyPr wrap="square">
            <a:spAutoFit/>
          </a:bodyPr>
          <a:lstStyle/>
          <a:p>
            <a:r>
              <a:rPr lang="en-US" dirty="0">
                <a:hlinkClick r:id="rId3"/>
              </a:rPr>
              <a:t>https://youtu.be/TmdsSTua6Ps?si=75K_Vps8TG3Gczbn</a:t>
            </a:r>
            <a:endParaRPr lang="en-US" dirty="0"/>
          </a:p>
          <a:p>
            <a:endParaRPr lang="en-US" dirty="0"/>
          </a:p>
        </p:txBody>
      </p:sp>
    </p:spTree>
    <p:extLst>
      <p:ext uri="{BB962C8B-B14F-4D97-AF65-F5344CB8AC3E}">
        <p14:creationId xmlns:p14="http://schemas.microsoft.com/office/powerpoint/2010/main" val="3903540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24360" y="606372"/>
            <a:ext cx="8229600" cy="990600"/>
          </a:xfrm>
        </p:spPr>
        <p:txBody>
          <a:bodyPr>
            <a:normAutofit/>
          </a:bodyPr>
          <a:lstStyle/>
          <a:p>
            <a:r>
              <a:rPr lang="en-US" sz="4400" cap="none" dirty="0">
                <a:solidFill>
                  <a:schemeClr val="bg1"/>
                </a:solidFill>
              </a:rPr>
              <a:t>Struct Review</a:t>
            </a:r>
          </a:p>
        </p:txBody>
      </p:sp>
      <p:sp>
        <p:nvSpPr>
          <p:cNvPr id="2" name="Rectangle 1"/>
          <p:cNvSpPr/>
          <p:nvPr/>
        </p:nvSpPr>
        <p:spPr>
          <a:xfrm>
            <a:off x="638014" y="1928248"/>
            <a:ext cx="8305800" cy="3046988"/>
          </a:xfrm>
          <a:prstGeom prst="rect">
            <a:avLst/>
          </a:prstGeom>
        </p:spPr>
        <p:txBody>
          <a:bodyPr wrap="square">
            <a:spAutoFit/>
          </a:bodyPr>
          <a:lstStyle/>
          <a:p>
            <a:r>
              <a:rPr lang="en-US" sz="3200" dirty="0"/>
              <a:t>How would you create a structure to represent a </a:t>
            </a:r>
            <a:r>
              <a:rPr lang="en-US" sz="3200" dirty="0" err="1"/>
              <a:t>Pokemon</a:t>
            </a:r>
            <a:r>
              <a:rPr lang="en-US" sz="3200" dirty="0"/>
              <a:t>?  Each </a:t>
            </a:r>
            <a:r>
              <a:rPr lang="en-US" sz="3200" dirty="0" err="1"/>
              <a:t>Pokemon</a:t>
            </a:r>
            <a:r>
              <a:rPr lang="en-US" sz="3200" dirty="0"/>
              <a:t> has a name(50 characters or less), a type(ex.  rock, water, fire), and a combat power(int). </a:t>
            </a:r>
          </a:p>
          <a:p>
            <a:endParaRPr lang="en-US" sz="3200" dirty="0"/>
          </a:p>
          <a:p>
            <a:endParaRPr lang="en-US" sz="3200" dirty="0"/>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l="2647" t="-1" b="2410"/>
          <a:stretch/>
        </p:blipFill>
        <p:spPr>
          <a:xfrm>
            <a:off x="7591167" y="3962400"/>
            <a:ext cx="2937164" cy="2895600"/>
          </a:xfrm>
          <a:prstGeom prst="rect">
            <a:avLst/>
          </a:prstGeom>
        </p:spPr>
      </p:pic>
      <p:sp>
        <p:nvSpPr>
          <p:cNvPr id="6" name="Rectangle 5">
            <a:extLst>
              <a:ext uri="{FF2B5EF4-FFF2-40B4-BE49-F238E27FC236}">
                <a16:creationId xmlns:a16="http://schemas.microsoft.com/office/drawing/2014/main" id="{2414CE84-1C08-385E-AFD8-37CAA1455FA6}"/>
              </a:ext>
            </a:extLst>
          </p:cNvPr>
          <p:cNvSpPr/>
          <p:nvPr/>
        </p:nvSpPr>
        <p:spPr>
          <a:xfrm>
            <a:off x="378138" y="5306512"/>
            <a:ext cx="8305800" cy="1077218"/>
          </a:xfrm>
          <a:prstGeom prst="rect">
            <a:avLst/>
          </a:prstGeom>
        </p:spPr>
        <p:txBody>
          <a:bodyPr wrap="square">
            <a:spAutoFit/>
          </a:bodyPr>
          <a:lstStyle/>
          <a:p>
            <a:r>
              <a:rPr lang="en-US" sz="3200" dirty="0"/>
              <a:t>How can we create a linked list of </a:t>
            </a:r>
            <a:r>
              <a:rPr lang="en-US" sz="3200" dirty="0" err="1"/>
              <a:t>Pokemon</a:t>
            </a:r>
            <a:r>
              <a:rPr lang="en-US" sz="3200" dirty="0"/>
              <a:t>?</a:t>
            </a:r>
          </a:p>
          <a:p>
            <a:endParaRPr lang="en-US" sz="3200" dirty="0"/>
          </a:p>
        </p:txBody>
      </p:sp>
    </p:spTree>
    <p:extLst>
      <p:ext uri="{BB962C8B-B14F-4D97-AF65-F5344CB8AC3E}">
        <p14:creationId xmlns:p14="http://schemas.microsoft.com/office/powerpoint/2010/main" val="972179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3"/>
          <p:cNvSpPr>
            <a:spLocks noGrp="1" noChangeArrowheads="1"/>
          </p:cNvSpPr>
          <p:nvPr>
            <p:ph idx="1"/>
          </p:nvPr>
        </p:nvSpPr>
        <p:spPr>
          <a:xfrm>
            <a:off x="644628" y="1937478"/>
            <a:ext cx="10531371" cy="1828800"/>
          </a:xfrm>
        </p:spPr>
        <p:txBody>
          <a:bodyPr anchor="t" anchorCtr="0">
            <a:normAutofit fontScale="25000" lnSpcReduction="20000"/>
          </a:bodyPr>
          <a:lstStyle/>
          <a:p>
            <a:pPr marL="0" indent="0">
              <a:buNone/>
            </a:pPr>
            <a:r>
              <a:rPr lang="en-US" altLang="en-US" sz="12800" dirty="0"/>
              <a:t>How would you create an Empty linked list of Pokémon?</a:t>
            </a:r>
          </a:p>
          <a:p>
            <a:pPr marL="0" indent="0">
              <a:buNone/>
            </a:pPr>
            <a:endParaRPr lang="en-US" altLang="en-US" sz="12800" dirty="0"/>
          </a:p>
          <a:p>
            <a:pPr marL="0" indent="0">
              <a:buNone/>
            </a:pPr>
            <a:r>
              <a:rPr lang="en-US" altLang="en-US" sz="12800" dirty="0" err="1">
                <a:solidFill>
                  <a:srgbClr val="0070C0"/>
                </a:solidFill>
              </a:rPr>
              <a:t>typedef</a:t>
            </a:r>
            <a:r>
              <a:rPr lang="en-US" altLang="en-US" sz="12800" dirty="0">
                <a:solidFill>
                  <a:srgbClr val="0070C0"/>
                </a:solidFill>
              </a:rPr>
              <a:t> </a:t>
            </a:r>
            <a:r>
              <a:rPr lang="en-US" altLang="en-US" sz="12800" dirty="0" err="1">
                <a:solidFill>
                  <a:srgbClr val="0070C0"/>
                </a:solidFill>
              </a:rPr>
              <a:t>struct</a:t>
            </a:r>
            <a:r>
              <a:rPr lang="en-US" altLang="en-US" sz="12800" dirty="0">
                <a:solidFill>
                  <a:srgbClr val="0070C0"/>
                </a:solidFill>
              </a:rPr>
              <a:t> </a:t>
            </a:r>
            <a:r>
              <a:rPr lang="en-US" altLang="en-US" sz="12800" dirty="0" err="1">
                <a:solidFill>
                  <a:srgbClr val="0070C0"/>
                </a:solidFill>
              </a:rPr>
              <a:t>pokemon</a:t>
            </a:r>
            <a:r>
              <a:rPr lang="en-US" altLang="en-US" sz="12800" dirty="0">
                <a:solidFill>
                  <a:srgbClr val="0070C0"/>
                </a:solidFill>
              </a:rPr>
              <a:t>{</a:t>
            </a:r>
          </a:p>
          <a:p>
            <a:pPr marL="0" indent="0">
              <a:buNone/>
            </a:pPr>
            <a:r>
              <a:rPr lang="en-US" altLang="en-US" sz="12800" dirty="0">
                <a:solidFill>
                  <a:srgbClr val="0070C0"/>
                </a:solidFill>
              </a:rPr>
              <a:t>      char name[30];</a:t>
            </a:r>
          </a:p>
          <a:p>
            <a:pPr marL="0" indent="0">
              <a:buNone/>
            </a:pPr>
            <a:r>
              <a:rPr lang="en-US" altLang="en-US" sz="12800" dirty="0">
                <a:solidFill>
                  <a:srgbClr val="0070C0"/>
                </a:solidFill>
              </a:rPr>
              <a:t>      </a:t>
            </a:r>
            <a:r>
              <a:rPr lang="en-US" altLang="en-US" sz="12800" dirty="0" err="1">
                <a:solidFill>
                  <a:srgbClr val="0070C0"/>
                </a:solidFill>
              </a:rPr>
              <a:t>int</a:t>
            </a:r>
            <a:r>
              <a:rPr lang="en-US" altLang="en-US" sz="12800" dirty="0">
                <a:solidFill>
                  <a:srgbClr val="0070C0"/>
                </a:solidFill>
              </a:rPr>
              <a:t> </a:t>
            </a:r>
            <a:r>
              <a:rPr lang="en-US" altLang="en-US" sz="12800" dirty="0" err="1">
                <a:solidFill>
                  <a:srgbClr val="0070C0"/>
                </a:solidFill>
              </a:rPr>
              <a:t>cp</a:t>
            </a:r>
            <a:r>
              <a:rPr lang="en-US" altLang="en-US" sz="12800" dirty="0">
                <a:solidFill>
                  <a:srgbClr val="0070C0"/>
                </a:solidFill>
              </a:rPr>
              <a:t>;</a:t>
            </a:r>
          </a:p>
          <a:p>
            <a:pPr marL="0" indent="0">
              <a:buNone/>
            </a:pPr>
            <a:r>
              <a:rPr lang="en-US" altLang="en-US" sz="12800" dirty="0">
                <a:solidFill>
                  <a:srgbClr val="0070C0"/>
                </a:solidFill>
              </a:rPr>
              <a:t>      </a:t>
            </a:r>
            <a:r>
              <a:rPr lang="en-US" altLang="en-US" sz="12800" dirty="0" err="1">
                <a:solidFill>
                  <a:srgbClr val="0070C0"/>
                </a:solidFill>
              </a:rPr>
              <a:t>struct</a:t>
            </a:r>
            <a:r>
              <a:rPr lang="en-US" altLang="en-US" sz="12800" dirty="0">
                <a:solidFill>
                  <a:srgbClr val="0070C0"/>
                </a:solidFill>
              </a:rPr>
              <a:t> </a:t>
            </a:r>
            <a:r>
              <a:rPr lang="en-US" altLang="en-US" sz="12800" dirty="0" err="1">
                <a:solidFill>
                  <a:srgbClr val="0070C0"/>
                </a:solidFill>
              </a:rPr>
              <a:t>pokemon</a:t>
            </a:r>
            <a:r>
              <a:rPr lang="en-US" altLang="en-US" sz="12800" dirty="0">
                <a:solidFill>
                  <a:srgbClr val="0070C0"/>
                </a:solidFill>
              </a:rPr>
              <a:t>* next;</a:t>
            </a:r>
          </a:p>
          <a:p>
            <a:pPr marL="0" indent="0">
              <a:buNone/>
            </a:pPr>
            <a:r>
              <a:rPr lang="en-US" altLang="en-US" sz="12800" dirty="0">
                <a:solidFill>
                  <a:srgbClr val="0070C0"/>
                </a:solidFill>
              </a:rPr>
              <a:t> } </a:t>
            </a:r>
            <a:r>
              <a:rPr lang="en-US" altLang="en-US" sz="12800" dirty="0" err="1">
                <a:solidFill>
                  <a:srgbClr val="0070C0"/>
                </a:solidFill>
              </a:rPr>
              <a:t>Pokemon</a:t>
            </a:r>
            <a:r>
              <a:rPr lang="en-US" altLang="en-US" sz="12800" dirty="0">
                <a:solidFill>
                  <a:srgbClr val="0070C0"/>
                </a:solidFill>
              </a:rPr>
              <a:t>;</a:t>
            </a:r>
          </a:p>
          <a:p>
            <a:pPr marL="0" indent="0">
              <a:buNone/>
            </a:pPr>
            <a:endParaRPr lang="en-US" altLang="en-US" sz="2800" dirty="0">
              <a:solidFill>
                <a:srgbClr val="0070C0"/>
              </a:solidFill>
            </a:endParaRPr>
          </a:p>
          <a:p>
            <a:pPr marL="0" indent="0">
              <a:buNone/>
            </a:pPr>
            <a:r>
              <a:rPr lang="en-US" altLang="en-US" sz="2800" dirty="0"/>
              <a:t>  </a:t>
            </a:r>
          </a:p>
        </p:txBody>
      </p:sp>
      <p:cxnSp>
        <p:nvCxnSpPr>
          <p:cNvPr id="16" name="Straight Arrow Connector 15"/>
          <p:cNvCxnSpPr/>
          <p:nvPr/>
        </p:nvCxnSpPr>
        <p:spPr>
          <a:xfrm>
            <a:off x="7543801" y="5994400"/>
            <a:ext cx="885497" cy="0"/>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12" name="TextBox 11"/>
          <p:cNvSpPr txBox="1"/>
          <p:nvPr/>
        </p:nvSpPr>
        <p:spPr>
          <a:xfrm>
            <a:off x="8429298" y="5533628"/>
            <a:ext cx="1826141" cy="830997"/>
          </a:xfrm>
          <a:prstGeom prst="rect">
            <a:avLst/>
          </a:prstGeom>
          <a:noFill/>
        </p:spPr>
        <p:txBody>
          <a:bodyPr wrap="none" rtlCol="0">
            <a:spAutoFit/>
          </a:bodyPr>
          <a:lstStyle/>
          <a:p>
            <a:r>
              <a:rPr lang="en-US" sz="4800" dirty="0">
                <a:latin typeface="Times New Roman" panose="02020603050405020304" pitchFamily="18" charset="0"/>
                <a:cs typeface="Times New Roman" panose="02020603050405020304" pitchFamily="18" charset="0"/>
              </a:rPr>
              <a:t>NULL</a:t>
            </a:r>
          </a:p>
        </p:txBody>
      </p:sp>
      <p:sp>
        <p:nvSpPr>
          <p:cNvPr id="3" name="TextBox 2">
            <a:extLst>
              <a:ext uri="{FF2B5EF4-FFF2-40B4-BE49-F238E27FC236}">
                <a16:creationId xmlns:a16="http://schemas.microsoft.com/office/drawing/2014/main" id="{5519FD11-F928-EDB4-1E88-3ADB9936E27A}"/>
              </a:ext>
            </a:extLst>
          </p:cNvPr>
          <p:cNvSpPr txBox="1"/>
          <p:nvPr/>
        </p:nvSpPr>
        <p:spPr>
          <a:xfrm>
            <a:off x="644629" y="918208"/>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Linked List of Pokémon</a:t>
            </a:r>
          </a:p>
        </p:txBody>
      </p:sp>
      <p:sp>
        <p:nvSpPr>
          <p:cNvPr id="13" name="TextBox 12">
            <a:extLst>
              <a:ext uri="{FF2B5EF4-FFF2-40B4-BE49-F238E27FC236}">
                <a16:creationId xmlns:a16="http://schemas.microsoft.com/office/drawing/2014/main" id="{D6118E3C-DC0A-6F5A-ACAA-823073022186}"/>
              </a:ext>
            </a:extLst>
          </p:cNvPr>
          <p:cNvSpPr txBox="1"/>
          <p:nvPr/>
        </p:nvSpPr>
        <p:spPr>
          <a:xfrm>
            <a:off x="5272025" y="5524293"/>
            <a:ext cx="2271776" cy="830997"/>
          </a:xfrm>
          <a:prstGeom prst="rect">
            <a:avLst/>
          </a:prstGeom>
          <a:noFill/>
        </p:spPr>
        <p:txBody>
          <a:bodyPr wrap="none" rtlCol="0">
            <a:spAutoFit/>
          </a:bodyPr>
          <a:lstStyle/>
          <a:p>
            <a:r>
              <a:rPr lang="en-US" sz="4800" dirty="0" err="1">
                <a:latin typeface="Times New Roman" panose="02020603050405020304" pitchFamily="18" charset="0"/>
                <a:cs typeface="Times New Roman" panose="02020603050405020304" pitchFamily="18" charset="0"/>
              </a:rPr>
              <a:t>yourList</a:t>
            </a:r>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4319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3"/>
          <p:cNvSpPr>
            <a:spLocks noGrp="1" noChangeArrowheads="1"/>
          </p:cNvSpPr>
          <p:nvPr>
            <p:ph idx="1"/>
          </p:nvPr>
        </p:nvSpPr>
        <p:spPr>
          <a:xfrm>
            <a:off x="644628" y="1937478"/>
            <a:ext cx="10531371" cy="1828800"/>
          </a:xfrm>
        </p:spPr>
        <p:txBody>
          <a:bodyPr anchor="t" anchorCtr="0">
            <a:normAutofit fontScale="25000" lnSpcReduction="20000"/>
          </a:bodyPr>
          <a:lstStyle/>
          <a:p>
            <a:pPr marL="0" indent="0">
              <a:buNone/>
            </a:pPr>
            <a:r>
              <a:rPr lang="en-US" altLang="en-US" sz="12800" dirty="0"/>
              <a:t>How would you add an item to the linked list?</a:t>
            </a:r>
          </a:p>
          <a:p>
            <a:pPr marL="0" indent="0">
              <a:buNone/>
            </a:pPr>
            <a:endParaRPr lang="en-US" altLang="en-US" sz="12800" dirty="0"/>
          </a:p>
          <a:p>
            <a:pPr marL="0" indent="0">
              <a:buNone/>
            </a:pPr>
            <a:r>
              <a:rPr lang="en-US" altLang="en-US" sz="12800" dirty="0" err="1">
                <a:solidFill>
                  <a:srgbClr val="0070C0"/>
                </a:solidFill>
              </a:rPr>
              <a:t>typedef</a:t>
            </a:r>
            <a:r>
              <a:rPr lang="en-US" altLang="en-US" sz="12800" dirty="0">
                <a:solidFill>
                  <a:srgbClr val="0070C0"/>
                </a:solidFill>
              </a:rPr>
              <a:t> </a:t>
            </a:r>
            <a:r>
              <a:rPr lang="en-US" altLang="en-US" sz="12800" dirty="0" err="1">
                <a:solidFill>
                  <a:srgbClr val="0070C0"/>
                </a:solidFill>
              </a:rPr>
              <a:t>struct</a:t>
            </a:r>
            <a:r>
              <a:rPr lang="en-US" altLang="en-US" sz="12800" dirty="0">
                <a:solidFill>
                  <a:srgbClr val="0070C0"/>
                </a:solidFill>
              </a:rPr>
              <a:t> </a:t>
            </a:r>
            <a:r>
              <a:rPr lang="en-US" altLang="en-US" sz="12800" dirty="0" err="1">
                <a:solidFill>
                  <a:srgbClr val="0070C0"/>
                </a:solidFill>
              </a:rPr>
              <a:t>pokemon</a:t>
            </a:r>
            <a:r>
              <a:rPr lang="en-US" altLang="en-US" sz="12800" dirty="0">
                <a:solidFill>
                  <a:srgbClr val="0070C0"/>
                </a:solidFill>
              </a:rPr>
              <a:t>{</a:t>
            </a:r>
          </a:p>
          <a:p>
            <a:pPr marL="0" indent="0">
              <a:buNone/>
            </a:pPr>
            <a:r>
              <a:rPr lang="en-US" altLang="en-US" sz="12800" dirty="0">
                <a:solidFill>
                  <a:srgbClr val="0070C0"/>
                </a:solidFill>
              </a:rPr>
              <a:t>      char name[30];</a:t>
            </a:r>
          </a:p>
          <a:p>
            <a:pPr marL="0" indent="0">
              <a:buNone/>
            </a:pPr>
            <a:r>
              <a:rPr lang="en-US" altLang="en-US" sz="12800" dirty="0">
                <a:solidFill>
                  <a:srgbClr val="0070C0"/>
                </a:solidFill>
              </a:rPr>
              <a:t>      </a:t>
            </a:r>
            <a:r>
              <a:rPr lang="en-US" altLang="en-US" sz="12800" dirty="0" err="1">
                <a:solidFill>
                  <a:srgbClr val="0070C0"/>
                </a:solidFill>
              </a:rPr>
              <a:t>int</a:t>
            </a:r>
            <a:r>
              <a:rPr lang="en-US" altLang="en-US" sz="12800" dirty="0">
                <a:solidFill>
                  <a:srgbClr val="0070C0"/>
                </a:solidFill>
              </a:rPr>
              <a:t> </a:t>
            </a:r>
            <a:r>
              <a:rPr lang="en-US" altLang="en-US" sz="12800" dirty="0" err="1">
                <a:solidFill>
                  <a:srgbClr val="0070C0"/>
                </a:solidFill>
              </a:rPr>
              <a:t>cp</a:t>
            </a:r>
            <a:r>
              <a:rPr lang="en-US" altLang="en-US" sz="12800" dirty="0">
                <a:solidFill>
                  <a:srgbClr val="0070C0"/>
                </a:solidFill>
              </a:rPr>
              <a:t>;</a:t>
            </a:r>
          </a:p>
          <a:p>
            <a:pPr marL="0" indent="0">
              <a:buNone/>
            </a:pPr>
            <a:r>
              <a:rPr lang="en-US" altLang="en-US" sz="12800" dirty="0">
                <a:solidFill>
                  <a:srgbClr val="0070C0"/>
                </a:solidFill>
              </a:rPr>
              <a:t>      </a:t>
            </a:r>
            <a:r>
              <a:rPr lang="en-US" altLang="en-US" sz="12800" dirty="0" err="1">
                <a:solidFill>
                  <a:srgbClr val="0070C0"/>
                </a:solidFill>
              </a:rPr>
              <a:t>struct</a:t>
            </a:r>
            <a:r>
              <a:rPr lang="en-US" altLang="en-US" sz="12800" dirty="0">
                <a:solidFill>
                  <a:srgbClr val="0070C0"/>
                </a:solidFill>
              </a:rPr>
              <a:t> </a:t>
            </a:r>
            <a:r>
              <a:rPr lang="en-US" altLang="en-US" sz="12800" dirty="0" err="1">
                <a:solidFill>
                  <a:srgbClr val="0070C0"/>
                </a:solidFill>
              </a:rPr>
              <a:t>pokemon</a:t>
            </a:r>
            <a:r>
              <a:rPr lang="en-US" altLang="en-US" sz="12800" dirty="0">
                <a:solidFill>
                  <a:srgbClr val="0070C0"/>
                </a:solidFill>
              </a:rPr>
              <a:t>* next;</a:t>
            </a:r>
          </a:p>
          <a:p>
            <a:pPr marL="0" indent="0">
              <a:buNone/>
            </a:pPr>
            <a:r>
              <a:rPr lang="en-US" altLang="en-US" sz="12800" dirty="0">
                <a:solidFill>
                  <a:srgbClr val="0070C0"/>
                </a:solidFill>
              </a:rPr>
              <a:t> } </a:t>
            </a:r>
            <a:r>
              <a:rPr lang="en-US" altLang="en-US" sz="12800" dirty="0" err="1">
                <a:solidFill>
                  <a:srgbClr val="0070C0"/>
                </a:solidFill>
              </a:rPr>
              <a:t>Pokemon</a:t>
            </a:r>
            <a:r>
              <a:rPr lang="en-US" altLang="en-US" sz="12800" dirty="0">
                <a:solidFill>
                  <a:srgbClr val="0070C0"/>
                </a:solidFill>
              </a:rPr>
              <a:t>;</a:t>
            </a:r>
          </a:p>
          <a:p>
            <a:pPr marL="0" indent="0">
              <a:buNone/>
            </a:pPr>
            <a:endParaRPr lang="en-US" altLang="en-US" sz="2800" dirty="0">
              <a:solidFill>
                <a:srgbClr val="0070C0"/>
              </a:solidFill>
            </a:endParaRPr>
          </a:p>
          <a:p>
            <a:pPr marL="0" indent="0">
              <a:buNone/>
            </a:pPr>
            <a:r>
              <a:rPr lang="en-US" altLang="en-US" sz="2800" dirty="0"/>
              <a:t>  </a:t>
            </a:r>
          </a:p>
        </p:txBody>
      </p:sp>
      <p:cxnSp>
        <p:nvCxnSpPr>
          <p:cNvPr id="16" name="Straight Arrow Connector 15"/>
          <p:cNvCxnSpPr/>
          <p:nvPr/>
        </p:nvCxnSpPr>
        <p:spPr>
          <a:xfrm>
            <a:off x="6251799" y="5994400"/>
            <a:ext cx="885497" cy="0"/>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12" name="TextBox 11"/>
          <p:cNvSpPr txBox="1"/>
          <p:nvPr/>
        </p:nvSpPr>
        <p:spPr>
          <a:xfrm>
            <a:off x="9426346" y="5535514"/>
            <a:ext cx="1826141" cy="830997"/>
          </a:xfrm>
          <a:prstGeom prst="rect">
            <a:avLst/>
          </a:prstGeom>
          <a:noFill/>
        </p:spPr>
        <p:txBody>
          <a:bodyPr wrap="none" rtlCol="0">
            <a:spAutoFit/>
          </a:bodyPr>
          <a:lstStyle/>
          <a:p>
            <a:r>
              <a:rPr lang="en-US" sz="4800" dirty="0">
                <a:latin typeface="Times New Roman" panose="02020603050405020304" pitchFamily="18" charset="0"/>
                <a:cs typeface="Times New Roman" panose="02020603050405020304" pitchFamily="18" charset="0"/>
              </a:rPr>
              <a:t>NULL</a:t>
            </a:r>
          </a:p>
        </p:txBody>
      </p:sp>
      <p:sp>
        <p:nvSpPr>
          <p:cNvPr id="3" name="TextBox 2">
            <a:extLst>
              <a:ext uri="{FF2B5EF4-FFF2-40B4-BE49-F238E27FC236}">
                <a16:creationId xmlns:a16="http://schemas.microsoft.com/office/drawing/2014/main" id="{5519FD11-F928-EDB4-1E88-3ADB9936E27A}"/>
              </a:ext>
            </a:extLst>
          </p:cNvPr>
          <p:cNvSpPr txBox="1"/>
          <p:nvPr/>
        </p:nvSpPr>
        <p:spPr>
          <a:xfrm>
            <a:off x="644629" y="918208"/>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Linked List of Pokémon</a:t>
            </a:r>
          </a:p>
        </p:txBody>
      </p:sp>
      <p:sp>
        <p:nvSpPr>
          <p:cNvPr id="13" name="TextBox 12">
            <a:extLst>
              <a:ext uri="{FF2B5EF4-FFF2-40B4-BE49-F238E27FC236}">
                <a16:creationId xmlns:a16="http://schemas.microsoft.com/office/drawing/2014/main" id="{D6118E3C-DC0A-6F5A-ACAA-823073022186}"/>
              </a:ext>
            </a:extLst>
          </p:cNvPr>
          <p:cNvSpPr txBox="1"/>
          <p:nvPr/>
        </p:nvSpPr>
        <p:spPr>
          <a:xfrm>
            <a:off x="3980023" y="5524293"/>
            <a:ext cx="2271776" cy="830997"/>
          </a:xfrm>
          <a:prstGeom prst="rect">
            <a:avLst/>
          </a:prstGeom>
          <a:noFill/>
        </p:spPr>
        <p:txBody>
          <a:bodyPr wrap="none" rtlCol="0">
            <a:spAutoFit/>
          </a:bodyPr>
          <a:lstStyle/>
          <a:p>
            <a:r>
              <a:rPr lang="en-US" sz="4800" dirty="0" err="1">
                <a:latin typeface="Times New Roman" panose="02020603050405020304" pitchFamily="18" charset="0"/>
                <a:cs typeface="Times New Roman" panose="02020603050405020304" pitchFamily="18" charset="0"/>
              </a:rPr>
              <a:t>yourList</a:t>
            </a:r>
            <a:endParaRPr lang="en-US" sz="48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B5A3B9E3-C7D6-9621-0787-81746786A7FE}"/>
              </a:ext>
            </a:extLst>
          </p:cNvPr>
          <p:cNvSpPr/>
          <p:nvPr/>
        </p:nvSpPr>
        <p:spPr>
          <a:xfrm>
            <a:off x="7137296" y="5266898"/>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Pikachu</a:t>
            </a:r>
          </a:p>
          <a:p>
            <a:pPr algn="ctr"/>
            <a:r>
              <a:rPr lang="en-US" dirty="0"/>
              <a:t>500</a:t>
            </a:r>
          </a:p>
        </p:txBody>
      </p:sp>
      <p:pic>
        <p:nvPicPr>
          <p:cNvPr id="4" name="Picture 3">
            <a:extLst>
              <a:ext uri="{FF2B5EF4-FFF2-40B4-BE49-F238E27FC236}">
                <a16:creationId xmlns:a16="http://schemas.microsoft.com/office/drawing/2014/main" id="{17035557-138D-BB1D-22D1-7FB93B3D5B5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647" t="-1" b="2410"/>
          <a:stretch/>
        </p:blipFill>
        <p:spPr>
          <a:xfrm>
            <a:off x="7243939" y="5257593"/>
            <a:ext cx="541057" cy="533400"/>
          </a:xfrm>
          <a:prstGeom prst="rect">
            <a:avLst/>
          </a:prstGeom>
        </p:spPr>
      </p:pic>
      <p:cxnSp>
        <p:nvCxnSpPr>
          <p:cNvPr id="5" name="Straight Arrow Connector 4">
            <a:extLst>
              <a:ext uri="{FF2B5EF4-FFF2-40B4-BE49-F238E27FC236}">
                <a16:creationId xmlns:a16="http://schemas.microsoft.com/office/drawing/2014/main" id="{400A5282-18F1-1A48-9E40-C7BDA6CAC029}"/>
              </a:ext>
            </a:extLst>
          </p:cNvPr>
          <p:cNvCxnSpPr/>
          <p:nvPr/>
        </p:nvCxnSpPr>
        <p:spPr>
          <a:xfrm>
            <a:off x="8432696" y="5838398"/>
            <a:ext cx="885497" cy="0"/>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661507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3"/>
          <p:cNvSpPr>
            <a:spLocks noGrp="1" noChangeArrowheads="1"/>
          </p:cNvSpPr>
          <p:nvPr>
            <p:ph idx="1"/>
          </p:nvPr>
        </p:nvSpPr>
        <p:spPr>
          <a:xfrm>
            <a:off x="533400" y="2048353"/>
            <a:ext cx="8839200" cy="1828800"/>
          </a:xfrm>
        </p:spPr>
        <p:txBody>
          <a:bodyPr anchor="t" anchorCtr="0">
            <a:normAutofit/>
          </a:bodyPr>
          <a:lstStyle/>
          <a:p>
            <a:pPr marL="0" indent="0">
              <a:buNone/>
            </a:pPr>
            <a:r>
              <a:rPr lang="en-US" altLang="en-US" sz="3500" dirty="0">
                <a:solidFill>
                  <a:schemeClr val="tx1"/>
                </a:solidFill>
              </a:rPr>
              <a:t>How to add to a linked list…</a:t>
            </a:r>
          </a:p>
          <a:p>
            <a:pPr marL="0" indent="0">
              <a:buNone/>
            </a:pPr>
            <a:endParaRPr lang="en-US" altLang="en-US" sz="2800" dirty="0">
              <a:solidFill>
                <a:srgbClr val="0070C0"/>
              </a:solidFill>
            </a:endParaRPr>
          </a:p>
          <a:p>
            <a:pPr marL="0" indent="0">
              <a:buNone/>
            </a:pPr>
            <a:r>
              <a:rPr lang="en-US" altLang="en-US" sz="2800" dirty="0"/>
              <a:t>  </a:t>
            </a:r>
          </a:p>
        </p:txBody>
      </p:sp>
      <p:sp>
        <p:nvSpPr>
          <p:cNvPr id="2" name="Rectangle 1"/>
          <p:cNvSpPr/>
          <p:nvPr/>
        </p:nvSpPr>
        <p:spPr>
          <a:xfrm>
            <a:off x="19050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err="1"/>
              <a:t>Squirtle</a:t>
            </a:r>
            <a:endParaRPr lang="en-US" dirty="0"/>
          </a:p>
          <a:p>
            <a:pPr algn="ctr"/>
            <a:r>
              <a:rPr lang="en-US" dirty="0"/>
              <a:t>400</a:t>
            </a:r>
          </a:p>
        </p:txBody>
      </p:sp>
      <p:sp>
        <p:nvSpPr>
          <p:cNvPr id="5" name="Rectangle 4"/>
          <p:cNvSpPr/>
          <p:nvPr/>
        </p:nvSpPr>
        <p:spPr>
          <a:xfrm>
            <a:off x="36576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err="1"/>
              <a:t>Eevee</a:t>
            </a:r>
            <a:br>
              <a:rPr lang="en-US" dirty="0"/>
            </a:br>
            <a:r>
              <a:rPr lang="en-US" dirty="0"/>
              <a:t>50</a:t>
            </a:r>
          </a:p>
        </p:txBody>
      </p:sp>
      <p:sp>
        <p:nvSpPr>
          <p:cNvPr id="6" name="Rectangle 5"/>
          <p:cNvSpPr/>
          <p:nvPr/>
        </p:nvSpPr>
        <p:spPr>
          <a:xfrm>
            <a:off x="5372100" y="4800600"/>
            <a:ext cx="1456997"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err="1"/>
              <a:t>Charmander</a:t>
            </a:r>
            <a:endParaRPr lang="en-US" dirty="0"/>
          </a:p>
          <a:p>
            <a:pPr algn="ctr"/>
            <a:r>
              <a:rPr lang="en-US" dirty="0"/>
              <a:t>170</a:t>
            </a:r>
          </a:p>
        </p:txBody>
      </p:sp>
      <p:sp>
        <p:nvSpPr>
          <p:cNvPr id="7" name="Rectangle 6"/>
          <p:cNvSpPr/>
          <p:nvPr/>
        </p:nvSpPr>
        <p:spPr>
          <a:xfrm>
            <a:off x="707609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Pikachu</a:t>
            </a:r>
          </a:p>
          <a:p>
            <a:pPr algn="ctr"/>
            <a:r>
              <a:rPr lang="en-US" dirty="0"/>
              <a:t>500</a:t>
            </a:r>
          </a:p>
        </p:txBody>
      </p:sp>
      <p:pic>
        <p:nvPicPr>
          <p:cNvPr id="8" name="Picture 7"/>
          <p:cNvPicPr>
            <a:picLocks noChangeAspect="1"/>
          </p:cNvPicPr>
          <p:nvPr/>
        </p:nvPicPr>
        <p:blipFill>
          <a:blip r:embed="rId3">
            <a:extLst>
              <a:ext uri="{BEBA8EAE-BF5A-486C-A8C5-ECC9F3942E4B}">
                <a14:imgProps xmlns:a14="http://schemas.microsoft.com/office/drawing/2010/main">
                  <a14:imgLayer r:embed="rId4">
                    <a14:imgEffect>
                      <a14:backgroundRemoval t="0" b="94783" l="0" r="100000"/>
                    </a14:imgEffect>
                  </a14:imgLayer>
                </a14:imgProps>
              </a:ext>
              <a:ext uri="{28A0092B-C50C-407E-A947-70E740481C1C}">
                <a14:useLocalDpi xmlns:a14="http://schemas.microsoft.com/office/drawing/2010/main" val="0"/>
              </a:ext>
            </a:extLst>
          </a:blip>
          <a:stretch>
            <a:fillRect/>
          </a:stretch>
        </p:blipFill>
        <p:spPr>
          <a:xfrm>
            <a:off x="2005013" y="4848226"/>
            <a:ext cx="510901" cy="510901"/>
          </a:xfrm>
          <a:prstGeom prst="rect">
            <a:avLst/>
          </a:prstGeom>
        </p:spPr>
      </p:pic>
      <p:pic>
        <p:nvPicPr>
          <p:cNvPr id="9" name="Picture 8"/>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3757614" y="4824414"/>
            <a:ext cx="661986" cy="661986"/>
          </a:xfrm>
          <a:prstGeom prst="rect">
            <a:avLst/>
          </a:prstGeom>
        </p:spPr>
      </p:pic>
      <p:pic>
        <p:nvPicPr>
          <p:cNvPr id="10" name="Picture 9"/>
          <p:cNvPicPr>
            <a:picLocks noChangeAspect="1"/>
          </p:cNvPicPr>
          <p:nvPr/>
        </p:nvPicPr>
        <p:blipFill>
          <a:blip r:embed="rId7">
            <a:extLst>
              <a:ext uri="{BEBA8EAE-BF5A-486C-A8C5-ECC9F3942E4B}">
                <a14:imgProps xmlns:a14="http://schemas.microsoft.com/office/drawing/2010/main">
                  <a14:imgLayer r:embed="rId8">
                    <a14:imgEffect>
                      <a14:backgroundRemoval t="0" b="97115" l="0" r="100000"/>
                    </a14:imgEffect>
                  </a14:imgLayer>
                </a14:imgProps>
              </a:ext>
              <a:ext uri="{28A0092B-C50C-407E-A947-70E740481C1C}">
                <a14:useLocalDpi xmlns:a14="http://schemas.microsoft.com/office/drawing/2010/main" val="0"/>
              </a:ext>
            </a:extLst>
          </a:blip>
          <a:stretch>
            <a:fillRect/>
          </a:stretch>
        </p:blipFill>
        <p:spPr>
          <a:xfrm>
            <a:off x="5480538" y="4852987"/>
            <a:ext cx="539262" cy="609600"/>
          </a:xfrm>
          <a:prstGeom prst="rect">
            <a:avLst/>
          </a:prstGeom>
        </p:spPr>
      </p:pic>
      <p:pic>
        <p:nvPicPr>
          <p:cNvPr id="11" name="Picture 10"/>
          <p:cNvPicPr>
            <a:picLocks noChangeAspect="1"/>
          </p:cNvPicPr>
          <p:nvPr/>
        </p:nvPicPr>
        <p:blipFill rotWithShape="1">
          <a:blip r:embed="rId9" cstate="print">
            <a:extLst>
              <a:ext uri="{28A0092B-C50C-407E-A947-70E740481C1C}">
                <a14:useLocalDpi xmlns:a14="http://schemas.microsoft.com/office/drawing/2010/main" val="0"/>
              </a:ext>
            </a:extLst>
          </a:blip>
          <a:srcRect l="2647" t="-1" b="2410"/>
          <a:stretch/>
        </p:blipFill>
        <p:spPr>
          <a:xfrm>
            <a:off x="7164341" y="4825726"/>
            <a:ext cx="541057" cy="533400"/>
          </a:xfrm>
          <a:prstGeom prst="rect">
            <a:avLst/>
          </a:prstGeom>
        </p:spPr>
      </p:pic>
      <p:cxnSp>
        <p:nvCxnSpPr>
          <p:cNvPr id="4" name="Straight Arrow Connector 3"/>
          <p:cNvCxnSpPr/>
          <p:nvPr/>
        </p:nvCxnSpPr>
        <p:spPr>
          <a:xfrm>
            <a:off x="2924504" y="5715000"/>
            <a:ext cx="88549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p:cNvCxnSpPr/>
          <p:nvPr/>
        </p:nvCxnSpPr>
        <p:spPr>
          <a:xfrm>
            <a:off x="4800601" y="5707117"/>
            <a:ext cx="88549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p:cNvCxnSpPr/>
          <p:nvPr/>
        </p:nvCxnSpPr>
        <p:spPr>
          <a:xfrm>
            <a:off x="6477001" y="5707117"/>
            <a:ext cx="88549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6" name="Straight Arrow Connector 15"/>
          <p:cNvCxnSpPr/>
          <p:nvPr/>
        </p:nvCxnSpPr>
        <p:spPr>
          <a:xfrm>
            <a:off x="8153401" y="5791200"/>
            <a:ext cx="88549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2" name="TextBox 11"/>
          <p:cNvSpPr txBox="1"/>
          <p:nvPr/>
        </p:nvSpPr>
        <p:spPr>
          <a:xfrm>
            <a:off x="9038898" y="5574268"/>
            <a:ext cx="774571" cy="369332"/>
          </a:xfrm>
          <a:prstGeom prst="rect">
            <a:avLst/>
          </a:prstGeom>
          <a:noFill/>
        </p:spPr>
        <p:txBody>
          <a:bodyPr wrap="none" rtlCol="0">
            <a:spAutoFit/>
          </a:bodyPr>
          <a:lstStyle/>
          <a:p>
            <a:r>
              <a:rPr lang="en-US" dirty="0"/>
              <a:t>NULL</a:t>
            </a:r>
          </a:p>
        </p:txBody>
      </p:sp>
      <p:sp>
        <p:nvSpPr>
          <p:cNvPr id="3" name="TextBox 2">
            <a:extLst>
              <a:ext uri="{FF2B5EF4-FFF2-40B4-BE49-F238E27FC236}">
                <a16:creationId xmlns:a16="http://schemas.microsoft.com/office/drawing/2014/main" id="{5519FD11-F928-EDB4-1E88-3ADB9936E27A}"/>
              </a:ext>
            </a:extLst>
          </p:cNvPr>
          <p:cNvSpPr txBox="1"/>
          <p:nvPr/>
        </p:nvSpPr>
        <p:spPr>
          <a:xfrm>
            <a:off x="644629" y="918208"/>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Linked List of Pokémon</a:t>
            </a:r>
          </a:p>
        </p:txBody>
      </p:sp>
      <p:cxnSp>
        <p:nvCxnSpPr>
          <p:cNvPr id="18" name="Straight Arrow Connector 17">
            <a:extLst>
              <a:ext uri="{FF2B5EF4-FFF2-40B4-BE49-F238E27FC236}">
                <a16:creationId xmlns:a16="http://schemas.microsoft.com/office/drawing/2014/main" id="{5B528183-A63D-101A-19DB-4A199EFEF4D3}"/>
              </a:ext>
            </a:extLst>
          </p:cNvPr>
          <p:cNvCxnSpPr>
            <a:cxnSpLocks/>
          </p:cNvCxnSpPr>
          <p:nvPr/>
        </p:nvCxnSpPr>
        <p:spPr>
          <a:xfrm>
            <a:off x="1259840" y="4619627"/>
            <a:ext cx="645160" cy="484049"/>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19" name="TextBox 18">
            <a:extLst>
              <a:ext uri="{FF2B5EF4-FFF2-40B4-BE49-F238E27FC236}">
                <a16:creationId xmlns:a16="http://schemas.microsoft.com/office/drawing/2014/main" id="{B9039968-E94C-46A0-0C9F-0B79A3478AD1}"/>
              </a:ext>
            </a:extLst>
          </p:cNvPr>
          <p:cNvSpPr txBox="1"/>
          <p:nvPr/>
        </p:nvSpPr>
        <p:spPr>
          <a:xfrm>
            <a:off x="652728" y="3788630"/>
            <a:ext cx="2271776" cy="830997"/>
          </a:xfrm>
          <a:prstGeom prst="rect">
            <a:avLst/>
          </a:prstGeom>
          <a:noFill/>
        </p:spPr>
        <p:txBody>
          <a:bodyPr wrap="none" rtlCol="0">
            <a:spAutoFit/>
          </a:bodyPr>
          <a:lstStyle/>
          <a:p>
            <a:r>
              <a:rPr lang="en-US" sz="4800" dirty="0" err="1">
                <a:latin typeface="Times New Roman" panose="02020603050405020304" pitchFamily="18" charset="0"/>
                <a:cs typeface="Times New Roman" panose="02020603050405020304" pitchFamily="18" charset="0"/>
              </a:rPr>
              <a:t>yourList</a:t>
            </a:r>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12437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3"/>
          <p:cNvSpPr>
            <a:spLocks noGrp="1" noChangeArrowheads="1"/>
          </p:cNvSpPr>
          <p:nvPr>
            <p:ph idx="1"/>
          </p:nvPr>
        </p:nvSpPr>
        <p:spPr>
          <a:xfrm>
            <a:off x="533400" y="2048353"/>
            <a:ext cx="8839200" cy="1828800"/>
          </a:xfrm>
        </p:spPr>
        <p:txBody>
          <a:bodyPr anchor="t" anchorCtr="0">
            <a:normAutofit/>
          </a:bodyPr>
          <a:lstStyle/>
          <a:p>
            <a:pPr marL="0" indent="0">
              <a:buNone/>
            </a:pPr>
            <a:r>
              <a:rPr lang="en-US" altLang="en-US" sz="3500" dirty="0">
                <a:solidFill>
                  <a:schemeClr val="tx1"/>
                </a:solidFill>
              </a:rPr>
              <a:t>How do you print all the items in the linked list?</a:t>
            </a:r>
          </a:p>
          <a:p>
            <a:pPr marL="0" indent="0">
              <a:buNone/>
            </a:pPr>
            <a:endParaRPr lang="en-US" altLang="en-US" sz="2800" dirty="0">
              <a:solidFill>
                <a:srgbClr val="0070C0"/>
              </a:solidFill>
            </a:endParaRPr>
          </a:p>
          <a:p>
            <a:pPr marL="0" indent="0">
              <a:buNone/>
            </a:pPr>
            <a:r>
              <a:rPr lang="en-US" altLang="en-US" sz="2800" dirty="0"/>
              <a:t>  </a:t>
            </a:r>
          </a:p>
        </p:txBody>
      </p:sp>
      <p:sp>
        <p:nvSpPr>
          <p:cNvPr id="2" name="Rectangle 1"/>
          <p:cNvSpPr/>
          <p:nvPr/>
        </p:nvSpPr>
        <p:spPr>
          <a:xfrm>
            <a:off x="19050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err="1"/>
              <a:t>Squirtle</a:t>
            </a:r>
            <a:endParaRPr lang="en-US" dirty="0"/>
          </a:p>
          <a:p>
            <a:pPr algn="ctr"/>
            <a:r>
              <a:rPr lang="en-US" dirty="0"/>
              <a:t>400</a:t>
            </a:r>
          </a:p>
        </p:txBody>
      </p:sp>
      <p:sp>
        <p:nvSpPr>
          <p:cNvPr id="5" name="Rectangle 4"/>
          <p:cNvSpPr/>
          <p:nvPr/>
        </p:nvSpPr>
        <p:spPr>
          <a:xfrm>
            <a:off x="36576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err="1"/>
              <a:t>Eevee</a:t>
            </a:r>
            <a:br>
              <a:rPr lang="en-US" dirty="0"/>
            </a:br>
            <a:r>
              <a:rPr lang="en-US" dirty="0"/>
              <a:t>50</a:t>
            </a:r>
          </a:p>
        </p:txBody>
      </p:sp>
      <p:sp>
        <p:nvSpPr>
          <p:cNvPr id="6" name="Rectangle 5"/>
          <p:cNvSpPr/>
          <p:nvPr/>
        </p:nvSpPr>
        <p:spPr>
          <a:xfrm>
            <a:off x="5372100" y="4800600"/>
            <a:ext cx="1456997"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err="1"/>
              <a:t>Charmander</a:t>
            </a:r>
            <a:endParaRPr lang="en-US" dirty="0"/>
          </a:p>
          <a:p>
            <a:pPr algn="ctr"/>
            <a:r>
              <a:rPr lang="en-US" dirty="0"/>
              <a:t>170</a:t>
            </a:r>
          </a:p>
        </p:txBody>
      </p:sp>
      <p:sp>
        <p:nvSpPr>
          <p:cNvPr id="7" name="Rectangle 6"/>
          <p:cNvSpPr/>
          <p:nvPr/>
        </p:nvSpPr>
        <p:spPr>
          <a:xfrm>
            <a:off x="707609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Pikachu</a:t>
            </a:r>
          </a:p>
          <a:p>
            <a:pPr algn="ctr"/>
            <a:r>
              <a:rPr lang="en-US" dirty="0"/>
              <a:t>500</a:t>
            </a:r>
          </a:p>
        </p:txBody>
      </p:sp>
      <p:pic>
        <p:nvPicPr>
          <p:cNvPr id="8" name="Picture 7"/>
          <p:cNvPicPr>
            <a:picLocks noChangeAspect="1"/>
          </p:cNvPicPr>
          <p:nvPr/>
        </p:nvPicPr>
        <p:blipFill>
          <a:blip r:embed="rId3">
            <a:extLst>
              <a:ext uri="{BEBA8EAE-BF5A-486C-A8C5-ECC9F3942E4B}">
                <a14:imgProps xmlns:a14="http://schemas.microsoft.com/office/drawing/2010/main">
                  <a14:imgLayer r:embed="rId4">
                    <a14:imgEffect>
                      <a14:backgroundRemoval t="0" b="94783" l="0" r="100000"/>
                    </a14:imgEffect>
                  </a14:imgLayer>
                </a14:imgProps>
              </a:ext>
              <a:ext uri="{28A0092B-C50C-407E-A947-70E740481C1C}">
                <a14:useLocalDpi xmlns:a14="http://schemas.microsoft.com/office/drawing/2010/main" val="0"/>
              </a:ext>
            </a:extLst>
          </a:blip>
          <a:stretch>
            <a:fillRect/>
          </a:stretch>
        </p:blipFill>
        <p:spPr>
          <a:xfrm>
            <a:off x="2005013" y="4848226"/>
            <a:ext cx="510901" cy="510901"/>
          </a:xfrm>
          <a:prstGeom prst="rect">
            <a:avLst/>
          </a:prstGeom>
        </p:spPr>
      </p:pic>
      <p:pic>
        <p:nvPicPr>
          <p:cNvPr id="9" name="Picture 8"/>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3757614" y="4824414"/>
            <a:ext cx="661986" cy="661986"/>
          </a:xfrm>
          <a:prstGeom prst="rect">
            <a:avLst/>
          </a:prstGeom>
        </p:spPr>
      </p:pic>
      <p:pic>
        <p:nvPicPr>
          <p:cNvPr id="10" name="Picture 9"/>
          <p:cNvPicPr>
            <a:picLocks noChangeAspect="1"/>
          </p:cNvPicPr>
          <p:nvPr/>
        </p:nvPicPr>
        <p:blipFill>
          <a:blip r:embed="rId7">
            <a:extLst>
              <a:ext uri="{BEBA8EAE-BF5A-486C-A8C5-ECC9F3942E4B}">
                <a14:imgProps xmlns:a14="http://schemas.microsoft.com/office/drawing/2010/main">
                  <a14:imgLayer r:embed="rId8">
                    <a14:imgEffect>
                      <a14:backgroundRemoval t="0" b="97115" l="0" r="100000"/>
                    </a14:imgEffect>
                  </a14:imgLayer>
                </a14:imgProps>
              </a:ext>
              <a:ext uri="{28A0092B-C50C-407E-A947-70E740481C1C}">
                <a14:useLocalDpi xmlns:a14="http://schemas.microsoft.com/office/drawing/2010/main" val="0"/>
              </a:ext>
            </a:extLst>
          </a:blip>
          <a:stretch>
            <a:fillRect/>
          </a:stretch>
        </p:blipFill>
        <p:spPr>
          <a:xfrm>
            <a:off x="5480538" y="4852987"/>
            <a:ext cx="539262" cy="609600"/>
          </a:xfrm>
          <a:prstGeom prst="rect">
            <a:avLst/>
          </a:prstGeom>
        </p:spPr>
      </p:pic>
      <p:pic>
        <p:nvPicPr>
          <p:cNvPr id="11" name="Picture 10"/>
          <p:cNvPicPr>
            <a:picLocks noChangeAspect="1"/>
          </p:cNvPicPr>
          <p:nvPr/>
        </p:nvPicPr>
        <p:blipFill rotWithShape="1">
          <a:blip r:embed="rId9" cstate="print">
            <a:extLst>
              <a:ext uri="{28A0092B-C50C-407E-A947-70E740481C1C}">
                <a14:useLocalDpi xmlns:a14="http://schemas.microsoft.com/office/drawing/2010/main" val="0"/>
              </a:ext>
            </a:extLst>
          </a:blip>
          <a:srcRect l="2647" t="-1" b="2410"/>
          <a:stretch/>
        </p:blipFill>
        <p:spPr>
          <a:xfrm>
            <a:off x="7164341" y="4825726"/>
            <a:ext cx="541057" cy="533400"/>
          </a:xfrm>
          <a:prstGeom prst="rect">
            <a:avLst/>
          </a:prstGeom>
        </p:spPr>
      </p:pic>
      <p:cxnSp>
        <p:nvCxnSpPr>
          <p:cNvPr id="4" name="Straight Arrow Connector 3"/>
          <p:cNvCxnSpPr/>
          <p:nvPr/>
        </p:nvCxnSpPr>
        <p:spPr>
          <a:xfrm>
            <a:off x="2924504" y="5715000"/>
            <a:ext cx="88549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p:cNvCxnSpPr/>
          <p:nvPr/>
        </p:nvCxnSpPr>
        <p:spPr>
          <a:xfrm>
            <a:off x="4800601" y="5707117"/>
            <a:ext cx="88549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p:cNvCxnSpPr/>
          <p:nvPr/>
        </p:nvCxnSpPr>
        <p:spPr>
          <a:xfrm>
            <a:off x="6477001" y="5707117"/>
            <a:ext cx="88549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6" name="Straight Arrow Connector 15"/>
          <p:cNvCxnSpPr/>
          <p:nvPr/>
        </p:nvCxnSpPr>
        <p:spPr>
          <a:xfrm>
            <a:off x="8153401" y="5791200"/>
            <a:ext cx="88549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2" name="TextBox 11"/>
          <p:cNvSpPr txBox="1"/>
          <p:nvPr/>
        </p:nvSpPr>
        <p:spPr>
          <a:xfrm>
            <a:off x="9038898" y="5574268"/>
            <a:ext cx="774571" cy="369332"/>
          </a:xfrm>
          <a:prstGeom prst="rect">
            <a:avLst/>
          </a:prstGeom>
          <a:noFill/>
        </p:spPr>
        <p:txBody>
          <a:bodyPr wrap="none" rtlCol="0">
            <a:spAutoFit/>
          </a:bodyPr>
          <a:lstStyle/>
          <a:p>
            <a:r>
              <a:rPr lang="en-US" dirty="0"/>
              <a:t>NULL</a:t>
            </a:r>
          </a:p>
        </p:txBody>
      </p:sp>
      <p:sp>
        <p:nvSpPr>
          <p:cNvPr id="3" name="TextBox 2">
            <a:extLst>
              <a:ext uri="{FF2B5EF4-FFF2-40B4-BE49-F238E27FC236}">
                <a16:creationId xmlns:a16="http://schemas.microsoft.com/office/drawing/2014/main" id="{5519FD11-F928-EDB4-1E88-3ADB9936E27A}"/>
              </a:ext>
            </a:extLst>
          </p:cNvPr>
          <p:cNvSpPr txBox="1"/>
          <p:nvPr/>
        </p:nvSpPr>
        <p:spPr>
          <a:xfrm>
            <a:off x="644629" y="918208"/>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Linked List of Pokémon</a:t>
            </a:r>
          </a:p>
        </p:txBody>
      </p:sp>
      <p:cxnSp>
        <p:nvCxnSpPr>
          <p:cNvPr id="18" name="Straight Arrow Connector 17">
            <a:extLst>
              <a:ext uri="{FF2B5EF4-FFF2-40B4-BE49-F238E27FC236}">
                <a16:creationId xmlns:a16="http://schemas.microsoft.com/office/drawing/2014/main" id="{5B528183-A63D-101A-19DB-4A199EFEF4D3}"/>
              </a:ext>
            </a:extLst>
          </p:cNvPr>
          <p:cNvCxnSpPr>
            <a:cxnSpLocks/>
          </p:cNvCxnSpPr>
          <p:nvPr/>
        </p:nvCxnSpPr>
        <p:spPr>
          <a:xfrm>
            <a:off x="1259840" y="4619627"/>
            <a:ext cx="645160" cy="484049"/>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19" name="TextBox 18">
            <a:extLst>
              <a:ext uri="{FF2B5EF4-FFF2-40B4-BE49-F238E27FC236}">
                <a16:creationId xmlns:a16="http://schemas.microsoft.com/office/drawing/2014/main" id="{B9039968-E94C-46A0-0C9F-0B79A3478AD1}"/>
              </a:ext>
            </a:extLst>
          </p:cNvPr>
          <p:cNvSpPr txBox="1"/>
          <p:nvPr/>
        </p:nvSpPr>
        <p:spPr>
          <a:xfrm>
            <a:off x="652728" y="3788630"/>
            <a:ext cx="2271776" cy="830997"/>
          </a:xfrm>
          <a:prstGeom prst="rect">
            <a:avLst/>
          </a:prstGeom>
          <a:noFill/>
        </p:spPr>
        <p:txBody>
          <a:bodyPr wrap="none" rtlCol="0">
            <a:spAutoFit/>
          </a:bodyPr>
          <a:lstStyle/>
          <a:p>
            <a:r>
              <a:rPr lang="en-US" sz="4800" dirty="0" err="1">
                <a:latin typeface="Times New Roman" panose="02020603050405020304" pitchFamily="18" charset="0"/>
                <a:cs typeface="Times New Roman" panose="02020603050405020304" pitchFamily="18" charset="0"/>
              </a:rPr>
              <a:t>yourList</a:t>
            </a:r>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11038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3"/>
          <p:cNvSpPr>
            <a:spLocks noGrp="1" noChangeArrowheads="1"/>
          </p:cNvSpPr>
          <p:nvPr>
            <p:ph idx="1"/>
          </p:nvPr>
        </p:nvSpPr>
        <p:spPr>
          <a:xfrm>
            <a:off x="533400" y="2048353"/>
            <a:ext cx="8839200" cy="1828800"/>
          </a:xfrm>
        </p:spPr>
        <p:txBody>
          <a:bodyPr anchor="t" anchorCtr="0">
            <a:normAutofit/>
          </a:bodyPr>
          <a:lstStyle/>
          <a:p>
            <a:pPr marL="0" indent="0">
              <a:buNone/>
            </a:pPr>
            <a:r>
              <a:rPr lang="en-US" altLang="en-US" sz="3500" dirty="0">
                <a:solidFill>
                  <a:schemeClr val="tx1"/>
                </a:solidFill>
              </a:rPr>
              <a:t>How do you delete an item from a linked list?</a:t>
            </a:r>
          </a:p>
          <a:p>
            <a:pPr marL="0" indent="0">
              <a:buNone/>
            </a:pPr>
            <a:endParaRPr lang="en-US" altLang="en-US" sz="2800" dirty="0">
              <a:solidFill>
                <a:srgbClr val="0070C0"/>
              </a:solidFill>
            </a:endParaRPr>
          </a:p>
          <a:p>
            <a:pPr marL="0" indent="0">
              <a:buNone/>
            </a:pPr>
            <a:r>
              <a:rPr lang="en-US" altLang="en-US" sz="2800" dirty="0"/>
              <a:t>  </a:t>
            </a:r>
          </a:p>
        </p:txBody>
      </p:sp>
      <p:sp>
        <p:nvSpPr>
          <p:cNvPr id="2" name="Rectangle 1"/>
          <p:cNvSpPr/>
          <p:nvPr/>
        </p:nvSpPr>
        <p:spPr>
          <a:xfrm>
            <a:off x="19050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err="1"/>
              <a:t>Squirtle</a:t>
            </a:r>
            <a:endParaRPr lang="en-US" dirty="0"/>
          </a:p>
          <a:p>
            <a:pPr algn="ctr"/>
            <a:r>
              <a:rPr lang="en-US" dirty="0"/>
              <a:t>400</a:t>
            </a:r>
          </a:p>
        </p:txBody>
      </p:sp>
      <p:sp>
        <p:nvSpPr>
          <p:cNvPr id="5" name="Rectangle 4"/>
          <p:cNvSpPr/>
          <p:nvPr/>
        </p:nvSpPr>
        <p:spPr>
          <a:xfrm>
            <a:off x="36576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err="1"/>
              <a:t>Eevee</a:t>
            </a:r>
            <a:br>
              <a:rPr lang="en-US" dirty="0"/>
            </a:br>
            <a:r>
              <a:rPr lang="en-US" dirty="0"/>
              <a:t>50</a:t>
            </a:r>
          </a:p>
        </p:txBody>
      </p:sp>
      <p:sp>
        <p:nvSpPr>
          <p:cNvPr id="6" name="Rectangle 5"/>
          <p:cNvSpPr/>
          <p:nvPr/>
        </p:nvSpPr>
        <p:spPr>
          <a:xfrm>
            <a:off x="5372100" y="4800600"/>
            <a:ext cx="1456997"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err="1"/>
              <a:t>Charmander</a:t>
            </a:r>
            <a:endParaRPr lang="en-US" dirty="0"/>
          </a:p>
          <a:p>
            <a:pPr algn="ctr"/>
            <a:r>
              <a:rPr lang="en-US" dirty="0"/>
              <a:t>170</a:t>
            </a:r>
          </a:p>
        </p:txBody>
      </p:sp>
      <p:sp>
        <p:nvSpPr>
          <p:cNvPr id="7" name="Rectangle 6"/>
          <p:cNvSpPr/>
          <p:nvPr/>
        </p:nvSpPr>
        <p:spPr>
          <a:xfrm>
            <a:off x="707609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Pikachu</a:t>
            </a:r>
          </a:p>
          <a:p>
            <a:pPr algn="ctr"/>
            <a:r>
              <a:rPr lang="en-US" dirty="0"/>
              <a:t>500</a:t>
            </a:r>
          </a:p>
        </p:txBody>
      </p:sp>
      <p:pic>
        <p:nvPicPr>
          <p:cNvPr id="8" name="Picture 7"/>
          <p:cNvPicPr>
            <a:picLocks noChangeAspect="1"/>
          </p:cNvPicPr>
          <p:nvPr/>
        </p:nvPicPr>
        <p:blipFill>
          <a:blip r:embed="rId3">
            <a:extLst>
              <a:ext uri="{BEBA8EAE-BF5A-486C-A8C5-ECC9F3942E4B}">
                <a14:imgProps xmlns:a14="http://schemas.microsoft.com/office/drawing/2010/main">
                  <a14:imgLayer r:embed="rId4">
                    <a14:imgEffect>
                      <a14:backgroundRemoval t="0" b="94783" l="0" r="100000"/>
                    </a14:imgEffect>
                  </a14:imgLayer>
                </a14:imgProps>
              </a:ext>
              <a:ext uri="{28A0092B-C50C-407E-A947-70E740481C1C}">
                <a14:useLocalDpi xmlns:a14="http://schemas.microsoft.com/office/drawing/2010/main" val="0"/>
              </a:ext>
            </a:extLst>
          </a:blip>
          <a:stretch>
            <a:fillRect/>
          </a:stretch>
        </p:blipFill>
        <p:spPr>
          <a:xfrm>
            <a:off x="2005013" y="4848226"/>
            <a:ext cx="510901" cy="510901"/>
          </a:xfrm>
          <a:prstGeom prst="rect">
            <a:avLst/>
          </a:prstGeom>
        </p:spPr>
      </p:pic>
      <p:pic>
        <p:nvPicPr>
          <p:cNvPr id="9" name="Picture 8"/>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3757614" y="4824414"/>
            <a:ext cx="661986" cy="661986"/>
          </a:xfrm>
          <a:prstGeom prst="rect">
            <a:avLst/>
          </a:prstGeom>
        </p:spPr>
      </p:pic>
      <p:pic>
        <p:nvPicPr>
          <p:cNvPr id="10" name="Picture 9"/>
          <p:cNvPicPr>
            <a:picLocks noChangeAspect="1"/>
          </p:cNvPicPr>
          <p:nvPr/>
        </p:nvPicPr>
        <p:blipFill>
          <a:blip r:embed="rId7">
            <a:extLst>
              <a:ext uri="{BEBA8EAE-BF5A-486C-A8C5-ECC9F3942E4B}">
                <a14:imgProps xmlns:a14="http://schemas.microsoft.com/office/drawing/2010/main">
                  <a14:imgLayer r:embed="rId8">
                    <a14:imgEffect>
                      <a14:backgroundRemoval t="0" b="97115" l="0" r="100000"/>
                    </a14:imgEffect>
                  </a14:imgLayer>
                </a14:imgProps>
              </a:ext>
              <a:ext uri="{28A0092B-C50C-407E-A947-70E740481C1C}">
                <a14:useLocalDpi xmlns:a14="http://schemas.microsoft.com/office/drawing/2010/main" val="0"/>
              </a:ext>
            </a:extLst>
          </a:blip>
          <a:stretch>
            <a:fillRect/>
          </a:stretch>
        </p:blipFill>
        <p:spPr>
          <a:xfrm>
            <a:off x="5480538" y="4852987"/>
            <a:ext cx="539262" cy="609600"/>
          </a:xfrm>
          <a:prstGeom prst="rect">
            <a:avLst/>
          </a:prstGeom>
        </p:spPr>
      </p:pic>
      <p:pic>
        <p:nvPicPr>
          <p:cNvPr id="11" name="Picture 10"/>
          <p:cNvPicPr>
            <a:picLocks noChangeAspect="1"/>
          </p:cNvPicPr>
          <p:nvPr/>
        </p:nvPicPr>
        <p:blipFill rotWithShape="1">
          <a:blip r:embed="rId9" cstate="print">
            <a:extLst>
              <a:ext uri="{28A0092B-C50C-407E-A947-70E740481C1C}">
                <a14:useLocalDpi xmlns:a14="http://schemas.microsoft.com/office/drawing/2010/main" val="0"/>
              </a:ext>
            </a:extLst>
          </a:blip>
          <a:srcRect l="2647" t="-1" b="2410"/>
          <a:stretch/>
        </p:blipFill>
        <p:spPr>
          <a:xfrm>
            <a:off x="7164341" y="4825726"/>
            <a:ext cx="541057" cy="533400"/>
          </a:xfrm>
          <a:prstGeom prst="rect">
            <a:avLst/>
          </a:prstGeom>
        </p:spPr>
      </p:pic>
      <p:cxnSp>
        <p:nvCxnSpPr>
          <p:cNvPr id="4" name="Straight Arrow Connector 3"/>
          <p:cNvCxnSpPr/>
          <p:nvPr/>
        </p:nvCxnSpPr>
        <p:spPr>
          <a:xfrm>
            <a:off x="2924504" y="5715000"/>
            <a:ext cx="88549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p:cNvCxnSpPr/>
          <p:nvPr/>
        </p:nvCxnSpPr>
        <p:spPr>
          <a:xfrm>
            <a:off x="4800601" y="5707117"/>
            <a:ext cx="88549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p:cNvCxnSpPr/>
          <p:nvPr/>
        </p:nvCxnSpPr>
        <p:spPr>
          <a:xfrm>
            <a:off x="6477001" y="5707117"/>
            <a:ext cx="88549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6" name="Straight Arrow Connector 15"/>
          <p:cNvCxnSpPr/>
          <p:nvPr/>
        </p:nvCxnSpPr>
        <p:spPr>
          <a:xfrm>
            <a:off x="8153401" y="5791200"/>
            <a:ext cx="88549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2" name="TextBox 11"/>
          <p:cNvSpPr txBox="1"/>
          <p:nvPr/>
        </p:nvSpPr>
        <p:spPr>
          <a:xfrm>
            <a:off x="9038898" y="5574268"/>
            <a:ext cx="774571" cy="369332"/>
          </a:xfrm>
          <a:prstGeom prst="rect">
            <a:avLst/>
          </a:prstGeom>
          <a:noFill/>
        </p:spPr>
        <p:txBody>
          <a:bodyPr wrap="none" rtlCol="0">
            <a:spAutoFit/>
          </a:bodyPr>
          <a:lstStyle/>
          <a:p>
            <a:r>
              <a:rPr lang="en-US" dirty="0"/>
              <a:t>NULL</a:t>
            </a:r>
          </a:p>
        </p:txBody>
      </p:sp>
      <p:sp>
        <p:nvSpPr>
          <p:cNvPr id="3" name="TextBox 2">
            <a:extLst>
              <a:ext uri="{FF2B5EF4-FFF2-40B4-BE49-F238E27FC236}">
                <a16:creationId xmlns:a16="http://schemas.microsoft.com/office/drawing/2014/main" id="{5519FD11-F928-EDB4-1E88-3ADB9936E27A}"/>
              </a:ext>
            </a:extLst>
          </p:cNvPr>
          <p:cNvSpPr txBox="1"/>
          <p:nvPr/>
        </p:nvSpPr>
        <p:spPr>
          <a:xfrm>
            <a:off x="644629" y="918208"/>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Linked List of </a:t>
            </a:r>
            <a:r>
              <a:rPr lang="en-US" sz="4050" b="1" dirty="0" err="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Pokemon</a:t>
            </a:r>
            <a:endPar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13" name="Straight Arrow Connector 12">
            <a:extLst>
              <a:ext uri="{FF2B5EF4-FFF2-40B4-BE49-F238E27FC236}">
                <a16:creationId xmlns:a16="http://schemas.microsoft.com/office/drawing/2014/main" id="{2CC4F1C6-321B-A702-21F1-A15C1D4307D4}"/>
              </a:ext>
            </a:extLst>
          </p:cNvPr>
          <p:cNvCxnSpPr>
            <a:cxnSpLocks/>
          </p:cNvCxnSpPr>
          <p:nvPr/>
        </p:nvCxnSpPr>
        <p:spPr>
          <a:xfrm>
            <a:off x="1259840" y="4619627"/>
            <a:ext cx="645160" cy="484049"/>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17" name="TextBox 16">
            <a:extLst>
              <a:ext uri="{FF2B5EF4-FFF2-40B4-BE49-F238E27FC236}">
                <a16:creationId xmlns:a16="http://schemas.microsoft.com/office/drawing/2014/main" id="{FF4695B1-1F01-FB53-AEEC-D0BBEC03457C}"/>
              </a:ext>
            </a:extLst>
          </p:cNvPr>
          <p:cNvSpPr txBox="1"/>
          <p:nvPr/>
        </p:nvSpPr>
        <p:spPr>
          <a:xfrm>
            <a:off x="652728" y="3788630"/>
            <a:ext cx="2271776" cy="830997"/>
          </a:xfrm>
          <a:prstGeom prst="rect">
            <a:avLst/>
          </a:prstGeom>
          <a:noFill/>
        </p:spPr>
        <p:txBody>
          <a:bodyPr wrap="none" rtlCol="0">
            <a:spAutoFit/>
          </a:bodyPr>
          <a:lstStyle/>
          <a:p>
            <a:r>
              <a:rPr lang="en-US" sz="4800" dirty="0" err="1">
                <a:latin typeface="Times New Roman" panose="02020603050405020304" pitchFamily="18" charset="0"/>
                <a:cs typeface="Times New Roman" panose="02020603050405020304" pitchFamily="18" charset="0"/>
              </a:rPr>
              <a:t>yourList</a:t>
            </a:r>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534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3"/>
          <p:cNvSpPr>
            <a:spLocks noGrp="1" noChangeArrowheads="1"/>
          </p:cNvSpPr>
          <p:nvPr>
            <p:ph idx="1"/>
          </p:nvPr>
        </p:nvSpPr>
        <p:spPr>
          <a:xfrm>
            <a:off x="502920" y="1859577"/>
            <a:ext cx="11005872" cy="3102947"/>
          </a:xfrm>
        </p:spPr>
        <p:txBody>
          <a:bodyPr anchor="t" anchorCtr="0">
            <a:normAutofit/>
          </a:bodyPr>
          <a:lstStyle/>
          <a:p>
            <a:pPr marL="0" indent="0">
              <a:buNone/>
            </a:pPr>
            <a:r>
              <a:rPr lang="en-US" altLang="en-US" sz="3500" dirty="0">
                <a:solidFill>
                  <a:schemeClr val="tx1"/>
                </a:solidFill>
              </a:rPr>
              <a:t>How would you print the LAST item in a linked list?</a:t>
            </a:r>
          </a:p>
          <a:p>
            <a:pPr marL="0" indent="0">
              <a:buNone/>
            </a:pPr>
            <a:r>
              <a:rPr lang="en-US" altLang="en-US" sz="3500" dirty="0">
                <a:solidFill>
                  <a:schemeClr val="tx1"/>
                </a:solidFill>
              </a:rPr>
              <a:t>How would you print the Pokémon in reverse order?</a:t>
            </a:r>
          </a:p>
          <a:p>
            <a:pPr marL="0" indent="0">
              <a:buNone/>
            </a:pPr>
            <a:endParaRPr lang="en-US" altLang="en-US" sz="2800" dirty="0">
              <a:solidFill>
                <a:srgbClr val="0070C0"/>
              </a:solidFill>
            </a:endParaRPr>
          </a:p>
          <a:p>
            <a:pPr marL="0" indent="0">
              <a:buNone/>
            </a:pPr>
            <a:r>
              <a:rPr lang="en-US" altLang="en-US" sz="2800" dirty="0"/>
              <a:t>  </a:t>
            </a:r>
          </a:p>
        </p:txBody>
      </p:sp>
      <p:sp>
        <p:nvSpPr>
          <p:cNvPr id="2" name="Rectangle 1"/>
          <p:cNvSpPr/>
          <p:nvPr/>
        </p:nvSpPr>
        <p:spPr>
          <a:xfrm>
            <a:off x="19050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err="1"/>
              <a:t>Squirtle</a:t>
            </a:r>
            <a:endParaRPr lang="en-US" dirty="0"/>
          </a:p>
          <a:p>
            <a:pPr algn="ctr"/>
            <a:r>
              <a:rPr lang="en-US" dirty="0"/>
              <a:t>400</a:t>
            </a:r>
          </a:p>
        </p:txBody>
      </p:sp>
      <p:sp>
        <p:nvSpPr>
          <p:cNvPr id="5" name="Rectangle 4"/>
          <p:cNvSpPr/>
          <p:nvPr/>
        </p:nvSpPr>
        <p:spPr>
          <a:xfrm>
            <a:off x="36576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err="1"/>
              <a:t>Eevee</a:t>
            </a:r>
            <a:br>
              <a:rPr lang="en-US" dirty="0"/>
            </a:br>
            <a:r>
              <a:rPr lang="en-US" dirty="0"/>
              <a:t>50</a:t>
            </a:r>
          </a:p>
        </p:txBody>
      </p:sp>
      <p:sp>
        <p:nvSpPr>
          <p:cNvPr id="6" name="Rectangle 5"/>
          <p:cNvSpPr/>
          <p:nvPr/>
        </p:nvSpPr>
        <p:spPr>
          <a:xfrm>
            <a:off x="5372100" y="4800600"/>
            <a:ext cx="1456997"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err="1"/>
              <a:t>Charmander</a:t>
            </a:r>
            <a:endParaRPr lang="en-US" dirty="0"/>
          </a:p>
          <a:p>
            <a:pPr algn="ctr"/>
            <a:r>
              <a:rPr lang="en-US" dirty="0"/>
              <a:t>170</a:t>
            </a:r>
          </a:p>
        </p:txBody>
      </p:sp>
      <p:sp>
        <p:nvSpPr>
          <p:cNvPr id="7" name="Rectangle 6"/>
          <p:cNvSpPr/>
          <p:nvPr/>
        </p:nvSpPr>
        <p:spPr>
          <a:xfrm>
            <a:off x="707609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Pikachu</a:t>
            </a:r>
          </a:p>
          <a:p>
            <a:pPr algn="ctr"/>
            <a:r>
              <a:rPr lang="en-US" dirty="0"/>
              <a:t>500</a:t>
            </a:r>
          </a:p>
        </p:txBody>
      </p:sp>
      <p:pic>
        <p:nvPicPr>
          <p:cNvPr id="8" name="Picture 7"/>
          <p:cNvPicPr>
            <a:picLocks noChangeAspect="1"/>
          </p:cNvPicPr>
          <p:nvPr/>
        </p:nvPicPr>
        <p:blipFill>
          <a:blip r:embed="rId3">
            <a:extLst>
              <a:ext uri="{BEBA8EAE-BF5A-486C-A8C5-ECC9F3942E4B}">
                <a14:imgProps xmlns:a14="http://schemas.microsoft.com/office/drawing/2010/main">
                  <a14:imgLayer r:embed="rId4">
                    <a14:imgEffect>
                      <a14:backgroundRemoval t="0" b="94783" l="0" r="100000"/>
                    </a14:imgEffect>
                  </a14:imgLayer>
                </a14:imgProps>
              </a:ext>
              <a:ext uri="{28A0092B-C50C-407E-A947-70E740481C1C}">
                <a14:useLocalDpi xmlns:a14="http://schemas.microsoft.com/office/drawing/2010/main" val="0"/>
              </a:ext>
            </a:extLst>
          </a:blip>
          <a:stretch>
            <a:fillRect/>
          </a:stretch>
        </p:blipFill>
        <p:spPr>
          <a:xfrm>
            <a:off x="2005013" y="4848226"/>
            <a:ext cx="510901" cy="510901"/>
          </a:xfrm>
          <a:prstGeom prst="rect">
            <a:avLst/>
          </a:prstGeom>
        </p:spPr>
      </p:pic>
      <p:pic>
        <p:nvPicPr>
          <p:cNvPr id="9" name="Picture 8"/>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3757614" y="4824414"/>
            <a:ext cx="661986" cy="661986"/>
          </a:xfrm>
          <a:prstGeom prst="rect">
            <a:avLst/>
          </a:prstGeom>
        </p:spPr>
      </p:pic>
      <p:pic>
        <p:nvPicPr>
          <p:cNvPr id="10" name="Picture 9"/>
          <p:cNvPicPr>
            <a:picLocks noChangeAspect="1"/>
          </p:cNvPicPr>
          <p:nvPr/>
        </p:nvPicPr>
        <p:blipFill>
          <a:blip r:embed="rId7">
            <a:extLst>
              <a:ext uri="{BEBA8EAE-BF5A-486C-A8C5-ECC9F3942E4B}">
                <a14:imgProps xmlns:a14="http://schemas.microsoft.com/office/drawing/2010/main">
                  <a14:imgLayer r:embed="rId8">
                    <a14:imgEffect>
                      <a14:backgroundRemoval t="0" b="97115" l="0" r="100000"/>
                    </a14:imgEffect>
                  </a14:imgLayer>
                </a14:imgProps>
              </a:ext>
              <a:ext uri="{28A0092B-C50C-407E-A947-70E740481C1C}">
                <a14:useLocalDpi xmlns:a14="http://schemas.microsoft.com/office/drawing/2010/main" val="0"/>
              </a:ext>
            </a:extLst>
          </a:blip>
          <a:stretch>
            <a:fillRect/>
          </a:stretch>
        </p:blipFill>
        <p:spPr>
          <a:xfrm>
            <a:off x="5480538" y="4852987"/>
            <a:ext cx="539262" cy="609600"/>
          </a:xfrm>
          <a:prstGeom prst="rect">
            <a:avLst/>
          </a:prstGeom>
        </p:spPr>
      </p:pic>
      <p:pic>
        <p:nvPicPr>
          <p:cNvPr id="11" name="Picture 10"/>
          <p:cNvPicPr>
            <a:picLocks noChangeAspect="1"/>
          </p:cNvPicPr>
          <p:nvPr/>
        </p:nvPicPr>
        <p:blipFill rotWithShape="1">
          <a:blip r:embed="rId9" cstate="print">
            <a:extLst>
              <a:ext uri="{28A0092B-C50C-407E-A947-70E740481C1C}">
                <a14:useLocalDpi xmlns:a14="http://schemas.microsoft.com/office/drawing/2010/main" val="0"/>
              </a:ext>
            </a:extLst>
          </a:blip>
          <a:srcRect l="2647" t="-1" b="2410"/>
          <a:stretch/>
        </p:blipFill>
        <p:spPr>
          <a:xfrm>
            <a:off x="7164341" y="4825726"/>
            <a:ext cx="541057" cy="533400"/>
          </a:xfrm>
          <a:prstGeom prst="rect">
            <a:avLst/>
          </a:prstGeom>
        </p:spPr>
      </p:pic>
      <p:cxnSp>
        <p:nvCxnSpPr>
          <p:cNvPr id="4" name="Straight Arrow Connector 3"/>
          <p:cNvCxnSpPr/>
          <p:nvPr/>
        </p:nvCxnSpPr>
        <p:spPr>
          <a:xfrm>
            <a:off x="2924504" y="5715000"/>
            <a:ext cx="885497" cy="0"/>
          </a:xfrm>
          <a:prstGeom prst="straightConnector1">
            <a:avLst/>
          </a:prstGeom>
          <a:ln w="69850">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p:cNvCxnSpPr/>
          <p:nvPr/>
        </p:nvCxnSpPr>
        <p:spPr>
          <a:xfrm>
            <a:off x="4800601" y="5707117"/>
            <a:ext cx="885497" cy="0"/>
          </a:xfrm>
          <a:prstGeom prst="straightConnector1">
            <a:avLst/>
          </a:prstGeom>
          <a:ln w="69850">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p:cNvCxnSpPr/>
          <p:nvPr/>
        </p:nvCxnSpPr>
        <p:spPr>
          <a:xfrm>
            <a:off x="6477001" y="5707117"/>
            <a:ext cx="885497" cy="0"/>
          </a:xfrm>
          <a:prstGeom prst="straightConnector1">
            <a:avLst/>
          </a:prstGeom>
          <a:ln w="69850">
            <a:tailEnd type="triangle"/>
          </a:ln>
        </p:spPr>
        <p:style>
          <a:lnRef idx="3">
            <a:schemeClr val="accent2"/>
          </a:lnRef>
          <a:fillRef idx="0">
            <a:schemeClr val="accent2"/>
          </a:fillRef>
          <a:effectRef idx="2">
            <a:schemeClr val="accent2"/>
          </a:effectRef>
          <a:fontRef idx="minor">
            <a:schemeClr val="tx1"/>
          </a:fontRef>
        </p:style>
      </p:cxnSp>
      <p:cxnSp>
        <p:nvCxnSpPr>
          <p:cNvPr id="16" name="Straight Arrow Connector 15"/>
          <p:cNvCxnSpPr/>
          <p:nvPr/>
        </p:nvCxnSpPr>
        <p:spPr>
          <a:xfrm>
            <a:off x="8153401" y="5791200"/>
            <a:ext cx="885497" cy="0"/>
          </a:xfrm>
          <a:prstGeom prst="straightConnector1">
            <a:avLst/>
          </a:prstGeom>
          <a:ln w="69850">
            <a:tailEnd type="triangle"/>
          </a:ln>
        </p:spPr>
        <p:style>
          <a:lnRef idx="3">
            <a:schemeClr val="accent2"/>
          </a:lnRef>
          <a:fillRef idx="0">
            <a:schemeClr val="accent2"/>
          </a:fillRef>
          <a:effectRef idx="2">
            <a:schemeClr val="accent2"/>
          </a:effectRef>
          <a:fontRef idx="minor">
            <a:schemeClr val="tx1"/>
          </a:fontRef>
        </p:style>
      </p:cxnSp>
      <p:sp>
        <p:nvSpPr>
          <p:cNvPr id="12" name="TextBox 11"/>
          <p:cNvSpPr txBox="1"/>
          <p:nvPr/>
        </p:nvSpPr>
        <p:spPr>
          <a:xfrm>
            <a:off x="9038898" y="5574268"/>
            <a:ext cx="774571" cy="369332"/>
          </a:xfrm>
          <a:prstGeom prst="rect">
            <a:avLst/>
          </a:prstGeom>
          <a:noFill/>
        </p:spPr>
        <p:txBody>
          <a:bodyPr wrap="none" rtlCol="0">
            <a:spAutoFit/>
          </a:bodyPr>
          <a:lstStyle/>
          <a:p>
            <a:r>
              <a:rPr lang="en-US" dirty="0"/>
              <a:t>NULL</a:t>
            </a:r>
          </a:p>
        </p:txBody>
      </p:sp>
      <p:sp>
        <p:nvSpPr>
          <p:cNvPr id="3" name="TextBox 2">
            <a:extLst>
              <a:ext uri="{FF2B5EF4-FFF2-40B4-BE49-F238E27FC236}">
                <a16:creationId xmlns:a16="http://schemas.microsoft.com/office/drawing/2014/main" id="{5519FD11-F928-EDB4-1E88-3ADB9936E27A}"/>
              </a:ext>
            </a:extLst>
          </p:cNvPr>
          <p:cNvSpPr txBox="1"/>
          <p:nvPr/>
        </p:nvSpPr>
        <p:spPr>
          <a:xfrm>
            <a:off x="644629" y="918208"/>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Linked List of Pokémon</a:t>
            </a:r>
          </a:p>
        </p:txBody>
      </p:sp>
      <p:cxnSp>
        <p:nvCxnSpPr>
          <p:cNvPr id="13" name="Straight Arrow Connector 12">
            <a:extLst>
              <a:ext uri="{FF2B5EF4-FFF2-40B4-BE49-F238E27FC236}">
                <a16:creationId xmlns:a16="http://schemas.microsoft.com/office/drawing/2014/main" id="{87A8477F-EFE5-D1A0-9EFB-A41BD4DB89F3}"/>
              </a:ext>
            </a:extLst>
          </p:cNvPr>
          <p:cNvCxnSpPr>
            <a:cxnSpLocks/>
          </p:cNvCxnSpPr>
          <p:nvPr/>
        </p:nvCxnSpPr>
        <p:spPr>
          <a:xfrm>
            <a:off x="1259840" y="4619627"/>
            <a:ext cx="645160" cy="484049"/>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17" name="TextBox 16">
            <a:extLst>
              <a:ext uri="{FF2B5EF4-FFF2-40B4-BE49-F238E27FC236}">
                <a16:creationId xmlns:a16="http://schemas.microsoft.com/office/drawing/2014/main" id="{91B8C155-76A4-790F-1F43-05E50AFC5AD3}"/>
              </a:ext>
            </a:extLst>
          </p:cNvPr>
          <p:cNvSpPr txBox="1"/>
          <p:nvPr/>
        </p:nvSpPr>
        <p:spPr>
          <a:xfrm>
            <a:off x="652728" y="3788630"/>
            <a:ext cx="2271776" cy="830997"/>
          </a:xfrm>
          <a:prstGeom prst="rect">
            <a:avLst/>
          </a:prstGeom>
          <a:noFill/>
        </p:spPr>
        <p:txBody>
          <a:bodyPr wrap="none" rtlCol="0">
            <a:spAutoFit/>
          </a:bodyPr>
          <a:lstStyle/>
          <a:p>
            <a:r>
              <a:rPr lang="en-US" sz="4800" dirty="0" err="1">
                <a:latin typeface="Times New Roman" panose="02020603050405020304" pitchFamily="18" charset="0"/>
                <a:cs typeface="Times New Roman" panose="02020603050405020304" pitchFamily="18" charset="0"/>
              </a:rPr>
              <a:t>yourList</a:t>
            </a:r>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1093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Questions?</a:t>
            </a: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324614" y="784859"/>
            <a:ext cx="7498616" cy="5676901"/>
          </a:xfrm>
          <a:prstGeom prst="rect">
            <a:avLst/>
          </a:prstGeom>
        </p:spPr>
      </p:pic>
      <p:sp>
        <p:nvSpPr>
          <p:cNvPr id="3" name="TextBox 2">
            <a:extLst>
              <a:ext uri="{FF2B5EF4-FFF2-40B4-BE49-F238E27FC236}">
                <a16:creationId xmlns:a16="http://schemas.microsoft.com/office/drawing/2014/main" id="{38D01B49-E309-CC64-A7CA-D6911B3FCE0E}"/>
              </a:ext>
            </a:extLst>
          </p:cNvPr>
          <p:cNvSpPr txBox="1"/>
          <p:nvPr/>
        </p:nvSpPr>
        <p:spPr>
          <a:xfrm>
            <a:off x="8059752" y="4253229"/>
            <a:ext cx="3554621" cy="769441"/>
          </a:xfrm>
          <a:prstGeom prst="rect">
            <a:avLst/>
          </a:prstGeom>
          <a:noFill/>
        </p:spPr>
        <p:txBody>
          <a:bodyPr wrap="square" rtlCol="0">
            <a:spAutoFit/>
          </a:bodyPr>
          <a:lstStyle/>
          <a:p>
            <a:r>
              <a:rPr lang="en-US" sz="4400" dirty="0">
                <a:solidFill>
                  <a:schemeClr val="bg1"/>
                </a:solidFill>
              </a:rPr>
              <a:t>Questions</a:t>
            </a:r>
          </a:p>
        </p:txBody>
      </p:sp>
    </p:spTree>
    <p:extLst>
      <p:ext uri="{BB962C8B-B14F-4D97-AF65-F5344CB8AC3E}">
        <p14:creationId xmlns:p14="http://schemas.microsoft.com/office/powerpoint/2010/main" val="3501347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2ADBB-00B6-22B6-DE25-DD3F68CB63FA}"/>
            </a:ext>
          </a:extLst>
        </p:cNvPr>
        <p:cNvGrpSpPr/>
        <p:nvPr/>
      </p:nvGrpSpPr>
      <p:grpSpPr>
        <a:xfrm>
          <a:off x="0" y="0"/>
          <a:ext cx="0" cy="0"/>
          <a:chOff x="0" y="0"/>
          <a:chExt cx="0" cy="0"/>
        </a:xfrm>
      </p:grpSpPr>
      <p:sp>
        <p:nvSpPr>
          <p:cNvPr id="11268" name="Rectangle 2">
            <a:extLst>
              <a:ext uri="{FF2B5EF4-FFF2-40B4-BE49-F238E27FC236}">
                <a16:creationId xmlns:a16="http://schemas.microsoft.com/office/drawing/2014/main" id="{F5C1968D-A49B-7232-7761-C41909DCDCCA}"/>
              </a:ext>
            </a:extLst>
          </p:cNvPr>
          <p:cNvSpPr>
            <a:spLocks noGrp="1" noChangeArrowheads="1"/>
          </p:cNvSpPr>
          <p:nvPr>
            <p:ph type="title"/>
          </p:nvPr>
        </p:nvSpPr>
        <p:spPr/>
        <p:txBody>
          <a:bodyPr>
            <a:normAutofit/>
          </a:bodyPr>
          <a:lstStyle/>
          <a:p>
            <a:pPr eaLnBrk="1" hangingPunct="1"/>
            <a:r>
              <a:rPr lang="en-US" altLang="en-US" sz="4800" dirty="0">
                <a:latin typeface="Times New Roman" panose="02020603050405020304" pitchFamily="18" charset="0"/>
                <a:cs typeface="Times New Roman" panose="02020603050405020304" pitchFamily="18" charset="0"/>
              </a:rPr>
              <a:t>In Class Exercise</a:t>
            </a:r>
          </a:p>
        </p:txBody>
      </p:sp>
      <p:sp>
        <p:nvSpPr>
          <p:cNvPr id="2" name="Content Placeholder 1">
            <a:extLst>
              <a:ext uri="{FF2B5EF4-FFF2-40B4-BE49-F238E27FC236}">
                <a16:creationId xmlns:a16="http://schemas.microsoft.com/office/drawing/2014/main" id="{C43CECAF-425E-BC9E-6E18-2A03E61C7762}"/>
              </a:ext>
            </a:extLst>
          </p:cNvPr>
          <p:cNvSpPr>
            <a:spLocks noGrp="1"/>
          </p:cNvSpPr>
          <p:nvPr>
            <p:ph idx="1"/>
          </p:nvPr>
        </p:nvSpPr>
        <p:spPr>
          <a:xfrm>
            <a:off x="386080" y="1981200"/>
            <a:ext cx="6258712" cy="4174644"/>
          </a:xfrm>
        </p:spPr>
        <p:txBody>
          <a:bodyPr anchor="t" anchorCtr="0">
            <a:normAutofit/>
          </a:bodyPr>
          <a:lstStyle/>
          <a:p>
            <a:pPr marL="0" indent="0">
              <a:buNone/>
            </a:pPr>
            <a:r>
              <a:rPr lang="en-US" altLang="en-US" sz="3200" dirty="0"/>
              <a:t>The Pokémon example code adds each new Pokémon to the end of the linked list.  (like a queue)</a:t>
            </a:r>
          </a:p>
          <a:p>
            <a:pPr marL="0" indent="0">
              <a:buNone/>
            </a:pPr>
            <a:endParaRPr lang="en-US" altLang="en-US" sz="3200" dirty="0"/>
          </a:p>
          <a:p>
            <a:pPr marL="0" indent="0">
              <a:buNone/>
            </a:pPr>
            <a:r>
              <a:rPr lang="en-US" altLang="en-US" sz="3200" dirty="0"/>
              <a:t>Change the code so it is a STACK of Pokémon (add each item to the front of the linked list).</a:t>
            </a:r>
          </a:p>
          <a:p>
            <a:pPr>
              <a:buFont typeface="Wingdings" pitchFamily="2" charset="2"/>
              <a:buChar char="Ø"/>
            </a:pPr>
            <a:endParaRPr lang="en-US" altLang="en-US" sz="2800" dirty="0"/>
          </a:p>
          <a:p>
            <a:pPr marL="0" indent="0">
              <a:buNone/>
            </a:pPr>
            <a:endParaRPr lang="en-US" altLang="en-US" sz="2800" dirty="0"/>
          </a:p>
          <a:p>
            <a:pPr marL="0" indent="0">
              <a:buNone/>
            </a:pPr>
            <a:endParaRPr lang="en-US" altLang="en-US" dirty="0"/>
          </a:p>
        </p:txBody>
      </p:sp>
      <p:pic>
        <p:nvPicPr>
          <p:cNvPr id="4" name="Picture 3" descr="A screenshot of a computer&#10;&#10;AI-generated content may be incorrect.">
            <a:extLst>
              <a:ext uri="{FF2B5EF4-FFF2-40B4-BE49-F238E27FC236}">
                <a16:creationId xmlns:a16="http://schemas.microsoft.com/office/drawing/2014/main" id="{7634224A-36B2-02D8-5246-A5BFF43F6F76}"/>
              </a:ext>
            </a:extLst>
          </p:cNvPr>
          <p:cNvPicPr>
            <a:picLocks noChangeAspect="1"/>
          </p:cNvPicPr>
          <p:nvPr/>
        </p:nvPicPr>
        <p:blipFill>
          <a:blip r:embed="rId3"/>
          <a:stretch>
            <a:fillRect/>
          </a:stretch>
        </p:blipFill>
        <p:spPr>
          <a:xfrm>
            <a:off x="6644792" y="2177143"/>
            <a:ext cx="5386081" cy="4526284"/>
          </a:xfrm>
          <a:prstGeom prst="rect">
            <a:avLst/>
          </a:prstGeom>
        </p:spPr>
      </p:pic>
    </p:spTree>
    <p:extLst>
      <p:ext uri="{BB962C8B-B14F-4D97-AF65-F5344CB8AC3E}">
        <p14:creationId xmlns:p14="http://schemas.microsoft.com/office/powerpoint/2010/main" val="11734516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normAutofit/>
          </a:bodyPr>
          <a:lstStyle/>
          <a:p>
            <a:pPr eaLnBrk="1" hangingPunct="1"/>
            <a:r>
              <a:rPr lang="en-US" altLang="en-US" sz="4800" dirty="0">
                <a:latin typeface="Times New Roman" panose="02020603050405020304" pitchFamily="18" charset="0"/>
                <a:cs typeface="Times New Roman" panose="02020603050405020304" pitchFamily="18" charset="0"/>
              </a:rPr>
              <a:t>In Class Exercise CHALLENGE </a:t>
            </a:r>
          </a:p>
        </p:txBody>
      </p:sp>
      <p:sp>
        <p:nvSpPr>
          <p:cNvPr id="2" name="Content Placeholder 1"/>
          <p:cNvSpPr>
            <a:spLocks noGrp="1"/>
          </p:cNvSpPr>
          <p:nvPr>
            <p:ph idx="1"/>
          </p:nvPr>
        </p:nvSpPr>
        <p:spPr>
          <a:xfrm>
            <a:off x="469981" y="2500184"/>
            <a:ext cx="11029616" cy="4114800"/>
          </a:xfrm>
        </p:spPr>
        <p:txBody>
          <a:bodyPr anchor="t" anchorCtr="0">
            <a:normAutofit/>
          </a:bodyPr>
          <a:lstStyle/>
          <a:p>
            <a:pPr>
              <a:buFont typeface="Wingdings" pitchFamily="2" charset="2"/>
              <a:buChar char="Ø"/>
            </a:pPr>
            <a:r>
              <a:rPr lang="en-US" altLang="en-US" sz="3200" dirty="0"/>
              <a:t>Currently the random number generator is not seeded, so it produces the same results with each </a:t>
            </a:r>
            <a:r>
              <a:rPr lang="en-US" altLang="en-US" sz="3200"/>
              <a:t>run.</a:t>
            </a:r>
          </a:p>
          <a:p>
            <a:pPr>
              <a:buFont typeface="Wingdings" pitchFamily="2" charset="2"/>
              <a:buChar char="Ø"/>
            </a:pPr>
            <a:r>
              <a:rPr lang="en-US" altLang="en-US" sz="3200"/>
              <a:t>Release </a:t>
            </a:r>
            <a:r>
              <a:rPr lang="en-US" altLang="en-US" sz="3200" dirty="0"/>
              <a:t>any dynamically allocated memory at the end of the program</a:t>
            </a:r>
            <a:endParaRPr lang="en-US" altLang="en-US" sz="2800" dirty="0"/>
          </a:p>
        </p:txBody>
      </p:sp>
    </p:spTree>
    <p:extLst>
      <p:ext uri="{BB962C8B-B14F-4D97-AF65-F5344CB8AC3E}">
        <p14:creationId xmlns:p14="http://schemas.microsoft.com/office/powerpoint/2010/main" val="892210951"/>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2.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791575F-4C21-47C4-8D13-EB9BE66B536F}">
  <ds:schemaRefs>
    <ds:schemaRef ds:uri="http://schemas.microsoft.com/sharepoint/v3"/>
    <ds:schemaRef ds:uri="230e9df3-be65-4c73-a93b-d1236ebd677e"/>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71af3243-3dd4-4a8d-8c0d-dd76da1f02a5"/>
    <ds:schemaRef ds:uri="http://schemas.microsoft.com/office/2006/documentManagement/types"/>
    <ds:schemaRef ds:uri="http://schemas.microsoft.com/office/2006/metadata/properti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Custom</Template>
  <TotalTime>4852</TotalTime>
  <Words>4361</Words>
  <Application>Microsoft Office PowerPoint</Application>
  <PresentationFormat>Widescreen</PresentationFormat>
  <Paragraphs>780</Paragraphs>
  <Slides>28</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Gill Sans MT</vt:lpstr>
      <vt:lpstr>Times New Roman</vt:lpstr>
      <vt:lpstr>Wingdings</vt:lpstr>
      <vt:lpstr>Wingdings 2</vt:lpstr>
      <vt:lpstr>Custom</vt:lpstr>
      <vt:lpstr>Linked Lists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Pointers</vt:lpstr>
      <vt:lpstr>PowerPoint Presentation</vt:lpstr>
      <vt:lpstr>Passing Arguments To Functions In C </vt:lpstr>
      <vt:lpstr>Passing Arguments To Functions In C </vt:lpstr>
      <vt:lpstr>Passing Pointers (Addresses) To A Function</vt:lpstr>
      <vt:lpstr>PowerPoint Presentation</vt:lpstr>
      <vt:lpstr>PowerPoint Presentation</vt:lpstr>
      <vt:lpstr>Struct Review</vt:lpstr>
      <vt:lpstr>PowerPoint Presentation</vt:lpstr>
      <vt:lpstr>PowerPoint Presentation</vt:lpstr>
      <vt:lpstr>PowerPoint Presentation</vt:lpstr>
      <vt:lpstr>PowerPoint Presentation</vt:lpstr>
      <vt:lpstr>PowerPoint Presentation</vt:lpstr>
      <vt:lpstr>PowerPoint Presentation</vt:lpstr>
      <vt:lpstr>Questions?</vt:lpstr>
      <vt:lpstr>In Class Exercise</vt:lpstr>
      <vt:lpstr>In Class Exercise CHALLENGE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CS399 Run Time Analysis</dc:title>
  <dc:creator>Marriott, Heather H</dc:creator>
  <cp:lastModifiedBy>Marriott, Heather H</cp:lastModifiedBy>
  <cp:revision>44</cp:revision>
  <dcterms:created xsi:type="dcterms:W3CDTF">2024-05-27T01:44:40Z</dcterms:created>
  <dcterms:modified xsi:type="dcterms:W3CDTF">2026-09-03T20:45:48Z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