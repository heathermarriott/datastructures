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39"/>
  </p:notesMasterIdLst>
  <p:handoutMasterIdLst>
    <p:handoutMasterId r:id="rId40"/>
  </p:handoutMasterIdLst>
  <p:sldIdLst>
    <p:sldId id="256" r:id="rId5"/>
    <p:sldId id="279" r:id="rId6"/>
    <p:sldId id="608" r:id="rId7"/>
    <p:sldId id="595" r:id="rId8"/>
    <p:sldId id="609" r:id="rId9"/>
    <p:sldId id="597" r:id="rId10"/>
    <p:sldId id="596" r:id="rId11"/>
    <p:sldId id="599" r:id="rId12"/>
    <p:sldId id="610" r:id="rId13"/>
    <p:sldId id="616" r:id="rId14"/>
    <p:sldId id="611" r:id="rId15"/>
    <p:sldId id="615" r:id="rId16"/>
    <p:sldId id="612" r:id="rId17"/>
    <p:sldId id="435" r:id="rId18"/>
    <p:sldId id="568" r:id="rId19"/>
    <p:sldId id="436" r:id="rId20"/>
    <p:sldId id="569" r:id="rId21"/>
    <p:sldId id="603" r:id="rId22"/>
    <p:sldId id="602" r:id="rId23"/>
    <p:sldId id="605" r:id="rId24"/>
    <p:sldId id="570" r:id="rId25"/>
    <p:sldId id="571" r:id="rId26"/>
    <p:sldId id="456" r:id="rId27"/>
    <p:sldId id="604" r:id="rId28"/>
    <p:sldId id="613" r:id="rId29"/>
    <p:sldId id="614" r:id="rId30"/>
    <p:sldId id="457" r:id="rId31"/>
    <p:sldId id="576" r:id="rId32"/>
    <p:sldId id="578" r:id="rId33"/>
    <p:sldId id="574" r:id="rId34"/>
    <p:sldId id="260" r:id="rId35"/>
    <p:sldId id="607" r:id="rId36"/>
    <p:sldId id="580" r:id="rId37"/>
    <p:sldId id="581"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304" autoAdjust="0"/>
    <p:restoredTop sz="70192" autoAdjust="0"/>
  </p:normalViewPr>
  <p:slideViewPr>
    <p:cSldViewPr snapToGrid="0">
      <p:cViewPr varScale="1">
        <p:scale>
          <a:sx n="68" d="100"/>
          <a:sy n="68" d="100"/>
        </p:scale>
        <p:origin x="642" y="7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Times New Roman" panose="02020603050405020304" pitchFamily="18" charset="0"/>
            </a:endParaRPr>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latin typeface="Times New Roman" panose="02020603050405020304" pitchFamily="18" charset="0"/>
              </a:rPr>
              <a:t>9/9/2026</a:t>
            </a:fld>
            <a:endParaRPr lang="en-US" dirty="0">
              <a:latin typeface="Times New Roman" panose="02020603050405020304" pitchFamily="18" charset="0"/>
            </a:endParaRPr>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Times New Roman" panose="02020603050405020304" pitchFamily="18" charset="0"/>
            </a:endParaRPr>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latin typeface="Times New Roman" panose="02020603050405020304" pitchFamily="18" charset="0"/>
              </a:rPr>
              <a:t>‹#›</a:t>
            </a:fld>
            <a:endParaRPr lang="en-US" dirty="0">
              <a:latin typeface="Times New Roman" panose="02020603050405020304" pitchFamily="18" charset="0"/>
            </a:endParaRPr>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Times New Roman" panose="02020603050405020304" pitchFamily="18"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Times New Roman" panose="02020603050405020304" pitchFamily="18" charset="0"/>
              </a:defRPr>
            </a:lvl1pPr>
          </a:lstStyle>
          <a:p>
            <a:fld id="{C732326A-4C88-4AFB-AA5B-5919D81DFF5B}" type="datetimeFigureOut">
              <a:rPr lang="en-US" smtClean="0"/>
              <a:pPr/>
              <a:t>9/9/2026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Times New Roman" panose="02020603050405020304" pitchFamily="18"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Times New Roman" panose="02020603050405020304" pitchFamily="18" charset="0"/>
              </a:defRPr>
            </a:lvl1pPr>
          </a:lstStyle>
          <a:p>
            <a:fld id="{C6B3AB32-59DF-41F1-9618-EDFBF5049629}" type="slidenum">
              <a:rPr lang="en-US" smtClean="0"/>
              <a:pPr/>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Times New Roman" panose="02020603050405020304" pitchFamily="18" charset="0"/>
        <a:ea typeface="+mn-ea"/>
        <a:cs typeface="+mn-cs"/>
      </a:defRPr>
    </a:lvl1pPr>
    <a:lvl2pPr marL="457200" algn="l" defTabSz="914400" rtl="0" eaLnBrk="1" latinLnBrk="0" hangingPunct="1">
      <a:defRPr sz="1200" b="0" i="0" kern="1200">
        <a:solidFill>
          <a:schemeClr val="tx1"/>
        </a:solidFill>
        <a:latin typeface="Times New Roman" panose="02020603050405020304" pitchFamily="18" charset="0"/>
        <a:ea typeface="+mn-ea"/>
        <a:cs typeface="+mn-cs"/>
      </a:defRPr>
    </a:lvl2pPr>
    <a:lvl3pPr marL="914400" algn="l" defTabSz="914400" rtl="0" eaLnBrk="1" latinLnBrk="0" hangingPunct="1">
      <a:defRPr sz="1200" b="0" i="0" kern="1200">
        <a:solidFill>
          <a:schemeClr val="tx1"/>
        </a:solidFill>
        <a:latin typeface="Times New Roman" panose="02020603050405020304" pitchFamily="18" charset="0"/>
        <a:ea typeface="+mn-ea"/>
        <a:cs typeface="+mn-cs"/>
      </a:defRPr>
    </a:lvl3pPr>
    <a:lvl4pPr marL="1371600" algn="l" defTabSz="914400" rtl="0" eaLnBrk="1" latinLnBrk="0" hangingPunct="1">
      <a:defRPr sz="1200" b="0" i="0" kern="1200">
        <a:solidFill>
          <a:schemeClr val="tx1"/>
        </a:solidFill>
        <a:latin typeface="Times New Roman" panose="02020603050405020304" pitchFamily="18" charset="0"/>
        <a:ea typeface="+mn-ea"/>
        <a:cs typeface="+mn-cs"/>
      </a:defRPr>
    </a:lvl4pPr>
    <a:lvl5pPr marL="1828800" algn="l" defTabSz="914400" rtl="0" eaLnBrk="1" latinLnBrk="0" hangingPunct="1">
      <a:defRPr sz="1200" b="0" i="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829120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9F57A-843E-7389-4ED1-DFA3FB42C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C3C5FE-446D-96B8-0481-9095ED22FEA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1A51A4C-2F27-8CAF-208C-CB005172D665}"/>
              </a:ext>
            </a:extLst>
          </p:cNvPr>
          <p:cNvSpPr>
            <a:spLocks noGrp="1"/>
          </p:cNvSpPr>
          <p:nvPr>
            <p:ph type="body" idx="1"/>
          </p:nvPr>
        </p:nvSpPr>
        <p:spPr/>
        <p:txBody>
          <a:bodyPr/>
          <a:lstStyle/>
          <a:p>
            <a:r>
              <a:rPr lang="en-US" dirty="0"/>
              <a:t>One option is a recursive algorithm or use a stack (printing involves putting everything on the </a:t>
            </a:r>
          </a:p>
          <a:p>
            <a:r>
              <a:rPr lang="en-US" dirty="0"/>
              <a:t>stack and </a:t>
            </a:r>
          </a:p>
          <a:p>
            <a:endParaRPr lang="en-US" dirty="0"/>
          </a:p>
          <a:p>
            <a:r>
              <a:rPr lang="en-US" dirty="0"/>
              <a:t>#include &lt;</a:t>
            </a:r>
            <a:r>
              <a:rPr lang="en-US" dirty="0" err="1"/>
              <a:t>stdio.h</a:t>
            </a:r>
            <a:r>
              <a:rPr lang="en-US" dirty="0"/>
              <a:t>&gt;</a:t>
            </a:r>
          </a:p>
          <a:p>
            <a:r>
              <a:rPr lang="en-US" dirty="0"/>
              <a:t>#include &lt;</a:t>
            </a:r>
            <a:r>
              <a:rPr lang="en-US" dirty="0" err="1"/>
              <a:t>stdlib.h</a:t>
            </a:r>
            <a:r>
              <a:rPr lang="en-US" dirty="0"/>
              <a:t>&gt;</a:t>
            </a:r>
          </a:p>
          <a:p>
            <a:endParaRPr lang="en-US" dirty="0"/>
          </a:p>
          <a:p>
            <a:r>
              <a:rPr lang="en-US" dirty="0"/>
              <a:t>typedef struct Node {</a:t>
            </a:r>
          </a:p>
          <a:p>
            <a:r>
              <a:rPr lang="en-US" dirty="0"/>
              <a:t>    int data;</a:t>
            </a:r>
          </a:p>
          <a:p>
            <a:r>
              <a:rPr lang="en-US" dirty="0"/>
              <a:t>    struct Node *next;</a:t>
            </a:r>
          </a:p>
          <a:p>
            <a:r>
              <a:rPr lang="en-US" dirty="0"/>
              <a:t>} Node;</a:t>
            </a:r>
          </a:p>
          <a:p>
            <a:endParaRPr lang="en-US" dirty="0"/>
          </a:p>
          <a:p>
            <a:r>
              <a:rPr lang="en-US" dirty="0"/>
              <a:t>// Add a new node to the front of the list</a:t>
            </a:r>
          </a:p>
          <a:p>
            <a:r>
              <a:rPr lang="en-US" dirty="0"/>
              <a:t>Node *</a:t>
            </a:r>
            <a:r>
              <a:rPr lang="en-US" dirty="0" err="1"/>
              <a:t>addFront</a:t>
            </a:r>
            <a:r>
              <a:rPr lang="en-US" dirty="0"/>
              <a:t>(Node *head, int value) {</a:t>
            </a:r>
          </a:p>
          <a:p>
            <a:r>
              <a:rPr lang="en-US" dirty="0"/>
              <a:t>    Node *</a:t>
            </a:r>
            <a:r>
              <a:rPr lang="en-US" dirty="0" err="1"/>
              <a:t>newNode</a:t>
            </a:r>
            <a:r>
              <a:rPr lang="en-US" dirty="0"/>
              <a:t> = malloc(</a:t>
            </a:r>
            <a:r>
              <a:rPr lang="en-US" dirty="0" err="1"/>
              <a:t>sizeof</a:t>
            </a:r>
            <a:r>
              <a:rPr lang="en-US" dirty="0"/>
              <a:t>(Node));</a:t>
            </a:r>
          </a:p>
          <a:p>
            <a:endParaRPr lang="en-US" dirty="0"/>
          </a:p>
          <a:p>
            <a:r>
              <a:rPr lang="en-US" dirty="0"/>
              <a:t>    if (</a:t>
            </a:r>
            <a:r>
              <a:rPr lang="en-US" dirty="0" err="1"/>
              <a:t>newNode</a:t>
            </a:r>
            <a:r>
              <a:rPr lang="en-US" dirty="0"/>
              <a:t> == NULL) {</a:t>
            </a:r>
          </a:p>
          <a:p>
            <a:r>
              <a:rPr lang="en-US" dirty="0"/>
              <a:t>        </a:t>
            </a:r>
            <a:r>
              <a:rPr lang="en-US" dirty="0" err="1"/>
              <a:t>printf</a:t>
            </a:r>
            <a:r>
              <a:rPr lang="en-US" dirty="0"/>
              <a:t>("Memory allocation failed.\n");</a:t>
            </a:r>
          </a:p>
          <a:p>
            <a:r>
              <a:rPr lang="en-US" dirty="0"/>
              <a:t>        exit(1);</a:t>
            </a:r>
          </a:p>
          <a:p>
            <a:r>
              <a:rPr lang="en-US" dirty="0"/>
              <a:t>    }</a:t>
            </a:r>
          </a:p>
          <a:p>
            <a:endParaRPr lang="en-US" dirty="0"/>
          </a:p>
          <a:p>
            <a:r>
              <a:rPr lang="en-US" dirty="0"/>
              <a:t>    </a:t>
            </a:r>
            <a:r>
              <a:rPr lang="en-US" dirty="0" err="1"/>
              <a:t>newNode</a:t>
            </a:r>
            <a:r>
              <a:rPr lang="en-US" dirty="0"/>
              <a:t>-&gt;data = value;</a:t>
            </a:r>
          </a:p>
          <a:p>
            <a:r>
              <a:rPr lang="en-US" dirty="0"/>
              <a:t>    </a:t>
            </a:r>
            <a:r>
              <a:rPr lang="en-US" dirty="0" err="1"/>
              <a:t>newNode</a:t>
            </a:r>
            <a:r>
              <a:rPr lang="en-US" dirty="0"/>
              <a:t>-&gt;next = head;</a:t>
            </a:r>
          </a:p>
          <a:p>
            <a:endParaRPr lang="en-US" dirty="0"/>
          </a:p>
          <a:p>
            <a:r>
              <a:rPr lang="en-US" dirty="0"/>
              <a:t>    return </a:t>
            </a:r>
            <a:r>
              <a:rPr lang="en-US" dirty="0" err="1"/>
              <a:t>newNode</a:t>
            </a:r>
            <a:r>
              <a:rPr lang="en-US" dirty="0"/>
              <a:t>;</a:t>
            </a:r>
          </a:p>
          <a:p>
            <a:r>
              <a:rPr lang="en-US" dirty="0"/>
              <a:t>}</a:t>
            </a:r>
          </a:p>
          <a:p>
            <a:endParaRPr lang="en-US" dirty="0"/>
          </a:p>
          <a:p>
            <a:r>
              <a:rPr lang="en-US" dirty="0"/>
              <a:t>// Print the list backward</a:t>
            </a:r>
          </a:p>
          <a:p>
            <a:r>
              <a:rPr lang="en-US" dirty="0"/>
              <a:t>/*void </a:t>
            </a:r>
            <a:r>
              <a:rPr lang="en-US" dirty="0" err="1"/>
              <a:t>printBackward</a:t>
            </a:r>
            <a:r>
              <a:rPr lang="en-US" dirty="0"/>
              <a:t>(Node *head) {</a:t>
            </a:r>
          </a:p>
          <a:p>
            <a:r>
              <a:rPr lang="en-US" dirty="0"/>
              <a:t>    if (head == NULL) {</a:t>
            </a:r>
          </a:p>
          <a:p>
            <a:r>
              <a:rPr lang="en-US" dirty="0"/>
              <a:t>        return;</a:t>
            </a:r>
          </a:p>
          <a:p>
            <a:r>
              <a:rPr lang="en-US" dirty="0"/>
              <a:t>    }</a:t>
            </a:r>
          </a:p>
          <a:p>
            <a:endParaRPr lang="en-US" dirty="0"/>
          </a:p>
          <a:p>
            <a:r>
              <a:rPr lang="en-US" dirty="0"/>
              <a:t>    // First move toward the end of the list</a:t>
            </a:r>
          </a:p>
          <a:p>
            <a:r>
              <a:rPr lang="en-US" dirty="0"/>
              <a:t>    </a:t>
            </a:r>
            <a:r>
              <a:rPr lang="en-US" dirty="0" err="1"/>
              <a:t>printBackward</a:t>
            </a:r>
            <a:r>
              <a:rPr lang="en-US" dirty="0"/>
              <a:t>(head-&gt;next);</a:t>
            </a:r>
          </a:p>
          <a:p>
            <a:endParaRPr lang="en-US" dirty="0"/>
          </a:p>
          <a:p>
            <a:r>
              <a:rPr lang="en-US" dirty="0"/>
              <a:t>    // Print while returning from the recursive calls</a:t>
            </a:r>
          </a:p>
          <a:p>
            <a:r>
              <a:rPr lang="en-US" dirty="0"/>
              <a:t>    </a:t>
            </a:r>
            <a:r>
              <a:rPr lang="en-US" dirty="0" err="1"/>
              <a:t>printf</a:t>
            </a:r>
            <a:r>
              <a:rPr lang="en-US" dirty="0"/>
              <a:t>("%d ", head-&gt;data);</a:t>
            </a:r>
          </a:p>
          <a:p>
            <a:r>
              <a:rPr lang="en-US" dirty="0"/>
              <a:t>}</a:t>
            </a:r>
          </a:p>
          <a:p>
            <a:r>
              <a:rPr lang="en-US" dirty="0"/>
              <a:t>*/</a:t>
            </a:r>
          </a:p>
          <a:p>
            <a:r>
              <a:rPr lang="en-US" dirty="0"/>
              <a:t>void </a:t>
            </a:r>
            <a:r>
              <a:rPr lang="en-US" dirty="0" err="1"/>
              <a:t>printBackward</a:t>
            </a:r>
            <a:r>
              <a:rPr lang="en-US" dirty="0"/>
              <a:t>(Node *head) {</a:t>
            </a:r>
          </a:p>
          <a:p>
            <a:r>
              <a:rPr lang="en-US" dirty="0"/>
              <a:t>    int stack[100]; //only works if 100 or less items</a:t>
            </a:r>
          </a:p>
          <a:p>
            <a:r>
              <a:rPr lang="en-US" dirty="0"/>
              <a:t>    int top = -1;</a:t>
            </a:r>
          </a:p>
          <a:p>
            <a:r>
              <a:rPr lang="en-US" dirty="0"/>
              <a:t>    Node *current = head;</a:t>
            </a:r>
          </a:p>
          <a:p>
            <a:endParaRPr lang="en-US" dirty="0"/>
          </a:p>
          <a:p>
            <a:r>
              <a:rPr lang="en-US" dirty="0"/>
              <a:t>    while (current != NULL) {</a:t>
            </a:r>
          </a:p>
          <a:p>
            <a:r>
              <a:rPr lang="en-US" dirty="0"/>
              <a:t>        stack[++top] = current-&gt;data;</a:t>
            </a:r>
          </a:p>
          <a:p>
            <a:r>
              <a:rPr lang="en-US" dirty="0"/>
              <a:t>        current = current-&gt;next;</a:t>
            </a:r>
          </a:p>
          <a:p>
            <a:r>
              <a:rPr lang="en-US" dirty="0"/>
              <a:t>    }</a:t>
            </a:r>
          </a:p>
          <a:p>
            <a:endParaRPr lang="en-US" dirty="0"/>
          </a:p>
          <a:p>
            <a:r>
              <a:rPr lang="en-US" dirty="0"/>
              <a:t>    while (top &gt;= 0) {</a:t>
            </a:r>
          </a:p>
          <a:p>
            <a:r>
              <a:rPr lang="en-US" dirty="0"/>
              <a:t>        </a:t>
            </a:r>
            <a:r>
              <a:rPr lang="en-US" dirty="0" err="1"/>
              <a:t>printf</a:t>
            </a:r>
            <a:r>
              <a:rPr lang="en-US" dirty="0"/>
              <a:t>("%d ", stack[top--]);</a:t>
            </a:r>
          </a:p>
          <a:p>
            <a:r>
              <a:rPr lang="en-US" dirty="0"/>
              <a:t>    }</a:t>
            </a:r>
          </a:p>
          <a:p>
            <a:r>
              <a:rPr lang="en-US" dirty="0"/>
              <a:t>}</a:t>
            </a:r>
          </a:p>
          <a:p>
            <a:endParaRPr lang="en-US" dirty="0"/>
          </a:p>
          <a:p>
            <a:endParaRPr lang="en-US" dirty="0"/>
          </a:p>
          <a:p>
            <a:r>
              <a:rPr lang="en-US" dirty="0"/>
              <a:t>// Free the linked list</a:t>
            </a:r>
          </a:p>
          <a:p>
            <a:r>
              <a:rPr lang="en-US" dirty="0"/>
              <a:t>void </a:t>
            </a:r>
            <a:r>
              <a:rPr lang="en-US" dirty="0" err="1"/>
              <a:t>freeList</a:t>
            </a:r>
            <a:r>
              <a:rPr lang="en-US" dirty="0"/>
              <a:t>(Node *head) {</a:t>
            </a:r>
          </a:p>
          <a:p>
            <a:r>
              <a:rPr lang="en-US" dirty="0"/>
              <a:t>    Node *current;</a:t>
            </a:r>
          </a:p>
          <a:p>
            <a:endParaRPr lang="en-US" dirty="0"/>
          </a:p>
          <a:p>
            <a:r>
              <a:rPr lang="en-US" dirty="0"/>
              <a:t>    while (head != NULL) {</a:t>
            </a:r>
          </a:p>
          <a:p>
            <a:r>
              <a:rPr lang="en-US" dirty="0"/>
              <a:t>        current = head;</a:t>
            </a:r>
          </a:p>
          <a:p>
            <a:r>
              <a:rPr lang="en-US" dirty="0"/>
              <a:t>        head = head-&gt;next;</a:t>
            </a:r>
          </a:p>
          <a:p>
            <a:r>
              <a:rPr lang="en-US" dirty="0"/>
              <a:t>        free(current);</a:t>
            </a:r>
          </a:p>
          <a:p>
            <a:r>
              <a:rPr lang="en-US" dirty="0"/>
              <a:t>    }</a:t>
            </a:r>
          </a:p>
          <a:p>
            <a:r>
              <a:rPr lang="en-US" dirty="0"/>
              <a:t>}</a:t>
            </a:r>
          </a:p>
          <a:p>
            <a:endParaRPr lang="en-US" dirty="0"/>
          </a:p>
          <a:p>
            <a:r>
              <a:rPr lang="en-US" dirty="0"/>
              <a:t>int main(void) {</a:t>
            </a:r>
          </a:p>
          <a:p>
            <a:r>
              <a:rPr lang="en-US" dirty="0"/>
              <a:t>    Node *head = NULL;</a:t>
            </a:r>
          </a:p>
          <a:p>
            <a:endParaRPr lang="en-US" dirty="0"/>
          </a:p>
          <a:p>
            <a:r>
              <a:rPr lang="en-US" dirty="0"/>
              <a:t>    head = </a:t>
            </a:r>
            <a:r>
              <a:rPr lang="en-US" dirty="0" err="1"/>
              <a:t>addFront</a:t>
            </a:r>
            <a:r>
              <a:rPr lang="en-US" dirty="0"/>
              <a:t>(head, 10);</a:t>
            </a:r>
          </a:p>
          <a:p>
            <a:r>
              <a:rPr lang="en-US" dirty="0"/>
              <a:t>    head = </a:t>
            </a:r>
            <a:r>
              <a:rPr lang="en-US" dirty="0" err="1"/>
              <a:t>addFront</a:t>
            </a:r>
            <a:r>
              <a:rPr lang="en-US" dirty="0"/>
              <a:t>(head, 20);</a:t>
            </a:r>
          </a:p>
          <a:p>
            <a:r>
              <a:rPr lang="en-US" dirty="0"/>
              <a:t>    head = </a:t>
            </a:r>
            <a:r>
              <a:rPr lang="en-US" dirty="0" err="1"/>
              <a:t>addFront</a:t>
            </a:r>
            <a:r>
              <a:rPr lang="en-US" dirty="0"/>
              <a:t>(head, 30);</a:t>
            </a:r>
          </a:p>
          <a:p>
            <a:r>
              <a:rPr lang="en-US" dirty="0"/>
              <a:t>    head = </a:t>
            </a:r>
            <a:r>
              <a:rPr lang="en-US" dirty="0" err="1"/>
              <a:t>addFront</a:t>
            </a:r>
            <a:r>
              <a:rPr lang="en-US" dirty="0"/>
              <a:t>(head, 40);</a:t>
            </a:r>
          </a:p>
          <a:p>
            <a:endParaRPr lang="en-US" dirty="0"/>
          </a:p>
          <a:p>
            <a:r>
              <a:rPr lang="en-US" dirty="0"/>
              <a:t>    </a:t>
            </a:r>
            <a:r>
              <a:rPr lang="en-US" dirty="0" err="1"/>
              <a:t>printf</a:t>
            </a:r>
            <a:r>
              <a:rPr lang="en-US" dirty="0"/>
              <a:t>("List backward: ");</a:t>
            </a:r>
          </a:p>
          <a:p>
            <a:r>
              <a:rPr lang="en-US" dirty="0"/>
              <a:t>    </a:t>
            </a:r>
            <a:r>
              <a:rPr lang="en-US" dirty="0" err="1"/>
              <a:t>printBackward</a:t>
            </a:r>
            <a:r>
              <a:rPr lang="en-US" dirty="0"/>
              <a:t>(head);</a:t>
            </a:r>
          </a:p>
          <a:p>
            <a:r>
              <a:rPr lang="en-US" dirty="0"/>
              <a:t>    </a:t>
            </a:r>
            <a:r>
              <a:rPr lang="en-US" dirty="0" err="1"/>
              <a:t>printf</a:t>
            </a:r>
            <a:r>
              <a:rPr lang="en-US" dirty="0"/>
              <a:t>("\n");</a:t>
            </a:r>
          </a:p>
          <a:p>
            <a:endParaRPr lang="en-US" dirty="0"/>
          </a:p>
          <a:p>
            <a:r>
              <a:rPr lang="en-US" dirty="0"/>
              <a:t>    </a:t>
            </a:r>
            <a:r>
              <a:rPr lang="en-US" dirty="0" err="1"/>
              <a:t>freeList</a:t>
            </a:r>
            <a:r>
              <a:rPr lang="en-US" dirty="0"/>
              <a:t>(head);</a:t>
            </a:r>
          </a:p>
          <a:p>
            <a:endParaRPr lang="en-US" dirty="0"/>
          </a:p>
          <a:p>
            <a:r>
              <a:rPr lang="en-US" dirty="0"/>
              <a:t>    return 0;</a:t>
            </a:r>
          </a:p>
          <a:p>
            <a:r>
              <a:rPr lang="en-US" dirty="0"/>
              <a:t>}</a:t>
            </a:r>
          </a:p>
        </p:txBody>
      </p:sp>
    </p:spTree>
    <p:extLst>
      <p:ext uri="{BB962C8B-B14F-4D97-AF65-F5344CB8AC3E}">
        <p14:creationId xmlns:p14="http://schemas.microsoft.com/office/powerpoint/2010/main" val="1993359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A7DD7BD1-6825-4DC0-9099-B9E78B685343}" type="slidenum">
              <a:rPr lang="en-US" altLang="en-US" sz="1200">
                <a:solidFill>
                  <a:schemeClr val="tx1"/>
                </a:solidFill>
              </a:rPr>
              <a:pPr eaLnBrk="1" hangingPunct="1"/>
              <a:t>4</a:t>
            </a:fld>
            <a:endParaRPr lang="en-US" altLang="en-US" sz="1200" dirty="0">
              <a:solidFill>
                <a:schemeClr val="tx1"/>
              </a:solidFill>
            </a:endParaRPr>
          </a:p>
        </p:txBody>
      </p:sp>
      <p:sp>
        <p:nvSpPr>
          <p:cNvPr id="25603" name="Rectangle 2"/>
          <p:cNvSpPr>
            <a:spLocks noGrp="1" noRot="1" noChangeAspect="1" noChangeArrowheads="1" noTextEdit="1"/>
          </p:cNvSpPr>
          <p:nvPr>
            <p:ph type="sldImg"/>
          </p:nvPr>
        </p:nvSpPr>
        <p:spPr>
          <a:ln/>
        </p:spPr>
        <p:txBody>
          <a:bodyPr/>
          <a:lstStyle/>
          <a:p>
            <a:endParaRPr lang="en-US" dirty="0"/>
          </a:p>
        </p:txBody>
      </p:sp>
      <p:sp>
        <p:nvSpPr>
          <p:cNvPr id="2560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6241458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04FE8-748B-FB70-907F-6A8D2A334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BD0CC-1BCC-E12F-58F7-7A8BBB5A0B9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BD91826-F163-2BEC-72A3-8DCA00E5F96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18181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A7DD7BD1-6825-4DC0-9099-B9E78B685343}" type="slidenum">
              <a:rPr lang="en-US" altLang="en-US" sz="1200">
                <a:solidFill>
                  <a:schemeClr val="tx1"/>
                </a:solidFill>
              </a:rPr>
              <a:pPr eaLnBrk="1" hangingPunct="1"/>
              <a:t>6</a:t>
            </a:fld>
            <a:endParaRPr lang="en-US" altLang="en-US" sz="1200" dirty="0">
              <a:solidFill>
                <a:schemeClr val="tx1"/>
              </a:solidFill>
            </a:endParaRPr>
          </a:p>
        </p:txBody>
      </p:sp>
      <p:sp>
        <p:nvSpPr>
          <p:cNvPr id="25603" name="Rectangle 2"/>
          <p:cNvSpPr>
            <a:spLocks noGrp="1" noRot="1" noChangeAspect="1" noChangeArrowheads="1" noTextEdit="1"/>
          </p:cNvSpPr>
          <p:nvPr>
            <p:ph type="sldImg"/>
          </p:nvPr>
        </p:nvSpPr>
        <p:spPr>
          <a:ln/>
        </p:spPr>
        <p:txBody>
          <a:bodyPr/>
          <a:lstStyle/>
          <a:p>
            <a:endParaRPr lang="en-US" dirty="0"/>
          </a:p>
        </p:txBody>
      </p:sp>
      <p:sp>
        <p:nvSpPr>
          <p:cNvPr id="2560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734688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A7DD7BD1-6825-4DC0-9099-B9E78B685343}" type="slidenum">
              <a:rPr lang="en-US" altLang="en-US" sz="1200">
                <a:solidFill>
                  <a:schemeClr val="tx1"/>
                </a:solidFill>
              </a:rPr>
              <a:pPr eaLnBrk="1" hangingPunct="1"/>
              <a:t>7</a:t>
            </a:fld>
            <a:endParaRPr lang="en-US" altLang="en-US" sz="1200" dirty="0">
              <a:solidFill>
                <a:schemeClr val="tx1"/>
              </a:solidFill>
            </a:endParaRPr>
          </a:p>
        </p:txBody>
      </p:sp>
      <p:sp>
        <p:nvSpPr>
          <p:cNvPr id="25603" name="Rectangle 2"/>
          <p:cNvSpPr>
            <a:spLocks noGrp="1" noRot="1" noChangeAspect="1" noChangeArrowheads="1" noTextEdit="1"/>
          </p:cNvSpPr>
          <p:nvPr>
            <p:ph type="sldImg"/>
          </p:nvPr>
        </p:nvSpPr>
        <p:spPr>
          <a:ln/>
        </p:spPr>
        <p:txBody>
          <a:bodyPr/>
          <a:lstStyle/>
          <a:p>
            <a:endParaRPr lang="en-US" dirty="0"/>
          </a:p>
        </p:txBody>
      </p:sp>
      <p:sp>
        <p:nvSpPr>
          <p:cNvPr id="2560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dirty="0"/>
              <a:t>pronounced Deck</a:t>
            </a:r>
          </a:p>
        </p:txBody>
      </p:sp>
    </p:spTree>
    <p:extLst>
      <p:ext uri="{BB962C8B-B14F-4D97-AF65-F5344CB8AC3E}">
        <p14:creationId xmlns:p14="http://schemas.microsoft.com/office/powerpoint/2010/main" val="13367671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A7DD7BD1-6825-4DC0-9099-B9E78B685343}" type="slidenum">
              <a:rPr lang="en-US" altLang="en-US" sz="1200">
                <a:solidFill>
                  <a:schemeClr val="tx1"/>
                </a:solidFill>
              </a:rPr>
              <a:pPr eaLnBrk="1" hangingPunct="1"/>
              <a:t>8</a:t>
            </a:fld>
            <a:endParaRPr lang="en-US" altLang="en-US" sz="1200" dirty="0">
              <a:solidFill>
                <a:schemeClr val="tx1"/>
              </a:solidFill>
            </a:endParaRPr>
          </a:p>
        </p:txBody>
      </p:sp>
      <p:sp>
        <p:nvSpPr>
          <p:cNvPr id="25603" name="Rectangle 2"/>
          <p:cNvSpPr>
            <a:spLocks noGrp="1" noRot="1" noChangeAspect="1" noChangeArrowheads="1" noTextEdit="1"/>
          </p:cNvSpPr>
          <p:nvPr>
            <p:ph type="sldImg"/>
          </p:nvPr>
        </p:nvSpPr>
        <p:spPr>
          <a:ln/>
        </p:spPr>
        <p:txBody>
          <a:bodyPr/>
          <a:lstStyle/>
          <a:p>
            <a:endParaRPr lang="en-US" dirty="0"/>
          </a:p>
        </p:txBody>
      </p:sp>
      <p:sp>
        <p:nvSpPr>
          <p:cNvPr id="2560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dirty="0"/>
              <a:t>pronounced Deck</a:t>
            </a:r>
          </a:p>
        </p:txBody>
      </p:sp>
    </p:spTree>
    <p:extLst>
      <p:ext uri="{BB962C8B-B14F-4D97-AF65-F5344CB8AC3E}">
        <p14:creationId xmlns:p14="http://schemas.microsoft.com/office/powerpoint/2010/main" val="1415796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A7D0A-D73F-5240-F171-E913683EBE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33AAE8-080B-8FD4-F134-C6F71A821EDE}"/>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84A5A07-3FDB-6ACD-98EC-ACB9C8C38FF5}"/>
              </a:ext>
            </a:extLst>
          </p:cNvPr>
          <p:cNvSpPr>
            <a:spLocks noGrp="1"/>
          </p:cNvSpPr>
          <p:nvPr>
            <p:ph type="body" idx="1"/>
          </p:nvPr>
        </p:nvSpPr>
        <p:spPr/>
        <p:txBody>
          <a:bodyPr/>
          <a:lstStyle/>
          <a:p>
            <a:r>
              <a:rPr lang="en-US" dirty="0"/>
              <a:t>itemPtr-&gt;prev-&gt;next = itemPtr-&gt;next;</a:t>
            </a:r>
          </a:p>
          <a:p>
            <a:r>
              <a:rPr lang="en-US" dirty="0"/>
              <a:t>itemPtr-&gt;next-&gt;prev = itemPtr-&gt;prev;</a:t>
            </a:r>
          </a:p>
          <a:p>
            <a:r>
              <a:rPr lang="en-US" dirty="0"/>
              <a:t>free(itemPtr);</a:t>
            </a:r>
          </a:p>
          <a:p>
            <a:endParaRPr lang="en-US" dirty="0"/>
          </a:p>
          <a:p>
            <a:r>
              <a:rPr lang="en-US" dirty="0"/>
              <a:t>//show deleting 2</a:t>
            </a:r>
            <a:r>
              <a:rPr lang="en-US" baseline="30000" dirty="0"/>
              <a:t>nd</a:t>
            </a:r>
            <a:r>
              <a:rPr lang="en-US" dirty="0"/>
              <a:t> item in linked list</a:t>
            </a:r>
          </a:p>
          <a:p>
            <a:r>
              <a:rPr lang="en-US" dirty="0"/>
              <a:t>#include &lt;stdio.h&gt;</a:t>
            </a:r>
          </a:p>
          <a:p>
            <a:r>
              <a:rPr lang="en-US" dirty="0"/>
              <a:t>#include &lt;stdlib.h&gt;</a:t>
            </a:r>
          </a:p>
          <a:p>
            <a:endParaRPr lang="en-US" dirty="0"/>
          </a:p>
          <a:p>
            <a:r>
              <a:rPr lang="en-US" dirty="0"/>
              <a:t>// Define the node structure for a doubly linked list</a:t>
            </a:r>
          </a:p>
          <a:p>
            <a:r>
              <a:rPr lang="en-US" dirty="0"/>
              <a:t>typedef struct Node {</a:t>
            </a:r>
          </a:p>
          <a:p>
            <a:r>
              <a:rPr lang="en-US" dirty="0"/>
              <a:t>    int data;</a:t>
            </a:r>
          </a:p>
          <a:p>
            <a:r>
              <a:rPr lang="en-US" dirty="0"/>
              <a:t>    struct Node* next;</a:t>
            </a:r>
          </a:p>
          <a:p>
            <a:r>
              <a:rPr lang="en-US" dirty="0"/>
              <a:t>    struct Node* prev;</a:t>
            </a:r>
          </a:p>
          <a:p>
            <a:r>
              <a:rPr lang="en-US" dirty="0"/>
              <a:t>} Node;</a:t>
            </a:r>
          </a:p>
          <a:p>
            <a:endParaRPr lang="en-US" dirty="0"/>
          </a:p>
          <a:p>
            <a:r>
              <a:rPr lang="en-US" dirty="0"/>
              <a:t>// Create a new node</a:t>
            </a:r>
          </a:p>
          <a:p>
            <a:r>
              <a:rPr lang="en-US" dirty="0"/>
              <a:t>Node* create_node(int value) {</a:t>
            </a:r>
          </a:p>
          <a:p>
            <a:r>
              <a:rPr lang="en-US" dirty="0"/>
              <a:t>    Node* new_node = malloc(sizeof(Node));</a:t>
            </a:r>
          </a:p>
          <a:p>
            <a:r>
              <a:rPr lang="en-US" dirty="0"/>
              <a:t>    if (new_node == NULL) {</a:t>
            </a:r>
          </a:p>
          <a:p>
            <a:r>
              <a:rPr lang="en-US" dirty="0"/>
              <a:t>        printf("Memory allocation failed.\n");</a:t>
            </a:r>
          </a:p>
          <a:p>
            <a:r>
              <a:rPr lang="en-US" dirty="0"/>
              <a:t>        exit(1);</a:t>
            </a:r>
          </a:p>
          <a:p>
            <a:r>
              <a:rPr lang="en-US" dirty="0"/>
              <a:t>    }</a:t>
            </a:r>
          </a:p>
          <a:p>
            <a:r>
              <a:rPr lang="en-US" dirty="0"/>
              <a:t>    new_node-&gt;data = value;</a:t>
            </a:r>
          </a:p>
          <a:p>
            <a:r>
              <a:rPr lang="en-US" dirty="0"/>
              <a:t>    new_node-&gt;next = NULL;</a:t>
            </a:r>
          </a:p>
          <a:p>
            <a:r>
              <a:rPr lang="en-US" dirty="0"/>
              <a:t>    new_node-&gt;prev = NULL;</a:t>
            </a:r>
          </a:p>
          <a:p>
            <a:r>
              <a:rPr lang="en-US" dirty="0"/>
              <a:t>    return new_node;</a:t>
            </a:r>
          </a:p>
          <a:p>
            <a:r>
              <a:rPr lang="en-US" dirty="0"/>
              <a:t>}</a:t>
            </a:r>
          </a:p>
          <a:p>
            <a:endParaRPr lang="en-US" dirty="0"/>
          </a:p>
          <a:p>
            <a:r>
              <a:rPr lang="en-US" dirty="0"/>
              <a:t>// Append to the end of the list</a:t>
            </a:r>
          </a:p>
          <a:p>
            <a:r>
              <a:rPr lang="en-US" dirty="0"/>
              <a:t>void append(Node** head, int value) {</a:t>
            </a:r>
          </a:p>
          <a:p>
            <a:r>
              <a:rPr lang="en-US" dirty="0"/>
              <a:t>    Node* new_node = create_node(value);</a:t>
            </a:r>
          </a:p>
          <a:p>
            <a:endParaRPr lang="en-US" dirty="0"/>
          </a:p>
          <a:p>
            <a:r>
              <a:rPr lang="en-US" dirty="0"/>
              <a:t>    if (*head == NULL) {</a:t>
            </a:r>
          </a:p>
          <a:p>
            <a:r>
              <a:rPr lang="en-US" dirty="0"/>
              <a:t>        *head = new_node;</a:t>
            </a:r>
          </a:p>
          <a:p>
            <a:r>
              <a:rPr lang="en-US" dirty="0"/>
              <a:t>        return;</a:t>
            </a:r>
          </a:p>
          <a:p>
            <a:r>
              <a:rPr lang="en-US" dirty="0"/>
              <a:t>    }</a:t>
            </a:r>
          </a:p>
          <a:p>
            <a:endParaRPr lang="en-US" dirty="0"/>
          </a:p>
          <a:p>
            <a:r>
              <a:rPr lang="en-US" dirty="0"/>
              <a:t>    Node* current = *head;</a:t>
            </a:r>
          </a:p>
          <a:p>
            <a:r>
              <a:rPr lang="en-US" dirty="0"/>
              <a:t>    while (current-&gt;next != NULL) {</a:t>
            </a:r>
          </a:p>
          <a:p>
            <a:r>
              <a:rPr lang="en-US" dirty="0"/>
              <a:t>        current = current-&gt;next;</a:t>
            </a:r>
          </a:p>
          <a:p>
            <a:r>
              <a:rPr lang="en-US" dirty="0"/>
              <a:t>    }</a:t>
            </a:r>
          </a:p>
          <a:p>
            <a:endParaRPr lang="en-US" dirty="0"/>
          </a:p>
          <a:p>
            <a:r>
              <a:rPr lang="en-US" dirty="0"/>
              <a:t>    current-&gt;next = new_node;</a:t>
            </a:r>
          </a:p>
          <a:p>
            <a:r>
              <a:rPr lang="en-US" dirty="0"/>
              <a:t>    new_node-&gt;prev = current;</a:t>
            </a:r>
          </a:p>
          <a:p>
            <a:r>
              <a:rPr lang="en-US" dirty="0"/>
              <a:t>}</a:t>
            </a:r>
          </a:p>
          <a:p>
            <a:endParaRPr lang="en-US" dirty="0"/>
          </a:p>
          <a:p>
            <a:r>
              <a:rPr lang="en-US" dirty="0"/>
              <a:t>// Print the list forward</a:t>
            </a:r>
          </a:p>
          <a:p>
            <a:r>
              <a:rPr lang="en-US" dirty="0"/>
              <a:t>void print_list_forward(Node* head) {</a:t>
            </a:r>
          </a:p>
          <a:p>
            <a:r>
              <a:rPr lang="en-US" dirty="0"/>
              <a:t>    Node* current = head;</a:t>
            </a:r>
          </a:p>
          <a:p>
            <a:r>
              <a:rPr lang="en-US" dirty="0"/>
              <a:t>    printf("Forward: ");</a:t>
            </a:r>
          </a:p>
          <a:p>
            <a:r>
              <a:rPr lang="en-US" dirty="0"/>
              <a:t>    while (current != NULL) {</a:t>
            </a:r>
          </a:p>
          <a:p>
            <a:r>
              <a:rPr lang="en-US" dirty="0"/>
              <a:t>        printf("%d ", current-&gt;data);</a:t>
            </a:r>
          </a:p>
          <a:p>
            <a:r>
              <a:rPr lang="en-US" dirty="0"/>
              <a:t>        if (current-&gt;next == NULL) break;  // save pointer to last node</a:t>
            </a:r>
          </a:p>
          <a:p>
            <a:r>
              <a:rPr lang="en-US" dirty="0"/>
              <a:t>        current = current-&gt;next;</a:t>
            </a:r>
          </a:p>
          <a:p>
            <a:r>
              <a:rPr lang="en-US" dirty="0"/>
              <a:t>    }</a:t>
            </a:r>
          </a:p>
          <a:p>
            <a:r>
              <a:rPr lang="en-US" dirty="0"/>
              <a:t>    printf("\n");</a:t>
            </a:r>
          </a:p>
          <a:p>
            <a:r>
              <a:rPr lang="en-US" dirty="0"/>
              <a:t>}</a:t>
            </a:r>
          </a:p>
          <a:p>
            <a:endParaRPr lang="en-US" dirty="0"/>
          </a:p>
          <a:p>
            <a:r>
              <a:rPr lang="en-US" dirty="0"/>
              <a:t>// Print the list in reverse</a:t>
            </a:r>
          </a:p>
          <a:p>
            <a:r>
              <a:rPr lang="en-US" dirty="0"/>
              <a:t>void print_list_backward(Node* tail) {</a:t>
            </a:r>
          </a:p>
          <a:p>
            <a:r>
              <a:rPr lang="en-US" dirty="0"/>
              <a:t>    Node* current = tail;</a:t>
            </a:r>
          </a:p>
          <a:p>
            <a:r>
              <a:rPr lang="en-US" dirty="0"/>
              <a:t>    printf("Backward: ");</a:t>
            </a:r>
          </a:p>
          <a:p>
            <a:r>
              <a:rPr lang="en-US" dirty="0"/>
              <a:t>    while (current != NULL) {</a:t>
            </a:r>
          </a:p>
          <a:p>
            <a:r>
              <a:rPr lang="en-US" dirty="0"/>
              <a:t>        printf("%d ", current-&gt;data);</a:t>
            </a:r>
          </a:p>
          <a:p>
            <a:r>
              <a:rPr lang="en-US" dirty="0"/>
              <a:t>        current = current-&gt;prev;</a:t>
            </a:r>
          </a:p>
          <a:p>
            <a:r>
              <a:rPr lang="en-US" dirty="0"/>
              <a:t>    }</a:t>
            </a:r>
          </a:p>
          <a:p>
            <a:r>
              <a:rPr lang="en-US" dirty="0"/>
              <a:t>    printf("\n");</a:t>
            </a:r>
          </a:p>
          <a:p>
            <a:r>
              <a:rPr lang="en-US" dirty="0"/>
              <a:t>}</a:t>
            </a:r>
          </a:p>
          <a:p>
            <a:endParaRPr lang="en-US" dirty="0"/>
          </a:p>
          <a:p>
            <a:r>
              <a:rPr lang="en-US" dirty="0"/>
              <a:t>// Free all nodes</a:t>
            </a:r>
          </a:p>
          <a:p>
            <a:r>
              <a:rPr lang="en-US" dirty="0"/>
              <a:t>void free_list(Node* head) {</a:t>
            </a:r>
          </a:p>
          <a:p>
            <a:r>
              <a:rPr lang="en-US" dirty="0"/>
              <a:t>    Node* current = head;</a:t>
            </a:r>
          </a:p>
          <a:p>
            <a:r>
              <a:rPr lang="en-US" dirty="0"/>
              <a:t>    while (current != NULL) {</a:t>
            </a:r>
          </a:p>
          <a:p>
            <a:r>
              <a:rPr lang="en-US" dirty="0"/>
              <a:t>        Node* next = current-&gt;next;</a:t>
            </a:r>
          </a:p>
          <a:p>
            <a:r>
              <a:rPr lang="en-US" dirty="0"/>
              <a:t>        free(current);</a:t>
            </a:r>
          </a:p>
          <a:p>
            <a:r>
              <a:rPr lang="en-US" dirty="0"/>
              <a:t>        current = next;</a:t>
            </a:r>
          </a:p>
          <a:p>
            <a:r>
              <a:rPr lang="en-US" dirty="0"/>
              <a:t>    }</a:t>
            </a:r>
          </a:p>
          <a:p>
            <a:r>
              <a:rPr lang="en-US" dirty="0"/>
              <a:t>}</a:t>
            </a:r>
          </a:p>
          <a:p>
            <a:endParaRPr lang="en-US" dirty="0"/>
          </a:p>
          <a:p>
            <a:r>
              <a:rPr lang="en-US" dirty="0"/>
              <a:t>// Main function for testing</a:t>
            </a:r>
          </a:p>
          <a:p>
            <a:r>
              <a:rPr lang="en-US" dirty="0"/>
              <a:t>int main() {</a:t>
            </a:r>
          </a:p>
          <a:p>
            <a:r>
              <a:rPr lang="en-US" dirty="0"/>
              <a:t>    Node* head = NULL;</a:t>
            </a:r>
          </a:p>
          <a:p>
            <a:endParaRPr lang="en-US" dirty="0"/>
          </a:p>
          <a:p>
            <a:r>
              <a:rPr lang="en-US" dirty="0"/>
              <a:t>    append(&amp;head, 10);</a:t>
            </a:r>
          </a:p>
          <a:p>
            <a:r>
              <a:rPr lang="en-US" dirty="0"/>
              <a:t>    append(&amp;head, 20);</a:t>
            </a:r>
          </a:p>
          <a:p>
            <a:r>
              <a:rPr lang="en-US" dirty="0"/>
              <a:t>    append(&amp;head, 30);</a:t>
            </a:r>
          </a:p>
          <a:p>
            <a:endParaRPr lang="en-US" dirty="0"/>
          </a:p>
          <a:p>
            <a:r>
              <a:rPr lang="en-US" dirty="0"/>
              <a:t>    //remove 20</a:t>
            </a:r>
          </a:p>
          <a:p>
            <a:r>
              <a:rPr lang="en-US" dirty="0"/>
              <a:t>    Node* itemPtr = head-&gt;next;</a:t>
            </a:r>
          </a:p>
          <a:p>
            <a:r>
              <a:rPr lang="en-US" dirty="0"/>
              <a:t>    itemPtr-&gt;prev-&gt;next = itemPtr-&gt;next;</a:t>
            </a:r>
          </a:p>
          <a:p>
            <a:r>
              <a:rPr lang="en-US" dirty="0"/>
              <a:t>    itemPtr-&gt;next-&gt;prev = itemPtr-&gt;prev;</a:t>
            </a:r>
          </a:p>
          <a:p>
            <a:r>
              <a:rPr lang="en-US" dirty="0"/>
              <a:t>    free(itemPtr);</a:t>
            </a:r>
          </a:p>
          <a:p>
            <a:endParaRPr lang="en-US" dirty="0"/>
          </a:p>
          <a:p>
            <a:endParaRPr lang="en-US" dirty="0"/>
          </a:p>
          <a:p>
            <a:r>
              <a:rPr lang="en-US" dirty="0"/>
              <a:t>    print_list_forward(head);</a:t>
            </a:r>
          </a:p>
          <a:p>
            <a:endParaRPr lang="en-US" dirty="0"/>
          </a:p>
          <a:p>
            <a:r>
              <a:rPr lang="en-US" dirty="0"/>
              <a:t>    // Find the last node to print backward</a:t>
            </a:r>
          </a:p>
          <a:p>
            <a:r>
              <a:rPr lang="en-US" dirty="0"/>
              <a:t>    Node* tail = head;</a:t>
            </a:r>
          </a:p>
          <a:p>
            <a:r>
              <a:rPr lang="en-US" dirty="0"/>
              <a:t>    while (tail &amp;&amp; tail-&gt;next != NULL) {</a:t>
            </a:r>
          </a:p>
          <a:p>
            <a:r>
              <a:rPr lang="en-US" dirty="0"/>
              <a:t>        tail = tail-&gt;next;</a:t>
            </a:r>
          </a:p>
          <a:p>
            <a:r>
              <a:rPr lang="en-US" dirty="0"/>
              <a:t>    }</a:t>
            </a:r>
          </a:p>
          <a:p>
            <a:endParaRPr lang="en-US" dirty="0"/>
          </a:p>
          <a:p>
            <a:r>
              <a:rPr lang="en-US" dirty="0"/>
              <a:t>    print_list_backward(tail);</a:t>
            </a:r>
          </a:p>
          <a:p>
            <a:endParaRPr lang="en-US" dirty="0"/>
          </a:p>
          <a:p>
            <a:r>
              <a:rPr lang="en-US" dirty="0"/>
              <a:t>    free_list(head);</a:t>
            </a:r>
          </a:p>
          <a:p>
            <a:r>
              <a:rPr lang="en-US" dirty="0"/>
              <a:t>    return 0;</a:t>
            </a:r>
          </a:p>
          <a:p>
            <a:r>
              <a:rPr lang="en-US" dirty="0"/>
              <a:t>}</a:t>
            </a:r>
          </a:p>
          <a:p>
            <a:endParaRPr lang="en-US" dirty="0"/>
          </a:p>
        </p:txBody>
      </p:sp>
    </p:spTree>
    <p:extLst>
      <p:ext uri="{BB962C8B-B14F-4D97-AF65-F5344CB8AC3E}">
        <p14:creationId xmlns:p14="http://schemas.microsoft.com/office/powerpoint/2010/main" val="2121834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6C090-57B8-5371-A0E9-F67FE719D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8B4BD8-4F5C-DB07-D1A2-945DD0556CD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189877C9-0F03-0F97-5EEF-B78223D9BC49}"/>
              </a:ext>
            </a:extLst>
          </p:cNvPr>
          <p:cNvSpPr>
            <a:spLocks noGrp="1"/>
          </p:cNvSpPr>
          <p:nvPr>
            <p:ph type="body" idx="1"/>
          </p:nvPr>
        </p:nvSpPr>
        <p:spPr/>
        <p:txBody>
          <a:bodyPr/>
          <a:lstStyle/>
          <a:p>
            <a:r>
              <a:rPr lang="en-US" dirty="0"/>
              <a:t>itemPtr-&gt;prev-&gt;next = itemPtr-&gt;next;</a:t>
            </a:r>
          </a:p>
          <a:p>
            <a:r>
              <a:rPr lang="en-US" dirty="0"/>
              <a:t>itemPtr-&gt;next-&gt;prev = itemPtr-&gt;prev;</a:t>
            </a:r>
          </a:p>
          <a:p>
            <a:r>
              <a:rPr lang="en-US" dirty="0"/>
              <a:t>free(itemPtr);</a:t>
            </a:r>
          </a:p>
          <a:p>
            <a:endParaRPr lang="en-US" dirty="0"/>
          </a:p>
          <a:p>
            <a:r>
              <a:rPr lang="en-US" dirty="0"/>
              <a:t>//wshow deleting 2</a:t>
            </a:r>
            <a:r>
              <a:rPr lang="en-US" baseline="30000" dirty="0"/>
              <a:t>nd</a:t>
            </a:r>
            <a:r>
              <a:rPr lang="en-US" dirty="0"/>
              <a:t> item in linked list</a:t>
            </a:r>
          </a:p>
          <a:p>
            <a:r>
              <a:rPr lang="en-US" dirty="0"/>
              <a:t>#include &lt;stdio.h&gt;</a:t>
            </a:r>
          </a:p>
          <a:p>
            <a:r>
              <a:rPr lang="en-US" dirty="0"/>
              <a:t>#include &lt;stdlib.h&gt;</a:t>
            </a:r>
          </a:p>
          <a:p>
            <a:endParaRPr lang="en-US" dirty="0"/>
          </a:p>
          <a:p>
            <a:r>
              <a:rPr lang="en-US" dirty="0"/>
              <a:t>// Define the node structure for a doubly linked list</a:t>
            </a:r>
          </a:p>
          <a:p>
            <a:r>
              <a:rPr lang="en-US" dirty="0"/>
              <a:t>typedef struct Node {</a:t>
            </a:r>
          </a:p>
          <a:p>
            <a:r>
              <a:rPr lang="en-US" dirty="0"/>
              <a:t>    int data;</a:t>
            </a:r>
          </a:p>
          <a:p>
            <a:r>
              <a:rPr lang="en-US" dirty="0"/>
              <a:t>    struct Node* next;</a:t>
            </a:r>
          </a:p>
          <a:p>
            <a:r>
              <a:rPr lang="en-US" dirty="0"/>
              <a:t>    struct Node* prev;</a:t>
            </a:r>
          </a:p>
          <a:p>
            <a:r>
              <a:rPr lang="en-US" dirty="0"/>
              <a:t>} Node;</a:t>
            </a:r>
          </a:p>
          <a:p>
            <a:endParaRPr lang="en-US" dirty="0"/>
          </a:p>
          <a:p>
            <a:r>
              <a:rPr lang="en-US" dirty="0"/>
              <a:t>// Create a new node</a:t>
            </a:r>
          </a:p>
          <a:p>
            <a:r>
              <a:rPr lang="en-US" dirty="0"/>
              <a:t>Node* create_node(int value) {</a:t>
            </a:r>
          </a:p>
          <a:p>
            <a:r>
              <a:rPr lang="en-US" dirty="0"/>
              <a:t>    Node* new_node = malloc(sizeof(Node));</a:t>
            </a:r>
          </a:p>
          <a:p>
            <a:r>
              <a:rPr lang="en-US" dirty="0"/>
              <a:t>    if (new_node == NULL) {</a:t>
            </a:r>
          </a:p>
          <a:p>
            <a:r>
              <a:rPr lang="en-US" dirty="0"/>
              <a:t>        printf("Memory allocation failed.\n");</a:t>
            </a:r>
          </a:p>
          <a:p>
            <a:r>
              <a:rPr lang="en-US" dirty="0"/>
              <a:t>        exit(1);</a:t>
            </a:r>
          </a:p>
          <a:p>
            <a:r>
              <a:rPr lang="en-US" dirty="0"/>
              <a:t>    }</a:t>
            </a:r>
          </a:p>
          <a:p>
            <a:r>
              <a:rPr lang="en-US" dirty="0"/>
              <a:t>    new_node-&gt;data = value;</a:t>
            </a:r>
          </a:p>
          <a:p>
            <a:r>
              <a:rPr lang="en-US" dirty="0"/>
              <a:t>    new_node-&gt;next = NULL;</a:t>
            </a:r>
          </a:p>
          <a:p>
            <a:r>
              <a:rPr lang="en-US" dirty="0"/>
              <a:t>    new_node-&gt;prev = NULL;</a:t>
            </a:r>
          </a:p>
          <a:p>
            <a:r>
              <a:rPr lang="en-US" dirty="0"/>
              <a:t>    return new_node;</a:t>
            </a:r>
          </a:p>
          <a:p>
            <a:r>
              <a:rPr lang="en-US" dirty="0"/>
              <a:t>}</a:t>
            </a:r>
          </a:p>
          <a:p>
            <a:endParaRPr lang="en-US" dirty="0"/>
          </a:p>
          <a:p>
            <a:r>
              <a:rPr lang="en-US" dirty="0"/>
              <a:t>// Append to the end of the list</a:t>
            </a:r>
          </a:p>
          <a:p>
            <a:r>
              <a:rPr lang="en-US" dirty="0"/>
              <a:t>void append(Node** head, int value) {</a:t>
            </a:r>
          </a:p>
          <a:p>
            <a:r>
              <a:rPr lang="en-US" dirty="0"/>
              <a:t>    Node* new_node = create_node(value);</a:t>
            </a:r>
          </a:p>
          <a:p>
            <a:endParaRPr lang="en-US" dirty="0"/>
          </a:p>
          <a:p>
            <a:r>
              <a:rPr lang="en-US" dirty="0"/>
              <a:t>    if (*head == NULL) {</a:t>
            </a:r>
          </a:p>
          <a:p>
            <a:r>
              <a:rPr lang="en-US" dirty="0"/>
              <a:t>        *head = new_node;</a:t>
            </a:r>
          </a:p>
          <a:p>
            <a:r>
              <a:rPr lang="en-US" dirty="0"/>
              <a:t>        return;</a:t>
            </a:r>
          </a:p>
          <a:p>
            <a:r>
              <a:rPr lang="en-US" dirty="0"/>
              <a:t>    }</a:t>
            </a:r>
          </a:p>
          <a:p>
            <a:endParaRPr lang="en-US" dirty="0"/>
          </a:p>
          <a:p>
            <a:r>
              <a:rPr lang="en-US" dirty="0"/>
              <a:t>    Node* current = *head;</a:t>
            </a:r>
          </a:p>
          <a:p>
            <a:r>
              <a:rPr lang="en-US" dirty="0"/>
              <a:t>    while (current-&gt;next != NULL) {</a:t>
            </a:r>
          </a:p>
          <a:p>
            <a:r>
              <a:rPr lang="en-US" dirty="0"/>
              <a:t>        current = current-&gt;next;</a:t>
            </a:r>
          </a:p>
          <a:p>
            <a:r>
              <a:rPr lang="en-US" dirty="0"/>
              <a:t>    }</a:t>
            </a:r>
          </a:p>
          <a:p>
            <a:endParaRPr lang="en-US" dirty="0"/>
          </a:p>
          <a:p>
            <a:r>
              <a:rPr lang="en-US" dirty="0"/>
              <a:t>    current-&gt;next = new_node;</a:t>
            </a:r>
          </a:p>
          <a:p>
            <a:r>
              <a:rPr lang="en-US" dirty="0"/>
              <a:t>    new_node-&gt;prev = current;</a:t>
            </a:r>
          </a:p>
          <a:p>
            <a:r>
              <a:rPr lang="en-US" dirty="0"/>
              <a:t>}</a:t>
            </a:r>
          </a:p>
          <a:p>
            <a:endParaRPr lang="en-US" dirty="0"/>
          </a:p>
          <a:p>
            <a:r>
              <a:rPr lang="en-US" dirty="0"/>
              <a:t>// Print the list forward</a:t>
            </a:r>
          </a:p>
          <a:p>
            <a:r>
              <a:rPr lang="en-US" dirty="0"/>
              <a:t>void print_list_forward(Node* head) {</a:t>
            </a:r>
          </a:p>
          <a:p>
            <a:r>
              <a:rPr lang="en-US" dirty="0"/>
              <a:t>    Node* current = head;</a:t>
            </a:r>
          </a:p>
          <a:p>
            <a:r>
              <a:rPr lang="en-US" dirty="0"/>
              <a:t>    printf("Forward: ");</a:t>
            </a:r>
          </a:p>
          <a:p>
            <a:r>
              <a:rPr lang="en-US" dirty="0"/>
              <a:t>    while (current != NULL) {</a:t>
            </a:r>
          </a:p>
          <a:p>
            <a:r>
              <a:rPr lang="en-US" dirty="0"/>
              <a:t>        printf("%d ", current-&gt;data);</a:t>
            </a:r>
          </a:p>
          <a:p>
            <a:r>
              <a:rPr lang="en-US" dirty="0"/>
              <a:t>        if (current-&gt;next == NULL) break;  // save pointer to last node</a:t>
            </a:r>
          </a:p>
          <a:p>
            <a:r>
              <a:rPr lang="en-US" dirty="0"/>
              <a:t>        current = current-&gt;next;</a:t>
            </a:r>
          </a:p>
          <a:p>
            <a:r>
              <a:rPr lang="en-US" dirty="0"/>
              <a:t>    }</a:t>
            </a:r>
          </a:p>
          <a:p>
            <a:r>
              <a:rPr lang="en-US" dirty="0"/>
              <a:t>    printf("\n");</a:t>
            </a:r>
          </a:p>
          <a:p>
            <a:r>
              <a:rPr lang="en-US" dirty="0"/>
              <a:t>}</a:t>
            </a:r>
          </a:p>
          <a:p>
            <a:endParaRPr lang="en-US" dirty="0"/>
          </a:p>
          <a:p>
            <a:r>
              <a:rPr lang="en-US" dirty="0"/>
              <a:t>// Print the list in reverse</a:t>
            </a:r>
          </a:p>
          <a:p>
            <a:r>
              <a:rPr lang="en-US" dirty="0"/>
              <a:t>void print_list_backward(Node* tail) {</a:t>
            </a:r>
          </a:p>
          <a:p>
            <a:r>
              <a:rPr lang="en-US" dirty="0"/>
              <a:t>    Node* current = tail;</a:t>
            </a:r>
          </a:p>
          <a:p>
            <a:r>
              <a:rPr lang="en-US" dirty="0"/>
              <a:t>    printf("Backward: ");</a:t>
            </a:r>
          </a:p>
          <a:p>
            <a:r>
              <a:rPr lang="en-US" dirty="0"/>
              <a:t>    while (current != NULL) {</a:t>
            </a:r>
          </a:p>
          <a:p>
            <a:r>
              <a:rPr lang="en-US" dirty="0"/>
              <a:t>        printf("%d ", current-&gt;data);</a:t>
            </a:r>
          </a:p>
          <a:p>
            <a:r>
              <a:rPr lang="en-US" dirty="0"/>
              <a:t>        current = current-&gt;prev;</a:t>
            </a:r>
          </a:p>
          <a:p>
            <a:r>
              <a:rPr lang="en-US" dirty="0"/>
              <a:t>    }</a:t>
            </a:r>
          </a:p>
          <a:p>
            <a:r>
              <a:rPr lang="en-US" dirty="0"/>
              <a:t>    printf("\n");</a:t>
            </a:r>
          </a:p>
          <a:p>
            <a:r>
              <a:rPr lang="en-US" dirty="0"/>
              <a:t>}</a:t>
            </a:r>
          </a:p>
          <a:p>
            <a:endParaRPr lang="en-US" dirty="0"/>
          </a:p>
          <a:p>
            <a:r>
              <a:rPr lang="en-US" dirty="0"/>
              <a:t>// Free all nodes</a:t>
            </a:r>
          </a:p>
          <a:p>
            <a:r>
              <a:rPr lang="en-US" dirty="0"/>
              <a:t>void free_list(Node* head) {</a:t>
            </a:r>
          </a:p>
          <a:p>
            <a:r>
              <a:rPr lang="en-US" dirty="0"/>
              <a:t>    Node* current = head;</a:t>
            </a:r>
          </a:p>
          <a:p>
            <a:r>
              <a:rPr lang="en-US" dirty="0"/>
              <a:t>    while (current != NULL) {</a:t>
            </a:r>
          </a:p>
          <a:p>
            <a:r>
              <a:rPr lang="en-US" dirty="0"/>
              <a:t>        Node* next = current-&gt;next;</a:t>
            </a:r>
          </a:p>
          <a:p>
            <a:r>
              <a:rPr lang="en-US" dirty="0"/>
              <a:t>        free(current);</a:t>
            </a:r>
          </a:p>
          <a:p>
            <a:r>
              <a:rPr lang="en-US" dirty="0"/>
              <a:t>        current = next;</a:t>
            </a:r>
          </a:p>
          <a:p>
            <a:r>
              <a:rPr lang="en-US" dirty="0"/>
              <a:t>    }</a:t>
            </a:r>
          </a:p>
          <a:p>
            <a:r>
              <a:rPr lang="en-US" dirty="0"/>
              <a:t>}</a:t>
            </a:r>
          </a:p>
          <a:p>
            <a:endParaRPr lang="en-US" dirty="0"/>
          </a:p>
          <a:p>
            <a:r>
              <a:rPr lang="en-US" dirty="0"/>
              <a:t>// Main function for testing</a:t>
            </a:r>
          </a:p>
          <a:p>
            <a:r>
              <a:rPr lang="en-US" dirty="0"/>
              <a:t>int main() {</a:t>
            </a:r>
          </a:p>
          <a:p>
            <a:r>
              <a:rPr lang="en-US" dirty="0"/>
              <a:t>    Node* head = NULL;</a:t>
            </a:r>
          </a:p>
          <a:p>
            <a:endParaRPr lang="en-US" dirty="0"/>
          </a:p>
          <a:p>
            <a:r>
              <a:rPr lang="en-US" dirty="0"/>
              <a:t>    append(&amp;head, 10);</a:t>
            </a:r>
          </a:p>
          <a:p>
            <a:r>
              <a:rPr lang="en-US" dirty="0"/>
              <a:t>    append(&amp;head, 20);</a:t>
            </a:r>
          </a:p>
          <a:p>
            <a:r>
              <a:rPr lang="en-US" dirty="0"/>
              <a:t>    append(&amp;head, 30);</a:t>
            </a:r>
          </a:p>
          <a:p>
            <a:endParaRPr lang="en-US" dirty="0"/>
          </a:p>
          <a:p>
            <a:r>
              <a:rPr lang="en-US" dirty="0"/>
              <a:t>    //remove 20</a:t>
            </a:r>
          </a:p>
          <a:p>
            <a:r>
              <a:rPr lang="en-US" dirty="0"/>
              <a:t>    Node* itemPtr = head-&gt;next;</a:t>
            </a:r>
          </a:p>
          <a:p>
            <a:r>
              <a:rPr lang="en-US" dirty="0"/>
              <a:t>    itemPtr-&gt;prev-&gt;next = itemPtr-&gt;next;</a:t>
            </a:r>
          </a:p>
          <a:p>
            <a:r>
              <a:rPr lang="en-US" dirty="0"/>
              <a:t>    itemPtr-&gt;next-&gt;prev = itemPtr-&gt;prev;</a:t>
            </a:r>
          </a:p>
          <a:p>
            <a:r>
              <a:rPr lang="en-US" dirty="0"/>
              <a:t>    free(itemPtr);</a:t>
            </a:r>
          </a:p>
          <a:p>
            <a:endParaRPr lang="en-US" dirty="0"/>
          </a:p>
          <a:p>
            <a:endParaRPr lang="en-US" dirty="0"/>
          </a:p>
          <a:p>
            <a:r>
              <a:rPr lang="en-US" dirty="0"/>
              <a:t>    print_list_forward(head);</a:t>
            </a:r>
          </a:p>
          <a:p>
            <a:endParaRPr lang="en-US" dirty="0"/>
          </a:p>
          <a:p>
            <a:r>
              <a:rPr lang="en-US" dirty="0"/>
              <a:t>    // Find the last node to print backward</a:t>
            </a:r>
          </a:p>
          <a:p>
            <a:r>
              <a:rPr lang="en-US" dirty="0"/>
              <a:t>    Node* tail = head;</a:t>
            </a:r>
          </a:p>
          <a:p>
            <a:r>
              <a:rPr lang="en-US" dirty="0"/>
              <a:t>    while (tail &amp;&amp; tail-&gt;next != NULL) {</a:t>
            </a:r>
          </a:p>
          <a:p>
            <a:r>
              <a:rPr lang="en-US" dirty="0"/>
              <a:t>        tail = tail-&gt;next;</a:t>
            </a:r>
          </a:p>
          <a:p>
            <a:r>
              <a:rPr lang="en-US" dirty="0"/>
              <a:t>    }</a:t>
            </a:r>
          </a:p>
          <a:p>
            <a:endParaRPr lang="en-US" dirty="0"/>
          </a:p>
          <a:p>
            <a:r>
              <a:rPr lang="en-US" dirty="0"/>
              <a:t>    print_list_backward(tail);</a:t>
            </a:r>
          </a:p>
          <a:p>
            <a:endParaRPr lang="en-US" dirty="0"/>
          </a:p>
          <a:p>
            <a:r>
              <a:rPr lang="en-US" dirty="0"/>
              <a:t>    free_list(head);</a:t>
            </a:r>
          </a:p>
          <a:p>
            <a:r>
              <a:rPr lang="en-US" dirty="0"/>
              <a:t>    return 0;</a:t>
            </a:r>
          </a:p>
          <a:p>
            <a:r>
              <a:rPr lang="en-US" dirty="0"/>
              <a:t>}</a:t>
            </a:r>
          </a:p>
          <a:p>
            <a:endParaRPr lang="en-US" dirty="0"/>
          </a:p>
        </p:txBody>
      </p:sp>
    </p:spTree>
    <p:extLst>
      <p:ext uri="{BB962C8B-B14F-4D97-AF65-F5344CB8AC3E}">
        <p14:creationId xmlns:p14="http://schemas.microsoft.com/office/powerpoint/2010/main" val="8430579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FD41B-95CE-BB24-09F8-4C099163B9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C3918B-5D9B-01FB-A304-8DB06CB8D80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C8819FA-FA41-AA9C-109F-869F00270BC1}"/>
              </a:ext>
            </a:extLst>
          </p:cNvPr>
          <p:cNvSpPr>
            <a:spLocks noGrp="1"/>
          </p:cNvSpPr>
          <p:nvPr>
            <p:ph type="body" idx="1"/>
          </p:nvPr>
        </p:nvSpPr>
        <p:spPr/>
        <p:txBody>
          <a:bodyPr/>
          <a:lstStyle/>
          <a:p>
            <a:endParaRPr lang="en-US" dirty="0"/>
          </a:p>
          <a:p>
            <a:r>
              <a:rPr lang="en-US" dirty="0"/>
              <a:t>newPtr-&gt;prev = itemPtr;</a:t>
            </a:r>
          </a:p>
          <a:p>
            <a:r>
              <a:rPr lang="en-US" dirty="0"/>
              <a:t>newPtr-&gt;next = itemPtr-&gt;next;</a:t>
            </a:r>
          </a:p>
          <a:p>
            <a:endParaRPr lang="en-US" dirty="0"/>
          </a:p>
          <a:p>
            <a:endParaRPr lang="en-US" dirty="0"/>
          </a:p>
          <a:p>
            <a:r>
              <a:rPr lang="en-US" dirty="0"/>
              <a:t>itemPtr-&gt;next-&gt;prev = newPtr;</a:t>
            </a:r>
          </a:p>
          <a:p>
            <a:r>
              <a:rPr lang="en-US" dirty="0"/>
              <a:t>itemPtr-&gt;next = newPtr;</a:t>
            </a:r>
          </a:p>
        </p:txBody>
      </p:sp>
    </p:spTree>
    <p:extLst>
      <p:ext uri="{BB962C8B-B14F-4D97-AF65-F5344CB8AC3E}">
        <p14:creationId xmlns:p14="http://schemas.microsoft.com/office/powerpoint/2010/main" val="1112164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EE38D-A505-A490-2877-614D877A9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715CDA-667A-AFC4-8529-721EDFFDC90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A9479B3-858C-1817-3CF5-D0FB9CC2767A}"/>
              </a:ext>
            </a:extLst>
          </p:cNvPr>
          <p:cNvSpPr>
            <a:spLocks noGrp="1"/>
          </p:cNvSpPr>
          <p:nvPr>
            <p:ph type="body" idx="1"/>
          </p:nvPr>
        </p:nvSpPr>
        <p:spPr/>
        <p:txBody>
          <a:bodyPr/>
          <a:lstStyle/>
          <a:p>
            <a:endParaRPr lang="en-US" dirty="0"/>
          </a:p>
          <a:p>
            <a:r>
              <a:rPr lang="en-US" dirty="0"/>
              <a:t>newPtr-&gt;prev = itemPtr;</a:t>
            </a:r>
          </a:p>
          <a:p>
            <a:r>
              <a:rPr lang="en-US" dirty="0"/>
              <a:t>newPtr-&gt;next = itemPtr-&gt;next;</a:t>
            </a:r>
          </a:p>
          <a:p>
            <a:endParaRPr lang="en-US" dirty="0"/>
          </a:p>
          <a:p>
            <a:endParaRPr lang="en-US" dirty="0"/>
          </a:p>
          <a:p>
            <a:r>
              <a:rPr lang="en-US" dirty="0"/>
              <a:t>itemPtr-&gt;next-&gt;prev = newPtr;</a:t>
            </a:r>
          </a:p>
          <a:p>
            <a:r>
              <a:rPr lang="en-US" dirty="0"/>
              <a:t>itemPtr-&gt;next = newPtr;</a:t>
            </a:r>
          </a:p>
        </p:txBody>
      </p:sp>
    </p:spTree>
    <p:extLst>
      <p:ext uri="{BB962C8B-B14F-4D97-AF65-F5344CB8AC3E}">
        <p14:creationId xmlns:p14="http://schemas.microsoft.com/office/powerpoint/2010/main" val="4896025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49C66-43D5-D47B-FB36-511BD33B4778}"/>
            </a:ext>
          </a:extLst>
        </p:cNvPr>
        <p:cNvGrpSpPr/>
        <p:nvPr/>
      </p:nvGrpSpPr>
      <p:grpSpPr>
        <a:xfrm>
          <a:off x="0" y="0"/>
          <a:ext cx="0" cy="0"/>
          <a:chOff x="0" y="0"/>
          <a:chExt cx="0" cy="0"/>
        </a:xfrm>
      </p:grpSpPr>
      <p:sp>
        <p:nvSpPr>
          <p:cNvPr id="25602" name="Rectangle 7">
            <a:extLst>
              <a:ext uri="{FF2B5EF4-FFF2-40B4-BE49-F238E27FC236}">
                <a16:creationId xmlns:a16="http://schemas.microsoft.com/office/drawing/2014/main" id="{93998376-A2AD-5F55-144A-54DFBB77FC83}"/>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A7DD7BD1-6825-4DC0-9099-B9E78B685343}" type="slidenum">
              <a:rPr lang="en-US" altLang="en-US" sz="1200">
                <a:solidFill>
                  <a:schemeClr val="tx1"/>
                </a:solidFill>
              </a:rPr>
              <a:pPr eaLnBrk="1" hangingPunct="1"/>
              <a:t>13</a:t>
            </a:fld>
            <a:endParaRPr lang="en-US" altLang="en-US" sz="1200" dirty="0">
              <a:solidFill>
                <a:schemeClr val="tx1"/>
              </a:solidFill>
            </a:endParaRPr>
          </a:p>
        </p:txBody>
      </p:sp>
      <p:sp>
        <p:nvSpPr>
          <p:cNvPr id="25603" name="Rectangle 2">
            <a:extLst>
              <a:ext uri="{FF2B5EF4-FFF2-40B4-BE49-F238E27FC236}">
                <a16:creationId xmlns:a16="http://schemas.microsoft.com/office/drawing/2014/main" id="{2CFFC037-D3F0-3852-A19B-1266B49E5A33}"/>
              </a:ext>
            </a:extLst>
          </p:cNvPr>
          <p:cNvSpPr>
            <a:spLocks noGrp="1" noRot="1" noChangeAspect="1" noChangeArrowheads="1" noTextEdit="1"/>
          </p:cNvSpPr>
          <p:nvPr>
            <p:ph type="sldImg"/>
          </p:nvPr>
        </p:nvSpPr>
        <p:spPr>
          <a:ln/>
        </p:spPr>
        <p:txBody>
          <a:bodyPr/>
          <a:lstStyle/>
          <a:p>
            <a:endParaRPr lang="en-US" dirty="0"/>
          </a:p>
        </p:txBody>
      </p:sp>
      <p:sp>
        <p:nvSpPr>
          <p:cNvPr id="25604" name="Rectangle 3">
            <a:extLst>
              <a:ext uri="{FF2B5EF4-FFF2-40B4-BE49-F238E27FC236}">
                <a16:creationId xmlns:a16="http://schemas.microsoft.com/office/drawing/2014/main" id="{F81A6865-D513-DB67-19E1-5F3E82A726F2}"/>
              </a:ext>
            </a:extLst>
          </p:cNvPr>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dirty="0"/>
              <a:t>pronounced Deck</a:t>
            </a:r>
          </a:p>
        </p:txBody>
      </p:sp>
    </p:spTree>
    <p:extLst>
      <p:ext uri="{BB962C8B-B14F-4D97-AF65-F5344CB8AC3E}">
        <p14:creationId xmlns:p14="http://schemas.microsoft.com/office/powerpoint/2010/main" val="14122808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normAutofit/>
          </a:bodyPr>
          <a:lstStyle/>
          <a:p>
            <a:r>
              <a:rPr lang="en-US" b="0" i="0" u="none" strike="noStrike" dirty="0">
                <a:solidFill>
                  <a:srgbClr val="000000"/>
                </a:solidFill>
                <a:effectLst/>
                <a:latin typeface="-webkit-standard"/>
              </a:rPr>
              <a:t>A circular linked list is a variation of a linked list in which the last node points back to the first node instead of pointing to </a:t>
            </a:r>
            <a:r>
              <a:rPr lang="en-US" dirty="0"/>
              <a:t>NULL</a:t>
            </a:r>
            <a:r>
              <a:rPr lang="en-US" b="0" i="0" u="none" strike="noStrike" dirty="0">
                <a:solidFill>
                  <a:srgbClr val="000000"/>
                </a:solidFill>
                <a:effectLst/>
                <a:latin typeface="-webkit-standard"/>
              </a:rPr>
              <a:t>. This forms a circular structure, allowing traversal of the list from any node and returning to the starting node. Circular linked lists can be either singly or doubly linked.</a:t>
            </a:r>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14</a:t>
            </a:fld>
            <a:endParaRPr lang="en-US" dirty="0"/>
          </a:p>
        </p:txBody>
      </p:sp>
    </p:spTree>
    <p:extLst>
      <p:ext uri="{BB962C8B-B14F-4D97-AF65-F5344CB8AC3E}">
        <p14:creationId xmlns:p14="http://schemas.microsoft.com/office/powerpoint/2010/main" val="30043050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normAutofit fontScale="32500" lnSpcReduction="20000"/>
          </a:bodyPr>
          <a:lstStyle/>
          <a:p>
            <a:r>
              <a:rPr lang="en-US" dirty="0"/>
              <a:t>#include &lt;stdio.h&gt;</a:t>
            </a:r>
          </a:p>
          <a:p>
            <a:r>
              <a:rPr lang="en-US" dirty="0"/>
              <a:t>#include &lt;stdlib.h&gt;</a:t>
            </a:r>
          </a:p>
          <a:p>
            <a:endParaRPr lang="en-US" dirty="0"/>
          </a:p>
          <a:p>
            <a:r>
              <a:rPr lang="en-US" dirty="0"/>
              <a:t>// Definition of the node structure</a:t>
            </a:r>
          </a:p>
          <a:p>
            <a:r>
              <a:rPr lang="en-US" dirty="0"/>
              <a:t>struct Node {</a:t>
            </a:r>
          </a:p>
          <a:p>
            <a:r>
              <a:rPr lang="en-US" dirty="0"/>
              <a:t>    int data;</a:t>
            </a:r>
          </a:p>
          <a:p>
            <a:r>
              <a:rPr lang="en-US" dirty="0"/>
              <a:t>    struct Node* next;</a:t>
            </a:r>
          </a:p>
          <a:p>
            <a:r>
              <a:rPr lang="en-US" dirty="0"/>
              <a:t>};</a:t>
            </a:r>
          </a:p>
          <a:p>
            <a:endParaRPr lang="en-US" dirty="0"/>
          </a:p>
          <a:p>
            <a:r>
              <a:rPr lang="en-US" dirty="0"/>
              <a:t>// Function to create a new node</a:t>
            </a:r>
          </a:p>
          <a:p>
            <a:r>
              <a:rPr lang="en-US" dirty="0"/>
              <a:t>struct Node* createNode(int data) {</a:t>
            </a:r>
          </a:p>
          <a:p>
            <a:r>
              <a:rPr lang="en-US" dirty="0"/>
              <a:t>    struct Node* newNode = (struct Node*)malloc(sizeof(struct Node));</a:t>
            </a:r>
          </a:p>
          <a:p>
            <a:r>
              <a:rPr lang="en-US" dirty="0"/>
              <a:t>    newNode-&gt;data = data;</a:t>
            </a:r>
          </a:p>
          <a:p>
            <a:r>
              <a:rPr lang="en-US" dirty="0"/>
              <a:t>    newNode-&gt;next = NULL;</a:t>
            </a:r>
          </a:p>
          <a:p>
            <a:r>
              <a:rPr lang="en-US" dirty="0"/>
              <a:t>    return newNode;</a:t>
            </a:r>
          </a:p>
          <a:p>
            <a:r>
              <a:rPr lang="en-US" dirty="0"/>
              <a:t>}</a:t>
            </a:r>
          </a:p>
          <a:p>
            <a:endParaRPr lang="en-US" dirty="0"/>
          </a:p>
          <a:p>
            <a:r>
              <a:rPr lang="en-US" dirty="0"/>
              <a:t>// Function to insert a node at the end of the circular linked list</a:t>
            </a:r>
          </a:p>
          <a:p>
            <a:r>
              <a:rPr lang="en-US" dirty="0"/>
              <a:t>void insertEnd(struct Node** head, int data) {</a:t>
            </a:r>
          </a:p>
          <a:p>
            <a:r>
              <a:rPr lang="en-US" dirty="0"/>
              <a:t>    struct Node* newNode = createNode(data);</a:t>
            </a:r>
          </a:p>
          <a:p>
            <a:r>
              <a:rPr lang="en-US" dirty="0"/>
              <a:t>    struct Node* temp;</a:t>
            </a:r>
          </a:p>
          <a:p>
            <a:r>
              <a:rPr lang="en-US" dirty="0"/>
              <a:t>    if (*head == NULL) {</a:t>
            </a:r>
          </a:p>
          <a:p>
            <a:r>
              <a:rPr lang="en-US" dirty="0"/>
              <a:t>        *head = newNode;</a:t>
            </a:r>
          </a:p>
          <a:p>
            <a:r>
              <a:rPr lang="en-US" dirty="0"/>
              <a:t>        newNode-&gt;next = *head;</a:t>
            </a:r>
          </a:p>
          <a:p>
            <a:r>
              <a:rPr lang="en-US" dirty="0"/>
              <a:t>    } else {</a:t>
            </a:r>
          </a:p>
          <a:p>
            <a:r>
              <a:rPr lang="en-US" dirty="0"/>
              <a:t>        temp = *head;</a:t>
            </a:r>
          </a:p>
          <a:p>
            <a:r>
              <a:rPr lang="en-US" dirty="0"/>
              <a:t>        while (temp-&gt;next != *head) {</a:t>
            </a:r>
          </a:p>
          <a:p>
            <a:r>
              <a:rPr lang="en-US" dirty="0"/>
              <a:t>            temp = temp-&gt;next;</a:t>
            </a:r>
          </a:p>
          <a:p>
            <a:r>
              <a:rPr lang="en-US" dirty="0"/>
              <a:t>        }</a:t>
            </a:r>
          </a:p>
          <a:p>
            <a:r>
              <a:rPr lang="en-US" dirty="0"/>
              <a:t>        temp-&gt;next = newNode;</a:t>
            </a:r>
          </a:p>
          <a:p>
            <a:r>
              <a:rPr lang="en-US" dirty="0"/>
              <a:t>        newNode-&gt;next = *head;</a:t>
            </a:r>
          </a:p>
          <a:p>
            <a:r>
              <a:rPr lang="en-US" dirty="0"/>
              <a:t>    }</a:t>
            </a:r>
          </a:p>
          <a:p>
            <a:r>
              <a:rPr lang="en-US" dirty="0"/>
              <a:t>}</a:t>
            </a:r>
          </a:p>
          <a:p>
            <a:endParaRPr lang="en-US" dirty="0"/>
          </a:p>
          <a:p>
            <a:r>
              <a:rPr lang="en-US" dirty="0"/>
              <a:t>// Function to display the circular linked list</a:t>
            </a:r>
          </a:p>
          <a:p>
            <a:r>
              <a:rPr lang="en-US" dirty="0"/>
              <a:t>void display(struct Node* head) {</a:t>
            </a:r>
          </a:p>
          <a:p>
            <a:r>
              <a:rPr lang="en-US" dirty="0"/>
              <a:t>    struct Node* temp;</a:t>
            </a:r>
          </a:p>
          <a:p>
            <a:r>
              <a:rPr lang="en-US" dirty="0"/>
              <a:t>    if (head == NULL) {</a:t>
            </a:r>
          </a:p>
          <a:p>
            <a:r>
              <a:rPr lang="en-US" dirty="0"/>
              <a:t>        printf("List is empty.\n");</a:t>
            </a:r>
          </a:p>
          <a:p>
            <a:r>
              <a:rPr lang="en-US" dirty="0"/>
              <a:t>        return;</a:t>
            </a:r>
          </a:p>
          <a:p>
            <a:r>
              <a:rPr lang="en-US" dirty="0"/>
              <a:t>    }</a:t>
            </a:r>
          </a:p>
          <a:p>
            <a:r>
              <a:rPr lang="en-US" dirty="0"/>
              <a:t>    temp = head;</a:t>
            </a:r>
          </a:p>
          <a:p>
            <a:r>
              <a:rPr lang="en-US" dirty="0"/>
              <a:t>    do {</a:t>
            </a:r>
          </a:p>
          <a:p>
            <a:r>
              <a:rPr lang="en-US" dirty="0"/>
              <a:t>        printf("%d ", temp-&gt;data);</a:t>
            </a:r>
          </a:p>
          <a:p>
            <a:r>
              <a:rPr lang="en-US" dirty="0"/>
              <a:t>        temp = temp-&gt;next;</a:t>
            </a:r>
          </a:p>
          <a:p>
            <a:r>
              <a:rPr lang="en-US" dirty="0"/>
              <a:t>    } while (temp != head);</a:t>
            </a:r>
          </a:p>
          <a:p>
            <a:r>
              <a:rPr lang="en-US" dirty="0"/>
              <a:t>    printf("\n");</a:t>
            </a:r>
          </a:p>
          <a:p>
            <a:r>
              <a:rPr lang="en-US" dirty="0"/>
              <a:t>}</a:t>
            </a:r>
          </a:p>
          <a:p>
            <a:endParaRPr lang="en-US" dirty="0"/>
          </a:p>
          <a:p>
            <a:r>
              <a:rPr lang="en-US" dirty="0"/>
              <a:t>// Main function to test the circular linked list implementation</a:t>
            </a:r>
          </a:p>
          <a:p>
            <a:r>
              <a:rPr lang="en-US" dirty="0"/>
              <a:t>int main() {</a:t>
            </a:r>
          </a:p>
          <a:p>
            <a:r>
              <a:rPr lang="en-US" dirty="0"/>
              <a:t>    struct Node* head = NULL;</a:t>
            </a:r>
          </a:p>
          <a:p>
            <a:endParaRPr lang="en-US" dirty="0"/>
          </a:p>
          <a:p>
            <a:r>
              <a:rPr lang="en-US" dirty="0"/>
              <a:t>    insertEnd(&amp;head, 10);</a:t>
            </a:r>
          </a:p>
          <a:p>
            <a:r>
              <a:rPr lang="en-US" dirty="0"/>
              <a:t>    insertEnd(&amp;head, 20);</a:t>
            </a:r>
          </a:p>
          <a:p>
            <a:r>
              <a:rPr lang="en-US" dirty="0"/>
              <a:t>    insertEnd(&amp;head, 30);</a:t>
            </a:r>
          </a:p>
          <a:p>
            <a:r>
              <a:rPr lang="en-US" dirty="0"/>
              <a:t>    insertEnd(&amp;head, 40);</a:t>
            </a:r>
          </a:p>
          <a:p>
            <a:endParaRPr lang="en-US" dirty="0"/>
          </a:p>
          <a:p>
            <a:r>
              <a:rPr lang="en-US" dirty="0"/>
              <a:t>    printf("Circular Linked List: \n");</a:t>
            </a:r>
          </a:p>
          <a:p>
            <a:r>
              <a:rPr lang="en-US" dirty="0"/>
              <a:t>    display(head);</a:t>
            </a:r>
          </a:p>
          <a:p>
            <a:endParaRPr lang="en-US" dirty="0"/>
          </a:p>
          <a:p>
            <a:r>
              <a:rPr lang="en-US" dirty="0"/>
              <a:t>    return 0;</a:t>
            </a:r>
          </a:p>
          <a:p>
            <a:r>
              <a:rPr lang="en-US" dirty="0"/>
              <a:t>}</a:t>
            </a:r>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15</a:t>
            </a:fld>
            <a:endParaRPr lang="en-US" dirty="0"/>
          </a:p>
        </p:txBody>
      </p:sp>
    </p:spTree>
    <p:extLst>
      <p:ext uri="{BB962C8B-B14F-4D97-AF65-F5344CB8AC3E}">
        <p14:creationId xmlns:p14="http://schemas.microsoft.com/office/powerpoint/2010/main" val="14940629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normAutofit/>
          </a:bodyPr>
          <a:lstStyle/>
          <a:p>
            <a:r>
              <a:rPr lang="en-US" dirty="0"/>
              <a:t>In this case the -4 means there are 4 items in the linked list</a:t>
            </a:r>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16</a:t>
            </a:fld>
            <a:endParaRPr lang="en-US" dirty="0"/>
          </a:p>
        </p:txBody>
      </p:sp>
    </p:spTree>
    <p:extLst>
      <p:ext uri="{BB962C8B-B14F-4D97-AF65-F5344CB8AC3E}">
        <p14:creationId xmlns:p14="http://schemas.microsoft.com/office/powerpoint/2010/main" val="25603739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17</a:t>
            </a:fld>
            <a:endParaRPr lang="en-US" dirty="0"/>
          </a:p>
        </p:txBody>
      </p:sp>
    </p:spTree>
    <p:extLst>
      <p:ext uri="{BB962C8B-B14F-4D97-AF65-F5344CB8AC3E}">
        <p14:creationId xmlns:p14="http://schemas.microsoft.com/office/powerpoint/2010/main" val="19488814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image by Bing.com</a:t>
            </a:r>
          </a:p>
        </p:txBody>
      </p:sp>
      <p:sp>
        <p:nvSpPr>
          <p:cNvPr id="4" name="Slide Number Placeholder 3"/>
          <p:cNvSpPr>
            <a:spLocks noGrp="1"/>
          </p:cNvSpPr>
          <p:nvPr>
            <p:ph type="sldNum" sz="quarter" idx="5"/>
          </p:nvPr>
        </p:nvSpPr>
        <p:spPr/>
        <p:txBody>
          <a:bodyPr/>
          <a:lstStyle/>
          <a:p>
            <a:fld id="{C6B3AB32-59DF-41F1-9618-EDFBF5049629}" type="slidenum">
              <a:rPr lang="en-US" smtClean="0"/>
              <a:pPr/>
              <a:t>18</a:t>
            </a:fld>
            <a:endParaRPr lang="en-US" dirty="0"/>
          </a:p>
        </p:txBody>
      </p:sp>
    </p:spTree>
    <p:extLst>
      <p:ext uri="{BB962C8B-B14F-4D97-AF65-F5344CB8AC3E}">
        <p14:creationId xmlns:p14="http://schemas.microsoft.com/office/powerpoint/2010/main" val="28422603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pPr/>
              <a:t>19</a:t>
            </a:fld>
            <a:endParaRPr lang="en-US" dirty="0"/>
          </a:p>
        </p:txBody>
      </p:sp>
    </p:spTree>
    <p:extLst>
      <p:ext uri="{BB962C8B-B14F-4D97-AF65-F5344CB8AC3E}">
        <p14:creationId xmlns:p14="http://schemas.microsoft.com/office/powerpoint/2010/main" val="36356107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image by Bing.com</a:t>
            </a:r>
          </a:p>
        </p:txBody>
      </p:sp>
      <p:sp>
        <p:nvSpPr>
          <p:cNvPr id="4" name="Slide Number Placeholder 3"/>
          <p:cNvSpPr>
            <a:spLocks noGrp="1"/>
          </p:cNvSpPr>
          <p:nvPr>
            <p:ph type="sldNum" sz="quarter" idx="5"/>
          </p:nvPr>
        </p:nvSpPr>
        <p:spPr/>
        <p:txBody>
          <a:bodyPr/>
          <a:lstStyle/>
          <a:p>
            <a:fld id="{C6B3AB32-59DF-41F1-9618-EDFBF5049629}" type="slidenum">
              <a:rPr lang="en-US" smtClean="0"/>
              <a:pPr/>
              <a:t>20</a:t>
            </a:fld>
            <a:endParaRPr lang="en-US" dirty="0"/>
          </a:p>
        </p:txBody>
      </p:sp>
    </p:spTree>
    <p:extLst>
      <p:ext uri="{BB962C8B-B14F-4D97-AF65-F5344CB8AC3E}">
        <p14:creationId xmlns:p14="http://schemas.microsoft.com/office/powerpoint/2010/main" val="13937705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normAutofit fontScale="77500" lnSpcReduction="20000"/>
          </a:bodyPr>
          <a:lstStyle/>
          <a:p>
            <a:pPr algn="l"/>
            <a:r>
              <a:rPr lang="en-US" u="none" strike="noStrike" dirty="0">
                <a:solidFill>
                  <a:srgbClr val="0D0D0D"/>
                </a:solidFill>
                <a:effectLst/>
              </a:rPr>
              <a:t>Examples of Sparse Matrix Usage:</a:t>
            </a:r>
          </a:p>
          <a:p>
            <a:pPr algn="l">
              <a:buFont typeface="+mj-lt"/>
              <a:buAutoNum type="arabicPeriod"/>
            </a:pPr>
            <a:r>
              <a:rPr lang="en-US" u="none" strike="noStrike" dirty="0">
                <a:solidFill>
                  <a:srgbClr val="0D0D0D"/>
                </a:solidFill>
                <a:effectLst/>
              </a:rPr>
              <a:t>Graph Algorithms:</a:t>
            </a:r>
          </a:p>
          <a:p>
            <a:pPr marL="742950" lvl="1" indent="-285750" algn="l">
              <a:buFont typeface="+mj-lt"/>
              <a:buAutoNum type="arabicPeriod"/>
            </a:pPr>
            <a:r>
              <a:rPr lang="en-US" u="none" strike="noStrike" dirty="0">
                <a:solidFill>
                  <a:srgbClr val="0D0D0D"/>
                </a:solidFill>
                <a:effectLst/>
              </a:rPr>
              <a:t>Adjacency Matrices for Graphs: In graph theory, sparse matrices are used to represent the adjacency matrices of large graphs. For instance, in social networks, web graphs, or communication networks, the number of connections (edges) is much smaller than the number of possible connections between nodes (vertices), resulting in a sparse adjacency matrix.</a:t>
            </a:r>
          </a:p>
          <a:p>
            <a:pPr algn="l">
              <a:buFont typeface="+mj-lt"/>
              <a:buAutoNum type="arabicPeriod"/>
            </a:pPr>
            <a:r>
              <a:rPr lang="en-US" u="none" strike="noStrike" dirty="0">
                <a:solidFill>
                  <a:srgbClr val="0D0D0D"/>
                </a:solidFill>
                <a:effectLst/>
              </a:rPr>
              <a:t>Machine Learning and Data Mining:</a:t>
            </a:r>
          </a:p>
          <a:p>
            <a:pPr marL="742950" lvl="1" indent="-285750" algn="l">
              <a:buFont typeface="+mj-lt"/>
              <a:buAutoNum type="arabicPeriod"/>
            </a:pPr>
            <a:r>
              <a:rPr lang="en-US" u="none" strike="noStrike" dirty="0">
                <a:solidFill>
                  <a:srgbClr val="0D0D0D"/>
                </a:solidFill>
                <a:effectLst/>
              </a:rPr>
              <a:t>Document-Term Matrices: In natural language processing (NLP) and text mining, sparse matrices are used to represent the frequency of terms in a collection of documents (Bag-of-Words model). Since each document typically contains only a small subset of the entire vocabulary, the matrix is sparse.</a:t>
            </a:r>
          </a:p>
          <a:p>
            <a:pPr marL="742950" lvl="1" indent="-285750" algn="l">
              <a:buFont typeface="+mj-lt"/>
              <a:buAutoNum type="arabicPeriod"/>
            </a:pPr>
            <a:r>
              <a:rPr lang="en-US" u="none" strike="noStrike" dirty="0">
                <a:solidFill>
                  <a:srgbClr val="0D0D0D"/>
                </a:solidFill>
                <a:effectLst/>
              </a:rPr>
              <a:t>Recommender Systems: Sparse matrices are used to represent user-item interaction data. Most users interact with only a small subset of items, leading to a sparse user-item matrix.</a:t>
            </a:r>
          </a:p>
          <a:p>
            <a:pPr algn="l">
              <a:buFont typeface="+mj-lt"/>
              <a:buAutoNum type="arabicPeriod"/>
            </a:pPr>
            <a:r>
              <a:rPr lang="en-US" u="none" strike="noStrike" dirty="0">
                <a:solidFill>
                  <a:srgbClr val="0D0D0D"/>
                </a:solidFill>
                <a:effectLst/>
              </a:rPr>
              <a:t>Scientific Computing:</a:t>
            </a:r>
          </a:p>
          <a:p>
            <a:pPr marL="742950" lvl="1" indent="-285750" algn="l">
              <a:buFont typeface="+mj-lt"/>
              <a:buAutoNum type="arabicPeriod"/>
            </a:pPr>
            <a:r>
              <a:rPr lang="en-US" u="none" strike="noStrike" dirty="0">
                <a:solidFill>
                  <a:srgbClr val="0D0D0D"/>
                </a:solidFill>
                <a:effectLst/>
              </a:rPr>
              <a:t>Finite Element Method (FEM): In simulations and numerical solutions of partial differential equations (PDEs), sparse matrices are used to represent the stiffness matrices or system matrices, which arise from discretizing continuous systems.</a:t>
            </a:r>
          </a:p>
          <a:p>
            <a:pPr marL="742950" lvl="1" indent="-285750" algn="l">
              <a:buFont typeface="+mj-lt"/>
              <a:buAutoNum type="arabicPeriod"/>
            </a:pPr>
            <a:r>
              <a:rPr lang="en-US" u="none" strike="noStrike" dirty="0">
                <a:solidFill>
                  <a:srgbClr val="0D0D0D"/>
                </a:solidFill>
                <a:effectLst/>
              </a:rPr>
              <a:t>Circuit Simulation: In electrical engineering, sparse matrices are used to represent the connectivity and behavior of circuits, where the connectivity matrix is typically sparse.</a:t>
            </a:r>
          </a:p>
          <a:p>
            <a:pPr algn="l">
              <a:buFont typeface="+mj-lt"/>
              <a:buAutoNum type="arabicPeriod"/>
            </a:pPr>
            <a:r>
              <a:rPr lang="en-US" u="none" strike="noStrike" dirty="0">
                <a:solidFill>
                  <a:srgbClr val="0D0D0D"/>
                </a:solidFill>
                <a:effectLst/>
              </a:rPr>
              <a:t>Image Processing and Computer Vision:</a:t>
            </a:r>
          </a:p>
          <a:p>
            <a:pPr marL="742950" lvl="1" indent="-285750" algn="l">
              <a:buFont typeface="+mj-lt"/>
              <a:buAutoNum type="arabicPeriod"/>
            </a:pPr>
            <a:r>
              <a:rPr lang="en-US" u="none" strike="noStrike" dirty="0">
                <a:solidFill>
                  <a:srgbClr val="0D0D0D"/>
                </a:solidFill>
                <a:effectLst/>
              </a:rPr>
              <a:t>Image Compression: Techniques like JPEG and other image compression algorithms result in sparse matrices when storing image transformations, such as Discrete Cosine Transform (DCT) coefficients, where many coefficients are zero or near-zero after transformation.</a:t>
            </a:r>
          </a:p>
          <a:p>
            <a:pPr marL="742950" lvl="1" indent="-285750" algn="l">
              <a:buFont typeface="+mj-lt"/>
              <a:buAutoNum type="arabicPeriod"/>
            </a:pPr>
            <a:r>
              <a:rPr lang="en-US" u="none" strike="noStrike" dirty="0">
                <a:solidFill>
                  <a:srgbClr val="0D0D0D"/>
                </a:solidFill>
                <a:effectLst/>
              </a:rPr>
              <a:t>3D Reconstruction: Sparse matrices are used to represent the relationship between points in 3D space and their projections in 2D images.</a:t>
            </a:r>
          </a:p>
          <a:p>
            <a:pPr algn="l">
              <a:buFont typeface="+mj-lt"/>
              <a:buAutoNum type="arabicPeriod"/>
            </a:pPr>
            <a:r>
              <a:rPr lang="en-US" u="none" strike="noStrike" dirty="0">
                <a:solidFill>
                  <a:srgbClr val="0D0D0D"/>
                </a:solidFill>
                <a:effectLst/>
              </a:rPr>
              <a:t>Optimization Problems:</a:t>
            </a:r>
          </a:p>
          <a:p>
            <a:pPr marL="742950" lvl="1" indent="-285750" algn="l">
              <a:buFont typeface="+mj-lt"/>
              <a:buAutoNum type="arabicPeriod"/>
            </a:pPr>
            <a:r>
              <a:rPr lang="en-US" u="none" strike="noStrike" dirty="0">
                <a:solidFill>
                  <a:srgbClr val="0D0D0D"/>
                </a:solidFill>
                <a:effectLst/>
              </a:rPr>
              <a:t>Linear Programming (LP) and Quadratic Programming (QP): Sparse matrices are used to represent constraints and objective functions, especially when the problem involves a large number of variables but only a few constraints.</a:t>
            </a:r>
          </a:p>
          <a:p>
            <a:pPr marL="742950" lvl="1" indent="-285750" algn="l">
              <a:buFont typeface="+mj-lt"/>
              <a:buAutoNum type="arabicPeriod"/>
            </a:pPr>
            <a:r>
              <a:rPr lang="en-US" u="none" strike="noStrike" dirty="0">
                <a:solidFill>
                  <a:srgbClr val="0D0D0D"/>
                </a:solidFill>
                <a:effectLst/>
              </a:rPr>
              <a:t>Sparse Coding: In signal processing and machine learning, sparse coding is used to find a sparse representation of signals, which leads to sparse matrices.</a:t>
            </a:r>
          </a:p>
          <a:p>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21</a:t>
            </a:fld>
            <a:endParaRPr lang="en-US" dirty="0"/>
          </a:p>
        </p:txBody>
      </p:sp>
    </p:spTree>
    <p:extLst>
      <p:ext uri="{BB962C8B-B14F-4D97-AF65-F5344CB8AC3E}">
        <p14:creationId xmlns:p14="http://schemas.microsoft.com/office/powerpoint/2010/main" val="16315146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22</a:t>
            </a:fld>
            <a:endParaRPr lang="en-US" dirty="0"/>
          </a:p>
        </p:txBody>
      </p:sp>
    </p:spTree>
    <p:extLst>
      <p:ext uri="{BB962C8B-B14F-4D97-AF65-F5344CB8AC3E}">
        <p14:creationId xmlns:p14="http://schemas.microsoft.com/office/powerpoint/2010/main" val="16673776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23</a:t>
            </a:fld>
            <a:endParaRPr lang="en-US" dirty="0"/>
          </a:p>
        </p:txBody>
      </p:sp>
    </p:spTree>
    <p:extLst>
      <p:ext uri="{BB962C8B-B14F-4D97-AF65-F5344CB8AC3E}">
        <p14:creationId xmlns:p14="http://schemas.microsoft.com/office/powerpoint/2010/main" val="4993051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could reverse order of column and row pointers, but then in the image, you are drawing arrow across cell. </a:t>
            </a:r>
          </a:p>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pPr/>
              <a:t>24</a:t>
            </a:fld>
            <a:endParaRPr lang="en-US" dirty="0"/>
          </a:p>
        </p:txBody>
      </p:sp>
    </p:spTree>
    <p:extLst>
      <p:ext uri="{BB962C8B-B14F-4D97-AF65-F5344CB8AC3E}">
        <p14:creationId xmlns:p14="http://schemas.microsoft.com/office/powerpoint/2010/main" val="36128919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F080E-3FBE-627C-D053-C561F63412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874044-B40B-F835-824D-0860C0D373B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617631F3-F715-88DD-CCFE-0B1BB9859354}"/>
              </a:ext>
            </a:extLst>
          </p:cNvPr>
          <p:cNvSpPr>
            <a:spLocks noGrp="1"/>
          </p:cNvSpPr>
          <p:nvPr>
            <p:ph type="body" idx="1"/>
          </p:nvPr>
        </p:nvSpPr>
        <p:spPr/>
        <p:txBody>
          <a:bodyPr/>
          <a:lstStyle/>
          <a:p>
            <a:r>
              <a:rPr lang="en-US" dirty="0"/>
              <a:t>you could reverse order of column and row pointers, but then in the image, you are drawing arrow across cell. </a:t>
            </a:r>
          </a:p>
        </p:txBody>
      </p:sp>
      <p:sp>
        <p:nvSpPr>
          <p:cNvPr id="4" name="Slide Number Placeholder 3">
            <a:extLst>
              <a:ext uri="{FF2B5EF4-FFF2-40B4-BE49-F238E27FC236}">
                <a16:creationId xmlns:a16="http://schemas.microsoft.com/office/drawing/2014/main" id="{199C579A-0653-997B-DA18-AC2405B0F509}"/>
              </a:ext>
            </a:extLst>
          </p:cNvPr>
          <p:cNvSpPr>
            <a:spLocks noGrp="1"/>
          </p:cNvSpPr>
          <p:nvPr>
            <p:ph type="sldNum" sz="quarter" idx="5"/>
          </p:nvPr>
        </p:nvSpPr>
        <p:spPr/>
        <p:txBody>
          <a:bodyPr/>
          <a:lstStyle/>
          <a:p>
            <a:fld id="{C6B3AB32-59DF-41F1-9618-EDFBF5049629}" type="slidenum">
              <a:rPr lang="en-US" smtClean="0"/>
              <a:pPr/>
              <a:t>25</a:t>
            </a:fld>
            <a:endParaRPr lang="en-US" dirty="0"/>
          </a:p>
        </p:txBody>
      </p:sp>
    </p:spTree>
    <p:extLst>
      <p:ext uri="{BB962C8B-B14F-4D97-AF65-F5344CB8AC3E}">
        <p14:creationId xmlns:p14="http://schemas.microsoft.com/office/powerpoint/2010/main" val="35228851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C4616-3AC0-5F7F-E5FB-96B2D0BBCD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631008-FB57-4BCB-3E9A-742EBE7E404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9FAA04B-848F-3993-71F3-C4D6DE042CBB}"/>
              </a:ext>
            </a:extLst>
          </p:cNvPr>
          <p:cNvSpPr>
            <a:spLocks noGrp="1"/>
          </p:cNvSpPr>
          <p:nvPr>
            <p:ph type="body" idx="1"/>
          </p:nvPr>
        </p:nvSpPr>
        <p:spPr/>
        <p:txBody>
          <a:bodyPr/>
          <a:lstStyle/>
          <a:p>
            <a:r>
              <a:rPr lang="en-US" dirty="0"/>
              <a:t>image by Bing.com</a:t>
            </a:r>
          </a:p>
        </p:txBody>
      </p:sp>
      <p:sp>
        <p:nvSpPr>
          <p:cNvPr id="4" name="Slide Number Placeholder 3">
            <a:extLst>
              <a:ext uri="{FF2B5EF4-FFF2-40B4-BE49-F238E27FC236}">
                <a16:creationId xmlns:a16="http://schemas.microsoft.com/office/drawing/2014/main" id="{1894BC95-18B9-6F6B-772B-5326A1F9763E}"/>
              </a:ext>
            </a:extLst>
          </p:cNvPr>
          <p:cNvSpPr>
            <a:spLocks noGrp="1"/>
          </p:cNvSpPr>
          <p:nvPr>
            <p:ph type="sldNum" sz="quarter" idx="5"/>
          </p:nvPr>
        </p:nvSpPr>
        <p:spPr/>
        <p:txBody>
          <a:bodyPr/>
          <a:lstStyle/>
          <a:p>
            <a:fld id="{C6B3AB32-59DF-41F1-9618-EDFBF5049629}" type="slidenum">
              <a:rPr lang="en-US" smtClean="0"/>
              <a:pPr/>
              <a:t>26</a:t>
            </a:fld>
            <a:endParaRPr lang="en-US" dirty="0"/>
          </a:p>
        </p:txBody>
      </p:sp>
    </p:spTree>
    <p:extLst>
      <p:ext uri="{BB962C8B-B14F-4D97-AF65-F5344CB8AC3E}">
        <p14:creationId xmlns:p14="http://schemas.microsoft.com/office/powerpoint/2010/main" val="40977504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27</a:t>
            </a:fld>
            <a:endParaRPr lang="en-US" dirty="0"/>
          </a:p>
        </p:txBody>
      </p:sp>
    </p:spTree>
    <p:extLst>
      <p:ext uri="{BB962C8B-B14F-4D97-AF65-F5344CB8AC3E}">
        <p14:creationId xmlns:p14="http://schemas.microsoft.com/office/powerpoint/2010/main" val="41469144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28</a:t>
            </a:fld>
            <a:endParaRPr lang="en-US" dirty="0"/>
          </a:p>
        </p:txBody>
      </p:sp>
    </p:spTree>
    <p:extLst>
      <p:ext uri="{BB962C8B-B14F-4D97-AF65-F5344CB8AC3E}">
        <p14:creationId xmlns:p14="http://schemas.microsoft.com/office/powerpoint/2010/main" val="4275467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normAutofit/>
          </a:bodyPr>
          <a:lstStyle/>
          <a:p>
            <a:r>
              <a:rPr lang="en-US" dirty="0"/>
              <a:t>must be 0 because first row with non zero is row 152.</a:t>
            </a:r>
          </a:p>
          <a:p>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29</a:t>
            </a:fld>
            <a:endParaRPr lang="en-US" dirty="0"/>
          </a:p>
        </p:txBody>
      </p:sp>
    </p:spTree>
    <p:extLst>
      <p:ext uri="{BB962C8B-B14F-4D97-AF65-F5344CB8AC3E}">
        <p14:creationId xmlns:p14="http://schemas.microsoft.com/office/powerpoint/2010/main" val="15109800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normAutofit/>
          </a:bodyPr>
          <a:lstStyle/>
          <a:p>
            <a:r>
              <a:rPr lang="en-US" dirty="0"/>
              <a:t>if you need to delete white element, update pointers as shown</a:t>
            </a:r>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30</a:t>
            </a:fld>
            <a:endParaRPr lang="en-US" dirty="0"/>
          </a:p>
        </p:txBody>
      </p:sp>
    </p:spTree>
    <p:extLst>
      <p:ext uri="{BB962C8B-B14F-4D97-AF65-F5344CB8AC3E}">
        <p14:creationId xmlns:p14="http://schemas.microsoft.com/office/powerpoint/2010/main" val="21296874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31</a:t>
            </a:fld>
            <a:endParaRPr lang="en-US" dirty="0"/>
          </a:p>
        </p:txBody>
      </p:sp>
    </p:spTree>
    <p:extLst>
      <p:ext uri="{BB962C8B-B14F-4D97-AF65-F5344CB8AC3E}">
        <p14:creationId xmlns:p14="http://schemas.microsoft.com/office/powerpoint/2010/main" val="10467141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2F12B-E762-9F7E-E28E-4E96DB31F49F}"/>
            </a:ext>
          </a:extLst>
        </p:cNvPr>
        <p:cNvGrpSpPr/>
        <p:nvPr/>
      </p:nvGrpSpPr>
      <p:grpSpPr>
        <a:xfrm>
          <a:off x="0" y="0"/>
          <a:ext cx="0" cy="0"/>
          <a:chOff x="0" y="0"/>
          <a:chExt cx="0" cy="0"/>
        </a:xfrm>
      </p:grpSpPr>
      <p:sp>
        <p:nvSpPr>
          <p:cNvPr id="35842" name="Rectangle 7">
            <a:extLst>
              <a:ext uri="{FF2B5EF4-FFF2-40B4-BE49-F238E27FC236}">
                <a16:creationId xmlns:a16="http://schemas.microsoft.com/office/drawing/2014/main" id="{2CAA2D07-3B28-5BA6-02CC-8D5BE90BE0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91329F50-FE46-44C9-8601-7B49262EBFE5}" type="slidenum">
              <a:rPr lang="en-US" altLang="en-US" sz="1200">
                <a:solidFill>
                  <a:schemeClr val="tx1"/>
                </a:solidFill>
              </a:rPr>
              <a:pPr eaLnBrk="1" hangingPunct="1"/>
              <a:t>32</a:t>
            </a:fld>
            <a:endParaRPr lang="en-US" altLang="en-US" sz="1200" dirty="0">
              <a:solidFill>
                <a:schemeClr val="tx1"/>
              </a:solidFill>
            </a:endParaRPr>
          </a:p>
        </p:txBody>
      </p:sp>
      <p:sp>
        <p:nvSpPr>
          <p:cNvPr id="35843" name="Rectangle 2">
            <a:extLst>
              <a:ext uri="{FF2B5EF4-FFF2-40B4-BE49-F238E27FC236}">
                <a16:creationId xmlns:a16="http://schemas.microsoft.com/office/drawing/2014/main" id="{2BAA0259-8EBF-78B5-38B3-0EF2FB8D1C1E}"/>
              </a:ext>
            </a:extLst>
          </p:cNvPr>
          <p:cNvSpPr>
            <a:spLocks noGrp="1" noRot="1" noChangeAspect="1" noChangeArrowheads="1" noTextEdit="1"/>
          </p:cNvSpPr>
          <p:nvPr>
            <p:ph type="sldImg"/>
          </p:nvPr>
        </p:nvSpPr>
        <p:spPr>
          <a:ln/>
        </p:spPr>
        <p:txBody>
          <a:bodyPr/>
          <a:lstStyle/>
          <a:p>
            <a:endParaRPr lang="en-US" dirty="0"/>
          </a:p>
        </p:txBody>
      </p:sp>
      <p:sp>
        <p:nvSpPr>
          <p:cNvPr id="35844" name="Rectangle 3">
            <a:extLst>
              <a:ext uri="{FF2B5EF4-FFF2-40B4-BE49-F238E27FC236}">
                <a16:creationId xmlns:a16="http://schemas.microsoft.com/office/drawing/2014/main" id="{73BEEFE7-9535-5690-8F5A-0C5A61B474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7685427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91329F50-FE46-44C9-8601-7B49262EBFE5}" type="slidenum">
              <a:rPr lang="en-US" altLang="en-US" sz="1200">
                <a:solidFill>
                  <a:schemeClr val="tx1"/>
                </a:solidFill>
              </a:rPr>
              <a:pPr eaLnBrk="1" hangingPunct="1"/>
              <a:t>33</a:t>
            </a:fld>
            <a:endParaRPr lang="en-US" altLang="en-US" sz="1200" dirty="0">
              <a:solidFill>
                <a:schemeClr val="tx1"/>
              </a:solidFill>
            </a:endParaRPr>
          </a:p>
        </p:txBody>
      </p:sp>
      <p:sp>
        <p:nvSpPr>
          <p:cNvPr id="35843" name="Rectangle 2"/>
          <p:cNvSpPr>
            <a:spLocks noGrp="1" noRot="1" noChangeAspect="1" noChangeArrowheads="1" noTextEdit="1"/>
          </p:cNvSpPr>
          <p:nvPr>
            <p:ph type="sldImg"/>
          </p:nvPr>
        </p:nvSpPr>
        <p:spPr>
          <a:ln/>
        </p:spPr>
        <p:txBody>
          <a:bodyPr/>
          <a:lstStyle/>
          <a:p>
            <a:endParaRPr lang="en-US" dirty="0"/>
          </a:p>
        </p:txBody>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37822201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91329F50-FE46-44C9-8601-7B49262EBFE5}" type="slidenum">
              <a:rPr lang="en-US" altLang="en-US" sz="1200">
                <a:solidFill>
                  <a:schemeClr val="tx1"/>
                </a:solidFill>
              </a:rPr>
              <a:pPr eaLnBrk="1" hangingPunct="1"/>
              <a:t>34</a:t>
            </a:fld>
            <a:endParaRPr lang="en-US" altLang="en-US" sz="1200" dirty="0">
              <a:solidFill>
                <a:schemeClr val="tx1"/>
              </a:solidFill>
            </a:endParaRPr>
          </a:p>
        </p:txBody>
      </p:sp>
      <p:sp>
        <p:nvSpPr>
          <p:cNvPr id="35843" name="Rectangle 2"/>
          <p:cNvSpPr>
            <a:spLocks noGrp="1" noRot="1" noChangeAspect="1" noChangeArrowheads="1" noTextEdit="1"/>
          </p:cNvSpPr>
          <p:nvPr>
            <p:ph type="sldImg"/>
          </p:nvPr>
        </p:nvSpPr>
        <p:spPr>
          <a:ln/>
        </p:spPr>
        <p:txBody>
          <a:bodyPr/>
          <a:lstStyle/>
          <a:p>
            <a:endParaRPr lang="en-US" dirty="0"/>
          </a:p>
        </p:txBody>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22887900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9/9/2026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b="0" i="0">
                <a:solidFill>
                  <a:schemeClr val="accent2"/>
                </a:solidFill>
                <a:latin typeface="Times New Roman" panose="02020603050405020304" pitchFamily="18" charset="0"/>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b="0" i="0" cap="all">
                <a:solidFill>
                  <a:schemeClr val="accent2"/>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b="0" i="0">
                <a:solidFill>
                  <a:schemeClr val="accent2"/>
                </a:solidFill>
                <a:latin typeface="Times New Roman" panose="02020603050405020304" pitchFamily="18" charset="0"/>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i="0" kern="1200" cap="all">
          <a:solidFill>
            <a:schemeClr val="bg1"/>
          </a:solidFill>
          <a:latin typeface="Times New Roman" panose="02020603050405020304" pitchFamily="18"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b="0" i="0" kern="1200">
          <a:solidFill>
            <a:schemeClr val="tx2"/>
          </a:solidFill>
          <a:latin typeface="Times New Roman" panose="02020603050405020304" pitchFamily="18" charset="0"/>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b="0" i="0" kern="1200">
          <a:solidFill>
            <a:schemeClr val="tx2"/>
          </a:solidFill>
          <a:latin typeface="Times New Roman" panose="02020603050405020304" pitchFamily="18" charset="0"/>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b="0" i="0" kern="1200">
          <a:solidFill>
            <a:schemeClr val="tx2"/>
          </a:solidFill>
          <a:latin typeface="Times New Roman" panose="02020603050405020304" pitchFamily="18" charset="0"/>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 Id="rId9"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 Id="rId9"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 Id="rId9"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 Id="rId9"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 Id="rId9"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 Id="rId9"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 Id="rId9" Type="http://schemas.openxmlformats.org/officeDocument/2006/relationships/image" Target="../media/image5.png"/></Relationships>
</file>

<file path=ppt/slides/_rels/slide10.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 Id="rId9"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3.png"/><Relationship Id="rId10" Type="http://schemas.openxmlformats.org/officeDocument/2006/relationships/image" Target="../media/image6.png"/><Relationship Id="rId4" Type="http://schemas.microsoft.com/office/2007/relationships/hdphoto" Target="../media/hdphoto1.wdp"/><Relationship Id="rId9" Type="http://schemas.openxmlformats.org/officeDocument/2006/relationships/image" Target="../media/image5.png"/></Relationships>
</file>

<file path=ppt/slides/_rels/slide12.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3.png"/><Relationship Id="rId10" Type="http://schemas.openxmlformats.org/officeDocument/2006/relationships/image" Target="../media/image6.png"/><Relationship Id="rId4" Type="http://schemas.microsoft.com/office/2007/relationships/hdphoto" Target="../media/hdphoto1.wdp"/><Relationship Id="rId9"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1260667" cy="895244"/>
          </a:xfrm>
        </p:spPr>
        <p:txBody>
          <a:bodyPr>
            <a:noAutofit/>
          </a:bodyPr>
          <a:lstStyle/>
          <a:p>
            <a:r>
              <a:rPr lang="en-US" sz="4400" dirty="0">
                <a:solidFill>
                  <a:schemeClr val="bg1"/>
                </a:solidFill>
                <a:cs typeface="Times New Roman" panose="02020603050405020304" pitchFamily="18" charset="0"/>
              </a:rPr>
              <a:t>linked list-based data structures</a:t>
            </a:r>
            <a:endParaRPr lang="en-US" sz="4400" dirty="0">
              <a:solidFill>
                <a:schemeClr val="bg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a:noAutofit/>
          </a:bodyPr>
          <a:lstStyle/>
          <a:p>
            <a:r>
              <a:rPr lang="en-US" sz="2800" dirty="0">
                <a:solidFill>
                  <a:srgbClr val="7CEBFF"/>
                </a:solidFill>
                <a:latin typeface="Times New Roman" panose="02020603050405020304" pitchFamily="18" charset="0"/>
                <a:cs typeface="Times New Roman" panose="02020603050405020304" pitchFamily="18" charset="0"/>
              </a:rPr>
              <a:t>DEQUE, Circular linked lists, sparse matrix</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9489" y="2378181"/>
            <a:ext cx="10206136" cy="2461777"/>
          </a:xfrm>
        </p:spPr>
        <p:txBody>
          <a:bodyPr anchor="t" anchorCtr="0">
            <a:noAutofit/>
          </a:bodyPr>
          <a:lstStyle/>
          <a:p>
            <a:pPr>
              <a:lnSpc>
                <a:spcPct val="95000"/>
              </a:lnSpc>
              <a:spcAft>
                <a:spcPts val="450"/>
              </a:spcAft>
              <a:buFont typeface="Wingdings" pitchFamily="2" charset="2"/>
              <a:buChar char="Ø"/>
            </a:pPr>
            <a:r>
              <a:rPr lang="en-US" sz="4000" dirty="0"/>
              <a:t>Name a situation when dynamic memory allocation would be useful.</a:t>
            </a:r>
          </a:p>
        </p:txBody>
      </p:sp>
      <p:sp>
        <p:nvSpPr>
          <p:cNvPr id="2" name="TextBox 1"/>
          <p:cNvSpPr txBox="1"/>
          <p:nvPr/>
        </p:nvSpPr>
        <p:spPr>
          <a:xfrm>
            <a:off x="899824" y="886949"/>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Review</a:t>
            </a:r>
          </a:p>
        </p:txBody>
      </p:sp>
    </p:spTree>
    <p:extLst>
      <p:ext uri="{BB962C8B-B14F-4D97-AF65-F5344CB8AC3E}">
        <p14:creationId xmlns:p14="http://schemas.microsoft.com/office/powerpoint/2010/main" val="2890927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0636F-E3E9-49BD-B783-851A4E58FAE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1B7A2A-597A-5C78-CC7D-084F5DA8A55D}"/>
              </a:ext>
            </a:extLst>
          </p:cNvPr>
          <p:cNvSpPr>
            <a:spLocks noGrp="1"/>
          </p:cNvSpPr>
          <p:nvPr>
            <p:ph idx="1"/>
          </p:nvPr>
        </p:nvSpPr>
        <p:spPr>
          <a:xfrm>
            <a:off x="509489" y="2378181"/>
            <a:ext cx="10206136" cy="2461777"/>
          </a:xfrm>
        </p:spPr>
        <p:txBody>
          <a:bodyPr anchor="t" anchorCtr="0">
            <a:noAutofit/>
          </a:bodyPr>
          <a:lstStyle/>
          <a:p>
            <a:pPr>
              <a:lnSpc>
                <a:spcPct val="95000"/>
              </a:lnSpc>
              <a:spcAft>
                <a:spcPts val="450"/>
              </a:spcAft>
              <a:buFont typeface="Wingdings" pitchFamily="2" charset="2"/>
              <a:buChar char="Ø"/>
            </a:pPr>
            <a:r>
              <a:rPr lang="en-US" sz="4000" dirty="0"/>
              <a:t>Imagine we need to print the contents of this linked list in reverse order.  What algorithm could we use?</a:t>
            </a:r>
          </a:p>
        </p:txBody>
      </p:sp>
      <p:sp>
        <p:nvSpPr>
          <p:cNvPr id="2" name="TextBox 1">
            <a:extLst>
              <a:ext uri="{FF2B5EF4-FFF2-40B4-BE49-F238E27FC236}">
                <a16:creationId xmlns:a16="http://schemas.microsoft.com/office/drawing/2014/main" id="{3DD63C32-3CAA-AEE6-3EAD-381DA5EBDD64}"/>
              </a:ext>
            </a:extLst>
          </p:cNvPr>
          <p:cNvSpPr txBox="1"/>
          <p:nvPr/>
        </p:nvSpPr>
        <p:spPr>
          <a:xfrm>
            <a:off x="899824" y="886949"/>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Linked Lists</a:t>
            </a:r>
          </a:p>
        </p:txBody>
      </p:sp>
      <p:sp>
        <p:nvSpPr>
          <p:cNvPr id="4" name="Rectangle 3">
            <a:extLst>
              <a:ext uri="{FF2B5EF4-FFF2-40B4-BE49-F238E27FC236}">
                <a16:creationId xmlns:a16="http://schemas.microsoft.com/office/drawing/2014/main" id="{B4125122-772D-BE85-DA81-CFAA1E2B8C5F}"/>
              </a:ext>
            </a:extLst>
          </p:cNvPr>
          <p:cNvSpPr/>
          <p:nvPr/>
        </p:nvSpPr>
        <p:spPr>
          <a:xfrm>
            <a:off x="190500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Squirtle</a:t>
            </a:r>
          </a:p>
          <a:p>
            <a:pPr algn="ctr"/>
            <a:r>
              <a:rPr lang="en-US" dirty="0"/>
              <a:t>400</a:t>
            </a:r>
          </a:p>
        </p:txBody>
      </p:sp>
      <p:sp>
        <p:nvSpPr>
          <p:cNvPr id="5" name="Rectangle 4">
            <a:extLst>
              <a:ext uri="{FF2B5EF4-FFF2-40B4-BE49-F238E27FC236}">
                <a16:creationId xmlns:a16="http://schemas.microsoft.com/office/drawing/2014/main" id="{2429AFAE-76B9-E58C-D1FF-80F39BC37362}"/>
              </a:ext>
            </a:extLst>
          </p:cNvPr>
          <p:cNvSpPr/>
          <p:nvPr/>
        </p:nvSpPr>
        <p:spPr>
          <a:xfrm>
            <a:off x="365760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Eevee</a:t>
            </a:r>
            <a:br>
              <a:rPr lang="en-US" dirty="0"/>
            </a:br>
            <a:r>
              <a:rPr lang="en-US" dirty="0"/>
              <a:t>50</a:t>
            </a:r>
          </a:p>
        </p:txBody>
      </p:sp>
      <p:sp>
        <p:nvSpPr>
          <p:cNvPr id="6" name="Rectangle 5">
            <a:extLst>
              <a:ext uri="{FF2B5EF4-FFF2-40B4-BE49-F238E27FC236}">
                <a16:creationId xmlns:a16="http://schemas.microsoft.com/office/drawing/2014/main" id="{FC88F493-94AE-2D1D-E337-9209A50DA34A}"/>
              </a:ext>
            </a:extLst>
          </p:cNvPr>
          <p:cNvSpPr/>
          <p:nvPr/>
        </p:nvSpPr>
        <p:spPr>
          <a:xfrm>
            <a:off x="5372100" y="4800600"/>
            <a:ext cx="1456997"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Charmander</a:t>
            </a:r>
          </a:p>
          <a:p>
            <a:pPr algn="ctr"/>
            <a:r>
              <a:rPr lang="en-US" dirty="0"/>
              <a:t>170</a:t>
            </a:r>
          </a:p>
        </p:txBody>
      </p:sp>
      <p:sp>
        <p:nvSpPr>
          <p:cNvPr id="7" name="Rectangle 6">
            <a:extLst>
              <a:ext uri="{FF2B5EF4-FFF2-40B4-BE49-F238E27FC236}">
                <a16:creationId xmlns:a16="http://schemas.microsoft.com/office/drawing/2014/main" id="{5E2AA518-596E-CE9C-E3D9-47754A4DF148}"/>
              </a:ext>
            </a:extLst>
          </p:cNvPr>
          <p:cNvSpPr/>
          <p:nvPr/>
        </p:nvSpPr>
        <p:spPr>
          <a:xfrm>
            <a:off x="707609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Pikachu</a:t>
            </a:r>
          </a:p>
          <a:p>
            <a:pPr algn="ctr"/>
            <a:r>
              <a:rPr lang="en-US" dirty="0"/>
              <a:t>500</a:t>
            </a:r>
          </a:p>
        </p:txBody>
      </p:sp>
      <p:pic>
        <p:nvPicPr>
          <p:cNvPr id="8" name="Picture 7">
            <a:extLst>
              <a:ext uri="{FF2B5EF4-FFF2-40B4-BE49-F238E27FC236}">
                <a16:creationId xmlns:a16="http://schemas.microsoft.com/office/drawing/2014/main" id="{D03515C5-4B43-6694-CB34-4289720D235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0" b="94783" l="0" r="100000"/>
                    </a14:imgEffect>
                  </a14:imgLayer>
                </a14:imgProps>
              </a:ext>
              <a:ext uri="{28A0092B-C50C-407E-A947-70E740481C1C}">
                <a14:useLocalDpi xmlns:a14="http://schemas.microsoft.com/office/drawing/2010/main" val="0"/>
              </a:ext>
            </a:extLst>
          </a:blip>
          <a:stretch>
            <a:fillRect/>
          </a:stretch>
        </p:blipFill>
        <p:spPr>
          <a:xfrm>
            <a:off x="2005013" y="4848226"/>
            <a:ext cx="510901" cy="510901"/>
          </a:xfrm>
          <a:prstGeom prst="rect">
            <a:avLst/>
          </a:prstGeom>
        </p:spPr>
      </p:pic>
      <p:pic>
        <p:nvPicPr>
          <p:cNvPr id="9" name="Picture 8">
            <a:extLst>
              <a:ext uri="{FF2B5EF4-FFF2-40B4-BE49-F238E27FC236}">
                <a16:creationId xmlns:a16="http://schemas.microsoft.com/office/drawing/2014/main" id="{B264367C-5BF8-1EC5-F7AA-44056861AA78}"/>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3757614" y="4824414"/>
            <a:ext cx="661986" cy="661986"/>
          </a:xfrm>
          <a:prstGeom prst="rect">
            <a:avLst/>
          </a:prstGeom>
        </p:spPr>
      </p:pic>
      <p:pic>
        <p:nvPicPr>
          <p:cNvPr id="10" name="Picture 9">
            <a:extLst>
              <a:ext uri="{FF2B5EF4-FFF2-40B4-BE49-F238E27FC236}">
                <a16:creationId xmlns:a16="http://schemas.microsoft.com/office/drawing/2014/main" id="{E0DC6F96-7672-AC5B-985A-0621131E5BD4}"/>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0" b="97115" l="0" r="100000"/>
                    </a14:imgEffect>
                  </a14:imgLayer>
                </a14:imgProps>
              </a:ext>
              <a:ext uri="{28A0092B-C50C-407E-A947-70E740481C1C}">
                <a14:useLocalDpi xmlns:a14="http://schemas.microsoft.com/office/drawing/2010/main" val="0"/>
              </a:ext>
            </a:extLst>
          </a:blip>
          <a:stretch>
            <a:fillRect/>
          </a:stretch>
        </p:blipFill>
        <p:spPr>
          <a:xfrm>
            <a:off x="5480538" y="4852987"/>
            <a:ext cx="539262" cy="609600"/>
          </a:xfrm>
          <a:prstGeom prst="rect">
            <a:avLst/>
          </a:prstGeom>
        </p:spPr>
      </p:pic>
      <p:pic>
        <p:nvPicPr>
          <p:cNvPr id="11" name="Picture 10">
            <a:extLst>
              <a:ext uri="{FF2B5EF4-FFF2-40B4-BE49-F238E27FC236}">
                <a16:creationId xmlns:a16="http://schemas.microsoft.com/office/drawing/2014/main" id="{A1F7B9DF-E770-AE94-D2AF-28DB6BDE29F5}"/>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2647" t="-1" b="2410"/>
          <a:stretch/>
        </p:blipFill>
        <p:spPr>
          <a:xfrm>
            <a:off x="7164341" y="4825726"/>
            <a:ext cx="541057" cy="533400"/>
          </a:xfrm>
          <a:prstGeom prst="rect">
            <a:avLst/>
          </a:prstGeom>
        </p:spPr>
      </p:pic>
      <p:cxnSp>
        <p:nvCxnSpPr>
          <p:cNvPr id="12" name="Straight Arrow Connector 11">
            <a:extLst>
              <a:ext uri="{FF2B5EF4-FFF2-40B4-BE49-F238E27FC236}">
                <a16:creationId xmlns:a16="http://schemas.microsoft.com/office/drawing/2014/main" id="{41AB7794-7EF0-84ED-C29F-39BE85616332}"/>
              </a:ext>
            </a:extLst>
          </p:cNvPr>
          <p:cNvCxnSpPr/>
          <p:nvPr/>
        </p:nvCxnSpPr>
        <p:spPr>
          <a:xfrm>
            <a:off x="2924504" y="5715000"/>
            <a:ext cx="885497" cy="0"/>
          </a:xfrm>
          <a:prstGeom prst="straightConnector1">
            <a:avLst/>
          </a:prstGeom>
          <a:ln w="69850">
            <a:tailEnd type="triangle"/>
          </a:ln>
        </p:spPr>
        <p:style>
          <a:lnRef idx="3">
            <a:schemeClr val="accent2"/>
          </a:lnRef>
          <a:fillRef idx="0">
            <a:schemeClr val="accent2"/>
          </a:fillRef>
          <a:effectRef idx="2">
            <a:schemeClr val="accent2"/>
          </a:effectRef>
          <a:fontRef idx="minor">
            <a:schemeClr val="tx1"/>
          </a:fontRef>
        </p:style>
      </p:cxnSp>
      <p:cxnSp>
        <p:nvCxnSpPr>
          <p:cNvPr id="13" name="Straight Arrow Connector 12">
            <a:extLst>
              <a:ext uri="{FF2B5EF4-FFF2-40B4-BE49-F238E27FC236}">
                <a16:creationId xmlns:a16="http://schemas.microsoft.com/office/drawing/2014/main" id="{1B0B8F05-E855-8AE2-84D4-00BFBA7ECD51}"/>
              </a:ext>
            </a:extLst>
          </p:cNvPr>
          <p:cNvCxnSpPr/>
          <p:nvPr/>
        </p:nvCxnSpPr>
        <p:spPr>
          <a:xfrm>
            <a:off x="4800601" y="5707117"/>
            <a:ext cx="885497" cy="0"/>
          </a:xfrm>
          <a:prstGeom prst="straightConnector1">
            <a:avLst/>
          </a:prstGeom>
          <a:ln w="69850">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a:extLst>
              <a:ext uri="{FF2B5EF4-FFF2-40B4-BE49-F238E27FC236}">
                <a16:creationId xmlns:a16="http://schemas.microsoft.com/office/drawing/2014/main" id="{B98EC5C4-5B06-62DE-BA1A-26326CF62552}"/>
              </a:ext>
            </a:extLst>
          </p:cNvPr>
          <p:cNvCxnSpPr/>
          <p:nvPr/>
        </p:nvCxnSpPr>
        <p:spPr>
          <a:xfrm>
            <a:off x="6477001" y="5707117"/>
            <a:ext cx="885497" cy="0"/>
          </a:xfrm>
          <a:prstGeom prst="straightConnector1">
            <a:avLst/>
          </a:prstGeom>
          <a:ln w="69850">
            <a:tailEnd type="triangle"/>
          </a:ln>
        </p:spPr>
        <p:style>
          <a:lnRef idx="3">
            <a:schemeClr val="accent2"/>
          </a:lnRef>
          <a:fillRef idx="0">
            <a:schemeClr val="accent2"/>
          </a:fillRef>
          <a:effectRef idx="2">
            <a:schemeClr val="accent2"/>
          </a:effectRef>
          <a:fontRef idx="minor">
            <a:schemeClr val="tx1"/>
          </a:fontRef>
        </p:style>
      </p:cxnSp>
      <p:cxnSp>
        <p:nvCxnSpPr>
          <p:cNvPr id="15" name="Straight Arrow Connector 14">
            <a:extLst>
              <a:ext uri="{FF2B5EF4-FFF2-40B4-BE49-F238E27FC236}">
                <a16:creationId xmlns:a16="http://schemas.microsoft.com/office/drawing/2014/main" id="{80EB87D3-48AE-17B3-0A3E-FEFB370FDE51}"/>
              </a:ext>
            </a:extLst>
          </p:cNvPr>
          <p:cNvCxnSpPr/>
          <p:nvPr/>
        </p:nvCxnSpPr>
        <p:spPr>
          <a:xfrm>
            <a:off x="8153401" y="5791200"/>
            <a:ext cx="885497" cy="0"/>
          </a:xfrm>
          <a:prstGeom prst="straightConnector1">
            <a:avLst/>
          </a:prstGeom>
          <a:ln w="69850">
            <a:tailEnd type="triangle"/>
          </a:ln>
        </p:spPr>
        <p:style>
          <a:lnRef idx="3">
            <a:schemeClr val="accent2"/>
          </a:lnRef>
          <a:fillRef idx="0">
            <a:schemeClr val="accent2"/>
          </a:fillRef>
          <a:effectRef idx="2">
            <a:schemeClr val="accent2"/>
          </a:effectRef>
          <a:fontRef idx="minor">
            <a:schemeClr val="tx1"/>
          </a:fontRef>
        </p:style>
      </p:cxnSp>
      <p:sp>
        <p:nvSpPr>
          <p:cNvPr id="16" name="TextBox 15">
            <a:extLst>
              <a:ext uri="{FF2B5EF4-FFF2-40B4-BE49-F238E27FC236}">
                <a16:creationId xmlns:a16="http://schemas.microsoft.com/office/drawing/2014/main" id="{3AB2FF02-BB81-22A7-F9B7-E49F49354152}"/>
              </a:ext>
            </a:extLst>
          </p:cNvPr>
          <p:cNvSpPr txBox="1"/>
          <p:nvPr/>
        </p:nvSpPr>
        <p:spPr>
          <a:xfrm>
            <a:off x="9038898" y="5574268"/>
            <a:ext cx="1005403" cy="461665"/>
          </a:xfrm>
          <a:prstGeom prst="rect">
            <a:avLst/>
          </a:prstGeom>
          <a:noFill/>
        </p:spPr>
        <p:txBody>
          <a:bodyPr wrap="none" rtlCol="0">
            <a:spAutoFit/>
          </a:bodyPr>
          <a:lstStyle/>
          <a:p>
            <a:r>
              <a:rPr lang="en-US" sz="2400" dirty="0">
                <a:latin typeface="Times New Roman" panose="02020603050405020304" pitchFamily="18" charset="0"/>
                <a:cs typeface="Times New Roman" panose="02020603050405020304" pitchFamily="18" charset="0"/>
              </a:rPr>
              <a:t>NULL</a:t>
            </a:r>
          </a:p>
        </p:txBody>
      </p:sp>
      <p:cxnSp>
        <p:nvCxnSpPr>
          <p:cNvPr id="17" name="Straight Arrow Connector 16">
            <a:extLst>
              <a:ext uri="{FF2B5EF4-FFF2-40B4-BE49-F238E27FC236}">
                <a16:creationId xmlns:a16="http://schemas.microsoft.com/office/drawing/2014/main" id="{BE843B18-4B9D-6295-BA69-4F73831071F0}"/>
              </a:ext>
            </a:extLst>
          </p:cNvPr>
          <p:cNvCxnSpPr>
            <a:cxnSpLocks/>
          </p:cNvCxnSpPr>
          <p:nvPr/>
        </p:nvCxnSpPr>
        <p:spPr>
          <a:xfrm>
            <a:off x="1259840" y="4619627"/>
            <a:ext cx="645160" cy="484049"/>
          </a:xfrm>
          <a:prstGeom prst="straightConnector1">
            <a:avLst/>
          </a:prstGeom>
          <a:ln w="107950">
            <a:tailEnd type="triangle"/>
          </a:ln>
        </p:spPr>
        <p:style>
          <a:lnRef idx="3">
            <a:schemeClr val="accent2"/>
          </a:lnRef>
          <a:fillRef idx="0">
            <a:schemeClr val="accent2"/>
          </a:fillRef>
          <a:effectRef idx="2">
            <a:schemeClr val="accent2"/>
          </a:effectRef>
          <a:fontRef idx="minor">
            <a:schemeClr val="tx1"/>
          </a:fontRef>
        </p:style>
      </p:cxnSp>
      <p:sp>
        <p:nvSpPr>
          <p:cNvPr id="18" name="TextBox 17">
            <a:extLst>
              <a:ext uri="{FF2B5EF4-FFF2-40B4-BE49-F238E27FC236}">
                <a16:creationId xmlns:a16="http://schemas.microsoft.com/office/drawing/2014/main" id="{CACC844F-C7B0-6154-590F-D40758BA40C1}"/>
              </a:ext>
            </a:extLst>
          </p:cNvPr>
          <p:cNvSpPr txBox="1"/>
          <p:nvPr/>
        </p:nvSpPr>
        <p:spPr>
          <a:xfrm>
            <a:off x="512538" y="4330270"/>
            <a:ext cx="583814" cy="523220"/>
          </a:xfrm>
          <a:prstGeom prst="rect">
            <a:avLst/>
          </a:prstGeom>
          <a:noFill/>
        </p:spPr>
        <p:txBody>
          <a:bodyPr wrap="none" rtlCol="0">
            <a:spAutoFit/>
          </a:bodyPr>
          <a:lstStyle/>
          <a:p>
            <a:r>
              <a:rPr lang="en-US" sz="2800" dirty="0">
                <a:latin typeface="Times New Roman" panose="02020603050405020304" pitchFamily="18" charset="0"/>
                <a:cs typeface="Times New Roman" panose="02020603050405020304" pitchFamily="18" charset="0"/>
              </a:rPr>
              <a:t>ptr</a:t>
            </a:r>
          </a:p>
        </p:txBody>
      </p:sp>
    </p:spTree>
    <p:extLst>
      <p:ext uri="{BB962C8B-B14F-4D97-AF65-F5344CB8AC3E}">
        <p14:creationId xmlns:p14="http://schemas.microsoft.com/office/powerpoint/2010/main" val="533455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3"/>
          <p:cNvSpPr>
            <a:spLocks noGrp="1" noChangeArrowheads="1"/>
          </p:cNvSpPr>
          <p:nvPr>
            <p:ph idx="1"/>
          </p:nvPr>
        </p:nvSpPr>
        <p:spPr>
          <a:xfrm>
            <a:off x="502920" y="1859577"/>
            <a:ext cx="11005872" cy="3102947"/>
          </a:xfrm>
        </p:spPr>
        <p:txBody>
          <a:bodyPr anchor="t" anchorCtr="0">
            <a:normAutofit/>
          </a:bodyPr>
          <a:lstStyle/>
          <a:p>
            <a:pPr marL="0" indent="0">
              <a:buNone/>
            </a:pPr>
            <a:r>
              <a:rPr lang="en-US" altLang="en-US" sz="3500" dirty="0">
                <a:solidFill>
                  <a:schemeClr val="tx1"/>
                </a:solidFill>
              </a:rPr>
              <a:t>How would you print the LAST item in a linked list?</a:t>
            </a:r>
            <a:endParaRPr lang="en-US" altLang="en-US" sz="2800" dirty="0">
              <a:solidFill>
                <a:srgbClr val="0070C0"/>
              </a:solidFill>
            </a:endParaRPr>
          </a:p>
          <a:p>
            <a:pPr marL="0" indent="0">
              <a:buNone/>
            </a:pPr>
            <a:r>
              <a:rPr lang="en-US" altLang="en-US" sz="2800" dirty="0"/>
              <a:t>  </a:t>
            </a:r>
          </a:p>
        </p:txBody>
      </p:sp>
      <p:sp>
        <p:nvSpPr>
          <p:cNvPr id="2" name="Rectangle 1"/>
          <p:cNvSpPr/>
          <p:nvPr/>
        </p:nvSpPr>
        <p:spPr>
          <a:xfrm>
            <a:off x="190500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Squirtle</a:t>
            </a:r>
          </a:p>
          <a:p>
            <a:pPr algn="ctr"/>
            <a:r>
              <a:rPr lang="en-US" dirty="0"/>
              <a:t>400</a:t>
            </a:r>
          </a:p>
        </p:txBody>
      </p:sp>
      <p:sp>
        <p:nvSpPr>
          <p:cNvPr id="5" name="Rectangle 4"/>
          <p:cNvSpPr/>
          <p:nvPr/>
        </p:nvSpPr>
        <p:spPr>
          <a:xfrm>
            <a:off x="365760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Eevee</a:t>
            </a:r>
            <a:br>
              <a:rPr lang="en-US" dirty="0"/>
            </a:br>
            <a:r>
              <a:rPr lang="en-US" dirty="0"/>
              <a:t>50</a:t>
            </a:r>
          </a:p>
        </p:txBody>
      </p:sp>
      <p:sp>
        <p:nvSpPr>
          <p:cNvPr id="6" name="Rectangle 5"/>
          <p:cNvSpPr/>
          <p:nvPr/>
        </p:nvSpPr>
        <p:spPr>
          <a:xfrm>
            <a:off x="5372100" y="4800600"/>
            <a:ext cx="1456997"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Charmander</a:t>
            </a:r>
          </a:p>
          <a:p>
            <a:pPr algn="ctr"/>
            <a:r>
              <a:rPr lang="en-US" dirty="0"/>
              <a:t>170</a:t>
            </a:r>
          </a:p>
        </p:txBody>
      </p:sp>
      <p:sp>
        <p:nvSpPr>
          <p:cNvPr id="7" name="Rectangle 6"/>
          <p:cNvSpPr/>
          <p:nvPr/>
        </p:nvSpPr>
        <p:spPr>
          <a:xfrm>
            <a:off x="707609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Pikachu</a:t>
            </a:r>
          </a:p>
          <a:p>
            <a:pPr algn="ctr"/>
            <a:r>
              <a:rPr lang="en-US" dirty="0"/>
              <a:t>500</a:t>
            </a:r>
          </a:p>
        </p:txBody>
      </p:sp>
      <p:pic>
        <p:nvPicPr>
          <p:cNvPr id="8" name="Picture 7"/>
          <p:cNvPicPr>
            <a:picLocks noChangeAspect="1"/>
          </p:cNvPicPr>
          <p:nvPr/>
        </p:nvPicPr>
        <p:blipFill>
          <a:blip r:embed="rId3">
            <a:extLst>
              <a:ext uri="{BEBA8EAE-BF5A-486C-A8C5-ECC9F3942E4B}">
                <a14:imgProps xmlns:a14="http://schemas.microsoft.com/office/drawing/2010/main">
                  <a14:imgLayer r:embed="rId4">
                    <a14:imgEffect>
                      <a14:backgroundRemoval t="0" b="94783" l="0" r="100000"/>
                    </a14:imgEffect>
                  </a14:imgLayer>
                </a14:imgProps>
              </a:ext>
              <a:ext uri="{28A0092B-C50C-407E-A947-70E740481C1C}">
                <a14:useLocalDpi xmlns:a14="http://schemas.microsoft.com/office/drawing/2010/main" val="0"/>
              </a:ext>
            </a:extLst>
          </a:blip>
          <a:stretch>
            <a:fillRect/>
          </a:stretch>
        </p:blipFill>
        <p:spPr>
          <a:xfrm>
            <a:off x="2005013" y="4848226"/>
            <a:ext cx="510901" cy="510901"/>
          </a:xfrm>
          <a:prstGeom prst="rect">
            <a:avLst/>
          </a:prstGeom>
        </p:spPr>
      </p:pic>
      <p:pic>
        <p:nvPicPr>
          <p:cNvPr id="9" name="Picture 8"/>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3757614" y="4824414"/>
            <a:ext cx="661986" cy="661986"/>
          </a:xfrm>
          <a:prstGeom prst="rect">
            <a:avLst/>
          </a:prstGeom>
        </p:spPr>
      </p:pic>
      <p:pic>
        <p:nvPicPr>
          <p:cNvPr id="10" name="Picture 9"/>
          <p:cNvPicPr>
            <a:picLocks noChangeAspect="1"/>
          </p:cNvPicPr>
          <p:nvPr/>
        </p:nvPicPr>
        <p:blipFill>
          <a:blip r:embed="rId7">
            <a:extLst>
              <a:ext uri="{BEBA8EAE-BF5A-486C-A8C5-ECC9F3942E4B}">
                <a14:imgProps xmlns:a14="http://schemas.microsoft.com/office/drawing/2010/main">
                  <a14:imgLayer r:embed="rId8">
                    <a14:imgEffect>
                      <a14:backgroundRemoval t="0" b="97115" l="0" r="100000"/>
                    </a14:imgEffect>
                  </a14:imgLayer>
                </a14:imgProps>
              </a:ext>
              <a:ext uri="{28A0092B-C50C-407E-A947-70E740481C1C}">
                <a14:useLocalDpi xmlns:a14="http://schemas.microsoft.com/office/drawing/2010/main" val="0"/>
              </a:ext>
            </a:extLst>
          </a:blip>
          <a:stretch>
            <a:fillRect/>
          </a:stretch>
        </p:blipFill>
        <p:spPr>
          <a:xfrm>
            <a:off x="5480538" y="4852987"/>
            <a:ext cx="539262" cy="609600"/>
          </a:xfrm>
          <a:prstGeom prst="rect">
            <a:avLst/>
          </a:prstGeom>
        </p:spPr>
      </p:pic>
      <p:pic>
        <p:nvPicPr>
          <p:cNvPr id="11" name="Picture 10"/>
          <p:cNvPicPr>
            <a:picLocks noChangeAspect="1"/>
          </p:cNvPicPr>
          <p:nvPr/>
        </p:nvPicPr>
        <p:blipFill rotWithShape="1">
          <a:blip r:embed="rId9" cstate="print">
            <a:extLst>
              <a:ext uri="{28A0092B-C50C-407E-A947-70E740481C1C}">
                <a14:useLocalDpi xmlns:a14="http://schemas.microsoft.com/office/drawing/2010/main" val="0"/>
              </a:ext>
            </a:extLst>
          </a:blip>
          <a:srcRect l="2647" t="-1" b="2410"/>
          <a:stretch/>
        </p:blipFill>
        <p:spPr>
          <a:xfrm>
            <a:off x="7164341" y="4825726"/>
            <a:ext cx="541057" cy="533400"/>
          </a:xfrm>
          <a:prstGeom prst="rect">
            <a:avLst/>
          </a:prstGeom>
        </p:spPr>
      </p:pic>
      <p:cxnSp>
        <p:nvCxnSpPr>
          <p:cNvPr id="4" name="Straight Arrow Connector 3"/>
          <p:cNvCxnSpPr/>
          <p:nvPr/>
        </p:nvCxnSpPr>
        <p:spPr>
          <a:xfrm>
            <a:off x="2924504" y="5715000"/>
            <a:ext cx="885497" cy="0"/>
          </a:xfrm>
          <a:prstGeom prst="straightConnector1">
            <a:avLst/>
          </a:prstGeom>
          <a:ln w="69850">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p:cNvCxnSpPr/>
          <p:nvPr/>
        </p:nvCxnSpPr>
        <p:spPr>
          <a:xfrm>
            <a:off x="4800601" y="5707117"/>
            <a:ext cx="885497" cy="0"/>
          </a:xfrm>
          <a:prstGeom prst="straightConnector1">
            <a:avLst/>
          </a:prstGeom>
          <a:ln w="69850">
            <a:tailEnd type="triangle"/>
          </a:ln>
        </p:spPr>
        <p:style>
          <a:lnRef idx="3">
            <a:schemeClr val="accent2"/>
          </a:lnRef>
          <a:fillRef idx="0">
            <a:schemeClr val="accent2"/>
          </a:fillRef>
          <a:effectRef idx="2">
            <a:schemeClr val="accent2"/>
          </a:effectRef>
          <a:fontRef idx="minor">
            <a:schemeClr val="tx1"/>
          </a:fontRef>
        </p:style>
      </p:cxnSp>
      <p:cxnSp>
        <p:nvCxnSpPr>
          <p:cNvPr id="15" name="Straight Arrow Connector 14"/>
          <p:cNvCxnSpPr/>
          <p:nvPr/>
        </p:nvCxnSpPr>
        <p:spPr>
          <a:xfrm>
            <a:off x="6477001" y="5707117"/>
            <a:ext cx="885497" cy="0"/>
          </a:xfrm>
          <a:prstGeom prst="straightConnector1">
            <a:avLst/>
          </a:prstGeom>
          <a:ln w="69850">
            <a:tailEnd type="triangle"/>
          </a:ln>
        </p:spPr>
        <p:style>
          <a:lnRef idx="3">
            <a:schemeClr val="accent2"/>
          </a:lnRef>
          <a:fillRef idx="0">
            <a:schemeClr val="accent2"/>
          </a:fillRef>
          <a:effectRef idx="2">
            <a:schemeClr val="accent2"/>
          </a:effectRef>
          <a:fontRef idx="minor">
            <a:schemeClr val="tx1"/>
          </a:fontRef>
        </p:style>
      </p:cxnSp>
      <p:cxnSp>
        <p:nvCxnSpPr>
          <p:cNvPr id="16" name="Straight Arrow Connector 15"/>
          <p:cNvCxnSpPr/>
          <p:nvPr/>
        </p:nvCxnSpPr>
        <p:spPr>
          <a:xfrm>
            <a:off x="8153401" y="5791200"/>
            <a:ext cx="885497" cy="0"/>
          </a:xfrm>
          <a:prstGeom prst="straightConnector1">
            <a:avLst/>
          </a:prstGeom>
          <a:ln w="69850">
            <a:tailEnd type="triangle"/>
          </a:ln>
        </p:spPr>
        <p:style>
          <a:lnRef idx="3">
            <a:schemeClr val="accent2"/>
          </a:lnRef>
          <a:fillRef idx="0">
            <a:schemeClr val="accent2"/>
          </a:fillRef>
          <a:effectRef idx="2">
            <a:schemeClr val="accent2"/>
          </a:effectRef>
          <a:fontRef idx="minor">
            <a:schemeClr val="tx1"/>
          </a:fontRef>
        </p:style>
      </p:cxnSp>
      <p:sp>
        <p:nvSpPr>
          <p:cNvPr id="12" name="TextBox 11"/>
          <p:cNvSpPr txBox="1"/>
          <p:nvPr/>
        </p:nvSpPr>
        <p:spPr>
          <a:xfrm>
            <a:off x="9038898" y="5574268"/>
            <a:ext cx="774571" cy="369332"/>
          </a:xfrm>
          <a:prstGeom prst="rect">
            <a:avLst/>
          </a:prstGeom>
          <a:noFill/>
        </p:spPr>
        <p:txBody>
          <a:bodyPr wrap="none" rtlCol="0">
            <a:spAutoFit/>
          </a:bodyPr>
          <a:lstStyle/>
          <a:p>
            <a:r>
              <a:rPr lang="en-US" dirty="0"/>
              <a:t>NULL</a:t>
            </a:r>
          </a:p>
        </p:txBody>
      </p:sp>
      <p:sp>
        <p:nvSpPr>
          <p:cNvPr id="3" name="TextBox 2">
            <a:extLst>
              <a:ext uri="{FF2B5EF4-FFF2-40B4-BE49-F238E27FC236}">
                <a16:creationId xmlns:a16="http://schemas.microsoft.com/office/drawing/2014/main" id="{5519FD11-F928-EDB4-1E88-3ADB9936E27A}"/>
              </a:ext>
            </a:extLst>
          </p:cNvPr>
          <p:cNvSpPr txBox="1"/>
          <p:nvPr/>
        </p:nvSpPr>
        <p:spPr>
          <a:xfrm>
            <a:off x="644629" y="918208"/>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Linked</a:t>
            </a:r>
          </a:p>
        </p:txBody>
      </p:sp>
      <p:cxnSp>
        <p:nvCxnSpPr>
          <p:cNvPr id="13" name="Straight Arrow Connector 12">
            <a:extLst>
              <a:ext uri="{FF2B5EF4-FFF2-40B4-BE49-F238E27FC236}">
                <a16:creationId xmlns:a16="http://schemas.microsoft.com/office/drawing/2014/main" id="{87A8477F-EFE5-D1A0-9EFB-A41BD4DB89F3}"/>
              </a:ext>
            </a:extLst>
          </p:cNvPr>
          <p:cNvCxnSpPr>
            <a:cxnSpLocks/>
          </p:cNvCxnSpPr>
          <p:nvPr/>
        </p:nvCxnSpPr>
        <p:spPr>
          <a:xfrm>
            <a:off x="1259840" y="4619627"/>
            <a:ext cx="645160" cy="484049"/>
          </a:xfrm>
          <a:prstGeom prst="straightConnector1">
            <a:avLst/>
          </a:prstGeom>
          <a:ln w="107950">
            <a:tailEnd type="triangle"/>
          </a:ln>
        </p:spPr>
        <p:style>
          <a:lnRef idx="3">
            <a:schemeClr val="accent2"/>
          </a:lnRef>
          <a:fillRef idx="0">
            <a:schemeClr val="accent2"/>
          </a:fillRef>
          <a:effectRef idx="2">
            <a:schemeClr val="accent2"/>
          </a:effectRef>
          <a:fontRef idx="minor">
            <a:schemeClr val="tx1"/>
          </a:fontRef>
        </p:style>
      </p:cxnSp>
      <p:sp>
        <p:nvSpPr>
          <p:cNvPr id="17" name="TextBox 16">
            <a:extLst>
              <a:ext uri="{FF2B5EF4-FFF2-40B4-BE49-F238E27FC236}">
                <a16:creationId xmlns:a16="http://schemas.microsoft.com/office/drawing/2014/main" id="{91B8C155-76A4-790F-1F43-05E50AFC5AD3}"/>
              </a:ext>
            </a:extLst>
          </p:cNvPr>
          <p:cNvSpPr txBox="1"/>
          <p:nvPr/>
        </p:nvSpPr>
        <p:spPr>
          <a:xfrm>
            <a:off x="652728" y="3788630"/>
            <a:ext cx="2271776" cy="830997"/>
          </a:xfrm>
          <a:prstGeom prst="rect">
            <a:avLst/>
          </a:prstGeom>
          <a:noFill/>
        </p:spPr>
        <p:txBody>
          <a:bodyPr wrap="none" rtlCol="0">
            <a:spAutoFit/>
          </a:bodyPr>
          <a:lstStyle/>
          <a:p>
            <a:r>
              <a:rPr lang="en-US" sz="4800" dirty="0">
                <a:latin typeface="Times New Roman" panose="02020603050405020304" pitchFamily="18" charset="0"/>
                <a:cs typeface="Times New Roman" panose="02020603050405020304" pitchFamily="18" charset="0"/>
              </a:rPr>
              <a:t>yourList</a:t>
            </a:r>
          </a:p>
        </p:txBody>
      </p:sp>
    </p:spTree>
    <p:extLst>
      <p:ext uri="{BB962C8B-B14F-4D97-AF65-F5344CB8AC3E}">
        <p14:creationId xmlns:p14="http://schemas.microsoft.com/office/powerpoint/2010/main" val="2051093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A1831-86E4-14F8-7725-D0690D230A2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4B77C3-4DF7-F906-3CE0-9FCCD48C7199}"/>
              </a:ext>
            </a:extLst>
          </p:cNvPr>
          <p:cNvSpPr>
            <a:spLocks noGrp="1"/>
          </p:cNvSpPr>
          <p:nvPr>
            <p:ph idx="1"/>
          </p:nvPr>
        </p:nvSpPr>
        <p:spPr>
          <a:xfrm>
            <a:off x="515984" y="2391799"/>
            <a:ext cx="11351761" cy="1570924"/>
          </a:xfrm>
        </p:spPr>
        <p:txBody>
          <a:bodyPr anchor="t" anchorCtr="0">
            <a:noAutofit/>
          </a:bodyPr>
          <a:lstStyle/>
          <a:p>
            <a:pPr>
              <a:lnSpc>
                <a:spcPct val="95000"/>
              </a:lnSpc>
              <a:spcAft>
                <a:spcPts val="450"/>
              </a:spcAft>
              <a:buFont typeface="Wingdings" pitchFamily="2" charset="2"/>
              <a:buChar char="Ø"/>
            </a:pPr>
            <a:r>
              <a:rPr lang="en-US" sz="4000" dirty="0"/>
              <a:t>It’s possible to keep pointers to the next AND the previous item in the list.</a:t>
            </a:r>
          </a:p>
        </p:txBody>
      </p:sp>
      <p:sp>
        <p:nvSpPr>
          <p:cNvPr id="2" name="TextBox 1">
            <a:extLst>
              <a:ext uri="{FF2B5EF4-FFF2-40B4-BE49-F238E27FC236}">
                <a16:creationId xmlns:a16="http://schemas.microsoft.com/office/drawing/2014/main" id="{99BD3DAC-8FF4-F95E-3F28-76BCECF52A3A}"/>
              </a:ext>
            </a:extLst>
          </p:cNvPr>
          <p:cNvSpPr txBox="1"/>
          <p:nvPr/>
        </p:nvSpPr>
        <p:spPr>
          <a:xfrm>
            <a:off x="899824" y="886949"/>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Doubly Linked Lists</a:t>
            </a:r>
          </a:p>
        </p:txBody>
      </p:sp>
      <p:sp>
        <p:nvSpPr>
          <p:cNvPr id="19" name="Rectangle 18">
            <a:extLst>
              <a:ext uri="{FF2B5EF4-FFF2-40B4-BE49-F238E27FC236}">
                <a16:creationId xmlns:a16="http://schemas.microsoft.com/office/drawing/2014/main" id="{846EC2CE-7443-888E-75AE-310C702F9FB2}"/>
              </a:ext>
            </a:extLst>
          </p:cNvPr>
          <p:cNvSpPr/>
          <p:nvPr/>
        </p:nvSpPr>
        <p:spPr>
          <a:xfrm>
            <a:off x="3396207" y="5030692"/>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Squirtle</a:t>
            </a:r>
          </a:p>
          <a:p>
            <a:pPr algn="ctr"/>
            <a:r>
              <a:rPr lang="en-US" dirty="0"/>
              <a:t>400</a:t>
            </a:r>
          </a:p>
        </p:txBody>
      </p:sp>
      <p:sp>
        <p:nvSpPr>
          <p:cNvPr id="20" name="Rectangle 19">
            <a:extLst>
              <a:ext uri="{FF2B5EF4-FFF2-40B4-BE49-F238E27FC236}">
                <a16:creationId xmlns:a16="http://schemas.microsoft.com/office/drawing/2014/main" id="{4B14A741-42B6-899C-CFE8-8487C50B1EA1}"/>
              </a:ext>
            </a:extLst>
          </p:cNvPr>
          <p:cNvSpPr/>
          <p:nvPr/>
        </p:nvSpPr>
        <p:spPr>
          <a:xfrm>
            <a:off x="5148807" y="5030692"/>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Eevee</a:t>
            </a:r>
            <a:br>
              <a:rPr lang="en-US" dirty="0"/>
            </a:br>
            <a:r>
              <a:rPr lang="en-US" dirty="0"/>
              <a:t>50</a:t>
            </a:r>
          </a:p>
        </p:txBody>
      </p:sp>
      <p:sp>
        <p:nvSpPr>
          <p:cNvPr id="21" name="Rectangle 20">
            <a:extLst>
              <a:ext uri="{FF2B5EF4-FFF2-40B4-BE49-F238E27FC236}">
                <a16:creationId xmlns:a16="http://schemas.microsoft.com/office/drawing/2014/main" id="{16D12BEE-733E-3690-F682-9BF473FC8E36}"/>
              </a:ext>
            </a:extLst>
          </p:cNvPr>
          <p:cNvSpPr/>
          <p:nvPr/>
        </p:nvSpPr>
        <p:spPr>
          <a:xfrm>
            <a:off x="6863307" y="5030692"/>
            <a:ext cx="1456997"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Charmander</a:t>
            </a:r>
          </a:p>
          <a:p>
            <a:pPr algn="ctr"/>
            <a:r>
              <a:rPr lang="en-US" dirty="0"/>
              <a:t>170</a:t>
            </a:r>
          </a:p>
        </p:txBody>
      </p:sp>
      <p:sp>
        <p:nvSpPr>
          <p:cNvPr id="22" name="Rectangle 21">
            <a:extLst>
              <a:ext uri="{FF2B5EF4-FFF2-40B4-BE49-F238E27FC236}">
                <a16:creationId xmlns:a16="http://schemas.microsoft.com/office/drawing/2014/main" id="{66D56F59-E3AD-A40C-8EF5-6367DCDBACAE}"/>
              </a:ext>
            </a:extLst>
          </p:cNvPr>
          <p:cNvSpPr/>
          <p:nvPr/>
        </p:nvSpPr>
        <p:spPr>
          <a:xfrm>
            <a:off x="8567297" y="5030692"/>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Pikachu</a:t>
            </a:r>
          </a:p>
          <a:p>
            <a:pPr algn="ctr"/>
            <a:r>
              <a:rPr lang="en-US" dirty="0"/>
              <a:t>500</a:t>
            </a:r>
          </a:p>
        </p:txBody>
      </p:sp>
      <p:pic>
        <p:nvPicPr>
          <p:cNvPr id="23" name="Picture 22">
            <a:extLst>
              <a:ext uri="{FF2B5EF4-FFF2-40B4-BE49-F238E27FC236}">
                <a16:creationId xmlns:a16="http://schemas.microsoft.com/office/drawing/2014/main" id="{9D19AF2A-5F68-FD72-5312-586B157C96D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0" b="94783" l="0" r="100000"/>
                    </a14:imgEffect>
                  </a14:imgLayer>
                </a14:imgProps>
              </a:ext>
              <a:ext uri="{28A0092B-C50C-407E-A947-70E740481C1C}">
                <a14:useLocalDpi xmlns:a14="http://schemas.microsoft.com/office/drawing/2010/main" val="0"/>
              </a:ext>
            </a:extLst>
          </a:blip>
          <a:stretch>
            <a:fillRect/>
          </a:stretch>
        </p:blipFill>
        <p:spPr>
          <a:xfrm>
            <a:off x="3496220" y="5078318"/>
            <a:ext cx="510901" cy="510901"/>
          </a:xfrm>
          <a:prstGeom prst="rect">
            <a:avLst/>
          </a:prstGeom>
        </p:spPr>
      </p:pic>
      <p:pic>
        <p:nvPicPr>
          <p:cNvPr id="24" name="Picture 23">
            <a:extLst>
              <a:ext uri="{FF2B5EF4-FFF2-40B4-BE49-F238E27FC236}">
                <a16:creationId xmlns:a16="http://schemas.microsoft.com/office/drawing/2014/main" id="{E36E9C00-AA75-CCFB-C863-E8F730C6382A}"/>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5248821" y="5054506"/>
            <a:ext cx="661986" cy="661986"/>
          </a:xfrm>
          <a:prstGeom prst="rect">
            <a:avLst/>
          </a:prstGeom>
        </p:spPr>
      </p:pic>
      <p:pic>
        <p:nvPicPr>
          <p:cNvPr id="25" name="Picture 24">
            <a:extLst>
              <a:ext uri="{FF2B5EF4-FFF2-40B4-BE49-F238E27FC236}">
                <a16:creationId xmlns:a16="http://schemas.microsoft.com/office/drawing/2014/main" id="{5428863E-0877-AD48-26B7-35B434C9C3AE}"/>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0" b="97115" l="0" r="100000"/>
                    </a14:imgEffect>
                  </a14:imgLayer>
                </a14:imgProps>
              </a:ext>
              <a:ext uri="{28A0092B-C50C-407E-A947-70E740481C1C}">
                <a14:useLocalDpi xmlns:a14="http://schemas.microsoft.com/office/drawing/2010/main" val="0"/>
              </a:ext>
            </a:extLst>
          </a:blip>
          <a:stretch>
            <a:fillRect/>
          </a:stretch>
        </p:blipFill>
        <p:spPr>
          <a:xfrm>
            <a:off x="6971745" y="5083079"/>
            <a:ext cx="539262" cy="609600"/>
          </a:xfrm>
          <a:prstGeom prst="rect">
            <a:avLst/>
          </a:prstGeom>
        </p:spPr>
      </p:pic>
      <p:pic>
        <p:nvPicPr>
          <p:cNvPr id="26" name="Picture 25">
            <a:extLst>
              <a:ext uri="{FF2B5EF4-FFF2-40B4-BE49-F238E27FC236}">
                <a16:creationId xmlns:a16="http://schemas.microsoft.com/office/drawing/2014/main" id="{67151057-27CF-C562-1516-13981B88EE83}"/>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2647" t="-1" b="2410"/>
          <a:stretch/>
        </p:blipFill>
        <p:spPr>
          <a:xfrm>
            <a:off x="8655548" y="5055818"/>
            <a:ext cx="541057" cy="533400"/>
          </a:xfrm>
          <a:prstGeom prst="rect">
            <a:avLst/>
          </a:prstGeom>
        </p:spPr>
      </p:pic>
      <p:cxnSp>
        <p:nvCxnSpPr>
          <p:cNvPr id="27" name="Straight Arrow Connector 26">
            <a:extLst>
              <a:ext uri="{FF2B5EF4-FFF2-40B4-BE49-F238E27FC236}">
                <a16:creationId xmlns:a16="http://schemas.microsoft.com/office/drawing/2014/main" id="{1E2D9197-1823-5F8B-D085-C311E76E18B5}"/>
              </a:ext>
            </a:extLst>
          </p:cNvPr>
          <p:cNvCxnSpPr/>
          <p:nvPr/>
        </p:nvCxnSpPr>
        <p:spPr>
          <a:xfrm>
            <a:off x="4415711" y="5945092"/>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28" name="Straight Arrow Connector 27">
            <a:extLst>
              <a:ext uri="{FF2B5EF4-FFF2-40B4-BE49-F238E27FC236}">
                <a16:creationId xmlns:a16="http://schemas.microsoft.com/office/drawing/2014/main" id="{DE4726F9-02B7-CBBC-F4B5-161336D62A30}"/>
              </a:ext>
            </a:extLst>
          </p:cNvPr>
          <p:cNvCxnSpPr/>
          <p:nvPr/>
        </p:nvCxnSpPr>
        <p:spPr>
          <a:xfrm>
            <a:off x="6291808" y="5937209"/>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29" name="Straight Arrow Connector 28">
            <a:extLst>
              <a:ext uri="{FF2B5EF4-FFF2-40B4-BE49-F238E27FC236}">
                <a16:creationId xmlns:a16="http://schemas.microsoft.com/office/drawing/2014/main" id="{17FD4B36-58A7-1078-57AD-338C9687F7E1}"/>
              </a:ext>
            </a:extLst>
          </p:cNvPr>
          <p:cNvCxnSpPr/>
          <p:nvPr/>
        </p:nvCxnSpPr>
        <p:spPr>
          <a:xfrm>
            <a:off x="7968208" y="5937209"/>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30" name="Straight Arrow Connector 29">
            <a:extLst>
              <a:ext uri="{FF2B5EF4-FFF2-40B4-BE49-F238E27FC236}">
                <a16:creationId xmlns:a16="http://schemas.microsoft.com/office/drawing/2014/main" id="{A433577E-A1C0-E47D-1470-721A445F0702}"/>
              </a:ext>
            </a:extLst>
          </p:cNvPr>
          <p:cNvCxnSpPr/>
          <p:nvPr/>
        </p:nvCxnSpPr>
        <p:spPr>
          <a:xfrm>
            <a:off x="9644608" y="6021292"/>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sp>
        <p:nvSpPr>
          <p:cNvPr id="31" name="TextBox 30">
            <a:extLst>
              <a:ext uri="{FF2B5EF4-FFF2-40B4-BE49-F238E27FC236}">
                <a16:creationId xmlns:a16="http://schemas.microsoft.com/office/drawing/2014/main" id="{0D0B0D71-2836-E31D-263C-8252CC995925}"/>
              </a:ext>
            </a:extLst>
          </p:cNvPr>
          <p:cNvSpPr txBox="1"/>
          <p:nvPr/>
        </p:nvSpPr>
        <p:spPr>
          <a:xfrm>
            <a:off x="10530105" y="5804360"/>
            <a:ext cx="774571" cy="369332"/>
          </a:xfrm>
          <a:prstGeom prst="rect">
            <a:avLst/>
          </a:prstGeom>
          <a:noFill/>
        </p:spPr>
        <p:txBody>
          <a:bodyPr wrap="none" rtlCol="0">
            <a:spAutoFit/>
          </a:bodyPr>
          <a:lstStyle/>
          <a:p>
            <a:r>
              <a:rPr lang="en-US" dirty="0"/>
              <a:t>NULL</a:t>
            </a:r>
          </a:p>
        </p:txBody>
      </p:sp>
      <p:cxnSp>
        <p:nvCxnSpPr>
          <p:cNvPr id="32" name="Straight Arrow Connector 31">
            <a:extLst>
              <a:ext uri="{FF2B5EF4-FFF2-40B4-BE49-F238E27FC236}">
                <a16:creationId xmlns:a16="http://schemas.microsoft.com/office/drawing/2014/main" id="{65146703-55D0-3184-88C9-33B3004320C1}"/>
              </a:ext>
            </a:extLst>
          </p:cNvPr>
          <p:cNvCxnSpPr>
            <a:cxnSpLocks/>
          </p:cNvCxnSpPr>
          <p:nvPr/>
        </p:nvCxnSpPr>
        <p:spPr>
          <a:xfrm>
            <a:off x="2751047" y="4849719"/>
            <a:ext cx="645160" cy="484049"/>
          </a:xfrm>
          <a:prstGeom prst="straightConnector1">
            <a:avLst/>
          </a:prstGeom>
          <a:ln w="107950">
            <a:tailEnd type="triangle"/>
          </a:ln>
        </p:spPr>
        <p:style>
          <a:lnRef idx="3">
            <a:schemeClr val="accent2"/>
          </a:lnRef>
          <a:fillRef idx="0">
            <a:schemeClr val="accent2"/>
          </a:fillRef>
          <a:effectRef idx="2">
            <a:schemeClr val="accent2"/>
          </a:effectRef>
          <a:fontRef idx="minor">
            <a:schemeClr val="tx1"/>
          </a:fontRef>
        </p:style>
      </p:cxnSp>
      <p:sp>
        <p:nvSpPr>
          <p:cNvPr id="33" name="TextBox 32">
            <a:extLst>
              <a:ext uri="{FF2B5EF4-FFF2-40B4-BE49-F238E27FC236}">
                <a16:creationId xmlns:a16="http://schemas.microsoft.com/office/drawing/2014/main" id="{6DB1BF6B-75AF-6224-256A-40ECE3EDC175}"/>
              </a:ext>
            </a:extLst>
          </p:cNvPr>
          <p:cNvSpPr txBox="1"/>
          <p:nvPr/>
        </p:nvSpPr>
        <p:spPr>
          <a:xfrm>
            <a:off x="2143935" y="4018722"/>
            <a:ext cx="2271776" cy="830997"/>
          </a:xfrm>
          <a:prstGeom prst="rect">
            <a:avLst/>
          </a:prstGeom>
          <a:noFill/>
        </p:spPr>
        <p:txBody>
          <a:bodyPr wrap="none" rtlCol="0">
            <a:spAutoFit/>
          </a:bodyPr>
          <a:lstStyle/>
          <a:p>
            <a:r>
              <a:rPr lang="en-US" sz="4800" dirty="0">
                <a:latin typeface="Times New Roman" panose="02020603050405020304" pitchFamily="18" charset="0"/>
                <a:cs typeface="Times New Roman" panose="02020603050405020304" pitchFamily="18" charset="0"/>
              </a:rPr>
              <a:t>yourList</a:t>
            </a:r>
          </a:p>
        </p:txBody>
      </p:sp>
      <p:cxnSp>
        <p:nvCxnSpPr>
          <p:cNvPr id="34" name="Straight Arrow Connector 33">
            <a:extLst>
              <a:ext uri="{FF2B5EF4-FFF2-40B4-BE49-F238E27FC236}">
                <a16:creationId xmlns:a16="http://schemas.microsoft.com/office/drawing/2014/main" id="{9B565C7C-73CC-61F7-11E7-4E8E8A2520F8}"/>
              </a:ext>
            </a:extLst>
          </p:cNvPr>
          <p:cNvCxnSpPr>
            <a:cxnSpLocks/>
          </p:cNvCxnSpPr>
          <p:nvPr/>
        </p:nvCxnSpPr>
        <p:spPr>
          <a:xfrm flipH="1">
            <a:off x="4457918" y="5435505"/>
            <a:ext cx="652789" cy="1"/>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0E6176E1-D6B4-590C-9286-6E7CA40CCFC0}"/>
              </a:ext>
            </a:extLst>
          </p:cNvPr>
          <p:cNvCxnSpPr>
            <a:cxnSpLocks/>
          </p:cNvCxnSpPr>
          <p:nvPr/>
        </p:nvCxnSpPr>
        <p:spPr>
          <a:xfrm flipH="1">
            <a:off x="6249109" y="5435505"/>
            <a:ext cx="614198"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36" name="Straight Arrow Connector 35">
            <a:extLst>
              <a:ext uri="{FF2B5EF4-FFF2-40B4-BE49-F238E27FC236}">
                <a16:creationId xmlns:a16="http://schemas.microsoft.com/office/drawing/2014/main" id="{6541772F-E139-15B0-1B82-0BA933CA775F}"/>
              </a:ext>
            </a:extLst>
          </p:cNvPr>
          <p:cNvCxnSpPr>
            <a:cxnSpLocks/>
          </p:cNvCxnSpPr>
          <p:nvPr/>
        </p:nvCxnSpPr>
        <p:spPr>
          <a:xfrm flipH="1">
            <a:off x="7988140" y="5333768"/>
            <a:ext cx="652789" cy="1"/>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37" name="Straight Arrow Connector 36">
            <a:extLst>
              <a:ext uri="{FF2B5EF4-FFF2-40B4-BE49-F238E27FC236}">
                <a16:creationId xmlns:a16="http://schemas.microsoft.com/office/drawing/2014/main" id="{605CF023-8E6D-D408-417A-764CEF7094BA}"/>
              </a:ext>
            </a:extLst>
          </p:cNvPr>
          <p:cNvCxnSpPr>
            <a:cxnSpLocks/>
          </p:cNvCxnSpPr>
          <p:nvPr/>
        </p:nvCxnSpPr>
        <p:spPr>
          <a:xfrm flipH="1">
            <a:off x="2718676" y="5595707"/>
            <a:ext cx="813325"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sp>
        <p:nvSpPr>
          <p:cNvPr id="38" name="TextBox 37">
            <a:extLst>
              <a:ext uri="{FF2B5EF4-FFF2-40B4-BE49-F238E27FC236}">
                <a16:creationId xmlns:a16="http://schemas.microsoft.com/office/drawing/2014/main" id="{E800B81D-D778-22DC-E5FC-7FEDD1A13370}"/>
              </a:ext>
            </a:extLst>
          </p:cNvPr>
          <p:cNvSpPr txBox="1"/>
          <p:nvPr/>
        </p:nvSpPr>
        <p:spPr>
          <a:xfrm>
            <a:off x="2065200" y="5374622"/>
            <a:ext cx="774571" cy="369332"/>
          </a:xfrm>
          <a:prstGeom prst="rect">
            <a:avLst/>
          </a:prstGeom>
          <a:noFill/>
        </p:spPr>
        <p:txBody>
          <a:bodyPr wrap="none" rtlCol="0">
            <a:spAutoFit/>
          </a:bodyPr>
          <a:lstStyle/>
          <a:p>
            <a:r>
              <a:rPr lang="en-US" dirty="0"/>
              <a:t>NULL</a:t>
            </a:r>
          </a:p>
        </p:txBody>
      </p:sp>
    </p:spTree>
    <p:extLst>
      <p:ext uri="{BB962C8B-B14F-4D97-AF65-F5344CB8AC3E}">
        <p14:creationId xmlns:p14="http://schemas.microsoft.com/office/powerpoint/2010/main" val="4286052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3"/>
          <p:cNvSpPr>
            <a:spLocks noGrp="1" noChangeArrowheads="1"/>
          </p:cNvSpPr>
          <p:nvPr>
            <p:ph idx="1"/>
          </p:nvPr>
        </p:nvSpPr>
        <p:spPr>
          <a:xfrm>
            <a:off x="6096000" y="1903679"/>
            <a:ext cx="3407165" cy="2902924"/>
          </a:xfrm>
        </p:spPr>
        <p:txBody>
          <a:bodyPr anchor="t" anchorCtr="0">
            <a:normAutofit fontScale="70000" lnSpcReduction="20000"/>
          </a:bodyPr>
          <a:lstStyle/>
          <a:p>
            <a:pPr marL="0" indent="0">
              <a:buNone/>
            </a:pPr>
            <a:r>
              <a:rPr lang="en-US" altLang="en-US" sz="3300" dirty="0"/>
              <a:t>typedef struct pokemon{</a:t>
            </a:r>
          </a:p>
          <a:p>
            <a:pPr marL="0" indent="0">
              <a:buNone/>
            </a:pPr>
            <a:r>
              <a:rPr lang="en-US" altLang="en-US" sz="3300" dirty="0"/>
              <a:t>      char name[30];</a:t>
            </a:r>
            <a:br>
              <a:rPr lang="en-US" altLang="en-US" sz="3300" dirty="0"/>
            </a:br>
            <a:r>
              <a:rPr lang="en-US" altLang="en-US" sz="3300" dirty="0"/>
              <a:t>	int cp;</a:t>
            </a:r>
            <a:br>
              <a:rPr lang="en-US" altLang="en-US" sz="3300" dirty="0"/>
            </a:br>
            <a:r>
              <a:rPr lang="en-US" altLang="en-US" sz="3300" dirty="0"/>
              <a:t>	struct pokemon* next;</a:t>
            </a:r>
            <a:br>
              <a:rPr lang="en-US" altLang="en-US" sz="3300" dirty="0"/>
            </a:br>
            <a:r>
              <a:rPr lang="en-US" altLang="en-US" sz="3300" dirty="0"/>
              <a:t>      struct pokemon* prev;</a:t>
            </a:r>
          </a:p>
          <a:p>
            <a:pPr marL="0" indent="0" eaLnBrk="1" hangingPunct="1">
              <a:buNone/>
            </a:pPr>
            <a:r>
              <a:rPr lang="en-US" altLang="en-US" sz="3300" dirty="0"/>
              <a:t>} Pokemon;</a:t>
            </a:r>
          </a:p>
          <a:p>
            <a:pPr marL="0" indent="0">
              <a:buNone/>
            </a:pPr>
            <a:endParaRPr lang="en-US" altLang="en-US" sz="2800" dirty="0">
              <a:solidFill>
                <a:srgbClr val="0070C0"/>
              </a:solidFill>
            </a:endParaRPr>
          </a:p>
          <a:p>
            <a:pPr marL="0" indent="0">
              <a:buNone/>
            </a:pPr>
            <a:r>
              <a:rPr lang="en-US" altLang="en-US" sz="2800" dirty="0"/>
              <a:t>  </a:t>
            </a:r>
          </a:p>
        </p:txBody>
      </p:sp>
      <p:sp>
        <p:nvSpPr>
          <p:cNvPr id="2" name="Rectangle 1"/>
          <p:cNvSpPr/>
          <p:nvPr/>
        </p:nvSpPr>
        <p:spPr>
          <a:xfrm>
            <a:off x="190500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Squirtle</a:t>
            </a:r>
          </a:p>
          <a:p>
            <a:pPr algn="ctr"/>
            <a:r>
              <a:rPr lang="en-US" dirty="0"/>
              <a:t>400</a:t>
            </a:r>
          </a:p>
        </p:txBody>
      </p:sp>
      <p:sp>
        <p:nvSpPr>
          <p:cNvPr id="5" name="Rectangle 4"/>
          <p:cNvSpPr/>
          <p:nvPr/>
        </p:nvSpPr>
        <p:spPr>
          <a:xfrm>
            <a:off x="365760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Eevee</a:t>
            </a:r>
            <a:br>
              <a:rPr lang="en-US" dirty="0"/>
            </a:br>
            <a:r>
              <a:rPr lang="en-US" dirty="0"/>
              <a:t>50</a:t>
            </a:r>
          </a:p>
        </p:txBody>
      </p:sp>
      <p:sp>
        <p:nvSpPr>
          <p:cNvPr id="6" name="Rectangle 5"/>
          <p:cNvSpPr/>
          <p:nvPr/>
        </p:nvSpPr>
        <p:spPr>
          <a:xfrm>
            <a:off x="5372100" y="4800600"/>
            <a:ext cx="1456997"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Charmander</a:t>
            </a:r>
          </a:p>
          <a:p>
            <a:pPr algn="ctr"/>
            <a:r>
              <a:rPr lang="en-US" dirty="0"/>
              <a:t>170</a:t>
            </a:r>
          </a:p>
        </p:txBody>
      </p:sp>
      <p:sp>
        <p:nvSpPr>
          <p:cNvPr id="7" name="Rectangle 6"/>
          <p:cNvSpPr/>
          <p:nvPr/>
        </p:nvSpPr>
        <p:spPr>
          <a:xfrm>
            <a:off x="707609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Pikachu</a:t>
            </a:r>
          </a:p>
          <a:p>
            <a:pPr algn="ctr"/>
            <a:r>
              <a:rPr lang="en-US" dirty="0"/>
              <a:t>500</a:t>
            </a:r>
          </a:p>
        </p:txBody>
      </p:sp>
      <p:pic>
        <p:nvPicPr>
          <p:cNvPr id="8" name="Picture 7"/>
          <p:cNvPicPr>
            <a:picLocks noChangeAspect="1"/>
          </p:cNvPicPr>
          <p:nvPr/>
        </p:nvPicPr>
        <p:blipFill>
          <a:blip r:embed="rId3">
            <a:extLst>
              <a:ext uri="{BEBA8EAE-BF5A-486C-A8C5-ECC9F3942E4B}">
                <a14:imgProps xmlns:a14="http://schemas.microsoft.com/office/drawing/2010/main">
                  <a14:imgLayer r:embed="rId4">
                    <a14:imgEffect>
                      <a14:backgroundRemoval t="0" b="94783" l="0" r="100000"/>
                    </a14:imgEffect>
                  </a14:imgLayer>
                </a14:imgProps>
              </a:ext>
              <a:ext uri="{28A0092B-C50C-407E-A947-70E740481C1C}">
                <a14:useLocalDpi xmlns:a14="http://schemas.microsoft.com/office/drawing/2010/main" val="0"/>
              </a:ext>
            </a:extLst>
          </a:blip>
          <a:stretch>
            <a:fillRect/>
          </a:stretch>
        </p:blipFill>
        <p:spPr>
          <a:xfrm>
            <a:off x="2005013" y="4848226"/>
            <a:ext cx="510901" cy="510901"/>
          </a:xfrm>
          <a:prstGeom prst="rect">
            <a:avLst/>
          </a:prstGeom>
        </p:spPr>
      </p:pic>
      <p:pic>
        <p:nvPicPr>
          <p:cNvPr id="9" name="Picture 8"/>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3757614" y="4824414"/>
            <a:ext cx="661986" cy="661986"/>
          </a:xfrm>
          <a:prstGeom prst="rect">
            <a:avLst/>
          </a:prstGeom>
        </p:spPr>
      </p:pic>
      <p:pic>
        <p:nvPicPr>
          <p:cNvPr id="10" name="Picture 9"/>
          <p:cNvPicPr>
            <a:picLocks noChangeAspect="1"/>
          </p:cNvPicPr>
          <p:nvPr/>
        </p:nvPicPr>
        <p:blipFill>
          <a:blip r:embed="rId7">
            <a:extLst>
              <a:ext uri="{BEBA8EAE-BF5A-486C-A8C5-ECC9F3942E4B}">
                <a14:imgProps xmlns:a14="http://schemas.microsoft.com/office/drawing/2010/main">
                  <a14:imgLayer r:embed="rId8">
                    <a14:imgEffect>
                      <a14:backgroundRemoval t="0" b="97115" l="0" r="100000"/>
                    </a14:imgEffect>
                  </a14:imgLayer>
                </a14:imgProps>
              </a:ext>
              <a:ext uri="{28A0092B-C50C-407E-A947-70E740481C1C}">
                <a14:useLocalDpi xmlns:a14="http://schemas.microsoft.com/office/drawing/2010/main" val="0"/>
              </a:ext>
            </a:extLst>
          </a:blip>
          <a:stretch>
            <a:fillRect/>
          </a:stretch>
        </p:blipFill>
        <p:spPr>
          <a:xfrm>
            <a:off x="5480538" y="4852987"/>
            <a:ext cx="539262" cy="609600"/>
          </a:xfrm>
          <a:prstGeom prst="rect">
            <a:avLst/>
          </a:prstGeom>
        </p:spPr>
      </p:pic>
      <p:pic>
        <p:nvPicPr>
          <p:cNvPr id="11" name="Picture 10"/>
          <p:cNvPicPr>
            <a:picLocks noChangeAspect="1"/>
          </p:cNvPicPr>
          <p:nvPr/>
        </p:nvPicPr>
        <p:blipFill rotWithShape="1">
          <a:blip r:embed="rId9" cstate="print">
            <a:extLst>
              <a:ext uri="{28A0092B-C50C-407E-A947-70E740481C1C}">
                <a14:useLocalDpi xmlns:a14="http://schemas.microsoft.com/office/drawing/2010/main" val="0"/>
              </a:ext>
            </a:extLst>
          </a:blip>
          <a:srcRect l="2647" t="-1" b="2410"/>
          <a:stretch/>
        </p:blipFill>
        <p:spPr>
          <a:xfrm>
            <a:off x="7164341" y="4825726"/>
            <a:ext cx="541057" cy="533400"/>
          </a:xfrm>
          <a:prstGeom prst="rect">
            <a:avLst/>
          </a:prstGeom>
        </p:spPr>
      </p:pic>
      <p:cxnSp>
        <p:nvCxnSpPr>
          <p:cNvPr id="4" name="Straight Arrow Connector 3"/>
          <p:cNvCxnSpPr/>
          <p:nvPr/>
        </p:nvCxnSpPr>
        <p:spPr>
          <a:xfrm>
            <a:off x="2924504" y="5715000"/>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p:cNvCxnSpPr/>
          <p:nvPr/>
        </p:nvCxnSpPr>
        <p:spPr>
          <a:xfrm>
            <a:off x="4800601" y="5707117"/>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15" name="Straight Arrow Connector 14"/>
          <p:cNvCxnSpPr/>
          <p:nvPr/>
        </p:nvCxnSpPr>
        <p:spPr>
          <a:xfrm>
            <a:off x="6477001" y="5707117"/>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16" name="Straight Arrow Connector 15"/>
          <p:cNvCxnSpPr/>
          <p:nvPr/>
        </p:nvCxnSpPr>
        <p:spPr>
          <a:xfrm>
            <a:off x="8153401" y="5791200"/>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sp>
        <p:nvSpPr>
          <p:cNvPr id="12" name="TextBox 11"/>
          <p:cNvSpPr txBox="1"/>
          <p:nvPr/>
        </p:nvSpPr>
        <p:spPr>
          <a:xfrm>
            <a:off x="9038898" y="5574268"/>
            <a:ext cx="774571" cy="369332"/>
          </a:xfrm>
          <a:prstGeom prst="rect">
            <a:avLst/>
          </a:prstGeom>
          <a:noFill/>
        </p:spPr>
        <p:txBody>
          <a:bodyPr wrap="none" rtlCol="0">
            <a:spAutoFit/>
          </a:bodyPr>
          <a:lstStyle/>
          <a:p>
            <a:r>
              <a:rPr lang="en-US" dirty="0"/>
              <a:t>NULL</a:t>
            </a:r>
          </a:p>
        </p:txBody>
      </p:sp>
      <p:sp>
        <p:nvSpPr>
          <p:cNvPr id="3" name="TextBox 2">
            <a:extLst>
              <a:ext uri="{FF2B5EF4-FFF2-40B4-BE49-F238E27FC236}">
                <a16:creationId xmlns:a16="http://schemas.microsoft.com/office/drawing/2014/main" id="{5519FD11-F928-EDB4-1E88-3ADB9936E27A}"/>
              </a:ext>
            </a:extLst>
          </p:cNvPr>
          <p:cNvSpPr txBox="1"/>
          <p:nvPr/>
        </p:nvSpPr>
        <p:spPr>
          <a:xfrm>
            <a:off x="644629" y="918208"/>
            <a:ext cx="10165611" cy="715581"/>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Doubly Linked List of Pokémon</a:t>
            </a:r>
          </a:p>
        </p:txBody>
      </p:sp>
      <p:cxnSp>
        <p:nvCxnSpPr>
          <p:cNvPr id="13" name="Straight Arrow Connector 12">
            <a:extLst>
              <a:ext uri="{FF2B5EF4-FFF2-40B4-BE49-F238E27FC236}">
                <a16:creationId xmlns:a16="http://schemas.microsoft.com/office/drawing/2014/main" id="{2CC4F1C6-321B-A702-21F1-A15C1D4307D4}"/>
              </a:ext>
            </a:extLst>
          </p:cNvPr>
          <p:cNvCxnSpPr>
            <a:cxnSpLocks/>
          </p:cNvCxnSpPr>
          <p:nvPr/>
        </p:nvCxnSpPr>
        <p:spPr>
          <a:xfrm>
            <a:off x="1259840" y="4619627"/>
            <a:ext cx="645160" cy="484049"/>
          </a:xfrm>
          <a:prstGeom prst="straightConnector1">
            <a:avLst/>
          </a:prstGeom>
          <a:ln w="107950">
            <a:tailEnd type="triangle"/>
          </a:ln>
        </p:spPr>
        <p:style>
          <a:lnRef idx="3">
            <a:schemeClr val="accent2"/>
          </a:lnRef>
          <a:fillRef idx="0">
            <a:schemeClr val="accent2"/>
          </a:fillRef>
          <a:effectRef idx="2">
            <a:schemeClr val="accent2"/>
          </a:effectRef>
          <a:fontRef idx="minor">
            <a:schemeClr val="tx1"/>
          </a:fontRef>
        </p:style>
      </p:cxnSp>
      <p:sp>
        <p:nvSpPr>
          <p:cNvPr id="17" name="TextBox 16">
            <a:extLst>
              <a:ext uri="{FF2B5EF4-FFF2-40B4-BE49-F238E27FC236}">
                <a16:creationId xmlns:a16="http://schemas.microsoft.com/office/drawing/2014/main" id="{FF4695B1-1F01-FB53-AEEC-D0BBEC03457C}"/>
              </a:ext>
            </a:extLst>
          </p:cNvPr>
          <p:cNvSpPr txBox="1"/>
          <p:nvPr/>
        </p:nvSpPr>
        <p:spPr>
          <a:xfrm>
            <a:off x="644629" y="4038658"/>
            <a:ext cx="1574470" cy="584775"/>
          </a:xfrm>
          <a:prstGeom prst="rect">
            <a:avLst/>
          </a:prstGeom>
          <a:noFill/>
        </p:spPr>
        <p:txBody>
          <a:bodyPr wrap="none" rtlCol="0">
            <a:spAutoFit/>
          </a:bodyPr>
          <a:lstStyle/>
          <a:p>
            <a:r>
              <a:rPr lang="en-US" sz="3200" dirty="0">
                <a:latin typeface="Times New Roman" panose="02020603050405020304" pitchFamily="18" charset="0"/>
                <a:cs typeface="Times New Roman" panose="02020603050405020304" pitchFamily="18" charset="0"/>
              </a:rPr>
              <a:t>yourList</a:t>
            </a:r>
          </a:p>
        </p:txBody>
      </p:sp>
      <p:cxnSp>
        <p:nvCxnSpPr>
          <p:cNvPr id="18" name="Straight Arrow Connector 17">
            <a:extLst>
              <a:ext uri="{FF2B5EF4-FFF2-40B4-BE49-F238E27FC236}">
                <a16:creationId xmlns:a16="http://schemas.microsoft.com/office/drawing/2014/main" id="{257521D7-A134-1297-88E4-52E7603E3D63}"/>
              </a:ext>
            </a:extLst>
          </p:cNvPr>
          <p:cNvCxnSpPr>
            <a:cxnSpLocks/>
          </p:cNvCxnSpPr>
          <p:nvPr/>
        </p:nvCxnSpPr>
        <p:spPr>
          <a:xfrm flipH="1">
            <a:off x="2966711" y="5205413"/>
            <a:ext cx="652789" cy="1"/>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22" name="Straight Arrow Connector 21">
            <a:extLst>
              <a:ext uri="{FF2B5EF4-FFF2-40B4-BE49-F238E27FC236}">
                <a16:creationId xmlns:a16="http://schemas.microsoft.com/office/drawing/2014/main" id="{1EDCD068-2FB0-FEE5-A84D-78E7D3FD09F6}"/>
              </a:ext>
            </a:extLst>
          </p:cNvPr>
          <p:cNvCxnSpPr>
            <a:cxnSpLocks/>
          </p:cNvCxnSpPr>
          <p:nvPr/>
        </p:nvCxnSpPr>
        <p:spPr>
          <a:xfrm flipH="1">
            <a:off x="4757902" y="5205413"/>
            <a:ext cx="614198"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25" name="Straight Arrow Connector 24">
            <a:extLst>
              <a:ext uri="{FF2B5EF4-FFF2-40B4-BE49-F238E27FC236}">
                <a16:creationId xmlns:a16="http://schemas.microsoft.com/office/drawing/2014/main" id="{11DF4D4A-766E-6E6D-16ED-8A3F73640534}"/>
              </a:ext>
            </a:extLst>
          </p:cNvPr>
          <p:cNvCxnSpPr>
            <a:cxnSpLocks/>
          </p:cNvCxnSpPr>
          <p:nvPr/>
        </p:nvCxnSpPr>
        <p:spPr>
          <a:xfrm flipH="1">
            <a:off x="6496933" y="5103676"/>
            <a:ext cx="652789" cy="1"/>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19" name="Straight Arrow Connector 18">
            <a:extLst>
              <a:ext uri="{FF2B5EF4-FFF2-40B4-BE49-F238E27FC236}">
                <a16:creationId xmlns:a16="http://schemas.microsoft.com/office/drawing/2014/main" id="{EE740560-FE0C-1FC0-A349-2D880AB695DE}"/>
              </a:ext>
            </a:extLst>
          </p:cNvPr>
          <p:cNvCxnSpPr>
            <a:cxnSpLocks/>
          </p:cNvCxnSpPr>
          <p:nvPr/>
        </p:nvCxnSpPr>
        <p:spPr>
          <a:xfrm flipH="1">
            <a:off x="1227469" y="5365615"/>
            <a:ext cx="813325"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sp>
        <p:nvSpPr>
          <p:cNvPr id="21" name="TextBox 20">
            <a:extLst>
              <a:ext uri="{FF2B5EF4-FFF2-40B4-BE49-F238E27FC236}">
                <a16:creationId xmlns:a16="http://schemas.microsoft.com/office/drawing/2014/main" id="{80961107-75E7-BAC8-1023-C2DD82C9C8E6}"/>
              </a:ext>
            </a:extLst>
          </p:cNvPr>
          <p:cNvSpPr txBox="1"/>
          <p:nvPr/>
        </p:nvSpPr>
        <p:spPr>
          <a:xfrm>
            <a:off x="573993" y="5144530"/>
            <a:ext cx="774571" cy="369332"/>
          </a:xfrm>
          <a:prstGeom prst="rect">
            <a:avLst/>
          </a:prstGeom>
          <a:noFill/>
        </p:spPr>
        <p:txBody>
          <a:bodyPr wrap="none" rtlCol="0">
            <a:spAutoFit/>
          </a:bodyPr>
          <a:lstStyle/>
          <a:p>
            <a:r>
              <a:rPr lang="en-US" dirty="0"/>
              <a:t>NULL</a:t>
            </a:r>
          </a:p>
        </p:txBody>
      </p:sp>
    </p:spTree>
    <p:extLst>
      <p:ext uri="{BB962C8B-B14F-4D97-AF65-F5344CB8AC3E}">
        <p14:creationId xmlns:p14="http://schemas.microsoft.com/office/powerpoint/2010/main" val="1404745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3"/>
          <p:cNvSpPr>
            <a:spLocks noGrp="1" noChangeArrowheads="1"/>
          </p:cNvSpPr>
          <p:nvPr>
            <p:ph idx="1"/>
          </p:nvPr>
        </p:nvSpPr>
        <p:spPr>
          <a:xfrm>
            <a:off x="533400" y="2048352"/>
            <a:ext cx="11005872" cy="2342659"/>
          </a:xfrm>
        </p:spPr>
        <p:txBody>
          <a:bodyPr anchor="t" anchorCtr="0">
            <a:normAutofit/>
          </a:bodyPr>
          <a:lstStyle/>
          <a:p>
            <a:pPr marL="0" indent="0">
              <a:buNone/>
            </a:pPr>
            <a:r>
              <a:rPr lang="en-US" altLang="en-US" sz="3500" dirty="0">
                <a:solidFill>
                  <a:schemeClr val="tx1"/>
                </a:solidFill>
              </a:rPr>
              <a:t>A </a:t>
            </a:r>
            <a:r>
              <a:rPr lang="en-US" altLang="en-US" sz="3500" dirty="0">
                <a:solidFill>
                  <a:srgbClr val="00B0F0"/>
                </a:solidFill>
              </a:rPr>
              <a:t>d</a:t>
            </a:r>
            <a:r>
              <a:rPr lang="en-US" altLang="en-US" sz="3500" dirty="0">
                <a:solidFill>
                  <a:schemeClr val="tx1"/>
                </a:solidFill>
              </a:rPr>
              <a:t>ouble-</a:t>
            </a:r>
            <a:r>
              <a:rPr lang="en-US" altLang="en-US" sz="3500" dirty="0">
                <a:solidFill>
                  <a:srgbClr val="00B0F0"/>
                </a:solidFill>
              </a:rPr>
              <a:t>e</a:t>
            </a:r>
            <a:r>
              <a:rPr lang="en-US" altLang="en-US" sz="3500" dirty="0">
                <a:solidFill>
                  <a:schemeClr val="tx1"/>
                </a:solidFill>
              </a:rPr>
              <a:t>nded </a:t>
            </a:r>
            <a:r>
              <a:rPr lang="en-US" altLang="en-US" sz="3500" dirty="0">
                <a:solidFill>
                  <a:srgbClr val="00B0F0"/>
                </a:solidFill>
              </a:rPr>
              <a:t>qu</a:t>
            </a:r>
            <a:r>
              <a:rPr lang="en-US" altLang="en-US" sz="3500" dirty="0">
                <a:solidFill>
                  <a:schemeClr val="tx1"/>
                </a:solidFill>
              </a:rPr>
              <a:t>eue (deque) is a linked list with pointers at the beginning and end.  </a:t>
            </a:r>
          </a:p>
          <a:p>
            <a:pPr marL="0" indent="0">
              <a:buNone/>
            </a:pPr>
            <a:endParaRPr lang="en-US" altLang="en-US" sz="2800" dirty="0">
              <a:solidFill>
                <a:srgbClr val="0070C0"/>
              </a:solidFill>
            </a:endParaRPr>
          </a:p>
          <a:p>
            <a:pPr marL="0" indent="0">
              <a:buNone/>
            </a:pPr>
            <a:r>
              <a:rPr lang="en-US" altLang="en-US" sz="2800" dirty="0"/>
              <a:t>  </a:t>
            </a:r>
          </a:p>
        </p:txBody>
      </p:sp>
      <p:sp>
        <p:nvSpPr>
          <p:cNvPr id="2" name="Rectangle 1"/>
          <p:cNvSpPr/>
          <p:nvPr/>
        </p:nvSpPr>
        <p:spPr>
          <a:xfrm>
            <a:off x="190500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Squirtle</a:t>
            </a:r>
          </a:p>
          <a:p>
            <a:pPr algn="ctr"/>
            <a:r>
              <a:rPr lang="en-US" dirty="0"/>
              <a:t>400</a:t>
            </a:r>
          </a:p>
        </p:txBody>
      </p:sp>
      <p:sp>
        <p:nvSpPr>
          <p:cNvPr id="5" name="Rectangle 4"/>
          <p:cNvSpPr/>
          <p:nvPr/>
        </p:nvSpPr>
        <p:spPr>
          <a:xfrm>
            <a:off x="365760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Eevee</a:t>
            </a:r>
            <a:br>
              <a:rPr lang="en-US" dirty="0"/>
            </a:br>
            <a:r>
              <a:rPr lang="en-US" dirty="0"/>
              <a:t>50</a:t>
            </a:r>
          </a:p>
        </p:txBody>
      </p:sp>
      <p:sp>
        <p:nvSpPr>
          <p:cNvPr id="6" name="Rectangle 5"/>
          <p:cNvSpPr/>
          <p:nvPr/>
        </p:nvSpPr>
        <p:spPr>
          <a:xfrm>
            <a:off x="5372100" y="4800600"/>
            <a:ext cx="1456997"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Charmander</a:t>
            </a:r>
          </a:p>
          <a:p>
            <a:pPr algn="ctr"/>
            <a:r>
              <a:rPr lang="en-US" dirty="0"/>
              <a:t>170</a:t>
            </a:r>
          </a:p>
        </p:txBody>
      </p:sp>
      <p:sp>
        <p:nvSpPr>
          <p:cNvPr id="7" name="Rectangle 6"/>
          <p:cNvSpPr/>
          <p:nvPr/>
        </p:nvSpPr>
        <p:spPr>
          <a:xfrm>
            <a:off x="707609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Pikachu</a:t>
            </a:r>
          </a:p>
          <a:p>
            <a:pPr algn="ctr"/>
            <a:r>
              <a:rPr lang="en-US" dirty="0"/>
              <a:t>500</a:t>
            </a:r>
          </a:p>
        </p:txBody>
      </p:sp>
      <p:pic>
        <p:nvPicPr>
          <p:cNvPr id="8" name="Picture 7"/>
          <p:cNvPicPr>
            <a:picLocks noChangeAspect="1"/>
          </p:cNvPicPr>
          <p:nvPr/>
        </p:nvPicPr>
        <p:blipFill>
          <a:blip r:embed="rId3">
            <a:extLst>
              <a:ext uri="{BEBA8EAE-BF5A-486C-A8C5-ECC9F3942E4B}">
                <a14:imgProps xmlns:a14="http://schemas.microsoft.com/office/drawing/2010/main">
                  <a14:imgLayer r:embed="rId4">
                    <a14:imgEffect>
                      <a14:backgroundRemoval t="0" b="94783" l="0" r="100000"/>
                    </a14:imgEffect>
                  </a14:imgLayer>
                </a14:imgProps>
              </a:ext>
              <a:ext uri="{28A0092B-C50C-407E-A947-70E740481C1C}">
                <a14:useLocalDpi xmlns:a14="http://schemas.microsoft.com/office/drawing/2010/main" val="0"/>
              </a:ext>
            </a:extLst>
          </a:blip>
          <a:stretch>
            <a:fillRect/>
          </a:stretch>
        </p:blipFill>
        <p:spPr>
          <a:xfrm>
            <a:off x="2005013" y="4848226"/>
            <a:ext cx="510901" cy="510901"/>
          </a:xfrm>
          <a:prstGeom prst="rect">
            <a:avLst/>
          </a:prstGeom>
        </p:spPr>
      </p:pic>
      <p:pic>
        <p:nvPicPr>
          <p:cNvPr id="9" name="Picture 8"/>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3757614" y="4824414"/>
            <a:ext cx="661986" cy="661986"/>
          </a:xfrm>
          <a:prstGeom prst="rect">
            <a:avLst/>
          </a:prstGeom>
        </p:spPr>
      </p:pic>
      <p:pic>
        <p:nvPicPr>
          <p:cNvPr id="10" name="Picture 9"/>
          <p:cNvPicPr>
            <a:picLocks noChangeAspect="1"/>
          </p:cNvPicPr>
          <p:nvPr/>
        </p:nvPicPr>
        <p:blipFill>
          <a:blip r:embed="rId7">
            <a:extLst>
              <a:ext uri="{BEBA8EAE-BF5A-486C-A8C5-ECC9F3942E4B}">
                <a14:imgProps xmlns:a14="http://schemas.microsoft.com/office/drawing/2010/main">
                  <a14:imgLayer r:embed="rId8">
                    <a14:imgEffect>
                      <a14:backgroundRemoval t="0" b="97115" l="0" r="100000"/>
                    </a14:imgEffect>
                  </a14:imgLayer>
                </a14:imgProps>
              </a:ext>
              <a:ext uri="{28A0092B-C50C-407E-A947-70E740481C1C}">
                <a14:useLocalDpi xmlns:a14="http://schemas.microsoft.com/office/drawing/2010/main" val="0"/>
              </a:ext>
            </a:extLst>
          </a:blip>
          <a:stretch>
            <a:fillRect/>
          </a:stretch>
        </p:blipFill>
        <p:spPr>
          <a:xfrm>
            <a:off x="5480538" y="4852987"/>
            <a:ext cx="539262" cy="609600"/>
          </a:xfrm>
          <a:prstGeom prst="rect">
            <a:avLst/>
          </a:prstGeom>
        </p:spPr>
      </p:pic>
      <p:pic>
        <p:nvPicPr>
          <p:cNvPr id="11" name="Picture 10"/>
          <p:cNvPicPr>
            <a:picLocks noChangeAspect="1"/>
          </p:cNvPicPr>
          <p:nvPr/>
        </p:nvPicPr>
        <p:blipFill rotWithShape="1">
          <a:blip r:embed="rId9" cstate="print">
            <a:extLst>
              <a:ext uri="{28A0092B-C50C-407E-A947-70E740481C1C}">
                <a14:useLocalDpi xmlns:a14="http://schemas.microsoft.com/office/drawing/2010/main" val="0"/>
              </a:ext>
            </a:extLst>
          </a:blip>
          <a:srcRect l="2647" t="-1" b="2410"/>
          <a:stretch/>
        </p:blipFill>
        <p:spPr>
          <a:xfrm>
            <a:off x="7164341" y="4825726"/>
            <a:ext cx="541057" cy="533400"/>
          </a:xfrm>
          <a:prstGeom prst="rect">
            <a:avLst/>
          </a:prstGeom>
        </p:spPr>
      </p:pic>
      <p:cxnSp>
        <p:nvCxnSpPr>
          <p:cNvPr id="16" name="Straight Arrow Connector 15"/>
          <p:cNvCxnSpPr/>
          <p:nvPr/>
        </p:nvCxnSpPr>
        <p:spPr>
          <a:xfrm>
            <a:off x="8153401" y="5791200"/>
            <a:ext cx="885497" cy="0"/>
          </a:xfrm>
          <a:prstGeom prst="straightConnector1">
            <a:avLst/>
          </a:prstGeom>
          <a:ln w="79375">
            <a:tailEnd type="triangle"/>
          </a:ln>
        </p:spPr>
        <p:style>
          <a:lnRef idx="3">
            <a:schemeClr val="accent2"/>
          </a:lnRef>
          <a:fillRef idx="0">
            <a:schemeClr val="accent2"/>
          </a:fillRef>
          <a:effectRef idx="2">
            <a:schemeClr val="accent2"/>
          </a:effectRef>
          <a:fontRef idx="minor">
            <a:schemeClr val="tx1"/>
          </a:fontRef>
        </p:style>
      </p:cxnSp>
      <p:sp>
        <p:nvSpPr>
          <p:cNvPr id="12" name="TextBox 11"/>
          <p:cNvSpPr txBox="1"/>
          <p:nvPr/>
        </p:nvSpPr>
        <p:spPr>
          <a:xfrm>
            <a:off x="9038898" y="5574268"/>
            <a:ext cx="800219"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NULL</a:t>
            </a:r>
          </a:p>
        </p:txBody>
      </p:sp>
      <p:sp>
        <p:nvSpPr>
          <p:cNvPr id="3" name="TextBox 2">
            <a:extLst>
              <a:ext uri="{FF2B5EF4-FFF2-40B4-BE49-F238E27FC236}">
                <a16:creationId xmlns:a16="http://schemas.microsoft.com/office/drawing/2014/main" id="{5519FD11-F928-EDB4-1E88-3ADB9936E27A}"/>
              </a:ext>
            </a:extLst>
          </p:cNvPr>
          <p:cNvSpPr txBox="1"/>
          <p:nvPr/>
        </p:nvSpPr>
        <p:spPr>
          <a:xfrm>
            <a:off x="644629" y="918208"/>
            <a:ext cx="6046419" cy="830997"/>
          </a:xfrm>
          <a:prstGeom prst="rect">
            <a:avLst/>
          </a:prstGeom>
          <a:noFill/>
        </p:spPr>
        <p:txBody>
          <a:bodyPr wrap="square" rtlCol="0">
            <a:spAutoFit/>
          </a:bodyPr>
          <a:lstStyle/>
          <a:p>
            <a:r>
              <a:rPr lang="en-US" sz="4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Deque</a:t>
            </a:r>
          </a:p>
        </p:txBody>
      </p:sp>
      <p:cxnSp>
        <p:nvCxnSpPr>
          <p:cNvPr id="13" name="Straight Arrow Connector 12">
            <a:extLst>
              <a:ext uri="{FF2B5EF4-FFF2-40B4-BE49-F238E27FC236}">
                <a16:creationId xmlns:a16="http://schemas.microsoft.com/office/drawing/2014/main" id="{87A8477F-EFE5-D1A0-9EFB-A41BD4DB89F3}"/>
              </a:ext>
            </a:extLst>
          </p:cNvPr>
          <p:cNvCxnSpPr>
            <a:cxnSpLocks/>
          </p:cNvCxnSpPr>
          <p:nvPr/>
        </p:nvCxnSpPr>
        <p:spPr>
          <a:xfrm>
            <a:off x="1259840" y="4619627"/>
            <a:ext cx="645160" cy="484049"/>
          </a:xfrm>
          <a:prstGeom prst="straightConnector1">
            <a:avLst/>
          </a:prstGeom>
          <a:ln w="107950">
            <a:tailEnd type="triangle"/>
          </a:ln>
        </p:spPr>
        <p:style>
          <a:lnRef idx="3">
            <a:schemeClr val="accent2"/>
          </a:lnRef>
          <a:fillRef idx="0">
            <a:schemeClr val="accent2"/>
          </a:fillRef>
          <a:effectRef idx="2">
            <a:schemeClr val="accent2"/>
          </a:effectRef>
          <a:fontRef idx="minor">
            <a:schemeClr val="tx1"/>
          </a:fontRef>
        </p:style>
      </p:cxnSp>
      <p:sp>
        <p:nvSpPr>
          <p:cNvPr id="17" name="TextBox 16">
            <a:extLst>
              <a:ext uri="{FF2B5EF4-FFF2-40B4-BE49-F238E27FC236}">
                <a16:creationId xmlns:a16="http://schemas.microsoft.com/office/drawing/2014/main" id="{91B8C155-76A4-790F-1F43-05E50AFC5AD3}"/>
              </a:ext>
            </a:extLst>
          </p:cNvPr>
          <p:cNvSpPr txBox="1"/>
          <p:nvPr/>
        </p:nvSpPr>
        <p:spPr>
          <a:xfrm>
            <a:off x="652728" y="3788630"/>
            <a:ext cx="1382110" cy="830997"/>
          </a:xfrm>
          <a:prstGeom prst="rect">
            <a:avLst/>
          </a:prstGeom>
          <a:noFill/>
        </p:spPr>
        <p:txBody>
          <a:bodyPr wrap="none" rtlCol="0">
            <a:spAutoFit/>
          </a:bodyPr>
          <a:lstStyle/>
          <a:p>
            <a:r>
              <a:rPr lang="en-US" sz="4800" dirty="0">
                <a:latin typeface="Times New Roman" panose="02020603050405020304" pitchFamily="18" charset="0"/>
                <a:cs typeface="Times New Roman" panose="02020603050405020304" pitchFamily="18" charset="0"/>
              </a:rPr>
              <a:t>front</a:t>
            </a:r>
          </a:p>
        </p:txBody>
      </p:sp>
      <p:cxnSp>
        <p:nvCxnSpPr>
          <p:cNvPr id="18" name="Straight Arrow Connector 17">
            <a:extLst>
              <a:ext uri="{FF2B5EF4-FFF2-40B4-BE49-F238E27FC236}">
                <a16:creationId xmlns:a16="http://schemas.microsoft.com/office/drawing/2014/main" id="{9933B87B-A6FC-EC81-4C9F-E238C477D99F}"/>
              </a:ext>
            </a:extLst>
          </p:cNvPr>
          <p:cNvCxnSpPr>
            <a:cxnSpLocks/>
          </p:cNvCxnSpPr>
          <p:nvPr/>
        </p:nvCxnSpPr>
        <p:spPr>
          <a:xfrm flipH="1">
            <a:off x="8459741" y="4450537"/>
            <a:ext cx="1155279" cy="574674"/>
          </a:xfrm>
          <a:prstGeom prst="straightConnector1">
            <a:avLst/>
          </a:prstGeom>
          <a:ln w="107950">
            <a:tailEnd type="triangle"/>
          </a:ln>
        </p:spPr>
        <p:style>
          <a:lnRef idx="3">
            <a:schemeClr val="accent2"/>
          </a:lnRef>
          <a:fillRef idx="0">
            <a:schemeClr val="accent2"/>
          </a:fillRef>
          <a:effectRef idx="2">
            <a:schemeClr val="accent2"/>
          </a:effectRef>
          <a:fontRef idx="minor">
            <a:schemeClr val="tx1"/>
          </a:fontRef>
        </p:style>
      </p:cxnSp>
      <p:sp>
        <p:nvSpPr>
          <p:cNvPr id="19" name="TextBox 18">
            <a:extLst>
              <a:ext uri="{FF2B5EF4-FFF2-40B4-BE49-F238E27FC236}">
                <a16:creationId xmlns:a16="http://schemas.microsoft.com/office/drawing/2014/main" id="{2B6EB137-EB57-C93D-DEF1-0751124FBF87}"/>
              </a:ext>
            </a:extLst>
          </p:cNvPr>
          <p:cNvSpPr txBox="1"/>
          <p:nvPr/>
        </p:nvSpPr>
        <p:spPr>
          <a:xfrm>
            <a:off x="9007908" y="3619540"/>
            <a:ext cx="2271776"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back</a:t>
            </a:r>
          </a:p>
        </p:txBody>
      </p:sp>
      <p:cxnSp>
        <p:nvCxnSpPr>
          <p:cNvPr id="21" name="Straight Arrow Connector 20">
            <a:extLst>
              <a:ext uri="{FF2B5EF4-FFF2-40B4-BE49-F238E27FC236}">
                <a16:creationId xmlns:a16="http://schemas.microsoft.com/office/drawing/2014/main" id="{8691A89A-E38F-AF58-3BFD-A9C4824108CE}"/>
              </a:ext>
            </a:extLst>
          </p:cNvPr>
          <p:cNvCxnSpPr/>
          <p:nvPr/>
        </p:nvCxnSpPr>
        <p:spPr>
          <a:xfrm>
            <a:off x="2924504" y="5715000"/>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22" name="Straight Arrow Connector 21">
            <a:extLst>
              <a:ext uri="{FF2B5EF4-FFF2-40B4-BE49-F238E27FC236}">
                <a16:creationId xmlns:a16="http://schemas.microsoft.com/office/drawing/2014/main" id="{2AF667D1-B20C-F759-B54D-38597D63F930}"/>
              </a:ext>
            </a:extLst>
          </p:cNvPr>
          <p:cNvCxnSpPr/>
          <p:nvPr/>
        </p:nvCxnSpPr>
        <p:spPr>
          <a:xfrm>
            <a:off x="4800601" y="5707117"/>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23" name="Straight Arrow Connector 22">
            <a:extLst>
              <a:ext uri="{FF2B5EF4-FFF2-40B4-BE49-F238E27FC236}">
                <a16:creationId xmlns:a16="http://schemas.microsoft.com/office/drawing/2014/main" id="{5BA74ECB-F463-BF13-F17E-5976760823B2}"/>
              </a:ext>
            </a:extLst>
          </p:cNvPr>
          <p:cNvCxnSpPr/>
          <p:nvPr/>
        </p:nvCxnSpPr>
        <p:spPr>
          <a:xfrm>
            <a:off x="6477001" y="5707117"/>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24" name="Straight Arrow Connector 23">
            <a:extLst>
              <a:ext uri="{FF2B5EF4-FFF2-40B4-BE49-F238E27FC236}">
                <a16:creationId xmlns:a16="http://schemas.microsoft.com/office/drawing/2014/main" id="{BE613A57-BADE-236B-E74E-FBB2235D2214}"/>
              </a:ext>
            </a:extLst>
          </p:cNvPr>
          <p:cNvCxnSpPr>
            <a:cxnSpLocks/>
          </p:cNvCxnSpPr>
          <p:nvPr/>
        </p:nvCxnSpPr>
        <p:spPr>
          <a:xfrm flipH="1">
            <a:off x="2966711" y="5205413"/>
            <a:ext cx="652789" cy="1"/>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25" name="Straight Arrow Connector 24">
            <a:extLst>
              <a:ext uri="{FF2B5EF4-FFF2-40B4-BE49-F238E27FC236}">
                <a16:creationId xmlns:a16="http://schemas.microsoft.com/office/drawing/2014/main" id="{011E1F0D-2DCC-2D3D-2081-925F6A0DB592}"/>
              </a:ext>
            </a:extLst>
          </p:cNvPr>
          <p:cNvCxnSpPr>
            <a:cxnSpLocks/>
          </p:cNvCxnSpPr>
          <p:nvPr/>
        </p:nvCxnSpPr>
        <p:spPr>
          <a:xfrm flipH="1">
            <a:off x="4757902" y="5205413"/>
            <a:ext cx="614198"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26" name="Straight Arrow Connector 25">
            <a:extLst>
              <a:ext uri="{FF2B5EF4-FFF2-40B4-BE49-F238E27FC236}">
                <a16:creationId xmlns:a16="http://schemas.microsoft.com/office/drawing/2014/main" id="{8E214368-8E94-3BE2-1774-8F51AACA6019}"/>
              </a:ext>
            </a:extLst>
          </p:cNvPr>
          <p:cNvCxnSpPr>
            <a:cxnSpLocks/>
          </p:cNvCxnSpPr>
          <p:nvPr/>
        </p:nvCxnSpPr>
        <p:spPr>
          <a:xfrm flipH="1">
            <a:off x="6496933" y="5103676"/>
            <a:ext cx="652789" cy="1"/>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4" name="Straight Arrow Connector 3">
            <a:extLst>
              <a:ext uri="{FF2B5EF4-FFF2-40B4-BE49-F238E27FC236}">
                <a16:creationId xmlns:a16="http://schemas.microsoft.com/office/drawing/2014/main" id="{44DC7D36-F604-CD61-2044-8509C934E14B}"/>
              </a:ext>
            </a:extLst>
          </p:cNvPr>
          <p:cNvCxnSpPr>
            <a:cxnSpLocks/>
          </p:cNvCxnSpPr>
          <p:nvPr/>
        </p:nvCxnSpPr>
        <p:spPr>
          <a:xfrm flipH="1">
            <a:off x="1237592" y="5359126"/>
            <a:ext cx="767421" cy="0"/>
          </a:xfrm>
          <a:prstGeom prst="straightConnector1">
            <a:avLst/>
          </a:prstGeom>
          <a:ln w="79375">
            <a:tailEnd type="triangle"/>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22140991-E8EB-7C88-B779-003A97445A0B}"/>
              </a:ext>
            </a:extLst>
          </p:cNvPr>
          <p:cNvSpPr txBox="1"/>
          <p:nvPr/>
        </p:nvSpPr>
        <p:spPr>
          <a:xfrm>
            <a:off x="503779" y="5205413"/>
            <a:ext cx="80021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NULL</a:t>
            </a:r>
          </a:p>
        </p:txBody>
      </p:sp>
    </p:spTree>
    <p:extLst>
      <p:ext uri="{BB962C8B-B14F-4D97-AF65-F5344CB8AC3E}">
        <p14:creationId xmlns:p14="http://schemas.microsoft.com/office/powerpoint/2010/main" val="3159515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3"/>
          <p:cNvSpPr>
            <a:spLocks noGrp="1" noChangeArrowheads="1"/>
          </p:cNvSpPr>
          <p:nvPr>
            <p:ph idx="1"/>
          </p:nvPr>
        </p:nvSpPr>
        <p:spPr>
          <a:xfrm>
            <a:off x="533400" y="2048352"/>
            <a:ext cx="11005872" cy="3157060"/>
          </a:xfrm>
        </p:spPr>
        <p:txBody>
          <a:bodyPr anchor="t" anchorCtr="0">
            <a:normAutofit/>
          </a:bodyPr>
          <a:lstStyle/>
          <a:p>
            <a:pPr marL="0" indent="0">
              <a:buNone/>
            </a:pPr>
            <a:r>
              <a:rPr lang="en-US" altLang="en-US" sz="3500" dirty="0">
                <a:solidFill>
                  <a:schemeClr val="tx1"/>
                </a:solidFill>
              </a:rPr>
              <a:t>A stack and queue only allow insertions and deletions from one end.  A </a:t>
            </a:r>
            <a:r>
              <a:rPr lang="en-US" altLang="en-US" sz="3500" dirty="0">
                <a:solidFill>
                  <a:srgbClr val="00B0F0"/>
                </a:solidFill>
              </a:rPr>
              <a:t>d</a:t>
            </a:r>
            <a:r>
              <a:rPr lang="en-US" altLang="en-US" sz="3500" dirty="0">
                <a:solidFill>
                  <a:schemeClr val="tx1"/>
                </a:solidFill>
              </a:rPr>
              <a:t>ouble-</a:t>
            </a:r>
            <a:r>
              <a:rPr lang="en-US" altLang="en-US" sz="3500" dirty="0">
                <a:solidFill>
                  <a:srgbClr val="00B0F0"/>
                </a:solidFill>
              </a:rPr>
              <a:t>e</a:t>
            </a:r>
            <a:r>
              <a:rPr lang="en-US" altLang="en-US" sz="3500" dirty="0">
                <a:solidFill>
                  <a:schemeClr val="tx1"/>
                </a:solidFill>
              </a:rPr>
              <a:t>nded </a:t>
            </a:r>
            <a:r>
              <a:rPr lang="en-US" altLang="en-US" sz="3500" dirty="0">
                <a:solidFill>
                  <a:srgbClr val="00B0F0"/>
                </a:solidFill>
              </a:rPr>
              <a:t>qu</a:t>
            </a:r>
            <a:r>
              <a:rPr lang="en-US" altLang="en-US" sz="3500" dirty="0">
                <a:solidFill>
                  <a:schemeClr val="tx1"/>
                </a:solidFill>
              </a:rPr>
              <a:t>eue (deque) allows insertions and deletions from either end.</a:t>
            </a:r>
          </a:p>
          <a:p>
            <a:pPr marL="0" indent="0">
              <a:buNone/>
            </a:pPr>
            <a:endParaRPr lang="en-US" altLang="en-US" sz="2800" dirty="0">
              <a:solidFill>
                <a:srgbClr val="0070C0"/>
              </a:solidFill>
            </a:endParaRPr>
          </a:p>
          <a:p>
            <a:pPr marL="0" indent="0">
              <a:buNone/>
            </a:pPr>
            <a:r>
              <a:rPr lang="en-US" altLang="en-US" sz="2800" dirty="0"/>
              <a:t>  </a:t>
            </a:r>
          </a:p>
        </p:txBody>
      </p:sp>
      <p:sp>
        <p:nvSpPr>
          <p:cNvPr id="2" name="Rectangle 1"/>
          <p:cNvSpPr/>
          <p:nvPr/>
        </p:nvSpPr>
        <p:spPr>
          <a:xfrm>
            <a:off x="190500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Squirtle</a:t>
            </a:r>
          </a:p>
          <a:p>
            <a:pPr algn="ctr"/>
            <a:r>
              <a:rPr lang="en-US" dirty="0"/>
              <a:t>400</a:t>
            </a:r>
          </a:p>
        </p:txBody>
      </p:sp>
      <p:sp>
        <p:nvSpPr>
          <p:cNvPr id="5" name="Rectangle 4"/>
          <p:cNvSpPr/>
          <p:nvPr/>
        </p:nvSpPr>
        <p:spPr>
          <a:xfrm>
            <a:off x="365760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Eevee</a:t>
            </a:r>
            <a:br>
              <a:rPr lang="en-US" dirty="0"/>
            </a:br>
            <a:r>
              <a:rPr lang="en-US" dirty="0"/>
              <a:t>50</a:t>
            </a:r>
          </a:p>
        </p:txBody>
      </p:sp>
      <p:sp>
        <p:nvSpPr>
          <p:cNvPr id="6" name="Rectangle 5"/>
          <p:cNvSpPr/>
          <p:nvPr/>
        </p:nvSpPr>
        <p:spPr>
          <a:xfrm>
            <a:off x="5372100" y="4800600"/>
            <a:ext cx="1456997"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Charmander</a:t>
            </a:r>
          </a:p>
          <a:p>
            <a:pPr algn="ctr"/>
            <a:r>
              <a:rPr lang="en-US" dirty="0"/>
              <a:t>170</a:t>
            </a:r>
          </a:p>
        </p:txBody>
      </p:sp>
      <p:sp>
        <p:nvSpPr>
          <p:cNvPr id="7" name="Rectangle 6"/>
          <p:cNvSpPr/>
          <p:nvPr/>
        </p:nvSpPr>
        <p:spPr>
          <a:xfrm>
            <a:off x="7076090" y="4800600"/>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Pikachu</a:t>
            </a:r>
          </a:p>
          <a:p>
            <a:pPr algn="ctr"/>
            <a:r>
              <a:rPr lang="en-US" dirty="0"/>
              <a:t>500</a:t>
            </a:r>
          </a:p>
        </p:txBody>
      </p:sp>
      <p:pic>
        <p:nvPicPr>
          <p:cNvPr id="8" name="Picture 7"/>
          <p:cNvPicPr>
            <a:picLocks noChangeAspect="1"/>
          </p:cNvPicPr>
          <p:nvPr/>
        </p:nvPicPr>
        <p:blipFill>
          <a:blip r:embed="rId3">
            <a:extLst>
              <a:ext uri="{BEBA8EAE-BF5A-486C-A8C5-ECC9F3942E4B}">
                <a14:imgProps xmlns:a14="http://schemas.microsoft.com/office/drawing/2010/main">
                  <a14:imgLayer r:embed="rId4">
                    <a14:imgEffect>
                      <a14:backgroundRemoval t="0" b="94783" l="0" r="100000"/>
                    </a14:imgEffect>
                  </a14:imgLayer>
                </a14:imgProps>
              </a:ext>
              <a:ext uri="{28A0092B-C50C-407E-A947-70E740481C1C}">
                <a14:useLocalDpi xmlns:a14="http://schemas.microsoft.com/office/drawing/2010/main" val="0"/>
              </a:ext>
            </a:extLst>
          </a:blip>
          <a:stretch>
            <a:fillRect/>
          </a:stretch>
        </p:blipFill>
        <p:spPr>
          <a:xfrm>
            <a:off x="2005013" y="4848226"/>
            <a:ext cx="510901" cy="510901"/>
          </a:xfrm>
          <a:prstGeom prst="rect">
            <a:avLst/>
          </a:prstGeom>
        </p:spPr>
      </p:pic>
      <p:pic>
        <p:nvPicPr>
          <p:cNvPr id="9" name="Picture 8"/>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3757614" y="4824414"/>
            <a:ext cx="661986" cy="661986"/>
          </a:xfrm>
          <a:prstGeom prst="rect">
            <a:avLst/>
          </a:prstGeom>
        </p:spPr>
      </p:pic>
      <p:pic>
        <p:nvPicPr>
          <p:cNvPr id="10" name="Picture 9"/>
          <p:cNvPicPr>
            <a:picLocks noChangeAspect="1"/>
          </p:cNvPicPr>
          <p:nvPr/>
        </p:nvPicPr>
        <p:blipFill>
          <a:blip r:embed="rId7">
            <a:extLst>
              <a:ext uri="{BEBA8EAE-BF5A-486C-A8C5-ECC9F3942E4B}">
                <a14:imgProps xmlns:a14="http://schemas.microsoft.com/office/drawing/2010/main">
                  <a14:imgLayer r:embed="rId8">
                    <a14:imgEffect>
                      <a14:backgroundRemoval t="0" b="97115" l="0" r="100000"/>
                    </a14:imgEffect>
                  </a14:imgLayer>
                </a14:imgProps>
              </a:ext>
              <a:ext uri="{28A0092B-C50C-407E-A947-70E740481C1C}">
                <a14:useLocalDpi xmlns:a14="http://schemas.microsoft.com/office/drawing/2010/main" val="0"/>
              </a:ext>
            </a:extLst>
          </a:blip>
          <a:stretch>
            <a:fillRect/>
          </a:stretch>
        </p:blipFill>
        <p:spPr>
          <a:xfrm>
            <a:off x="5480538" y="4852987"/>
            <a:ext cx="539262" cy="609600"/>
          </a:xfrm>
          <a:prstGeom prst="rect">
            <a:avLst/>
          </a:prstGeom>
        </p:spPr>
      </p:pic>
      <p:pic>
        <p:nvPicPr>
          <p:cNvPr id="11" name="Picture 10"/>
          <p:cNvPicPr>
            <a:picLocks noChangeAspect="1"/>
          </p:cNvPicPr>
          <p:nvPr/>
        </p:nvPicPr>
        <p:blipFill rotWithShape="1">
          <a:blip r:embed="rId9" cstate="print">
            <a:extLst>
              <a:ext uri="{28A0092B-C50C-407E-A947-70E740481C1C}">
                <a14:useLocalDpi xmlns:a14="http://schemas.microsoft.com/office/drawing/2010/main" val="0"/>
              </a:ext>
            </a:extLst>
          </a:blip>
          <a:srcRect l="2647" t="-1" b="2410"/>
          <a:stretch/>
        </p:blipFill>
        <p:spPr>
          <a:xfrm>
            <a:off x="7164341" y="4825726"/>
            <a:ext cx="541057" cy="533400"/>
          </a:xfrm>
          <a:prstGeom prst="rect">
            <a:avLst/>
          </a:prstGeom>
        </p:spPr>
      </p:pic>
      <p:cxnSp>
        <p:nvCxnSpPr>
          <p:cNvPr id="16" name="Straight Arrow Connector 15"/>
          <p:cNvCxnSpPr/>
          <p:nvPr/>
        </p:nvCxnSpPr>
        <p:spPr>
          <a:xfrm>
            <a:off x="8153401" y="5791200"/>
            <a:ext cx="885497" cy="0"/>
          </a:xfrm>
          <a:prstGeom prst="straightConnector1">
            <a:avLst/>
          </a:prstGeom>
          <a:ln w="79375">
            <a:tailEnd type="triangle"/>
          </a:ln>
        </p:spPr>
        <p:style>
          <a:lnRef idx="3">
            <a:schemeClr val="accent2"/>
          </a:lnRef>
          <a:fillRef idx="0">
            <a:schemeClr val="accent2"/>
          </a:fillRef>
          <a:effectRef idx="2">
            <a:schemeClr val="accent2"/>
          </a:effectRef>
          <a:fontRef idx="minor">
            <a:schemeClr val="tx1"/>
          </a:fontRef>
        </p:style>
      </p:cxnSp>
      <p:sp>
        <p:nvSpPr>
          <p:cNvPr id="12" name="TextBox 11"/>
          <p:cNvSpPr txBox="1"/>
          <p:nvPr/>
        </p:nvSpPr>
        <p:spPr>
          <a:xfrm>
            <a:off x="9038898" y="5574268"/>
            <a:ext cx="774571" cy="369332"/>
          </a:xfrm>
          <a:prstGeom prst="rect">
            <a:avLst/>
          </a:prstGeom>
          <a:noFill/>
        </p:spPr>
        <p:txBody>
          <a:bodyPr wrap="none" rtlCol="0">
            <a:spAutoFit/>
          </a:bodyPr>
          <a:lstStyle/>
          <a:p>
            <a:r>
              <a:rPr lang="en-US" dirty="0"/>
              <a:t>NULL</a:t>
            </a:r>
          </a:p>
        </p:txBody>
      </p:sp>
      <p:sp>
        <p:nvSpPr>
          <p:cNvPr id="3" name="TextBox 2">
            <a:extLst>
              <a:ext uri="{FF2B5EF4-FFF2-40B4-BE49-F238E27FC236}">
                <a16:creationId xmlns:a16="http://schemas.microsoft.com/office/drawing/2014/main" id="{5519FD11-F928-EDB4-1E88-3ADB9936E27A}"/>
              </a:ext>
            </a:extLst>
          </p:cNvPr>
          <p:cNvSpPr txBox="1"/>
          <p:nvPr/>
        </p:nvSpPr>
        <p:spPr>
          <a:xfrm>
            <a:off x="644629" y="918208"/>
            <a:ext cx="6046419" cy="830997"/>
          </a:xfrm>
          <a:prstGeom prst="rect">
            <a:avLst/>
          </a:prstGeom>
          <a:noFill/>
        </p:spPr>
        <p:txBody>
          <a:bodyPr wrap="square" rtlCol="0">
            <a:spAutoFit/>
          </a:bodyPr>
          <a:lstStyle/>
          <a:p>
            <a:r>
              <a:rPr lang="en-US" sz="4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Deque</a:t>
            </a:r>
          </a:p>
        </p:txBody>
      </p:sp>
      <p:cxnSp>
        <p:nvCxnSpPr>
          <p:cNvPr id="13" name="Straight Arrow Connector 12">
            <a:extLst>
              <a:ext uri="{FF2B5EF4-FFF2-40B4-BE49-F238E27FC236}">
                <a16:creationId xmlns:a16="http://schemas.microsoft.com/office/drawing/2014/main" id="{87A8477F-EFE5-D1A0-9EFB-A41BD4DB89F3}"/>
              </a:ext>
            </a:extLst>
          </p:cNvPr>
          <p:cNvCxnSpPr>
            <a:cxnSpLocks/>
          </p:cNvCxnSpPr>
          <p:nvPr/>
        </p:nvCxnSpPr>
        <p:spPr>
          <a:xfrm>
            <a:off x="1259840" y="4619627"/>
            <a:ext cx="645160" cy="484049"/>
          </a:xfrm>
          <a:prstGeom prst="straightConnector1">
            <a:avLst/>
          </a:prstGeom>
          <a:ln w="107950">
            <a:tailEnd type="triangle"/>
          </a:ln>
        </p:spPr>
        <p:style>
          <a:lnRef idx="3">
            <a:schemeClr val="accent2"/>
          </a:lnRef>
          <a:fillRef idx="0">
            <a:schemeClr val="accent2"/>
          </a:fillRef>
          <a:effectRef idx="2">
            <a:schemeClr val="accent2"/>
          </a:effectRef>
          <a:fontRef idx="minor">
            <a:schemeClr val="tx1"/>
          </a:fontRef>
        </p:style>
      </p:cxnSp>
      <p:sp>
        <p:nvSpPr>
          <p:cNvPr id="17" name="TextBox 16">
            <a:extLst>
              <a:ext uri="{FF2B5EF4-FFF2-40B4-BE49-F238E27FC236}">
                <a16:creationId xmlns:a16="http://schemas.microsoft.com/office/drawing/2014/main" id="{91B8C155-76A4-790F-1F43-05E50AFC5AD3}"/>
              </a:ext>
            </a:extLst>
          </p:cNvPr>
          <p:cNvSpPr txBox="1"/>
          <p:nvPr/>
        </p:nvSpPr>
        <p:spPr>
          <a:xfrm>
            <a:off x="652728" y="3788630"/>
            <a:ext cx="1382110" cy="830997"/>
          </a:xfrm>
          <a:prstGeom prst="rect">
            <a:avLst/>
          </a:prstGeom>
          <a:noFill/>
        </p:spPr>
        <p:txBody>
          <a:bodyPr wrap="none" rtlCol="0">
            <a:spAutoFit/>
          </a:bodyPr>
          <a:lstStyle/>
          <a:p>
            <a:r>
              <a:rPr lang="en-US" sz="4800" dirty="0">
                <a:latin typeface="Times New Roman" panose="02020603050405020304" pitchFamily="18" charset="0"/>
                <a:cs typeface="Times New Roman" panose="02020603050405020304" pitchFamily="18" charset="0"/>
              </a:rPr>
              <a:t>front</a:t>
            </a:r>
          </a:p>
        </p:txBody>
      </p:sp>
      <p:cxnSp>
        <p:nvCxnSpPr>
          <p:cNvPr id="18" name="Straight Arrow Connector 17">
            <a:extLst>
              <a:ext uri="{FF2B5EF4-FFF2-40B4-BE49-F238E27FC236}">
                <a16:creationId xmlns:a16="http://schemas.microsoft.com/office/drawing/2014/main" id="{9933B87B-A6FC-EC81-4C9F-E238C477D99F}"/>
              </a:ext>
            </a:extLst>
          </p:cNvPr>
          <p:cNvCxnSpPr>
            <a:cxnSpLocks/>
          </p:cNvCxnSpPr>
          <p:nvPr/>
        </p:nvCxnSpPr>
        <p:spPr>
          <a:xfrm flipH="1">
            <a:off x="8459741" y="4450537"/>
            <a:ext cx="1155279" cy="574674"/>
          </a:xfrm>
          <a:prstGeom prst="straightConnector1">
            <a:avLst/>
          </a:prstGeom>
          <a:ln w="107950">
            <a:tailEnd type="triangle"/>
          </a:ln>
        </p:spPr>
        <p:style>
          <a:lnRef idx="3">
            <a:schemeClr val="accent2"/>
          </a:lnRef>
          <a:fillRef idx="0">
            <a:schemeClr val="accent2"/>
          </a:fillRef>
          <a:effectRef idx="2">
            <a:schemeClr val="accent2"/>
          </a:effectRef>
          <a:fontRef idx="minor">
            <a:schemeClr val="tx1"/>
          </a:fontRef>
        </p:style>
      </p:cxnSp>
      <p:sp>
        <p:nvSpPr>
          <p:cNvPr id="19" name="TextBox 18">
            <a:extLst>
              <a:ext uri="{FF2B5EF4-FFF2-40B4-BE49-F238E27FC236}">
                <a16:creationId xmlns:a16="http://schemas.microsoft.com/office/drawing/2014/main" id="{2B6EB137-EB57-C93D-DEF1-0751124FBF87}"/>
              </a:ext>
            </a:extLst>
          </p:cNvPr>
          <p:cNvSpPr txBox="1"/>
          <p:nvPr/>
        </p:nvSpPr>
        <p:spPr>
          <a:xfrm>
            <a:off x="9007908" y="3619540"/>
            <a:ext cx="2271776"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back</a:t>
            </a:r>
          </a:p>
        </p:txBody>
      </p:sp>
      <p:cxnSp>
        <p:nvCxnSpPr>
          <p:cNvPr id="21" name="Straight Arrow Connector 20">
            <a:extLst>
              <a:ext uri="{FF2B5EF4-FFF2-40B4-BE49-F238E27FC236}">
                <a16:creationId xmlns:a16="http://schemas.microsoft.com/office/drawing/2014/main" id="{8691A89A-E38F-AF58-3BFD-A9C4824108CE}"/>
              </a:ext>
            </a:extLst>
          </p:cNvPr>
          <p:cNvCxnSpPr/>
          <p:nvPr/>
        </p:nvCxnSpPr>
        <p:spPr>
          <a:xfrm>
            <a:off x="2924504" y="5715000"/>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22" name="Straight Arrow Connector 21">
            <a:extLst>
              <a:ext uri="{FF2B5EF4-FFF2-40B4-BE49-F238E27FC236}">
                <a16:creationId xmlns:a16="http://schemas.microsoft.com/office/drawing/2014/main" id="{2AF667D1-B20C-F759-B54D-38597D63F930}"/>
              </a:ext>
            </a:extLst>
          </p:cNvPr>
          <p:cNvCxnSpPr/>
          <p:nvPr/>
        </p:nvCxnSpPr>
        <p:spPr>
          <a:xfrm>
            <a:off x="4800601" y="5707117"/>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23" name="Straight Arrow Connector 22">
            <a:extLst>
              <a:ext uri="{FF2B5EF4-FFF2-40B4-BE49-F238E27FC236}">
                <a16:creationId xmlns:a16="http://schemas.microsoft.com/office/drawing/2014/main" id="{5BA74ECB-F463-BF13-F17E-5976760823B2}"/>
              </a:ext>
            </a:extLst>
          </p:cNvPr>
          <p:cNvCxnSpPr/>
          <p:nvPr/>
        </p:nvCxnSpPr>
        <p:spPr>
          <a:xfrm>
            <a:off x="6477001" y="5707117"/>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24" name="Straight Arrow Connector 23">
            <a:extLst>
              <a:ext uri="{FF2B5EF4-FFF2-40B4-BE49-F238E27FC236}">
                <a16:creationId xmlns:a16="http://schemas.microsoft.com/office/drawing/2014/main" id="{BE613A57-BADE-236B-E74E-FBB2235D2214}"/>
              </a:ext>
            </a:extLst>
          </p:cNvPr>
          <p:cNvCxnSpPr>
            <a:cxnSpLocks/>
          </p:cNvCxnSpPr>
          <p:nvPr/>
        </p:nvCxnSpPr>
        <p:spPr>
          <a:xfrm flipH="1">
            <a:off x="2966711" y="5205413"/>
            <a:ext cx="652789" cy="1"/>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25" name="Straight Arrow Connector 24">
            <a:extLst>
              <a:ext uri="{FF2B5EF4-FFF2-40B4-BE49-F238E27FC236}">
                <a16:creationId xmlns:a16="http://schemas.microsoft.com/office/drawing/2014/main" id="{011E1F0D-2DCC-2D3D-2081-925F6A0DB592}"/>
              </a:ext>
            </a:extLst>
          </p:cNvPr>
          <p:cNvCxnSpPr>
            <a:cxnSpLocks/>
          </p:cNvCxnSpPr>
          <p:nvPr/>
        </p:nvCxnSpPr>
        <p:spPr>
          <a:xfrm flipH="1">
            <a:off x="4757902" y="5205413"/>
            <a:ext cx="614198"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26" name="Straight Arrow Connector 25">
            <a:extLst>
              <a:ext uri="{FF2B5EF4-FFF2-40B4-BE49-F238E27FC236}">
                <a16:creationId xmlns:a16="http://schemas.microsoft.com/office/drawing/2014/main" id="{8E214368-8E94-3BE2-1774-8F51AACA6019}"/>
              </a:ext>
            </a:extLst>
          </p:cNvPr>
          <p:cNvCxnSpPr>
            <a:cxnSpLocks/>
          </p:cNvCxnSpPr>
          <p:nvPr/>
        </p:nvCxnSpPr>
        <p:spPr>
          <a:xfrm flipH="1">
            <a:off x="6496933" y="5103676"/>
            <a:ext cx="652789" cy="1"/>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4" name="Straight Arrow Connector 3">
            <a:extLst>
              <a:ext uri="{FF2B5EF4-FFF2-40B4-BE49-F238E27FC236}">
                <a16:creationId xmlns:a16="http://schemas.microsoft.com/office/drawing/2014/main" id="{562CAAB7-CF05-8A45-53FE-54F05C027B1C}"/>
              </a:ext>
            </a:extLst>
          </p:cNvPr>
          <p:cNvCxnSpPr>
            <a:cxnSpLocks/>
          </p:cNvCxnSpPr>
          <p:nvPr/>
        </p:nvCxnSpPr>
        <p:spPr>
          <a:xfrm flipH="1">
            <a:off x="1193434" y="5394290"/>
            <a:ext cx="767421" cy="0"/>
          </a:xfrm>
          <a:prstGeom prst="straightConnector1">
            <a:avLst/>
          </a:prstGeom>
          <a:ln w="79375">
            <a:tailEnd type="triangle"/>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6F04D3EF-97E7-BE78-D740-40C6227CCDAA}"/>
              </a:ext>
            </a:extLst>
          </p:cNvPr>
          <p:cNvSpPr txBox="1"/>
          <p:nvPr/>
        </p:nvSpPr>
        <p:spPr>
          <a:xfrm>
            <a:off x="459621" y="5240577"/>
            <a:ext cx="80021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NULL</a:t>
            </a:r>
          </a:p>
        </p:txBody>
      </p:sp>
    </p:spTree>
    <p:extLst>
      <p:ext uri="{BB962C8B-B14F-4D97-AF65-F5344CB8AC3E}">
        <p14:creationId xmlns:p14="http://schemas.microsoft.com/office/powerpoint/2010/main" val="3276661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24476-437F-C231-8B84-909766A779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A40600-39B4-59B9-43B6-B93647857F96}"/>
              </a:ext>
            </a:extLst>
          </p:cNvPr>
          <p:cNvSpPr>
            <a:spLocks noGrp="1"/>
          </p:cNvSpPr>
          <p:nvPr>
            <p:ph idx="1"/>
          </p:nvPr>
        </p:nvSpPr>
        <p:spPr>
          <a:xfrm>
            <a:off x="573228" y="1938212"/>
            <a:ext cx="11351761" cy="1570924"/>
          </a:xfrm>
        </p:spPr>
        <p:txBody>
          <a:bodyPr anchor="t" anchorCtr="0">
            <a:noAutofit/>
          </a:bodyPr>
          <a:lstStyle/>
          <a:p>
            <a:pPr>
              <a:lnSpc>
                <a:spcPct val="95000"/>
              </a:lnSpc>
              <a:spcAft>
                <a:spcPts val="450"/>
              </a:spcAft>
              <a:buFont typeface="Wingdings" pitchFamily="2" charset="2"/>
              <a:buChar char="Ø"/>
            </a:pPr>
            <a:r>
              <a:rPr lang="en-US" sz="4000" dirty="0"/>
              <a:t>Imagine we want to delete Eevee from the list.  What lines of code could we use?</a:t>
            </a:r>
          </a:p>
        </p:txBody>
      </p:sp>
      <p:sp>
        <p:nvSpPr>
          <p:cNvPr id="2" name="TextBox 1">
            <a:extLst>
              <a:ext uri="{FF2B5EF4-FFF2-40B4-BE49-F238E27FC236}">
                <a16:creationId xmlns:a16="http://schemas.microsoft.com/office/drawing/2014/main" id="{71F9B2FB-2A39-122F-070F-871F90ACD046}"/>
              </a:ext>
            </a:extLst>
          </p:cNvPr>
          <p:cNvSpPr txBox="1"/>
          <p:nvPr/>
        </p:nvSpPr>
        <p:spPr>
          <a:xfrm>
            <a:off x="899824" y="886949"/>
            <a:ext cx="10404852" cy="715581"/>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Delete from a Doubly Linked Lists</a:t>
            </a:r>
          </a:p>
        </p:txBody>
      </p:sp>
      <p:sp>
        <p:nvSpPr>
          <p:cNvPr id="19" name="Rectangle 18">
            <a:extLst>
              <a:ext uri="{FF2B5EF4-FFF2-40B4-BE49-F238E27FC236}">
                <a16:creationId xmlns:a16="http://schemas.microsoft.com/office/drawing/2014/main" id="{D690C4ED-3F6E-D2A5-0E24-7C132286620F}"/>
              </a:ext>
            </a:extLst>
          </p:cNvPr>
          <p:cNvSpPr/>
          <p:nvPr/>
        </p:nvSpPr>
        <p:spPr>
          <a:xfrm>
            <a:off x="3396207" y="5030692"/>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Squirtle</a:t>
            </a:r>
          </a:p>
          <a:p>
            <a:pPr algn="ctr"/>
            <a:r>
              <a:rPr lang="en-US" dirty="0"/>
              <a:t>400</a:t>
            </a:r>
          </a:p>
        </p:txBody>
      </p:sp>
      <p:sp>
        <p:nvSpPr>
          <p:cNvPr id="20" name="Rectangle 19">
            <a:extLst>
              <a:ext uri="{FF2B5EF4-FFF2-40B4-BE49-F238E27FC236}">
                <a16:creationId xmlns:a16="http://schemas.microsoft.com/office/drawing/2014/main" id="{288775D8-1D6F-683D-0813-DFA1A5C8165B}"/>
              </a:ext>
            </a:extLst>
          </p:cNvPr>
          <p:cNvSpPr/>
          <p:nvPr/>
        </p:nvSpPr>
        <p:spPr>
          <a:xfrm>
            <a:off x="5148807" y="5030692"/>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Eevee</a:t>
            </a:r>
            <a:br>
              <a:rPr lang="en-US" dirty="0"/>
            </a:br>
            <a:r>
              <a:rPr lang="en-US" dirty="0"/>
              <a:t>50</a:t>
            </a:r>
          </a:p>
        </p:txBody>
      </p:sp>
      <p:sp>
        <p:nvSpPr>
          <p:cNvPr id="21" name="Rectangle 20">
            <a:extLst>
              <a:ext uri="{FF2B5EF4-FFF2-40B4-BE49-F238E27FC236}">
                <a16:creationId xmlns:a16="http://schemas.microsoft.com/office/drawing/2014/main" id="{18CF27CA-882F-2F32-B116-EAFB28B7C78F}"/>
              </a:ext>
            </a:extLst>
          </p:cNvPr>
          <p:cNvSpPr/>
          <p:nvPr/>
        </p:nvSpPr>
        <p:spPr>
          <a:xfrm>
            <a:off x="6863307" y="5030692"/>
            <a:ext cx="1456997"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Charmander</a:t>
            </a:r>
          </a:p>
          <a:p>
            <a:pPr algn="ctr"/>
            <a:r>
              <a:rPr lang="en-US" dirty="0"/>
              <a:t>170</a:t>
            </a:r>
          </a:p>
        </p:txBody>
      </p:sp>
      <p:sp>
        <p:nvSpPr>
          <p:cNvPr id="22" name="Rectangle 21">
            <a:extLst>
              <a:ext uri="{FF2B5EF4-FFF2-40B4-BE49-F238E27FC236}">
                <a16:creationId xmlns:a16="http://schemas.microsoft.com/office/drawing/2014/main" id="{C23B3BD2-B0A6-8CDF-4987-CCF9E050B9A2}"/>
              </a:ext>
            </a:extLst>
          </p:cNvPr>
          <p:cNvSpPr/>
          <p:nvPr/>
        </p:nvSpPr>
        <p:spPr>
          <a:xfrm>
            <a:off x="8567297" y="5030692"/>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Pikachu</a:t>
            </a:r>
          </a:p>
          <a:p>
            <a:pPr algn="ctr"/>
            <a:r>
              <a:rPr lang="en-US" dirty="0"/>
              <a:t>500</a:t>
            </a:r>
          </a:p>
        </p:txBody>
      </p:sp>
      <p:pic>
        <p:nvPicPr>
          <p:cNvPr id="23" name="Picture 22">
            <a:extLst>
              <a:ext uri="{FF2B5EF4-FFF2-40B4-BE49-F238E27FC236}">
                <a16:creationId xmlns:a16="http://schemas.microsoft.com/office/drawing/2014/main" id="{3EC0906E-10FC-1F23-DDE9-FFEFAB540CE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0" b="94783" l="0" r="100000"/>
                    </a14:imgEffect>
                  </a14:imgLayer>
                </a14:imgProps>
              </a:ext>
              <a:ext uri="{28A0092B-C50C-407E-A947-70E740481C1C}">
                <a14:useLocalDpi xmlns:a14="http://schemas.microsoft.com/office/drawing/2010/main" val="0"/>
              </a:ext>
            </a:extLst>
          </a:blip>
          <a:stretch>
            <a:fillRect/>
          </a:stretch>
        </p:blipFill>
        <p:spPr>
          <a:xfrm>
            <a:off x="3496220" y="5078318"/>
            <a:ext cx="510901" cy="510901"/>
          </a:xfrm>
          <a:prstGeom prst="rect">
            <a:avLst/>
          </a:prstGeom>
        </p:spPr>
      </p:pic>
      <p:pic>
        <p:nvPicPr>
          <p:cNvPr id="24" name="Picture 23">
            <a:extLst>
              <a:ext uri="{FF2B5EF4-FFF2-40B4-BE49-F238E27FC236}">
                <a16:creationId xmlns:a16="http://schemas.microsoft.com/office/drawing/2014/main" id="{5DD7C757-EEBA-CABE-4B1D-AE1809D45535}"/>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5248821" y="5054506"/>
            <a:ext cx="661986" cy="661986"/>
          </a:xfrm>
          <a:prstGeom prst="rect">
            <a:avLst/>
          </a:prstGeom>
        </p:spPr>
      </p:pic>
      <p:pic>
        <p:nvPicPr>
          <p:cNvPr id="25" name="Picture 24">
            <a:extLst>
              <a:ext uri="{FF2B5EF4-FFF2-40B4-BE49-F238E27FC236}">
                <a16:creationId xmlns:a16="http://schemas.microsoft.com/office/drawing/2014/main" id="{65F772B2-96D8-4394-FC1F-8B69AC5DA478}"/>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0" b="97115" l="0" r="100000"/>
                    </a14:imgEffect>
                  </a14:imgLayer>
                </a14:imgProps>
              </a:ext>
              <a:ext uri="{28A0092B-C50C-407E-A947-70E740481C1C}">
                <a14:useLocalDpi xmlns:a14="http://schemas.microsoft.com/office/drawing/2010/main" val="0"/>
              </a:ext>
            </a:extLst>
          </a:blip>
          <a:stretch>
            <a:fillRect/>
          </a:stretch>
        </p:blipFill>
        <p:spPr>
          <a:xfrm>
            <a:off x="6971745" y="5083079"/>
            <a:ext cx="539262" cy="609600"/>
          </a:xfrm>
          <a:prstGeom prst="rect">
            <a:avLst/>
          </a:prstGeom>
        </p:spPr>
      </p:pic>
      <p:pic>
        <p:nvPicPr>
          <p:cNvPr id="26" name="Picture 25">
            <a:extLst>
              <a:ext uri="{FF2B5EF4-FFF2-40B4-BE49-F238E27FC236}">
                <a16:creationId xmlns:a16="http://schemas.microsoft.com/office/drawing/2014/main" id="{F568C748-30ED-3E44-E69A-CCE4A6E7E494}"/>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2647" t="-1" b="2410"/>
          <a:stretch/>
        </p:blipFill>
        <p:spPr>
          <a:xfrm>
            <a:off x="8655548" y="5055818"/>
            <a:ext cx="541057" cy="533400"/>
          </a:xfrm>
          <a:prstGeom prst="rect">
            <a:avLst/>
          </a:prstGeom>
        </p:spPr>
      </p:pic>
      <p:cxnSp>
        <p:nvCxnSpPr>
          <p:cNvPr id="27" name="Straight Arrow Connector 26">
            <a:extLst>
              <a:ext uri="{FF2B5EF4-FFF2-40B4-BE49-F238E27FC236}">
                <a16:creationId xmlns:a16="http://schemas.microsoft.com/office/drawing/2014/main" id="{5626FEEF-058E-410D-0001-0B49B50D133F}"/>
              </a:ext>
            </a:extLst>
          </p:cNvPr>
          <p:cNvCxnSpPr/>
          <p:nvPr/>
        </p:nvCxnSpPr>
        <p:spPr>
          <a:xfrm>
            <a:off x="4415711" y="5945092"/>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28" name="Straight Arrow Connector 27">
            <a:extLst>
              <a:ext uri="{FF2B5EF4-FFF2-40B4-BE49-F238E27FC236}">
                <a16:creationId xmlns:a16="http://schemas.microsoft.com/office/drawing/2014/main" id="{6493B452-76C3-8451-462A-21831ACC9B40}"/>
              </a:ext>
            </a:extLst>
          </p:cNvPr>
          <p:cNvCxnSpPr/>
          <p:nvPr/>
        </p:nvCxnSpPr>
        <p:spPr>
          <a:xfrm>
            <a:off x="6291808" y="5937209"/>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29" name="Straight Arrow Connector 28">
            <a:extLst>
              <a:ext uri="{FF2B5EF4-FFF2-40B4-BE49-F238E27FC236}">
                <a16:creationId xmlns:a16="http://schemas.microsoft.com/office/drawing/2014/main" id="{348E2893-48E1-F192-5A9F-CF0B5C8331FD}"/>
              </a:ext>
            </a:extLst>
          </p:cNvPr>
          <p:cNvCxnSpPr/>
          <p:nvPr/>
        </p:nvCxnSpPr>
        <p:spPr>
          <a:xfrm>
            <a:off x="7968208" y="5937209"/>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30" name="Straight Arrow Connector 29">
            <a:extLst>
              <a:ext uri="{FF2B5EF4-FFF2-40B4-BE49-F238E27FC236}">
                <a16:creationId xmlns:a16="http://schemas.microsoft.com/office/drawing/2014/main" id="{7BD99682-60F7-E4C0-0BE2-3700E63DBCB0}"/>
              </a:ext>
            </a:extLst>
          </p:cNvPr>
          <p:cNvCxnSpPr/>
          <p:nvPr/>
        </p:nvCxnSpPr>
        <p:spPr>
          <a:xfrm>
            <a:off x="9644608" y="6021292"/>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sp>
        <p:nvSpPr>
          <p:cNvPr id="31" name="TextBox 30">
            <a:extLst>
              <a:ext uri="{FF2B5EF4-FFF2-40B4-BE49-F238E27FC236}">
                <a16:creationId xmlns:a16="http://schemas.microsoft.com/office/drawing/2014/main" id="{06D9DCB5-85FF-8264-CF89-5ED29C00E82F}"/>
              </a:ext>
            </a:extLst>
          </p:cNvPr>
          <p:cNvSpPr txBox="1"/>
          <p:nvPr/>
        </p:nvSpPr>
        <p:spPr>
          <a:xfrm>
            <a:off x="10530105" y="5804360"/>
            <a:ext cx="774571" cy="369332"/>
          </a:xfrm>
          <a:prstGeom prst="rect">
            <a:avLst/>
          </a:prstGeom>
          <a:noFill/>
        </p:spPr>
        <p:txBody>
          <a:bodyPr wrap="none" rtlCol="0">
            <a:spAutoFit/>
          </a:bodyPr>
          <a:lstStyle/>
          <a:p>
            <a:r>
              <a:rPr lang="en-US" dirty="0"/>
              <a:t>NULL</a:t>
            </a:r>
          </a:p>
        </p:txBody>
      </p:sp>
      <p:cxnSp>
        <p:nvCxnSpPr>
          <p:cNvPr id="32" name="Straight Arrow Connector 31">
            <a:extLst>
              <a:ext uri="{FF2B5EF4-FFF2-40B4-BE49-F238E27FC236}">
                <a16:creationId xmlns:a16="http://schemas.microsoft.com/office/drawing/2014/main" id="{08FEA627-339C-ABA1-29F5-D10181BBED38}"/>
              </a:ext>
            </a:extLst>
          </p:cNvPr>
          <p:cNvCxnSpPr>
            <a:cxnSpLocks/>
          </p:cNvCxnSpPr>
          <p:nvPr/>
        </p:nvCxnSpPr>
        <p:spPr>
          <a:xfrm>
            <a:off x="2751047" y="4849719"/>
            <a:ext cx="645160" cy="484049"/>
          </a:xfrm>
          <a:prstGeom prst="straightConnector1">
            <a:avLst/>
          </a:prstGeom>
          <a:ln w="107950">
            <a:tailEnd type="triangle"/>
          </a:ln>
        </p:spPr>
        <p:style>
          <a:lnRef idx="3">
            <a:schemeClr val="accent2"/>
          </a:lnRef>
          <a:fillRef idx="0">
            <a:schemeClr val="accent2"/>
          </a:fillRef>
          <a:effectRef idx="2">
            <a:schemeClr val="accent2"/>
          </a:effectRef>
          <a:fontRef idx="minor">
            <a:schemeClr val="tx1"/>
          </a:fontRef>
        </p:style>
      </p:cxnSp>
      <p:sp>
        <p:nvSpPr>
          <p:cNvPr id="33" name="TextBox 32">
            <a:extLst>
              <a:ext uri="{FF2B5EF4-FFF2-40B4-BE49-F238E27FC236}">
                <a16:creationId xmlns:a16="http://schemas.microsoft.com/office/drawing/2014/main" id="{FBB3E214-515F-3F12-70DD-78ACFBAA20DE}"/>
              </a:ext>
            </a:extLst>
          </p:cNvPr>
          <p:cNvSpPr txBox="1"/>
          <p:nvPr/>
        </p:nvSpPr>
        <p:spPr>
          <a:xfrm>
            <a:off x="1532211" y="4295392"/>
            <a:ext cx="1574470" cy="584775"/>
          </a:xfrm>
          <a:prstGeom prst="rect">
            <a:avLst/>
          </a:prstGeom>
          <a:noFill/>
        </p:spPr>
        <p:txBody>
          <a:bodyPr wrap="none" rtlCol="0">
            <a:spAutoFit/>
          </a:bodyPr>
          <a:lstStyle/>
          <a:p>
            <a:r>
              <a:rPr lang="en-US" sz="3200" dirty="0">
                <a:latin typeface="Times New Roman" panose="02020603050405020304" pitchFamily="18" charset="0"/>
                <a:cs typeface="Times New Roman" panose="02020603050405020304" pitchFamily="18" charset="0"/>
              </a:rPr>
              <a:t>yourList</a:t>
            </a:r>
          </a:p>
        </p:txBody>
      </p:sp>
      <p:cxnSp>
        <p:nvCxnSpPr>
          <p:cNvPr id="34" name="Straight Arrow Connector 33">
            <a:extLst>
              <a:ext uri="{FF2B5EF4-FFF2-40B4-BE49-F238E27FC236}">
                <a16:creationId xmlns:a16="http://schemas.microsoft.com/office/drawing/2014/main" id="{04CFE9F4-E3BD-DBB1-0DFC-CC84A18BA24D}"/>
              </a:ext>
            </a:extLst>
          </p:cNvPr>
          <p:cNvCxnSpPr>
            <a:cxnSpLocks/>
          </p:cNvCxnSpPr>
          <p:nvPr/>
        </p:nvCxnSpPr>
        <p:spPr>
          <a:xfrm flipH="1">
            <a:off x="4457918" y="5435505"/>
            <a:ext cx="652789" cy="1"/>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33C7BCD3-E415-4207-6FE3-0855B686D5D7}"/>
              </a:ext>
            </a:extLst>
          </p:cNvPr>
          <p:cNvCxnSpPr>
            <a:cxnSpLocks/>
          </p:cNvCxnSpPr>
          <p:nvPr/>
        </p:nvCxnSpPr>
        <p:spPr>
          <a:xfrm flipH="1">
            <a:off x="6249109" y="5435505"/>
            <a:ext cx="614198"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36" name="Straight Arrow Connector 35">
            <a:extLst>
              <a:ext uri="{FF2B5EF4-FFF2-40B4-BE49-F238E27FC236}">
                <a16:creationId xmlns:a16="http://schemas.microsoft.com/office/drawing/2014/main" id="{2C6DBF10-772B-4A3A-C275-BB694C5CE4AC}"/>
              </a:ext>
            </a:extLst>
          </p:cNvPr>
          <p:cNvCxnSpPr>
            <a:cxnSpLocks/>
          </p:cNvCxnSpPr>
          <p:nvPr/>
        </p:nvCxnSpPr>
        <p:spPr>
          <a:xfrm flipH="1">
            <a:off x="7988140" y="5333768"/>
            <a:ext cx="652789" cy="1"/>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37" name="Straight Arrow Connector 36">
            <a:extLst>
              <a:ext uri="{FF2B5EF4-FFF2-40B4-BE49-F238E27FC236}">
                <a16:creationId xmlns:a16="http://schemas.microsoft.com/office/drawing/2014/main" id="{02B45EE4-992D-699C-8761-0448EDE8A195}"/>
              </a:ext>
            </a:extLst>
          </p:cNvPr>
          <p:cNvCxnSpPr>
            <a:cxnSpLocks/>
          </p:cNvCxnSpPr>
          <p:nvPr/>
        </p:nvCxnSpPr>
        <p:spPr>
          <a:xfrm flipH="1">
            <a:off x="2718676" y="5595707"/>
            <a:ext cx="813325"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sp>
        <p:nvSpPr>
          <p:cNvPr id="38" name="TextBox 37">
            <a:extLst>
              <a:ext uri="{FF2B5EF4-FFF2-40B4-BE49-F238E27FC236}">
                <a16:creationId xmlns:a16="http://schemas.microsoft.com/office/drawing/2014/main" id="{31200A23-AB9E-267F-1D27-87A0A19B4D2A}"/>
              </a:ext>
            </a:extLst>
          </p:cNvPr>
          <p:cNvSpPr txBox="1"/>
          <p:nvPr/>
        </p:nvSpPr>
        <p:spPr>
          <a:xfrm>
            <a:off x="2065200" y="5374622"/>
            <a:ext cx="774571" cy="369332"/>
          </a:xfrm>
          <a:prstGeom prst="rect">
            <a:avLst/>
          </a:prstGeom>
          <a:noFill/>
        </p:spPr>
        <p:txBody>
          <a:bodyPr wrap="none" rtlCol="0">
            <a:spAutoFit/>
          </a:bodyPr>
          <a:lstStyle/>
          <a:p>
            <a:r>
              <a:rPr lang="en-US" dirty="0"/>
              <a:t>NULL</a:t>
            </a:r>
          </a:p>
        </p:txBody>
      </p:sp>
      <p:sp>
        <p:nvSpPr>
          <p:cNvPr id="4" name="TextBox 3">
            <a:extLst>
              <a:ext uri="{FF2B5EF4-FFF2-40B4-BE49-F238E27FC236}">
                <a16:creationId xmlns:a16="http://schemas.microsoft.com/office/drawing/2014/main" id="{9A5C51B7-BED9-5E28-2BE4-85F80028E411}"/>
              </a:ext>
            </a:extLst>
          </p:cNvPr>
          <p:cNvSpPr txBox="1"/>
          <p:nvPr/>
        </p:nvSpPr>
        <p:spPr>
          <a:xfrm>
            <a:off x="5009272" y="4096009"/>
            <a:ext cx="1391728" cy="584775"/>
          </a:xfrm>
          <a:prstGeom prst="rect">
            <a:avLst/>
          </a:prstGeom>
          <a:noFill/>
        </p:spPr>
        <p:txBody>
          <a:bodyPr wrap="none" rtlCol="0">
            <a:spAutoFit/>
          </a:bodyPr>
          <a:lstStyle/>
          <a:p>
            <a:r>
              <a:rPr lang="en-US" sz="3200" dirty="0">
                <a:solidFill>
                  <a:srgbClr val="00B050"/>
                </a:solidFill>
                <a:latin typeface="Times New Roman" panose="02020603050405020304" pitchFamily="18" charset="0"/>
                <a:cs typeface="Times New Roman" panose="02020603050405020304" pitchFamily="18" charset="0"/>
              </a:rPr>
              <a:t>itemPtr</a:t>
            </a:r>
          </a:p>
        </p:txBody>
      </p:sp>
      <p:cxnSp>
        <p:nvCxnSpPr>
          <p:cNvPr id="5" name="Straight Arrow Connector 4">
            <a:extLst>
              <a:ext uri="{FF2B5EF4-FFF2-40B4-BE49-F238E27FC236}">
                <a16:creationId xmlns:a16="http://schemas.microsoft.com/office/drawing/2014/main" id="{F18ACFF6-096C-6C92-C15B-57C417F05006}"/>
              </a:ext>
            </a:extLst>
          </p:cNvPr>
          <p:cNvCxnSpPr>
            <a:cxnSpLocks/>
          </p:cNvCxnSpPr>
          <p:nvPr/>
        </p:nvCxnSpPr>
        <p:spPr>
          <a:xfrm>
            <a:off x="5726748" y="4648299"/>
            <a:ext cx="30630" cy="437298"/>
          </a:xfrm>
          <a:prstGeom prst="straightConnector1">
            <a:avLst/>
          </a:prstGeom>
          <a:ln w="107950">
            <a:solidFill>
              <a:srgbClr val="00B050"/>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818136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7E8D3-B397-41B0-F948-13718DE280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C7BE10B-8BE3-4F51-E34F-20ADBE3C03CC}"/>
              </a:ext>
            </a:extLst>
          </p:cNvPr>
          <p:cNvSpPr txBox="1"/>
          <p:nvPr/>
        </p:nvSpPr>
        <p:spPr>
          <a:xfrm>
            <a:off x="899824" y="886949"/>
            <a:ext cx="10404852" cy="715581"/>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Delete from a Doubly Linked Lists</a:t>
            </a:r>
          </a:p>
        </p:txBody>
      </p:sp>
      <p:sp>
        <p:nvSpPr>
          <p:cNvPr id="19" name="Rectangle 18">
            <a:extLst>
              <a:ext uri="{FF2B5EF4-FFF2-40B4-BE49-F238E27FC236}">
                <a16:creationId xmlns:a16="http://schemas.microsoft.com/office/drawing/2014/main" id="{E47BD6BF-3B51-CFB2-6090-9995A9A07DE5}"/>
              </a:ext>
            </a:extLst>
          </p:cNvPr>
          <p:cNvSpPr/>
          <p:nvPr/>
        </p:nvSpPr>
        <p:spPr>
          <a:xfrm>
            <a:off x="3396207" y="5030692"/>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Squirtle</a:t>
            </a:r>
          </a:p>
          <a:p>
            <a:pPr algn="ctr"/>
            <a:r>
              <a:rPr lang="en-US" dirty="0"/>
              <a:t>400</a:t>
            </a:r>
          </a:p>
        </p:txBody>
      </p:sp>
      <p:sp>
        <p:nvSpPr>
          <p:cNvPr id="20" name="Rectangle 19">
            <a:extLst>
              <a:ext uri="{FF2B5EF4-FFF2-40B4-BE49-F238E27FC236}">
                <a16:creationId xmlns:a16="http://schemas.microsoft.com/office/drawing/2014/main" id="{5ADCB318-DDB8-FFBA-3524-86C02D1F06E4}"/>
              </a:ext>
            </a:extLst>
          </p:cNvPr>
          <p:cNvSpPr/>
          <p:nvPr/>
        </p:nvSpPr>
        <p:spPr>
          <a:xfrm>
            <a:off x="5148807" y="5030692"/>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Eevee</a:t>
            </a:r>
            <a:br>
              <a:rPr lang="en-US" dirty="0"/>
            </a:br>
            <a:r>
              <a:rPr lang="en-US" dirty="0"/>
              <a:t>50</a:t>
            </a:r>
          </a:p>
        </p:txBody>
      </p:sp>
      <p:sp>
        <p:nvSpPr>
          <p:cNvPr id="21" name="Rectangle 20">
            <a:extLst>
              <a:ext uri="{FF2B5EF4-FFF2-40B4-BE49-F238E27FC236}">
                <a16:creationId xmlns:a16="http://schemas.microsoft.com/office/drawing/2014/main" id="{6E0AE2E0-8F38-7385-2865-10C3DF4E5195}"/>
              </a:ext>
            </a:extLst>
          </p:cNvPr>
          <p:cNvSpPr/>
          <p:nvPr/>
        </p:nvSpPr>
        <p:spPr>
          <a:xfrm>
            <a:off x="6863307" y="5030692"/>
            <a:ext cx="1456997"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Charmander</a:t>
            </a:r>
          </a:p>
          <a:p>
            <a:pPr algn="ctr"/>
            <a:r>
              <a:rPr lang="en-US" dirty="0"/>
              <a:t>170</a:t>
            </a:r>
          </a:p>
        </p:txBody>
      </p:sp>
      <p:sp>
        <p:nvSpPr>
          <p:cNvPr id="22" name="Rectangle 21">
            <a:extLst>
              <a:ext uri="{FF2B5EF4-FFF2-40B4-BE49-F238E27FC236}">
                <a16:creationId xmlns:a16="http://schemas.microsoft.com/office/drawing/2014/main" id="{153303A8-C452-73FA-917E-6E0313702672}"/>
              </a:ext>
            </a:extLst>
          </p:cNvPr>
          <p:cNvSpPr/>
          <p:nvPr/>
        </p:nvSpPr>
        <p:spPr>
          <a:xfrm>
            <a:off x="8567297" y="5030692"/>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Pikachu</a:t>
            </a:r>
          </a:p>
          <a:p>
            <a:pPr algn="ctr"/>
            <a:r>
              <a:rPr lang="en-US" dirty="0"/>
              <a:t>500</a:t>
            </a:r>
          </a:p>
        </p:txBody>
      </p:sp>
      <p:pic>
        <p:nvPicPr>
          <p:cNvPr id="23" name="Picture 22">
            <a:extLst>
              <a:ext uri="{FF2B5EF4-FFF2-40B4-BE49-F238E27FC236}">
                <a16:creationId xmlns:a16="http://schemas.microsoft.com/office/drawing/2014/main" id="{1A0B0558-4A7B-958B-A1AB-CD1F2569F1E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0" b="94783" l="0" r="100000"/>
                    </a14:imgEffect>
                  </a14:imgLayer>
                </a14:imgProps>
              </a:ext>
              <a:ext uri="{28A0092B-C50C-407E-A947-70E740481C1C}">
                <a14:useLocalDpi xmlns:a14="http://schemas.microsoft.com/office/drawing/2010/main" val="0"/>
              </a:ext>
            </a:extLst>
          </a:blip>
          <a:stretch>
            <a:fillRect/>
          </a:stretch>
        </p:blipFill>
        <p:spPr>
          <a:xfrm>
            <a:off x="3496220" y="5078318"/>
            <a:ext cx="510901" cy="510901"/>
          </a:xfrm>
          <a:prstGeom prst="rect">
            <a:avLst/>
          </a:prstGeom>
        </p:spPr>
      </p:pic>
      <p:pic>
        <p:nvPicPr>
          <p:cNvPr id="24" name="Picture 23">
            <a:extLst>
              <a:ext uri="{FF2B5EF4-FFF2-40B4-BE49-F238E27FC236}">
                <a16:creationId xmlns:a16="http://schemas.microsoft.com/office/drawing/2014/main" id="{E5C7E3DC-CE6E-4402-4A42-4B1D3452CADC}"/>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5248821" y="5054506"/>
            <a:ext cx="661986" cy="661986"/>
          </a:xfrm>
          <a:prstGeom prst="rect">
            <a:avLst/>
          </a:prstGeom>
        </p:spPr>
      </p:pic>
      <p:pic>
        <p:nvPicPr>
          <p:cNvPr id="25" name="Picture 24">
            <a:extLst>
              <a:ext uri="{FF2B5EF4-FFF2-40B4-BE49-F238E27FC236}">
                <a16:creationId xmlns:a16="http://schemas.microsoft.com/office/drawing/2014/main" id="{CDDD87C4-5395-C928-D6A3-5292C5802909}"/>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0" b="97115" l="0" r="100000"/>
                    </a14:imgEffect>
                  </a14:imgLayer>
                </a14:imgProps>
              </a:ext>
              <a:ext uri="{28A0092B-C50C-407E-A947-70E740481C1C}">
                <a14:useLocalDpi xmlns:a14="http://schemas.microsoft.com/office/drawing/2010/main" val="0"/>
              </a:ext>
            </a:extLst>
          </a:blip>
          <a:stretch>
            <a:fillRect/>
          </a:stretch>
        </p:blipFill>
        <p:spPr>
          <a:xfrm>
            <a:off x="6971745" y="5083079"/>
            <a:ext cx="539262" cy="609600"/>
          </a:xfrm>
          <a:prstGeom prst="rect">
            <a:avLst/>
          </a:prstGeom>
        </p:spPr>
      </p:pic>
      <p:pic>
        <p:nvPicPr>
          <p:cNvPr id="26" name="Picture 25">
            <a:extLst>
              <a:ext uri="{FF2B5EF4-FFF2-40B4-BE49-F238E27FC236}">
                <a16:creationId xmlns:a16="http://schemas.microsoft.com/office/drawing/2014/main" id="{678D58A3-F47C-9CFA-83F2-A53E02DB1D35}"/>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2647" t="-1" b="2410"/>
          <a:stretch/>
        </p:blipFill>
        <p:spPr>
          <a:xfrm>
            <a:off x="8655548" y="5055818"/>
            <a:ext cx="541057" cy="533400"/>
          </a:xfrm>
          <a:prstGeom prst="rect">
            <a:avLst/>
          </a:prstGeom>
        </p:spPr>
      </p:pic>
      <p:cxnSp>
        <p:nvCxnSpPr>
          <p:cNvPr id="27" name="Straight Arrow Connector 26">
            <a:extLst>
              <a:ext uri="{FF2B5EF4-FFF2-40B4-BE49-F238E27FC236}">
                <a16:creationId xmlns:a16="http://schemas.microsoft.com/office/drawing/2014/main" id="{8C2AE8CA-B39A-986E-EEAC-5FC07EE7AF24}"/>
              </a:ext>
            </a:extLst>
          </p:cNvPr>
          <p:cNvCxnSpPr/>
          <p:nvPr/>
        </p:nvCxnSpPr>
        <p:spPr>
          <a:xfrm>
            <a:off x="4415711" y="5945092"/>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28" name="Straight Arrow Connector 27">
            <a:extLst>
              <a:ext uri="{FF2B5EF4-FFF2-40B4-BE49-F238E27FC236}">
                <a16:creationId xmlns:a16="http://schemas.microsoft.com/office/drawing/2014/main" id="{E3305EEE-AA43-6F78-CC5C-236863BD1300}"/>
              </a:ext>
            </a:extLst>
          </p:cNvPr>
          <p:cNvCxnSpPr/>
          <p:nvPr/>
        </p:nvCxnSpPr>
        <p:spPr>
          <a:xfrm>
            <a:off x="6291808" y="5937209"/>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29" name="Straight Arrow Connector 28">
            <a:extLst>
              <a:ext uri="{FF2B5EF4-FFF2-40B4-BE49-F238E27FC236}">
                <a16:creationId xmlns:a16="http://schemas.microsoft.com/office/drawing/2014/main" id="{8E48F11C-D32F-48C0-5C9B-B94913D8A34A}"/>
              </a:ext>
            </a:extLst>
          </p:cNvPr>
          <p:cNvCxnSpPr/>
          <p:nvPr/>
        </p:nvCxnSpPr>
        <p:spPr>
          <a:xfrm>
            <a:off x="7968208" y="5937209"/>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30" name="Straight Arrow Connector 29">
            <a:extLst>
              <a:ext uri="{FF2B5EF4-FFF2-40B4-BE49-F238E27FC236}">
                <a16:creationId xmlns:a16="http://schemas.microsoft.com/office/drawing/2014/main" id="{2D5537B8-169C-C158-D7A1-D109CCFA3CC1}"/>
              </a:ext>
            </a:extLst>
          </p:cNvPr>
          <p:cNvCxnSpPr/>
          <p:nvPr/>
        </p:nvCxnSpPr>
        <p:spPr>
          <a:xfrm>
            <a:off x="9644608" y="6021292"/>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sp>
        <p:nvSpPr>
          <p:cNvPr id="31" name="TextBox 30">
            <a:extLst>
              <a:ext uri="{FF2B5EF4-FFF2-40B4-BE49-F238E27FC236}">
                <a16:creationId xmlns:a16="http://schemas.microsoft.com/office/drawing/2014/main" id="{829C9211-C53C-9D3E-29C1-6CD2D29A2826}"/>
              </a:ext>
            </a:extLst>
          </p:cNvPr>
          <p:cNvSpPr txBox="1"/>
          <p:nvPr/>
        </p:nvSpPr>
        <p:spPr>
          <a:xfrm>
            <a:off x="10530105" y="5804360"/>
            <a:ext cx="774571" cy="369332"/>
          </a:xfrm>
          <a:prstGeom prst="rect">
            <a:avLst/>
          </a:prstGeom>
          <a:noFill/>
        </p:spPr>
        <p:txBody>
          <a:bodyPr wrap="none" rtlCol="0">
            <a:spAutoFit/>
          </a:bodyPr>
          <a:lstStyle/>
          <a:p>
            <a:r>
              <a:rPr lang="en-US" dirty="0"/>
              <a:t>NULL</a:t>
            </a:r>
          </a:p>
        </p:txBody>
      </p:sp>
      <p:cxnSp>
        <p:nvCxnSpPr>
          <p:cNvPr id="32" name="Straight Arrow Connector 31">
            <a:extLst>
              <a:ext uri="{FF2B5EF4-FFF2-40B4-BE49-F238E27FC236}">
                <a16:creationId xmlns:a16="http://schemas.microsoft.com/office/drawing/2014/main" id="{F2B6419C-A4FE-E339-E3C6-B4BA5A833B1B}"/>
              </a:ext>
            </a:extLst>
          </p:cNvPr>
          <p:cNvCxnSpPr>
            <a:cxnSpLocks/>
          </p:cNvCxnSpPr>
          <p:nvPr/>
        </p:nvCxnSpPr>
        <p:spPr>
          <a:xfrm>
            <a:off x="2751047" y="4849719"/>
            <a:ext cx="645160" cy="484049"/>
          </a:xfrm>
          <a:prstGeom prst="straightConnector1">
            <a:avLst/>
          </a:prstGeom>
          <a:ln w="107950">
            <a:tailEnd type="triangle"/>
          </a:ln>
        </p:spPr>
        <p:style>
          <a:lnRef idx="3">
            <a:schemeClr val="accent2"/>
          </a:lnRef>
          <a:fillRef idx="0">
            <a:schemeClr val="accent2"/>
          </a:fillRef>
          <a:effectRef idx="2">
            <a:schemeClr val="accent2"/>
          </a:effectRef>
          <a:fontRef idx="minor">
            <a:schemeClr val="tx1"/>
          </a:fontRef>
        </p:style>
      </p:cxnSp>
      <p:sp>
        <p:nvSpPr>
          <p:cNvPr id="33" name="TextBox 32">
            <a:extLst>
              <a:ext uri="{FF2B5EF4-FFF2-40B4-BE49-F238E27FC236}">
                <a16:creationId xmlns:a16="http://schemas.microsoft.com/office/drawing/2014/main" id="{F5491E60-B7C6-8877-44D4-B10110D35EA4}"/>
              </a:ext>
            </a:extLst>
          </p:cNvPr>
          <p:cNvSpPr txBox="1"/>
          <p:nvPr/>
        </p:nvSpPr>
        <p:spPr>
          <a:xfrm>
            <a:off x="1532211" y="4295392"/>
            <a:ext cx="1574470" cy="584775"/>
          </a:xfrm>
          <a:prstGeom prst="rect">
            <a:avLst/>
          </a:prstGeom>
          <a:noFill/>
        </p:spPr>
        <p:txBody>
          <a:bodyPr wrap="none" rtlCol="0">
            <a:spAutoFit/>
          </a:bodyPr>
          <a:lstStyle/>
          <a:p>
            <a:r>
              <a:rPr lang="en-US" sz="3200" dirty="0">
                <a:latin typeface="Times New Roman" panose="02020603050405020304" pitchFamily="18" charset="0"/>
                <a:cs typeface="Times New Roman" panose="02020603050405020304" pitchFamily="18" charset="0"/>
              </a:rPr>
              <a:t>yourList</a:t>
            </a:r>
          </a:p>
        </p:txBody>
      </p:sp>
      <p:cxnSp>
        <p:nvCxnSpPr>
          <p:cNvPr id="34" name="Straight Arrow Connector 33">
            <a:extLst>
              <a:ext uri="{FF2B5EF4-FFF2-40B4-BE49-F238E27FC236}">
                <a16:creationId xmlns:a16="http://schemas.microsoft.com/office/drawing/2014/main" id="{2B366A60-34CA-DF6D-6252-B00FCDB106AF}"/>
              </a:ext>
            </a:extLst>
          </p:cNvPr>
          <p:cNvCxnSpPr>
            <a:cxnSpLocks/>
          </p:cNvCxnSpPr>
          <p:nvPr/>
        </p:nvCxnSpPr>
        <p:spPr>
          <a:xfrm flipH="1">
            <a:off x="4457918" y="5435505"/>
            <a:ext cx="652789" cy="1"/>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105984A5-84B8-C8F1-089D-EAA2DF529294}"/>
              </a:ext>
            </a:extLst>
          </p:cNvPr>
          <p:cNvCxnSpPr>
            <a:cxnSpLocks/>
          </p:cNvCxnSpPr>
          <p:nvPr/>
        </p:nvCxnSpPr>
        <p:spPr>
          <a:xfrm flipH="1">
            <a:off x="6249109" y="5435505"/>
            <a:ext cx="614198"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36" name="Straight Arrow Connector 35">
            <a:extLst>
              <a:ext uri="{FF2B5EF4-FFF2-40B4-BE49-F238E27FC236}">
                <a16:creationId xmlns:a16="http://schemas.microsoft.com/office/drawing/2014/main" id="{51BF9377-9057-EE7A-53B1-5E09E72F7306}"/>
              </a:ext>
            </a:extLst>
          </p:cNvPr>
          <p:cNvCxnSpPr>
            <a:cxnSpLocks/>
          </p:cNvCxnSpPr>
          <p:nvPr/>
        </p:nvCxnSpPr>
        <p:spPr>
          <a:xfrm flipH="1">
            <a:off x="7988140" y="5333768"/>
            <a:ext cx="652789" cy="1"/>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37" name="Straight Arrow Connector 36">
            <a:extLst>
              <a:ext uri="{FF2B5EF4-FFF2-40B4-BE49-F238E27FC236}">
                <a16:creationId xmlns:a16="http://schemas.microsoft.com/office/drawing/2014/main" id="{65FE138A-619B-D84A-A918-591D93FD5B7D}"/>
              </a:ext>
            </a:extLst>
          </p:cNvPr>
          <p:cNvCxnSpPr>
            <a:cxnSpLocks/>
          </p:cNvCxnSpPr>
          <p:nvPr/>
        </p:nvCxnSpPr>
        <p:spPr>
          <a:xfrm flipH="1">
            <a:off x="2718676" y="5595707"/>
            <a:ext cx="813325"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sp>
        <p:nvSpPr>
          <p:cNvPr id="38" name="TextBox 37">
            <a:extLst>
              <a:ext uri="{FF2B5EF4-FFF2-40B4-BE49-F238E27FC236}">
                <a16:creationId xmlns:a16="http://schemas.microsoft.com/office/drawing/2014/main" id="{95858F99-97AA-F7C8-57FA-D21F30B8CF62}"/>
              </a:ext>
            </a:extLst>
          </p:cNvPr>
          <p:cNvSpPr txBox="1"/>
          <p:nvPr/>
        </p:nvSpPr>
        <p:spPr>
          <a:xfrm>
            <a:off x="2065200" y="5374622"/>
            <a:ext cx="774571" cy="369332"/>
          </a:xfrm>
          <a:prstGeom prst="rect">
            <a:avLst/>
          </a:prstGeom>
          <a:noFill/>
        </p:spPr>
        <p:txBody>
          <a:bodyPr wrap="none" rtlCol="0">
            <a:spAutoFit/>
          </a:bodyPr>
          <a:lstStyle/>
          <a:p>
            <a:r>
              <a:rPr lang="en-US" dirty="0"/>
              <a:t>NULL</a:t>
            </a:r>
          </a:p>
        </p:txBody>
      </p:sp>
      <p:sp>
        <p:nvSpPr>
          <p:cNvPr id="4" name="TextBox 3">
            <a:extLst>
              <a:ext uri="{FF2B5EF4-FFF2-40B4-BE49-F238E27FC236}">
                <a16:creationId xmlns:a16="http://schemas.microsoft.com/office/drawing/2014/main" id="{901F8A00-F9A0-9F59-9918-BC93C94288B4}"/>
              </a:ext>
            </a:extLst>
          </p:cNvPr>
          <p:cNvSpPr txBox="1"/>
          <p:nvPr/>
        </p:nvSpPr>
        <p:spPr>
          <a:xfrm>
            <a:off x="5009272" y="4096009"/>
            <a:ext cx="1391728" cy="584775"/>
          </a:xfrm>
          <a:prstGeom prst="rect">
            <a:avLst/>
          </a:prstGeom>
          <a:noFill/>
        </p:spPr>
        <p:txBody>
          <a:bodyPr wrap="none" rtlCol="0">
            <a:spAutoFit/>
          </a:bodyPr>
          <a:lstStyle/>
          <a:p>
            <a:r>
              <a:rPr lang="en-US" sz="3200" dirty="0">
                <a:solidFill>
                  <a:srgbClr val="00B050"/>
                </a:solidFill>
                <a:latin typeface="Times New Roman" panose="02020603050405020304" pitchFamily="18" charset="0"/>
                <a:cs typeface="Times New Roman" panose="02020603050405020304" pitchFamily="18" charset="0"/>
              </a:rPr>
              <a:t>itemPtr</a:t>
            </a:r>
          </a:p>
        </p:txBody>
      </p:sp>
      <p:cxnSp>
        <p:nvCxnSpPr>
          <p:cNvPr id="5" name="Straight Arrow Connector 4">
            <a:extLst>
              <a:ext uri="{FF2B5EF4-FFF2-40B4-BE49-F238E27FC236}">
                <a16:creationId xmlns:a16="http://schemas.microsoft.com/office/drawing/2014/main" id="{0B3FE4FE-5F54-3268-75A4-CD68BDADE9EF}"/>
              </a:ext>
            </a:extLst>
          </p:cNvPr>
          <p:cNvCxnSpPr>
            <a:cxnSpLocks/>
          </p:cNvCxnSpPr>
          <p:nvPr/>
        </p:nvCxnSpPr>
        <p:spPr>
          <a:xfrm>
            <a:off x="5726748" y="4648299"/>
            <a:ext cx="30630" cy="437298"/>
          </a:xfrm>
          <a:prstGeom prst="straightConnector1">
            <a:avLst/>
          </a:prstGeom>
          <a:ln w="107950">
            <a:solidFill>
              <a:srgbClr val="00B050"/>
            </a:solidFill>
            <a:tailEnd type="triangle"/>
          </a:ln>
        </p:spPr>
        <p:style>
          <a:lnRef idx="3">
            <a:schemeClr val="accent2"/>
          </a:lnRef>
          <a:fillRef idx="0">
            <a:schemeClr val="accent2"/>
          </a:fillRef>
          <a:effectRef idx="2">
            <a:schemeClr val="accent2"/>
          </a:effectRef>
          <a:fontRef idx="minor">
            <a:schemeClr val="tx1"/>
          </a:fontRef>
        </p:style>
      </p:cxnSp>
      <p:sp>
        <p:nvSpPr>
          <p:cNvPr id="7" name="Rectangle 6">
            <a:extLst>
              <a:ext uri="{FF2B5EF4-FFF2-40B4-BE49-F238E27FC236}">
                <a16:creationId xmlns:a16="http://schemas.microsoft.com/office/drawing/2014/main" id="{AB863C87-2CC9-49C0-986C-F123487DBD04}"/>
              </a:ext>
            </a:extLst>
          </p:cNvPr>
          <p:cNvSpPr/>
          <p:nvPr/>
        </p:nvSpPr>
        <p:spPr>
          <a:xfrm>
            <a:off x="566991" y="2015516"/>
            <a:ext cx="7697439" cy="1526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dirty="0">
                <a:solidFill>
                  <a:srgbClr val="FF0000"/>
                </a:solidFill>
                <a:latin typeface="Times New Roman" panose="02020603050405020304" pitchFamily="18" charset="0"/>
                <a:cs typeface="Times New Roman" panose="02020603050405020304" pitchFamily="18" charset="0"/>
              </a:rPr>
              <a:t>itemPtr-&gt;prev-&gt;next = itemPtr-&gt;next;</a:t>
            </a:r>
          </a:p>
          <a:p>
            <a:r>
              <a:rPr lang="en-US" sz="3200" dirty="0">
                <a:solidFill>
                  <a:srgbClr val="FFFF00"/>
                </a:solidFill>
                <a:latin typeface="Times New Roman" panose="02020603050405020304" pitchFamily="18" charset="0"/>
                <a:cs typeface="Times New Roman" panose="02020603050405020304" pitchFamily="18" charset="0"/>
              </a:rPr>
              <a:t>itemPtr-&gt;next-&gt;prev = itemPtr-&gt;prev;</a:t>
            </a:r>
          </a:p>
          <a:p>
            <a:r>
              <a:rPr lang="en-US" sz="3200" dirty="0">
                <a:solidFill>
                  <a:schemeClr val="bg1"/>
                </a:solidFill>
                <a:latin typeface="Times New Roman" panose="02020603050405020304" pitchFamily="18" charset="0"/>
                <a:cs typeface="Times New Roman" panose="02020603050405020304" pitchFamily="18" charset="0"/>
              </a:rPr>
              <a:t>free(itemPtr)</a:t>
            </a:r>
          </a:p>
        </p:txBody>
      </p:sp>
      <p:cxnSp>
        <p:nvCxnSpPr>
          <p:cNvPr id="8" name="Straight Arrow Connector 7">
            <a:extLst>
              <a:ext uri="{FF2B5EF4-FFF2-40B4-BE49-F238E27FC236}">
                <a16:creationId xmlns:a16="http://schemas.microsoft.com/office/drawing/2014/main" id="{6C23A4C0-C985-9520-99F0-6F1EFB6B11AF}"/>
              </a:ext>
            </a:extLst>
          </p:cNvPr>
          <p:cNvCxnSpPr>
            <a:cxnSpLocks/>
          </p:cNvCxnSpPr>
          <p:nvPr/>
        </p:nvCxnSpPr>
        <p:spPr>
          <a:xfrm>
            <a:off x="4663337" y="6162107"/>
            <a:ext cx="2448278" cy="0"/>
          </a:xfrm>
          <a:prstGeom prst="straightConnector1">
            <a:avLst/>
          </a:prstGeom>
          <a:ln w="107950">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9" name="Straight Arrow Connector 8">
            <a:extLst>
              <a:ext uri="{FF2B5EF4-FFF2-40B4-BE49-F238E27FC236}">
                <a16:creationId xmlns:a16="http://schemas.microsoft.com/office/drawing/2014/main" id="{41E22BDD-EBD7-D6FD-A56C-75AD16C01E69}"/>
              </a:ext>
            </a:extLst>
          </p:cNvPr>
          <p:cNvCxnSpPr>
            <a:cxnSpLocks/>
          </p:cNvCxnSpPr>
          <p:nvPr/>
        </p:nvCxnSpPr>
        <p:spPr>
          <a:xfrm flipH="1">
            <a:off x="4481399" y="5129189"/>
            <a:ext cx="2394399" cy="62341"/>
          </a:xfrm>
          <a:prstGeom prst="straightConnector1">
            <a:avLst/>
          </a:prstGeom>
          <a:ln w="107950">
            <a:solidFill>
              <a:srgbClr val="FFFF00"/>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569565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2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anim calcmode="lin" valueType="num">
                                      <p:cBhvr additive="base">
                                        <p:cTn id="2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
                                            <p:txEl>
                                              <p:pRg st="2" end="2"/>
                                            </p:txEl>
                                          </p:spTgt>
                                        </p:tgtEl>
                                        <p:attrNameLst>
                                          <p:attrName>style.visibility</p:attrName>
                                        </p:attrNameLst>
                                      </p:cBhvr>
                                      <p:to>
                                        <p:strVal val="visible"/>
                                      </p:to>
                                    </p:set>
                                    <p:anim calcmode="lin" valueType="num">
                                      <p:cBhvr additive="base">
                                        <p:cTn id="2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35"/>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ppt_x</p:attrName>
                                        </p:attrNameLst>
                                      </p:cBhvr>
                                      <p:tavLst>
                                        <p:tav tm="0">
                                          <p:val>
                                            <p:strVal val="#ppt_x"/>
                                          </p:val>
                                        </p:tav>
                                        <p:tav tm="100000">
                                          <p:val>
                                            <p:strVal val="#ppt_x"/>
                                          </p:val>
                                        </p:tav>
                                      </p:tavLst>
                                    </p:anim>
                                    <p:anim calcmode="lin" valueType="num">
                                      <p:cBhvr additive="base">
                                        <p:cTn id="4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FBD59-52B6-B240-CEA3-2DC4D5B026B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576547-A992-9CC0-B05E-74036FEDB9E3}"/>
              </a:ext>
            </a:extLst>
          </p:cNvPr>
          <p:cNvSpPr>
            <a:spLocks noGrp="1"/>
          </p:cNvSpPr>
          <p:nvPr>
            <p:ph idx="1"/>
          </p:nvPr>
        </p:nvSpPr>
        <p:spPr>
          <a:xfrm>
            <a:off x="573228" y="1938212"/>
            <a:ext cx="11351761" cy="1570924"/>
          </a:xfrm>
        </p:spPr>
        <p:txBody>
          <a:bodyPr anchor="t" anchorCtr="0">
            <a:noAutofit/>
          </a:bodyPr>
          <a:lstStyle/>
          <a:p>
            <a:pPr>
              <a:lnSpc>
                <a:spcPct val="95000"/>
              </a:lnSpc>
              <a:spcAft>
                <a:spcPts val="450"/>
              </a:spcAft>
              <a:buFont typeface="Wingdings" pitchFamily="2" charset="2"/>
              <a:buChar char="Ø"/>
            </a:pPr>
            <a:r>
              <a:rPr lang="en-US" sz="4000" dirty="0"/>
              <a:t>Which lines of code would we use to add the new Node after Eevee?</a:t>
            </a:r>
          </a:p>
        </p:txBody>
      </p:sp>
      <p:sp>
        <p:nvSpPr>
          <p:cNvPr id="2" name="TextBox 1">
            <a:extLst>
              <a:ext uri="{FF2B5EF4-FFF2-40B4-BE49-F238E27FC236}">
                <a16:creationId xmlns:a16="http://schemas.microsoft.com/office/drawing/2014/main" id="{AA0AB11F-CF3C-F4C0-8FA9-0D572DE38B7B}"/>
              </a:ext>
            </a:extLst>
          </p:cNvPr>
          <p:cNvSpPr txBox="1"/>
          <p:nvPr/>
        </p:nvSpPr>
        <p:spPr>
          <a:xfrm>
            <a:off x="899824" y="886949"/>
            <a:ext cx="10404852" cy="715581"/>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Add to the Middle of a Doubly Linked Lists</a:t>
            </a:r>
          </a:p>
        </p:txBody>
      </p:sp>
      <p:sp>
        <p:nvSpPr>
          <p:cNvPr id="19" name="Rectangle 18">
            <a:extLst>
              <a:ext uri="{FF2B5EF4-FFF2-40B4-BE49-F238E27FC236}">
                <a16:creationId xmlns:a16="http://schemas.microsoft.com/office/drawing/2014/main" id="{92898A59-8BD8-01CE-A580-ED91935E47DD}"/>
              </a:ext>
            </a:extLst>
          </p:cNvPr>
          <p:cNvSpPr/>
          <p:nvPr/>
        </p:nvSpPr>
        <p:spPr>
          <a:xfrm>
            <a:off x="3396207" y="5030692"/>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Squirtle</a:t>
            </a:r>
          </a:p>
          <a:p>
            <a:pPr algn="ctr"/>
            <a:r>
              <a:rPr lang="en-US" dirty="0"/>
              <a:t>400</a:t>
            </a:r>
          </a:p>
        </p:txBody>
      </p:sp>
      <p:sp>
        <p:nvSpPr>
          <p:cNvPr id="20" name="Rectangle 19">
            <a:extLst>
              <a:ext uri="{FF2B5EF4-FFF2-40B4-BE49-F238E27FC236}">
                <a16:creationId xmlns:a16="http://schemas.microsoft.com/office/drawing/2014/main" id="{040380BD-FD89-F6E2-8742-0179BECE1B66}"/>
              </a:ext>
            </a:extLst>
          </p:cNvPr>
          <p:cNvSpPr/>
          <p:nvPr/>
        </p:nvSpPr>
        <p:spPr>
          <a:xfrm>
            <a:off x="5148807" y="5030692"/>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Eevee</a:t>
            </a:r>
            <a:br>
              <a:rPr lang="en-US" dirty="0"/>
            </a:br>
            <a:r>
              <a:rPr lang="en-US" dirty="0"/>
              <a:t>50</a:t>
            </a:r>
          </a:p>
        </p:txBody>
      </p:sp>
      <p:sp>
        <p:nvSpPr>
          <p:cNvPr id="21" name="Rectangle 20">
            <a:extLst>
              <a:ext uri="{FF2B5EF4-FFF2-40B4-BE49-F238E27FC236}">
                <a16:creationId xmlns:a16="http://schemas.microsoft.com/office/drawing/2014/main" id="{AA3737D1-1E5E-B058-8638-B98316E1822D}"/>
              </a:ext>
            </a:extLst>
          </p:cNvPr>
          <p:cNvSpPr/>
          <p:nvPr/>
        </p:nvSpPr>
        <p:spPr>
          <a:xfrm>
            <a:off x="6863307" y="5030692"/>
            <a:ext cx="1456997"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Charmander</a:t>
            </a:r>
          </a:p>
          <a:p>
            <a:pPr algn="ctr"/>
            <a:r>
              <a:rPr lang="en-US" dirty="0"/>
              <a:t>170</a:t>
            </a:r>
          </a:p>
        </p:txBody>
      </p:sp>
      <p:sp>
        <p:nvSpPr>
          <p:cNvPr id="22" name="Rectangle 21">
            <a:extLst>
              <a:ext uri="{FF2B5EF4-FFF2-40B4-BE49-F238E27FC236}">
                <a16:creationId xmlns:a16="http://schemas.microsoft.com/office/drawing/2014/main" id="{1C26FA17-FE04-C058-47BE-C483227BC2BB}"/>
              </a:ext>
            </a:extLst>
          </p:cNvPr>
          <p:cNvSpPr/>
          <p:nvPr/>
        </p:nvSpPr>
        <p:spPr>
          <a:xfrm>
            <a:off x="8567297" y="5030692"/>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Pikachu</a:t>
            </a:r>
          </a:p>
          <a:p>
            <a:pPr algn="ctr"/>
            <a:r>
              <a:rPr lang="en-US" dirty="0"/>
              <a:t>500</a:t>
            </a:r>
          </a:p>
        </p:txBody>
      </p:sp>
      <p:pic>
        <p:nvPicPr>
          <p:cNvPr id="23" name="Picture 22">
            <a:extLst>
              <a:ext uri="{FF2B5EF4-FFF2-40B4-BE49-F238E27FC236}">
                <a16:creationId xmlns:a16="http://schemas.microsoft.com/office/drawing/2014/main" id="{F96DC894-0B07-1DB7-F189-63611292CCC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0" b="94783" l="0" r="100000"/>
                    </a14:imgEffect>
                  </a14:imgLayer>
                </a14:imgProps>
              </a:ext>
              <a:ext uri="{28A0092B-C50C-407E-A947-70E740481C1C}">
                <a14:useLocalDpi xmlns:a14="http://schemas.microsoft.com/office/drawing/2010/main" val="0"/>
              </a:ext>
            </a:extLst>
          </a:blip>
          <a:stretch>
            <a:fillRect/>
          </a:stretch>
        </p:blipFill>
        <p:spPr>
          <a:xfrm>
            <a:off x="3496220" y="5078318"/>
            <a:ext cx="510901" cy="510901"/>
          </a:xfrm>
          <a:prstGeom prst="rect">
            <a:avLst/>
          </a:prstGeom>
        </p:spPr>
      </p:pic>
      <p:pic>
        <p:nvPicPr>
          <p:cNvPr id="24" name="Picture 23">
            <a:extLst>
              <a:ext uri="{FF2B5EF4-FFF2-40B4-BE49-F238E27FC236}">
                <a16:creationId xmlns:a16="http://schemas.microsoft.com/office/drawing/2014/main" id="{D1338A55-7BCB-7845-2F95-20F479F60268}"/>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5248821" y="5054506"/>
            <a:ext cx="661986" cy="661986"/>
          </a:xfrm>
          <a:prstGeom prst="rect">
            <a:avLst/>
          </a:prstGeom>
        </p:spPr>
      </p:pic>
      <p:pic>
        <p:nvPicPr>
          <p:cNvPr id="25" name="Picture 24">
            <a:extLst>
              <a:ext uri="{FF2B5EF4-FFF2-40B4-BE49-F238E27FC236}">
                <a16:creationId xmlns:a16="http://schemas.microsoft.com/office/drawing/2014/main" id="{4FD55A4E-3786-8FE5-14C5-18D6C54E0E61}"/>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0" b="97115" l="0" r="100000"/>
                    </a14:imgEffect>
                  </a14:imgLayer>
                </a14:imgProps>
              </a:ext>
              <a:ext uri="{28A0092B-C50C-407E-A947-70E740481C1C}">
                <a14:useLocalDpi xmlns:a14="http://schemas.microsoft.com/office/drawing/2010/main" val="0"/>
              </a:ext>
            </a:extLst>
          </a:blip>
          <a:stretch>
            <a:fillRect/>
          </a:stretch>
        </p:blipFill>
        <p:spPr>
          <a:xfrm>
            <a:off x="6971745" y="5083079"/>
            <a:ext cx="539262" cy="609600"/>
          </a:xfrm>
          <a:prstGeom prst="rect">
            <a:avLst/>
          </a:prstGeom>
        </p:spPr>
      </p:pic>
      <p:pic>
        <p:nvPicPr>
          <p:cNvPr id="26" name="Picture 25">
            <a:extLst>
              <a:ext uri="{FF2B5EF4-FFF2-40B4-BE49-F238E27FC236}">
                <a16:creationId xmlns:a16="http://schemas.microsoft.com/office/drawing/2014/main" id="{0B1AD079-86DB-CD5F-1020-A8730117F6A1}"/>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2647" t="-1" b="2410"/>
          <a:stretch/>
        </p:blipFill>
        <p:spPr>
          <a:xfrm>
            <a:off x="8655548" y="5055818"/>
            <a:ext cx="541057" cy="533400"/>
          </a:xfrm>
          <a:prstGeom prst="rect">
            <a:avLst/>
          </a:prstGeom>
        </p:spPr>
      </p:pic>
      <p:cxnSp>
        <p:nvCxnSpPr>
          <p:cNvPr id="27" name="Straight Arrow Connector 26">
            <a:extLst>
              <a:ext uri="{FF2B5EF4-FFF2-40B4-BE49-F238E27FC236}">
                <a16:creationId xmlns:a16="http://schemas.microsoft.com/office/drawing/2014/main" id="{D806DFEB-FC18-FEB8-5558-F7A4EF228E66}"/>
              </a:ext>
            </a:extLst>
          </p:cNvPr>
          <p:cNvCxnSpPr/>
          <p:nvPr/>
        </p:nvCxnSpPr>
        <p:spPr>
          <a:xfrm>
            <a:off x="4415711" y="5945092"/>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28" name="Straight Arrow Connector 27">
            <a:extLst>
              <a:ext uri="{FF2B5EF4-FFF2-40B4-BE49-F238E27FC236}">
                <a16:creationId xmlns:a16="http://schemas.microsoft.com/office/drawing/2014/main" id="{2E5BB63C-074A-09B3-2990-3E4532390902}"/>
              </a:ext>
            </a:extLst>
          </p:cNvPr>
          <p:cNvCxnSpPr/>
          <p:nvPr/>
        </p:nvCxnSpPr>
        <p:spPr>
          <a:xfrm>
            <a:off x="6291808" y="5937209"/>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29" name="Straight Arrow Connector 28">
            <a:extLst>
              <a:ext uri="{FF2B5EF4-FFF2-40B4-BE49-F238E27FC236}">
                <a16:creationId xmlns:a16="http://schemas.microsoft.com/office/drawing/2014/main" id="{6BF0010A-759C-1209-64EB-AB0F1DD47170}"/>
              </a:ext>
            </a:extLst>
          </p:cNvPr>
          <p:cNvCxnSpPr/>
          <p:nvPr/>
        </p:nvCxnSpPr>
        <p:spPr>
          <a:xfrm>
            <a:off x="7968208" y="5937209"/>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30" name="Straight Arrow Connector 29">
            <a:extLst>
              <a:ext uri="{FF2B5EF4-FFF2-40B4-BE49-F238E27FC236}">
                <a16:creationId xmlns:a16="http://schemas.microsoft.com/office/drawing/2014/main" id="{EA280CCD-A2F5-95B1-12A1-354AD891342C}"/>
              </a:ext>
            </a:extLst>
          </p:cNvPr>
          <p:cNvCxnSpPr/>
          <p:nvPr/>
        </p:nvCxnSpPr>
        <p:spPr>
          <a:xfrm>
            <a:off x="9644608" y="6021292"/>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sp>
        <p:nvSpPr>
          <p:cNvPr id="31" name="TextBox 30">
            <a:extLst>
              <a:ext uri="{FF2B5EF4-FFF2-40B4-BE49-F238E27FC236}">
                <a16:creationId xmlns:a16="http://schemas.microsoft.com/office/drawing/2014/main" id="{AAE58DED-D160-02E5-504D-F1A8DAED06D5}"/>
              </a:ext>
            </a:extLst>
          </p:cNvPr>
          <p:cNvSpPr txBox="1"/>
          <p:nvPr/>
        </p:nvSpPr>
        <p:spPr>
          <a:xfrm>
            <a:off x="10530105" y="5804360"/>
            <a:ext cx="774571" cy="369332"/>
          </a:xfrm>
          <a:prstGeom prst="rect">
            <a:avLst/>
          </a:prstGeom>
          <a:noFill/>
        </p:spPr>
        <p:txBody>
          <a:bodyPr wrap="none" rtlCol="0">
            <a:spAutoFit/>
          </a:bodyPr>
          <a:lstStyle/>
          <a:p>
            <a:r>
              <a:rPr lang="en-US" dirty="0"/>
              <a:t>NULL</a:t>
            </a:r>
          </a:p>
        </p:txBody>
      </p:sp>
      <p:cxnSp>
        <p:nvCxnSpPr>
          <p:cNvPr id="32" name="Straight Arrow Connector 31">
            <a:extLst>
              <a:ext uri="{FF2B5EF4-FFF2-40B4-BE49-F238E27FC236}">
                <a16:creationId xmlns:a16="http://schemas.microsoft.com/office/drawing/2014/main" id="{F1CDB7FF-56E8-4EDF-8000-6BBA8C8992C7}"/>
              </a:ext>
            </a:extLst>
          </p:cNvPr>
          <p:cNvCxnSpPr>
            <a:cxnSpLocks/>
          </p:cNvCxnSpPr>
          <p:nvPr/>
        </p:nvCxnSpPr>
        <p:spPr>
          <a:xfrm>
            <a:off x="2751047" y="4849719"/>
            <a:ext cx="645160" cy="484049"/>
          </a:xfrm>
          <a:prstGeom prst="straightConnector1">
            <a:avLst/>
          </a:prstGeom>
          <a:ln w="107950">
            <a:tailEnd type="triangle"/>
          </a:ln>
        </p:spPr>
        <p:style>
          <a:lnRef idx="3">
            <a:schemeClr val="accent2"/>
          </a:lnRef>
          <a:fillRef idx="0">
            <a:schemeClr val="accent2"/>
          </a:fillRef>
          <a:effectRef idx="2">
            <a:schemeClr val="accent2"/>
          </a:effectRef>
          <a:fontRef idx="minor">
            <a:schemeClr val="tx1"/>
          </a:fontRef>
        </p:style>
      </p:cxnSp>
      <p:sp>
        <p:nvSpPr>
          <p:cNvPr id="33" name="TextBox 32">
            <a:extLst>
              <a:ext uri="{FF2B5EF4-FFF2-40B4-BE49-F238E27FC236}">
                <a16:creationId xmlns:a16="http://schemas.microsoft.com/office/drawing/2014/main" id="{422EB920-A3EA-923A-E88D-0E2940B86DD9}"/>
              </a:ext>
            </a:extLst>
          </p:cNvPr>
          <p:cNvSpPr txBox="1"/>
          <p:nvPr/>
        </p:nvSpPr>
        <p:spPr>
          <a:xfrm>
            <a:off x="2143935" y="4018722"/>
            <a:ext cx="2271776" cy="830997"/>
          </a:xfrm>
          <a:prstGeom prst="rect">
            <a:avLst/>
          </a:prstGeom>
          <a:noFill/>
        </p:spPr>
        <p:txBody>
          <a:bodyPr wrap="none" rtlCol="0">
            <a:spAutoFit/>
          </a:bodyPr>
          <a:lstStyle/>
          <a:p>
            <a:r>
              <a:rPr lang="en-US" sz="4800" dirty="0">
                <a:latin typeface="Times New Roman" panose="02020603050405020304" pitchFamily="18" charset="0"/>
                <a:cs typeface="Times New Roman" panose="02020603050405020304" pitchFamily="18" charset="0"/>
              </a:rPr>
              <a:t>yourList</a:t>
            </a:r>
          </a:p>
        </p:txBody>
      </p:sp>
      <p:cxnSp>
        <p:nvCxnSpPr>
          <p:cNvPr id="34" name="Straight Arrow Connector 33">
            <a:extLst>
              <a:ext uri="{FF2B5EF4-FFF2-40B4-BE49-F238E27FC236}">
                <a16:creationId xmlns:a16="http://schemas.microsoft.com/office/drawing/2014/main" id="{7B33EF23-3ED1-B2BE-8A06-B7F7515CCC7F}"/>
              </a:ext>
            </a:extLst>
          </p:cNvPr>
          <p:cNvCxnSpPr>
            <a:cxnSpLocks/>
          </p:cNvCxnSpPr>
          <p:nvPr/>
        </p:nvCxnSpPr>
        <p:spPr>
          <a:xfrm flipH="1">
            <a:off x="4457918" y="5435505"/>
            <a:ext cx="652789" cy="1"/>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2AFB5B77-1144-9D83-E3D8-0F356607E5DF}"/>
              </a:ext>
            </a:extLst>
          </p:cNvPr>
          <p:cNvCxnSpPr>
            <a:cxnSpLocks/>
          </p:cNvCxnSpPr>
          <p:nvPr/>
        </p:nvCxnSpPr>
        <p:spPr>
          <a:xfrm flipH="1">
            <a:off x="6249109" y="5435505"/>
            <a:ext cx="614198"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36" name="Straight Arrow Connector 35">
            <a:extLst>
              <a:ext uri="{FF2B5EF4-FFF2-40B4-BE49-F238E27FC236}">
                <a16:creationId xmlns:a16="http://schemas.microsoft.com/office/drawing/2014/main" id="{86554960-E607-86D8-72A1-3EA5966E923A}"/>
              </a:ext>
            </a:extLst>
          </p:cNvPr>
          <p:cNvCxnSpPr>
            <a:cxnSpLocks/>
          </p:cNvCxnSpPr>
          <p:nvPr/>
        </p:nvCxnSpPr>
        <p:spPr>
          <a:xfrm flipH="1">
            <a:off x="7988140" y="5333768"/>
            <a:ext cx="652789" cy="1"/>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37" name="Straight Arrow Connector 36">
            <a:extLst>
              <a:ext uri="{FF2B5EF4-FFF2-40B4-BE49-F238E27FC236}">
                <a16:creationId xmlns:a16="http://schemas.microsoft.com/office/drawing/2014/main" id="{4C1E9032-ECF8-797C-4770-8EC3CED58491}"/>
              </a:ext>
            </a:extLst>
          </p:cNvPr>
          <p:cNvCxnSpPr>
            <a:cxnSpLocks/>
          </p:cNvCxnSpPr>
          <p:nvPr/>
        </p:nvCxnSpPr>
        <p:spPr>
          <a:xfrm flipH="1">
            <a:off x="2718676" y="5595707"/>
            <a:ext cx="813325"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sp>
        <p:nvSpPr>
          <p:cNvPr id="38" name="TextBox 37">
            <a:extLst>
              <a:ext uri="{FF2B5EF4-FFF2-40B4-BE49-F238E27FC236}">
                <a16:creationId xmlns:a16="http://schemas.microsoft.com/office/drawing/2014/main" id="{630189FA-EB3E-DEE6-6AD2-C40997D773E6}"/>
              </a:ext>
            </a:extLst>
          </p:cNvPr>
          <p:cNvSpPr txBox="1"/>
          <p:nvPr/>
        </p:nvSpPr>
        <p:spPr>
          <a:xfrm>
            <a:off x="2065200" y="5374622"/>
            <a:ext cx="774571" cy="369332"/>
          </a:xfrm>
          <a:prstGeom prst="rect">
            <a:avLst/>
          </a:prstGeom>
          <a:noFill/>
        </p:spPr>
        <p:txBody>
          <a:bodyPr wrap="none" rtlCol="0">
            <a:spAutoFit/>
          </a:bodyPr>
          <a:lstStyle/>
          <a:p>
            <a:r>
              <a:rPr lang="en-US" dirty="0"/>
              <a:t>NULL</a:t>
            </a:r>
          </a:p>
        </p:txBody>
      </p:sp>
      <p:sp>
        <p:nvSpPr>
          <p:cNvPr id="4" name="Rectangle 3">
            <a:extLst>
              <a:ext uri="{FF2B5EF4-FFF2-40B4-BE49-F238E27FC236}">
                <a16:creationId xmlns:a16="http://schemas.microsoft.com/office/drawing/2014/main" id="{E078197E-E68B-2073-F15C-B6ED5E83C8C8}"/>
              </a:ext>
            </a:extLst>
          </p:cNvPr>
          <p:cNvSpPr/>
          <p:nvPr/>
        </p:nvSpPr>
        <p:spPr>
          <a:xfrm>
            <a:off x="6376625" y="3217136"/>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Zubat</a:t>
            </a:r>
            <a:br>
              <a:rPr lang="en-US" dirty="0"/>
            </a:br>
            <a:r>
              <a:rPr lang="en-US" dirty="0"/>
              <a:t>85</a:t>
            </a:r>
          </a:p>
        </p:txBody>
      </p:sp>
      <p:pic>
        <p:nvPicPr>
          <p:cNvPr id="7" name="Picture 6" descr="A cartoon of a bat&#10;&#10;AI-generated content may be incorrect.">
            <a:extLst>
              <a:ext uri="{FF2B5EF4-FFF2-40B4-BE49-F238E27FC236}">
                <a16:creationId xmlns:a16="http://schemas.microsoft.com/office/drawing/2014/main" id="{88C53B0D-0001-280A-F872-16494FF585D4}"/>
              </a:ext>
            </a:extLst>
          </p:cNvPr>
          <p:cNvPicPr>
            <a:picLocks noChangeAspect="1"/>
          </p:cNvPicPr>
          <p:nvPr/>
        </p:nvPicPr>
        <p:blipFill>
          <a:blip r:embed="rId10"/>
          <a:stretch>
            <a:fillRect/>
          </a:stretch>
        </p:blipFill>
        <p:spPr>
          <a:xfrm>
            <a:off x="6444207" y="3283773"/>
            <a:ext cx="458653" cy="450726"/>
          </a:xfrm>
          <a:prstGeom prst="rect">
            <a:avLst/>
          </a:prstGeom>
        </p:spPr>
      </p:pic>
      <p:sp>
        <p:nvSpPr>
          <p:cNvPr id="8" name="TextBox 7">
            <a:extLst>
              <a:ext uri="{FF2B5EF4-FFF2-40B4-BE49-F238E27FC236}">
                <a16:creationId xmlns:a16="http://schemas.microsoft.com/office/drawing/2014/main" id="{4DE923E9-44ED-6475-4426-C38351C5D19A}"/>
              </a:ext>
            </a:extLst>
          </p:cNvPr>
          <p:cNvSpPr txBox="1"/>
          <p:nvPr/>
        </p:nvSpPr>
        <p:spPr>
          <a:xfrm>
            <a:off x="5009272" y="4096009"/>
            <a:ext cx="1391728" cy="584775"/>
          </a:xfrm>
          <a:prstGeom prst="rect">
            <a:avLst/>
          </a:prstGeom>
          <a:noFill/>
        </p:spPr>
        <p:txBody>
          <a:bodyPr wrap="none" rtlCol="0">
            <a:spAutoFit/>
          </a:bodyPr>
          <a:lstStyle/>
          <a:p>
            <a:r>
              <a:rPr lang="en-US" sz="3200" dirty="0">
                <a:solidFill>
                  <a:srgbClr val="00B050"/>
                </a:solidFill>
                <a:latin typeface="Times New Roman" panose="02020603050405020304" pitchFamily="18" charset="0"/>
                <a:cs typeface="Times New Roman" panose="02020603050405020304" pitchFamily="18" charset="0"/>
              </a:rPr>
              <a:t>itemPtr</a:t>
            </a:r>
          </a:p>
        </p:txBody>
      </p:sp>
      <p:cxnSp>
        <p:nvCxnSpPr>
          <p:cNvPr id="9" name="Straight Arrow Connector 8">
            <a:extLst>
              <a:ext uri="{FF2B5EF4-FFF2-40B4-BE49-F238E27FC236}">
                <a16:creationId xmlns:a16="http://schemas.microsoft.com/office/drawing/2014/main" id="{56C3C976-DA1E-1A8D-B3BE-6A8AFE0FA674}"/>
              </a:ext>
            </a:extLst>
          </p:cNvPr>
          <p:cNvCxnSpPr>
            <a:cxnSpLocks/>
          </p:cNvCxnSpPr>
          <p:nvPr/>
        </p:nvCxnSpPr>
        <p:spPr>
          <a:xfrm>
            <a:off x="5726748" y="4648299"/>
            <a:ext cx="30630" cy="437298"/>
          </a:xfrm>
          <a:prstGeom prst="straightConnector1">
            <a:avLst/>
          </a:prstGeom>
          <a:ln w="107950">
            <a:solidFill>
              <a:srgbClr val="00B050"/>
            </a:solidFill>
            <a:tailEnd type="triangle"/>
          </a:ln>
        </p:spPr>
        <p:style>
          <a:lnRef idx="3">
            <a:schemeClr val="accent2"/>
          </a:lnRef>
          <a:fillRef idx="0">
            <a:schemeClr val="accent2"/>
          </a:fillRef>
          <a:effectRef idx="2">
            <a:schemeClr val="accent2"/>
          </a:effectRef>
          <a:fontRef idx="minor">
            <a:schemeClr val="tx1"/>
          </a:fontRef>
        </p:style>
      </p:cxnSp>
      <p:sp>
        <p:nvSpPr>
          <p:cNvPr id="10" name="TextBox 9">
            <a:extLst>
              <a:ext uri="{FF2B5EF4-FFF2-40B4-BE49-F238E27FC236}">
                <a16:creationId xmlns:a16="http://schemas.microsoft.com/office/drawing/2014/main" id="{A469BB03-B245-BB06-B076-332A0DD6C99E}"/>
              </a:ext>
            </a:extLst>
          </p:cNvPr>
          <p:cNvSpPr txBox="1"/>
          <p:nvPr/>
        </p:nvSpPr>
        <p:spPr>
          <a:xfrm>
            <a:off x="6481441" y="2320829"/>
            <a:ext cx="1346844" cy="584775"/>
          </a:xfrm>
          <a:prstGeom prst="rect">
            <a:avLst/>
          </a:prstGeom>
          <a:noFill/>
        </p:spPr>
        <p:txBody>
          <a:bodyPr wrap="none" rtlCol="0">
            <a:spAutoFit/>
          </a:bodyPr>
          <a:lstStyle/>
          <a:p>
            <a:r>
              <a:rPr lang="en-US" sz="3200" dirty="0">
                <a:solidFill>
                  <a:srgbClr val="00B050"/>
                </a:solidFill>
                <a:latin typeface="Times New Roman" panose="02020603050405020304" pitchFamily="18" charset="0"/>
                <a:cs typeface="Times New Roman" panose="02020603050405020304" pitchFamily="18" charset="0"/>
              </a:rPr>
              <a:t>newPtr</a:t>
            </a:r>
          </a:p>
        </p:txBody>
      </p:sp>
      <p:cxnSp>
        <p:nvCxnSpPr>
          <p:cNvPr id="11" name="Straight Arrow Connector 10">
            <a:extLst>
              <a:ext uri="{FF2B5EF4-FFF2-40B4-BE49-F238E27FC236}">
                <a16:creationId xmlns:a16="http://schemas.microsoft.com/office/drawing/2014/main" id="{1FF2371D-9535-AC13-8A1C-99676B0BDCB1}"/>
              </a:ext>
            </a:extLst>
          </p:cNvPr>
          <p:cNvCxnSpPr>
            <a:cxnSpLocks/>
          </p:cNvCxnSpPr>
          <p:nvPr/>
        </p:nvCxnSpPr>
        <p:spPr>
          <a:xfrm>
            <a:off x="7198917" y="2873119"/>
            <a:ext cx="30630" cy="437298"/>
          </a:xfrm>
          <a:prstGeom prst="straightConnector1">
            <a:avLst/>
          </a:prstGeom>
          <a:ln w="107950">
            <a:solidFill>
              <a:srgbClr val="00B050"/>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073086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99D38-63D1-530F-5EE3-06E7AECE7EE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5E0A850-6DBD-0B32-6AFA-9F96EEDC69EA}"/>
              </a:ext>
            </a:extLst>
          </p:cNvPr>
          <p:cNvSpPr txBox="1"/>
          <p:nvPr/>
        </p:nvSpPr>
        <p:spPr>
          <a:xfrm>
            <a:off x="899824" y="886949"/>
            <a:ext cx="10404852" cy="715581"/>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Add to the Middle of a Doubly Linked Lists</a:t>
            </a:r>
          </a:p>
        </p:txBody>
      </p:sp>
      <p:sp>
        <p:nvSpPr>
          <p:cNvPr id="19" name="Rectangle 18">
            <a:extLst>
              <a:ext uri="{FF2B5EF4-FFF2-40B4-BE49-F238E27FC236}">
                <a16:creationId xmlns:a16="http://schemas.microsoft.com/office/drawing/2014/main" id="{87775404-ACF2-A78F-5659-98F58407D56F}"/>
              </a:ext>
            </a:extLst>
          </p:cNvPr>
          <p:cNvSpPr/>
          <p:nvPr/>
        </p:nvSpPr>
        <p:spPr>
          <a:xfrm>
            <a:off x="3396207" y="5030692"/>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Squirtle</a:t>
            </a:r>
          </a:p>
          <a:p>
            <a:pPr algn="ctr"/>
            <a:r>
              <a:rPr lang="en-US" dirty="0"/>
              <a:t>400</a:t>
            </a:r>
          </a:p>
        </p:txBody>
      </p:sp>
      <p:sp>
        <p:nvSpPr>
          <p:cNvPr id="20" name="Rectangle 19">
            <a:extLst>
              <a:ext uri="{FF2B5EF4-FFF2-40B4-BE49-F238E27FC236}">
                <a16:creationId xmlns:a16="http://schemas.microsoft.com/office/drawing/2014/main" id="{E020D996-A825-313E-27FE-3DC9D8F7CC43}"/>
              </a:ext>
            </a:extLst>
          </p:cNvPr>
          <p:cNvSpPr/>
          <p:nvPr/>
        </p:nvSpPr>
        <p:spPr>
          <a:xfrm>
            <a:off x="5148807" y="5030692"/>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Eevee</a:t>
            </a:r>
            <a:br>
              <a:rPr lang="en-US" dirty="0"/>
            </a:br>
            <a:r>
              <a:rPr lang="en-US" dirty="0"/>
              <a:t>50</a:t>
            </a:r>
          </a:p>
        </p:txBody>
      </p:sp>
      <p:sp>
        <p:nvSpPr>
          <p:cNvPr id="21" name="Rectangle 20">
            <a:extLst>
              <a:ext uri="{FF2B5EF4-FFF2-40B4-BE49-F238E27FC236}">
                <a16:creationId xmlns:a16="http://schemas.microsoft.com/office/drawing/2014/main" id="{0DBC4141-D45C-D2C8-FF1B-20C986FD89E0}"/>
              </a:ext>
            </a:extLst>
          </p:cNvPr>
          <p:cNvSpPr/>
          <p:nvPr/>
        </p:nvSpPr>
        <p:spPr>
          <a:xfrm>
            <a:off x="6863307" y="5030692"/>
            <a:ext cx="1456997"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Charmander</a:t>
            </a:r>
          </a:p>
          <a:p>
            <a:pPr algn="ctr"/>
            <a:r>
              <a:rPr lang="en-US" dirty="0"/>
              <a:t>170</a:t>
            </a:r>
          </a:p>
        </p:txBody>
      </p:sp>
      <p:sp>
        <p:nvSpPr>
          <p:cNvPr id="22" name="Rectangle 21">
            <a:extLst>
              <a:ext uri="{FF2B5EF4-FFF2-40B4-BE49-F238E27FC236}">
                <a16:creationId xmlns:a16="http://schemas.microsoft.com/office/drawing/2014/main" id="{214E3A93-59AE-43CA-4BBF-EF5689E81746}"/>
              </a:ext>
            </a:extLst>
          </p:cNvPr>
          <p:cNvSpPr/>
          <p:nvPr/>
        </p:nvSpPr>
        <p:spPr>
          <a:xfrm>
            <a:off x="8567297" y="5030692"/>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Pikachu</a:t>
            </a:r>
          </a:p>
          <a:p>
            <a:pPr algn="ctr"/>
            <a:r>
              <a:rPr lang="en-US" dirty="0"/>
              <a:t>500</a:t>
            </a:r>
          </a:p>
        </p:txBody>
      </p:sp>
      <p:pic>
        <p:nvPicPr>
          <p:cNvPr id="23" name="Picture 22">
            <a:extLst>
              <a:ext uri="{FF2B5EF4-FFF2-40B4-BE49-F238E27FC236}">
                <a16:creationId xmlns:a16="http://schemas.microsoft.com/office/drawing/2014/main" id="{B23E8222-22EA-EA2A-5FCD-515488823A54}"/>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0" b="94783" l="0" r="100000"/>
                    </a14:imgEffect>
                  </a14:imgLayer>
                </a14:imgProps>
              </a:ext>
              <a:ext uri="{28A0092B-C50C-407E-A947-70E740481C1C}">
                <a14:useLocalDpi xmlns:a14="http://schemas.microsoft.com/office/drawing/2010/main" val="0"/>
              </a:ext>
            </a:extLst>
          </a:blip>
          <a:stretch>
            <a:fillRect/>
          </a:stretch>
        </p:blipFill>
        <p:spPr>
          <a:xfrm>
            <a:off x="3496220" y="5078318"/>
            <a:ext cx="510901" cy="510901"/>
          </a:xfrm>
          <a:prstGeom prst="rect">
            <a:avLst/>
          </a:prstGeom>
        </p:spPr>
      </p:pic>
      <p:pic>
        <p:nvPicPr>
          <p:cNvPr id="24" name="Picture 23">
            <a:extLst>
              <a:ext uri="{FF2B5EF4-FFF2-40B4-BE49-F238E27FC236}">
                <a16:creationId xmlns:a16="http://schemas.microsoft.com/office/drawing/2014/main" id="{F1E9FA10-D32A-2668-87A8-F7F4E725B806}"/>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5248821" y="5054506"/>
            <a:ext cx="661986" cy="661986"/>
          </a:xfrm>
          <a:prstGeom prst="rect">
            <a:avLst/>
          </a:prstGeom>
        </p:spPr>
      </p:pic>
      <p:pic>
        <p:nvPicPr>
          <p:cNvPr id="25" name="Picture 24">
            <a:extLst>
              <a:ext uri="{FF2B5EF4-FFF2-40B4-BE49-F238E27FC236}">
                <a16:creationId xmlns:a16="http://schemas.microsoft.com/office/drawing/2014/main" id="{9E729C16-E27B-B7F1-41E6-781AACE1DCAB}"/>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0" b="97115" l="0" r="100000"/>
                    </a14:imgEffect>
                  </a14:imgLayer>
                </a14:imgProps>
              </a:ext>
              <a:ext uri="{28A0092B-C50C-407E-A947-70E740481C1C}">
                <a14:useLocalDpi xmlns:a14="http://schemas.microsoft.com/office/drawing/2010/main" val="0"/>
              </a:ext>
            </a:extLst>
          </a:blip>
          <a:stretch>
            <a:fillRect/>
          </a:stretch>
        </p:blipFill>
        <p:spPr>
          <a:xfrm>
            <a:off x="6971745" y="5083079"/>
            <a:ext cx="539262" cy="609600"/>
          </a:xfrm>
          <a:prstGeom prst="rect">
            <a:avLst/>
          </a:prstGeom>
        </p:spPr>
      </p:pic>
      <p:pic>
        <p:nvPicPr>
          <p:cNvPr id="26" name="Picture 25">
            <a:extLst>
              <a:ext uri="{FF2B5EF4-FFF2-40B4-BE49-F238E27FC236}">
                <a16:creationId xmlns:a16="http://schemas.microsoft.com/office/drawing/2014/main" id="{4C834280-0F75-B765-A8E3-07440EC67482}"/>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2647" t="-1" b="2410"/>
          <a:stretch/>
        </p:blipFill>
        <p:spPr>
          <a:xfrm>
            <a:off x="8655548" y="5055818"/>
            <a:ext cx="541057" cy="533400"/>
          </a:xfrm>
          <a:prstGeom prst="rect">
            <a:avLst/>
          </a:prstGeom>
        </p:spPr>
      </p:pic>
      <p:cxnSp>
        <p:nvCxnSpPr>
          <p:cNvPr id="27" name="Straight Arrow Connector 26">
            <a:extLst>
              <a:ext uri="{FF2B5EF4-FFF2-40B4-BE49-F238E27FC236}">
                <a16:creationId xmlns:a16="http://schemas.microsoft.com/office/drawing/2014/main" id="{984CEAA2-F6D1-2191-07C2-F9FEFCD1A51D}"/>
              </a:ext>
            </a:extLst>
          </p:cNvPr>
          <p:cNvCxnSpPr/>
          <p:nvPr/>
        </p:nvCxnSpPr>
        <p:spPr>
          <a:xfrm>
            <a:off x="4415711" y="5945092"/>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28" name="Straight Arrow Connector 27">
            <a:extLst>
              <a:ext uri="{FF2B5EF4-FFF2-40B4-BE49-F238E27FC236}">
                <a16:creationId xmlns:a16="http://schemas.microsoft.com/office/drawing/2014/main" id="{9AFFA984-9DB4-74D7-A580-352B8D17F3C6}"/>
              </a:ext>
            </a:extLst>
          </p:cNvPr>
          <p:cNvCxnSpPr/>
          <p:nvPr/>
        </p:nvCxnSpPr>
        <p:spPr>
          <a:xfrm>
            <a:off x="6291808" y="5937209"/>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29" name="Straight Arrow Connector 28">
            <a:extLst>
              <a:ext uri="{FF2B5EF4-FFF2-40B4-BE49-F238E27FC236}">
                <a16:creationId xmlns:a16="http://schemas.microsoft.com/office/drawing/2014/main" id="{FD4427CD-07BC-7A10-C944-F2CF391B4160}"/>
              </a:ext>
            </a:extLst>
          </p:cNvPr>
          <p:cNvCxnSpPr/>
          <p:nvPr/>
        </p:nvCxnSpPr>
        <p:spPr>
          <a:xfrm>
            <a:off x="7968208" y="5937209"/>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30" name="Straight Arrow Connector 29">
            <a:extLst>
              <a:ext uri="{FF2B5EF4-FFF2-40B4-BE49-F238E27FC236}">
                <a16:creationId xmlns:a16="http://schemas.microsoft.com/office/drawing/2014/main" id="{1A524734-07B8-1B2B-B75D-5074991B1312}"/>
              </a:ext>
            </a:extLst>
          </p:cNvPr>
          <p:cNvCxnSpPr/>
          <p:nvPr/>
        </p:nvCxnSpPr>
        <p:spPr>
          <a:xfrm>
            <a:off x="9644608" y="6021292"/>
            <a:ext cx="885497"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sp>
        <p:nvSpPr>
          <p:cNvPr id="31" name="TextBox 30">
            <a:extLst>
              <a:ext uri="{FF2B5EF4-FFF2-40B4-BE49-F238E27FC236}">
                <a16:creationId xmlns:a16="http://schemas.microsoft.com/office/drawing/2014/main" id="{845D4674-8360-C2A0-E524-2452D35059DB}"/>
              </a:ext>
            </a:extLst>
          </p:cNvPr>
          <p:cNvSpPr txBox="1"/>
          <p:nvPr/>
        </p:nvSpPr>
        <p:spPr>
          <a:xfrm>
            <a:off x="10530105" y="5804360"/>
            <a:ext cx="774571" cy="369332"/>
          </a:xfrm>
          <a:prstGeom prst="rect">
            <a:avLst/>
          </a:prstGeom>
          <a:noFill/>
        </p:spPr>
        <p:txBody>
          <a:bodyPr wrap="none" rtlCol="0">
            <a:spAutoFit/>
          </a:bodyPr>
          <a:lstStyle/>
          <a:p>
            <a:r>
              <a:rPr lang="en-US" dirty="0"/>
              <a:t>NULL</a:t>
            </a:r>
          </a:p>
        </p:txBody>
      </p:sp>
      <p:cxnSp>
        <p:nvCxnSpPr>
          <p:cNvPr id="32" name="Straight Arrow Connector 31">
            <a:extLst>
              <a:ext uri="{FF2B5EF4-FFF2-40B4-BE49-F238E27FC236}">
                <a16:creationId xmlns:a16="http://schemas.microsoft.com/office/drawing/2014/main" id="{4F1CDEE9-9CDD-1EDC-BF5F-8773628E5E31}"/>
              </a:ext>
            </a:extLst>
          </p:cNvPr>
          <p:cNvCxnSpPr>
            <a:cxnSpLocks/>
          </p:cNvCxnSpPr>
          <p:nvPr/>
        </p:nvCxnSpPr>
        <p:spPr>
          <a:xfrm>
            <a:off x="2751047" y="4849719"/>
            <a:ext cx="645160" cy="484049"/>
          </a:xfrm>
          <a:prstGeom prst="straightConnector1">
            <a:avLst/>
          </a:prstGeom>
          <a:ln w="107950">
            <a:tailEnd type="triangle"/>
          </a:ln>
        </p:spPr>
        <p:style>
          <a:lnRef idx="3">
            <a:schemeClr val="accent2"/>
          </a:lnRef>
          <a:fillRef idx="0">
            <a:schemeClr val="accent2"/>
          </a:fillRef>
          <a:effectRef idx="2">
            <a:schemeClr val="accent2"/>
          </a:effectRef>
          <a:fontRef idx="minor">
            <a:schemeClr val="tx1"/>
          </a:fontRef>
        </p:style>
      </p:cxnSp>
      <p:sp>
        <p:nvSpPr>
          <p:cNvPr id="33" name="TextBox 32">
            <a:extLst>
              <a:ext uri="{FF2B5EF4-FFF2-40B4-BE49-F238E27FC236}">
                <a16:creationId xmlns:a16="http://schemas.microsoft.com/office/drawing/2014/main" id="{9BA9A7AF-EDF0-3448-5525-1425661BA322}"/>
              </a:ext>
            </a:extLst>
          </p:cNvPr>
          <p:cNvSpPr txBox="1"/>
          <p:nvPr/>
        </p:nvSpPr>
        <p:spPr>
          <a:xfrm>
            <a:off x="2143935" y="4018722"/>
            <a:ext cx="2271776" cy="830997"/>
          </a:xfrm>
          <a:prstGeom prst="rect">
            <a:avLst/>
          </a:prstGeom>
          <a:noFill/>
        </p:spPr>
        <p:txBody>
          <a:bodyPr wrap="none" rtlCol="0">
            <a:spAutoFit/>
          </a:bodyPr>
          <a:lstStyle/>
          <a:p>
            <a:r>
              <a:rPr lang="en-US" sz="4800" dirty="0">
                <a:latin typeface="Times New Roman" panose="02020603050405020304" pitchFamily="18" charset="0"/>
                <a:cs typeface="Times New Roman" panose="02020603050405020304" pitchFamily="18" charset="0"/>
              </a:rPr>
              <a:t>yourList</a:t>
            </a:r>
          </a:p>
        </p:txBody>
      </p:sp>
      <p:cxnSp>
        <p:nvCxnSpPr>
          <p:cNvPr id="34" name="Straight Arrow Connector 33">
            <a:extLst>
              <a:ext uri="{FF2B5EF4-FFF2-40B4-BE49-F238E27FC236}">
                <a16:creationId xmlns:a16="http://schemas.microsoft.com/office/drawing/2014/main" id="{07C3194D-7FF1-2644-3126-B3312F114D03}"/>
              </a:ext>
            </a:extLst>
          </p:cNvPr>
          <p:cNvCxnSpPr>
            <a:cxnSpLocks/>
          </p:cNvCxnSpPr>
          <p:nvPr/>
        </p:nvCxnSpPr>
        <p:spPr>
          <a:xfrm flipH="1">
            <a:off x="4457918" y="5435505"/>
            <a:ext cx="652789" cy="1"/>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35" name="Straight Arrow Connector 34">
            <a:extLst>
              <a:ext uri="{FF2B5EF4-FFF2-40B4-BE49-F238E27FC236}">
                <a16:creationId xmlns:a16="http://schemas.microsoft.com/office/drawing/2014/main" id="{CAA43D46-4EFE-3925-98E6-A4AD188A4917}"/>
              </a:ext>
            </a:extLst>
          </p:cNvPr>
          <p:cNvCxnSpPr>
            <a:cxnSpLocks/>
          </p:cNvCxnSpPr>
          <p:nvPr/>
        </p:nvCxnSpPr>
        <p:spPr>
          <a:xfrm flipH="1">
            <a:off x="6249109" y="5435505"/>
            <a:ext cx="614198"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36" name="Straight Arrow Connector 35">
            <a:extLst>
              <a:ext uri="{FF2B5EF4-FFF2-40B4-BE49-F238E27FC236}">
                <a16:creationId xmlns:a16="http://schemas.microsoft.com/office/drawing/2014/main" id="{9EF33C2C-39C4-597D-B4BA-B95DFBD2A6E6}"/>
              </a:ext>
            </a:extLst>
          </p:cNvPr>
          <p:cNvCxnSpPr>
            <a:cxnSpLocks/>
          </p:cNvCxnSpPr>
          <p:nvPr/>
        </p:nvCxnSpPr>
        <p:spPr>
          <a:xfrm flipH="1">
            <a:off x="7988140" y="5333768"/>
            <a:ext cx="652789" cy="1"/>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cxnSp>
        <p:nvCxnSpPr>
          <p:cNvPr id="37" name="Straight Arrow Connector 36">
            <a:extLst>
              <a:ext uri="{FF2B5EF4-FFF2-40B4-BE49-F238E27FC236}">
                <a16:creationId xmlns:a16="http://schemas.microsoft.com/office/drawing/2014/main" id="{EA3A2A93-7126-5008-E2A0-092781455B08}"/>
              </a:ext>
            </a:extLst>
          </p:cNvPr>
          <p:cNvCxnSpPr>
            <a:cxnSpLocks/>
          </p:cNvCxnSpPr>
          <p:nvPr/>
        </p:nvCxnSpPr>
        <p:spPr>
          <a:xfrm flipH="1">
            <a:off x="2718676" y="5595707"/>
            <a:ext cx="813325" cy="0"/>
          </a:xfrm>
          <a:prstGeom prst="straightConnector1">
            <a:avLst/>
          </a:prstGeom>
          <a:ln w="82550">
            <a:tailEnd type="triangle"/>
          </a:ln>
        </p:spPr>
        <p:style>
          <a:lnRef idx="3">
            <a:schemeClr val="accent2"/>
          </a:lnRef>
          <a:fillRef idx="0">
            <a:schemeClr val="accent2"/>
          </a:fillRef>
          <a:effectRef idx="2">
            <a:schemeClr val="accent2"/>
          </a:effectRef>
          <a:fontRef idx="minor">
            <a:schemeClr val="tx1"/>
          </a:fontRef>
        </p:style>
      </p:cxnSp>
      <p:sp>
        <p:nvSpPr>
          <p:cNvPr id="38" name="TextBox 37">
            <a:extLst>
              <a:ext uri="{FF2B5EF4-FFF2-40B4-BE49-F238E27FC236}">
                <a16:creationId xmlns:a16="http://schemas.microsoft.com/office/drawing/2014/main" id="{B0FC2A1F-9E21-789C-83D3-B9C7273B5C5F}"/>
              </a:ext>
            </a:extLst>
          </p:cNvPr>
          <p:cNvSpPr txBox="1"/>
          <p:nvPr/>
        </p:nvSpPr>
        <p:spPr>
          <a:xfrm>
            <a:off x="2065200" y="5374622"/>
            <a:ext cx="774571" cy="369332"/>
          </a:xfrm>
          <a:prstGeom prst="rect">
            <a:avLst/>
          </a:prstGeom>
          <a:noFill/>
        </p:spPr>
        <p:txBody>
          <a:bodyPr wrap="none" rtlCol="0">
            <a:spAutoFit/>
          </a:bodyPr>
          <a:lstStyle/>
          <a:p>
            <a:r>
              <a:rPr lang="en-US" dirty="0"/>
              <a:t>NULL</a:t>
            </a:r>
          </a:p>
        </p:txBody>
      </p:sp>
      <p:sp>
        <p:nvSpPr>
          <p:cNvPr id="4" name="Rectangle 3">
            <a:extLst>
              <a:ext uri="{FF2B5EF4-FFF2-40B4-BE49-F238E27FC236}">
                <a16:creationId xmlns:a16="http://schemas.microsoft.com/office/drawing/2014/main" id="{B1BE71F7-6D91-783B-0587-18ECEC69C990}"/>
              </a:ext>
            </a:extLst>
          </p:cNvPr>
          <p:cNvSpPr/>
          <p:nvPr/>
        </p:nvSpPr>
        <p:spPr>
          <a:xfrm>
            <a:off x="6376625" y="3217136"/>
            <a:ext cx="1295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Zubat</a:t>
            </a:r>
            <a:br>
              <a:rPr lang="en-US" dirty="0"/>
            </a:br>
            <a:r>
              <a:rPr lang="en-US" dirty="0"/>
              <a:t>85</a:t>
            </a:r>
          </a:p>
        </p:txBody>
      </p:sp>
      <p:pic>
        <p:nvPicPr>
          <p:cNvPr id="7" name="Picture 6" descr="A cartoon of a bat&#10;&#10;AI-generated content may be incorrect.">
            <a:extLst>
              <a:ext uri="{FF2B5EF4-FFF2-40B4-BE49-F238E27FC236}">
                <a16:creationId xmlns:a16="http://schemas.microsoft.com/office/drawing/2014/main" id="{EEF358A9-3801-2CBB-5B06-BE23821720D8}"/>
              </a:ext>
            </a:extLst>
          </p:cNvPr>
          <p:cNvPicPr>
            <a:picLocks noChangeAspect="1"/>
          </p:cNvPicPr>
          <p:nvPr/>
        </p:nvPicPr>
        <p:blipFill>
          <a:blip r:embed="rId10"/>
          <a:stretch>
            <a:fillRect/>
          </a:stretch>
        </p:blipFill>
        <p:spPr>
          <a:xfrm>
            <a:off x="6444207" y="3283773"/>
            <a:ext cx="458653" cy="450726"/>
          </a:xfrm>
          <a:prstGeom prst="rect">
            <a:avLst/>
          </a:prstGeom>
        </p:spPr>
      </p:pic>
      <p:sp>
        <p:nvSpPr>
          <p:cNvPr id="8" name="TextBox 7">
            <a:extLst>
              <a:ext uri="{FF2B5EF4-FFF2-40B4-BE49-F238E27FC236}">
                <a16:creationId xmlns:a16="http://schemas.microsoft.com/office/drawing/2014/main" id="{FD5498B1-38A9-1C0F-C4B3-888FC14DBC3D}"/>
              </a:ext>
            </a:extLst>
          </p:cNvPr>
          <p:cNvSpPr txBox="1"/>
          <p:nvPr/>
        </p:nvSpPr>
        <p:spPr>
          <a:xfrm>
            <a:off x="5009272" y="4096009"/>
            <a:ext cx="1391728" cy="584775"/>
          </a:xfrm>
          <a:prstGeom prst="rect">
            <a:avLst/>
          </a:prstGeom>
          <a:noFill/>
        </p:spPr>
        <p:txBody>
          <a:bodyPr wrap="none" rtlCol="0">
            <a:spAutoFit/>
          </a:bodyPr>
          <a:lstStyle/>
          <a:p>
            <a:r>
              <a:rPr lang="en-US" sz="3200" dirty="0">
                <a:solidFill>
                  <a:srgbClr val="00B050"/>
                </a:solidFill>
                <a:latin typeface="Times New Roman" panose="02020603050405020304" pitchFamily="18" charset="0"/>
                <a:cs typeface="Times New Roman" panose="02020603050405020304" pitchFamily="18" charset="0"/>
              </a:rPr>
              <a:t>itemPtr</a:t>
            </a:r>
          </a:p>
        </p:txBody>
      </p:sp>
      <p:cxnSp>
        <p:nvCxnSpPr>
          <p:cNvPr id="9" name="Straight Arrow Connector 8">
            <a:extLst>
              <a:ext uri="{FF2B5EF4-FFF2-40B4-BE49-F238E27FC236}">
                <a16:creationId xmlns:a16="http://schemas.microsoft.com/office/drawing/2014/main" id="{1FE00B47-C971-827C-7E1A-0121501B49FE}"/>
              </a:ext>
            </a:extLst>
          </p:cNvPr>
          <p:cNvCxnSpPr>
            <a:cxnSpLocks/>
          </p:cNvCxnSpPr>
          <p:nvPr/>
        </p:nvCxnSpPr>
        <p:spPr>
          <a:xfrm>
            <a:off x="5726748" y="4648299"/>
            <a:ext cx="30630" cy="437298"/>
          </a:xfrm>
          <a:prstGeom prst="straightConnector1">
            <a:avLst/>
          </a:prstGeom>
          <a:ln w="107950">
            <a:solidFill>
              <a:srgbClr val="00B050"/>
            </a:solidFill>
            <a:tailEnd type="triangle"/>
          </a:ln>
        </p:spPr>
        <p:style>
          <a:lnRef idx="3">
            <a:schemeClr val="accent2"/>
          </a:lnRef>
          <a:fillRef idx="0">
            <a:schemeClr val="accent2"/>
          </a:fillRef>
          <a:effectRef idx="2">
            <a:schemeClr val="accent2"/>
          </a:effectRef>
          <a:fontRef idx="minor">
            <a:schemeClr val="tx1"/>
          </a:fontRef>
        </p:style>
      </p:cxnSp>
      <p:sp>
        <p:nvSpPr>
          <p:cNvPr id="10" name="TextBox 9">
            <a:extLst>
              <a:ext uri="{FF2B5EF4-FFF2-40B4-BE49-F238E27FC236}">
                <a16:creationId xmlns:a16="http://schemas.microsoft.com/office/drawing/2014/main" id="{80AE8A94-0899-F5DA-9ECF-EDA324E5C6F7}"/>
              </a:ext>
            </a:extLst>
          </p:cNvPr>
          <p:cNvSpPr txBox="1"/>
          <p:nvPr/>
        </p:nvSpPr>
        <p:spPr>
          <a:xfrm>
            <a:off x="6481441" y="2320829"/>
            <a:ext cx="1346844" cy="584775"/>
          </a:xfrm>
          <a:prstGeom prst="rect">
            <a:avLst/>
          </a:prstGeom>
          <a:noFill/>
        </p:spPr>
        <p:txBody>
          <a:bodyPr wrap="none" rtlCol="0">
            <a:spAutoFit/>
          </a:bodyPr>
          <a:lstStyle/>
          <a:p>
            <a:r>
              <a:rPr lang="en-US" sz="3200" dirty="0">
                <a:solidFill>
                  <a:srgbClr val="00B050"/>
                </a:solidFill>
                <a:latin typeface="Times New Roman" panose="02020603050405020304" pitchFamily="18" charset="0"/>
                <a:cs typeface="Times New Roman" panose="02020603050405020304" pitchFamily="18" charset="0"/>
              </a:rPr>
              <a:t>newPtr</a:t>
            </a:r>
          </a:p>
        </p:txBody>
      </p:sp>
      <p:cxnSp>
        <p:nvCxnSpPr>
          <p:cNvPr id="11" name="Straight Arrow Connector 10">
            <a:extLst>
              <a:ext uri="{FF2B5EF4-FFF2-40B4-BE49-F238E27FC236}">
                <a16:creationId xmlns:a16="http://schemas.microsoft.com/office/drawing/2014/main" id="{6FD97E38-B769-94F1-ECAF-71255E7E6732}"/>
              </a:ext>
            </a:extLst>
          </p:cNvPr>
          <p:cNvCxnSpPr>
            <a:cxnSpLocks/>
          </p:cNvCxnSpPr>
          <p:nvPr/>
        </p:nvCxnSpPr>
        <p:spPr>
          <a:xfrm>
            <a:off x="7198917" y="2873119"/>
            <a:ext cx="30630" cy="437298"/>
          </a:xfrm>
          <a:prstGeom prst="straightConnector1">
            <a:avLst/>
          </a:prstGeom>
          <a:ln w="107950">
            <a:solidFill>
              <a:srgbClr val="00B050"/>
            </a:solidFill>
            <a:tailEnd type="triangle"/>
          </a:ln>
        </p:spPr>
        <p:style>
          <a:lnRef idx="3">
            <a:schemeClr val="accent2"/>
          </a:lnRef>
          <a:fillRef idx="0">
            <a:schemeClr val="accent2"/>
          </a:fillRef>
          <a:effectRef idx="2">
            <a:schemeClr val="accent2"/>
          </a:effectRef>
          <a:fontRef idx="minor">
            <a:schemeClr val="tx1"/>
          </a:fontRef>
        </p:style>
      </p:cxnSp>
      <p:sp>
        <p:nvSpPr>
          <p:cNvPr id="5" name="Rectangle 4">
            <a:extLst>
              <a:ext uri="{FF2B5EF4-FFF2-40B4-BE49-F238E27FC236}">
                <a16:creationId xmlns:a16="http://schemas.microsoft.com/office/drawing/2014/main" id="{42F25976-F833-7A75-7DAC-006D95C71FD1}"/>
              </a:ext>
            </a:extLst>
          </p:cNvPr>
          <p:cNvSpPr/>
          <p:nvPr/>
        </p:nvSpPr>
        <p:spPr>
          <a:xfrm>
            <a:off x="183022" y="1864469"/>
            <a:ext cx="5237548" cy="21542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400" dirty="0"/>
          </a:p>
          <a:p>
            <a:r>
              <a:rPr lang="en-US" sz="2400" dirty="0">
                <a:solidFill>
                  <a:srgbClr val="FF0000"/>
                </a:solidFill>
              </a:rPr>
              <a:t>newPtr-&gt;prev = itemPtr;</a:t>
            </a:r>
          </a:p>
          <a:p>
            <a:r>
              <a:rPr lang="en-US" sz="2400" dirty="0">
                <a:solidFill>
                  <a:srgbClr val="FFFF00"/>
                </a:solidFill>
              </a:rPr>
              <a:t>newPtr-&gt;next = itemPtr-&gt;next;</a:t>
            </a:r>
          </a:p>
          <a:p>
            <a:endParaRPr lang="en-US" sz="2400" dirty="0">
              <a:solidFill>
                <a:srgbClr val="FFFF00"/>
              </a:solidFill>
            </a:endParaRPr>
          </a:p>
          <a:p>
            <a:r>
              <a:rPr lang="en-US" sz="2400" dirty="0">
                <a:solidFill>
                  <a:schemeClr val="accent3">
                    <a:lumMod val="20000"/>
                    <a:lumOff val="80000"/>
                  </a:schemeClr>
                </a:solidFill>
              </a:rPr>
              <a:t>itemPtr-&gt;next-&gt;prev = newPtr;</a:t>
            </a:r>
          </a:p>
          <a:p>
            <a:r>
              <a:rPr lang="en-US" sz="2400" dirty="0">
                <a:solidFill>
                  <a:srgbClr val="FFC000"/>
                </a:solidFill>
              </a:rPr>
              <a:t>itemPtr-&gt;next = newPtr;</a:t>
            </a:r>
          </a:p>
        </p:txBody>
      </p:sp>
      <p:cxnSp>
        <p:nvCxnSpPr>
          <p:cNvPr id="13" name="Straight Arrow Connector 12">
            <a:extLst>
              <a:ext uri="{FF2B5EF4-FFF2-40B4-BE49-F238E27FC236}">
                <a16:creationId xmlns:a16="http://schemas.microsoft.com/office/drawing/2014/main" id="{14CDA02E-CE7D-A2A4-0961-6F633F677300}"/>
              </a:ext>
            </a:extLst>
          </p:cNvPr>
          <p:cNvCxnSpPr>
            <a:cxnSpLocks/>
          </p:cNvCxnSpPr>
          <p:nvPr/>
        </p:nvCxnSpPr>
        <p:spPr>
          <a:xfrm flipH="1">
            <a:off x="6080568" y="4197897"/>
            <a:ext cx="475640" cy="832795"/>
          </a:xfrm>
          <a:prstGeom prst="straightConnector1">
            <a:avLst/>
          </a:prstGeom>
          <a:ln w="107950">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16" name="Straight Arrow Connector 15">
            <a:extLst>
              <a:ext uri="{FF2B5EF4-FFF2-40B4-BE49-F238E27FC236}">
                <a16:creationId xmlns:a16="http://schemas.microsoft.com/office/drawing/2014/main" id="{4C81A02C-AF47-4E47-C037-094D66AA0275}"/>
              </a:ext>
            </a:extLst>
          </p:cNvPr>
          <p:cNvCxnSpPr>
            <a:cxnSpLocks/>
          </p:cNvCxnSpPr>
          <p:nvPr/>
        </p:nvCxnSpPr>
        <p:spPr>
          <a:xfrm>
            <a:off x="7652945" y="4302795"/>
            <a:ext cx="59092" cy="764758"/>
          </a:xfrm>
          <a:prstGeom prst="straightConnector1">
            <a:avLst/>
          </a:prstGeom>
          <a:ln w="107950">
            <a:solidFill>
              <a:srgbClr val="FFFF00"/>
            </a:solidFill>
            <a:tailEnd type="triangle"/>
          </a:ln>
        </p:spPr>
        <p:style>
          <a:lnRef idx="3">
            <a:schemeClr val="accent2"/>
          </a:lnRef>
          <a:fillRef idx="0">
            <a:schemeClr val="accent2"/>
          </a:fillRef>
          <a:effectRef idx="2">
            <a:schemeClr val="accent2"/>
          </a:effectRef>
          <a:fontRef idx="minor">
            <a:schemeClr val="tx1"/>
          </a:fontRef>
        </p:style>
      </p:cxnSp>
      <p:cxnSp>
        <p:nvCxnSpPr>
          <p:cNvPr id="18" name="Straight Arrow Connector 17">
            <a:extLst>
              <a:ext uri="{FF2B5EF4-FFF2-40B4-BE49-F238E27FC236}">
                <a16:creationId xmlns:a16="http://schemas.microsoft.com/office/drawing/2014/main" id="{F65ABB2F-B44F-A3A2-5825-958E6AE092A5}"/>
              </a:ext>
            </a:extLst>
          </p:cNvPr>
          <p:cNvCxnSpPr>
            <a:cxnSpLocks/>
            <a:stCxn id="25" idx="1"/>
          </p:cNvCxnSpPr>
          <p:nvPr/>
        </p:nvCxnSpPr>
        <p:spPr>
          <a:xfrm flipH="1" flipV="1">
            <a:off x="6734556" y="4302795"/>
            <a:ext cx="237189" cy="1085084"/>
          </a:xfrm>
          <a:prstGeom prst="straightConnector1">
            <a:avLst/>
          </a:prstGeom>
          <a:ln w="107950">
            <a:solidFill>
              <a:schemeClr val="accent3">
                <a:lumMod val="60000"/>
                <a:lumOff val="40000"/>
              </a:schemeClr>
            </a:solidFill>
            <a:tailEnd type="triangle"/>
          </a:ln>
        </p:spPr>
        <p:style>
          <a:lnRef idx="3">
            <a:schemeClr val="accent2"/>
          </a:lnRef>
          <a:fillRef idx="0">
            <a:schemeClr val="accent2"/>
          </a:fillRef>
          <a:effectRef idx="2">
            <a:schemeClr val="accent2"/>
          </a:effectRef>
          <a:fontRef idx="minor">
            <a:schemeClr val="tx1"/>
          </a:fontRef>
        </p:style>
      </p:cxnSp>
      <p:cxnSp>
        <p:nvCxnSpPr>
          <p:cNvPr id="41" name="Straight Arrow Connector 40">
            <a:extLst>
              <a:ext uri="{FF2B5EF4-FFF2-40B4-BE49-F238E27FC236}">
                <a16:creationId xmlns:a16="http://schemas.microsoft.com/office/drawing/2014/main" id="{B4EA462E-0B0B-4322-0F62-2315652C1945}"/>
              </a:ext>
            </a:extLst>
          </p:cNvPr>
          <p:cNvCxnSpPr>
            <a:cxnSpLocks/>
          </p:cNvCxnSpPr>
          <p:nvPr/>
        </p:nvCxnSpPr>
        <p:spPr>
          <a:xfrm flipV="1">
            <a:off x="6295072" y="4360136"/>
            <a:ext cx="296935" cy="1577073"/>
          </a:xfrm>
          <a:prstGeom prst="straightConnector1">
            <a:avLst/>
          </a:prstGeom>
          <a:ln w="107950">
            <a:solidFill>
              <a:srgbClr val="FFC000"/>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068374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500" fill="hold"/>
                                        <p:tgtEl>
                                          <p:spTgt spid="13"/>
                                        </p:tgtEl>
                                        <p:attrNameLst>
                                          <p:attrName>ppt_x</p:attrName>
                                        </p:attrNameLst>
                                      </p:cBhvr>
                                      <p:tavLst>
                                        <p:tav tm="0">
                                          <p:val>
                                            <p:strVal val="#ppt_x"/>
                                          </p:val>
                                        </p:tav>
                                        <p:tav tm="100000">
                                          <p:val>
                                            <p:strVal val="#ppt_x"/>
                                          </p:val>
                                        </p:tav>
                                      </p:tavLst>
                                    </p:anim>
                                    <p:anim calcmode="lin" valueType="num">
                                      <p:cBhvr additive="base">
                                        <p:cTn id="1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fade">
                                      <p:cBhvr>
                                        <p:cTn id="20" dur="1000"/>
                                        <p:tgtEl>
                                          <p:spTgt spid="5">
                                            <p:txEl>
                                              <p:pRg st="2" end="2"/>
                                            </p:txEl>
                                          </p:spTgt>
                                        </p:tgtEl>
                                      </p:cBhvr>
                                    </p:animEffect>
                                    <p:anim calcmode="lin" valueType="num">
                                      <p:cBhvr>
                                        <p:cTn id="21"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ppt_x"/>
                                          </p:val>
                                        </p:tav>
                                        <p:tav tm="100000">
                                          <p:val>
                                            <p:strVal val="#ppt_x"/>
                                          </p:val>
                                        </p:tav>
                                      </p:tavLst>
                                    </p:anim>
                                    <p:anim calcmode="lin" valueType="num">
                                      <p:cBhvr additive="base">
                                        <p:cTn id="2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
                                            <p:txEl>
                                              <p:pRg st="4" end="4"/>
                                            </p:txEl>
                                          </p:spTgt>
                                        </p:tgtEl>
                                        <p:attrNameLst>
                                          <p:attrName>style.visibility</p:attrName>
                                        </p:attrNameLst>
                                      </p:cBhvr>
                                      <p:to>
                                        <p:strVal val="visible"/>
                                      </p:to>
                                    </p:set>
                                    <p:anim calcmode="lin" valueType="num">
                                      <p:cBhvr additive="base">
                                        <p:cTn id="3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35"/>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5" end="5"/>
                                            </p:txEl>
                                          </p:spTgt>
                                        </p:tgtEl>
                                        <p:attrNameLst>
                                          <p:attrName>style.visibility</p:attrName>
                                        </p:attrNameLst>
                                      </p:cBhvr>
                                      <p:to>
                                        <p:strVal val="visible"/>
                                      </p:to>
                                    </p:set>
                                    <p:anim calcmode="lin" valueType="num">
                                      <p:cBhvr additive="base">
                                        <p:cTn id="49"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28"/>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41"/>
                                        </p:tgtEl>
                                        <p:attrNameLst>
                                          <p:attrName>style.visibility</p:attrName>
                                        </p:attrNameLst>
                                      </p:cBhvr>
                                      <p:to>
                                        <p:strVal val="visible"/>
                                      </p:to>
                                    </p:set>
                                    <p:anim calcmode="lin" valueType="num">
                                      <p:cBhvr additive="base">
                                        <p:cTn id="59" dur="500" fill="hold"/>
                                        <p:tgtEl>
                                          <p:spTgt spid="41"/>
                                        </p:tgtEl>
                                        <p:attrNameLst>
                                          <p:attrName>ppt_x</p:attrName>
                                        </p:attrNameLst>
                                      </p:cBhvr>
                                      <p:tavLst>
                                        <p:tav tm="0">
                                          <p:val>
                                            <p:strVal val="#ppt_x"/>
                                          </p:val>
                                        </p:tav>
                                        <p:tav tm="100000">
                                          <p:val>
                                            <p:strVal val="#ppt_x"/>
                                          </p:val>
                                        </p:tav>
                                      </p:tavLst>
                                    </p:anim>
                                    <p:anim calcmode="lin" valueType="num">
                                      <p:cBhvr additive="base">
                                        <p:cTn id="60"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E05C9-FF83-7627-D9E9-6471F882ED0F}"/>
            </a:ext>
          </a:extLst>
        </p:cNvPr>
        <p:cNvGrpSpPr/>
        <p:nvPr/>
      </p:nvGrpSpPr>
      <p:grpSpPr>
        <a:xfrm>
          <a:off x="0" y="0"/>
          <a:ext cx="0" cy="0"/>
          <a:chOff x="0" y="0"/>
          <a:chExt cx="0" cy="0"/>
        </a:xfrm>
      </p:grpSpPr>
      <p:sp>
        <p:nvSpPr>
          <p:cNvPr id="5125" name="Rectangle 3">
            <a:extLst>
              <a:ext uri="{FF2B5EF4-FFF2-40B4-BE49-F238E27FC236}">
                <a16:creationId xmlns:a16="http://schemas.microsoft.com/office/drawing/2014/main" id="{19234122-32F0-AD96-F5ED-9788933D5B90}"/>
              </a:ext>
            </a:extLst>
          </p:cNvPr>
          <p:cNvSpPr>
            <a:spLocks noGrp="1" noChangeArrowheads="1"/>
          </p:cNvSpPr>
          <p:nvPr>
            <p:ph idx="1"/>
          </p:nvPr>
        </p:nvSpPr>
        <p:spPr>
          <a:xfrm>
            <a:off x="495946" y="2048352"/>
            <a:ext cx="11043326" cy="4569424"/>
          </a:xfrm>
        </p:spPr>
        <p:txBody>
          <a:bodyPr anchor="t" anchorCtr="0">
            <a:normAutofit/>
          </a:bodyPr>
          <a:lstStyle/>
          <a:p>
            <a:pPr marL="0" indent="0">
              <a:buNone/>
            </a:pPr>
            <a:r>
              <a:rPr lang="en-US" altLang="en-US" sz="3500" dirty="0">
                <a:solidFill>
                  <a:schemeClr val="tx1"/>
                </a:solidFill>
              </a:rPr>
              <a:t>A Doubly Linked list is a concrete structure using nodes and pointers.  It’s easy to traverse in both directions as well as insert and delete from any position.  </a:t>
            </a:r>
          </a:p>
          <a:p>
            <a:pPr marL="0" indent="0">
              <a:buNone/>
            </a:pPr>
            <a:endParaRPr lang="en-US" altLang="en-US" sz="3500" dirty="0">
              <a:solidFill>
                <a:schemeClr val="tx1"/>
              </a:solidFill>
            </a:endParaRPr>
          </a:p>
          <a:p>
            <a:pPr marL="0" indent="0">
              <a:buNone/>
            </a:pPr>
            <a:r>
              <a:rPr lang="en-US" altLang="en-US" sz="3500" dirty="0">
                <a:solidFill>
                  <a:schemeClr val="tx1"/>
                </a:solidFill>
              </a:rPr>
              <a:t>The deque is an abstract data type that allows adding and removing from either end.  It can be implemented using a doubly linked list (or circular array).  </a:t>
            </a:r>
            <a:endParaRPr lang="en-US" altLang="en-US" sz="2800" dirty="0">
              <a:solidFill>
                <a:srgbClr val="0070C0"/>
              </a:solidFill>
            </a:endParaRPr>
          </a:p>
          <a:p>
            <a:pPr marL="0" indent="0">
              <a:buNone/>
            </a:pPr>
            <a:endParaRPr lang="en-US" altLang="en-US" sz="2800" dirty="0"/>
          </a:p>
        </p:txBody>
      </p:sp>
      <p:sp>
        <p:nvSpPr>
          <p:cNvPr id="3" name="TextBox 2">
            <a:extLst>
              <a:ext uri="{FF2B5EF4-FFF2-40B4-BE49-F238E27FC236}">
                <a16:creationId xmlns:a16="http://schemas.microsoft.com/office/drawing/2014/main" id="{F1466EA7-AE21-BDC2-18F3-D3E062CE49BC}"/>
              </a:ext>
            </a:extLst>
          </p:cNvPr>
          <p:cNvSpPr txBox="1"/>
          <p:nvPr/>
        </p:nvSpPr>
        <p:spPr>
          <a:xfrm>
            <a:off x="644629" y="918208"/>
            <a:ext cx="8840334" cy="830997"/>
          </a:xfrm>
          <a:prstGeom prst="rect">
            <a:avLst/>
          </a:prstGeom>
          <a:noFill/>
        </p:spPr>
        <p:txBody>
          <a:bodyPr wrap="square" rtlCol="0">
            <a:spAutoFit/>
          </a:bodyPr>
          <a:lstStyle/>
          <a:p>
            <a:r>
              <a:rPr lang="en-US" sz="4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Deque vs. Doubly Linked List</a:t>
            </a:r>
          </a:p>
        </p:txBody>
      </p:sp>
    </p:spTree>
    <p:extLst>
      <p:ext uri="{BB962C8B-B14F-4D97-AF65-F5344CB8AC3E}">
        <p14:creationId xmlns:p14="http://schemas.microsoft.com/office/powerpoint/2010/main" val="3708868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4534" y="5361031"/>
            <a:ext cx="11151719" cy="1224136"/>
          </a:xfrm>
        </p:spPr>
        <p:txBody>
          <a:bodyPr>
            <a:noAutofit/>
          </a:bodyPr>
          <a:lstStyle/>
          <a:p>
            <a:r>
              <a:rPr lang="en-US" sz="2400" dirty="0"/>
              <a:t>Not as common as linear lists, but still quite useful </a:t>
            </a:r>
          </a:p>
          <a:p>
            <a:r>
              <a:rPr lang="en-US" sz="2400" dirty="0"/>
              <a:t>Often used in operating systems, among other places:</a:t>
            </a:r>
          </a:p>
          <a:p>
            <a:pPr lvl="2"/>
            <a:r>
              <a:rPr lang="en-US" sz="2000" dirty="0"/>
              <a:t>Round robin scheduling</a:t>
            </a:r>
          </a:p>
          <a:p>
            <a:pPr lvl="2"/>
            <a:r>
              <a:rPr lang="en-US" sz="2000" dirty="0"/>
              <a:t>Contiguous memory management with first fit allocation</a:t>
            </a:r>
            <a:endParaRPr lang="en-US" sz="2000" i="1" dirty="0"/>
          </a:p>
        </p:txBody>
      </p:sp>
      <p:sp>
        <p:nvSpPr>
          <p:cNvPr id="2" name="Title 1"/>
          <p:cNvSpPr>
            <a:spLocks noGrp="1"/>
          </p:cNvSpPr>
          <p:nvPr>
            <p:ph type="title"/>
          </p:nvPr>
        </p:nvSpPr>
        <p:spPr>
          <a:xfrm>
            <a:off x="654534" y="884901"/>
            <a:ext cx="7886700" cy="693113"/>
          </a:xfrm>
        </p:spPr>
        <p:txBody>
          <a:bodyPr>
            <a:noAutofit/>
          </a:bodyPr>
          <a:lstStyle/>
          <a:p>
            <a:r>
              <a:rPr lang="en-US" sz="4800" cap="none" dirty="0"/>
              <a:t>Circular Lists</a:t>
            </a:r>
          </a:p>
        </p:txBody>
      </p:sp>
      <p:grpSp>
        <p:nvGrpSpPr>
          <p:cNvPr id="38" name="genral case graphic"/>
          <p:cNvGrpSpPr/>
          <p:nvPr/>
        </p:nvGrpSpPr>
        <p:grpSpPr>
          <a:xfrm>
            <a:off x="7037593" y="2135431"/>
            <a:ext cx="2497781" cy="1584176"/>
            <a:chOff x="2794646" y="1523086"/>
            <a:chExt cx="2713805" cy="2002718"/>
          </a:xfrm>
        </p:grpSpPr>
        <p:grpSp>
          <p:nvGrpSpPr>
            <p:cNvPr id="5" name="Group 4"/>
            <p:cNvGrpSpPr>
              <a:grpSpLocks/>
            </p:cNvGrpSpPr>
            <p:nvPr/>
          </p:nvGrpSpPr>
          <p:grpSpPr bwMode="auto">
            <a:xfrm>
              <a:off x="3738259" y="1592420"/>
              <a:ext cx="504403" cy="287428"/>
              <a:chOff x="1798" y="3919"/>
              <a:chExt cx="565" cy="232"/>
            </a:xfrm>
          </p:grpSpPr>
          <p:sp>
            <p:nvSpPr>
              <p:cNvPr id="6" name="Rectangle 5"/>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993300"/>
                </a:extrusionClr>
              </a:sp3d>
            </p:spPr>
            <p:txBody>
              <a:bodyPr wrap="none" anchor="ctr">
                <a:flatTx/>
              </a:bodyPr>
              <a:lstStyle/>
              <a:p>
                <a:endParaRPr lang="en-US" dirty="0">
                  <a:latin typeface="Times New Roman" panose="02020603050405020304" pitchFamily="18" charset="0"/>
                </a:endParaRPr>
              </a:p>
            </p:txBody>
          </p:sp>
          <p:sp>
            <p:nvSpPr>
              <p:cNvPr id="7" name="Rectangle 6"/>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6600"/>
                </a:extrusionClr>
              </a:sp3d>
            </p:spPr>
            <p:txBody>
              <a:bodyPr wrap="none" anchor="ctr">
                <a:flatTx/>
              </a:bodyPr>
              <a:lstStyle/>
              <a:p>
                <a:endParaRPr lang="en-US" dirty="0">
                  <a:latin typeface="Times New Roman" panose="02020603050405020304" pitchFamily="18" charset="0"/>
                </a:endParaRPr>
              </a:p>
            </p:txBody>
          </p:sp>
        </p:grpSp>
        <p:grpSp>
          <p:nvGrpSpPr>
            <p:cNvPr id="14" name="Group 13"/>
            <p:cNvGrpSpPr>
              <a:grpSpLocks/>
            </p:cNvGrpSpPr>
            <p:nvPr/>
          </p:nvGrpSpPr>
          <p:grpSpPr bwMode="auto">
            <a:xfrm>
              <a:off x="4603297" y="1916832"/>
              <a:ext cx="504403" cy="287428"/>
              <a:chOff x="1798" y="3919"/>
              <a:chExt cx="565" cy="232"/>
            </a:xfrm>
          </p:grpSpPr>
          <p:sp>
            <p:nvSpPr>
              <p:cNvPr id="15" name="Rectangle 14"/>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993300"/>
                </a:extrusionClr>
              </a:sp3d>
            </p:spPr>
            <p:txBody>
              <a:bodyPr wrap="none" anchor="ctr">
                <a:flatTx/>
              </a:bodyPr>
              <a:lstStyle/>
              <a:p>
                <a:endParaRPr lang="en-US" dirty="0">
                  <a:latin typeface="Times New Roman" panose="02020603050405020304" pitchFamily="18" charset="0"/>
                </a:endParaRPr>
              </a:p>
            </p:txBody>
          </p:sp>
          <p:sp>
            <p:nvSpPr>
              <p:cNvPr id="16" name="Rectangle 15"/>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6600"/>
                </a:extrusionClr>
              </a:sp3d>
            </p:spPr>
            <p:txBody>
              <a:bodyPr wrap="none" anchor="ctr">
                <a:flatTx/>
              </a:bodyPr>
              <a:lstStyle/>
              <a:p>
                <a:endParaRPr lang="en-US" dirty="0">
                  <a:latin typeface="Times New Roman" panose="02020603050405020304" pitchFamily="18" charset="0"/>
                </a:endParaRPr>
              </a:p>
            </p:txBody>
          </p:sp>
        </p:grpSp>
        <p:grpSp>
          <p:nvGrpSpPr>
            <p:cNvPr id="17" name="Group 16"/>
            <p:cNvGrpSpPr>
              <a:grpSpLocks/>
            </p:cNvGrpSpPr>
            <p:nvPr/>
          </p:nvGrpSpPr>
          <p:grpSpPr bwMode="auto">
            <a:xfrm>
              <a:off x="5004048" y="2636912"/>
              <a:ext cx="504403" cy="287428"/>
              <a:chOff x="1798" y="3919"/>
              <a:chExt cx="565" cy="232"/>
            </a:xfrm>
          </p:grpSpPr>
          <p:sp>
            <p:nvSpPr>
              <p:cNvPr id="18" name="Rectangle 17"/>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993300"/>
                </a:extrusionClr>
              </a:sp3d>
            </p:spPr>
            <p:txBody>
              <a:bodyPr wrap="none" anchor="ctr">
                <a:flatTx/>
              </a:bodyPr>
              <a:lstStyle/>
              <a:p>
                <a:endParaRPr lang="en-US" dirty="0">
                  <a:latin typeface="Times New Roman" panose="02020603050405020304" pitchFamily="18" charset="0"/>
                </a:endParaRPr>
              </a:p>
            </p:txBody>
          </p:sp>
          <p:sp>
            <p:nvSpPr>
              <p:cNvPr id="19" name="Rectangle 18"/>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6600"/>
                </a:extrusionClr>
              </a:sp3d>
            </p:spPr>
            <p:txBody>
              <a:bodyPr wrap="none" anchor="ctr">
                <a:flatTx/>
              </a:bodyPr>
              <a:lstStyle/>
              <a:p>
                <a:endParaRPr lang="en-US" dirty="0">
                  <a:latin typeface="Times New Roman" panose="02020603050405020304" pitchFamily="18" charset="0"/>
                </a:endParaRPr>
              </a:p>
            </p:txBody>
          </p:sp>
        </p:grpSp>
        <p:grpSp>
          <p:nvGrpSpPr>
            <p:cNvPr id="20" name="Group 19"/>
            <p:cNvGrpSpPr>
              <a:grpSpLocks/>
            </p:cNvGrpSpPr>
            <p:nvPr/>
          </p:nvGrpSpPr>
          <p:grpSpPr bwMode="auto">
            <a:xfrm>
              <a:off x="3923928" y="3068960"/>
              <a:ext cx="504403" cy="287428"/>
              <a:chOff x="1798" y="3919"/>
              <a:chExt cx="565" cy="232"/>
            </a:xfrm>
          </p:grpSpPr>
          <p:sp>
            <p:nvSpPr>
              <p:cNvPr id="21" name="Rectangle 20"/>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993300"/>
                </a:extrusionClr>
              </a:sp3d>
            </p:spPr>
            <p:txBody>
              <a:bodyPr wrap="none" anchor="ctr">
                <a:flatTx/>
              </a:bodyPr>
              <a:lstStyle/>
              <a:p>
                <a:endParaRPr lang="en-US" dirty="0">
                  <a:latin typeface="Times New Roman" panose="02020603050405020304" pitchFamily="18" charset="0"/>
                </a:endParaRPr>
              </a:p>
            </p:txBody>
          </p:sp>
          <p:sp>
            <p:nvSpPr>
              <p:cNvPr id="22" name="Rectangle 21"/>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6600"/>
                </a:extrusionClr>
              </a:sp3d>
            </p:spPr>
            <p:txBody>
              <a:bodyPr wrap="none" anchor="ctr">
                <a:flatTx/>
              </a:bodyPr>
              <a:lstStyle/>
              <a:p>
                <a:endParaRPr lang="en-US" dirty="0">
                  <a:latin typeface="Times New Roman" panose="02020603050405020304" pitchFamily="18" charset="0"/>
                </a:endParaRPr>
              </a:p>
            </p:txBody>
          </p:sp>
        </p:grpSp>
        <p:grpSp>
          <p:nvGrpSpPr>
            <p:cNvPr id="23" name="Group 22"/>
            <p:cNvGrpSpPr>
              <a:grpSpLocks/>
            </p:cNvGrpSpPr>
            <p:nvPr/>
          </p:nvGrpSpPr>
          <p:grpSpPr bwMode="auto">
            <a:xfrm>
              <a:off x="2987824" y="2708920"/>
              <a:ext cx="504403" cy="287428"/>
              <a:chOff x="1798" y="3919"/>
              <a:chExt cx="565" cy="232"/>
            </a:xfrm>
          </p:grpSpPr>
          <p:sp>
            <p:nvSpPr>
              <p:cNvPr id="24" name="Rectangle 23"/>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993300"/>
                </a:extrusionClr>
              </a:sp3d>
            </p:spPr>
            <p:txBody>
              <a:bodyPr wrap="none" anchor="ctr">
                <a:flatTx/>
              </a:bodyPr>
              <a:lstStyle/>
              <a:p>
                <a:endParaRPr lang="en-US" dirty="0">
                  <a:latin typeface="Times New Roman" panose="02020603050405020304" pitchFamily="18" charset="0"/>
                </a:endParaRPr>
              </a:p>
            </p:txBody>
          </p:sp>
          <p:sp>
            <p:nvSpPr>
              <p:cNvPr id="25" name="Rectangle 24"/>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6600"/>
                </a:extrusionClr>
              </a:sp3d>
            </p:spPr>
            <p:txBody>
              <a:bodyPr wrap="none" anchor="ctr">
                <a:flatTx/>
              </a:bodyPr>
              <a:lstStyle/>
              <a:p>
                <a:endParaRPr lang="en-US" dirty="0">
                  <a:latin typeface="Times New Roman" panose="02020603050405020304" pitchFamily="18" charset="0"/>
                </a:endParaRPr>
              </a:p>
            </p:txBody>
          </p:sp>
        </p:grpSp>
        <p:grpSp>
          <p:nvGrpSpPr>
            <p:cNvPr id="26" name="Group 25"/>
            <p:cNvGrpSpPr>
              <a:grpSpLocks/>
            </p:cNvGrpSpPr>
            <p:nvPr/>
          </p:nvGrpSpPr>
          <p:grpSpPr bwMode="auto">
            <a:xfrm>
              <a:off x="2794646" y="1904629"/>
              <a:ext cx="504403" cy="287428"/>
              <a:chOff x="1798" y="3919"/>
              <a:chExt cx="565" cy="232"/>
            </a:xfrm>
          </p:grpSpPr>
          <p:sp>
            <p:nvSpPr>
              <p:cNvPr id="27" name="Rectangle 26"/>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993300"/>
                </a:extrusionClr>
              </a:sp3d>
            </p:spPr>
            <p:txBody>
              <a:bodyPr wrap="none" anchor="ctr">
                <a:flatTx/>
              </a:bodyPr>
              <a:lstStyle/>
              <a:p>
                <a:endParaRPr lang="en-US" dirty="0">
                  <a:latin typeface="Times New Roman" panose="02020603050405020304" pitchFamily="18" charset="0"/>
                </a:endParaRPr>
              </a:p>
            </p:txBody>
          </p:sp>
          <p:sp>
            <p:nvSpPr>
              <p:cNvPr id="28" name="Rectangle 27"/>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6600"/>
                </a:extrusionClr>
              </a:sp3d>
            </p:spPr>
            <p:txBody>
              <a:bodyPr wrap="none" anchor="ctr">
                <a:flatTx/>
              </a:bodyPr>
              <a:lstStyle/>
              <a:p>
                <a:endParaRPr lang="en-US" dirty="0">
                  <a:latin typeface="Times New Roman" panose="02020603050405020304" pitchFamily="18" charset="0"/>
                </a:endParaRPr>
              </a:p>
            </p:txBody>
          </p:sp>
        </p:grpSp>
        <p:sp>
          <p:nvSpPr>
            <p:cNvPr id="9" name="Freeform 29"/>
            <p:cNvSpPr>
              <a:spLocks/>
            </p:cNvSpPr>
            <p:nvPr/>
          </p:nvSpPr>
          <p:spPr bwMode="auto">
            <a:xfrm>
              <a:off x="4159349" y="1523086"/>
              <a:ext cx="772679" cy="321748"/>
            </a:xfrm>
            <a:custGeom>
              <a:avLst/>
              <a:gdLst>
                <a:gd name="T0" fmla="*/ 0 w 338"/>
                <a:gd name="T1" fmla="*/ 7 h 230"/>
                <a:gd name="T2" fmla="*/ 211 w 338"/>
                <a:gd name="T3" fmla="*/ 10 h 230"/>
                <a:gd name="T4" fmla="*/ 319 w 338"/>
                <a:gd name="T5" fmla="*/ 67 h 230"/>
                <a:gd name="T6" fmla="*/ 328 w 338"/>
                <a:gd name="T7" fmla="*/ 230 h 230"/>
                <a:gd name="T8" fmla="*/ 0 60000 65536"/>
                <a:gd name="T9" fmla="*/ 0 60000 65536"/>
                <a:gd name="T10" fmla="*/ 0 60000 65536"/>
                <a:gd name="T11" fmla="*/ 0 60000 65536"/>
                <a:gd name="T12" fmla="*/ 0 w 338"/>
                <a:gd name="T13" fmla="*/ 0 h 230"/>
                <a:gd name="T14" fmla="*/ 338 w 338"/>
                <a:gd name="T15" fmla="*/ 230 h 230"/>
                <a:gd name="connsiteX0" fmla="*/ 0 w 10384"/>
                <a:gd name="connsiteY0" fmla="*/ 2711 h 12407"/>
                <a:gd name="connsiteX1" fmla="*/ 4026 w 10384"/>
                <a:gd name="connsiteY1" fmla="*/ 435 h 12407"/>
                <a:gd name="connsiteX2" fmla="*/ 9438 w 10384"/>
                <a:gd name="connsiteY2" fmla="*/ 5320 h 12407"/>
                <a:gd name="connsiteX3" fmla="*/ 9704 w 10384"/>
                <a:gd name="connsiteY3" fmla="*/ 12407 h 12407"/>
                <a:gd name="connsiteX0" fmla="*/ 0 w 10340"/>
                <a:gd name="connsiteY0" fmla="*/ 4271 h 13967"/>
                <a:gd name="connsiteX1" fmla="*/ 4026 w 10340"/>
                <a:gd name="connsiteY1" fmla="*/ 1995 h 13967"/>
                <a:gd name="connsiteX2" fmla="*/ 9394 w 10340"/>
                <a:gd name="connsiteY2" fmla="*/ 1995 h 13967"/>
                <a:gd name="connsiteX3" fmla="*/ 9704 w 10340"/>
                <a:gd name="connsiteY3" fmla="*/ 13967 h 13967"/>
                <a:gd name="connsiteX0" fmla="*/ 0 w 11436"/>
                <a:gd name="connsiteY0" fmla="*/ 3232 h 6695"/>
                <a:gd name="connsiteX1" fmla="*/ 4026 w 11436"/>
                <a:gd name="connsiteY1" fmla="*/ 956 h 6695"/>
                <a:gd name="connsiteX2" fmla="*/ 9394 w 11436"/>
                <a:gd name="connsiteY2" fmla="*/ 956 h 6695"/>
                <a:gd name="connsiteX3" fmla="*/ 11436 w 11436"/>
                <a:gd name="connsiteY3" fmla="*/ 6695 h 6695"/>
                <a:gd name="connsiteX0" fmla="*/ 0 w 10809"/>
                <a:gd name="connsiteY0" fmla="*/ 9251 h 14424"/>
                <a:gd name="connsiteX1" fmla="*/ 3520 w 10809"/>
                <a:gd name="connsiteY1" fmla="*/ 5852 h 14424"/>
                <a:gd name="connsiteX2" fmla="*/ 9729 w 10809"/>
                <a:gd name="connsiteY2" fmla="*/ 1428 h 14424"/>
                <a:gd name="connsiteX3" fmla="*/ 10000 w 10809"/>
                <a:gd name="connsiteY3" fmla="*/ 14424 h 14424"/>
                <a:gd name="connsiteX0" fmla="*/ 0 w 10618"/>
                <a:gd name="connsiteY0" fmla="*/ 9091 h 14264"/>
                <a:gd name="connsiteX1" fmla="*/ 3520 w 10618"/>
                <a:gd name="connsiteY1" fmla="*/ 5692 h 14264"/>
                <a:gd name="connsiteX2" fmla="*/ 9538 w 10618"/>
                <a:gd name="connsiteY2" fmla="*/ 1428 h 14264"/>
                <a:gd name="connsiteX3" fmla="*/ 10000 w 10618"/>
                <a:gd name="connsiteY3" fmla="*/ 14264 h 14264"/>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4082"/>
                <a:gd name="connsiteY0" fmla="*/ 11994 h 26269"/>
                <a:gd name="connsiteX1" fmla="*/ 4985 w 14082"/>
                <a:gd name="connsiteY1" fmla="*/ 283 h 26269"/>
                <a:gd name="connsiteX2" fmla="*/ 9538 w 14082"/>
                <a:gd name="connsiteY2" fmla="*/ 4331 h 26269"/>
                <a:gd name="connsiteX3" fmla="*/ 14082 w 14082"/>
                <a:gd name="connsiteY3" fmla="*/ 26269 h 26269"/>
                <a:gd name="connsiteX0" fmla="*/ 0 w 14082"/>
                <a:gd name="connsiteY0" fmla="*/ 11711 h 25986"/>
                <a:gd name="connsiteX1" fmla="*/ 4985 w 14082"/>
                <a:gd name="connsiteY1" fmla="*/ 0 h 25986"/>
                <a:gd name="connsiteX2" fmla="*/ 14082 w 14082"/>
                <a:gd name="connsiteY2" fmla="*/ 25986 h 25986"/>
                <a:gd name="connsiteX0" fmla="*/ 0 w 14082"/>
                <a:gd name="connsiteY0" fmla="*/ 7210 h 21485"/>
                <a:gd name="connsiteX1" fmla="*/ 9388 w 14082"/>
                <a:gd name="connsiteY1" fmla="*/ 865 h 21485"/>
                <a:gd name="connsiteX2" fmla="*/ 14082 w 14082"/>
                <a:gd name="connsiteY2" fmla="*/ 21485 h 21485"/>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2908 w 14082"/>
                <a:gd name="connsiteY2" fmla="*/ 8055 h 22784"/>
                <a:gd name="connsiteX3" fmla="*/ 14082 w 14082"/>
                <a:gd name="connsiteY3" fmla="*/ 22784 h 22784"/>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864"/>
                <a:gd name="connsiteY0" fmla="*/ 8509 h 22130"/>
                <a:gd name="connsiteX1" fmla="*/ 9388 w 14864"/>
                <a:gd name="connsiteY1" fmla="*/ 2164 h 22130"/>
                <a:gd name="connsiteX2" fmla="*/ 14082 w 14864"/>
                <a:gd name="connsiteY2" fmla="*/ 5110 h 22130"/>
                <a:gd name="connsiteX3" fmla="*/ 14659 w 14864"/>
                <a:gd name="connsiteY3" fmla="*/ 22130 h 22130"/>
                <a:gd name="connsiteX0" fmla="*/ 0 w 14864"/>
                <a:gd name="connsiteY0" fmla="*/ 10596 h 24217"/>
                <a:gd name="connsiteX1" fmla="*/ 8214 w 14864"/>
                <a:gd name="connsiteY1" fmla="*/ 1305 h 24217"/>
                <a:gd name="connsiteX2" fmla="*/ 14082 w 14864"/>
                <a:gd name="connsiteY2" fmla="*/ 7197 h 24217"/>
                <a:gd name="connsiteX3" fmla="*/ 14659 w 14864"/>
                <a:gd name="connsiteY3" fmla="*/ 24217 h 24217"/>
                <a:gd name="connsiteX0" fmla="*/ 0 w 14864"/>
                <a:gd name="connsiteY0" fmla="*/ 10615 h 24236"/>
                <a:gd name="connsiteX1" fmla="*/ 8214 w 14864"/>
                <a:gd name="connsiteY1" fmla="*/ 1324 h 24236"/>
                <a:gd name="connsiteX2" fmla="*/ 14082 w 14864"/>
                <a:gd name="connsiteY2" fmla="*/ 7216 h 24236"/>
                <a:gd name="connsiteX3" fmla="*/ 14659 w 14864"/>
                <a:gd name="connsiteY3" fmla="*/ 24236 h 2423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659"/>
                <a:gd name="connsiteY0" fmla="*/ 9865 h 23486"/>
                <a:gd name="connsiteX1" fmla="*/ 8214 w 14659"/>
                <a:gd name="connsiteY1" fmla="*/ 574 h 23486"/>
                <a:gd name="connsiteX2" fmla="*/ 14082 w 14659"/>
                <a:gd name="connsiteY2" fmla="*/ 6466 h 23486"/>
                <a:gd name="connsiteX3" fmla="*/ 14659 w 14659"/>
                <a:gd name="connsiteY3" fmla="*/ 23486 h 23486"/>
                <a:gd name="connsiteX0" fmla="*/ 0 w 14844"/>
                <a:gd name="connsiteY0" fmla="*/ 9865 h 23486"/>
                <a:gd name="connsiteX1" fmla="*/ 8214 w 14844"/>
                <a:gd name="connsiteY1" fmla="*/ 574 h 23486"/>
                <a:gd name="connsiteX2" fmla="*/ 14082 w 14844"/>
                <a:gd name="connsiteY2" fmla="*/ 6466 h 23486"/>
                <a:gd name="connsiteX3" fmla="*/ 14659 w 14844"/>
                <a:gd name="connsiteY3" fmla="*/ 23486 h 23486"/>
                <a:gd name="connsiteX0" fmla="*/ 0 w 14659"/>
                <a:gd name="connsiteY0" fmla="*/ 9865 h 23486"/>
                <a:gd name="connsiteX1" fmla="*/ 8214 w 14659"/>
                <a:gd name="connsiteY1" fmla="*/ 574 h 23486"/>
                <a:gd name="connsiteX2" fmla="*/ 12908 w 14659"/>
                <a:gd name="connsiteY2" fmla="*/ 3520 h 23486"/>
                <a:gd name="connsiteX3" fmla="*/ 14659 w 14659"/>
                <a:gd name="connsiteY3" fmla="*/ 23486 h 23486"/>
                <a:gd name="connsiteX0" fmla="*/ 0 w 14659"/>
                <a:gd name="connsiteY0" fmla="*/ 11631 h 25252"/>
                <a:gd name="connsiteX1" fmla="*/ 8214 w 14659"/>
                <a:gd name="connsiteY1" fmla="*/ 2340 h 25252"/>
                <a:gd name="connsiteX2" fmla="*/ 12908 w 14659"/>
                <a:gd name="connsiteY2" fmla="*/ 5286 h 25252"/>
                <a:gd name="connsiteX3" fmla="*/ 14659 w 14659"/>
                <a:gd name="connsiteY3" fmla="*/ 25252 h 25252"/>
                <a:gd name="connsiteX0" fmla="*/ 0 w 14659"/>
                <a:gd name="connsiteY0" fmla="*/ 12438 h 26059"/>
                <a:gd name="connsiteX1" fmla="*/ 8214 w 14659"/>
                <a:gd name="connsiteY1" fmla="*/ 3147 h 26059"/>
                <a:gd name="connsiteX2" fmla="*/ 12908 w 14659"/>
                <a:gd name="connsiteY2" fmla="*/ 6093 h 26059"/>
                <a:gd name="connsiteX3" fmla="*/ 14659 w 14659"/>
                <a:gd name="connsiteY3" fmla="*/ 26059 h 26059"/>
                <a:gd name="connsiteX0" fmla="*/ 0 w 14659"/>
                <a:gd name="connsiteY0" fmla="*/ 8615 h 22236"/>
                <a:gd name="connsiteX1" fmla="*/ 12908 w 14659"/>
                <a:gd name="connsiteY1" fmla="*/ 2270 h 22236"/>
                <a:gd name="connsiteX2" fmla="*/ 14659 w 14659"/>
                <a:gd name="connsiteY2" fmla="*/ 22236 h 22236"/>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291 h 22912"/>
                <a:gd name="connsiteX1" fmla="*/ 10561 w 14659"/>
                <a:gd name="connsiteY1" fmla="*/ 0 h 22912"/>
                <a:gd name="connsiteX2" fmla="*/ 14659 w 14659"/>
                <a:gd name="connsiteY2" fmla="*/ 22912 h 22912"/>
                <a:gd name="connsiteX0" fmla="*/ 0 w 14659"/>
                <a:gd name="connsiteY0" fmla="*/ 9291 h 22912"/>
                <a:gd name="connsiteX1" fmla="*/ 10561 w 14659"/>
                <a:gd name="connsiteY1" fmla="*/ 0 h 22912"/>
                <a:gd name="connsiteX2" fmla="*/ 14659 w 14659"/>
                <a:gd name="connsiteY2" fmla="*/ 22912 h 22912"/>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5101"/>
                <a:gd name="connsiteY0" fmla="*/ 8257 h 21878"/>
                <a:gd name="connsiteX1" fmla="*/ 10561 w 15101"/>
                <a:gd name="connsiteY1" fmla="*/ 1912 h 21878"/>
                <a:gd name="connsiteX2" fmla="*/ 14659 w 15101"/>
                <a:gd name="connsiteY2" fmla="*/ 21878 h 21878"/>
                <a:gd name="connsiteX0" fmla="*/ 0 w 16291"/>
                <a:gd name="connsiteY0" fmla="*/ 8257 h 21878"/>
                <a:gd name="connsiteX1" fmla="*/ 10561 w 16291"/>
                <a:gd name="connsiteY1" fmla="*/ 1912 h 21878"/>
                <a:gd name="connsiteX2" fmla="*/ 14659 w 16291"/>
                <a:gd name="connsiteY2" fmla="*/ 21878 h 21878"/>
                <a:gd name="connsiteX0" fmla="*/ 0 w 15439"/>
                <a:gd name="connsiteY0" fmla="*/ 8257 h 21878"/>
                <a:gd name="connsiteX1" fmla="*/ 10561 w 15439"/>
                <a:gd name="connsiteY1" fmla="*/ 1912 h 21878"/>
                <a:gd name="connsiteX2" fmla="*/ 14659 w 15439"/>
                <a:gd name="connsiteY2" fmla="*/ 21878 h 21878"/>
                <a:gd name="connsiteX0" fmla="*/ 0 w 15439"/>
                <a:gd name="connsiteY0" fmla="*/ 8257 h 21878"/>
                <a:gd name="connsiteX1" fmla="*/ 8214 w 15439"/>
                <a:gd name="connsiteY1" fmla="*/ 1912 h 21878"/>
                <a:gd name="connsiteX2" fmla="*/ 14659 w 15439"/>
                <a:gd name="connsiteY2" fmla="*/ 21878 h 21878"/>
                <a:gd name="connsiteX0" fmla="*/ 0 w 15439"/>
                <a:gd name="connsiteY0" fmla="*/ 8257 h 21878"/>
                <a:gd name="connsiteX1" fmla="*/ 8214 w 15439"/>
                <a:gd name="connsiteY1" fmla="*/ 7804 h 21878"/>
                <a:gd name="connsiteX2" fmla="*/ 14659 w 15439"/>
                <a:gd name="connsiteY2" fmla="*/ 21878 h 21878"/>
                <a:gd name="connsiteX0" fmla="*/ 0 w 15439"/>
                <a:gd name="connsiteY0" fmla="*/ 2440 h 16061"/>
                <a:gd name="connsiteX1" fmla="*/ 8214 w 15439"/>
                <a:gd name="connsiteY1" fmla="*/ 1987 h 16061"/>
                <a:gd name="connsiteX2" fmla="*/ 14659 w 15439"/>
                <a:gd name="connsiteY2" fmla="*/ 16061 h 16061"/>
                <a:gd name="connsiteX0" fmla="*/ 0 w 15439"/>
                <a:gd name="connsiteY0" fmla="*/ 3528 h 17149"/>
                <a:gd name="connsiteX1" fmla="*/ 8214 w 15439"/>
                <a:gd name="connsiteY1" fmla="*/ 129 h 17149"/>
                <a:gd name="connsiteX2" fmla="*/ 14659 w 15439"/>
                <a:gd name="connsiteY2" fmla="*/ 17149 h 17149"/>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7960 w 15439"/>
                <a:gd name="connsiteY1" fmla="*/ 2970 h 17430"/>
                <a:gd name="connsiteX2" fmla="*/ 14659 w 15439"/>
                <a:gd name="connsiteY2" fmla="*/ 17430 h 17430"/>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039"/>
                <a:gd name="connsiteY0" fmla="*/ 1060 h 14681"/>
                <a:gd name="connsiteX1" fmla="*/ 8044 w 15039"/>
                <a:gd name="connsiteY1" fmla="*/ 832 h 14681"/>
                <a:gd name="connsiteX2" fmla="*/ 14659 w 15039"/>
                <a:gd name="connsiteY2" fmla="*/ 14681 h 14681"/>
                <a:gd name="connsiteX0" fmla="*/ 0 w 15039"/>
                <a:gd name="connsiteY0" fmla="*/ 6130 h 19751"/>
                <a:gd name="connsiteX1" fmla="*/ 7898 w 15039"/>
                <a:gd name="connsiteY1" fmla="*/ 105 h 19751"/>
                <a:gd name="connsiteX2" fmla="*/ 14659 w 15039"/>
                <a:gd name="connsiteY2" fmla="*/ 19751 h 19751"/>
                <a:gd name="connsiteX0" fmla="*/ 0 w 15039"/>
                <a:gd name="connsiteY0" fmla="*/ 6025 h 19646"/>
                <a:gd name="connsiteX1" fmla="*/ 7898 w 15039"/>
                <a:gd name="connsiteY1" fmla="*/ 0 h 19646"/>
                <a:gd name="connsiteX2" fmla="*/ 14659 w 15039"/>
                <a:gd name="connsiteY2" fmla="*/ 19646 h 19646"/>
                <a:gd name="connsiteX0" fmla="*/ 0 w 15039"/>
                <a:gd name="connsiteY0" fmla="*/ 6025 h 19646"/>
                <a:gd name="connsiteX1" fmla="*/ 7898 w 15039"/>
                <a:gd name="connsiteY1" fmla="*/ 0 h 19646"/>
                <a:gd name="connsiteX2" fmla="*/ 14659 w 15039"/>
                <a:gd name="connsiteY2" fmla="*/ 19646 h 19646"/>
                <a:gd name="connsiteX0" fmla="*/ 0 w 12972"/>
                <a:gd name="connsiteY0" fmla="*/ 8923 h 14681"/>
                <a:gd name="connsiteX1" fmla="*/ 7898 w 12972"/>
                <a:gd name="connsiteY1" fmla="*/ 2898 h 14681"/>
                <a:gd name="connsiteX2" fmla="*/ 12592 w 12972"/>
                <a:gd name="connsiteY2" fmla="*/ 14681 h 14681"/>
                <a:gd name="connsiteX0" fmla="*/ 0 w 12972"/>
                <a:gd name="connsiteY0" fmla="*/ 8923 h 14681"/>
                <a:gd name="connsiteX1" fmla="*/ 7263 w 12972"/>
                <a:gd name="connsiteY1" fmla="*/ 1519 h 14681"/>
                <a:gd name="connsiteX2" fmla="*/ 12592 w 12972"/>
                <a:gd name="connsiteY2" fmla="*/ 14681 h 14681"/>
                <a:gd name="connsiteX0" fmla="*/ 0 w 12592"/>
                <a:gd name="connsiteY0" fmla="*/ 7404 h 13162"/>
                <a:gd name="connsiteX1" fmla="*/ 7263 w 12592"/>
                <a:gd name="connsiteY1" fmla="*/ 0 h 13162"/>
                <a:gd name="connsiteX2" fmla="*/ 12592 w 12592"/>
                <a:gd name="connsiteY2" fmla="*/ 13162 h 13162"/>
                <a:gd name="connsiteX0" fmla="*/ 0 w 12592"/>
                <a:gd name="connsiteY0" fmla="*/ 7404 h 13162"/>
                <a:gd name="connsiteX1" fmla="*/ 7263 w 12592"/>
                <a:gd name="connsiteY1" fmla="*/ 0 h 13162"/>
                <a:gd name="connsiteX2" fmla="*/ 12592 w 12592"/>
                <a:gd name="connsiteY2" fmla="*/ 13162 h 13162"/>
              </a:gdLst>
              <a:ahLst/>
              <a:cxnLst>
                <a:cxn ang="0">
                  <a:pos x="connsiteX0" y="connsiteY0"/>
                </a:cxn>
                <a:cxn ang="0">
                  <a:pos x="connsiteX1" y="connsiteY1"/>
                </a:cxn>
                <a:cxn ang="0">
                  <a:pos x="connsiteX2" y="connsiteY2"/>
                </a:cxn>
              </a:cxnLst>
              <a:rect l="l" t="t" r="r" b="b"/>
              <a:pathLst>
                <a:path w="12592" h="13162">
                  <a:moveTo>
                    <a:pt x="0" y="7404"/>
                  </a:moveTo>
                  <a:cubicBezTo>
                    <a:pt x="2300" y="2085"/>
                    <a:pt x="4816" y="162"/>
                    <a:pt x="7263" y="0"/>
                  </a:cubicBezTo>
                  <a:cubicBezTo>
                    <a:pt x="9567" y="319"/>
                    <a:pt x="11683" y="2977"/>
                    <a:pt x="12592" y="13162"/>
                  </a:cubicBezTo>
                </a:path>
              </a:pathLst>
            </a:custGeom>
            <a:noFill/>
            <a:ln w="38100" cap="flat" cmpd="sng">
              <a:solidFill>
                <a:srgbClr val="FFC000"/>
              </a:solidFill>
              <a:prstDash val="solid"/>
              <a:round/>
              <a:headEnd type="oval" w="med" len="med"/>
              <a:tailEnd type="triangle" w="lg" len="lg"/>
            </a:ln>
          </p:spPr>
          <p:txBody>
            <a:bodyPr tIns="91440" bIns="91440" anchor="ctr"/>
            <a:lstStyle/>
            <a:p>
              <a:endParaRPr lang="en-US" dirty="0">
                <a:latin typeface="Times New Roman" panose="02020603050405020304" pitchFamily="18" charset="0"/>
              </a:endParaRPr>
            </a:p>
          </p:txBody>
        </p:sp>
        <p:sp>
          <p:nvSpPr>
            <p:cNvPr id="29" name="Freeform 29"/>
            <p:cNvSpPr>
              <a:spLocks/>
            </p:cNvSpPr>
            <p:nvPr/>
          </p:nvSpPr>
          <p:spPr bwMode="auto">
            <a:xfrm>
              <a:off x="4990845" y="2034070"/>
              <a:ext cx="446046" cy="458838"/>
            </a:xfrm>
            <a:custGeom>
              <a:avLst/>
              <a:gdLst>
                <a:gd name="T0" fmla="*/ 0 w 338"/>
                <a:gd name="T1" fmla="*/ 7 h 230"/>
                <a:gd name="T2" fmla="*/ 211 w 338"/>
                <a:gd name="T3" fmla="*/ 10 h 230"/>
                <a:gd name="T4" fmla="*/ 319 w 338"/>
                <a:gd name="T5" fmla="*/ 67 h 230"/>
                <a:gd name="T6" fmla="*/ 328 w 338"/>
                <a:gd name="T7" fmla="*/ 230 h 230"/>
                <a:gd name="T8" fmla="*/ 0 60000 65536"/>
                <a:gd name="T9" fmla="*/ 0 60000 65536"/>
                <a:gd name="T10" fmla="*/ 0 60000 65536"/>
                <a:gd name="T11" fmla="*/ 0 60000 65536"/>
                <a:gd name="T12" fmla="*/ 0 w 338"/>
                <a:gd name="T13" fmla="*/ 0 h 230"/>
                <a:gd name="T14" fmla="*/ 338 w 338"/>
                <a:gd name="T15" fmla="*/ 230 h 230"/>
                <a:gd name="connsiteX0" fmla="*/ 0 w 10384"/>
                <a:gd name="connsiteY0" fmla="*/ 2711 h 12407"/>
                <a:gd name="connsiteX1" fmla="*/ 4026 w 10384"/>
                <a:gd name="connsiteY1" fmla="*/ 435 h 12407"/>
                <a:gd name="connsiteX2" fmla="*/ 9438 w 10384"/>
                <a:gd name="connsiteY2" fmla="*/ 5320 h 12407"/>
                <a:gd name="connsiteX3" fmla="*/ 9704 w 10384"/>
                <a:gd name="connsiteY3" fmla="*/ 12407 h 12407"/>
                <a:gd name="connsiteX0" fmla="*/ 0 w 10340"/>
                <a:gd name="connsiteY0" fmla="*/ 4271 h 13967"/>
                <a:gd name="connsiteX1" fmla="*/ 4026 w 10340"/>
                <a:gd name="connsiteY1" fmla="*/ 1995 h 13967"/>
                <a:gd name="connsiteX2" fmla="*/ 9394 w 10340"/>
                <a:gd name="connsiteY2" fmla="*/ 1995 h 13967"/>
                <a:gd name="connsiteX3" fmla="*/ 9704 w 10340"/>
                <a:gd name="connsiteY3" fmla="*/ 13967 h 13967"/>
                <a:gd name="connsiteX0" fmla="*/ 0 w 11436"/>
                <a:gd name="connsiteY0" fmla="*/ 3232 h 6695"/>
                <a:gd name="connsiteX1" fmla="*/ 4026 w 11436"/>
                <a:gd name="connsiteY1" fmla="*/ 956 h 6695"/>
                <a:gd name="connsiteX2" fmla="*/ 9394 w 11436"/>
                <a:gd name="connsiteY2" fmla="*/ 956 h 6695"/>
                <a:gd name="connsiteX3" fmla="*/ 11436 w 11436"/>
                <a:gd name="connsiteY3" fmla="*/ 6695 h 6695"/>
                <a:gd name="connsiteX0" fmla="*/ 0 w 10809"/>
                <a:gd name="connsiteY0" fmla="*/ 9251 h 14424"/>
                <a:gd name="connsiteX1" fmla="*/ 3520 w 10809"/>
                <a:gd name="connsiteY1" fmla="*/ 5852 h 14424"/>
                <a:gd name="connsiteX2" fmla="*/ 9729 w 10809"/>
                <a:gd name="connsiteY2" fmla="*/ 1428 h 14424"/>
                <a:gd name="connsiteX3" fmla="*/ 10000 w 10809"/>
                <a:gd name="connsiteY3" fmla="*/ 14424 h 14424"/>
                <a:gd name="connsiteX0" fmla="*/ 0 w 10618"/>
                <a:gd name="connsiteY0" fmla="*/ 9091 h 14264"/>
                <a:gd name="connsiteX1" fmla="*/ 3520 w 10618"/>
                <a:gd name="connsiteY1" fmla="*/ 5692 h 14264"/>
                <a:gd name="connsiteX2" fmla="*/ 9538 w 10618"/>
                <a:gd name="connsiteY2" fmla="*/ 1428 h 14264"/>
                <a:gd name="connsiteX3" fmla="*/ 10000 w 10618"/>
                <a:gd name="connsiteY3" fmla="*/ 14264 h 14264"/>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4082"/>
                <a:gd name="connsiteY0" fmla="*/ 11994 h 26269"/>
                <a:gd name="connsiteX1" fmla="*/ 4985 w 14082"/>
                <a:gd name="connsiteY1" fmla="*/ 283 h 26269"/>
                <a:gd name="connsiteX2" fmla="*/ 9538 w 14082"/>
                <a:gd name="connsiteY2" fmla="*/ 4331 h 26269"/>
                <a:gd name="connsiteX3" fmla="*/ 14082 w 14082"/>
                <a:gd name="connsiteY3" fmla="*/ 26269 h 26269"/>
                <a:gd name="connsiteX0" fmla="*/ 0 w 14082"/>
                <a:gd name="connsiteY0" fmla="*/ 11711 h 25986"/>
                <a:gd name="connsiteX1" fmla="*/ 4985 w 14082"/>
                <a:gd name="connsiteY1" fmla="*/ 0 h 25986"/>
                <a:gd name="connsiteX2" fmla="*/ 14082 w 14082"/>
                <a:gd name="connsiteY2" fmla="*/ 25986 h 25986"/>
                <a:gd name="connsiteX0" fmla="*/ 0 w 14082"/>
                <a:gd name="connsiteY0" fmla="*/ 7210 h 21485"/>
                <a:gd name="connsiteX1" fmla="*/ 9388 w 14082"/>
                <a:gd name="connsiteY1" fmla="*/ 865 h 21485"/>
                <a:gd name="connsiteX2" fmla="*/ 14082 w 14082"/>
                <a:gd name="connsiteY2" fmla="*/ 21485 h 21485"/>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2908 w 14082"/>
                <a:gd name="connsiteY2" fmla="*/ 8055 h 22784"/>
                <a:gd name="connsiteX3" fmla="*/ 14082 w 14082"/>
                <a:gd name="connsiteY3" fmla="*/ 22784 h 22784"/>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864"/>
                <a:gd name="connsiteY0" fmla="*/ 8509 h 22130"/>
                <a:gd name="connsiteX1" fmla="*/ 9388 w 14864"/>
                <a:gd name="connsiteY1" fmla="*/ 2164 h 22130"/>
                <a:gd name="connsiteX2" fmla="*/ 14082 w 14864"/>
                <a:gd name="connsiteY2" fmla="*/ 5110 h 22130"/>
                <a:gd name="connsiteX3" fmla="*/ 14659 w 14864"/>
                <a:gd name="connsiteY3" fmla="*/ 22130 h 22130"/>
                <a:gd name="connsiteX0" fmla="*/ 0 w 14864"/>
                <a:gd name="connsiteY0" fmla="*/ 10596 h 24217"/>
                <a:gd name="connsiteX1" fmla="*/ 8214 w 14864"/>
                <a:gd name="connsiteY1" fmla="*/ 1305 h 24217"/>
                <a:gd name="connsiteX2" fmla="*/ 14082 w 14864"/>
                <a:gd name="connsiteY2" fmla="*/ 7197 h 24217"/>
                <a:gd name="connsiteX3" fmla="*/ 14659 w 14864"/>
                <a:gd name="connsiteY3" fmla="*/ 24217 h 24217"/>
                <a:gd name="connsiteX0" fmla="*/ 0 w 14864"/>
                <a:gd name="connsiteY0" fmla="*/ 10615 h 24236"/>
                <a:gd name="connsiteX1" fmla="*/ 8214 w 14864"/>
                <a:gd name="connsiteY1" fmla="*/ 1324 h 24236"/>
                <a:gd name="connsiteX2" fmla="*/ 14082 w 14864"/>
                <a:gd name="connsiteY2" fmla="*/ 7216 h 24236"/>
                <a:gd name="connsiteX3" fmla="*/ 14659 w 14864"/>
                <a:gd name="connsiteY3" fmla="*/ 24236 h 2423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659"/>
                <a:gd name="connsiteY0" fmla="*/ 9865 h 23486"/>
                <a:gd name="connsiteX1" fmla="*/ 8214 w 14659"/>
                <a:gd name="connsiteY1" fmla="*/ 574 h 23486"/>
                <a:gd name="connsiteX2" fmla="*/ 14082 w 14659"/>
                <a:gd name="connsiteY2" fmla="*/ 6466 h 23486"/>
                <a:gd name="connsiteX3" fmla="*/ 14659 w 14659"/>
                <a:gd name="connsiteY3" fmla="*/ 23486 h 23486"/>
                <a:gd name="connsiteX0" fmla="*/ 0 w 14844"/>
                <a:gd name="connsiteY0" fmla="*/ 9865 h 23486"/>
                <a:gd name="connsiteX1" fmla="*/ 8214 w 14844"/>
                <a:gd name="connsiteY1" fmla="*/ 574 h 23486"/>
                <a:gd name="connsiteX2" fmla="*/ 14082 w 14844"/>
                <a:gd name="connsiteY2" fmla="*/ 6466 h 23486"/>
                <a:gd name="connsiteX3" fmla="*/ 14659 w 14844"/>
                <a:gd name="connsiteY3" fmla="*/ 23486 h 23486"/>
                <a:gd name="connsiteX0" fmla="*/ 0 w 14659"/>
                <a:gd name="connsiteY0" fmla="*/ 9865 h 23486"/>
                <a:gd name="connsiteX1" fmla="*/ 8214 w 14659"/>
                <a:gd name="connsiteY1" fmla="*/ 574 h 23486"/>
                <a:gd name="connsiteX2" fmla="*/ 12908 w 14659"/>
                <a:gd name="connsiteY2" fmla="*/ 3520 h 23486"/>
                <a:gd name="connsiteX3" fmla="*/ 14659 w 14659"/>
                <a:gd name="connsiteY3" fmla="*/ 23486 h 23486"/>
                <a:gd name="connsiteX0" fmla="*/ 0 w 14659"/>
                <a:gd name="connsiteY0" fmla="*/ 11631 h 25252"/>
                <a:gd name="connsiteX1" fmla="*/ 8214 w 14659"/>
                <a:gd name="connsiteY1" fmla="*/ 2340 h 25252"/>
                <a:gd name="connsiteX2" fmla="*/ 12908 w 14659"/>
                <a:gd name="connsiteY2" fmla="*/ 5286 h 25252"/>
                <a:gd name="connsiteX3" fmla="*/ 14659 w 14659"/>
                <a:gd name="connsiteY3" fmla="*/ 25252 h 25252"/>
                <a:gd name="connsiteX0" fmla="*/ 0 w 14659"/>
                <a:gd name="connsiteY0" fmla="*/ 12438 h 26059"/>
                <a:gd name="connsiteX1" fmla="*/ 8214 w 14659"/>
                <a:gd name="connsiteY1" fmla="*/ 3147 h 26059"/>
                <a:gd name="connsiteX2" fmla="*/ 12908 w 14659"/>
                <a:gd name="connsiteY2" fmla="*/ 6093 h 26059"/>
                <a:gd name="connsiteX3" fmla="*/ 14659 w 14659"/>
                <a:gd name="connsiteY3" fmla="*/ 26059 h 26059"/>
                <a:gd name="connsiteX0" fmla="*/ 0 w 14659"/>
                <a:gd name="connsiteY0" fmla="*/ 8615 h 22236"/>
                <a:gd name="connsiteX1" fmla="*/ 12908 w 14659"/>
                <a:gd name="connsiteY1" fmla="*/ 2270 h 22236"/>
                <a:gd name="connsiteX2" fmla="*/ 14659 w 14659"/>
                <a:gd name="connsiteY2" fmla="*/ 22236 h 22236"/>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291 h 22912"/>
                <a:gd name="connsiteX1" fmla="*/ 10561 w 14659"/>
                <a:gd name="connsiteY1" fmla="*/ 0 h 22912"/>
                <a:gd name="connsiteX2" fmla="*/ 14659 w 14659"/>
                <a:gd name="connsiteY2" fmla="*/ 22912 h 22912"/>
                <a:gd name="connsiteX0" fmla="*/ 0 w 14659"/>
                <a:gd name="connsiteY0" fmla="*/ 9291 h 22912"/>
                <a:gd name="connsiteX1" fmla="*/ 10561 w 14659"/>
                <a:gd name="connsiteY1" fmla="*/ 0 h 22912"/>
                <a:gd name="connsiteX2" fmla="*/ 14659 w 14659"/>
                <a:gd name="connsiteY2" fmla="*/ 22912 h 22912"/>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5101"/>
                <a:gd name="connsiteY0" fmla="*/ 8257 h 21878"/>
                <a:gd name="connsiteX1" fmla="*/ 10561 w 15101"/>
                <a:gd name="connsiteY1" fmla="*/ 1912 h 21878"/>
                <a:gd name="connsiteX2" fmla="*/ 14659 w 15101"/>
                <a:gd name="connsiteY2" fmla="*/ 21878 h 21878"/>
                <a:gd name="connsiteX0" fmla="*/ 0 w 16291"/>
                <a:gd name="connsiteY0" fmla="*/ 8257 h 21878"/>
                <a:gd name="connsiteX1" fmla="*/ 10561 w 16291"/>
                <a:gd name="connsiteY1" fmla="*/ 1912 h 21878"/>
                <a:gd name="connsiteX2" fmla="*/ 14659 w 16291"/>
                <a:gd name="connsiteY2" fmla="*/ 21878 h 21878"/>
                <a:gd name="connsiteX0" fmla="*/ 0 w 15439"/>
                <a:gd name="connsiteY0" fmla="*/ 8257 h 21878"/>
                <a:gd name="connsiteX1" fmla="*/ 10561 w 15439"/>
                <a:gd name="connsiteY1" fmla="*/ 1912 h 21878"/>
                <a:gd name="connsiteX2" fmla="*/ 14659 w 15439"/>
                <a:gd name="connsiteY2" fmla="*/ 21878 h 21878"/>
                <a:gd name="connsiteX0" fmla="*/ 0 w 15439"/>
                <a:gd name="connsiteY0" fmla="*/ 8257 h 21878"/>
                <a:gd name="connsiteX1" fmla="*/ 8214 w 15439"/>
                <a:gd name="connsiteY1" fmla="*/ 1912 h 21878"/>
                <a:gd name="connsiteX2" fmla="*/ 14659 w 15439"/>
                <a:gd name="connsiteY2" fmla="*/ 21878 h 21878"/>
                <a:gd name="connsiteX0" fmla="*/ 0 w 15439"/>
                <a:gd name="connsiteY0" fmla="*/ 8257 h 21878"/>
                <a:gd name="connsiteX1" fmla="*/ 8214 w 15439"/>
                <a:gd name="connsiteY1" fmla="*/ 7804 h 21878"/>
                <a:gd name="connsiteX2" fmla="*/ 14659 w 15439"/>
                <a:gd name="connsiteY2" fmla="*/ 21878 h 21878"/>
                <a:gd name="connsiteX0" fmla="*/ 0 w 15439"/>
                <a:gd name="connsiteY0" fmla="*/ 2440 h 16061"/>
                <a:gd name="connsiteX1" fmla="*/ 8214 w 15439"/>
                <a:gd name="connsiteY1" fmla="*/ 1987 h 16061"/>
                <a:gd name="connsiteX2" fmla="*/ 14659 w 15439"/>
                <a:gd name="connsiteY2" fmla="*/ 16061 h 16061"/>
                <a:gd name="connsiteX0" fmla="*/ 0 w 15439"/>
                <a:gd name="connsiteY0" fmla="*/ 3528 h 17149"/>
                <a:gd name="connsiteX1" fmla="*/ 8214 w 15439"/>
                <a:gd name="connsiteY1" fmla="*/ 129 h 17149"/>
                <a:gd name="connsiteX2" fmla="*/ 14659 w 15439"/>
                <a:gd name="connsiteY2" fmla="*/ 17149 h 17149"/>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7960 w 15439"/>
                <a:gd name="connsiteY1" fmla="*/ 2970 h 17430"/>
                <a:gd name="connsiteX2" fmla="*/ 14659 w 15439"/>
                <a:gd name="connsiteY2" fmla="*/ 17430 h 17430"/>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039"/>
                <a:gd name="connsiteY0" fmla="*/ 1060 h 14681"/>
                <a:gd name="connsiteX1" fmla="*/ 8044 w 15039"/>
                <a:gd name="connsiteY1" fmla="*/ 832 h 14681"/>
                <a:gd name="connsiteX2" fmla="*/ 14659 w 15039"/>
                <a:gd name="connsiteY2" fmla="*/ 14681 h 14681"/>
                <a:gd name="connsiteX0" fmla="*/ 0 w 15039"/>
                <a:gd name="connsiteY0" fmla="*/ 6130 h 19751"/>
                <a:gd name="connsiteX1" fmla="*/ 7898 w 15039"/>
                <a:gd name="connsiteY1" fmla="*/ 105 h 19751"/>
                <a:gd name="connsiteX2" fmla="*/ 14659 w 15039"/>
                <a:gd name="connsiteY2" fmla="*/ 19751 h 19751"/>
                <a:gd name="connsiteX0" fmla="*/ 0 w 15039"/>
                <a:gd name="connsiteY0" fmla="*/ 6025 h 19646"/>
                <a:gd name="connsiteX1" fmla="*/ 7898 w 15039"/>
                <a:gd name="connsiteY1" fmla="*/ 0 h 19646"/>
                <a:gd name="connsiteX2" fmla="*/ 14659 w 15039"/>
                <a:gd name="connsiteY2" fmla="*/ 19646 h 19646"/>
                <a:gd name="connsiteX0" fmla="*/ 0 w 15039"/>
                <a:gd name="connsiteY0" fmla="*/ 6025 h 19646"/>
                <a:gd name="connsiteX1" fmla="*/ 7898 w 15039"/>
                <a:gd name="connsiteY1" fmla="*/ 0 h 19646"/>
                <a:gd name="connsiteX2" fmla="*/ 14659 w 15039"/>
                <a:gd name="connsiteY2" fmla="*/ 19646 h 19646"/>
                <a:gd name="connsiteX0" fmla="*/ 0 w 12972"/>
                <a:gd name="connsiteY0" fmla="*/ 8923 h 14681"/>
                <a:gd name="connsiteX1" fmla="*/ 7898 w 12972"/>
                <a:gd name="connsiteY1" fmla="*/ 2898 h 14681"/>
                <a:gd name="connsiteX2" fmla="*/ 12592 w 12972"/>
                <a:gd name="connsiteY2" fmla="*/ 14681 h 14681"/>
                <a:gd name="connsiteX0" fmla="*/ 0 w 12972"/>
                <a:gd name="connsiteY0" fmla="*/ 8923 h 14681"/>
                <a:gd name="connsiteX1" fmla="*/ 7263 w 12972"/>
                <a:gd name="connsiteY1" fmla="*/ 1519 h 14681"/>
                <a:gd name="connsiteX2" fmla="*/ 12592 w 12972"/>
                <a:gd name="connsiteY2" fmla="*/ 14681 h 14681"/>
                <a:gd name="connsiteX0" fmla="*/ 0 w 12592"/>
                <a:gd name="connsiteY0" fmla="*/ 7404 h 13162"/>
                <a:gd name="connsiteX1" fmla="*/ 7263 w 12592"/>
                <a:gd name="connsiteY1" fmla="*/ 0 h 13162"/>
                <a:gd name="connsiteX2" fmla="*/ 12592 w 12592"/>
                <a:gd name="connsiteY2" fmla="*/ 13162 h 13162"/>
                <a:gd name="connsiteX0" fmla="*/ 0 w 12592"/>
                <a:gd name="connsiteY0" fmla="*/ 7404 h 13162"/>
                <a:gd name="connsiteX1" fmla="*/ 7263 w 12592"/>
                <a:gd name="connsiteY1" fmla="*/ 0 h 13162"/>
                <a:gd name="connsiteX2" fmla="*/ 12592 w 12592"/>
                <a:gd name="connsiteY2" fmla="*/ 13162 h 13162"/>
                <a:gd name="connsiteX0" fmla="*/ 0 w 9567"/>
                <a:gd name="connsiteY0" fmla="*/ 7404 h 26175"/>
                <a:gd name="connsiteX1" fmla="*/ 7263 w 9567"/>
                <a:gd name="connsiteY1" fmla="*/ 0 h 26175"/>
                <a:gd name="connsiteX2" fmla="*/ 4909 w 9567"/>
                <a:gd name="connsiteY2" fmla="*/ 26175 h 26175"/>
                <a:gd name="connsiteX0" fmla="*/ 0 w 10000"/>
                <a:gd name="connsiteY0" fmla="*/ 2829 h 10000"/>
                <a:gd name="connsiteX1" fmla="*/ 7592 w 10000"/>
                <a:gd name="connsiteY1" fmla="*/ 0 h 10000"/>
                <a:gd name="connsiteX2" fmla="*/ 5131 w 10000"/>
                <a:gd name="connsiteY2" fmla="*/ 10000 h 10000"/>
                <a:gd name="connsiteX0" fmla="*/ 0 w 7598"/>
                <a:gd name="connsiteY0" fmla="*/ 2032 h 9203"/>
                <a:gd name="connsiteX1" fmla="*/ 5131 w 7598"/>
                <a:gd name="connsiteY1" fmla="*/ 2451 h 9203"/>
                <a:gd name="connsiteX2" fmla="*/ 5131 w 7598"/>
                <a:gd name="connsiteY2" fmla="*/ 9203 h 9203"/>
                <a:gd name="connsiteX0" fmla="*/ 0 w 10000"/>
                <a:gd name="connsiteY0" fmla="*/ 0 h 7792"/>
                <a:gd name="connsiteX1" fmla="*/ 6753 w 10000"/>
                <a:gd name="connsiteY1" fmla="*/ 455 h 7792"/>
                <a:gd name="connsiteX2" fmla="*/ 6753 w 10000"/>
                <a:gd name="connsiteY2" fmla="*/ 7792 h 7792"/>
                <a:gd name="connsiteX0" fmla="*/ 0 w 10000"/>
                <a:gd name="connsiteY0" fmla="*/ 0 h 10000"/>
                <a:gd name="connsiteX1" fmla="*/ 6753 w 10000"/>
                <a:gd name="connsiteY1" fmla="*/ 584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Lst>
              <a:ahLst/>
              <a:cxnLst>
                <a:cxn ang="0">
                  <a:pos x="connsiteX0" y="connsiteY0"/>
                </a:cxn>
                <a:cxn ang="0">
                  <a:pos x="connsiteX1" y="connsiteY1"/>
                </a:cxn>
                <a:cxn ang="0">
                  <a:pos x="connsiteX2" y="connsiteY2"/>
                </a:cxn>
              </a:cxnLst>
              <a:rect l="l" t="t" r="r" b="b"/>
              <a:pathLst>
                <a:path w="10000" h="10000">
                  <a:moveTo>
                    <a:pt x="0" y="0"/>
                  </a:moveTo>
                  <a:cubicBezTo>
                    <a:pt x="4077" y="1646"/>
                    <a:pt x="4342" y="745"/>
                    <a:pt x="6753" y="2153"/>
                  </a:cubicBezTo>
                  <a:cubicBezTo>
                    <a:pt x="8740" y="3015"/>
                    <a:pt x="10000" y="5447"/>
                    <a:pt x="6753" y="10000"/>
                  </a:cubicBezTo>
                </a:path>
              </a:pathLst>
            </a:custGeom>
            <a:noFill/>
            <a:ln w="38100" cap="flat" cmpd="sng">
              <a:solidFill>
                <a:srgbClr val="FFC000"/>
              </a:solidFill>
              <a:prstDash val="solid"/>
              <a:round/>
              <a:headEnd type="oval" w="med" len="med"/>
              <a:tailEnd type="triangle" w="lg" len="lg"/>
            </a:ln>
          </p:spPr>
          <p:txBody>
            <a:bodyPr tIns="91440" bIns="91440" anchor="ctr"/>
            <a:lstStyle/>
            <a:p>
              <a:endParaRPr lang="en-US" dirty="0">
                <a:latin typeface="Times New Roman" panose="02020603050405020304" pitchFamily="18" charset="0"/>
              </a:endParaRPr>
            </a:p>
          </p:txBody>
        </p:sp>
        <p:sp>
          <p:nvSpPr>
            <p:cNvPr id="30" name="Freeform 29"/>
            <p:cNvSpPr>
              <a:spLocks/>
            </p:cNvSpPr>
            <p:nvPr/>
          </p:nvSpPr>
          <p:spPr bwMode="auto">
            <a:xfrm rot="5400000">
              <a:off x="4739284" y="2515703"/>
              <a:ext cx="410098" cy="952733"/>
            </a:xfrm>
            <a:custGeom>
              <a:avLst/>
              <a:gdLst>
                <a:gd name="T0" fmla="*/ 0 w 338"/>
                <a:gd name="T1" fmla="*/ 7 h 230"/>
                <a:gd name="T2" fmla="*/ 211 w 338"/>
                <a:gd name="T3" fmla="*/ 10 h 230"/>
                <a:gd name="T4" fmla="*/ 319 w 338"/>
                <a:gd name="T5" fmla="*/ 67 h 230"/>
                <a:gd name="T6" fmla="*/ 328 w 338"/>
                <a:gd name="T7" fmla="*/ 230 h 230"/>
                <a:gd name="T8" fmla="*/ 0 60000 65536"/>
                <a:gd name="T9" fmla="*/ 0 60000 65536"/>
                <a:gd name="T10" fmla="*/ 0 60000 65536"/>
                <a:gd name="T11" fmla="*/ 0 60000 65536"/>
                <a:gd name="T12" fmla="*/ 0 w 338"/>
                <a:gd name="T13" fmla="*/ 0 h 230"/>
                <a:gd name="T14" fmla="*/ 338 w 338"/>
                <a:gd name="T15" fmla="*/ 230 h 230"/>
                <a:gd name="connsiteX0" fmla="*/ 0 w 10384"/>
                <a:gd name="connsiteY0" fmla="*/ 2711 h 12407"/>
                <a:gd name="connsiteX1" fmla="*/ 4026 w 10384"/>
                <a:gd name="connsiteY1" fmla="*/ 435 h 12407"/>
                <a:gd name="connsiteX2" fmla="*/ 9438 w 10384"/>
                <a:gd name="connsiteY2" fmla="*/ 5320 h 12407"/>
                <a:gd name="connsiteX3" fmla="*/ 9704 w 10384"/>
                <a:gd name="connsiteY3" fmla="*/ 12407 h 12407"/>
                <a:gd name="connsiteX0" fmla="*/ 0 w 10340"/>
                <a:gd name="connsiteY0" fmla="*/ 4271 h 13967"/>
                <a:gd name="connsiteX1" fmla="*/ 4026 w 10340"/>
                <a:gd name="connsiteY1" fmla="*/ 1995 h 13967"/>
                <a:gd name="connsiteX2" fmla="*/ 9394 w 10340"/>
                <a:gd name="connsiteY2" fmla="*/ 1995 h 13967"/>
                <a:gd name="connsiteX3" fmla="*/ 9704 w 10340"/>
                <a:gd name="connsiteY3" fmla="*/ 13967 h 13967"/>
                <a:gd name="connsiteX0" fmla="*/ 0 w 11436"/>
                <a:gd name="connsiteY0" fmla="*/ 3232 h 6695"/>
                <a:gd name="connsiteX1" fmla="*/ 4026 w 11436"/>
                <a:gd name="connsiteY1" fmla="*/ 956 h 6695"/>
                <a:gd name="connsiteX2" fmla="*/ 9394 w 11436"/>
                <a:gd name="connsiteY2" fmla="*/ 956 h 6695"/>
                <a:gd name="connsiteX3" fmla="*/ 11436 w 11436"/>
                <a:gd name="connsiteY3" fmla="*/ 6695 h 6695"/>
                <a:gd name="connsiteX0" fmla="*/ 0 w 10809"/>
                <a:gd name="connsiteY0" fmla="*/ 9251 h 14424"/>
                <a:gd name="connsiteX1" fmla="*/ 3520 w 10809"/>
                <a:gd name="connsiteY1" fmla="*/ 5852 h 14424"/>
                <a:gd name="connsiteX2" fmla="*/ 9729 w 10809"/>
                <a:gd name="connsiteY2" fmla="*/ 1428 h 14424"/>
                <a:gd name="connsiteX3" fmla="*/ 10000 w 10809"/>
                <a:gd name="connsiteY3" fmla="*/ 14424 h 14424"/>
                <a:gd name="connsiteX0" fmla="*/ 0 w 10618"/>
                <a:gd name="connsiteY0" fmla="*/ 9091 h 14264"/>
                <a:gd name="connsiteX1" fmla="*/ 3520 w 10618"/>
                <a:gd name="connsiteY1" fmla="*/ 5692 h 14264"/>
                <a:gd name="connsiteX2" fmla="*/ 9538 w 10618"/>
                <a:gd name="connsiteY2" fmla="*/ 1428 h 14264"/>
                <a:gd name="connsiteX3" fmla="*/ 10000 w 10618"/>
                <a:gd name="connsiteY3" fmla="*/ 14264 h 14264"/>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4082"/>
                <a:gd name="connsiteY0" fmla="*/ 11994 h 26269"/>
                <a:gd name="connsiteX1" fmla="*/ 4985 w 14082"/>
                <a:gd name="connsiteY1" fmla="*/ 283 h 26269"/>
                <a:gd name="connsiteX2" fmla="*/ 9538 w 14082"/>
                <a:gd name="connsiteY2" fmla="*/ 4331 h 26269"/>
                <a:gd name="connsiteX3" fmla="*/ 14082 w 14082"/>
                <a:gd name="connsiteY3" fmla="*/ 26269 h 26269"/>
                <a:gd name="connsiteX0" fmla="*/ 0 w 14082"/>
                <a:gd name="connsiteY0" fmla="*/ 11711 h 25986"/>
                <a:gd name="connsiteX1" fmla="*/ 4985 w 14082"/>
                <a:gd name="connsiteY1" fmla="*/ 0 h 25986"/>
                <a:gd name="connsiteX2" fmla="*/ 14082 w 14082"/>
                <a:gd name="connsiteY2" fmla="*/ 25986 h 25986"/>
                <a:gd name="connsiteX0" fmla="*/ 0 w 14082"/>
                <a:gd name="connsiteY0" fmla="*/ 7210 h 21485"/>
                <a:gd name="connsiteX1" fmla="*/ 9388 w 14082"/>
                <a:gd name="connsiteY1" fmla="*/ 865 h 21485"/>
                <a:gd name="connsiteX2" fmla="*/ 14082 w 14082"/>
                <a:gd name="connsiteY2" fmla="*/ 21485 h 21485"/>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2908 w 14082"/>
                <a:gd name="connsiteY2" fmla="*/ 8055 h 22784"/>
                <a:gd name="connsiteX3" fmla="*/ 14082 w 14082"/>
                <a:gd name="connsiteY3" fmla="*/ 22784 h 22784"/>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864"/>
                <a:gd name="connsiteY0" fmla="*/ 8509 h 22130"/>
                <a:gd name="connsiteX1" fmla="*/ 9388 w 14864"/>
                <a:gd name="connsiteY1" fmla="*/ 2164 h 22130"/>
                <a:gd name="connsiteX2" fmla="*/ 14082 w 14864"/>
                <a:gd name="connsiteY2" fmla="*/ 5110 h 22130"/>
                <a:gd name="connsiteX3" fmla="*/ 14659 w 14864"/>
                <a:gd name="connsiteY3" fmla="*/ 22130 h 22130"/>
                <a:gd name="connsiteX0" fmla="*/ 0 w 14864"/>
                <a:gd name="connsiteY0" fmla="*/ 10596 h 24217"/>
                <a:gd name="connsiteX1" fmla="*/ 8214 w 14864"/>
                <a:gd name="connsiteY1" fmla="*/ 1305 h 24217"/>
                <a:gd name="connsiteX2" fmla="*/ 14082 w 14864"/>
                <a:gd name="connsiteY2" fmla="*/ 7197 h 24217"/>
                <a:gd name="connsiteX3" fmla="*/ 14659 w 14864"/>
                <a:gd name="connsiteY3" fmla="*/ 24217 h 24217"/>
                <a:gd name="connsiteX0" fmla="*/ 0 w 14864"/>
                <a:gd name="connsiteY0" fmla="*/ 10615 h 24236"/>
                <a:gd name="connsiteX1" fmla="*/ 8214 w 14864"/>
                <a:gd name="connsiteY1" fmla="*/ 1324 h 24236"/>
                <a:gd name="connsiteX2" fmla="*/ 14082 w 14864"/>
                <a:gd name="connsiteY2" fmla="*/ 7216 h 24236"/>
                <a:gd name="connsiteX3" fmla="*/ 14659 w 14864"/>
                <a:gd name="connsiteY3" fmla="*/ 24236 h 2423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659"/>
                <a:gd name="connsiteY0" fmla="*/ 9865 h 23486"/>
                <a:gd name="connsiteX1" fmla="*/ 8214 w 14659"/>
                <a:gd name="connsiteY1" fmla="*/ 574 h 23486"/>
                <a:gd name="connsiteX2" fmla="*/ 14082 w 14659"/>
                <a:gd name="connsiteY2" fmla="*/ 6466 h 23486"/>
                <a:gd name="connsiteX3" fmla="*/ 14659 w 14659"/>
                <a:gd name="connsiteY3" fmla="*/ 23486 h 23486"/>
                <a:gd name="connsiteX0" fmla="*/ 0 w 14844"/>
                <a:gd name="connsiteY0" fmla="*/ 9865 h 23486"/>
                <a:gd name="connsiteX1" fmla="*/ 8214 w 14844"/>
                <a:gd name="connsiteY1" fmla="*/ 574 h 23486"/>
                <a:gd name="connsiteX2" fmla="*/ 14082 w 14844"/>
                <a:gd name="connsiteY2" fmla="*/ 6466 h 23486"/>
                <a:gd name="connsiteX3" fmla="*/ 14659 w 14844"/>
                <a:gd name="connsiteY3" fmla="*/ 23486 h 23486"/>
                <a:gd name="connsiteX0" fmla="*/ 0 w 14659"/>
                <a:gd name="connsiteY0" fmla="*/ 9865 h 23486"/>
                <a:gd name="connsiteX1" fmla="*/ 8214 w 14659"/>
                <a:gd name="connsiteY1" fmla="*/ 574 h 23486"/>
                <a:gd name="connsiteX2" fmla="*/ 12908 w 14659"/>
                <a:gd name="connsiteY2" fmla="*/ 3520 h 23486"/>
                <a:gd name="connsiteX3" fmla="*/ 14659 w 14659"/>
                <a:gd name="connsiteY3" fmla="*/ 23486 h 23486"/>
                <a:gd name="connsiteX0" fmla="*/ 0 w 14659"/>
                <a:gd name="connsiteY0" fmla="*/ 11631 h 25252"/>
                <a:gd name="connsiteX1" fmla="*/ 8214 w 14659"/>
                <a:gd name="connsiteY1" fmla="*/ 2340 h 25252"/>
                <a:gd name="connsiteX2" fmla="*/ 12908 w 14659"/>
                <a:gd name="connsiteY2" fmla="*/ 5286 h 25252"/>
                <a:gd name="connsiteX3" fmla="*/ 14659 w 14659"/>
                <a:gd name="connsiteY3" fmla="*/ 25252 h 25252"/>
                <a:gd name="connsiteX0" fmla="*/ 0 w 14659"/>
                <a:gd name="connsiteY0" fmla="*/ 12438 h 26059"/>
                <a:gd name="connsiteX1" fmla="*/ 8214 w 14659"/>
                <a:gd name="connsiteY1" fmla="*/ 3147 h 26059"/>
                <a:gd name="connsiteX2" fmla="*/ 12908 w 14659"/>
                <a:gd name="connsiteY2" fmla="*/ 6093 h 26059"/>
                <a:gd name="connsiteX3" fmla="*/ 14659 w 14659"/>
                <a:gd name="connsiteY3" fmla="*/ 26059 h 26059"/>
                <a:gd name="connsiteX0" fmla="*/ 0 w 14659"/>
                <a:gd name="connsiteY0" fmla="*/ 8615 h 22236"/>
                <a:gd name="connsiteX1" fmla="*/ 12908 w 14659"/>
                <a:gd name="connsiteY1" fmla="*/ 2270 h 22236"/>
                <a:gd name="connsiteX2" fmla="*/ 14659 w 14659"/>
                <a:gd name="connsiteY2" fmla="*/ 22236 h 22236"/>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291 h 22912"/>
                <a:gd name="connsiteX1" fmla="*/ 10561 w 14659"/>
                <a:gd name="connsiteY1" fmla="*/ 0 h 22912"/>
                <a:gd name="connsiteX2" fmla="*/ 14659 w 14659"/>
                <a:gd name="connsiteY2" fmla="*/ 22912 h 22912"/>
                <a:gd name="connsiteX0" fmla="*/ 0 w 14659"/>
                <a:gd name="connsiteY0" fmla="*/ 9291 h 22912"/>
                <a:gd name="connsiteX1" fmla="*/ 10561 w 14659"/>
                <a:gd name="connsiteY1" fmla="*/ 0 h 22912"/>
                <a:gd name="connsiteX2" fmla="*/ 14659 w 14659"/>
                <a:gd name="connsiteY2" fmla="*/ 22912 h 22912"/>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5101"/>
                <a:gd name="connsiteY0" fmla="*/ 8257 h 21878"/>
                <a:gd name="connsiteX1" fmla="*/ 10561 w 15101"/>
                <a:gd name="connsiteY1" fmla="*/ 1912 h 21878"/>
                <a:gd name="connsiteX2" fmla="*/ 14659 w 15101"/>
                <a:gd name="connsiteY2" fmla="*/ 21878 h 21878"/>
                <a:gd name="connsiteX0" fmla="*/ 0 w 16291"/>
                <a:gd name="connsiteY0" fmla="*/ 8257 h 21878"/>
                <a:gd name="connsiteX1" fmla="*/ 10561 w 16291"/>
                <a:gd name="connsiteY1" fmla="*/ 1912 h 21878"/>
                <a:gd name="connsiteX2" fmla="*/ 14659 w 16291"/>
                <a:gd name="connsiteY2" fmla="*/ 21878 h 21878"/>
                <a:gd name="connsiteX0" fmla="*/ 0 w 15439"/>
                <a:gd name="connsiteY0" fmla="*/ 8257 h 21878"/>
                <a:gd name="connsiteX1" fmla="*/ 10561 w 15439"/>
                <a:gd name="connsiteY1" fmla="*/ 1912 h 21878"/>
                <a:gd name="connsiteX2" fmla="*/ 14659 w 15439"/>
                <a:gd name="connsiteY2" fmla="*/ 21878 h 21878"/>
                <a:gd name="connsiteX0" fmla="*/ 0 w 15439"/>
                <a:gd name="connsiteY0" fmla="*/ 8257 h 21878"/>
                <a:gd name="connsiteX1" fmla="*/ 8214 w 15439"/>
                <a:gd name="connsiteY1" fmla="*/ 1912 h 21878"/>
                <a:gd name="connsiteX2" fmla="*/ 14659 w 15439"/>
                <a:gd name="connsiteY2" fmla="*/ 21878 h 21878"/>
                <a:gd name="connsiteX0" fmla="*/ 0 w 15439"/>
                <a:gd name="connsiteY0" fmla="*/ 8257 h 21878"/>
                <a:gd name="connsiteX1" fmla="*/ 8214 w 15439"/>
                <a:gd name="connsiteY1" fmla="*/ 7804 h 21878"/>
                <a:gd name="connsiteX2" fmla="*/ 14659 w 15439"/>
                <a:gd name="connsiteY2" fmla="*/ 21878 h 21878"/>
                <a:gd name="connsiteX0" fmla="*/ 0 w 15439"/>
                <a:gd name="connsiteY0" fmla="*/ 2440 h 16061"/>
                <a:gd name="connsiteX1" fmla="*/ 8214 w 15439"/>
                <a:gd name="connsiteY1" fmla="*/ 1987 h 16061"/>
                <a:gd name="connsiteX2" fmla="*/ 14659 w 15439"/>
                <a:gd name="connsiteY2" fmla="*/ 16061 h 16061"/>
                <a:gd name="connsiteX0" fmla="*/ 0 w 15439"/>
                <a:gd name="connsiteY0" fmla="*/ 3528 h 17149"/>
                <a:gd name="connsiteX1" fmla="*/ 8214 w 15439"/>
                <a:gd name="connsiteY1" fmla="*/ 129 h 17149"/>
                <a:gd name="connsiteX2" fmla="*/ 14659 w 15439"/>
                <a:gd name="connsiteY2" fmla="*/ 17149 h 17149"/>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7960 w 15439"/>
                <a:gd name="connsiteY1" fmla="*/ 2970 h 17430"/>
                <a:gd name="connsiteX2" fmla="*/ 14659 w 15439"/>
                <a:gd name="connsiteY2" fmla="*/ 17430 h 17430"/>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039"/>
                <a:gd name="connsiteY0" fmla="*/ 1060 h 14681"/>
                <a:gd name="connsiteX1" fmla="*/ 8044 w 15039"/>
                <a:gd name="connsiteY1" fmla="*/ 832 h 14681"/>
                <a:gd name="connsiteX2" fmla="*/ 14659 w 15039"/>
                <a:gd name="connsiteY2" fmla="*/ 14681 h 14681"/>
                <a:gd name="connsiteX0" fmla="*/ 0 w 15039"/>
                <a:gd name="connsiteY0" fmla="*/ 6130 h 19751"/>
                <a:gd name="connsiteX1" fmla="*/ 7898 w 15039"/>
                <a:gd name="connsiteY1" fmla="*/ 105 h 19751"/>
                <a:gd name="connsiteX2" fmla="*/ 14659 w 15039"/>
                <a:gd name="connsiteY2" fmla="*/ 19751 h 19751"/>
                <a:gd name="connsiteX0" fmla="*/ 0 w 15039"/>
                <a:gd name="connsiteY0" fmla="*/ 6025 h 19646"/>
                <a:gd name="connsiteX1" fmla="*/ 7898 w 15039"/>
                <a:gd name="connsiteY1" fmla="*/ 0 h 19646"/>
                <a:gd name="connsiteX2" fmla="*/ 14659 w 15039"/>
                <a:gd name="connsiteY2" fmla="*/ 19646 h 19646"/>
                <a:gd name="connsiteX0" fmla="*/ 0 w 15039"/>
                <a:gd name="connsiteY0" fmla="*/ 6025 h 19646"/>
                <a:gd name="connsiteX1" fmla="*/ 7898 w 15039"/>
                <a:gd name="connsiteY1" fmla="*/ 0 h 19646"/>
                <a:gd name="connsiteX2" fmla="*/ 14659 w 15039"/>
                <a:gd name="connsiteY2" fmla="*/ 19646 h 19646"/>
                <a:gd name="connsiteX0" fmla="*/ 0 w 12972"/>
                <a:gd name="connsiteY0" fmla="*/ 8923 h 14681"/>
                <a:gd name="connsiteX1" fmla="*/ 7898 w 12972"/>
                <a:gd name="connsiteY1" fmla="*/ 2898 h 14681"/>
                <a:gd name="connsiteX2" fmla="*/ 12592 w 12972"/>
                <a:gd name="connsiteY2" fmla="*/ 14681 h 14681"/>
                <a:gd name="connsiteX0" fmla="*/ 0 w 12972"/>
                <a:gd name="connsiteY0" fmla="*/ 8923 h 14681"/>
                <a:gd name="connsiteX1" fmla="*/ 7263 w 12972"/>
                <a:gd name="connsiteY1" fmla="*/ 1519 h 14681"/>
                <a:gd name="connsiteX2" fmla="*/ 12592 w 12972"/>
                <a:gd name="connsiteY2" fmla="*/ 14681 h 14681"/>
                <a:gd name="connsiteX0" fmla="*/ 0 w 12592"/>
                <a:gd name="connsiteY0" fmla="*/ 7404 h 13162"/>
                <a:gd name="connsiteX1" fmla="*/ 7263 w 12592"/>
                <a:gd name="connsiteY1" fmla="*/ 0 h 13162"/>
                <a:gd name="connsiteX2" fmla="*/ 12592 w 12592"/>
                <a:gd name="connsiteY2" fmla="*/ 13162 h 13162"/>
                <a:gd name="connsiteX0" fmla="*/ 0 w 12592"/>
                <a:gd name="connsiteY0" fmla="*/ 7404 h 13162"/>
                <a:gd name="connsiteX1" fmla="*/ 7263 w 12592"/>
                <a:gd name="connsiteY1" fmla="*/ 0 h 13162"/>
                <a:gd name="connsiteX2" fmla="*/ 12592 w 12592"/>
                <a:gd name="connsiteY2" fmla="*/ 13162 h 13162"/>
                <a:gd name="connsiteX0" fmla="*/ 0 w 14875"/>
                <a:gd name="connsiteY0" fmla="*/ 5319 h 16631"/>
                <a:gd name="connsiteX1" fmla="*/ 9546 w 14875"/>
                <a:gd name="connsiteY1" fmla="*/ 3469 h 16631"/>
                <a:gd name="connsiteX2" fmla="*/ 14875 w 14875"/>
                <a:gd name="connsiteY2" fmla="*/ 16631 h 16631"/>
                <a:gd name="connsiteX0" fmla="*/ 0 w 14875"/>
                <a:gd name="connsiteY0" fmla="*/ 1850 h 13162"/>
                <a:gd name="connsiteX1" fmla="*/ 9546 w 14875"/>
                <a:gd name="connsiteY1" fmla="*/ 0 h 13162"/>
                <a:gd name="connsiteX2" fmla="*/ 14875 w 14875"/>
                <a:gd name="connsiteY2" fmla="*/ 13162 h 13162"/>
                <a:gd name="connsiteX0" fmla="*/ 0 w 14875"/>
                <a:gd name="connsiteY0" fmla="*/ 0 h 11312"/>
                <a:gd name="connsiteX1" fmla="*/ 11608 w 14875"/>
                <a:gd name="connsiteY1" fmla="*/ 1683 h 11312"/>
                <a:gd name="connsiteX2" fmla="*/ 14875 w 14875"/>
                <a:gd name="connsiteY2" fmla="*/ 11312 h 11312"/>
                <a:gd name="connsiteX0" fmla="*/ 0 w 14875"/>
                <a:gd name="connsiteY0" fmla="*/ 0 h 11312"/>
                <a:gd name="connsiteX1" fmla="*/ 11608 w 14875"/>
                <a:gd name="connsiteY1" fmla="*/ 1683 h 11312"/>
                <a:gd name="connsiteX2" fmla="*/ 14875 w 14875"/>
                <a:gd name="connsiteY2" fmla="*/ 11312 h 11312"/>
                <a:gd name="connsiteX0" fmla="*/ 0 w 14875"/>
                <a:gd name="connsiteY0" fmla="*/ 42 h 11354"/>
                <a:gd name="connsiteX1" fmla="*/ 11608 w 14875"/>
                <a:gd name="connsiteY1" fmla="*/ 1725 h 11354"/>
                <a:gd name="connsiteX2" fmla="*/ 14875 w 14875"/>
                <a:gd name="connsiteY2" fmla="*/ 11354 h 11354"/>
                <a:gd name="connsiteX0" fmla="*/ 0 w 12357"/>
                <a:gd name="connsiteY0" fmla="*/ 222 h 11354"/>
                <a:gd name="connsiteX1" fmla="*/ 9090 w 12357"/>
                <a:gd name="connsiteY1" fmla="*/ 1725 h 11354"/>
                <a:gd name="connsiteX2" fmla="*/ 12357 w 12357"/>
                <a:gd name="connsiteY2" fmla="*/ 11354 h 11354"/>
                <a:gd name="connsiteX0" fmla="*/ 0 w 13222"/>
                <a:gd name="connsiteY0" fmla="*/ 0 h 11132"/>
                <a:gd name="connsiteX1" fmla="*/ 10679 w 13222"/>
                <a:gd name="connsiteY1" fmla="*/ 2655 h 11132"/>
                <a:gd name="connsiteX2" fmla="*/ 12357 w 13222"/>
                <a:gd name="connsiteY2" fmla="*/ 11132 h 11132"/>
                <a:gd name="connsiteX0" fmla="*/ 0 w 13222"/>
                <a:gd name="connsiteY0" fmla="*/ 0 h 11132"/>
                <a:gd name="connsiteX1" fmla="*/ 10679 w 13222"/>
                <a:gd name="connsiteY1" fmla="*/ 2655 h 11132"/>
                <a:gd name="connsiteX2" fmla="*/ 12357 w 13222"/>
                <a:gd name="connsiteY2" fmla="*/ 11132 h 11132"/>
                <a:gd name="connsiteX0" fmla="*/ 0 w 13222"/>
                <a:gd name="connsiteY0" fmla="*/ 0 h 11132"/>
                <a:gd name="connsiteX1" fmla="*/ 10679 w 13222"/>
                <a:gd name="connsiteY1" fmla="*/ 2655 h 11132"/>
                <a:gd name="connsiteX2" fmla="*/ 12357 w 13222"/>
                <a:gd name="connsiteY2" fmla="*/ 11132 h 11132"/>
                <a:gd name="connsiteX0" fmla="*/ 0 w 13222"/>
                <a:gd name="connsiteY0" fmla="*/ 0 h 11132"/>
                <a:gd name="connsiteX1" fmla="*/ 10679 w 13222"/>
                <a:gd name="connsiteY1" fmla="*/ 2655 h 11132"/>
                <a:gd name="connsiteX2" fmla="*/ 12357 w 13222"/>
                <a:gd name="connsiteY2" fmla="*/ 11132 h 11132"/>
              </a:gdLst>
              <a:ahLst/>
              <a:cxnLst>
                <a:cxn ang="0">
                  <a:pos x="connsiteX0" y="connsiteY0"/>
                </a:cxn>
                <a:cxn ang="0">
                  <a:pos x="connsiteX1" y="connsiteY1"/>
                </a:cxn>
                <a:cxn ang="0">
                  <a:pos x="connsiteX2" y="connsiteY2"/>
                </a:cxn>
              </a:cxnLst>
              <a:rect l="l" t="t" r="r" b="b"/>
              <a:pathLst>
                <a:path w="13222" h="11132">
                  <a:moveTo>
                    <a:pt x="0" y="0"/>
                  </a:moveTo>
                  <a:cubicBezTo>
                    <a:pt x="8322" y="421"/>
                    <a:pt x="8199" y="1270"/>
                    <a:pt x="10679" y="2655"/>
                  </a:cubicBezTo>
                  <a:cubicBezTo>
                    <a:pt x="13222" y="5886"/>
                    <a:pt x="11864" y="6811"/>
                    <a:pt x="12357" y="11132"/>
                  </a:cubicBezTo>
                </a:path>
              </a:pathLst>
            </a:custGeom>
            <a:noFill/>
            <a:ln w="38100" cap="flat" cmpd="sng">
              <a:solidFill>
                <a:srgbClr val="FFC000"/>
              </a:solidFill>
              <a:prstDash val="solid"/>
              <a:round/>
              <a:headEnd type="oval" w="med" len="med"/>
              <a:tailEnd type="triangle" w="lg" len="lg"/>
            </a:ln>
          </p:spPr>
          <p:txBody>
            <a:bodyPr tIns="91440" bIns="91440" anchor="ctr"/>
            <a:lstStyle/>
            <a:p>
              <a:endParaRPr lang="en-US" dirty="0">
                <a:latin typeface="Times New Roman" panose="02020603050405020304" pitchFamily="18" charset="0"/>
              </a:endParaRPr>
            </a:p>
          </p:txBody>
        </p:sp>
        <p:sp>
          <p:nvSpPr>
            <p:cNvPr id="31" name="Freeform 30"/>
            <p:cNvSpPr>
              <a:spLocks/>
            </p:cNvSpPr>
            <p:nvPr/>
          </p:nvSpPr>
          <p:spPr bwMode="auto">
            <a:xfrm rot="5400000">
              <a:off x="3465351" y="2675208"/>
              <a:ext cx="578144" cy="1123047"/>
            </a:xfrm>
            <a:custGeom>
              <a:avLst/>
              <a:gdLst>
                <a:gd name="T0" fmla="*/ 0 w 338"/>
                <a:gd name="T1" fmla="*/ 7 h 230"/>
                <a:gd name="T2" fmla="*/ 211 w 338"/>
                <a:gd name="T3" fmla="*/ 10 h 230"/>
                <a:gd name="T4" fmla="*/ 319 w 338"/>
                <a:gd name="T5" fmla="*/ 67 h 230"/>
                <a:gd name="T6" fmla="*/ 328 w 338"/>
                <a:gd name="T7" fmla="*/ 230 h 230"/>
                <a:gd name="T8" fmla="*/ 0 60000 65536"/>
                <a:gd name="T9" fmla="*/ 0 60000 65536"/>
                <a:gd name="T10" fmla="*/ 0 60000 65536"/>
                <a:gd name="T11" fmla="*/ 0 60000 65536"/>
                <a:gd name="T12" fmla="*/ 0 w 338"/>
                <a:gd name="T13" fmla="*/ 0 h 230"/>
                <a:gd name="T14" fmla="*/ 338 w 338"/>
                <a:gd name="T15" fmla="*/ 230 h 230"/>
                <a:gd name="connsiteX0" fmla="*/ 0 w 10384"/>
                <a:gd name="connsiteY0" fmla="*/ 2711 h 12407"/>
                <a:gd name="connsiteX1" fmla="*/ 4026 w 10384"/>
                <a:gd name="connsiteY1" fmla="*/ 435 h 12407"/>
                <a:gd name="connsiteX2" fmla="*/ 9438 w 10384"/>
                <a:gd name="connsiteY2" fmla="*/ 5320 h 12407"/>
                <a:gd name="connsiteX3" fmla="*/ 9704 w 10384"/>
                <a:gd name="connsiteY3" fmla="*/ 12407 h 12407"/>
                <a:gd name="connsiteX0" fmla="*/ 0 w 10340"/>
                <a:gd name="connsiteY0" fmla="*/ 4271 h 13967"/>
                <a:gd name="connsiteX1" fmla="*/ 4026 w 10340"/>
                <a:gd name="connsiteY1" fmla="*/ 1995 h 13967"/>
                <a:gd name="connsiteX2" fmla="*/ 9394 w 10340"/>
                <a:gd name="connsiteY2" fmla="*/ 1995 h 13967"/>
                <a:gd name="connsiteX3" fmla="*/ 9704 w 10340"/>
                <a:gd name="connsiteY3" fmla="*/ 13967 h 13967"/>
                <a:gd name="connsiteX0" fmla="*/ 0 w 11436"/>
                <a:gd name="connsiteY0" fmla="*/ 3232 h 6695"/>
                <a:gd name="connsiteX1" fmla="*/ 4026 w 11436"/>
                <a:gd name="connsiteY1" fmla="*/ 956 h 6695"/>
                <a:gd name="connsiteX2" fmla="*/ 9394 w 11436"/>
                <a:gd name="connsiteY2" fmla="*/ 956 h 6695"/>
                <a:gd name="connsiteX3" fmla="*/ 11436 w 11436"/>
                <a:gd name="connsiteY3" fmla="*/ 6695 h 6695"/>
                <a:gd name="connsiteX0" fmla="*/ 0 w 10809"/>
                <a:gd name="connsiteY0" fmla="*/ 9251 h 14424"/>
                <a:gd name="connsiteX1" fmla="*/ 3520 w 10809"/>
                <a:gd name="connsiteY1" fmla="*/ 5852 h 14424"/>
                <a:gd name="connsiteX2" fmla="*/ 9729 w 10809"/>
                <a:gd name="connsiteY2" fmla="*/ 1428 h 14424"/>
                <a:gd name="connsiteX3" fmla="*/ 10000 w 10809"/>
                <a:gd name="connsiteY3" fmla="*/ 14424 h 14424"/>
                <a:gd name="connsiteX0" fmla="*/ 0 w 10618"/>
                <a:gd name="connsiteY0" fmla="*/ 9091 h 14264"/>
                <a:gd name="connsiteX1" fmla="*/ 3520 w 10618"/>
                <a:gd name="connsiteY1" fmla="*/ 5692 h 14264"/>
                <a:gd name="connsiteX2" fmla="*/ 9538 w 10618"/>
                <a:gd name="connsiteY2" fmla="*/ 1428 h 14264"/>
                <a:gd name="connsiteX3" fmla="*/ 10000 w 10618"/>
                <a:gd name="connsiteY3" fmla="*/ 14264 h 14264"/>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4082"/>
                <a:gd name="connsiteY0" fmla="*/ 11994 h 26269"/>
                <a:gd name="connsiteX1" fmla="*/ 4985 w 14082"/>
                <a:gd name="connsiteY1" fmla="*/ 283 h 26269"/>
                <a:gd name="connsiteX2" fmla="*/ 9538 w 14082"/>
                <a:gd name="connsiteY2" fmla="*/ 4331 h 26269"/>
                <a:gd name="connsiteX3" fmla="*/ 14082 w 14082"/>
                <a:gd name="connsiteY3" fmla="*/ 26269 h 26269"/>
                <a:gd name="connsiteX0" fmla="*/ 0 w 14082"/>
                <a:gd name="connsiteY0" fmla="*/ 11711 h 25986"/>
                <a:gd name="connsiteX1" fmla="*/ 4985 w 14082"/>
                <a:gd name="connsiteY1" fmla="*/ 0 h 25986"/>
                <a:gd name="connsiteX2" fmla="*/ 14082 w 14082"/>
                <a:gd name="connsiteY2" fmla="*/ 25986 h 25986"/>
                <a:gd name="connsiteX0" fmla="*/ 0 w 14082"/>
                <a:gd name="connsiteY0" fmla="*/ 7210 h 21485"/>
                <a:gd name="connsiteX1" fmla="*/ 9388 w 14082"/>
                <a:gd name="connsiteY1" fmla="*/ 865 h 21485"/>
                <a:gd name="connsiteX2" fmla="*/ 14082 w 14082"/>
                <a:gd name="connsiteY2" fmla="*/ 21485 h 21485"/>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2908 w 14082"/>
                <a:gd name="connsiteY2" fmla="*/ 8055 h 22784"/>
                <a:gd name="connsiteX3" fmla="*/ 14082 w 14082"/>
                <a:gd name="connsiteY3" fmla="*/ 22784 h 22784"/>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864"/>
                <a:gd name="connsiteY0" fmla="*/ 8509 h 22130"/>
                <a:gd name="connsiteX1" fmla="*/ 9388 w 14864"/>
                <a:gd name="connsiteY1" fmla="*/ 2164 h 22130"/>
                <a:gd name="connsiteX2" fmla="*/ 14082 w 14864"/>
                <a:gd name="connsiteY2" fmla="*/ 5110 h 22130"/>
                <a:gd name="connsiteX3" fmla="*/ 14659 w 14864"/>
                <a:gd name="connsiteY3" fmla="*/ 22130 h 22130"/>
                <a:gd name="connsiteX0" fmla="*/ 0 w 14864"/>
                <a:gd name="connsiteY0" fmla="*/ 10596 h 24217"/>
                <a:gd name="connsiteX1" fmla="*/ 8214 w 14864"/>
                <a:gd name="connsiteY1" fmla="*/ 1305 h 24217"/>
                <a:gd name="connsiteX2" fmla="*/ 14082 w 14864"/>
                <a:gd name="connsiteY2" fmla="*/ 7197 h 24217"/>
                <a:gd name="connsiteX3" fmla="*/ 14659 w 14864"/>
                <a:gd name="connsiteY3" fmla="*/ 24217 h 24217"/>
                <a:gd name="connsiteX0" fmla="*/ 0 w 14864"/>
                <a:gd name="connsiteY0" fmla="*/ 10615 h 24236"/>
                <a:gd name="connsiteX1" fmla="*/ 8214 w 14864"/>
                <a:gd name="connsiteY1" fmla="*/ 1324 h 24236"/>
                <a:gd name="connsiteX2" fmla="*/ 14082 w 14864"/>
                <a:gd name="connsiteY2" fmla="*/ 7216 h 24236"/>
                <a:gd name="connsiteX3" fmla="*/ 14659 w 14864"/>
                <a:gd name="connsiteY3" fmla="*/ 24236 h 2423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659"/>
                <a:gd name="connsiteY0" fmla="*/ 9865 h 23486"/>
                <a:gd name="connsiteX1" fmla="*/ 8214 w 14659"/>
                <a:gd name="connsiteY1" fmla="*/ 574 h 23486"/>
                <a:gd name="connsiteX2" fmla="*/ 14082 w 14659"/>
                <a:gd name="connsiteY2" fmla="*/ 6466 h 23486"/>
                <a:gd name="connsiteX3" fmla="*/ 14659 w 14659"/>
                <a:gd name="connsiteY3" fmla="*/ 23486 h 23486"/>
                <a:gd name="connsiteX0" fmla="*/ 0 w 14844"/>
                <a:gd name="connsiteY0" fmla="*/ 9865 h 23486"/>
                <a:gd name="connsiteX1" fmla="*/ 8214 w 14844"/>
                <a:gd name="connsiteY1" fmla="*/ 574 h 23486"/>
                <a:gd name="connsiteX2" fmla="*/ 14082 w 14844"/>
                <a:gd name="connsiteY2" fmla="*/ 6466 h 23486"/>
                <a:gd name="connsiteX3" fmla="*/ 14659 w 14844"/>
                <a:gd name="connsiteY3" fmla="*/ 23486 h 23486"/>
                <a:gd name="connsiteX0" fmla="*/ 0 w 14659"/>
                <a:gd name="connsiteY0" fmla="*/ 9865 h 23486"/>
                <a:gd name="connsiteX1" fmla="*/ 8214 w 14659"/>
                <a:gd name="connsiteY1" fmla="*/ 574 h 23486"/>
                <a:gd name="connsiteX2" fmla="*/ 12908 w 14659"/>
                <a:gd name="connsiteY2" fmla="*/ 3520 h 23486"/>
                <a:gd name="connsiteX3" fmla="*/ 14659 w 14659"/>
                <a:gd name="connsiteY3" fmla="*/ 23486 h 23486"/>
                <a:gd name="connsiteX0" fmla="*/ 0 w 14659"/>
                <a:gd name="connsiteY0" fmla="*/ 11631 h 25252"/>
                <a:gd name="connsiteX1" fmla="*/ 8214 w 14659"/>
                <a:gd name="connsiteY1" fmla="*/ 2340 h 25252"/>
                <a:gd name="connsiteX2" fmla="*/ 12908 w 14659"/>
                <a:gd name="connsiteY2" fmla="*/ 5286 h 25252"/>
                <a:gd name="connsiteX3" fmla="*/ 14659 w 14659"/>
                <a:gd name="connsiteY3" fmla="*/ 25252 h 25252"/>
                <a:gd name="connsiteX0" fmla="*/ 0 w 14659"/>
                <a:gd name="connsiteY0" fmla="*/ 12438 h 26059"/>
                <a:gd name="connsiteX1" fmla="*/ 8214 w 14659"/>
                <a:gd name="connsiteY1" fmla="*/ 3147 h 26059"/>
                <a:gd name="connsiteX2" fmla="*/ 12908 w 14659"/>
                <a:gd name="connsiteY2" fmla="*/ 6093 h 26059"/>
                <a:gd name="connsiteX3" fmla="*/ 14659 w 14659"/>
                <a:gd name="connsiteY3" fmla="*/ 26059 h 26059"/>
                <a:gd name="connsiteX0" fmla="*/ 0 w 14659"/>
                <a:gd name="connsiteY0" fmla="*/ 8615 h 22236"/>
                <a:gd name="connsiteX1" fmla="*/ 12908 w 14659"/>
                <a:gd name="connsiteY1" fmla="*/ 2270 h 22236"/>
                <a:gd name="connsiteX2" fmla="*/ 14659 w 14659"/>
                <a:gd name="connsiteY2" fmla="*/ 22236 h 22236"/>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291 h 22912"/>
                <a:gd name="connsiteX1" fmla="*/ 10561 w 14659"/>
                <a:gd name="connsiteY1" fmla="*/ 0 h 22912"/>
                <a:gd name="connsiteX2" fmla="*/ 14659 w 14659"/>
                <a:gd name="connsiteY2" fmla="*/ 22912 h 22912"/>
                <a:gd name="connsiteX0" fmla="*/ 0 w 14659"/>
                <a:gd name="connsiteY0" fmla="*/ 9291 h 22912"/>
                <a:gd name="connsiteX1" fmla="*/ 10561 w 14659"/>
                <a:gd name="connsiteY1" fmla="*/ 0 h 22912"/>
                <a:gd name="connsiteX2" fmla="*/ 14659 w 14659"/>
                <a:gd name="connsiteY2" fmla="*/ 22912 h 22912"/>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5101"/>
                <a:gd name="connsiteY0" fmla="*/ 8257 h 21878"/>
                <a:gd name="connsiteX1" fmla="*/ 10561 w 15101"/>
                <a:gd name="connsiteY1" fmla="*/ 1912 h 21878"/>
                <a:gd name="connsiteX2" fmla="*/ 14659 w 15101"/>
                <a:gd name="connsiteY2" fmla="*/ 21878 h 21878"/>
                <a:gd name="connsiteX0" fmla="*/ 0 w 16291"/>
                <a:gd name="connsiteY0" fmla="*/ 8257 h 21878"/>
                <a:gd name="connsiteX1" fmla="*/ 10561 w 16291"/>
                <a:gd name="connsiteY1" fmla="*/ 1912 h 21878"/>
                <a:gd name="connsiteX2" fmla="*/ 14659 w 16291"/>
                <a:gd name="connsiteY2" fmla="*/ 21878 h 21878"/>
                <a:gd name="connsiteX0" fmla="*/ 0 w 15439"/>
                <a:gd name="connsiteY0" fmla="*/ 8257 h 21878"/>
                <a:gd name="connsiteX1" fmla="*/ 10561 w 15439"/>
                <a:gd name="connsiteY1" fmla="*/ 1912 h 21878"/>
                <a:gd name="connsiteX2" fmla="*/ 14659 w 15439"/>
                <a:gd name="connsiteY2" fmla="*/ 21878 h 21878"/>
                <a:gd name="connsiteX0" fmla="*/ 0 w 15439"/>
                <a:gd name="connsiteY0" fmla="*/ 8257 h 21878"/>
                <a:gd name="connsiteX1" fmla="*/ 8214 w 15439"/>
                <a:gd name="connsiteY1" fmla="*/ 1912 h 21878"/>
                <a:gd name="connsiteX2" fmla="*/ 14659 w 15439"/>
                <a:gd name="connsiteY2" fmla="*/ 21878 h 21878"/>
                <a:gd name="connsiteX0" fmla="*/ 0 w 15439"/>
                <a:gd name="connsiteY0" fmla="*/ 8257 h 21878"/>
                <a:gd name="connsiteX1" fmla="*/ 8214 w 15439"/>
                <a:gd name="connsiteY1" fmla="*/ 7804 h 21878"/>
                <a:gd name="connsiteX2" fmla="*/ 14659 w 15439"/>
                <a:gd name="connsiteY2" fmla="*/ 21878 h 21878"/>
                <a:gd name="connsiteX0" fmla="*/ 0 w 15439"/>
                <a:gd name="connsiteY0" fmla="*/ 2440 h 16061"/>
                <a:gd name="connsiteX1" fmla="*/ 8214 w 15439"/>
                <a:gd name="connsiteY1" fmla="*/ 1987 h 16061"/>
                <a:gd name="connsiteX2" fmla="*/ 14659 w 15439"/>
                <a:gd name="connsiteY2" fmla="*/ 16061 h 16061"/>
                <a:gd name="connsiteX0" fmla="*/ 0 w 15439"/>
                <a:gd name="connsiteY0" fmla="*/ 3528 h 17149"/>
                <a:gd name="connsiteX1" fmla="*/ 8214 w 15439"/>
                <a:gd name="connsiteY1" fmla="*/ 129 h 17149"/>
                <a:gd name="connsiteX2" fmla="*/ 14659 w 15439"/>
                <a:gd name="connsiteY2" fmla="*/ 17149 h 17149"/>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7960 w 15439"/>
                <a:gd name="connsiteY1" fmla="*/ 2970 h 17430"/>
                <a:gd name="connsiteX2" fmla="*/ 14659 w 15439"/>
                <a:gd name="connsiteY2" fmla="*/ 17430 h 17430"/>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039"/>
                <a:gd name="connsiteY0" fmla="*/ 1060 h 14681"/>
                <a:gd name="connsiteX1" fmla="*/ 8044 w 15039"/>
                <a:gd name="connsiteY1" fmla="*/ 832 h 14681"/>
                <a:gd name="connsiteX2" fmla="*/ 14659 w 15039"/>
                <a:gd name="connsiteY2" fmla="*/ 14681 h 14681"/>
                <a:gd name="connsiteX0" fmla="*/ 0 w 15039"/>
                <a:gd name="connsiteY0" fmla="*/ 6130 h 19751"/>
                <a:gd name="connsiteX1" fmla="*/ 7898 w 15039"/>
                <a:gd name="connsiteY1" fmla="*/ 105 h 19751"/>
                <a:gd name="connsiteX2" fmla="*/ 14659 w 15039"/>
                <a:gd name="connsiteY2" fmla="*/ 19751 h 19751"/>
                <a:gd name="connsiteX0" fmla="*/ 0 w 15039"/>
                <a:gd name="connsiteY0" fmla="*/ 6025 h 19646"/>
                <a:gd name="connsiteX1" fmla="*/ 7898 w 15039"/>
                <a:gd name="connsiteY1" fmla="*/ 0 h 19646"/>
                <a:gd name="connsiteX2" fmla="*/ 14659 w 15039"/>
                <a:gd name="connsiteY2" fmla="*/ 19646 h 19646"/>
                <a:gd name="connsiteX0" fmla="*/ 0 w 15039"/>
                <a:gd name="connsiteY0" fmla="*/ 6025 h 19646"/>
                <a:gd name="connsiteX1" fmla="*/ 7898 w 15039"/>
                <a:gd name="connsiteY1" fmla="*/ 0 h 19646"/>
                <a:gd name="connsiteX2" fmla="*/ 14659 w 15039"/>
                <a:gd name="connsiteY2" fmla="*/ 19646 h 19646"/>
                <a:gd name="connsiteX0" fmla="*/ 0 w 12972"/>
                <a:gd name="connsiteY0" fmla="*/ 8923 h 14681"/>
                <a:gd name="connsiteX1" fmla="*/ 7898 w 12972"/>
                <a:gd name="connsiteY1" fmla="*/ 2898 h 14681"/>
                <a:gd name="connsiteX2" fmla="*/ 12592 w 12972"/>
                <a:gd name="connsiteY2" fmla="*/ 14681 h 14681"/>
                <a:gd name="connsiteX0" fmla="*/ 0 w 12972"/>
                <a:gd name="connsiteY0" fmla="*/ 8923 h 14681"/>
                <a:gd name="connsiteX1" fmla="*/ 7263 w 12972"/>
                <a:gd name="connsiteY1" fmla="*/ 1519 h 14681"/>
                <a:gd name="connsiteX2" fmla="*/ 12592 w 12972"/>
                <a:gd name="connsiteY2" fmla="*/ 14681 h 14681"/>
                <a:gd name="connsiteX0" fmla="*/ 0 w 12592"/>
                <a:gd name="connsiteY0" fmla="*/ 7404 h 13162"/>
                <a:gd name="connsiteX1" fmla="*/ 7263 w 12592"/>
                <a:gd name="connsiteY1" fmla="*/ 0 h 13162"/>
                <a:gd name="connsiteX2" fmla="*/ 12592 w 12592"/>
                <a:gd name="connsiteY2" fmla="*/ 13162 h 13162"/>
                <a:gd name="connsiteX0" fmla="*/ 0 w 12592"/>
                <a:gd name="connsiteY0" fmla="*/ 7404 h 13162"/>
                <a:gd name="connsiteX1" fmla="*/ 7263 w 12592"/>
                <a:gd name="connsiteY1" fmla="*/ 0 h 13162"/>
                <a:gd name="connsiteX2" fmla="*/ 12592 w 12592"/>
                <a:gd name="connsiteY2" fmla="*/ 13162 h 13162"/>
                <a:gd name="connsiteX0" fmla="*/ 0 w 14875"/>
                <a:gd name="connsiteY0" fmla="*/ 5319 h 16631"/>
                <a:gd name="connsiteX1" fmla="*/ 9546 w 14875"/>
                <a:gd name="connsiteY1" fmla="*/ 3469 h 16631"/>
                <a:gd name="connsiteX2" fmla="*/ 14875 w 14875"/>
                <a:gd name="connsiteY2" fmla="*/ 16631 h 16631"/>
                <a:gd name="connsiteX0" fmla="*/ 0 w 14875"/>
                <a:gd name="connsiteY0" fmla="*/ 1850 h 13162"/>
                <a:gd name="connsiteX1" fmla="*/ 9546 w 14875"/>
                <a:gd name="connsiteY1" fmla="*/ 0 h 13162"/>
                <a:gd name="connsiteX2" fmla="*/ 14875 w 14875"/>
                <a:gd name="connsiteY2" fmla="*/ 13162 h 13162"/>
                <a:gd name="connsiteX0" fmla="*/ 0 w 14875"/>
                <a:gd name="connsiteY0" fmla="*/ 0 h 11312"/>
                <a:gd name="connsiteX1" fmla="*/ 11608 w 14875"/>
                <a:gd name="connsiteY1" fmla="*/ 1683 h 11312"/>
                <a:gd name="connsiteX2" fmla="*/ 14875 w 14875"/>
                <a:gd name="connsiteY2" fmla="*/ 11312 h 11312"/>
                <a:gd name="connsiteX0" fmla="*/ 0 w 14875"/>
                <a:gd name="connsiteY0" fmla="*/ 0 h 11312"/>
                <a:gd name="connsiteX1" fmla="*/ 11608 w 14875"/>
                <a:gd name="connsiteY1" fmla="*/ 1683 h 11312"/>
                <a:gd name="connsiteX2" fmla="*/ 14875 w 14875"/>
                <a:gd name="connsiteY2" fmla="*/ 11312 h 11312"/>
                <a:gd name="connsiteX0" fmla="*/ 0 w 14875"/>
                <a:gd name="connsiteY0" fmla="*/ 42 h 11354"/>
                <a:gd name="connsiteX1" fmla="*/ 11608 w 14875"/>
                <a:gd name="connsiteY1" fmla="*/ 1725 h 11354"/>
                <a:gd name="connsiteX2" fmla="*/ 14875 w 14875"/>
                <a:gd name="connsiteY2" fmla="*/ 11354 h 11354"/>
                <a:gd name="connsiteX0" fmla="*/ 0 w 12357"/>
                <a:gd name="connsiteY0" fmla="*/ 222 h 11354"/>
                <a:gd name="connsiteX1" fmla="*/ 9090 w 12357"/>
                <a:gd name="connsiteY1" fmla="*/ 1725 h 11354"/>
                <a:gd name="connsiteX2" fmla="*/ 12357 w 12357"/>
                <a:gd name="connsiteY2" fmla="*/ 11354 h 11354"/>
                <a:gd name="connsiteX0" fmla="*/ 0 w 13222"/>
                <a:gd name="connsiteY0" fmla="*/ 0 h 11132"/>
                <a:gd name="connsiteX1" fmla="*/ 10679 w 13222"/>
                <a:gd name="connsiteY1" fmla="*/ 2655 h 11132"/>
                <a:gd name="connsiteX2" fmla="*/ 12357 w 13222"/>
                <a:gd name="connsiteY2" fmla="*/ 11132 h 11132"/>
                <a:gd name="connsiteX0" fmla="*/ 0 w 13222"/>
                <a:gd name="connsiteY0" fmla="*/ 0 h 11132"/>
                <a:gd name="connsiteX1" fmla="*/ 10679 w 13222"/>
                <a:gd name="connsiteY1" fmla="*/ 2655 h 11132"/>
                <a:gd name="connsiteX2" fmla="*/ 12357 w 13222"/>
                <a:gd name="connsiteY2" fmla="*/ 11132 h 11132"/>
                <a:gd name="connsiteX0" fmla="*/ 0 w 13222"/>
                <a:gd name="connsiteY0" fmla="*/ 0 h 11132"/>
                <a:gd name="connsiteX1" fmla="*/ 10679 w 13222"/>
                <a:gd name="connsiteY1" fmla="*/ 2655 h 11132"/>
                <a:gd name="connsiteX2" fmla="*/ 12357 w 13222"/>
                <a:gd name="connsiteY2" fmla="*/ 11132 h 11132"/>
                <a:gd name="connsiteX0" fmla="*/ 0 w 13222"/>
                <a:gd name="connsiteY0" fmla="*/ 0 h 11132"/>
                <a:gd name="connsiteX1" fmla="*/ 10679 w 13222"/>
                <a:gd name="connsiteY1" fmla="*/ 2655 h 11132"/>
                <a:gd name="connsiteX2" fmla="*/ 12357 w 13222"/>
                <a:gd name="connsiteY2" fmla="*/ 11132 h 11132"/>
                <a:gd name="connsiteX0" fmla="*/ 6565 w 19787"/>
                <a:gd name="connsiteY0" fmla="*/ 0 h 10047"/>
                <a:gd name="connsiteX1" fmla="*/ 17244 w 19787"/>
                <a:gd name="connsiteY1" fmla="*/ 2655 h 10047"/>
                <a:gd name="connsiteX2" fmla="*/ 493 w 19787"/>
                <a:gd name="connsiteY2" fmla="*/ 10047 h 10047"/>
                <a:gd name="connsiteX0" fmla="*/ 6072 w 19294"/>
                <a:gd name="connsiteY0" fmla="*/ 0 h 10047"/>
                <a:gd name="connsiteX1" fmla="*/ 16751 w 19294"/>
                <a:gd name="connsiteY1" fmla="*/ 2655 h 10047"/>
                <a:gd name="connsiteX2" fmla="*/ 0 w 19294"/>
                <a:gd name="connsiteY2" fmla="*/ 10047 h 10047"/>
                <a:gd name="connsiteX0" fmla="*/ 6664 w 19294"/>
                <a:gd name="connsiteY0" fmla="*/ 0 h 12994"/>
                <a:gd name="connsiteX1" fmla="*/ 16751 w 19294"/>
                <a:gd name="connsiteY1" fmla="*/ 5602 h 12994"/>
                <a:gd name="connsiteX2" fmla="*/ 0 w 19294"/>
                <a:gd name="connsiteY2" fmla="*/ 12994 h 12994"/>
                <a:gd name="connsiteX0" fmla="*/ 6664 w 19294"/>
                <a:gd name="connsiteY0" fmla="*/ 0 h 12994"/>
                <a:gd name="connsiteX1" fmla="*/ 16751 w 19294"/>
                <a:gd name="connsiteY1" fmla="*/ 5602 h 12994"/>
                <a:gd name="connsiteX2" fmla="*/ 0 w 19294"/>
                <a:gd name="connsiteY2" fmla="*/ 12994 h 12994"/>
                <a:gd name="connsiteX0" fmla="*/ 6664 w 17051"/>
                <a:gd name="connsiteY0" fmla="*/ 0 h 12994"/>
                <a:gd name="connsiteX1" fmla="*/ 16751 w 17051"/>
                <a:gd name="connsiteY1" fmla="*/ 5602 h 12994"/>
                <a:gd name="connsiteX2" fmla="*/ 0 w 17051"/>
                <a:gd name="connsiteY2" fmla="*/ 12994 h 12994"/>
                <a:gd name="connsiteX0" fmla="*/ 8253 w 18640"/>
                <a:gd name="connsiteY0" fmla="*/ 0 h 13122"/>
                <a:gd name="connsiteX1" fmla="*/ 18340 w 18640"/>
                <a:gd name="connsiteY1" fmla="*/ 5602 h 13122"/>
                <a:gd name="connsiteX2" fmla="*/ 0 w 18640"/>
                <a:gd name="connsiteY2" fmla="*/ 13122 h 13122"/>
              </a:gdLst>
              <a:ahLst/>
              <a:cxnLst>
                <a:cxn ang="0">
                  <a:pos x="connsiteX0" y="connsiteY0"/>
                </a:cxn>
                <a:cxn ang="0">
                  <a:pos x="connsiteX1" y="connsiteY1"/>
                </a:cxn>
                <a:cxn ang="0">
                  <a:pos x="connsiteX2" y="connsiteY2"/>
                </a:cxn>
              </a:cxnLst>
              <a:rect l="l" t="t" r="r" b="b"/>
              <a:pathLst>
                <a:path w="18640" h="13122">
                  <a:moveTo>
                    <a:pt x="8253" y="0"/>
                  </a:moveTo>
                  <a:cubicBezTo>
                    <a:pt x="16575" y="421"/>
                    <a:pt x="18640" y="2978"/>
                    <a:pt x="18340" y="5602"/>
                  </a:cubicBezTo>
                  <a:cubicBezTo>
                    <a:pt x="18314" y="8890"/>
                    <a:pt x="7743" y="12440"/>
                    <a:pt x="0" y="13122"/>
                  </a:cubicBezTo>
                </a:path>
              </a:pathLst>
            </a:custGeom>
            <a:noFill/>
            <a:ln w="38100" cap="flat" cmpd="sng">
              <a:solidFill>
                <a:srgbClr val="FFC000"/>
              </a:solidFill>
              <a:prstDash val="solid"/>
              <a:round/>
              <a:headEnd type="oval" w="med" len="med"/>
              <a:tailEnd type="triangle" w="lg" len="lg"/>
            </a:ln>
          </p:spPr>
          <p:txBody>
            <a:bodyPr tIns="91440" bIns="91440" anchor="ctr"/>
            <a:lstStyle/>
            <a:p>
              <a:endParaRPr lang="en-US" dirty="0">
                <a:latin typeface="Times New Roman" panose="02020603050405020304" pitchFamily="18" charset="0"/>
              </a:endParaRPr>
            </a:p>
          </p:txBody>
        </p:sp>
        <p:sp>
          <p:nvSpPr>
            <p:cNvPr id="32" name="Freeform 29"/>
            <p:cNvSpPr>
              <a:spLocks/>
            </p:cNvSpPr>
            <p:nvPr/>
          </p:nvSpPr>
          <p:spPr bwMode="auto">
            <a:xfrm flipH="1" flipV="1">
              <a:off x="3060179" y="2124474"/>
              <a:ext cx="323678" cy="680238"/>
            </a:xfrm>
            <a:custGeom>
              <a:avLst/>
              <a:gdLst>
                <a:gd name="T0" fmla="*/ 0 w 338"/>
                <a:gd name="T1" fmla="*/ 7 h 230"/>
                <a:gd name="T2" fmla="*/ 211 w 338"/>
                <a:gd name="T3" fmla="*/ 10 h 230"/>
                <a:gd name="T4" fmla="*/ 319 w 338"/>
                <a:gd name="T5" fmla="*/ 67 h 230"/>
                <a:gd name="T6" fmla="*/ 328 w 338"/>
                <a:gd name="T7" fmla="*/ 230 h 230"/>
                <a:gd name="T8" fmla="*/ 0 60000 65536"/>
                <a:gd name="T9" fmla="*/ 0 60000 65536"/>
                <a:gd name="T10" fmla="*/ 0 60000 65536"/>
                <a:gd name="T11" fmla="*/ 0 60000 65536"/>
                <a:gd name="T12" fmla="*/ 0 w 338"/>
                <a:gd name="T13" fmla="*/ 0 h 230"/>
                <a:gd name="T14" fmla="*/ 338 w 338"/>
                <a:gd name="T15" fmla="*/ 230 h 230"/>
                <a:gd name="connsiteX0" fmla="*/ 0 w 10384"/>
                <a:gd name="connsiteY0" fmla="*/ 2711 h 12407"/>
                <a:gd name="connsiteX1" fmla="*/ 4026 w 10384"/>
                <a:gd name="connsiteY1" fmla="*/ 435 h 12407"/>
                <a:gd name="connsiteX2" fmla="*/ 9438 w 10384"/>
                <a:gd name="connsiteY2" fmla="*/ 5320 h 12407"/>
                <a:gd name="connsiteX3" fmla="*/ 9704 w 10384"/>
                <a:gd name="connsiteY3" fmla="*/ 12407 h 12407"/>
                <a:gd name="connsiteX0" fmla="*/ 0 w 10340"/>
                <a:gd name="connsiteY0" fmla="*/ 4271 h 13967"/>
                <a:gd name="connsiteX1" fmla="*/ 4026 w 10340"/>
                <a:gd name="connsiteY1" fmla="*/ 1995 h 13967"/>
                <a:gd name="connsiteX2" fmla="*/ 9394 w 10340"/>
                <a:gd name="connsiteY2" fmla="*/ 1995 h 13967"/>
                <a:gd name="connsiteX3" fmla="*/ 9704 w 10340"/>
                <a:gd name="connsiteY3" fmla="*/ 13967 h 13967"/>
                <a:gd name="connsiteX0" fmla="*/ 0 w 11436"/>
                <a:gd name="connsiteY0" fmla="*/ 3232 h 6695"/>
                <a:gd name="connsiteX1" fmla="*/ 4026 w 11436"/>
                <a:gd name="connsiteY1" fmla="*/ 956 h 6695"/>
                <a:gd name="connsiteX2" fmla="*/ 9394 w 11436"/>
                <a:gd name="connsiteY2" fmla="*/ 956 h 6695"/>
                <a:gd name="connsiteX3" fmla="*/ 11436 w 11436"/>
                <a:gd name="connsiteY3" fmla="*/ 6695 h 6695"/>
                <a:gd name="connsiteX0" fmla="*/ 0 w 10809"/>
                <a:gd name="connsiteY0" fmla="*/ 9251 h 14424"/>
                <a:gd name="connsiteX1" fmla="*/ 3520 w 10809"/>
                <a:gd name="connsiteY1" fmla="*/ 5852 h 14424"/>
                <a:gd name="connsiteX2" fmla="*/ 9729 w 10809"/>
                <a:gd name="connsiteY2" fmla="*/ 1428 h 14424"/>
                <a:gd name="connsiteX3" fmla="*/ 10000 w 10809"/>
                <a:gd name="connsiteY3" fmla="*/ 14424 h 14424"/>
                <a:gd name="connsiteX0" fmla="*/ 0 w 10618"/>
                <a:gd name="connsiteY0" fmla="*/ 9091 h 14264"/>
                <a:gd name="connsiteX1" fmla="*/ 3520 w 10618"/>
                <a:gd name="connsiteY1" fmla="*/ 5692 h 14264"/>
                <a:gd name="connsiteX2" fmla="*/ 9538 w 10618"/>
                <a:gd name="connsiteY2" fmla="*/ 1428 h 14264"/>
                <a:gd name="connsiteX3" fmla="*/ 10000 w 10618"/>
                <a:gd name="connsiteY3" fmla="*/ 14264 h 14264"/>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4082"/>
                <a:gd name="connsiteY0" fmla="*/ 11994 h 26269"/>
                <a:gd name="connsiteX1" fmla="*/ 4985 w 14082"/>
                <a:gd name="connsiteY1" fmla="*/ 283 h 26269"/>
                <a:gd name="connsiteX2" fmla="*/ 9538 w 14082"/>
                <a:gd name="connsiteY2" fmla="*/ 4331 h 26269"/>
                <a:gd name="connsiteX3" fmla="*/ 14082 w 14082"/>
                <a:gd name="connsiteY3" fmla="*/ 26269 h 26269"/>
                <a:gd name="connsiteX0" fmla="*/ 0 w 14082"/>
                <a:gd name="connsiteY0" fmla="*/ 11711 h 25986"/>
                <a:gd name="connsiteX1" fmla="*/ 4985 w 14082"/>
                <a:gd name="connsiteY1" fmla="*/ 0 h 25986"/>
                <a:gd name="connsiteX2" fmla="*/ 14082 w 14082"/>
                <a:gd name="connsiteY2" fmla="*/ 25986 h 25986"/>
                <a:gd name="connsiteX0" fmla="*/ 0 w 14082"/>
                <a:gd name="connsiteY0" fmla="*/ 7210 h 21485"/>
                <a:gd name="connsiteX1" fmla="*/ 9388 w 14082"/>
                <a:gd name="connsiteY1" fmla="*/ 865 h 21485"/>
                <a:gd name="connsiteX2" fmla="*/ 14082 w 14082"/>
                <a:gd name="connsiteY2" fmla="*/ 21485 h 21485"/>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2908 w 14082"/>
                <a:gd name="connsiteY2" fmla="*/ 8055 h 22784"/>
                <a:gd name="connsiteX3" fmla="*/ 14082 w 14082"/>
                <a:gd name="connsiteY3" fmla="*/ 22784 h 22784"/>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864"/>
                <a:gd name="connsiteY0" fmla="*/ 8509 h 22130"/>
                <a:gd name="connsiteX1" fmla="*/ 9388 w 14864"/>
                <a:gd name="connsiteY1" fmla="*/ 2164 h 22130"/>
                <a:gd name="connsiteX2" fmla="*/ 14082 w 14864"/>
                <a:gd name="connsiteY2" fmla="*/ 5110 h 22130"/>
                <a:gd name="connsiteX3" fmla="*/ 14659 w 14864"/>
                <a:gd name="connsiteY3" fmla="*/ 22130 h 22130"/>
                <a:gd name="connsiteX0" fmla="*/ 0 w 14864"/>
                <a:gd name="connsiteY0" fmla="*/ 10596 h 24217"/>
                <a:gd name="connsiteX1" fmla="*/ 8214 w 14864"/>
                <a:gd name="connsiteY1" fmla="*/ 1305 h 24217"/>
                <a:gd name="connsiteX2" fmla="*/ 14082 w 14864"/>
                <a:gd name="connsiteY2" fmla="*/ 7197 h 24217"/>
                <a:gd name="connsiteX3" fmla="*/ 14659 w 14864"/>
                <a:gd name="connsiteY3" fmla="*/ 24217 h 24217"/>
                <a:gd name="connsiteX0" fmla="*/ 0 w 14864"/>
                <a:gd name="connsiteY0" fmla="*/ 10615 h 24236"/>
                <a:gd name="connsiteX1" fmla="*/ 8214 w 14864"/>
                <a:gd name="connsiteY1" fmla="*/ 1324 h 24236"/>
                <a:gd name="connsiteX2" fmla="*/ 14082 w 14864"/>
                <a:gd name="connsiteY2" fmla="*/ 7216 h 24236"/>
                <a:gd name="connsiteX3" fmla="*/ 14659 w 14864"/>
                <a:gd name="connsiteY3" fmla="*/ 24236 h 2423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659"/>
                <a:gd name="connsiteY0" fmla="*/ 9865 h 23486"/>
                <a:gd name="connsiteX1" fmla="*/ 8214 w 14659"/>
                <a:gd name="connsiteY1" fmla="*/ 574 h 23486"/>
                <a:gd name="connsiteX2" fmla="*/ 14082 w 14659"/>
                <a:gd name="connsiteY2" fmla="*/ 6466 h 23486"/>
                <a:gd name="connsiteX3" fmla="*/ 14659 w 14659"/>
                <a:gd name="connsiteY3" fmla="*/ 23486 h 23486"/>
                <a:gd name="connsiteX0" fmla="*/ 0 w 14844"/>
                <a:gd name="connsiteY0" fmla="*/ 9865 h 23486"/>
                <a:gd name="connsiteX1" fmla="*/ 8214 w 14844"/>
                <a:gd name="connsiteY1" fmla="*/ 574 h 23486"/>
                <a:gd name="connsiteX2" fmla="*/ 14082 w 14844"/>
                <a:gd name="connsiteY2" fmla="*/ 6466 h 23486"/>
                <a:gd name="connsiteX3" fmla="*/ 14659 w 14844"/>
                <a:gd name="connsiteY3" fmla="*/ 23486 h 23486"/>
                <a:gd name="connsiteX0" fmla="*/ 0 w 14659"/>
                <a:gd name="connsiteY0" fmla="*/ 9865 h 23486"/>
                <a:gd name="connsiteX1" fmla="*/ 8214 w 14659"/>
                <a:gd name="connsiteY1" fmla="*/ 574 h 23486"/>
                <a:gd name="connsiteX2" fmla="*/ 12908 w 14659"/>
                <a:gd name="connsiteY2" fmla="*/ 3520 h 23486"/>
                <a:gd name="connsiteX3" fmla="*/ 14659 w 14659"/>
                <a:gd name="connsiteY3" fmla="*/ 23486 h 23486"/>
                <a:gd name="connsiteX0" fmla="*/ 0 w 14659"/>
                <a:gd name="connsiteY0" fmla="*/ 11631 h 25252"/>
                <a:gd name="connsiteX1" fmla="*/ 8214 w 14659"/>
                <a:gd name="connsiteY1" fmla="*/ 2340 h 25252"/>
                <a:gd name="connsiteX2" fmla="*/ 12908 w 14659"/>
                <a:gd name="connsiteY2" fmla="*/ 5286 h 25252"/>
                <a:gd name="connsiteX3" fmla="*/ 14659 w 14659"/>
                <a:gd name="connsiteY3" fmla="*/ 25252 h 25252"/>
                <a:gd name="connsiteX0" fmla="*/ 0 w 14659"/>
                <a:gd name="connsiteY0" fmla="*/ 12438 h 26059"/>
                <a:gd name="connsiteX1" fmla="*/ 8214 w 14659"/>
                <a:gd name="connsiteY1" fmla="*/ 3147 h 26059"/>
                <a:gd name="connsiteX2" fmla="*/ 12908 w 14659"/>
                <a:gd name="connsiteY2" fmla="*/ 6093 h 26059"/>
                <a:gd name="connsiteX3" fmla="*/ 14659 w 14659"/>
                <a:gd name="connsiteY3" fmla="*/ 26059 h 26059"/>
                <a:gd name="connsiteX0" fmla="*/ 0 w 14659"/>
                <a:gd name="connsiteY0" fmla="*/ 8615 h 22236"/>
                <a:gd name="connsiteX1" fmla="*/ 12908 w 14659"/>
                <a:gd name="connsiteY1" fmla="*/ 2270 h 22236"/>
                <a:gd name="connsiteX2" fmla="*/ 14659 w 14659"/>
                <a:gd name="connsiteY2" fmla="*/ 22236 h 22236"/>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291 h 22912"/>
                <a:gd name="connsiteX1" fmla="*/ 10561 w 14659"/>
                <a:gd name="connsiteY1" fmla="*/ 0 h 22912"/>
                <a:gd name="connsiteX2" fmla="*/ 14659 w 14659"/>
                <a:gd name="connsiteY2" fmla="*/ 22912 h 22912"/>
                <a:gd name="connsiteX0" fmla="*/ 0 w 14659"/>
                <a:gd name="connsiteY0" fmla="*/ 9291 h 22912"/>
                <a:gd name="connsiteX1" fmla="*/ 10561 w 14659"/>
                <a:gd name="connsiteY1" fmla="*/ 0 h 22912"/>
                <a:gd name="connsiteX2" fmla="*/ 14659 w 14659"/>
                <a:gd name="connsiteY2" fmla="*/ 22912 h 22912"/>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5101"/>
                <a:gd name="connsiteY0" fmla="*/ 8257 h 21878"/>
                <a:gd name="connsiteX1" fmla="*/ 10561 w 15101"/>
                <a:gd name="connsiteY1" fmla="*/ 1912 h 21878"/>
                <a:gd name="connsiteX2" fmla="*/ 14659 w 15101"/>
                <a:gd name="connsiteY2" fmla="*/ 21878 h 21878"/>
                <a:gd name="connsiteX0" fmla="*/ 0 w 16291"/>
                <a:gd name="connsiteY0" fmla="*/ 8257 h 21878"/>
                <a:gd name="connsiteX1" fmla="*/ 10561 w 16291"/>
                <a:gd name="connsiteY1" fmla="*/ 1912 h 21878"/>
                <a:gd name="connsiteX2" fmla="*/ 14659 w 16291"/>
                <a:gd name="connsiteY2" fmla="*/ 21878 h 21878"/>
                <a:gd name="connsiteX0" fmla="*/ 0 w 15439"/>
                <a:gd name="connsiteY0" fmla="*/ 8257 h 21878"/>
                <a:gd name="connsiteX1" fmla="*/ 10561 w 15439"/>
                <a:gd name="connsiteY1" fmla="*/ 1912 h 21878"/>
                <a:gd name="connsiteX2" fmla="*/ 14659 w 15439"/>
                <a:gd name="connsiteY2" fmla="*/ 21878 h 21878"/>
                <a:gd name="connsiteX0" fmla="*/ 0 w 15439"/>
                <a:gd name="connsiteY0" fmla="*/ 8257 h 21878"/>
                <a:gd name="connsiteX1" fmla="*/ 8214 w 15439"/>
                <a:gd name="connsiteY1" fmla="*/ 1912 h 21878"/>
                <a:gd name="connsiteX2" fmla="*/ 14659 w 15439"/>
                <a:gd name="connsiteY2" fmla="*/ 21878 h 21878"/>
                <a:gd name="connsiteX0" fmla="*/ 0 w 15439"/>
                <a:gd name="connsiteY0" fmla="*/ 8257 h 21878"/>
                <a:gd name="connsiteX1" fmla="*/ 8214 w 15439"/>
                <a:gd name="connsiteY1" fmla="*/ 7804 h 21878"/>
                <a:gd name="connsiteX2" fmla="*/ 14659 w 15439"/>
                <a:gd name="connsiteY2" fmla="*/ 21878 h 21878"/>
                <a:gd name="connsiteX0" fmla="*/ 0 w 15439"/>
                <a:gd name="connsiteY0" fmla="*/ 2440 h 16061"/>
                <a:gd name="connsiteX1" fmla="*/ 8214 w 15439"/>
                <a:gd name="connsiteY1" fmla="*/ 1987 h 16061"/>
                <a:gd name="connsiteX2" fmla="*/ 14659 w 15439"/>
                <a:gd name="connsiteY2" fmla="*/ 16061 h 16061"/>
                <a:gd name="connsiteX0" fmla="*/ 0 w 15439"/>
                <a:gd name="connsiteY0" fmla="*/ 3528 h 17149"/>
                <a:gd name="connsiteX1" fmla="*/ 8214 w 15439"/>
                <a:gd name="connsiteY1" fmla="*/ 129 h 17149"/>
                <a:gd name="connsiteX2" fmla="*/ 14659 w 15439"/>
                <a:gd name="connsiteY2" fmla="*/ 17149 h 17149"/>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7960 w 15439"/>
                <a:gd name="connsiteY1" fmla="*/ 2970 h 17430"/>
                <a:gd name="connsiteX2" fmla="*/ 14659 w 15439"/>
                <a:gd name="connsiteY2" fmla="*/ 17430 h 17430"/>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039"/>
                <a:gd name="connsiteY0" fmla="*/ 1060 h 14681"/>
                <a:gd name="connsiteX1" fmla="*/ 8044 w 15039"/>
                <a:gd name="connsiteY1" fmla="*/ 832 h 14681"/>
                <a:gd name="connsiteX2" fmla="*/ 14659 w 15039"/>
                <a:gd name="connsiteY2" fmla="*/ 14681 h 14681"/>
                <a:gd name="connsiteX0" fmla="*/ 0 w 15039"/>
                <a:gd name="connsiteY0" fmla="*/ 6130 h 19751"/>
                <a:gd name="connsiteX1" fmla="*/ 7898 w 15039"/>
                <a:gd name="connsiteY1" fmla="*/ 105 h 19751"/>
                <a:gd name="connsiteX2" fmla="*/ 14659 w 15039"/>
                <a:gd name="connsiteY2" fmla="*/ 19751 h 19751"/>
                <a:gd name="connsiteX0" fmla="*/ 0 w 15039"/>
                <a:gd name="connsiteY0" fmla="*/ 6025 h 19646"/>
                <a:gd name="connsiteX1" fmla="*/ 7898 w 15039"/>
                <a:gd name="connsiteY1" fmla="*/ 0 h 19646"/>
                <a:gd name="connsiteX2" fmla="*/ 14659 w 15039"/>
                <a:gd name="connsiteY2" fmla="*/ 19646 h 19646"/>
                <a:gd name="connsiteX0" fmla="*/ 0 w 15039"/>
                <a:gd name="connsiteY0" fmla="*/ 6025 h 19646"/>
                <a:gd name="connsiteX1" fmla="*/ 7898 w 15039"/>
                <a:gd name="connsiteY1" fmla="*/ 0 h 19646"/>
                <a:gd name="connsiteX2" fmla="*/ 14659 w 15039"/>
                <a:gd name="connsiteY2" fmla="*/ 19646 h 19646"/>
                <a:gd name="connsiteX0" fmla="*/ 0 w 12972"/>
                <a:gd name="connsiteY0" fmla="*/ 8923 h 14681"/>
                <a:gd name="connsiteX1" fmla="*/ 7898 w 12972"/>
                <a:gd name="connsiteY1" fmla="*/ 2898 h 14681"/>
                <a:gd name="connsiteX2" fmla="*/ 12592 w 12972"/>
                <a:gd name="connsiteY2" fmla="*/ 14681 h 14681"/>
                <a:gd name="connsiteX0" fmla="*/ 0 w 12972"/>
                <a:gd name="connsiteY0" fmla="*/ 8923 h 14681"/>
                <a:gd name="connsiteX1" fmla="*/ 7263 w 12972"/>
                <a:gd name="connsiteY1" fmla="*/ 1519 h 14681"/>
                <a:gd name="connsiteX2" fmla="*/ 12592 w 12972"/>
                <a:gd name="connsiteY2" fmla="*/ 14681 h 14681"/>
                <a:gd name="connsiteX0" fmla="*/ 0 w 12592"/>
                <a:gd name="connsiteY0" fmla="*/ 7404 h 13162"/>
                <a:gd name="connsiteX1" fmla="*/ 7263 w 12592"/>
                <a:gd name="connsiteY1" fmla="*/ 0 h 13162"/>
                <a:gd name="connsiteX2" fmla="*/ 12592 w 12592"/>
                <a:gd name="connsiteY2" fmla="*/ 13162 h 13162"/>
                <a:gd name="connsiteX0" fmla="*/ 0 w 12592"/>
                <a:gd name="connsiteY0" fmla="*/ 7404 h 13162"/>
                <a:gd name="connsiteX1" fmla="*/ 7263 w 12592"/>
                <a:gd name="connsiteY1" fmla="*/ 0 h 13162"/>
                <a:gd name="connsiteX2" fmla="*/ 12592 w 12592"/>
                <a:gd name="connsiteY2" fmla="*/ 13162 h 13162"/>
                <a:gd name="connsiteX0" fmla="*/ 0 w 9737"/>
                <a:gd name="connsiteY0" fmla="*/ 7404 h 24707"/>
                <a:gd name="connsiteX1" fmla="*/ 7263 w 9737"/>
                <a:gd name="connsiteY1" fmla="*/ 0 h 24707"/>
                <a:gd name="connsiteX2" fmla="*/ 9737 w 9737"/>
                <a:gd name="connsiteY2" fmla="*/ 24707 h 24707"/>
                <a:gd name="connsiteX0" fmla="*/ 0 w 10000"/>
                <a:gd name="connsiteY0" fmla="*/ 2153 h 9156"/>
                <a:gd name="connsiteX1" fmla="*/ 6384 w 10000"/>
                <a:gd name="connsiteY1" fmla="*/ 4387 h 9156"/>
                <a:gd name="connsiteX2" fmla="*/ 10000 w 10000"/>
                <a:gd name="connsiteY2" fmla="*/ 9156 h 9156"/>
                <a:gd name="connsiteX0" fmla="*/ 0 w 10000"/>
                <a:gd name="connsiteY0" fmla="*/ 2351 h 10000"/>
                <a:gd name="connsiteX1" fmla="*/ 7589 w 10000"/>
                <a:gd name="connsiteY1" fmla="*/ 3489 h 10000"/>
                <a:gd name="connsiteX2" fmla="*/ 10000 w 10000"/>
                <a:gd name="connsiteY2" fmla="*/ 10000 h 10000"/>
                <a:gd name="connsiteX0" fmla="*/ 0 w 10000"/>
                <a:gd name="connsiteY0" fmla="*/ 2351 h 10000"/>
                <a:gd name="connsiteX1" fmla="*/ 5179 w 10000"/>
                <a:gd name="connsiteY1" fmla="*/ 3489 h 10000"/>
                <a:gd name="connsiteX2" fmla="*/ 10000 w 10000"/>
                <a:gd name="connsiteY2" fmla="*/ 10000 h 10000"/>
                <a:gd name="connsiteX0" fmla="*/ 0 w 10000"/>
                <a:gd name="connsiteY0" fmla="*/ 0 h 7649"/>
                <a:gd name="connsiteX1" fmla="*/ 5179 w 10000"/>
                <a:gd name="connsiteY1" fmla="*/ 1138 h 7649"/>
                <a:gd name="connsiteX2" fmla="*/ 10000 w 10000"/>
                <a:gd name="connsiteY2" fmla="*/ 7649 h 7649"/>
                <a:gd name="connsiteX0" fmla="*/ 0 w 10000"/>
                <a:gd name="connsiteY0" fmla="*/ 0 h 10000"/>
                <a:gd name="connsiteX1" fmla="*/ 6384 w 10000"/>
                <a:gd name="connsiteY1" fmla="*/ 4893 h 10000"/>
                <a:gd name="connsiteX2" fmla="*/ 10000 w 10000"/>
                <a:gd name="connsiteY2" fmla="*/ 10000 h 10000"/>
                <a:gd name="connsiteX0" fmla="*/ 0 w 8750"/>
                <a:gd name="connsiteY0" fmla="*/ 0 h 13405"/>
                <a:gd name="connsiteX1" fmla="*/ 6384 w 8750"/>
                <a:gd name="connsiteY1" fmla="*/ 4893 h 13405"/>
                <a:gd name="connsiteX2" fmla="*/ 7589 w 8750"/>
                <a:gd name="connsiteY2" fmla="*/ 13405 h 13405"/>
                <a:gd name="connsiteX0" fmla="*/ 0 w 8673"/>
                <a:gd name="connsiteY0" fmla="*/ 0 h 10000"/>
                <a:gd name="connsiteX1" fmla="*/ 3164 w 8673"/>
                <a:gd name="connsiteY1" fmla="*/ 4920 h 10000"/>
                <a:gd name="connsiteX2" fmla="*/ 8673 w 8673"/>
                <a:gd name="connsiteY2" fmla="*/ 10000 h 10000"/>
                <a:gd name="connsiteX0" fmla="*/ 80 w 10080"/>
                <a:gd name="connsiteY0" fmla="*/ 0 h 10000"/>
                <a:gd name="connsiteX1" fmla="*/ 3728 w 10080"/>
                <a:gd name="connsiteY1" fmla="*/ 4920 h 10000"/>
                <a:gd name="connsiteX2" fmla="*/ 10080 w 10080"/>
                <a:gd name="connsiteY2" fmla="*/ 10000 h 10000"/>
              </a:gdLst>
              <a:ahLst/>
              <a:cxnLst>
                <a:cxn ang="0">
                  <a:pos x="connsiteX0" y="connsiteY0"/>
                </a:cxn>
                <a:cxn ang="0">
                  <a:pos x="connsiteX1" y="connsiteY1"/>
                </a:cxn>
                <a:cxn ang="0">
                  <a:pos x="connsiteX2" y="connsiteY2"/>
                </a:cxn>
              </a:cxnLst>
              <a:rect l="l" t="t" r="r" b="b"/>
              <a:pathLst>
                <a:path w="10080" h="10000">
                  <a:moveTo>
                    <a:pt x="80" y="0"/>
                  </a:moveTo>
                  <a:cubicBezTo>
                    <a:pt x="0" y="3629"/>
                    <a:pt x="417" y="4990"/>
                    <a:pt x="3728" y="4920"/>
                  </a:cubicBezTo>
                  <a:cubicBezTo>
                    <a:pt x="6846" y="5057"/>
                    <a:pt x="8850" y="5609"/>
                    <a:pt x="10080" y="10000"/>
                  </a:cubicBezTo>
                </a:path>
              </a:pathLst>
            </a:custGeom>
            <a:noFill/>
            <a:ln w="38100" cap="flat" cmpd="sng">
              <a:solidFill>
                <a:srgbClr val="FFC000"/>
              </a:solidFill>
              <a:prstDash val="solid"/>
              <a:round/>
              <a:headEnd type="oval" w="med" len="med"/>
              <a:tailEnd type="triangle" w="lg" len="lg"/>
            </a:ln>
          </p:spPr>
          <p:txBody>
            <a:bodyPr tIns="91440" bIns="91440" anchor="ctr"/>
            <a:lstStyle/>
            <a:p>
              <a:endParaRPr lang="en-US" dirty="0">
                <a:latin typeface="Times New Roman" panose="02020603050405020304" pitchFamily="18" charset="0"/>
              </a:endParaRPr>
            </a:p>
          </p:txBody>
        </p:sp>
        <p:sp>
          <p:nvSpPr>
            <p:cNvPr id="33" name="Freeform 29"/>
            <p:cNvSpPr>
              <a:spLocks/>
            </p:cNvSpPr>
            <p:nvPr/>
          </p:nvSpPr>
          <p:spPr bwMode="auto">
            <a:xfrm>
              <a:off x="3205709" y="1657014"/>
              <a:ext cx="561374" cy="338406"/>
            </a:xfrm>
            <a:custGeom>
              <a:avLst/>
              <a:gdLst>
                <a:gd name="T0" fmla="*/ 0 w 338"/>
                <a:gd name="T1" fmla="*/ 7 h 230"/>
                <a:gd name="T2" fmla="*/ 211 w 338"/>
                <a:gd name="T3" fmla="*/ 10 h 230"/>
                <a:gd name="T4" fmla="*/ 319 w 338"/>
                <a:gd name="T5" fmla="*/ 67 h 230"/>
                <a:gd name="T6" fmla="*/ 328 w 338"/>
                <a:gd name="T7" fmla="*/ 230 h 230"/>
                <a:gd name="T8" fmla="*/ 0 60000 65536"/>
                <a:gd name="T9" fmla="*/ 0 60000 65536"/>
                <a:gd name="T10" fmla="*/ 0 60000 65536"/>
                <a:gd name="T11" fmla="*/ 0 60000 65536"/>
                <a:gd name="T12" fmla="*/ 0 w 338"/>
                <a:gd name="T13" fmla="*/ 0 h 230"/>
                <a:gd name="T14" fmla="*/ 338 w 338"/>
                <a:gd name="T15" fmla="*/ 230 h 230"/>
                <a:gd name="connsiteX0" fmla="*/ 0 w 10384"/>
                <a:gd name="connsiteY0" fmla="*/ 2711 h 12407"/>
                <a:gd name="connsiteX1" fmla="*/ 4026 w 10384"/>
                <a:gd name="connsiteY1" fmla="*/ 435 h 12407"/>
                <a:gd name="connsiteX2" fmla="*/ 9438 w 10384"/>
                <a:gd name="connsiteY2" fmla="*/ 5320 h 12407"/>
                <a:gd name="connsiteX3" fmla="*/ 9704 w 10384"/>
                <a:gd name="connsiteY3" fmla="*/ 12407 h 12407"/>
                <a:gd name="connsiteX0" fmla="*/ 0 w 10340"/>
                <a:gd name="connsiteY0" fmla="*/ 4271 h 13967"/>
                <a:gd name="connsiteX1" fmla="*/ 4026 w 10340"/>
                <a:gd name="connsiteY1" fmla="*/ 1995 h 13967"/>
                <a:gd name="connsiteX2" fmla="*/ 9394 w 10340"/>
                <a:gd name="connsiteY2" fmla="*/ 1995 h 13967"/>
                <a:gd name="connsiteX3" fmla="*/ 9704 w 10340"/>
                <a:gd name="connsiteY3" fmla="*/ 13967 h 13967"/>
                <a:gd name="connsiteX0" fmla="*/ 0 w 11436"/>
                <a:gd name="connsiteY0" fmla="*/ 3232 h 6695"/>
                <a:gd name="connsiteX1" fmla="*/ 4026 w 11436"/>
                <a:gd name="connsiteY1" fmla="*/ 956 h 6695"/>
                <a:gd name="connsiteX2" fmla="*/ 9394 w 11436"/>
                <a:gd name="connsiteY2" fmla="*/ 956 h 6695"/>
                <a:gd name="connsiteX3" fmla="*/ 11436 w 11436"/>
                <a:gd name="connsiteY3" fmla="*/ 6695 h 6695"/>
                <a:gd name="connsiteX0" fmla="*/ 0 w 10809"/>
                <a:gd name="connsiteY0" fmla="*/ 9251 h 14424"/>
                <a:gd name="connsiteX1" fmla="*/ 3520 w 10809"/>
                <a:gd name="connsiteY1" fmla="*/ 5852 h 14424"/>
                <a:gd name="connsiteX2" fmla="*/ 9729 w 10809"/>
                <a:gd name="connsiteY2" fmla="*/ 1428 h 14424"/>
                <a:gd name="connsiteX3" fmla="*/ 10000 w 10809"/>
                <a:gd name="connsiteY3" fmla="*/ 14424 h 14424"/>
                <a:gd name="connsiteX0" fmla="*/ 0 w 10618"/>
                <a:gd name="connsiteY0" fmla="*/ 9091 h 14264"/>
                <a:gd name="connsiteX1" fmla="*/ 3520 w 10618"/>
                <a:gd name="connsiteY1" fmla="*/ 5692 h 14264"/>
                <a:gd name="connsiteX2" fmla="*/ 9538 w 10618"/>
                <a:gd name="connsiteY2" fmla="*/ 1428 h 14264"/>
                <a:gd name="connsiteX3" fmla="*/ 10000 w 10618"/>
                <a:gd name="connsiteY3" fmla="*/ 14264 h 14264"/>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4082"/>
                <a:gd name="connsiteY0" fmla="*/ 11994 h 26269"/>
                <a:gd name="connsiteX1" fmla="*/ 4985 w 14082"/>
                <a:gd name="connsiteY1" fmla="*/ 283 h 26269"/>
                <a:gd name="connsiteX2" fmla="*/ 9538 w 14082"/>
                <a:gd name="connsiteY2" fmla="*/ 4331 h 26269"/>
                <a:gd name="connsiteX3" fmla="*/ 14082 w 14082"/>
                <a:gd name="connsiteY3" fmla="*/ 26269 h 26269"/>
                <a:gd name="connsiteX0" fmla="*/ 0 w 14082"/>
                <a:gd name="connsiteY0" fmla="*/ 11711 h 25986"/>
                <a:gd name="connsiteX1" fmla="*/ 4985 w 14082"/>
                <a:gd name="connsiteY1" fmla="*/ 0 h 25986"/>
                <a:gd name="connsiteX2" fmla="*/ 14082 w 14082"/>
                <a:gd name="connsiteY2" fmla="*/ 25986 h 25986"/>
                <a:gd name="connsiteX0" fmla="*/ 0 w 14082"/>
                <a:gd name="connsiteY0" fmla="*/ 7210 h 21485"/>
                <a:gd name="connsiteX1" fmla="*/ 9388 w 14082"/>
                <a:gd name="connsiteY1" fmla="*/ 865 h 21485"/>
                <a:gd name="connsiteX2" fmla="*/ 14082 w 14082"/>
                <a:gd name="connsiteY2" fmla="*/ 21485 h 21485"/>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2908 w 14082"/>
                <a:gd name="connsiteY2" fmla="*/ 8055 h 22784"/>
                <a:gd name="connsiteX3" fmla="*/ 14082 w 14082"/>
                <a:gd name="connsiteY3" fmla="*/ 22784 h 22784"/>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864"/>
                <a:gd name="connsiteY0" fmla="*/ 8509 h 22130"/>
                <a:gd name="connsiteX1" fmla="*/ 9388 w 14864"/>
                <a:gd name="connsiteY1" fmla="*/ 2164 h 22130"/>
                <a:gd name="connsiteX2" fmla="*/ 14082 w 14864"/>
                <a:gd name="connsiteY2" fmla="*/ 5110 h 22130"/>
                <a:gd name="connsiteX3" fmla="*/ 14659 w 14864"/>
                <a:gd name="connsiteY3" fmla="*/ 22130 h 22130"/>
                <a:gd name="connsiteX0" fmla="*/ 0 w 14864"/>
                <a:gd name="connsiteY0" fmla="*/ 10596 h 24217"/>
                <a:gd name="connsiteX1" fmla="*/ 8214 w 14864"/>
                <a:gd name="connsiteY1" fmla="*/ 1305 h 24217"/>
                <a:gd name="connsiteX2" fmla="*/ 14082 w 14864"/>
                <a:gd name="connsiteY2" fmla="*/ 7197 h 24217"/>
                <a:gd name="connsiteX3" fmla="*/ 14659 w 14864"/>
                <a:gd name="connsiteY3" fmla="*/ 24217 h 24217"/>
                <a:gd name="connsiteX0" fmla="*/ 0 w 14864"/>
                <a:gd name="connsiteY0" fmla="*/ 10615 h 24236"/>
                <a:gd name="connsiteX1" fmla="*/ 8214 w 14864"/>
                <a:gd name="connsiteY1" fmla="*/ 1324 h 24236"/>
                <a:gd name="connsiteX2" fmla="*/ 14082 w 14864"/>
                <a:gd name="connsiteY2" fmla="*/ 7216 h 24236"/>
                <a:gd name="connsiteX3" fmla="*/ 14659 w 14864"/>
                <a:gd name="connsiteY3" fmla="*/ 24236 h 2423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659"/>
                <a:gd name="connsiteY0" fmla="*/ 9865 h 23486"/>
                <a:gd name="connsiteX1" fmla="*/ 8214 w 14659"/>
                <a:gd name="connsiteY1" fmla="*/ 574 h 23486"/>
                <a:gd name="connsiteX2" fmla="*/ 14082 w 14659"/>
                <a:gd name="connsiteY2" fmla="*/ 6466 h 23486"/>
                <a:gd name="connsiteX3" fmla="*/ 14659 w 14659"/>
                <a:gd name="connsiteY3" fmla="*/ 23486 h 23486"/>
                <a:gd name="connsiteX0" fmla="*/ 0 w 14844"/>
                <a:gd name="connsiteY0" fmla="*/ 9865 h 23486"/>
                <a:gd name="connsiteX1" fmla="*/ 8214 w 14844"/>
                <a:gd name="connsiteY1" fmla="*/ 574 h 23486"/>
                <a:gd name="connsiteX2" fmla="*/ 14082 w 14844"/>
                <a:gd name="connsiteY2" fmla="*/ 6466 h 23486"/>
                <a:gd name="connsiteX3" fmla="*/ 14659 w 14844"/>
                <a:gd name="connsiteY3" fmla="*/ 23486 h 23486"/>
                <a:gd name="connsiteX0" fmla="*/ 0 w 14659"/>
                <a:gd name="connsiteY0" fmla="*/ 9865 h 23486"/>
                <a:gd name="connsiteX1" fmla="*/ 8214 w 14659"/>
                <a:gd name="connsiteY1" fmla="*/ 574 h 23486"/>
                <a:gd name="connsiteX2" fmla="*/ 12908 w 14659"/>
                <a:gd name="connsiteY2" fmla="*/ 3520 h 23486"/>
                <a:gd name="connsiteX3" fmla="*/ 14659 w 14659"/>
                <a:gd name="connsiteY3" fmla="*/ 23486 h 23486"/>
                <a:gd name="connsiteX0" fmla="*/ 0 w 14659"/>
                <a:gd name="connsiteY0" fmla="*/ 11631 h 25252"/>
                <a:gd name="connsiteX1" fmla="*/ 8214 w 14659"/>
                <a:gd name="connsiteY1" fmla="*/ 2340 h 25252"/>
                <a:gd name="connsiteX2" fmla="*/ 12908 w 14659"/>
                <a:gd name="connsiteY2" fmla="*/ 5286 h 25252"/>
                <a:gd name="connsiteX3" fmla="*/ 14659 w 14659"/>
                <a:gd name="connsiteY3" fmla="*/ 25252 h 25252"/>
                <a:gd name="connsiteX0" fmla="*/ 0 w 14659"/>
                <a:gd name="connsiteY0" fmla="*/ 12438 h 26059"/>
                <a:gd name="connsiteX1" fmla="*/ 8214 w 14659"/>
                <a:gd name="connsiteY1" fmla="*/ 3147 h 26059"/>
                <a:gd name="connsiteX2" fmla="*/ 12908 w 14659"/>
                <a:gd name="connsiteY2" fmla="*/ 6093 h 26059"/>
                <a:gd name="connsiteX3" fmla="*/ 14659 w 14659"/>
                <a:gd name="connsiteY3" fmla="*/ 26059 h 26059"/>
                <a:gd name="connsiteX0" fmla="*/ 0 w 14659"/>
                <a:gd name="connsiteY0" fmla="*/ 8615 h 22236"/>
                <a:gd name="connsiteX1" fmla="*/ 12908 w 14659"/>
                <a:gd name="connsiteY1" fmla="*/ 2270 h 22236"/>
                <a:gd name="connsiteX2" fmla="*/ 14659 w 14659"/>
                <a:gd name="connsiteY2" fmla="*/ 22236 h 22236"/>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291 h 22912"/>
                <a:gd name="connsiteX1" fmla="*/ 10561 w 14659"/>
                <a:gd name="connsiteY1" fmla="*/ 0 h 22912"/>
                <a:gd name="connsiteX2" fmla="*/ 14659 w 14659"/>
                <a:gd name="connsiteY2" fmla="*/ 22912 h 22912"/>
                <a:gd name="connsiteX0" fmla="*/ 0 w 14659"/>
                <a:gd name="connsiteY0" fmla="*/ 9291 h 22912"/>
                <a:gd name="connsiteX1" fmla="*/ 10561 w 14659"/>
                <a:gd name="connsiteY1" fmla="*/ 0 h 22912"/>
                <a:gd name="connsiteX2" fmla="*/ 14659 w 14659"/>
                <a:gd name="connsiteY2" fmla="*/ 22912 h 22912"/>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5101"/>
                <a:gd name="connsiteY0" fmla="*/ 8257 h 21878"/>
                <a:gd name="connsiteX1" fmla="*/ 10561 w 15101"/>
                <a:gd name="connsiteY1" fmla="*/ 1912 h 21878"/>
                <a:gd name="connsiteX2" fmla="*/ 14659 w 15101"/>
                <a:gd name="connsiteY2" fmla="*/ 21878 h 21878"/>
                <a:gd name="connsiteX0" fmla="*/ 0 w 16291"/>
                <a:gd name="connsiteY0" fmla="*/ 8257 h 21878"/>
                <a:gd name="connsiteX1" fmla="*/ 10561 w 16291"/>
                <a:gd name="connsiteY1" fmla="*/ 1912 h 21878"/>
                <a:gd name="connsiteX2" fmla="*/ 14659 w 16291"/>
                <a:gd name="connsiteY2" fmla="*/ 21878 h 21878"/>
                <a:gd name="connsiteX0" fmla="*/ 0 w 15439"/>
                <a:gd name="connsiteY0" fmla="*/ 8257 h 21878"/>
                <a:gd name="connsiteX1" fmla="*/ 10561 w 15439"/>
                <a:gd name="connsiteY1" fmla="*/ 1912 h 21878"/>
                <a:gd name="connsiteX2" fmla="*/ 14659 w 15439"/>
                <a:gd name="connsiteY2" fmla="*/ 21878 h 21878"/>
                <a:gd name="connsiteX0" fmla="*/ 0 w 15439"/>
                <a:gd name="connsiteY0" fmla="*/ 8257 h 21878"/>
                <a:gd name="connsiteX1" fmla="*/ 8214 w 15439"/>
                <a:gd name="connsiteY1" fmla="*/ 1912 h 21878"/>
                <a:gd name="connsiteX2" fmla="*/ 14659 w 15439"/>
                <a:gd name="connsiteY2" fmla="*/ 21878 h 21878"/>
                <a:gd name="connsiteX0" fmla="*/ 0 w 15439"/>
                <a:gd name="connsiteY0" fmla="*/ 8257 h 21878"/>
                <a:gd name="connsiteX1" fmla="*/ 8214 w 15439"/>
                <a:gd name="connsiteY1" fmla="*/ 7804 h 21878"/>
                <a:gd name="connsiteX2" fmla="*/ 14659 w 15439"/>
                <a:gd name="connsiteY2" fmla="*/ 21878 h 21878"/>
                <a:gd name="connsiteX0" fmla="*/ 0 w 15439"/>
                <a:gd name="connsiteY0" fmla="*/ 2440 h 16061"/>
                <a:gd name="connsiteX1" fmla="*/ 8214 w 15439"/>
                <a:gd name="connsiteY1" fmla="*/ 1987 h 16061"/>
                <a:gd name="connsiteX2" fmla="*/ 14659 w 15439"/>
                <a:gd name="connsiteY2" fmla="*/ 16061 h 16061"/>
                <a:gd name="connsiteX0" fmla="*/ 0 w 15439"/>
                <a:gd name="connsiteY0" fmla="*/ 3528 h 17149"/>
                <a:gd name="connsiteX1" fmla="*/ 8214 w 15439"/>
                <a:gd name="connsiteY1" fmla="*/ 129 h 17149"/>
                <a:gd name="connsiteX2" fmla="*/ 14659 w 15439"/>
                <a:gd name="connsiteY2" fmla="*/ 17149 h 17149"/>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7960 w 15439"/>
                <a:gd name="connsiteY1" fmla="*/ 2970 h 17430"/>
                <a:gd name="connsiteX2" fmla="*/ 14659 w 15439"/>
                <a:gd name="connsiteY2" fmla="*/ 17430 h 17430"/>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039"/>
                <a:gd name="connsiteY0" fmla="*/ 1060 h 14681"/>
                <a:gd name="connsiteX1" fmla="*/ 8044 w 15039"/>
                <a:gd name="connsiteY1" fmla="*/ 832 h 14681"/>
                <a:gd name="connsiteX2" fmla="*/ 14659 w 15039"/>
                <a:gd name="connsiteY2" fmla="*/ 14681 h 14681"/>
                <a:gd name="connsiteX0" fmla="*/ 0 w 15039"/>
                <a:gd name="connsiteY0" fmla="*/ 6130 h 19751"/>
                <a:gd name="connsiteX1" fmla="*/ 7898 w 15039"/>
                <a:gd name="connsiteY1" fmla="*/ 105 h 19751"/>
                <a:gd name="connsiteX2" fmla="*/ 14659 w 15039"/>
                <a:gd name="connsiteY2" fmla="*/ 19751 h 19751"/>
                <a:gd name="connsiteX0" fmla="*/ 0 w 15039"/>
                <a:gd name="connsiteY0" fmla="*/ 6025 h 19646"/>
                <a:gd name="connsiteX1" fmla="*/ 7898 w 15039"/>
                <a:gd name="connsiteY1" fmla="*/ 0 h 19646"/>
                <a:gd name="connsiteX2" fmla="*/ 14659 w 15039"/>
                <a:gd name="connsiteY2" fmla="*/ 19646 h 19646"/>
                <a:gd name="connsiteX0" fmla="*/ 0 w 15039"/>
                <a:gd name="connsiteY0" fmla="*/ 6025 h 19646"/>
                <a:gd name="connsiteX1" fmla="*/ 7898 w 15039"/>
                <a:gd name="connsiteY1" fmla="*/ 0 h 19646"/>
                <a:gd name="connsiteX2" fmla="*/ 14659 w 15039"/>
                <a:gd name="connsiteY2" fmla="*/ 19646 h 19646"/>
                <a:gd name="connsiteX0" fmla="*/ 0 w 12972"/>
                <a:gd name="connsiteY0" fmla="*/ 8923 h 14681"/>
                <a:gd name="connsiteX1" fmla="*/ 7898 w 12972"/>
                <a:gd name="connsiteY1" fmla="*/ 2898 h 14681"/>
                <a:gd name="connsiteX2" fmla="*/ 12592 w 12972"/>
                <a:gd name="connsiteY2" fmla="*/ 14681 h 14681"/>
                <a:gd name="connsiteX0" fmla="*/ 0 w 12972"/>
                <a:gd name="connsiteY0" fmla="*/ 8923 h 14681"/>
                <a:gd name="connsiteX1" fmla="*/ 7263 w 12972"/>
                <a:gd name="connsiteY1" fmla="*/ 1519 h 14681"/>
                <a:gd name="connsiteX2" fmla="*/ 12592 w 12972"/>
                <a:gd name="connsiteY2" fmla="*/ 14681 h 14681"/>
                <a:gd name="connsiteX0" fmla="*/ 0 w 12592"/>
                <a:gd name="connsiteY0" fmla="*/ 7404 h 13162"/>
                <a:gd name="connsiteX1" fmla="*/ 7263 w 12592"/>
                <a:gd name="connsiteY1" fmla="*/ 0 h 13162"/>
                <a:gd name="connsiteX2" fmla="*/ 12592 w 12592"/>
                <a:gd name="connsiteY2" fmla="*/ 13162 h 13162"/>
                <a:gd name="connsiteX0" fmla="*/ 0 w 12592"/>
                <a:gd name="connsiteY0" fmla="*/ 7404 h 13162"/>
                <a:gd name="connsiteX1" fmla="*/ 7263 w 12592"/>
                <a:gd name="connsiteY1" fmla="*/ 0 h 13162"/>
                <a:gd name="connsiteX2" fmla="*/ 12592 w 12592"/>
                <a:gd name="connsiteY2" fmla="*/ 13162 h 13162"/>
                <a:gd name="connsiteX0" fmla="*/ 0 w 12592"/>
                <a:gd name="connsiteY0" fmla="*/ 0 h 5758"/>
                <a:gd name="connsiteX1" fmla="*/ 12592 w 12592"/>
                <a:gd name="connsiteY1" fmla="*/ 5758 h 5758"/>
                <a:gd name="connsiteX0" fmla="*/ 0 w 7431"/>
                <a:gd name="connsiteY0" fmla="*/ 15815 h 15815"/>
                <a:gd name="connsiteX1" fmla="*/ 7431 w 7431"/>
                <a:gd name="connsiteY1" fmla="*/ 0 h 15815"/>
                <a:gd name="connsiteX0" fmla="*/ 0 w 10000"/>
                <a:gd name="connsiteY0" fmla="*/ 12306 h 12306"/>
                <a:gd name="connsiteX1" fmla="*/ 10000 w 10000"/>
                <a:gd name="connsiteY1" fmla="*/ 2306 h 12306"/>
                <a:gd name="connsiteX0" fmla="*/ 0 w 10000"/>
                <a:gd name="connsiteY0" fmla="*/ 12306 h 12306"/>
                <a:gd name="connsiteX1" fmla="*/ 10000 w 10000"/>
                <a:gd name="connsiteY1" fmla="*/ 2306 h 12306"/>
                <a:gd name="connsiteX0" fmla="*/ 0 w 9777"/>
                <a:gd name="connsiteY0" fmla="*/ 15202 h 15202"/>
                <a:gd name="connsiteX1" fmla="*/ 9777 w 9777"/>
                <a:gd name="connsiteY1" fmla="*/ 2306 h 15202"/>
              </a:gdLst>
              <a:ahLst/>
              <a:cxnLst>
                <a:cxn ang="0">
                  <a:pos x="connsiteX0" y="connsiteY0"/>
                </a:cxn>
                <a:cxn ang="0">
                  <a:pos x="connsiteX1" y="connsiteY1"/>
                </a:cxn>
              </a:cxnLst>
              <a:rect l="l" t="t" r="r" b="b"/>
              <a:pathLst>
                <a:path w="9777" h="15202">
                  <a:moveTo>
                    <a:pt x="0" y="15202"/>
                  </a:moveTo>
                  <a:cubicBezTo>
                    <a:pt x="1752" y="8160"/>
                    <a:pt x="5311" y="0"/>
                    <a:pt x="9777" y="2306"/>
                  </a:cubicBezTo>
                </a:path>
              </a:pathLst>
            </a:custGeom>
            <a:noFill/>
            <a:ln w="38100" cap="flat" cmpd="sng">
              <a:solidFill>
                <a:srgbClr val="FFC000"/>
              </a:solidFill>
              <a:prstDash val="solid"/>
              <a:round/>
              <a:headEnd type="oval" w="med" len="med"/>
              <a:tailEnd type="triangle" w="lg" len="lg"/>
            </a:ln>
          </p:spPr>
          <p:txBody>
            <a:bodyPr tIns="91440" bIns="91440" anchor="ctr"/>
            <a:lstStyle/>
            <a:p>
              <a:endParaRPr lang="en-US" dirty="0">
                <a:latin typeface="Times New Roman" panose="02020603050405020304" pitchFamily="18" charset="0"/>
              </a:endParaRPr>
            </a:p>
          </p:txBody>
        </p:sp>
      </p:grpSp>
      <p:grpSp>
        <p:nvGrpSpPr>
          <p:cNvPr id="44" name="Group 43"/>
          <p:cNvGrpSpPr/>
          <p:nvPr/>
        </p:nvGrpSpPr>
        <p:grpSpPr>
          <a:xfrm>
            <a:off x="3990757" y="2423463"/>
            <a:ext cx="3312368" cy="648072"/>
            <a:chOff x="539552" y="1628800"/>
            <a:chExt cx="3312368" cy="648072"/>
          </a:xfrm>
        </p:grpSpPr>
        <p:sp>
          <p:nvSpPr>
            <p:cNvPr id="39" name="Rectangle 38"/>
            <p:cNvSpPr>
              <a:spLocks noChangeArrowheads="1"/>
            </p:cNvSpPr>
            <p:nvPr/>
          </p:nvSpPr>
          <p:spPr bwMode="auto">
            <a:xfrm>
              <a:off x="539552" y="1628800"/>
              <a:ext cx="2091658" cy="287428"/>
            </a:xfrm>
            <a:prstGeom prst="rect">
              <a:avLst/>
            </a:prstGeom>
            <a:solidFill>
              <a:srgbClr val="0066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6600"/>
              </a:extrusionClr>
            </a:sp3d>
          </p:spPr>
          <p:txBody>
            <a:bodyPr wrap="none" anchor="ctr">
              <a:flatTx/>
            </a:bodyPr>
            <a:lstStyle/>
            <a:p>
              <a:pPr>
                <a:buNone/>
              </a:pPr>
              <a:r>
                <a:rPr lang="en-US" dirty="0">
                  <a:solidFill>
                    <a:srgbClr val="66FF33"/>
                  </a:solidFill>
                  <a:latin typeface="Times New Roman" panose="02020603050405020304" pitchFamily="18" charset="0"/>
                  <a:cs typeface="Times New Roman" panose="02020603050405020304" pitchFamily="18" charset="0"/>
                </a:rPr>
                <a:t>aPtrToTheList</a:t>
              </a:r>
            </a:p>
          </p:txBody>
        </p:sp>
        <p:sp>
          <p:nvSpPr>
            <p:cNvPr id="43" name="Freeform 29"/>
            <p:cNvSpPr>
              <a:spLocks/>
            </p:cNvSpPr>
            <p:nvPr/>
          </p:nvSpPr>
          <p:spPr bwMode="auto">
            <a:xfrm>
              <a:off x="2509596" y="1775138"/>
              <a:ext cx="1342324" cy="501734"/>
            </a:xfrm>
            <a:custGeom>
              <a:avLst/>
              <a:gdLst>
                <a:gd name="T0" fmla="*/ 0 w 338"/>
                <a:gd name="T1" fmla="*/ 7 h 230"/>
                <a:gd name="T2" fmla="*/ 211 w 338"/>
                <a:gd name="T3" fmla="*/ 10 h 230"/>
                <a:gd name="T4" fmla="*/ 319 w 338"/>
                <a:gd name="T5" fmla="*/ 67 h 230"/>
                <a:gd name="T6" fmla="*/ 328 w 338"/>
                <a:gd name="T7" fmla="*/ 230 h 230"/>
                <a:gd name="T8" fmla="*/ 0 60000 65536"/>
                <a:gd name="T9" fmla="*/ 0 60000 65536"/>
                <a:gd name="T10" fmla="*/ 0 60000 65536"/>
                <a:gd name="T11" fmla="*/ 0 60000 65536"/>
                <a:gd name="T12" fmla="*/ 0 w 338"/>
                <a:gd name="T13" fmla="*/ 0 h 230"/>
                <a:gd name="T14" fmla="*/ 338 w 338"/>
                <a:gd name="T15" fmla="*/ 230 h 230"/>
                <a:gd name="connsiteX0" fmla="*/ 0 w 10384"/>
                <a:gd name="connsiteY0" fmla="*/ 2711 h 12407"/>
                <a:gd name="connsiteX1" fmla="*/ 4026 w 10384"/>
                <a:gd name="connsiteY1" fmla="*/ 435 h 12407"/>
                <a:gd name="connsiteX2" fmla="*/ 9438 w 10384"/>
                <a:gd name="connsiteY2" fmla="*/ 5320 h 12407"/>
                <a:gd name="connsiteX3" fmla="*/ 9704 w 10384"/>
                <a:gd name="connsiteY3" fmla="*/ 12407 h 12407"/>
                <a:gd name="connsiteX0" fmla="*/ 0 w 10340"/>
                <a:gd name="connsiteY0" fmla="*/ 4271 h 13967"/>
                <a:gd name="connsiteX1" fmla="*/ 4026 w 10340"/>
                <a:gd name="connsiteY1" fmla="*/ 1995 h 13967"/>
                <a:gd name="connsiteX2" fmla="*/ 9394 w 10340"/>
                <a:gd name="connsiteY2" fmla="*/ 1995 h 13967"/>
                <a:gd name="connsiteX3" fmla="*/ 9704 w 10340"/>
                <a:gd name="connsiteY3" fmla="*/ 13967 h 13967"/>
                <a:gd name="connsiteX0" fmla="*/ 0 w 11436"/>
                <a:gd name="connsiteY0" fmla="*/ 3232 h 6695"/>
                <a:gd name="connsiteX1" fmla="*/ 4026 w 11436"/>
                <a:gd name="connsiteY1" fmla="*/ 956 h 6695"/>
                <a:gd name="connsiteX2" fmla="*/ 9394 w 11436"/>
                <a:gd name="connsiteY2" fmla="*/ 956 h 6695"/>
                <a:gd name="connsiteX3" fmla="*/ 11436 w 11436"/>
                <a:gd name="connsiteY3" fmla="*/ 6695 h 6695"/>
                <a:gd name="connsiteX0" fmla="*/ 0 w 10809"/>
                <a:gd name="connsiteY0" fmla="*/ 9251 h 14424"/>
                <a:gd name="connsiteX1" fmla="*/ 3520 w 10809"/>
                <a:gd name="connsiteY1" fmla="*/ 5852 h 14424"/>
                <a:gd name="connsiteX2" fmla="*/ 9729 w 10809"/>
                <a:gd name="connsiteY2" fmla="*/ 1428 h 14424"/>
                <a:gd name="connsiteX3" fmla="*/ 10000 w 10809"/>
                <a:gd name="connsiteY3" fmla="*/ 14424 h 14424"/>
                <a:gd name="connsiteX0" fmla="*/ 0 w 10618"/>
                <a:gd name="connsiteY0" fmla="*/ 9091 h 14264"/>
                <a:gd name="connsiteX1" fmla="*/ 3520 w 10618"/>
                <a:gd name="connsiteY1" fmla="*/ 5692 h 14264"/>
                <a:gd name="connsiteX2" fmla="*/ 9538 w 10618"/>
                <a:gd name="connsiteY2" fmla="*/ 1428 h 14264"/>
                <a:gd name="connsiteX3" fmla="*/ 10000 w 10618"/>
                <a:gd name="connsiteY3" fmla="*/ 14264 h 14264"/>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4082"/>
                <a:gd name="connsiteY0" fmla="*/ 11994 h 26269"/>
                <a:gd name="connsiteX1" fmla="*/ 4985 w 14082"/>
                <a:gd name="connsiteY1" fmla="*/ 283 h 26269"/>
                <a:gd name="connsiteX2" fmla="*/ 9538 w 14082"/>
                <a:gd name="connsiteY2" fmla="*/ 4331 h 26269"/>
                <a:gd name="connsiteX3" fmla="*/ 14082 w 14082"/>
                <a:gd name="connsiteY3" fmla="*/ 26269 h 26269"/>
                <a:gd name="connsiteX0" fmla="*/ 0 w 14082"/>
                <a:gd name="connsiteY0" fmla="*/ 11711 h 25986"/>
                <a:gd name="connsiteX1" fmla="*/ 4985 w 14082"/>
                <a:gd name="connsiteY1" fmla="*/ 0 h 25986"/>
                <a:gd name="connsiteX2" fmla="*/ 14082 w 14082"/>
                <a:gd name="connsiteY2" fmla="*/ 25986 h 25986"/>
                <a:gd name="connsiteX0" fmla="*/ 0 w 14082"/>
                <a:gd name="connsiteY0" fmla="*/ 7210 h 21485"/>
                <a:gd name="connsiteX1" fmla="*/ 9388 w 14082"/>
                <a:gd name="connsiteY1" fmla="*/ 865 h 21485"/>
                <a:gd name="connsiteX2" fmla="*/ 14082 w 14082"/>
                <a:gd name="connsiteY2" fmla="*/ 21485 h 21485"/>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2908 w 14082"/>
                <a:gd name="connsiteY2" fmla="*/ 8055 h 22784"/>
                <a:gd name="connsiteX3" fmla="*/ 14082 w 14082"/>
                <a:gd name="connsiteY3" fmla="*/ 22784 h 22784"/>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864"/>
                <a:gd name="connsiteY0" fmla="*/ 8509 h 22130"/>
                <a:gd name="connsiteX1" fmla="*/ 9388 w 14864"/>
                <a:gd name="connsiteY1" fmla="*/ 2164 h 22130"/>
                <a:gd name="connsiteX2" fmla="*/ 14082 w 14864"/>
                <a:gd name="connsiteY2" fmla="*/ 5110 h 22130"/>
                <a:gd name="connsiteX3" fmla="*/ 14659 w 14864"/>
                <a:gd name="connsiteY3" fmla="*/ 22130 h 22130"/>
                <a:gd name="connsiteX0" fmla="*/ 0 w 14864"/>
                <a:gd name="connsiteY0" fmla="*/ 10596 h 24217"/>
                <a:gd name="connsiteX1" fmla="*/ 8214 w 14864"/>
                <a:gd name="connsiteY1" fmla="*/ 1305 h 24217"/>
                <a:gd name="connsiteX2" fmla="*/ 14082 w 14864"/>
                <a:gd name="connsiteY2" fmla="*/ 7197 h 24217"/>
                <a:gd name="connsiteX3" fmla="*/ 14659 w 14864"/>
                <a:gd name="connsiteY3" fmla="*/ 24217 h 24217"/>
                <a:gd name="connsiteX0" fmla="*/ 0 w 14864"/>
                <a:gd name="connsiteY0" fmla="*/ 10615 h 24236"/>
                <a:gd name="connsiteX1" fmla="*/ 8214 w 14864"/>
                <a:gd name="connsiteY1" fmla="*/ 1324 h 24236"/>
                <a:gd name="connsiteX2" fmla="*/ 14082 w 14864"/>
                <a:gd name="connsiteY2" fmla="*/ 7216 h 24236"/>
                <a:gd name="connsiteX3" fmla="*/ 14659 w 14864"/>
                <a:gd name="connsiteY3" fmla="*/ 24236 h 2423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659"/>
                <a:gd name="connsiteY0" fmla="*/ 9865 h 23486"/>
                <a:gd name="connsiteX1" fmla="*/ 8214 w 14659"/>
                <a:gd name="connsiteY1" fmla="*/ 574 h 23486"/>
                <a:gd name="connsiteX2" fmla="*/ 14082 w 14659"/>
                <a:gd name="connsiteY2" fmla="*/ 6466 h 23486"/>
                <a:gd name="connsiteX3" fmla="*/ 14659 w 14659"/>
                <a:gd name="connsiteY3" fmla="*/ 23486 h 23486"/>
                <a:gd name="connsiteX0" fmla="*/ 0 w 14844"/>
                <a:gd name="connsiteY0" fmla="*/ 9865 h 23486"/>
                <a:gd name="connsiteX1" fmla="*/ 8214 w 14844"/>
                <a:gd name="connsiteY1" fmla="*/ 574 h 23486"/>
                <a:gd name="connsiteX2" fmla="*/ 14082 w 14844"/>
                <a:gd name="connsiteY2" fmla="*/ 6466 h 23486"/>
                <a:gd name="connsiteX3" fmla="*/ 14659 w 14844"/>
                <a:gd name="connsiteY3" fmla="*/ 23486 h 23486"/>
                <a:gd name="connsiteX0" fmla="*/ 0 w 14659"/>
                <a:gd name="connsiteY0" fmla="*/ 9865 h 23486"/>
                <a:gd name="connsiteX1" fmla="*/ 8214 w 14659"/>
                <a:gd name="connsiteY1" fmla="*/ 574 h 23486"/>
                <a:gd name="connsiteX2" fmla="*/ 12908 w 14659"/>
                <a:gd name="connsiteY2" fmla="*/ 3520 h 23486"/>
                <a:gd name="connsiteX3" fmla="*/ 14659 w 14659"/>
                <a:gd name="connsiteY3" fmla="*/ 23486 h 23486"/>
                <a:gd name="connsiteX0" fmla="*/ 0 w 14659"/>
                <a:gd name="connsiteY0" fmla="*/ 11631 h 25252"/>
                <a:gd name="connsiteX1" fmla="*/ 8214 w 14659"/>
                <a:gd name="connsiteY1" fmla="*/ 2340 h 25252"/>
                <a:gd name="connsiteX2" fmla="*/ 12908 w 14659"/>
                <a:gd name="connsiteY2" fmla="*/ 5286 h 25252"/>
                <a:gd name="connsiteX3" fmla="*/ 14659 w 14659"/>
                <a:gd name="connsiteY3" fmla="*/ 25252 h 25252"/>
                <a:gd name="connsiteX0" fmla="*/ 0 w 14659"/>
                <a:gd name="connsiteY0" fmla="*/ 12438 h 26059"/>
                <a:gd name="connsiteX1" fmla="*/ 8214 w 14659"/>
                <a:gd name="connsiteY1" fmla="*/ 3147 h 26059"/>
                <a:gd name="connsiteX2" fmla="*/ 12908 w 14659"/>
                <a:gd name="connsiteY2" fmla="*/ 6093 h 26059"/>
                <a:gd name="connsiteX3" fmla="*/ 14659 w 14659"/>
                <a:gd name="connsiteY3" fmla="*/ 26059 h 26059"/>
                <a:gd name="connsiteX0" fmla="*/ 0 w 14659"/>
                <a:gd name="connsiteY0" fmla="*/ 8615 h 22236"/>
                <a:gd name="connsiteX1" fmla="*/ 12908 w 14659"/>
                <a:gd name="connsiteY1" fmla="*/ 2270 h 22236"/>
                <a:gd name="connsiteX2" fmla="*/ 14659 w 14659"/>
                <a:gd name="connsiteY2" fmla="*/ 22236 h 22236"/>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291 h 22912"/>
                <a:gd name="connsiteX1" fmla="*/ 10561 w 14659"/>
                <a:gd name="connsiteY1" fmla="*/ 0 h 22912"/>
                <a:gd name="connsiteX2" fmla="*/ 14659 w 14659"/>
                <a:gd name="connsiteY2" fmla="*/ 22912 h 22912"/>
                <a:gd name="connsiteX0" fmla="*/ 0 w 14659"/>
                <a:gd name="connsiteY0" fmla="*/ 9291 h 22912"/>
                <a:gd name="connsiteX1" fmla="*/ 10561 w 14659"/>
                <a:gd name="connsiteY1" fmla="*/ 0 h 22912"/>
                <a:gd name="connsiteX2" fmla="*/ 14659 w 14659"/>
                <a:gd name="connsiteY2" fmla="*/ 22912 h 22912"/>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5101"/>
                <a:gd name="connsiteY0" fmla="*/ 8257 h 21878"/>
                <a:gd name="connsiteX1" fmla="*/ 10561 w 15101"/>
                <a:gd name="connsiteY1" fmla="*/ 1912 h 21878"/>
                <a:gd name="connsiteX2" fmla="*/ 14659 w 15101"/>
                <a:gd name="connsiteY2" fmla="*/ 21878 h 21878"/>
                <a:gd name="connsiteX0" fmla="*/ 0 w 16291"/>
                <a:gd name="connsiteY0" fmla="*/ 8257 h 21878"/>
                <a:gd name="connsiteX1" fmla="*/ 10561 w 16291"/>
                <a:gd name="connsiteY1" fmla="*/ 1912 h 21878"/>
                <a:gd name="connsiteX2" fmla="*/ 14659 w 16291"/>
                <a:gd name="connsiteY2" fmla="*/ 21878 h 21878"/>
                <a:gd name="connsiteX0" fmla="*/ 0 w 15439"/>
                <a:gd name="connsiteY0" fmla="*/ 8257 h 21878"/>
                <a:gd name="connsiteX1" fmla="*/ 10561 w 15439"/>
                <a:gd name="connsiteY1" fmla="*/ 1912 h 21878"/>
                <a:gd name="connsiteX2" fmla="*/ 14659 w 15439"/>
                <a:gd name="connsiteY2" fmla="*/ 21878 h 21878"/>
                <a:gd name="connsiteX0" fmla="*/ 0 w 15439"/>
                <a:gd name="connsiteY0" fmla="*/ 8257 h 21878"/>
                <a:gd name="connsiteX1" fmla="*/ 8214 w 15439"/>
                <a:gd name="connsiteY1" fmla="*/ 1912 h 21878"/>
                <a:gd name="connsiteX2" fmla="*/ 14659 w 15439"/>
                <a:gd name="connsiteY2" fmla="*/ 21878 h 21878"/>
                <a:gd name="connsiteX0" fmla="*/ 0 w 15439"/>
                <a:gd name="connsiteY0" fmla="*/ 8257 h 21878"/>
                <a:gd name="connsiteX1" fmla="*/ 8214 w 15439"/>
                <a:gd name="connsiteY1" fmla="*/ 7804 h 21878"/>
                <a:gd name="connsiteX2" fmla="*/ 14659 w 15439"/>
                <a:gd name="connsiteY2" fmla="*/ 21878 h 21878"/>
                <a:gd name="connsiteX0" fmla="*/ 0 w 15439"/>
                <a:gd name="connsiteY0" fmla="*/ 2440 h 16061"/>
                <a:gd name="connsiteX1" fmla="*/ 8214 w 15439"/>
                <a:gd name="connsiteY1" fmla="*/ 1987 h 16061"/>
                <a:gd name="connsiteX2" fmla="*/ 14659 w 15439"/>
                <a:gd name="connsiteY2" fmla="*/ 16061 h 16061"/>
                <a:gd name="connsiteX0" fmla="*/ 0 w 15439"/>
                <a:gd name="connsiteY0" fmla="*/ 3528 h 17149"/>
                <a:gd name="connsiteX1" fmla="*/ 8214 w 15439"/>
                <a:gd name="connsiteY1" fmla="*/ 129 h 17149"/>
                <a:gd name="connsiteX2" fmla="*/ 14659 w 15439"/>
                <a:gd name="connsiteY2" fmla="*/ 17149 h 17149"/>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7960 w 15439"/>
                <a:gd name="connsiteY1" fmla="*/ 2970 h 17430"/>
                <a:gd name="connsiteX2" fmla="*/ 14659 w 15439"/>
                <a:gd name="connsiteY2" fmla="*/ 17430 h 17430"/>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039"/>
                <a:gd name="connsiteY0" fmla="*/ 1060 h 14681"/>
                <a:gd name="connsiteX1" fmla="*/ 8044 w 15039"/>
                <a:gd name="connsiteY1" fmla="*/ 832 h 14681"/>
                <a:gd name="connsiteX2" fmla="*/ 14659 w 15039"/>
                <a:gd name="connsiteY2" fmla="*/ 14681 h 14681"/>
                <a:gd name="connsiteX0" fmla="*/ 0 w 15039"/>
                <a:gd name="connsiteY0" fmla="*/ 6130 h 19751"/>
                <a:gd name="connsiteX1" fmla="*/ 7898 w 15039"/>
                <a:gd name="connsiteY1" fmla="*/ 105 h 19751"/>
                <a:gd name="connsiteX2" fmla="*/ 14659 w 15039"/>
                <a:gd name="connsiteY2" fmla="*/ 19751 h 19751"/>
                <a:gd name="connsiteX0" fmla="*/ 0 w 15039"/>
                <a:gd name="connsiteY0" fmla="*/ 6025 h 19646"/>
                <a:gd name="connsiteX1" fmla="*/ 7898 w 15039"/>
                <a:gd name="connsiteY1" fmla="*/ 0 h 19646"/>
                <a:gd name="connsiteX2" fmla="*/ 14659 w 15039"/>
                <a:gd name="connsiteY2" fmla="*/ 19646 h 19646"/>
                <a:gd name="connsiteX0" fmla="*/ 0 w 15039"/>
                <a:gd name="connsiteY0" fmla="*/ 6025 h 19646"/>
                <a:gd name="connsiteX1" fmla="*/ 7898 w 15039"/>
                <a:gd name="connsiteY1" fmla="*/ 0 h 19646"/>
                <a:gd name="connsiteX2" fmla="*/ 14659 w 15039"/>
                <a:gd name="connsiteY2" fmla="*/ 19646 h 19646"/>
                <a:gd name="connsiteX0" fmla="*/ 0 w 12972"/>
                <a:gd name="connsiteY0" fmla="*/ 8923 h 14681"/>
                <a:gd name="connsiteX1" fmla="*/ 7898 w 12972"/>
                <a:gd name="connsiteY1" fmla="*/ 2898 h 14681"/>
                <a:gd name="connsiteX2" fmla="*/ 12592 w 12972"/>
                <a:gd name="connsiteY2" fmla="*/ 14681 h 14681"/>
                <a:gd name="connsiteX0" fmla="*/ 0 w 12972"/>
                <a:gd name="connsiteY0" fmla="*/ 8923 h 14681"/>
                <a:gd name="connsiteX1" fmla="*/ 7263 w 12972"/>
                <a:gd name="connsiteY1" fmla="*/ 1519 h 14681"/>
                <a:gd name="connsiteX2" fmla="*/ 12592 w 12972"/>
                <a:gd name="connsiteY2" fmla="*/ 14681 h 14681"/>
                <a:gd name="connsiteX0" fmla="*/ 0 w 12592"/>
                <a:gd name="connsiteY0" fmla="*/ 7404 h 13162"/>
                <a:gd name="connsiteX1" fmla="*/ 7263 w 12592"/>
                <a:gd name="connsiteY1" fmla="*/ 0 h 13162"/>
                <a:gd name="connsiteX2" fmla="*/ 12592 w 12592"/>
                <a:gd name="connsiteY2" fmla="*/ 13162 h 13162"/>
                <a:gd name="connsiteX0" fmla="*/ 0 w 12592"/>
                <a:gd name="connsiteY0" fmla="*/ 7404 h 13162"/>
                <a:gd name="connsiteX1" fmla="*/ 7263 w 12592"/>
                <a:gd name="connsiteY1" fmla="*/ 0 h 13162"/>
                <a:gd name="connsiteX2" fmla="*/ 12592 w 12592"/>
                <a:gd name="connsiteY2" fmla="*/ 13162 h 13162"/>
                <a:gd name="connsiteX0" fmla="*/ 0 w 9567"/>
                <a:gd name="connsiteY0" fmla="*/ 7404 h 26175"/>
                <a:gd name="connsiteX1" fmla="*/ 7263 w 9567"/>
                <a:gd name="connsiteY1" fmla="*/ 0 h 26175"/>
                <a:gd name="connsiteX2" fmla="*/ 4909 w 9567"/>
                <a:gd name="connsiteY2" fmla="*/ 26175 h 26175"/>
                <a:gd name="connsiteX0" fmla="*/ 0 w 10000"/>
                <a:gd name="connsiteY0" fmla="*/ 2829 h 10000"/>
                <a:gd name="connsiteX1" fmla="*/ 7592 w 10000"/>
                <a:gd name="connsiteY1" fmla="*/ 0 h 10000"/>
                <a:gd name="connsiteX2" fmla="*/ 5131 w 10000"/>
                <a:gd name="connsiteY2" fmla="*/ 10000 h 10000"/>
                <a:gd name="connsiteX0" fmla="*/ 0 w 7598"/>
                <a:gd name="connsiteY0" fmla="*/ 2032 h 9203"/>
                <a:gd name="connsiteX1" fmla="*/ 5131 w 7598"/>
                <a:gd name="connsiteY1" fmla="*/ 2451 h 9203"/>
                <a:gd name="connsiteX2" fmla="*/ 5131 w 7598"/>
                <a:gd name="connsiteY2" fmla="*/ 9203 h 9203"/>
                <a:gd name="connsiteX0" fmla="*/ 0 w 10000"/>
                <a:gd name="connsiteY0" fmla="*/ 0 h 7792"/>
                <a:gd name="connsiteX1" fmla="*/ 6753 w 10000"/>
                <a:gd name="connsiteY1" fmla="*/ 455 h 7792"/>
                <a:gd name="connsiteX2" fmla="*/ 6753 w 10000"/>
                <a:gd name="connsiteY2" fmla="*/ 7792 h 7792"/>
                <a:gd name="connsiteX0" fmla="*/ 0 w 10000"/>
                <a:gd name="connsiteY0" fmla="*/ 0 h 10000"/>
                <a:gd name="connsiteX1" fmla="*/ 6753 w 10000"/>
                <a:gd name="connsiteY1" fmla="*/ 584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6753"/>
                <a:gd name="connsiteY0" fmla="*/ 0 h 10000"/>
                <a:gd name="connsiteX1" fmla="*/ 6753 w 6753"/>
                <a:gd name="connsiteY1" fmla="*/ 10000 h 10000"/>
                <a:gd name="connsiteX0" fmla="*/ 0 w 10000"/>
                <a:gd name="connsiteY0" fmla="*/ 0 h 10000"/>
                <a:gd name="connsiteX1" fmla="*/ 10000 w 10000"/>
                <a:gd name="connsiteY1" fmla="*/ 10000 h 10000"/>
                <a:gd name="connsiteX0" fmla="*/ 0 w 10000"/>
                <a:gd name="connsiteY0" fmla="*/ 0 h 10000"/>
                <a:gd name="connsiteX1" fmla="*/ 10000 w 10000"/>
                <a:gd name="connsiteY1" fmla="*/ 10000 h 10000"/>
                <a:gd name="connsiteX0" fmla="*/ 0 w 10453"/>
                <a:gd name="connsiteY0" fmla="*/ 7375 h 8436"/>
                <a:gd name="connsiteX1" fmla="*/ 10453 w 10453"/>
                <a:gd name="connsiteY1" fmla="*/ 8375 h 8436"/>
                <a:gd name="connsiteX0" fmla="*/ 0 w 10000"/>
                <a:gd name="connsiteY0" fmla="*/ 38 h 1296"/>
                <a:gd name="connsiteX1" fmla="*/ 10000 w 10000"/>
                <a:gd name="connsiteY1" fmla="*/ 1224 h 1296"/>
                <a:gd name="connsiteX0" fmla="*/ 0 w 10000"/>
                <a:gd name="connsiteY0" fmla="*/ 18588 h 28295"/>
                <a:gd name="connsiteX1" fmla="*/ 10000 w 10000"/>
                <a:gd name="connsiteY1" fmla="*/ 9444 h 28295"/>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Lst>
              <a:ahLst/>
              <a:cxnLst>
                <a:cxn ang="0">
                  <a:pos x="connsiteX0" y="connsiteY0"/>
                </a:cxn>
                <a:cxn ang="0">
                  <a:pos x="connsiteX1" y="connsiteY1"/>
                </a:cxn>
              </a:cxnLst>
              <a:rect l="l" t="t" r="r" b="b"/>
              <a:pathLst>
                <a:path w="11368" h="72877">
                  <a:moveTo>
                    <a:pt x="0" y="0"/>
                  </a:moveTo>
                  <a:cubicBezTo>
                    <a:pt x="9539" y="36354"/>
                    <a:pt x="10426" y="29646"/>
                    <a:pt x="11368" y="72877"/>
                  </a:cubicBezTo>
                </a:path>
              </a:pathLst>
            </a:custGeom>
            <a:noFill/>
            <a:ln w="38100" cap="flat" cmpd="sng">
              <a:solidFill>
                <a:srgbClr val="FFC000"/>
              </a:solidFill>
              <a:prstDash val="solid"/>
              <a:round/>
              <a:headEnd type="oval" w="med" len="med"/>
              <a:tailEnd type="triangle" w="lg" len="lg"/>
            </a:ln>
          </p:spPr>
          <p:txBody>
            <a:bodyPr tIns="91440" bIns="91440" anchor="ctr"/>
            <a:lstStyle/>
            <a:p>
              <a:endParaRPr lang="en-US" dirty="0">
                <a:latin typeface="Times New Roman" panose="02020603050405020304" pitchFamily="18" charset="0"/>
              </a:endParaRPr>
            </a:p>
          </p:txBody>
        </p:sp>
      </p:grpSp>
      <p:sp>
        <p:nvSpPr>
          <p:cNvPr id="8" name="TextBox 7">
            <a:extLst>
              <a:ext uri="{FF2B5EF4-FFF2-40B4-BE49-F238E27FC236}">
                <a16:creationId xmlns:a16="http://schemas.microsoft.com/office/drawing/2014/main" id="{DE6EAC26-5C63-9283-0160-5320376D5134}"/>
              </a:ext>
            </a:extLst>
          </p:cNvPr>
          <p:cNvSpPr txBox="1"/>
          <p:nvPr/>
        </p:nvSpPr>
        <p:spPr>
          <a:xfrm>
            <a:off x="198124" y="3598858"/>
            <a:ext cx="11151719" cy="1384995"/>
          </a:xfrm>
          <a:prstGeom prst="rect">
            <a:avLst/>
          </a:prstGeom>
          <a:noFill/>
        </p:spPr>
        <p:txBody>
          <a:bodyPr wrap="square">
            <a:spAutoFit/>
          </a:bodyPr>
          <a:lstStyle/>
          <a:p>
            <a:r>
              <a:rPr lang="en-US" sz="2800" dirty="0">
                <a:latin typeface="Times New Roman" panose="02020603050405020304" pitchFamily="18" charset="0"/>
              </a:rPr>
              <a:t>Many authors consider a circular list to be merely an implementation technique for a linear list, since each item still has a unique predecessor and a unique successor.</a:t>
            </a:r>
          </a:p>
        </p:txBody>
      </p:sp>
    </p:spTree>
  </p:cSld>
  <p:clrMapOvr>
    <a:masterClrMapping/>
  </p:clrMapOvr>
  <p:transition spd="slow">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534" y="884901"/>
            <a:ext cx="10460156" cy="693113"/>
          </a:xfrm>
        </p:spPr>
        <p:txBody>
          <a:bodyPr>
            <a:noAutofit/>
          </a:bodyPr>
          <a:lstStyle/>
          <a:p>
            <a:r>
              <a:rPr lang="en-US" sz="4800" cap="none" dirty="0"/>
              <a:t>Circular Lists – Special Cases</a:t>
            </a:r>
          </a:p>
        </p:txBody>
      </p:sp>
      <p:grpSp>
        <p:nvGrpSpPr>
          <p:cNvPr id="41" name="Group 40"/>
          <p:cNvGrpSpPr/>
          <p:nvPr/>
        </p:nvGrpSpPr>
        <p:grpSpPr>
          <a:xfrm>
            <a:off x="3373821" y="5754303"/>
            <a:ext cx="1471628" cy="472588"/>
            <a:chOff x="5701754" y="2204864"/>
            <a:chExt cx="1662681" cy="609755"/>
          </a:xfrm>
        </p:grpSpPr>
        <p:grpSp>
          <p:nvGrpSpPr>
            <p:cNvPr id="34" name="Group 33"/>
            <p:cNvGrpSpPr>
              <a:grpSpLocks/>
            </p:cNvGrpSpPr>
            <p:nvPr/>
          </p:nvGrpSpPr>
          <p:grpSpPr bwMode="auto">
            <a:xfrm>
              <a:off x="6300192" y="2204864"/>
              <a:ext cx="504403" cy="287428"/>
              <a:chOff x="1798" y="3919"/>
              <a:chExt cx="565" cy="232"/>
            </a:xfrm>
          </p:grpSpPr>
          <p:sp>
            <p:nvSpPr>
              <p:cNvPr id="35" name="Rectangle 34"/>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993300"/>
                </a:extrusionClr>
              </a:sp3d>
            </p:spPr>
            <p:txBody>
              <a:bodyPr wrap="none" anchor="ctr">
                <a:flatTx/>
              </a:bodyPr>
              <a:lstStyle/>
              <a:p>
                <a:endParaRPr lang="en-US" dirty="0">
                  <a:latin typeface="Times New Roman" panose="02020603050405020304" pitchFamily="18" charset="0"/>
                </a:endParaRPr>
              </a:p>
            </p:txBody>
          </p:sp>
          <p:sp>
            <p:nvSpPr>
              <p:cNvPr id="36" name="Rectangle 35"/>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6600"/>
                </a:extrusionClr>
              </a:sp3d>
            </p:spPr>
            <p:txBody>
              <a:bodyPr wrap="none" anchor="ctr">
                <a:flatTx/>
              </a:bodyPr>
              <a:lstStyle/>
              <a:p>
                <a:endParaRPr lang="en-US" dirty="0">
                  <a:latin typeface="Times New Roman" panose="02020603050405020304" pitchFamily="18" charset="0"/>
                </a:endParaRPr>
              </a:p>
            </p:txBody>
          </p:sp>
        </p:grpSp>
        <p:sp>
          <p:nvSpPr>
            <p:cNvPr id="37" name="Freeform 29"/>
            <p:cNvSpPr>
              <a:spLocks/>
            </p:cNvSpPr>
            <p:nvPr/>
          </p:nvSpPr>
          <p:spPr bwMode="auto">
            <a:xfrm>
              <a:off x="5701754" y="2224185"/>
              <a:ext cx="1662681" cy="590434"/>
            </a:xfrm>
            <a:custGeom>
              <a:avLst/>
              <a:gdLst>
                <a:gd name="T0" fmla="*/ 0 w 338"/>
                <a:gd name="T1" fmla="*/ 7 h 230"/>
                <a:gd name="T2" fmla="*/ 211 w 338"/>
                <a:gd name="T3" fmla="*/ 10 h 230"/>
                <a:gd name="T4" fmla="*/ 319 w 338"/>
                <a:gd name="T5" fmla="*/ 67 h 230"/>
                <a:gd name="T6" fmla="*/ 328 w 338"/>
                <a:gd name="T7" fmla="*/ 230 h 230"/>
                <a:gd name="T8" fmla="*/ 0 60000 65536"/>
                <a:gd name="T9" fmla="*/ 0 60000 65536"/>
                <a:gd name="T10" fmla="*/ 0 60000 65536"/>
                <a:gd name="T11" fmla="*/ 0 60000 65536"/>
                <a:gd name="T12" fmla="*/ 0 w 338"/>
                <a:gd name="T13" fmla="*/ 0 h 230"/>
                <a:gd name="T14" fmla="*/ 338 w 338"/>
                <a:gd name="T15" fmla="*/ 230 h 230"/>
                <a:gd name="connsiteX0" fmla="*/ 0 w 10384"/>
                <a:gd name="connsiteY0" fmla="*/ 2711 h 12407"/>
                <a:gd name="connsiteX1" fmla="*/ 4026 w 10384"/>
                <a:gd name="connsiteY1" fmla="*/ 435 h 12407"/>
                <a:gd name="connsiteX2" fmla="*/ 9438 w 10384"/>
                <a:gd name="connsiteY2" fmla="*/ 5320 h 12407"/>
                <a:gd name="connsiteX3" fmla="*/ 9704 w 10384"/>
                <a:gd name="connsiteY3" fmla="*/ 12407 h 12407"/>
                <a:gd name="connsiteX0" fmla="*/ 0 w 10340"/>
                <a:gd name="connsiteY0" fmla="*/ 4271 h 13967"/>
                <a:gd name="connsiteX1" fmla="*/ 4026 w 10340"/>
                <a:gd name="connsiteY1" fmla="*/ 1995 h 13967"/>
                <a:gd name="connsiteX2" fmla="*/ 9394 w 10340"/>
                <a:gd name="connsiteY2" fmla="*/ 1995 h 13967"/>
                <a:gd name="connsiteX3" fmla="*/ 9704 w 10340"/>
                <a:gd name="connsiteY3" fmla="*/ 13967 h 13967"/>
                <a:gd name="connsiteX0" fmla="*/ 0 w 11436"/>
                <a:gd name="connsiteY0" fmla="*/ 3232 h 6695"/>
                <a:gd name="connsiteX1" fmla="*/ 4026 w 11436"/>
                <a:gd name="connsiteY1" fmla="*/ 956 h 6695"/>
                <a:gd name="connsiteX2" fmla="*/ 9394 w 11436"/>
                <a:gd name="connsiteY2" fmla="*/ 956 h 6695"/>
                <a:gd name="connsiteX3" fmla="*/ 11436 w 11436"/>
                <a:gd name="connsiteY3" fmla="*/ 6695 h 6695"/>
                <a:gd name="connsiteX0" fmla="*/ 0 w 10809"/>
                <a:gd name="connsiteY0" fmla="*/ 9251 h 14424"/>
                <a:gd name="connsiteX1" fmla="*/ 3520 w 10809"/>
                <a:gd name="connsiteY1" fmla="*/ 5852 h 14424"/>
                <a:gd name="connsiteX2" fmla="*/ 9729 w 10809"/>
                <a:gd name="connsiteY2" fmla="*/ 1428 h 14424"/>
                <a:gd name="connsiteX3" fmla="*/ 10000 w 10809"/>
                <a:gd name="connsiteY3" fmla="*/ 14424 h 14424"/>
                <a:gd name="connsiteX0" fmla="*/ 0 w 10618"/>
                <a:gd name="connsiteY0" fmla="*/ 9091 h 14264"/>
                <a:gd name="connsiteX1" fmla="*/ 3520 w 10618"/>
                <a:gd name="connsiteY1" fmla="*/ 5692 h 14264"/>
                <a:gd name="connsiteX2" fmla="*/ 9538 w 10618"/>
                <a:gd name="connsiteY2" fmla="*/ 1428 h 14264"/>
                <a:gd name="connsiteX3" fmla="*/ 10000 w 10618"/>
                <a:gd name="connsiteY3" fmla="*/ 14264 h 14264"/>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4082"/>
                <a:gd name="connsiteY0" fmla="*/ 11994 h 26269"/>
                <a:gd name="connsiteX1" fmla="*/ 4985 w 14082"/>
                <a:gd name="connsiteY1" fmla="*/ 283 h 26269"/>
                <a:gd name="connsiteX2" fmla="*/ 9538 w 14082"/>
                <a:gd name="connsiteY2" fmla="*/ 4331 h 26269"/>
                <a:gd name="connsiteX3" fmla="*/ 14082 w 14082"/>
                <a:gd name="connsiteY3" fmla="*/ 26269 h 26269"/>
                <a:gd name="connsiteX0" fmla="*/ 0 w 14082"/>
                <a:gd name="connsiteY0" fmla="*/ 11711 h 25986"/>
                <a:gd name="connsiteX1" fmla="*/ 4985 w 14082"/>
                <a:gd name="connsiteY1" fmla="*/ 0 h 25986"/>
                <a:gd name="connsiteX2" fmla="*/ 14082 w 14082"/>
                <a:gd name="connsiteY2" fmla="*/ 25986 h 25986"/>
                <a:gd name="connsiteX0" fmla="*/ 0 w 14082"/>
                <a:gd name="connsiteY0" fmla="*/ 7210 h 21485"/>
                <a:gd name="connsiteX1" fmla="*/ 9388 w 14082"/>
                <a:gd name="connsiteY1" fmla="*/ 865 h 21485"/>
                <a:gd name="connsiteX2" fmla="*/ 14082 w 14082"/>
                <a:gd name="connsiteY2" fmla="*/ 21485 h 21485"/>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2908 w 14082"/>
                <a:gd name="connsiteY2" fmla="*/ 8055 h 22784"/>
                <a:gd name="connsiteX3" fmla="*/ 14082 w 14082"/>
                <a:gd name="connsiteY3" fmla="*/ 22784 h 22784"/>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864"/>
                <a:gd name="connsiteY0" fmla="*/ 8509 h 22130"/>
                <a:gd name="connsiteX1" fmla="*/ 9388 w 14864"/>
                <a:gd name="connsiteY1" fmla="*/ 2164 h 22130"/>
                <a:gd name="connsiteX2" fmla="*/ 14082 w 14864"/>
                <a:gd name="connsiteY2" fmla="*/ 5110 h 22130"/>
                <a:gd name="connsiteX3" fmla="*/ 14659 w 14864"/>
                <a:gd name="connsiteY3" fmla="*/ 22130 h 22130"/>
                <a:gd name="connsiteX0" fmla="*/ 0 w 14864"/>
                <a:gd name="connsiteY0" fmla="*/ 10596 h 24217"/>
                <a:gd name="connsiteX1" fmla="*/ 8214 w 14864"/>
                <a:gd name="connsiteY1" fmla="*/ 1305 h 24217"/>
                <a:gd name="connsiteX2" fmla="*/ 14082 w 14864"/>
                <a:gd name="connsiteY2" fmla="*/ 7197 h 24217"/>
                <a:gd name="connsiteX3" fmla="*/ 14659 w 14864"/>
                <a:gd name="connsiteY3" fmla="*/ 24217 h 24217"/>
                <a:gd name="connsiteX0" fmla="*/ 0 w 14864"/>
                <a:gd name="connsiteY0" fmla="*/ 10615 h 24236"/>
                <a:gd name="connsiteX1" fmla="*/ 8214 w 14864"/>
                <a:gd name="connsiteY1" fmla="*/ 1324 h 24236"/>
                <a:gd name="connsiteX2" fmla="*/ 14082 w 14864"/>
                <a:gd name="connsiteY2" fmla="*/ 7216 h 24236"/>
                <a:gd name="connsiteX3" fmla="*/ 14659 w 14864"/>
                <a:gd name="connsiteY3" fmla="*/ 24236 h 2423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659"/>
                <a:gd name="connsiteY0" fmla="*/ 9865 h 23486"/>
                <a:gd name="connsiteX1" fmla="*/ 8214 w 14659"/>
                <a:gd name="connsiteY1" fmla="*/ 574 h 23486"/>
                <a:gd name="connsiteX2" fmla="*/ 14082 w 14659"/>
                <a:gd name="connsiteY2" fmla="*/ 6466 h 23486"/>
                <a:gd name="connsiteX3" fmla="*/ 14659 w 14659"/>
                <a:gd name="connsiteY3" fmla="*/ 23486 h 23486"/>
                <a:gd name="connsiteX0" fmla="*/ 0 w 14844"/>
                <a:gd name="connsiteY0" fmla="*/ 9865 h 23486"/>
                <a:gd name="connsiteX1" fmla="*/ 8214 w 14844"/>
                <a:gd name="connsiteY1" fmla="*/ 574 h 23486"/>
                <a:gd name="connsiteX2" fmla="*/ 14082 w 14844"/>
                <a:gd name="connsiteY2" fmla="*/ 6466 h 23486"/>
                <a:gd name="connsiteX3" fmla="*/ 14659 w 14844"/>
                <a:gd name="connsiteY3" fmla="*/ 23486 h 23486"/>
                <a:gd name="connsiteX0" fmla="*/ 0 w 14659"/>
                <a:gd name="connsiteY0" fmla="*/ 9865 h 23486"/>
                <a:gd name="connsiteX1" fmla="*/ 8214 w 14659"/>
                <a:gd name="connsiteY1" fmla="*/ 574 h 23486"/>
                <a:gd name="connsiteX2" fmla="*/ 12908 w 14659"/>
                <a:gd name="connsiteY2" fmla="*/ 3520 h 23486"/>
                <a:gd name="connsiteX3" fmla="*/ 14659 w 14659"/>
                <a:gd name="connsiteY3" fmla="*/ 23486 h 23486"/>
                <a:gd name="connsiteX0" fmla="*/ 0 w 14659"/>
                <a:gd name="connsiteY0" fmla="*/ 11631 h 25252"/>
                <a:gd name="connsiteX1" fmla="*/ 8214 w 14659"/>
                <a:gd name="connsiteY1" fmla="*/ 2340 h 25252"/>
                <a:gd name="connsiteX2" fmla="*/ 12908 w 14659"/>
                <a:gd name="connsiteY2" fmla="*/ 5286 h 25252"/>
                <a:gd name="connsiteX3" fmla="*/ 14659 w 14659"/>
                <a:gd name="connsiteY3" fmla="*/ 25252 h 25252"/>
                <a:gd name="connsiteX0" fmla="*/ 0 w 14659"/>
                <a:gd name="connsiteY0" fmla="*/ 12438 h 26059"/>
                <a:gd name="connsiteX1" fmla="*/ 8214 w 14659"/>
                <a:gd name="connsiteY1" fmla="*/ 3147 h 26059"/>
                <a:gd name="connsiteX2" fmla="*/ 12908 w 14659"/>
                <a:gd name="connsiteY2" fmla="*/ 6093 h 26059"/>
                <a:gd name="connsiteX3" fmla="*/ 14659 w 14659"/>
                <a:gd name="connsiteY3" fmla="*/ 26059 h 26059"/>
                <a:gd name="connsiteX0" fmla="*/ 0 w 14659"/>
                <a:gd name="connsiteY0" fmla="*/ 8615 h 22236"/>
                <a:gd name="connsiteX1" fmla="*/ 12908 w 14659"/>
                <a:gd name="connsiteY1" fmla="*/ 2270 h 22236"/>
                <a:gd name="connsiteX2" fmla="*/ 14659 w 14659"/>
                <a:gd name="connsiteY2" fmla="*/ 22236 h 22236"/>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291 h 22912"/>
                <a:gd name="connsiteX1" fmla="*/ 10561 w 14659"/>
                <a:gd name="connsiteY1" fmla="*/ 0 h 22912"/>
                <a:gd name="connsiteX2" fmla="*/ 14659 w 14659"/>
                <a:gd name="connsiteY2" fmla="*/ 22912 h 22912"/>
                <a:gd name="connsiteX0" fmla="*/ 0 w 14659"/>
                <a:gd name="connsiteY0" fmla="*/ 9291 h 22912"/>
                <a:gd name="connsiteX1" fmla="*/ 10561 w 14659"/>
                <a:gd name="connsiteY1" fmla="*/ 0 h 22912"/>
                <a:gd name="connsiteX2" fmla="*/ 14659 w 14659"/>
                <a:gd name="connsiteY2" fmla="*/ 22912 h 22912"/>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5101"/>
                <a:gd name="connsiteY0" fmla="*/ 8257 h 21878"/>
                <a:gd name="connsiteX1" fmla="*/ 10561 w 15101"/>
                <a:gd name="connsiteY1" fmla="*/ 1912 h 21878"/>
                <a:gd name="connsiteX2" fmla="*/ 14659 w 15101"/>
                <a:gd name="connsiteY2" fmla="*/ 21878 h 21878"/>
                <a:gd name="connsiteX0" fmla="*/ 0 w 16291"/>
                <a:gd name="connsiteY0" fmla="*/ 8257 h 21878"/>
                <a:gd name="connsiteX1" fmla="*/ 10561 w 16291"/>
                <a:gd name="connsiteY1" fmla="*/ 1912 h 21878"/>
                <a:gd name="connsiteX2" fmla="*/ 14659 w 16291"/>
                <a:gd name="connsiteY2" fmla="*/ 21878 h 21878"/>
                <a:gd name="connsiteX0" fmla="*/ 0 w 15439"/>
                <a:gd name="connsiteY0" fmla="*/ 8257 h 21878"/>
                <a:gd name="connsiteX1" fmla="*/ 10561 w 15439"/>
                <a:gd name="connsiteY1" fmla="*/ 1912 h 21878"/>
                <a:gd name="connsiteX2" fmla="*/ 14659 w 15439"/>
                <a:gd name="connsiteY2" fmla="*/ 21878 h 21878"/>
                <a:gd name="connsiteX0" fmla="*/ 0 w 15439"/>
                <a:gd name="connsiteY0" fmla="*/ 8257 h 21878"/>
                <a:gd name="connsiteX1" fmla="*/ 8214 w 15439"/>
                <a:gd name="connsiteY1" fmla="*/ 1912 h 21878"/>
                <a:gd name="connsiteX2" fmla="*/ 14659 w 15439"/>
                <a:gd name="connsiteY2" fmla="*/ 21878 h 21878"/>
                <a:gd name="connsiteX0" fmla="*/ 0 w 15439"/>
                <a:gd name="connsiteY0" fmla="*/ 8257 h 21878"/>
                <a:gd name="connsiteX1" fmla="*/ 8214 w 15439"/>
                <a:gd name="connsiteY1" fmla="*/ 7804 h 21878"/>
                <a:gd name="connsiteX2" fmla="*/ 14659 w 15439"/>
                <a:gd name="connsiteY2" fmla="*/ 21878 h 21878"/>
                <a:gd name="connsiteX0" fmla="*/ 0 w 15439"/>
                <a:gd name="connsiteY0" fmla="*/ 2440 h 16061"/>
                <a:gd name="connsiteX1" fmla="*/ 8214 w 15439"/>
                <a:gd name="connsiteY1" fmla="*/ 1987 h 16061"/>
                <a:gd name="connsiteX2" fmla="*/ 14659 w 15439"/>
                <a:gd name="connsiteY2" fmla="*/ 16061 h 16061"/>
                <a:gd name="connsiteX0" fmla="*/ 0 w 15439"/>
                <a:gd name="connsiteY0" fmla="*/ 3528 h 17149"/>
                <a:gd name="connsiteX1" fmla="*/ 8214 w 15439"/>
                <a:gd name="connsiteY1" fmla="*/ 129 h 17149"/>
                <a:gd name="connsiteX2" fmla="*/ 14659 w 15439"/>
                <a:gd name="connsiteY2" fmla="*/ 17149 h 17149"/>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7960 w 15439"/>
                <a:gd name="connsiteY1" fmla="*/ 2970 h 17430"/>
                <a:gd name="connsiteX2" fmla="*/ 14659 w 15439"/>
                <a:gd name="connsiteY2" fmla="*/ 17430 h 17430"/>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039"/>
                <a:gd name="connsiteY0" fmla="*/ 1060 h 14681"/>
                <a:gd name="connsiteX1" fmla="*/ 8044 w 15039"/>
                <a:gd name="connsiteY1" fmla="*/ 832 h 14681"/>
                <a:gd name="connsiteX2" fmla="*/ 14659 w 15039"/>
                <a:gd name="connsiteY2" fmla="*/ 14681 h 14681"/>
                <a:gd name="connsiteX0" fmla="*/ 0 w 15039"/>
                <a:gd name="connsiteY0" fmla="*/ 6130 h 19751"/>
                <a:gd name="connsiteX1" fmla="*/ 7898 w 15039"/>
                <a:gd name="connsiteY1" fmla="*/ 105 h 19751"/>
                <a:gd name="connsiteX2" fmla="*/ 14659 w 15039"/>
                <a:gd name="connsiteY2" fmla="*/ 19751 h 19751"/>
                <a:gd name="connsiteX0" fmla="*/ 0 w 15039"/>
                <a:gd name="connsiteY0" fmla="*/ 6025 h 19646"/>
                <a:gd name="connsiteX1" fmla="*/ 7898 w 15039"/>
                <a:gd name="connsiteY1" fmla="*/ 0 h 19646"/>
                <a:gd name="connsiteX2" fmla="*/ 14659 w 15039"/>
                <a:gd name="connsiteY2" fmla="*/ 19646 h 19646"/>
                <a:gd name="connsiteX0" fmla="*/ 0 w 15039"/>
                <a:gd name="connsiteY0" fmla="*/ 6025 h 19646"/>
                <a:gd name="connsiteX1" fmla="*/ 7898 w 15039"/>
                <a:gd name="connsiteY1" fmla="*/ 0 h 19646"/>
                <a:gd name="connsiteX2" fmla="*/ 14659 w 15039"/>
                <a:gd name="connsiteY2" fmla="*/ 19646 h 19646"/>
                <a:gd name="connsiteX0" fmla="*/ 0 w 12972"/>
                <a:gd name="connsiteY0" fmla="*/ 8923 h 14681"/>
                <a:gd name="connsiteX1" fmla="*/ 7898 w 12972"/>
                <a:gd name="connsiteY1" fmla="*/ 2898 h 14681"/>
                <a:gd name="connsiteX2" fmla="*/ 12592 w 12972"/>
                <a:gd name="connsiteY2" fmla="*/ 14681 h 14681"/>
                <a:gd name="connsiteX0" fmla="*/ 0 w 12972"/>
                <a:gd name="connsiteY0" fmla="*/ 8923 h 14681"/>
                <a:gd name="connsiteX1" fmla="*/ 7263 w 12972"/>
                <a:gd name="connsiteY1" fmla="*/ 1519 h 14681"/>
                <a:gd name="connsiteX2" fmla="*/ 12592 w 12972"/>
                <a:gd name="connsiteY2" fmla="*/ 14681 h 14681"/>
                <a:gd name="connsiteX0" fmla="*/ 0 w 12592"/>
                <a:gd name="connsiteY0" fmla="*/ 7404 h 13162"/>
                <a:gd name="connsiteX1" fmla="*/ 7263 w 12592"/>
                <a:gd name="connsiteY1" fmla="*/ 0 h 13162"/>
                <a:gd name="connsiteX2" fmla="*/ 12592 w 12592"/>
                <a:gd name="connsiteY2" fmla="*/ 13162 h 13162"/>
                <a:gd name="connsiteX0" fmla="*/ 0 w 12592"/>
                <a:gd name="connsiteY0" fmla="*/ 7404 h 13162"/>
                <a:gd name="connsiteX1" fmla="*/ 7263 w 12592"/>
                <a:gd name="connsiteY1" fmla="*/ 0 h 13162"/>
                <a:gd name="connsiteX2" fmla="*/ 12592 w 12592"/>
                <a:gd name="connsiteY2" fmla="*/ 13162 h 13162"/>
                <a:gd name="connsiteX0" fmla="*/ 0 w 9567"/>
                <a:gd name="connsiteY0" fmla="*/ 7404 h 26175"/>
                <a:gd name="connsiteX1" fmla="*/ 7263 w 9567"/>
                <a:gd name="connsiteY1" fmla="*/ 0 h 26175"/>
                <a:gd name="connsiteX2" fmla="*/ 4909 w 9567"/>
                <a:gd name="connsiteY2" fmla="*/ 26175 h 26175"/>
                <a:gd name="connsiteX0" fmla="*/ 0 w 10000"/>
                <a:gd name="connsiteY0" fmla="*/ 2829 h 10000"/>
                <a:gd name="connsiteX1" fmla="*/ 7592 w 10000"/>
                <a:gd name="connsiteY1" fmla="*/ 0 h 10000"/>
                <a:gd name="connsiteX2" fmla="*/ 5131 w 10000"/>
                <a:gd name="connsiteY2" fmla="*/ 10000 h 10000"/>
                <a:gd name="connsiteX0" fmla="*/ 0 w 7598"/>
                <a:gd name="connsiteY0" fmla="*/ 2032 h 9203"/>
                <a:gd name="connsiteX1" fmla="*/ 5131 w 7598"/>
                <a:gd name="connsiteY1" fmla="*/ 2451 h 9203"/>
                <a:gd name="connsiteX2" fmla="*/ 5131 w 7598"/>
                <a:gd name="connsiteY2" fmla="*/ 9203 h 9203"/>
                <a:gd name="connsiteX0" fmla="*/ 0 w 10000"/>
                <a:gd name="connsiteY0" fmla="*/ 0 h 7792"/>
                <a:gd name="connsiteX1" fmla="*/ 6753 w 10000"/>
                <a:gd name="connsiteY1" fmla="*/ 455 h 7792"/>
                <a:gd name="connsiteX2" fmla="*/ 6753 w 10000"/>
                <a:gd name="connsiteY2" fmla="*/ 7792 h 7792"/>
                <a:gd name="connsiteX0" fmla="*/ 0 w 10000"/>
                <a:gd name="connsiteY0" fmla="*/ 0 h 10000"/>
                <a:gd name="connsiteX1" fmla="*/ 6753 w 10000"/>
                <a:gd name="connsiteY1" fmla="*/ 584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16760 w 25500"/>
                <a:gd name="connsiteY0" fmla="*/ 0 h 42956"/>
                <a:gd name="connsiteX1" fmla="*/ 23513 w 25500"/>
                <a:gd name="connsiteY1" fmla="*/ 2153 h 42956"/>
                <a:gd name="connsiteX2" fmla="*/ 0 w 25500"/>
                <a:gd name="connsiteY2" fmla="*/ 42956 h 42956"/>
                <a:gd name="connsiteX0" fmla="*/ 16760 w 23513"/>
                <a:gd name="connsiteY0" fmla="*/ 0 h 42956"/>
                <a:gd name="connsiteX1" fmla="*/ 23513 w 23513"/>
                <a:gd name="connsiteY1" fmla="*/ 2153 h 42956"/>
                <a:gd name="connsiteX2" fmla="*/ 16539 w 23513"/>
                <a:gd name="connsiteY2" fmla="*/ 16827 h 42956"/>
                <a:gd name="connsiteX3" fmla="*/ 0 w 23513"/>
                <a:gd name="connsiteY3" fmla="*/ 42956 h 42956"/>
                <a:gd name="connsiteX0" fmla="*/ 11917 w 18670"/>
                <a:gd name="connsiteY0" fmla="*/ 3771 h 20859"/>
                <a:gd name="connsiteX1" fmla="*/ 18670 w 18670"/>
                <a:gd name="connsiteY1" fmla="*/ 5924 h 20859"/>
                <a:gd name="connsiteX2" fmla="*/ 11696 w 18670"/>
                <a:gd name="connsiteY2" fmla="*/ 20598 h 20859"/>
                <a:gd name="connsiteX3" fmla="*/ 0 w 18670"/>
                <a:gd name="connsiteY3" fmla="*/ 4355 h 20859"/>
                <a:gd name="connsiteX0" fmla="*/ 25334 w 32087"/>
                <a:gd name="connsiteY0" fmla="*/ 0 h 17088"/>
                <a:gd name="connsiteX1" fmla="*/ 32087 w 32087"/>
                <a:gd name="connsiteY1" fmla="*/ 2153 h 17088"/>
                <a:gd name="connsiteX2" fmla="*/ 25113 w 32087"/>
                <a:gd name="connsiteY2" fmla="*/ 16827 h 17088"/>
                <a:gd name="connsiteX3" fmla="*/ 13417 w 32087"/>
                <a:gd name="connsiteY3" fmla="*/ 584 h 17088"/>
                <a:gd name="connsiteX0" fmla="*/ 22105 w 28858"/>
                <a:gd name="connsiteY0" fmla="*/ 986 h 18336"/>
                <a:gd name="connsiteX1" fmla="*/ 28858 w 28858"/>
                <a:gd name="connsiteY1" fmla="*/ 3139 h 18336"/>
                <a:gd name="connsiteX2" fmla="*/ 21884 w 28858"/>
                <a:gd name="connsiteY2" fmla="*/ 17813 h 18336"/>
                <a:gd name="connsiteX3" fmla="*/ 13417 w 28858"/>
                <a:gd name="connsiteY3" fmla="*/ 0 h 18336"/>
                <a:gd name="connsiteX0" fmla="*/ 22105 w 28858"/>
                <a:gd name="connsiteY0" fmla="*/ 986 h 16217"/>
                <a:gd name="connsiteX1" fmla="*/ 28858 w 28858"/>
                <a:gd name="connsiteY1" fmla="*/ 3139 h 16217"/>
                <a:gd name="connsiteX2" fmla="*/ 21488 w 28858"/>
                <a:gd name="connsiteY2" fmla="*/ 15694 h 16217"/>
                <a:gd name="connsiteX3" fmla="*/ 13417 w 28858"/>
                <a:gd name="connsiteY3" fmla="*/ 0 h 16217"/>
                <a:gd name="connsiteX0" fmla="*/ 22105 w 28858"/>
                <a:gd name="connsiteY0" fmla="*/ 986 h 16217"/>
                <a:gd name="connsiteX1" fmla="*/ 28858 w 28858"/>
                <a:gd name="connsiteY1" fmla="*/ 3139 h 16217"/>
                <a:gd name="connsiteX2" fmla="*/ 21488 w 28858"/>
                <a:gd name="connsiteY2" fmla="*/ 15694 h 16217"/>
                <a:gd name="connsiteX3" fmla="*/ 13417 w 28858"/>
                <a:gd name="connsiteY3" fmla="*/ 0 h 16217"/>
                <a:gd name="connsiteX0" fmla="*/ 22105 w 35102"/>
                <a:gd name="connsiteY0" fmla="*/ 986 h 16323"/>
                <a:gd name="connsiteX1" fmla="*/ 28858 w 35102"/>
                <a:gd name="connsiteY1" fmla="*/ 3139 h 16323"/>
                <a:gd name="connsiteX2" fmla="*/ 21488 w 35102"/>
                <a:gd name="connsiteY2" fmla="*/ 15694 h 16323"/>
                <a:gd name="connsiteX3" fmla="*/ 13417 w 35102"/>
                <a:gd name="connsiteY3" fmla="*/ 0 h 16323"/>
                <a:gd name="connsiteX0" fmla="*/ 22105 w 22936"/>
                <a:gd name="connsiteY0" fmla="*/ 986 h 15858"/>
                <a:gd name="connsiteX1" fmla="*/ 21488 w 22936"/>
                <a:gd name="connsiteY1" fmla="*/ 15694 h 15858"/>
                <a:gd name="connsiteX2" fmla="*/ 13417 w 22936"/>
                <a:gd name="connsiteY2" fmla="*/ 0 h 15858"/>
                <a:gd name="connsiteX0" fmla="*/ 22105 w 46186"/>
                <a:gd name="connsiteY0" fmla="*/ 1386 h 16258"/>
                <a:gd name="connsiteX1" fmla="*/ 21488 w 46186"/>
                <a:gd name="connsiteY1" fmla="*/ 16094 h 16258"/>
                <a:gd name="connsiteX2" fmla="*/ 13417 w 46186"/>
                <a:gd name="connsiteY2" fmla="*/ 400 h 16258"/>
                <a:gd name="connsiteX0" fmla="*/ 22105 w 46186"/>
                <a:gd name="connsiteY0" fmla="*/ 1386 h 11550"/>
                <a:gd name="connsiteX1" fmla="*/ 23103 w 46186"/>
                <a:gd name="connsiteY1" fmla="*/ 11386 h 11550"/>
                <a:gd name="connsiteX2" fmla="*/ 13417 w 46186"/>
                <a:gd name="connsiteY2" fmla="*/ 400 h 11550"/>
                <a:gd name="connsiteX0" fmla="*/ 22105 w 46186"/>
                <a:gd name="connsiteY0" fmla="*/ 1386 h 11386"/>
                <a:gd name="connsiteX1" fmla="*/ 23103 w 46186"/>
                <a:gd name="connsiteY1" fmla="*/ 11386 h 11386"/>
                <a:gd name="connsiteX2" fmla="*/ 13417 w 46186"/>
                <a:gd name="connsiteY2" fmla="*/ 400 h 11386"/>
                <a:gd name="connsiteX0" fmla="*/ 22105 w 46186"/>
                <a:gd name="connsiteY0" fmla="*/ 1386 h 11386"/>
                <a:gd name="connsiteX1" fmla="*/ 23103 w 46186"/>
                <a:gd name="connsiteY1" fmla="*/ 11386 h 11386"/>
                <a:gd name="connsiteX2" fmla="*/ 13417 w 46186"/>
                <a:gd name="connsiteY2" fmla="*/ 400 h 11386"/>
                <a:gd name="connsiteX0" fmla="*/ 22105 w 46186"/>
                <a:gd name="connsiteY0" fmla="*/ 1386 h 12120"/>
                <a:gd name="connsiteX1" fmla="*/ 23103 w 46186"/>
                <a:gd name="connsiteY1" fmla="*/ 11386 h 12120"/>
                <a:gd name="connsiteX2" fmla="*/ 13417 w 46186"/>
                <a:gd name="connsiteY2" fmla="*/ 400 h 12120"/>
                <a:gd name="connsiteX0" fmla="*/ 22105 w 37276"/>
                <a:gd name="connsiteY0" fmla="*/ 2134 h 12868"/>
                <a:gd name="connsiteX1" fmla="*/ 23103 w 37276"/>
                <a:gd name="connsiteY1" fmla="*/ 12134 h 12868"/>
                <a:gd name="connsiteX2" fmla="*/ 13417 w 37276"/>
                <a:gd name="connsiteY2" fmla="*/ 1148 h 12868"/>
              </a:gdLst>
              <a:ahLst/>
              <a:cxnLst>
                <a:cxn ang="0">
                  <a:pos x="connsiteX0" y="connsiteY0"/>
                </a:cxn>
                <a:cxn ang="0">
                  <a:pos x="connsiteX1" y="connsiteY1"/>
                </a:cxn>
                <a:cxn ang="0">
                  <a:pos x="connsiteX2" y="connsiteY2"/>
                </a:cxn>
              </a:cxnLst>
              <a:rect l="l" t="t" r="r" b="b"/>
              <a:pathLst>
                <a:path w="37276" h="12868">
                  <a:moveTo>
                    <a:pt x="22105" y="2134"/>
                  </a:moveTo>
                  <a:cubicBezTo>
                    <a:pt x="37276" y="0"/>
                    <a:pt x="34877" y="12868"/>
                    <a:pt x="23103" y="12134"/>
                  </a:cubicBezTo>
                  <a:cubicBezTo>
                    <a:pt x="11873" y="11860"/>
                    <a:pt x="0" y="3452"/>
                    <a:pt x="13417" y="1148"/>
                  </a:cubicBezTo>
                </a:path>
              </a:pathLst>
            </a:custGeom>
            <a:noFill/>
            <a:ln w="38100" cap="flat" cmpd="sng">
              <a:solidFill>
                <a:srgbClr val="FFC000"/>
              </a:solidFill>
              <a:prstDash val="solid"/>
              <a:round/>
              <a:headEnd type="oval" w="med" len="med"/>
              <a:tailEnd type="triangle" w="lg" len="lg"/>
            </a:ln>
          </p:spPr>
          <p:txBody>
            <a:bodyPr tIns="91440" bIns="91440" anchor="ctr"/>
            <a:lstStyle/>
            <a:p>
              <a:endParaRPr lang="en-US" dirty="0">
                <a:latin typeface="Times New Roman" panose="02020603050405020304" pitchFamily="18" charset="0"/>
              </a:endParaRPr>
            </a:p>
          </p:txBody>
        </p:sp>
      </p:grpSp>
      <p:grpSp>
        <p:nvGrpSpPr>
          <p:cNvPr id="44" name="Group 43"/>
          <p:cNvGrpSpPr/>
          <p:nvPr/>
        </p:nvGrpSpPr>
        <p:grpSpPr>
          <a:xfrm>
            <a:off x="446823" y="3034201"/>
            <a:ext cx="2926998" cy="512038"/>
            <a:chOff x="539552" y="1628800"/>
            <a:chExt cx="2926998" cy="512038"/>
          </a:xfrm>
        </p:grpSpPr>
        <p:sp>
          <p:nvSpPr>
            <p:cNvPr id="39" name="Rectangle 38"/>
            <p:cNvSpPr>
              <a:spLocks noChangeArrowheads="1"/>
            </p:cNvSpPr>
            <p:nvPr/>
          </p:nvSpPr>
          <p:spPr bwMode="auto">
            <a:xfrm>
              <a:off x="539552" y="1628800"/>
              <a:ext cx="2091658" cy="287428"/>
            </a:xfrm>
            <a:prstGeom prst="rect">
              <a:avLst/>
            </a:prstGeom>
            <a:solidFill>
              <a:srgbClr val="0066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6600"/>
              </a:extrusionClr>
            </a:sp3d>
          </p:spPr>
          <p:txBody>
            <a:bodyPr wrap="none" anchor="ctr">
              <a:flatTx/>
            </a:bodyPr>
            <a:lstStyle/>
            <a:p>
              <a:pPr>
                <a:buNone/>
              </a:pPr>
              <a:r>
                <a:rPr lang="en-US" dirty="0">
                  <a:solidFill>
                    <a:srgbClr val="66FF33"/>
                  </a:solidFill>
                  <a:latin typeface="Times New Roman" panose="02020603050405020304" pitchFamily="18" charset="0"/>
                  <a:cs typeface="Times New Roman" panose="02020603050405020304" pitchFamily="18" charset="0"/>
                </a:rPr>
                <a:t>aPtrToTheList</a:t>
              </a:r>
            </a:p>
          </p:txBody>
        </p:sp>
        <p:sp>
          <p:nvSpPr>
            <p:cNvPr id="43" name="Freeform 29"/>
            <p:cNvSpPr>
              <a:spLocks/>
            </p:cNvSpPr>
            <p:nvPr/>
          </p:nvSpPr>
          <p:spPr bwMode="auto">
            <a:xfrm>
              <a:off x="2509596" y="1775138"/>
              <a:ext cx="956954" cy="365700"/>
            </a:xfrm>
            <a:custGeom>
              <a:avLst/>
              <a:gdLst>
                <a:gd name="T0" fmla="*/ 0 w 338"/>
                <a:gd name="T1" fmla="*/ 7 h 230"/>
                <a:gd name="T2" fmla="*/ 211 w 338"/>
                <a:gd name="T3" fmla="*/ 10 h 230"/>
                <a:gd name="T4" fmla="*/ 319 w 338"/>
                <a:gd name="T5" fmla="*/ 67 h 230"/>
                <a:gd name="T6" fmla="*/ 328 w 338"/>
                <a:gd name="T7" fmla="*/ 230 h 230"/>
                <a:gd name="T8" fmla="*/ 0 60000 65536"/>
                <a:gd name="T9" fmla="*/ 0 60000 65536"/>
                <a:gd name="T10" fmla="*/ 0 60000 65536"/>
                <a:gd name="T11" fmla="*/ 0 60000 65536"/>
                <a:gd name="T12" fmla="*/ 0 w 338"/>
                <a:gd name="T13" fmla="*/ 0 h 230"/>
                <a:gd name="T14" fmla="*/ 338 w 338"/>
                <a:gd name="T15" fmla="*/ 230 h 230"/>
                <a:gd name="connsiteX0" fmla="*/ 0 w 10384"/>
                <a:gd name="connsiteY0" fmla="*/ 2711 h 12407"/>
                <a:gd name="connsiteX1" fmla="*/ 4026 w 10384"/>
                <a:gd name="connsiteY1" fmla="*/ 435 h 12407"/>
                <a:gd name="connsiteX2" fmla="*/ 9438 w 10384"/>
                <a:gd name="connsiteY2" fmla="*/ 5320 h 12407"/>
                <a:gd name="connsiteX3" fmla="*/ 9704 w 10384"/>
                <a:gd name="connsiteY3" fmla="*/ 12407 h 12407"/>
                <a:gd name="connsiteX0" fmla="*/ 0 w 10340"/>
                <a:gd name="connsiteY0" fmla="*/ 4271 h 13967"/>
                <a:gd name="connsiteX1" fmla="*/ 4026 w 10340"/>
                <a:gd name="connsiteY1" fmla="*/ 1995 h 13967"/>
                <a:gd name="connsiteX2" fmla="*/ 9394 w 10340"/>
                <a:gd name="connsiteY2" fmla="*/ 1995 h 13967"/>
                <a:gd name="connsiteX3" fmla="*/ 9704 w 10340"/>
                <a:gd name="connsiteY3" fmla="*/ 13967 h 13967"/>
                <a:gd name="connsiteX0" fmla="*/ 0 w 11436"/>
                <a:gd name="connsiteY0" fmla="*/ 3232 h 6695"/>
                <a:gd name="connsiteX1" fmla="*/ 4026 w 11436"/>
                <a:gd name="connsiteY1" fmla="*/ 956 h 6695"/>
                <a:gd name="connsiteX2" fmla="*/ 9394 w 11436"/>
                <a:gd name="connsiteY2" fmla="*/ 956 h 6695"/>
                <a:gd name="connsiteX3" fmla="*/ 11436 w 11436"/>
                <a:gd name="connsiteY3" fmla="*/ 6695 h 6695"/>
                <a:gd name="connsiteX0" fmla="*/ 0 w 10809"/>
                <a:gd name="connsiteY0" fmla="*/ 9251 h 14424"/>
                <a:gd name="connsiteX1" fmla="*/ 3520 w 10809"/>
                <a:gd name="connsiteY1" fmla="*/ 5852 h 14424"/>
                <a:gd name="connsiteX2" fmla="*/ 9729 w 10809"/>
                <a:gd name="connsiteY2" fmla="*/ 1428 h 14424"/>
                <a:gd name="connsiteX3" fmla="*/ 10000 w 10809"/>
                <a:gd name="connsiteY3" fmla="*/ 14424 h 14424"/>
                <a:gd name="connsiteX0" fmla="*/ 0 w 10618"/>
                <a:gd name="connsiteY0" fmla="*/ 9091 h 14264"/>
                <a:gd name="connsiteX1" fmla="*/ 3520 w 10618"/>
                <a:gd name="connsiteY1" fmla="*/ 5692 h 14264"/>
                <a:gd name="connsiteX2" fmla="*/ 9538 w 10618"/>
                <a:gd name="connsiteY2" fmla="*/ 1428 h 14264"/>
                <a:gd name="connsiteX3" fmla="*/ 10000 w 10618"/>
                <a:gd name="connsiteY3" fmla="*/ 14264 h 14264"/>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4082"/>
                <a:gd name="connsiteY0" fmla="*/ 11994 h 26269"/>
                <a:gd name="connsiteX1" fmla="*/ 4985 w 14082"/>
                <a:gd name="connsiteY1" fmla="*/ 283 h 26269"/>
                <a:gd name="connsiteX2" fmla="*/ 9538 w 14082"/>
                <a:gd name="connsiteY2" fmla="*/ 4331 h 26269"/>
                <a:gd name="connsiteX3" fmla="*/ 14082 w 14082"/>
                <a:gd name="connsiteY3" fmla="*/ 26269 h 26269"/>
                <a:gd name="connsiteX0" fmla="*/ 0 w 14082"/>
                <a:gd name="connsiteY0" fmla="*/ 11711 h 25986"/>
                <a:gd name="connsiteX1" fmla="*/ 4985 w 14082"/>
                <a:gd name="connsiteY1" fmla="*/ 0 h 25986"/>
                <a:gd name="connsiteX2" fmla="*/ 14082 w 14082"/>
                <a:gd name="connsiteY2" fmla="*/ 25986 h 25986"/>
                <a:gd name="connsiteX0" fmla="*/ 0 w 14082"/>
                <a:gd name="connsiteY0" fmla="*/ 7210 h 21485"/>
                <a:gd name="connsiteX1" fmla="*/ 9388 w 14082"/>
                <a:gd name="connsiteY1" fmla="*/ 865 h 21485"/>
                <a:gd name="connsiteX2" fmla="*/ 14082 w 14082"/>
                <a:gd name="connsiteY2" fmla="*/ 21485 h 21485"/>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2908 w 14082"/>
                <a:gd name="connsiteY2" fmla="*/ 8055 h 22784"/>
                <a:gd name="connsiteX3" fmla="*/ 14082 w 14082"/>
                <a:gd name="connsiteY3" fmla="*/ 22784 h 22784"/>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864"/>
                <a:gd name="connsiteY0" fmla="*/ 8509 h 22130"/>
                <a:gd name="connsiteX1" fmla="*/ 9388 w 14864"/>
                <a:gd name="connsiteY1" fmla="*/ 2164 h 22130"/>
                <a:gd name="connsiteX2" fmla="*/ 14082 w 14864"/>
                <a:gd name="connsiteY2" fmla="*/ 5110 h 22130"/>
                <a:gd name="connsiteX3" fmla="*/ 14659 w 14864"/>
                <a:gd name="connsiteY3" fmla="*/ 22130 h 22130"/>
                <a:gd name="connsiteX0" fmla="*/ 0 w 14864"/>
                <a:gd name="connsiteY0" fmla="*/ 10596 h 24217"/>
                <a:gd name="connsiteX1" fmla="*/ 8214 w 14864"/>
                <a:gd name="connsiteY1" fmla="*/ 1305 h 24217"/>
                <a:gd name="connsiteX2" fmla="*/ 14082 w 14864"/>
                <a:gd name="connsiteY2" fmla="*/ 7197 h 24217"/>
                <a:gd name="connsiteX3" fmla="*/ 14659 w 14864"/>
                <a:gd name="connsiteY3" fmla="*/ 24217 h 24217"/>
                <a:gd name="connsiteX0" fmla="*/ 0 w 14864"/>
                <a:gd name="connsiteY0" fmla="*/ 10615 h 24236"/>
                <a:gd name="connsiteX1" fmla="*/ 8214 w 14864"/>
                <a:gd name="connsiteY1" fmla="*/ 1324 h 24236"/>
                <a:gd name="connsiteX2" fmla="*/ 14082 w 14864"/>
                <a:gd name="connsiteY2" fmla="*/ 7216 h 24236"/>
                <a:gd name="connsiteX3" fmla="*/ 14659 w 14864"/>
                <a:gd name="connsiteY3" fmla="*/ 24236 h 2423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659"/>
                <a:gd name="connsiteY0" fmla="*/ 9865 h 23486"/>
                <a:gd name="connsiteX1" fmla="*/ 8214 w 14659"/>
                <a:gd name="connsiteY1" fmla="*/ 574 h 23486"/>
                <a:gd name="connsiteX2" fmla="*/ 14082 w 14659"/>
                <a:gd name="connsiteY2" fmla="*/ 6466 h 23486"/>
                <a:gd name="connsiteX3" fmla="*/ 14659 w 14659"/>
                <a:gd name="connsiteY3" fmla="*/ 23486 h 23486"/>
                <a:gd name="connsiteX0" fmla="*/ 0 w 14844"/>
                <a:gd name="connsiteY0" fmla="*/ 9865 h 23486"/>
                <a:gd name="connsiteX1" fmla="*/ 8214 w 14844"/>
                <a:gd name="connsiteY1" fmla="*/ 574 h 23486"/>
                <a:gd name="connsiteX2" fmla="*/ 14082 w 14844"/>
                <a:gd name="connsiteY2" fmla="*/ 6466 h 23486"/>
                <a:gd name="connsiteX3" fmla="*/ 14659 w 14844"/>
                <a:gd name="connsiteY3" fmla="*/ 23486 h 23486"/>
                <a:gd name="connsiteX0" fmla="*/ 0 w 14659"/>
                <a:gd name="connsiteY0" fmla="*/ 9865 h 23486"/>
                <a:gd name="connsiteX1" fmla="*/ 8214 w 14659"/>
                <a:gd name="connsiteY1" fmla="*/ 574 h 23486"/>
                <a:gd name="connsiteX2" fmla="*/ 12908 w 14659"/>
                <a:gd name="connsiteY2" fmla="*/ 3520 h 23486"/>
                <a:gd name="connsiteX3" fmla="*/ 14659 w 14659"/>
                <a:gd name="connsiteY3" fmla="*/ 23486 h 23486"/>
                <a:gd name="connsiteX0" fmla="*/ 0 w 14659"/>
                <a:gd name="connsiteY0" fmla="*/ 11631 h 25252"/>
                <a:gd name="connsiteX1" fmla="*/ 8214 w 14659"/>
                <a:gd name="connsiteY1" fmla="*/ 2340 h 25252"/>
                <a:gd name="connsiteX2" fmla="*/ 12908 w 14659"/>
                <a:gd name="connsiteY2" fmla="*/ 5286 h 25252"/>
                <a:gd name="connsiteX3" fmla="*/ 14659 w 14659"/>
                <a:gd name="connsiteY3" fmla="*/ 25252 h 25252"/>
                <a:gd name="connsiteX0" fmla="*/ 0 w 14659"/>
                <a:gd name="connsiteY0" fmla="*/ 12438 h 26059"/>
                <a:gd name="connsiteX1" fmla="*/ 8214 w 14659"/>
                <a:gd name="connsiteY1" fmla="*/ 3147 h 26059"/>
                <a:gd name="connsiteX2" fmla="*/ 12908 w 14659"/>
                <a:gd name="connsiteY2" fmla="*/ 6093 h 26059"/>
                <a:gd name="connsiteX3" fmla="*/ 14659 w 14659"/>
                <a:gd name="connsiteY3" fmla="*/ 26059 h 26059"/>
                <a:gd name="connsiteX0" fmla="*/ 0 w 14659"/>
                <a:gd name="connsiteY0" fmla="*/ 8615 h 22236"/>
                <a:gd name="connsiteX1" fmla="*/ 12908 w 14659"/>
                <a:gd name="connsiteY1" fmla="*/ 2270 h 22236"/>
                <a:gd name="connsiteX2" fmla="*/ 14659 w 14659"/>
                <a:gd name="connsiteY2" fmla="*/ 22236 h 22236"/>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291 h 22912"/>
                <a:gd name="connsiteX1" fmla="*/ 10561 w 14659"/>
                <a:gd name="connsiteY1" fmla="*/ 0 h 22912"/>
                <a:gd name="connsiteX2" fmla="*/ 14659 w 14659"/>
                <a:gd name="connsiteY2" fmla="*/ 22912 h 22912"/>
                <a:gd name="connsiteX0" fmla="*/ 0 w 14659"/>
                <a:gd name="connsiteY0" fmla="*/ 9291 h 22912"/>
                <a:gd name="connsiteX1" fmla="*/ 10561 w 14659"/>
                <a:gd name="connsiteY1" fmla="*/ 0 h 22912"/>
                <a:gd name="connsiteX2" fmla="*/ 14659 w 14659"/>
                <a:gd name="connsiteY2" fmla="*/ 22912 h 22912"/>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5101"/>
                <a:gd name="connsiteY0" fmla="*/ 8257 h 21878"/>
                <a:gd name="connsiteX1" fmla="*/ 10561 w 15101"/>
                <a:gd name="connsiteY1" fmla="*/ 1912 h 21878"/>
                <a:gd name="connsiteX2" fmla="*/ 14659 w 15101"/>
                <a:gd name="connsiteY2" fmla="*/ 21878 h 21878"/>
                <a:gd name="connsiteX0" fmla="*/ 0 w 16291"/>
                <a:gd name="connsiteY0" fmla="*/ 8257 h 21878"/>
                <a:gd name="connsiteX1" fmla="*/ 10561 w 16291"/>
                <a:gd name="connsiteY1" fmla="*/ 1912 h 21878"/>
                <a:gd name="connsiteX2" fmla="*/ 14659 w 16291"/>
                <a:gd name="connsiteY2" fmla="*/ 21878 h 21878"/>
                <a:gd name="connsiteX0" fmla="*/ 0 w 15439"/>
                <a:gd name="connsiteY0" fmla="*/ 8257 h 21878"/>
                <a:gd name="connsiteX1" fmla="*/ 10561 w 15439"/>
                <a:gd name="connsiteY1" fmla="*/ 1912 h 21878"/>
                <a:gd name="connsiteX2" fmla="*/ 14659 w 15439"/>
                <a:gd name="connsiteY2" fmla="*/ 21878 h 21878"/>
                <a:gd name="connsiteX0" fmla="*/ 0 w 15439"/>
                <a:gd name="connsiteY0" fmla="*/ 8257 h 21878"/>
                <a:gd name="connsiteX1" fmla="*/ 8214 w 15439"/>
                <a:gd name="connsiteY1" fmla="*/ 1912 h 21878"/>
                <a:gd name="connsiteX2" fmla="*/ 14659 w 15439"/>
                <a:gd name="connsiteY2" fmla="*/ 21878 h 21878"/>
                <a:gd name="connsiteX0" fmla="*/ 0 w 15439"/>
                <a:gd name="connsiteY0" fmla="*/ 8257 h 21878"/>
                <a:gd name="connsiteX1" fmla="*/ 8214 w 15439"/>
                <a:gd name="connsiteY1" fmla="*/ 7804 h 21878"/>
                <a:gd name="connsiteX2" fmla="*/ 14659 w 15439"/>
                <a:gd name="connsiteY2" fmla="*/ 21878 h 21878"/>
                <a:gd name="connsiteX0" fmla="*/ 0 w 15439"/>
                <a:gd name="connsiteY0" fmla="*/ 2440 h 16061"/>
                <a:gd name="connsiteX1" fmla="*/ 8214 w 15439"/>
                <a:gd name="connsiteY1" fmla="*/ 1987 h 16061"/>
                <a:gd name="connsiteX2" fmla="*/ 14659 w 15439"/>
                <a:gd name="connsiteY2" fmla="*/ 16061 h 16061"/>
                <a:gd name="connsiteX0" fmla="*/ 0 w 15439"/>
                <a:gd name="connsiteY0" fmla="*/ 3528 h 17149"/>
                <a:gd name="connsiteX1" fmla="*/ 8214 w 15439"/>
                <a:gd name="connsiteY1" fmla="*/ 129 h 17149"/>
                <a:gd name="connsiteX2" fmla="*/ 14659 w 15439"/>
                <a:gd name="connsiteY2" fmla="*/ 17149 h 17149"/>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7960 w 15439"/>
                <a:gd name="connsiteY1" fmla="*/ 2970 h 17430"/>
                <a:gd name="connsiteX2" fmla="*/ 14659 w 15439"/>
                <a:gd name="connsiteY2" fmla="*/ 17430 h 17430"/>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039"/>
                <a:gd name="connsiteY0" fmla="*/ 1060 h 14681"/>
                <a:gd name="connsiteX1" fmla="*/ 8044 w 15039"/>
                <a:gd name="connsiteY1" fmla="*/ 832 h 14681"/>
                <a:gd name="connsiteX2" fmla="*/ 14659 w 15039"/>
                <a:gd name="connsiteY2" fmla="*/ 14681 h 14681"/>
                <a:gd name="connsiteX0" fmla="*/ 0 w 15039"/>
                <a:gd name="connsiteY0" fmla="*/ 6130 h 19751"/>
                <a:gd name="connsiteX1" fmla="*/ 7898 w 15039"/>
                <a:gd name="connsiteY1" fmla="*/ 105 h 19751"/>
                <a:gd name="connsiteX2" fmla="*/ 14659 w 15039"/>
                <a:gd name="connsiteY2" fmla="*/ 19751 h 19751"/>
                <a:gd name="connsiteX0" fmla="*/ 0 w 15039"/>
                <a:gd name="connsiteY0" fmla="*/ 6025 h 19646"/>
                <a:gd name="connsiteX1" fmla="*/ 7898 w 15039"/>
                <a:gd name="connsiteY1" fmla="*/ 0 h 19646"/>
                <a:gd name="connsiteX2" fmla="*/ 14659 w 15039"/>
                <a:gd name="connsiteY2" fmla="*/ 19646 h 19646"/>
                <a:gd name="connsiteX0" fmla="*/ 0 w 15039"/>
                <a:gd name="connsiteY0" fmla="*/ 6025 h 19646"/>
                <a:gd name="connsiteX1" fmla="*/ 7898 w 15039"/>
                <a:gd name="connsiteY1" fmla="*/ 0 h 19646"/>
                <a:gd name="connsiteX2" fmla="*/ 14659 w 15039"/>
                <a:gd name="connsiteY2" fmla="*/ 19646 h 19646"/>
                <a:gd name="connsiteX0" fmla="*/ 0 w 12972"/>
                <a:gd name="connsiteY0" fmla="*/ 8923 h 14681"/>
                <a:gd name="connsiteX1" fmla="*/ 7898 w 12972"/>
                <a:gd name="connsiteY1" fmla="*/ 2898 h 14681"/>
                <a:gd name="connsiteX2" fmla="*/ 12592 w 12972"/>
                <a:gd name="connsiteY2" fmla="*/ 14681 h 14681"/>
                <a:gd name="connsiteX0" fmla="*/ 0 w 12972"/>
                <a:gd name="connsiteY0" fmla="*/ 8923 h 14681"/>
                <a:gd name="connsiteX1" fmla="*/ 7263 w 12972"/>
                <a:gd name="connsiteY1" fmla="*/ 1519 h 14681"/>
                <a:gd name="connsiteX2" fmla="*/ 12592 w 12972"/>
                <a:gd name="connsiteY2" fmla="*/ 14681 h 14681"/>
                <a:gd name="connsiteX0" fmla="*/ 0 w 12592"/>
                <a:gd name="connsiteY0" fmla="*/ 7404 h 13162"/>
                <a:gd name="connsiteX1" fmla="*/ 7263 w 12592"/>
                <a:gd name="connsiteY1" fmla="*/ 0 h 13162"/>
                <a:gd name="connsiteX2" fmla="*/ 12592 w 12592"/>
                <a:gd name="connsiteY2" fmla="*/ 13162 h 13162"/>
                <a:gd name="connsiteX0" fmla="*/ 0 w 12592"/>
                <a:gd name="connsiteY0" fmla="*/ 7404 h 13162"/>
                <a:gd name="connsiteX1" fmla="*/ 7263 w 12592"/>
                <a:gd name="connsiteY1" fmla="*/ 0 h 13162"/>
                <a:gd name="connsiteX2" fmla="*/ 12592 w 12592"/>
                <a:gd name="connsiteY2" fmla="*/ 13162 h 13162"/>
                <a:gd name="connsiteX0" fmla="*/ 0 w 9567"/>
                <a:gd name="connsiteY0" fmla="*/ 7404 h 26175"/>
                <a:gd name="connsiteX1" fmla="*/ 7263 w 9567"/>
                <a:gd name="connsiteY1" fmla="*/ 0 h 26175"/>
                <a:gd name="connsiteX2" fmla="*/ 4909 w 9567"/>
                <a:gd name="connsiteY2" fmla="*/ 26175 h 26175"/>
                <a:gd name="connsiteX0" fmla="*/ 0 w 10000"/>
                <a:gd name="connsiteY0" fmla="*/ 2829 h 10000"/>
                <a:gd name="connsiteX1" fmla="*/ 7592 w 10000"/>
                <a:gd name="connsiteY1" fmla="*/ 0 h 10000"/>
                <a:gd name="connsiteX2" fmla="*/ 5131 w 10000"/>
                <a:gd name="connsiteY2" fmla="*/ 10000 h 10000"/>
                <a:gd name="connsiteX0" fmla="*/ 0 w 7598"/>
                <a:gd name="connsiteY0" fmla="*/ 2032 h 9203"/>
                <a:gd name="connsiteX1" fmla="*/ 5131 w 7598"/>
                <a:gd name="connsiteY1" fmla="*/ 2451 h 9203"/>
                <a:gd name="connsiteX2" fmla="*/ 5131 w 7598"/>
                <a:gd name="connsiteY2" fmla="*/ 9203 h 9203"/>
                <a:gd name="connsiteX0" fmla="*/ 0 w 10000"/>
                <a:gd name="connsiteY0" fmla="*/ 0 h 7792"/>
                <a:gd name="connsiteX1" fmla="*/ 6753 w 10000"/>
                <a:gd name="connsiteY1" fmla="*/ 455 h 7792"/>
                <a:gd name="connsiteX2" fmla="*/ 6753 w 10000"/>
                <a:gd name="connsiteY2" fmla="*/ 7792 h 7792"/>
                <a:gd name="connsiteX0" fmla="*/ 0 w 10000"/>
                <a:gd name="connsiteY0" fmla="*/ 0 h 10000"/>
                <a:gd name="connsiteX1" fmla="*/ 6753 w 10000"/>
                <a:gd name="connsiteY1" fmla="*/ 584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6753"/>
                <a:gd name="connsiteY0" fmla="*/ 0 h 10000"/>
                <a:gd name="connsiteX1" fmla="*/ 6753 w 6753"/>
                <a:gd name="connsiteY1" fmla="*/ 10000 h 10000"/>
                <a:gd name="connsiteX0" fmla="*/ 0 w 10000"/>
                <a:gd name="connsiteY0" fmla="*/ 0 h 10000"/>
                <a:gd name="connsiteX1" fmla="*/ 10000 w 10000"/>
                <a:gd name="connsiteY1" fmla="*/ 10000 h 10000"/>
                <a:gd name="connsiteX0" fmla="*/ 0 w 10000"/>
                <a:gd name="connsiteY0" fmla="*/ 0 h 10000"/>
                <a:gd name="connsiteX1" fmla="*/ 10000 w 10000"/>
                <a:gd name="connsiteY1" fmla="*/ 10000 h 10000"/>
                <a:gd name="connsiteX0" fmla="*/ 0 w 10453"/>
                <a:gd name="connsiteY0" fmla="*/ 7375 h 8436"/>
                <a:gd name="connsiteX1" fmla="*/ 10453 w 10453"/>
                <a:gd name="connsiteY1" fmla="*/ 8375 h 8436"/>
                <a:gd name="connsiteX0" fmla="*/ 0 w 10000"/>
                <a:gd name="connsiteY0" fmla="*/ 38 h 1296"/>
                <a:gd name="connsiteX1" fmla="*/ 10000 w 10000"/>
                <a:gd name="connsiteY1" fmla="*/ 1224 h 1296"/>
                <a:gd name="connsiteX0" fmla="*/ 0 w 10000"/>
                <a:gd name="connsiteY0" fmla="*/ 18588 h 28295"/>
                <a:gd name="connsiteX1" fmla="*/ 10000 w 10000"/>
                <a:gd name="connsiteY1" fmla="*/ 9444 h 28295"/>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Lst>
              <a:ahLst/>
              <a:cxnLst>
                <a:cxn ang="0">
                  <a:pos x="connsiteX0" y="connsiteY0"/>
                </a:cxn>
                <a:cxn ang="0">
                  <a:pos x="connsiteX1" y="connsiteY1"/>
                </a:cxn>
              </a:cxnLst>
              <a:rect l="l" t="t" r="r" b="b"/>
              <a:pathLst>
                <a:path w="11368" h="72877">
                  <a:moveTo>
                    <a:pt x="0" y="0"/>
                  </a:moveTo>
                  <a:cubicBezTo>
                    <a:pt x="9539" y="36354"/>
                    <a:pt x="10426" y="29646"/>
                    <a:pt x="11368" y="72877"/>
                  </a:cubicBezTo>
                </a:path>
              </a:pathLst>
            </a:custGeom>
            <a:noFill/>
            <a:ln w="38100" cap="flat" cmpd="sng">
              <a:solidFill>
                <a:srgbClr val="FFC000"/>
              </a:solidFill>
              <a:prstDash val="solid"/>
              <a:round/>
              <a:headEnd type="oval" w="med" len="med"/>
              <a:tailEnd type="triangle" w="lg" len="lg"/>
            </a:ln>
          </p:spPr>
          <p:txBody>
            <a:bodyPr tIns="91440" bIns="91440" anchor="ctr"/>
            <a:lstStyle/>
            <a:p>
              <a:endParaRPr lang="en-US" dirty="0">
                <a:latin typeface="Times New Roman" panose="02020603050405020304" pitchFamily="18" charset="0"/>
              </a:endParaRPr>
            </a:p>
          </p:txBody>
        </p:sp>
      </p:grpSp>
      <p:grpSp>
        <p:nvGrpSpPr>
          <p:cNvPr id="57" name="null"/>
          <p:cNvGrpSpPr/>
          <p:nvPr/>
        </p:nvGrpSpPr>
        <p:grpSpPr>
          <a:xfrm>
            <a:off x="3373821" y="3625952"/>
            <a:ext cx="215900" cy="123825"/>
            <a:chOff x="8748588" y="3531279"/>
            <a:chExt cx="215900" cy="123825"/>
          </a:xfrm>
        </p:grpSpPr>
        <p:sp>
          <p:nvSpPr>
            <p:cNvPr id="54" name="Line 31"/>
            <p:cNvSpPr>
              <a:spLocks noChangeShapeType="1"/>
            </p:cNvSpPr>
            <p:nvPr/>
          </p:nvSpPr>
          <p:spPr bwMode="auto">
            <a:xfrm>
              <a:off x="8748588" y="3531279"/>
              <a:ext cx="215900" cy="0"/>
            </a:xfrm>
            <a:prstGeom prst="line">
              <a:avLst/>
            </a:prstGeom>
            <a:noFill/>
            <a:ln w="28575">
              <a:solidFill>
                <a:schemeClr val="bg1">
                  <a:lumMod val="50000"/>
                </a:schemeClr>
              </a:solidFill>
              <a:round/>
              <a:headEnd/>
              <a:tailEnd/>
            </a:ln>
          </p:spPr>
          <p:txBody>
            <a:bodyPr/>
            <a:lstStyle/>
            <a:p>
              <a:endParaRPr lang="en-US" dirty="0">
                <a:latin typeface="Times New Roman" panose="02020603050405020304" pitchFamily="18" charset="0"/>
              </a:endParaRPr>
            </a:p>
          </p:txBody>
        </p:sp>
        <p:sp>
          <p:nvSpPr>
            <p:cNvPr id="55" name="Line 32"/>
            <p:cNvSpPr>
              <a:spLocks noChangeShapeType="1"/>
            </p:cNvSpPr>
            <p:nvPr/>
          </p:nvSpPr>
          <p:spPr bwMode="auto">
            <a:xfrm>
              <a:off x="8799388" y="3591604"/>
              <a:ext cx="136525" cy="0"/>
            </a:xfrm>
            <a:prstGeom prst="line">
              <a:avLst/>
            </a:prstGeom>
            <a:noFill/>
            <a:ln w="28575">
              <a:solidFill>
                <a:schemeClr val="bg1">
                  <a:lumMod val="50000"/>
                </a:schemeClr>
              </a:solidFill>
              <a:round/>
              <a:headEnd/>
              <a:tailEnd/>
            </a:ln>
          </p:spPr>
          <p:txBody>
            <a:bodyPr/>
            <a:lstStyle/>
            <a:p>
              <a:endParaRPr lang="en-US" dirty="0">
                <a:latin typeface="Times New Roman" panose="02020603050405020304" pitchFamily="18" charset="0"/>
              </a:endParaRPr>
            </a:p>
          </p:txBody>
        </p:sp>
        <p:sp>
          <p:nvSpPr>
            <p:cNvPr id="56" name="Line 33"/>
            <p:cNvSpPr>
              <a:spLocks noChangeShapeType="1"/>
            </p:cNvSpPr>
            <p:nvPr/>
          </p:nvSpPr>
          <p:spPr bwMode="auto">
            <a:xfrm>
              <a:off x="8829551" y="3655104"/>
              <a:ext cx="82550" cy="0"/>
            </a:xfrm>
            <a:prstGeom prst="line">
              <a:avLst/>
            </a:prstGeom>
            <a:noFill/>
            <a:ln w="28575">
              <a:solidFill>
                <a:schemeClr val="bg1">
                  <a:lumMod val="50000"/>
                </a:schemeClr>
              </a:solidFill>
              <a:round/>
              <a:headEnd/>
              <a:tailEnd/>
            </a:ln>
          </p:spPr>
          <p:txBody>
            <a:bodyPr/>
            <a:lstStyle/>
            <a:p>
              <a:endParaRPr lang="en-US" dirty="0">
                <a:latin typeface="Times New Roman" panose="02020603050405020304" pitchFamily="18" charset="0"/>
              </a:endParaRPr>
            </a:p>
          </p:txBody>
        </p:sp>
      </p:grpSp>
      <p:grpSp>
        <p:nvGrpSpPr>
          <p:cNvPr id="4" name="Group 3">
            <a:extLst>
              <a:ext uri="{FF2B5EF4-FFF2-40B4-BE49-F238E27FC236}">
                <a16:creationId xmlns:a16="http://schemas.microsoft.com/office/drawing/2014/main" id="{0297BF65-A425-CCD8-EEFD-132F060D6F86}"/>
              </a:ext>
            </a:extLst>
          </p:cNvPr>
          <p:cNvGrpSpPr/>
          <p:nvPr/>
        </p:nvGrpSpPr>
        <p:grpSpPr>
          <a:xfrm>
            <a:off x="899331" y="4989598"/>
            <a:ext cx="3312368" cy="648072"/>
            <a:chOff x="539552" y="1628800"/>
            <a:chExt cx="3312368" cy="648072"/>
          </a:xfrm>
        </p:grpSpPr>
        <p:sp>
          <p:nvSpPr>
            <p:cNvPr id="8" name="Rectangle 7">
              <a:extLst>
                <a:ext uri="{FF2B5EF4-FFF2-40B4-BE49-F238E27FC236}">
                  <a16:creationId xmlns:a16="http://schemas.microsoft.com/office/drawing/2014/main" id="{711D763F-1D49-F3DA-EE53-5B9DCE06E61C}"/>
                </a:ext>
              </a:extLst>
            </p:cNvPr>
            <p:cNvSpPr>
              <a:spLocks noChangeArrowheads="1"/>
            </p:cNvSpPr>
            <p:nvPr/>
          </p:nvSpPr>
          <p:spPr bwMode="auto">
            <a:xfrm>
              <a:off x="539552" y="1628800"/>
              <a:ext cx="2091658" cy="287428"/>
            </a:xfrm>
            <a:prstGeom prst="rect">
              <a:avLst/>
            </a:prstGeom>
            <a:solidFill>
              <a:srgbClr val="0066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6600"/>
              </a:extrusionClr>
            </a:sp3d>
          </p:spPr>
          <p:txBody>
            <a:bodyPr wrap="none" anchor="ctr">
              <a:flatTx/>
            </a:bodyPr>
            <a:lstStyle/>
            <a:p>
              <a:pPr>
                <a:buNone/>
              </a:pPr>
              <a:r>
                <a:rPr lang="en-US" dirty="0">
                  <a:solidFill>
                    <a:srgbClr val="66FF33"/>
                  </a:solidFill>
                  <a:latin typeface="Times New Roman" panose="02020603050405020304" pitchFamily="18" charset="0"/>
                  <a:cs typeface="Times New Roman" panose="02020603050405020304" pitchFamily="18" charset="0"/>
                </a:rPr>
                <a:t>aPtrToTheList</a:t>
              </a:r>
            </a:p>
          </p:txBody>
        </p:sp>
        <p:sp>
          <p:nvSpPr>
            <p:cNvPr id="10" name="Freeform 29">
              <a:extLst>
                <a:ext uri="{FF2B5EF4-FFF2-40B4-BE49-F238E27FC236}">
                  <a16:creationId xmlns:a16="http://schemas.microsoft.com/office/drawing/2014/main" id="{21D02064-D617-4F57-457A-DB7EAE5398CC}"/>
                </a:ext>
              </a:extLst>
            </p:cNvPr>
            <p:cNvSpPr>
              <a:spLocks/>
            </p:cNvSpPr>
            <p:nvPr/>
          </p:nvSpPr>
          <p:spPr bwMode="auto">
            <a:xfrm>
              <a:off x="2509596" y="1775138"/>
              <a:ext cx="1342324" cy="501734"/>
            </a:xfrm>
            <a:custGeom>
              <a:avLst/>
              <a:gdLst>
                <a:gd name="T0" fmla="*/ 0 w 338"/>
                <a:gd name="T1" fmla="*/ 7 h 230"/>
                <a:gd name="T2" fmla="*/ 211 w 338"/>
                <a:gd name="T3" fmla="*/ 10 h 230"/>
                <a:gd name="T4" fmla="*/ 319 w 338"/>
                <a:gd name="T5" fmla="*/ 67 h 230"/>
                <a:gd name="T6" fmla="*/ 328 w 338"/>
                <a:gd name="T7" fmla="*/ 230 h 230"/>
                <a:gd name="T8" fmla="*/ 0 60000 65536"/>
                <a:gd name="T9" fmla="*/ 0 60000 65536"/>
                <a:gd name="T10" fmla="*/ 0 60000 65536"/>
                <a:gd name="T11" fmla="*/ 0 60000 65536"/>
                <a:gd name="T12" fmla="*/ 0 w 338"/>
                <a:gd name="T13" fmla="*/ 0 h 230"/>
                <a:gd name="T14" fmla="*/ 338 w 338"/>
                <a:gd name="T15" fmla="*/ 230 h 230"/>
                <a:gd name="connsiteX0" fmla="*/ 0 w 10384"/>
                <a:gd name="connsiteY0" fmla="*/ 2711 h 12407"/>
                <a:gd name="connsiteX1" fmla="*/ 4026 w 10384"/>
                <a:gd name="connsiteY1" fmla="*/ 435 h 12407"/>
                <a:gd name="connsiteX2" fmla="*/ 9438 w 10384"/>
                <a:gd name="connsiteY2" fmla="*/ 5320 h 12407"/>
                <a:gd name="connsiteX3" fmla="*/ 9704 w 10384"/>
                <a:gd name="connsiteY3" fmla="*/ 12407 h 12407"/>
                <a:gd name="connsiteX0" fmla="*/ 0 w 10340"/>
                <a:gd name="connsiteY0" fmla="*/ 4271 h 13967"/>
                <a:gd name="connsiteX1" fmla="*/ 4026 w 10340"/>
                <a:gd name="connsiteY1" fmla="*/ 1995 h 13967"/>
                <a:gd name="connsiteX2" fmla="*/ 9394 w 10340"/>
                <a:gd name="connsiteY2" fmla="*/ 1995 h 13967"/>
                <a:gd name="connsiteX3" fmla="*/ 9704 w 10340"/>
                <a:gd name="connsiteY3" fmla="*/ 13967 h 13967"/>
                <a:gd name="connsiteX0" fmla="*/ 0 w 11436"/>
                <a:gd name="connsiteY0" fmla="*/ 3232 h 6695"/>
                <a:gd name="connsiteX1" fmla="*/ 4026 w 11436"/>
                <a:gd name="connsiteY1" fmla="*/ 956 h 6695"/>
                <a:gd name="connsiteX2" fmla="*/ 9394 w 11436"/>
                <a:gd name="connsiteY2" fmla="*/ 956 h 6695"/>
                <a:gd name="connsiteX3" fmla="*/ 11436 w 11436"/>
                <a:gd name="connsiteY3" fmla="*/ 6695 h 6695"/>
                <a:gd name="connsiteX0" fmla="*/ 0 w 10809"/>
                <a:gd name="connsiteY0" fmla="*/ 9251 h 14424"/>
                <a:gd name="connsiteX1" fmla="*/ 3520 w 10809"/>
                <a:gd name="connsiteY1" fmla="*/ 5852 h 14424"/>
                <a:gd name="connsiteX2" fmla="*/ 9729 w 10809"/>
                <a:gd name="connsiteY2" fmla="*/ 1428 h 14424"/>
                <a:gd name="connsiteX3" fmla="*/ 10000 w 10809"/>
                <a:gd name="connsiteY3" fmla="*/ 14424 h 14424"/>
                <a:gd name="connsiteX0" fmla="*/ 0 w 10618"/>
                <a:gd name="connsiteY0" fmla="*/ 9091 h 14264"/>
                <a:gd name="connsiteX1" fmla="*/ 3520 w 10618"/>
                <a:gd name="connsiteY1" fmla="*/ 5692 h 14264"/>
                <a:gd name="connsiteX2" fmla="*/ 9538 w 10618"/>
                <a:gd name="connsiteY2" fmla="*/ 1428 h 14264"/>
                <a:gd name="connsiteX3" fmla="*/ 10000 w 10618"/>
                <a:gd name="connsiteY3" fmla="*/ 14264 h 14264"/>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4082"/>
                <a:gd name="connsiteY0" fmla="*/ 11994 h 26269"/>
                <a:gd name="connsiteX1" fmla="*/ 4985 w 14082"/>
                <a:gd name="connsiteY1" fmla="*/ 283 h 26269"/>
                <a:gd name="connsiteX2" fmla="*/ 9538 w 14082"/>
                <a:gd name="connsiteY2" fmla="*/ 4331 h 26269"/>
                <a:gd name="connsiteX3" fmla="*/ 14082 w 14082"/>
                <a:gd name="connsiteY3" fmla="*/ 26269 h 26269"/>
                <a:gd name="connsiteX0" fmla="*/ 0 w 14082"/>
                <a:gd name="connsiteY0" fmla="*/ 11711 h 25986"/>
                <a:gd name="connsiteX1" fmla="*/ 4985 w 14082"/>
                <a:gd name="connsiteY1" fmla="*/ 0 h 25986"/>
                <a:gd name="connsiteX2" fmla="*/ 14082 w 14082"/>
                <a:gd name="connsiteY2" fmla="*/ 25986 h 25986"/>
                <a:gd name="connsiteX0" fmla="*/ 0 w 14082"/>
                <a:gd name="connsiteY0" fmla="*/ 7210 h 21485"/>
                <a:gd name="connsiteX1" fmla="*/ 9388 w 14082"/>
                <a:gd name="connsiteY1" fmla="*/ 865 h 21485"/>
                <a:gd name="connsiteX2" fmla="*/ 14082 w 14082"/>
                <a:gd name="connsiteY2" fmla="*/ 21485 h 21485"/>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2908 w 14082"/>
                <a:gd name="connsiteY2" fmla="*/ 8055 h 22784"/>
                <a:gd name="connsiteX3" fmla="*/ 14082 w 14082"/>
                <a:gd name="connsiteY3" fmla="*/ 22784 h 22784"/>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864"/>
                <a:gd name="connsiteY0" fmla="*/ 8509 h 22130"/>
                <a:gd name="connsiteX1" fmla="*/ 9388 w 14864"/>
                <a:gd name="connsiteY1" fmla="*/ 2164 h 22130"/>
                <a:gd name="connsiteX2" fmla="*/ 14082 w 14864"/>
                <a:gd name="connsiteY2" fmla="*/ 5110 h 22130"/>
                <a:gd name="connsiteX3" fmla="*/ 14659 w 14864"/>
                <a:gd name="connsiteY3" fmla="*/ 22130 h 22130"/>
                <a:gd name="connsiteX0" fmla="*/ 0 w 14864"/>
                <a:gd name="connsiteY0" fmla="*/ 10596 h 24217"/>
                <a:gd name="connsiteX1" fmla="*/ 8214 w 14864"/>
                <a:gd name="connsiteY1" fmla="*/ 1305 h 24217"/>
                <a:gd name="connsiteX2" fmla="*/ 14082 w 14864"/>
                <a:gd name="connsiteY2" fmla="*/ 7197 h 24217"/>
                <a:gd name="connsiteX3" fmla="*/ 14659 w 14864"/>
                <a:gd name="connsiteY3" fmla="*/ 24217 h 24217"/>
                <a:gd name="connsiteX0" fmla="*/ 0 w 14864"/>
                <a:gd name="connsiteY0" fmla="*/ 10615 h 24236"/>
                <a:gd name="connsiteX1" fmla="*/ 8214 w 14864"/>
                <a:gd name="connsiteY1" fmla="*/ 1324 h 24236"/>
                <a:gd name="connsiteX2" fmla="*/ 14082 w 14864"/>
                <a:gd name="connsiteY2" fmla="*/ 7216 h 24236"/>
                <a:gd name="connsiteX3" fmla="*/ 14659 w 14864"/>
                <a:gd name="connsiteY3" fmla="*/ 24236 h 2423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659"/>
                <a:gd name="connsiteY0" fmla="*/ 9865 h 23486"/>
                <a:gd name="connsiteX1" fmla="*/ 8214 w 14659"/>
                <a:gd name="connsiteY1" fmla="*/ 574 h 23486"/>
                <a:gd name="connsiteX2" fmla="*/ 14082 w 14659"/>
                <a:gd name="connsiteY2" fmla="*/ 6466 h 23486"/>
                <a:gd name="connsiteX3" fmla="*/ 14659 w 14659"/>
                <a:gd name="connsiteY3" fmla="*/ 23486 h 23486"/>
                <a:gd name="connsiteX0" fmla="*/ 0 w 14844"/>
                <a:gd name="connsiteY0" fmla="*/ 9865 h 23486"/>
                <a:gd name="connsiteX1" fmla="*/ 8214 w 14844"/>
                <a:gd name="connsiteY1" fmla="*/ 574 h 23486"/>
                <a:gd name="connsiteX2" fmla="*/ 14082 w 14844"/>
                <a:gd name="connsiteY2" fmla="*/ 6466 h 23486"/>
                <a:gd name="connsiteX3" fmla="*/ 14659 w 14844"/>
                <a:gd name="connsiteY3" fmla="*/ 23486 h 23486"/>
                <a:gd name="connsiteX0" fmla="*/ 0 w 14659"/>
                <a:gd name="connsiteY0" fmla="*/ 9865 h 23486"/>
                <a:gd name="connsiteX1" fmla="*/ 8214 w 14659"/>
                <a:gd name="connsiteY1" fmla="*/ 574 h 23486"/>
                <a:gd name="connsiteX2" fmla="*/ 12908 w 14659"/>
                <a:gd name="connsiteY2" fmla="*/ 3520 h 23486"/>
                <a:gd name="connsiteX3" fmla="*/ 14659 w 14659"/>
                <a:gd name="connsiteY3" fmla="*/ 23486 h 23486"/>
                <a:gd name="connsiteX0" fmla="*/ 0 w 14659"/>
                <a:gd name="connsiteY0" fmla="*/ 11631 h 25252"/>
                <a:gd name="connsiteX1" fmla="*/ 8214 w 14659"/>
                <a:gd name="connsiteY1" fmla="*/ 2340 h 25252"/>
                <a:gd name="connsiteX2" fmla="*/ 12908 w 14659"/>
                <a:gd name="connsiteY2" fmla="*/ 5286 h 25252"/>
                <a:gd name="connsiteX3" fmla="*/ 14659 w 14659"/>
                <a:gd name="connsiteY3" fmla="*/ 25252 h 25252"/>
                <a:gd name="connsiteX0" fmla="*/ 0 w 14659"/>
                <a:gd name="connsiteY0" fmla="*/ 12438 h 26059"/>
                <a:gd name="connsiteX1" fmla="*/ 8214 w 14659"/>
                <a:gd name="connsiteY1" fmla="*/ 3147 h 26059"/>
                <a:gd name="connsiteX2" fmla="*/ 12908 w 14659"/>
                <a:gd name="connsiteY2" fmla="*/ 6093 h 26059"/>
                <a:gd name="connsiteX3" fmla="*/ 14659 w 14659"/>
                <a:gd name="connsiteY3" fmla="*/ 26059 h 26059"/>
                <a:gd name="connsiteX0" fmla="*/ 0 w 14659"/>
                <a:gd name="connsiteY0" fmla="*/ 8615 h 22236"/>
                <a:gd name="connsiteX1" fmla="*/ 12908 w 14659"/>
                <a:gd name="connsiteY1" fmla="*/ 2270 h 22236"/>
                <a:gd name="connsiteX2" fmla="*/ 14659 w 14659"/>
                <a:gd name="connsiteY2" fmla="*/ 22236 h 22236"/>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291 h 22912"/>
                <a:gd name="connsiteX1" fmla="*/ 10561 w 14659"/>
                <a:gd name="connsiteY1" fmla="*/ 0 h 22912"/>
                <a:gd name="connsiteX2" fmla="*/ 14659 w 14659"/>
                <a:gd name="connsiteY2" fmla="*/ 22912 h 22912"/>
                <a:gd name="connsiteX0" fmla="*/ 0 w 14659"/>
                <a:gd name="connsiteY0" fmla="*/ 9291 h 22912"/>
                <a:gd name="connsiteX1" fmla="*/ 10561 w 14659"/>
                <a:gd name="connsiteY1" fmla="*/ 0 h 22912"/>
                <a:gd name="connsiteX2" fmla="*/ 14659 w 14659"/>
                <a:gd name="connsiteY2" fmla="*/ 22912 h 22912"/>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5101"/>
                <a:gd name="connsiteY0" fmla="*/ 8257 h 21878"/>
                <a:gd name="connsiteX1" fmla="*/ 10561 w 15101"/>
                <a:gd name="connsiteY1" fmla="*/ 1912 h 21878"/>
                <a:gd name="connsiteX2" fmla="*/ 14659 w 15101"/>
                <a:gd name="connsiteY2" fmla="*/ 21878 h 21878"/>
                <a:gd name="connsiteX0" fmla="*/ 0 w 16291"/>
                <a:gd name="connsiteY0" fmla="*/ 8257 h 21878"/>
                <a:gd name="connsiteX1" fmla="*/ 10561 w 16291"/>
                <a:gd name="connsiteY1" fmla="*/ 1912 h 21878"/>
                <a:gd name="connsiteX2" fmla="*/ 14659 w 16291"/>
                <a:gd name="connsiteY2" fmla="*/ 21878 h 21878"/>
                <a:gd name="connsiteX0" fmla="*/ 0 w 15439"/>
                <a:gd name="connsiteY0" fmla="*/ 8257 h 21878"/>
                <a:gd name="connsiteX1" fmla="*/ 10561 w 15439"/>
                <a:gd name="connsiteY1" fmla="*/ 1912 h 21878"/>
                <a:gd name="connsiteX2" fmla="*/ 14659 w 15439"/>
                <a:gd name="connsiteY2" fmla="*/ 21878 h 21878"/>
                <a:gd name="connsiteX0" fmla="*/ 0 w 15439"/>
                <a:gd name="connsiteY0" fmla="*/ 8257 h 21878"/>
                <a:gd name="connsiteX1" fmla="*/ 8214 w 15439"/>
                <a:gd name="connsiteY1" fmla="*/ 1912 h 21878"/>
                <a:gd name="connsiteX2" fmla="*/ 14659 w 15439"/>
                <a:gd name="connsiteY2" fmla="*/ 21878 h 21878"/>
                <a:gd name="connsiteX0" fmla="*/ 0 w 15439"/>
                <a:gd name="connsiteY0" fmla="*/ 8257 h 21878"/>
                <a:gd name="connsiteX1" fmla="*/ 8214 w 15439"/>
                <a:gd name="connsiteY1" fmla="*/ 7804 h 21878"/>
                <a:gd name="connsiteX2" fmla="*/ 14659 w 15439"/>
                <a:gd name="connsiteY2" fmla="*/ 21878 h 21878"/>
                <a:gd name="connsiteX0" fmla="*/ 0 w 15439"/>
                <a:gd name="connsiteY0" fmla="*/ 2440 h 16061"/>
                <a:gd name="connsiteX1" fmla="*/ 8214 w 15439"/>
                <a:gd name="connsiteY1" fmla="*/ 1987 h 16061"/>
                <a:gd name="connsiteX2" fmla="*/ 14659 w 15439"/>
                <a:gd name="connsiteY2" fmla="*/ 16061 h 16061"/>
                <a:gd name="connsiteX0" fmla="*/ 0 w 15439"/>
                <a:gd name="connsiteY0" fmla="*/ 3528 h 17149"/>
                <a:gd name="connsiteX1" fmla="*/ 8214 w 15439"/>
                <a:gd name="connsiteY1" fmla="*/ 129 h 17149"/>
                <a:gd name="connsiteX2" fmla="*/ 14659 w 15439"/>
                <a:gd name="connsiteY2" fmla="*/ 17149 h 17149"/>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7960 w 15439"/>
                <a:gd name="connsiteY1" fmla="*/ 2970 h 17430"/>
                <a:gd name="connsiteX2" fmla="*/ 14659 w 15439"/>
                <a:gd name="connsiteY2" fmla="*/ 17430 h 17430"/>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039"/>
                <a:gd name="connsiteY0" fmla="*/ 1060 h 14681"/>
                <a:gd name="connsiteX1" fmla="*/ 8044 w 15039"/>
                <a:gd name="connsiteY1" fmla="*/ 832 h 14681"/>
                <a:gd name="connsiteX2" fmla="*/ 14659 w 15039"/>
                <a:gd name="connsiteY2" fmla="*/ 14681 h 14681"/>
                <a:gd name="connsiteX0" fmla="*/ 0 w 15039"/>
                <a:gd name="connsiteY0" fmla="*/ 6130 h 19751"/>
                <a:gd name="connsiteX1" fmla="*/ 7898 w 15039"/>
                <a:gd name="connsiteY1" fmla="*/ 105 h 19751"/>
                <a:gd name="connsiteX2" fmla="*/ 14659 w 15039"/>
                <a:gd name="connsiteY2" fmla="*/ 19751 h 19751"/>
                <a:gd name="connsiteX0" fmla="*/ 0 w 15039"/>
                <a:gd name="connsiteY0" fmla="*/ 6025 h 19646"/>
                <a:gd name="connsiteX1" fmla="*/ 7898 w 15039"/>
                <a:gd name="connsiteY1" fmla="*/ 0 h 19646"/>
                <a:gd name="connsiteX2" fmla="*/ 14659 w 15039"/>
                <a:gd name="connsiteY2" fmla="*/ 19646 h 19646"/>
                <a:gd name="connsiteX0" fmla="*/ 0 w 15039"/>
                <a:gd name="connsiteY0" fmla="*/ 6025 h 19646"/>
                <a:gd name="connsiteX1" fmla="*/ 7898 w 15039"/>
                <a:gd name="connsiteY1" fmla="*/ 0 h 19646"/>
                <a:gd name="connsiteX2" fmla="*/ 14659 w 15039"/>
                <a:gd name="connsiteY2" fmla="*/ 19646 h 19646"/>
                <a:gd name="connsiteX0" fmla="*/ 0 w 12972"/>
                <a:gd name="connsiteY0" fmla="*/ 8923 h 14681"/>
                <a:gd name="connsiteX1" fmla="*/ 7898 w 12972"/>
                <a:gd name="connsiteY1" fmla="*/ 2898 h 14681"/>
                <a:gd name="connsiteX2" fmla="*/ 12592 w 12972"/>
                <a:gd name="connsiteY2" fmla="*/ 14681 h 14681"/>
                <a:gd name="connsiteX0" fmla="*/ 0 w 12972"/>
                <a:gd name="connsiteY0" fmla="*/ 8923 h 14681"/>
                <a:gd name="connsiteX1" fmla="*/ 7263 w 12972"/>
                <a:gd name="connsiteY1" fmla="*/ 1519 h 14681"/>
                <a:gd name="connsiteX2" fmla="*/ 12592 w 12972"/>
                <a:gd name="connsiteY2" fmla="*/ 14681 h 14681"/>
                <a:gd name="connsiteX0" fmla="*/ 0 w 12592"/>
                <a:gd name="connsiteY0" fmla="*/ 7404 h 13162"/>
                <a:gd name="connsiteX1" fmla="*/ 7263 w 12592"/>
                <a:gd name="connsiteY1" fmla="*/ 0 h 13162"/>
                <a:gd name="connsiteX2" fmla="*/ 12592 w 12592"/>
                <a:gd name="connsiteY2" fmla="*/ 13162 h 13162"/>
                <a:gd name="connsiteX0" fmla="*/ 0 w 12592"/>
                <a:gd name="connsiteY0" fmla="*/ 7404 h 13162"/>
                <a:gd name="connsiteX1" fmla="*/ 7263 w 12592"/>
                <a:gd name="connsiteY1" fmla="*/ 0 h 13162"/>
                <a:gd name="connsiteX2" fmla="*/ 12592 w 12592"/>
                <a:gd name="connsiteY2" fmla="*/ 13162 h 13162"/>
                <a:gd name="connsiteX0" fmla="*/ 0 w 9567"/>
                <a:gd name="connsiteY0" fmla="*/ 7404 h 26175"/>
                <a:gd name="connsiteX1" fmla="*/ 7263 w 9567"/>
                <a:gd name="connsiteY1" fmla="*/ 0 h 26175"/>
                <a:gd name="connsiteX2" fmla="*/ 4909 w 9567"/>
                <a:gd name="connsiteY2" fmla="*/ 26175 h 26175"/>
                <a:gd name="connsiteX0" fmla="*/ 0 w 10000"/>
                <a:gd name="connsiteY0" fmla="*/ 2829 h 10000"/>
                <a:gd name="connsiteX1" fmla="*/ 7592 w 10000"/>
                <a:gd name="connsiteY1" fmla="*/ 0 h 10000"/>
                <a:gd name="connsiteX2" fmla="*/ 5131 w 10000"/>
                <a:gd name="connsiteY2" fmla="*/ 10000 h 10000"/>
                <a:gd name="connsiteX0" fmla="*/ 0 w 7598"/>
                <a:gd name="connsiteY0" fmla="*/ 2032 h 9203"/>
                <a:gd name="connsiteX1" fmla="*/ 5131 w 7598"/>
                <a:gd name="connsiteY1" fmla="*/ 2451 h 9203"/>
                <a:gd name="connsiteX2" fmla="*/ 5131 w 7598"/>
                <a:gd name="connsiteY2" fmla="*/ 9203 h 9203"/>
                <a:gd name="connsiteX0" fmla="*/ 0 w 10000"/>
                <a:gd name="connsiteY0" fmla="*/ 0 h 7792"/>
                <a:gd name="connsiteX1" fmla="*/ 6753 w 10000"/>
                <a:gd name="connsiteY1" fmla="*/ 455 h 7792"/>
                <a:gd name="connsiteX2" fmla="*/ 6753 w 10000"/>
                <a:gd name="connsiteY2" fmla="*/ 7792 h 7792"/>
                <a:gd name="connsiteX0" fmla="*/ 0 w 10000"/>
                <a:gd name="connsiteY0" fmla="*/ 0 h 10000"/>
                <a:gd name="connsiteX1" fmla="*/ 6753 w 10000"/>
                <a:gd name="connsiteY1" fmla="*/ 584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6753"/>
                <a:gd name="connsiteY0" fmla="*/ 0 h 10000"/>
                <a:gd name="connsiteX1" fmla="*/ 6753 w 6753"/>
                <a:gd name="connsiteY1" fmla="*/ 10000 h 10000"/>
                <a:gd name="connsiteX0" fmla="*/ 0 w 10000"/>
                <a:gd name="connsiteY0" fmla="*/ 0 h 10000"/>
                <a:gd name="connsiteX1" fmla="*/ 10000 w 10000"/>
                <a:gd name="connsiteY1" fmla="*/ 10000 h 10000"/>
                <a:gd name="connsiteX0" fmla="*/ 0 w 10000"/>
                <a:gd name="connsiteY0" fmla="*/ 0 h 10000"/>
                <a:gd name="connsiteX1" fmla="*/ 10000 w 10000"/>
                <a:gd name="connsiteY1" fmla="*/ 10000 h 10000"/>
                <a:gd name="connsiteX0" fmla="*/ 0 w 10453"/>
                <a:gd name="connsiteY0" fmla="*/ 7375 h 8436"/>
                <a:gd name="connsiteX1" fmla="*/ 10453 w 10453"/>
                <a:gd name="connsiteY1" fmla="*/ 8375 h 8436"/>
                <a:gd name="connsiteX0" fmla="*/ 0 w 10000"/>
                <a:gd name="connsiteY0" fmla="*/ 38 h 1296"/>
                <a:gd name="connsiteX1" fmla="*/ 10000 w 10000"/>
                <a:gd name="connsiteY1" fmla="*/ 1224 h 1296"/>
                <a:gd name="connsiteX0" fmla="*/ 0 w 10000"/>
                <a:gd name="connsiteY0" fmla="*/ 18588 h 28295"/>
                <a:gd name="connsiteX1" fmla="*/ 10000 w 10000"/>
                <a:gd name="connsiteY1" fmla="*/ 9444 h 28295"/>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Lst>
              <a:ahLst/>
              <a:cxnLst>
                <a:cxn ang="0">
                  <a:pos x="connsiteX0" y="connsiteY0"/>
                </a:cxn>
                <a:cxn ang="0">
                  <a:pos x="connsiteX1" y="connsiteY1"/>
                </a:cxn>
              </a:cxnLst>
              <a:rect l="l" t="t" r="r" b="b"/>
              <a:pathLst>
                <a:path w="11368" h="72877">
                  <a:moveTo>
                    <a:pt x="0" y="0"/>
                  </a:moveTo>
                  <a:cubicBezTo>
                    <a:pt x="9539" y="36354"/>
                    <a:pt x="10426" y="29646"/>
                    <a:pt x="11368" y="72877"/>
                  </a:cubicBezTo>
                </a:path>
              </a:pathLst>
            </a:custGeom>
            <a:noFill/>
            <a:ln w="38100" cap="flat" cmpd="sng">
              <a:solidFill>
                <a:srgbClr val="FFC000"/>
              </a:solidFill>
              <a:prstDash val="solid"/>
              <a:round/>
              <a:headEnd type="oval" w="med" len="med"/>
              <a:tailEnd type="triangle" w="lg" len="lg"/>
            </a:ln>
          </p:spPr>
          <p:txBody>
            <a:bodyPr tIns="91440" bIns="91440" anchor="ctr"/>
            <a:lstStyle/>
            <a:p>
              <a:endParaRPr lang="en-US" dirty="0">
                <a:latin typeface="Times New Roman" panose="02020603050405020304" pitchFamily="18" charset="0"/>
              </a:endParaRPr>
            </a:p>
          </p:txBody>
        </p:sp>
      </p:grpSp>
      <p:sp>
        <p:nvSpPr>
          <p:cNvPr id="12" name="TextBox 11">
            <a:extLst>
              <a:ext uri="{FF2B5EF4-FFF2-40B4-BE49-F238E27FC236}">
                <a16:creationId xmlns:a16="http://schemas.microsoft.com/office/drawing/2014/main" id="{8A44EE9F-0DA9-7D70-6CB2-FF591376F42E}"/>
              </a:ext>
            </a:extLst>
          </p:cNvPr>
          <p:cNvSpPr txBox="1"/>
          <p:nvPr/>
        </p:nvSpPr>
        <p:spPr>
          <a:xfrm>
            <a:off x="446823" y="2190275"/>
            <a:ext cx="3315331" cy="523220"/>
          </a:xfrm>
          <a:prstGeom prst="rect">
            <a:avLst/>
          </a:prstGeom>
          <a:noFill/>
        </p:spPr>
        <p:txBody>
          <a:bodyPr wrap="none" rtlCol="0">
            <a:spAutoFit/>
          </a:bodyPr>
          <a:lstStyle/>
          <a:p>
            <a:pPr marL="457200" indent="-457200">
              <a:buFont typeface="Wingdings" pitchFamily="2" charset="2"/>
              <a:buChar char="Ø"/>
            </a:pPr>
            <a:r>
              <a:rPr lang="en-US" sz="2800" dirty="0">
                <a:latin typeface="Times New Roman" panose="02020603050405020304" pitchFamily="18" charset="0"/>
              </a:rPr>
              <a:t>Empty circular list</a:t>
            </a:r>
          </a:p>
        </p:txBody>
      </p:sp>
      <p:sp>
        <p:nvSpPr>
          <p:cNvPr id="42" name="TextBox 41">
            <a:extLst>
              <a:ext uri="{FF2B5EF4-FFF2-40B4-BE49-F238E27FC236}">
                <a16:creationId xmlns:a16="http://schemas.microsoft.com/office/drawing/2014/main" id="{8CE8AA1E-1CA7-5940-C876-79724AE3D004}"/>
              </a:ext>
            </a:extLst>
          </p:cNvPr>
          <p:cNvSpPr txBox="1"/>
          <p:nvPr/>
        </p:nvSpPr>
        <p:spPr>
          <a:xfrm>
            <a:off x="446822" y="4077140"/>
            <a:ext cx="2847254" cy="523220"/>
          </a:xfrm>
          <a:prstGeom prst="rect">
            <a:avLst/>
          </a:prstGeom>
          <a:noFill/>
        </p:spPr>
        <p:txBody>
          <a:bodyPr wrap="none" rtlCol="0">
            <a:spAutoFit/>
          </a:bodyPr>
          <a:lstStyle/>
          <a:p>
            <a:pPr marL="457200" indent="-457200">
              <a:buFont typeface="Wingdings" pitchFamily="2" charset="2"/>
              <a:buChar char="Ø"/>
            </a:pPr>
            <a:r>
              <a:rPr lang="en-US" sz="2800" dirty="0">
                <a:latin typeface="Times New Roman" panose="02020603050405020304" pitchFamily="18" charset="0"/>
              </a:rPr>
              <a:t>Single Element</a:t>
            </a:r>
          </a:p>
        </p:txBody>
      </p:sp>
    </p:spTree>
    <p:extLst>
      <p:ext uri="{BB962C8B-B14F-4D97-AF65-F5344CB8AC3E}">
        <p14:creationId xmlns:p14="http://schemas.microsoft.com/office/powerpoint/2010/main" val="1338724463"/>
      </p:ext>
    </p:extLst>
  </p:cSld>
  <p:clrMapOvr>
    <a:masterClrMapping/>
  </p:clrMapOvr>
  <p:transition spd="slow">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8969" y="1890889"/>
            <a:ext cx="11670224" cy="4850873"/>
          </a:xfrm>
        </p:spPr>
        <p:txBody>
          <a:bodyPr anchor="t" anchorCtr="0">
            <a:normAutofit fontScale="92500" lnSpcReduction="10000"/>
          </a:bodyPr>
          <a:lstStyle/>
          <a:p>
            <a:r>
              <a:rPr lang="en-US" sz="3000" dirty="0"/>
              <a:t>A list header (sentinel node) is an item in a linked list that</a:t>
            </a:r>
          </a:p>
          <a:p>
            <a:pPr lvl="1"/>
            <a:r>
              <a:rPr lang="en-US" sz="3000" dirty="0"/>
              <a:t>Is the first item in the list (the head of the list)</a:t>
            </a:r>
          </a:p>
          <a:p>
            <a:pPr lvl="1"/>
            <a:r>
              <a:rPr lang="en-US" sz="3000" dirty="0"/>
              <a:t>May never be deleted (to do so would destroy the headed list)</a:t>
            </a:r>
          </a:p>
          <a:p>
            <a:pPr lvl="1"/>
            <a:r>
              <a:rPr lang="en-US" sz="3000" dirty="0"/>
              <a:t>Has some special (application specific) semantics or meaning </a:t>
            </a:r>
            <a:br>
              <a:rPr lang="en-US" sz="3000" dirty="0"/>
            </a:br>
            <a:r>
              <a:rPr lang="en-US" sz="3000" dirty="0"/>
              <a:t>(the examples will make this clearer)</a:t>
            </a:r>
          </a:p>
          <a:p>
            <a:pPr lvl="1"/>
            <a:endParaRPr lang="en-US" sz="3000" dirty="0"/>
          </a:p>
          <a:p>
            <a:pPr lvl="1"/>
            <a:endParaRPr lang="en-US" sz="3000" dirty="0"/>
          </a:p>
          <a:p>
            <a:r>
              <a:rPr lang="en-US" sz="3000" dirty="0"/>
              <a:t>Headed lists are very useful and very common; some problems cannot easily be solved any other way.</a:t>
            </a:r>
          </a:p>
          <a:p>
            <a:endParaRPr lang="en-US" sz="2200" dirty="0"/>
          </a:p>
          <a:p>
            <a:endParaRPr lang="en-US" sz="800" dirty="0"/>
          </a:p>
        </p:txBody>
      </p:sp>
      <p:sp>
        <p:nvSpPr>
          <p:cNvPr id="2" name="Title 1"/>
          <p:cNvSpPr>
            <a:spLocks noGrp="1"/>
          </p:cNvSpPr>
          <p:nvPr>
            <p:ph type="title"/>
          </p:nvPr>
        </p:nvSpPr>
        <p:spPr/>
        <p:txBody>
          <a:bodyPr>
            <a:normAutofit/>
          </a:bodyPr>
          <a:lstStyle/>
          <a:p>
            <a:r>
              <a:rPr lang="en-US" cap="none" dirty="0"/>
              <a:t>Headed Lists</a:t>
            </a:r>
            <a:br>
              <a:rPr lang="en-US" cap="none" dirty="0"/>
            </a:br>
            <a:r>
              <a:rPr lang="en-US" cap="none" dirty="0"/>
              <a:t>A.K.A. Lists With Sentinels</a:t>
            </a:r>
          </a:p>
        </p:txBody>
      </p:sp>
      <p:grpSp>
        <p:nvGrpSpPr>
          <p:cNvPr id="55" name="bare structure"/>
          <p:cNvGrpSpPr>
            <a:grpSpLocks/>
          </p:cNvGrpSpPr>
          <p:nvPr/>
        </p:nvGrpSpPr>
        <p:grpSpPr bwMode="auto">
          <a:xfrm>
            <a:off x="3287689" y="5155780"/>
            <a:ext cx="806387" cy="360040"/>
            <a:chOff x="1798" y="3919"/>
            <a:chExt cx="565" cy="232"/>
          </a:xfrm>
        </p:grpSpPr>
        <p:sp>
          <p:nvSpPr>
            <p:cNvPr id="57" name="Rectangle 56"/>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993300"/>
              </a:extrusionClr>
            </a:sp3d>
          </p:spPr>
          <p:txBody>
            <a:bodyPr wrap="none" anchor="ctr">
              <a:flatTx/>
            </a:bodyPr>
            <a:lstStyle/>
            <a:p>
              <a:endParaRPr lang="en-US" dirty="0">
                <a:latin typeface="Times New Roman" panose="02020603050405020304" pitchFamily="18" charset="0"/>
              </a:endParaRPr>
            </a:p>
          </p:txBody>
        </p:sp>
        <p:sp>
          <p:nvSpPr>
            <p:cNvPr id="58" name="Rectangle 57"/>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006600"/>
              </a:extrusionClr>
            </a:sp3d>
          </p:spPr>
          <p:txBody>
            <a:bodyPr wrap="none" anchor="ctr">
              <a:flatTx/>
            </a:bodyPr>
            <a:lstStyle/>
            <a:p>
              <a:endParaRPr lang="en-US" dirty="0">
                <a:latin typeface="Times New Roman" panose="02020603050405020304" pitchFamily="18" charset="0"/>
              </a:endParaRPr>
            </a:p>
          </p:txBody>
        </p:sp>
      </p:grpSp>
      <p:sp>
        <p:nvSpPr>
          <p:cNvPr id="54" name="TextBox 53"/>
          <p:cNvSpPr txBox="1"/>
          <p:nvPr/>
        </p:nvSpPr>
        <p:spPr>
          <a:xfrm>
            <a:off x="3299572" y="5112347"/>
            <a:ext cx="504056" cy="400110"/>
          </a:xfrm>
          <a:prstGeom prst="rect">
            <a:avLst/>
          </a:prstGeom>
          <a:noFill/>
        </p:spPr>
        <p:txBody>
          <a:bodyPr wrap="square" rtlCol="0">
            <a:spAutoFit/>
          </a:bodyPr>
          <a:lstStyle/>
          <a:p>
            <a:pPr>
              <a:buNone/>
            </a:pPr>
            <a:r>
              <a:rPr lang="en-US" sz="2000" dirty="0">
                <a:solidFill>
                  <a:srgbClr val="FFC000"/>
                </a:solidFill>
                <a:latin typeface="Times New Roman" panose="02020603050405020304" pitchFamily="18" charset="0"/>
              </a:rPr>
              <a:t>-4</a:t>
            </a:r>
          </a:p>
        </p:txBody>
      </p:sp>
      <p:grpSp>
        <p:nvGrpSpPr>
          <p:cNvPr id="141" name="most of the list"/>
          <p:cNvGrpSpPr/>
          <p:nvPr/>
        </p:nvGrpSpPr>
        <p:grpSpPr>
          <a:xfrm>
            <a:off x="3967978" y="5052122"/>
            <a:ext cx="6016454" cy="704377"/>
            <a:chOff x="2443978" y="5916217"/>
            <a:chExt cx="6016454" cy="704377"/>
          </a:xfrm>
        </p:grpSpPr>
        <p:sp>
          <p:nvSpPr>
            <p:cNvPr id="56" name="Line 40"/>
            <p:cNvSpPr>
              <a:spLocks noChangeShapeType="1"/>
            </p:cNvSpPr>
            <p:nvPr/>
          </p:nvSpPr>
          <p:spPr bwMode="auto">
            <a:xfrm flipV="1">
              <a:off x="2443978" y="6136255"/>
              <a:ext cx="633866" cy="0"/>
            </a:xfrm>
            <a:prstGeom prst="line">
              <a:avLst/>
            </a:prstGeom>
            <a:noFill/>
            <a:ln w="28575">
              <a:solidFill>
                <a:srgbClr val="FFCC00"/>
              </a:solidFill>
              <a:round/>
              <a:headEnd type="oval" w="med" len="med"/>
              <a:tailEnd type="triangle" w="lg" len="lg"/>
            </a:ln>
          </p:spPr>
          <p:txBody>
            <a:bodyPr/>
            <a:lstStyle/>
            <a:p>
              <a:endParaRPr lang="en-US" dirty="0">
                <a:latin typeface="Times New Roman" panose="02020603050405020304" pitchFamily="18" charset="0"/>
              </a:endParaRPr>
            </a:p>
          </p:txBody>
        </p:sp>
        <p:grpSp>
          <p:nvGrpSpPr>
            <p:cNvPr id="66" name="Group 65"/>
            <p:cNvGrpSpPr/>
            <p:nvPr/>
          </p:nvGrpSpPr>
          <p:grpSpPr>
            <a:xfrm>
              <a:off x="5679473" y="5936805"/>
              <a:ext cx="1314155" cy="403473"/>
              <a:chOff x="2428447" y="1657375"/>
              <a:chExt cx="1314155" cy="403473"/>
            </a:xfrm>
          </p:grpSpPr>
          <p:grpSp>
            <p:nvGrpSpPr>
              <p:cNvPr id="67" name="Group 13"/>
              <p:cNvGrpSpPr/>
              <p:nvPr/>
            </p:nvGrpSpPr>
            <p:grpSpPr>
              <a:xfrm>
                <a:off x="2428447" y="1700808"/>
                <a:ext cx="1314155" cy="360040"/>
                <a:chOff x="2195736" y="1628800"/>
                <a:chExt cx="727564" cy="222770"/>
              </a:xfrm>
            </p:grpSpPr>
            <p:grpSp>
              <p:nvGrpSpPr>
                <p:cNvPr id="69" name="Group 33"/>
                <p:cNvGrpSpPr>
                  <a:grpSpLocks/>
                </p:cNvGrpSpPr>
                <p:nvPr/>
              </p:nvGrpSpPr>
              <p:grpSpPr bwMode="auto">
                <a:xfrm>
                  <a:off x="2195736" y="1628800"/>
                  <a:ext cx="446445" cy="222770"/>
                  <a:chOff x="1798" y="3919"/>
                  <a:chExt cx="565" cy="232"/>
                </a:xfrm>
              </p:grpSpPr>
              <p:sp>
                <p:nvSpPr>
                  <p:cNvPr id="71" name="Rectangle 70"/>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993300"/>
                    </a:extrusionClr>
                  </a:sp3d>
                </p:spPr>
                <p:txBody>
                  <a:bodyPr wrap="none" anchor="ctr">
                    <a:flatTx/>
                  </a:bodyPr>
                  <a:lstStyle/>
                  <a:p>
                    <a:endParaRPr lang="en-US" dirty="0">
                      <a:latin typeface="Times New Roman" panose="02020603050405020304" pitchFamily="18" charset="0"/>
                    </a:endParaRPr>
                  </a:p>
                </p:txBody>
              </p:sp>
              <p:sp>
                <p:nvSpPr>
                  <p:cNvPr id="72" name="Rectangle 71"/>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006600"/>
                    </a:extrusionClr>
                  </a:sp3d>
                </p:spPr>
                <p:txBody>
                  <a:bodyPr wrap="none" anchor="ctr">
                    <a:flatTx/>
                  </a:bodyPr>
                  <a:lstStyle/>
                  <a:p>
                    <a:endParaRPr lang="en-US" dirty="0">
                      <a:latin typeface="Times New Roman" panose="02020603050405020304" pitchFamily="18" charset="0"/>
                    </a:endParaRPr>
                  </a:p>
                </p:txBody>
              </p:sp>
            </p:grpSp>
            <p:sp>
              <p:nvSpPr>
                <p:cNvPr id="70" name="Line 40"/>
                <p:cNvSpPr>
                  <a:spLocks noChangeShapeType="1"/>
                </p:cNvSpPr>
                <p:nvPr/>
              </p:nvSpPr>
              <p:spPr bwMode="auto">
                <a:xfrm flipV="1">
                  <a:off x="2572369" y="1700808"/>
                  <a:ext cx="350931" cy="0"/>
                </a:xfrm>
                <a:prstGeom prst="line">
                  <a:avLst/>
                </a:prstGeom>
                <a:noFill/>
                <a:ln w="28575">
                  <a:solidFill>
                    <a:srgbClr val="FFCC00"/>
                  </a:solidFill>
                  <a:round/>
                  <a:headEnd type="oval" w="med" len="med"/>
                  <a:tailEnd type="triangle" w="lg" len="lg"/>
                </a:ln>
              </p:spPr>
              <p:txBody>
                <a:bodyPr/>
                <a:lstStyle/>
                <a:p>
                  <a:endParaRPr lang="en-US" dirty="0">
                    <a:latin typeface="Times New Roman" panose="02020603050405020304" pitchFamily="18" charset="0"/>
                  </a:endParaRPr>
                </a:p>
              </p:txBody>
            </p:sp>
          </p:grpSp>
          <p:sp>
            <p:nvSpPr>
              <p:cNvPr id="68" name="TextBox 67"/>
              <p:cNvSpPr txBox="1"/>
              <p:nvPr/>
            </p:nvSpPr>
            <p:spPr>
              <a:xfrm>
                <a:off x="2440335" y="1657375"/>
                <a:ext cx="504056" cy="400110"/>
              </a:xfrm>
              <a:prstGeom prst="rect">
                <a:avLst/>
              </a:prstGeom>
              <a:noFill/>
            </p:spPr>
            <p:txBody>
              <a:bodyPr wrap="square" rtlCol="0">
                <a:spAutoFit/>
              </a:bodyPr>
              <a:lstStyle/>
              <a:p>
                <a:pPr>
                  <a:buNone/>
                </a:pPr>
                <a:r>
                  <a:rPr lang="en-US" sz="2000" dirty="0">
                    <a:solidFill>
                      <a:srgbClr val="FFC000"/>
                    </a:solidFill>
                    <a:latin typeface="Times New Roman" panose="02020603050405020304" pitchFamily="18" charset="0"/>
                  </a:rPr>
                  <a:t>78</a:t>
                </a:r>
              </a:p>
            </p:txBody>
          </p:sp>
        </p:grpSp>
        <p:grpSp>
          <p:nvGrpSpPr>
            <p:cNvPr id="73" name="Group 72"/>
            <p:cNvGrpSpPr/>
            <p:nvPr/>
          </p:nvGrpSpPr>
          <p:grpSpPr>
            <a:xfrm>
              <a:off x="6996307" y="5923460"/>
              <a:ext cx="806387" cy="403473"/>
              <a:chOff x="2428447" y="1657375"/>
              <a:chExt cx="806387" cy="403473"/>
            </a:xfrm>
          </p:grpSpPr>
          <p:grpSp>
            <p:nvGrpSpPr>
              <p:cNvPr id="76" name="Group 33"/>
              <p:cNvGrpSpPr>
                <a:grpSpLocks/>
              </p:cNvGrpSpPr>
              <p:nvPr/>
            </p:nvGrpSpPr>
            <p:grpSpPr bwMode="auto">
              <a:xfrm>
                <a:off x="2428447" y="1700808"/>
                <a:ext cx="806387" cy="360040"/>
                <a:chOff x="1798" y="3919"/>
                <a:chExt cx="565" cy="232"/>
              </a:xfrm>
            </p:grpSpPr>
            <p:sp>
              <p:nvSpPr>
                <p:cNvPr id="78" name="Rectangle 77"/>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993300"/>
                  </a:extrusionClr>
                </a:sp3d>
              </p:spPr>
              <p:txBody>
                <a:bodyPr wrap="none" anchor="ctr">
                  <a:flatTx/>
                </a:bodyPr>
                <a:lstStyle/>
                <a:p>
                  <a:endParaRPr lang="en-US" dirty="0">
                    <a:latin typeface="Times New Roman" panose="02020603050405020304" pitchFamily="18" charset="0"/>
                  </a:endParaRPr>
                </a:p>
              </p:txBody>
            </p:sp>
            <p:sp>
              <p:nvSpPr>
                <p:cNvPr id="79" name="Rectangle 78"/>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006600"/>
                  </a:extrusionClr>
                </a:sp3d>
              </p:spPr>
              <p:txBody>
                <a:bodyPr wrap="none" anchor="ctr">
                  <a:flatTx/>
                </a:bodyPr>
                <a:lstStyle/>
                <a:p>
                  <a:endParaRPr lang="en-US" dirty="0">
                    <a:latin typeface="Times New Roman" panose="02020603050405020304" pitchFamily="18" charset="0"/>
                  </a:endParaRPr>
                </a:p>
              </p:txBody>
            </p:sp>
          </p:grpSp>
          <p:sp>
            <p:nvSpPr>
              <p:cNvPr id="75" name="TextBox 74"/>
              <p:cNvSpPr txBox="1"/>
              <p:nvPr/>
            </p:nvSpPr>
            <p:spPr>
              <a:xfrm>
                <a:off x="2440335" y="1657375"/>
                <a:ext cx="504056" cy="400110"/>
              </a:xfrm>
              <a:prstGeom prst="rect">
                <a:avLst/>
              </a:prstGeom>
              <a:noFill/>
            </p:spPr>
            <p:txBody>
              <a:bodyPr wrap="square" rtlCol="0">
                <a:spAutoFit/>
              </a:bodyPr>
              <a:lstStyle/>
              <a:p>
                <a:pPr>
                  <a:buNone/>
                </a:pPr>
                <a:r>
                  <a:rPr lang="en-US" sz="2000" dirty="0">
                    <a:solidFill>
                      <a:srgbClr val="FFC000"/>
                    </a:solidFill>
                    <a:latin typeface="Times New Roman" panose="02020603050405020304" pitchFamily="18" charset="0"/>
                  </a:rPr>
                  <a:t>52</a:t>
                </a:r>
              </a:p>
            </p:txBody>
          </p:sp>
        </p:grpSp>
        <p:grpSp>
          <p:nvGrpSpPr>
            <p:cNvPr id="80" name="Group 79"/>
            <p:cNvGrpSpPr/>
            <p:nvPr/>
          </p:nvGrpSpPr>
          <p:grpSpPr>
            <a:xfrm>
              <a:off x="4388290" y="5916217"/>
              <a:ext cx="1314155" cy="403473"/>
              <a:chOff x="2428447" y="1657375"/>
              <a:chExt cx="1314155" cy="403473"/>
            </a:xfrm>
          </p:grpSpPr>
          <p:grpSp>
            <p:nvGrpSpPr>
              <p:cNvPr id="81" name="Group 13"/>
              <p:cNvGrpSpPr/>
              <p:nvPr/>
            </p:nvGrpSpPr>
            <p:grpSpPr>
              <a:xfrm>
                <a:off x="2428447" y="1700808"/>
                <a:ext cx="1314155" cy="360040"/>
                <a:chOff x="2195736" y="1628800"/>
                <a:chExt cx="727564" cy="222770"/>
              </a:xfrm>
            </p:grpSpPr>
            <p:grpSp>
              <p:nvGrpSpPr>
                <p:cNvPr id="83" name="Group 33"/>
                <p:cNvGrpSpPr>
                  <a:grpSpLocks/>
                </p:cNvGrpSpPr>
                <p:nvPr/>
              </p:nvGrpSpPr>
              <p:grpSpPr bwMode="auto">
                <a:xfrm>
                  <a:off x="2195736" y="1628800"/>
                  <a:ext cx="446445" cy="222770"/>
                  <a:chOff x="1798" y="3919"/>
                  <a:chExt cx="565" cy="232"/>
                </a:xfrm>
              </p:grpSpPr>
              <p:sp>
                <p:nvSpPr>
                  <p:cNvPr id="85" name="Rectangle 84"/>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993300"/>
                    </a:extrusionClr>
                  </a:sp3d>
                </p:spPr>
                <p:txBody>
                  <a:bodyPr wrap="none" anchor="ctr">
                    <a:flatTx/>
                  </a:bodyPr>
                  <a:lstStyle/>
                  <a:p>
                    <a:endParaRPr lang="en-US" dirty="0">
                      <a:latin typeface="Times New Roman" panose="02020603050405020304" pitchFamily="18" charset="0"/>
                    </a:endParaRPr>
                  </a:p>
                </p:txBody>
              </p:sp>
              <p:sp>
                <p:nvSpPr>
                  <p:cNvPr id="86" name="Rectangle 85"/>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006600"/>
                    </a:extrusionClr>
                  </a:sp3d>
                </p:spPr>
                <p:txBody>
                  <a:bodyPr wrap="none" anchor="ctr">
                    <a:flatTx/>
                  </a:bodyPr>
                  <a:lstStyle/>
                  <a:p>
                    <a:endParaRPr lang="en-US" dirty="0">
                      <a:latin typeface="Times New Roman" panose="02020603050405020304" pitchFamily="18" charset="0"/>
                    </a:endParaRPr>
                  </a:p>
                </p:txBody>
              </p:sp>
            </p:grpSp>
            <p:sp>
              <p:nvSpPr>
                <p:cNvPr id="84" name="Line 40"/>
                <p:cNvSpPr>
                  <a:spLocks noChangeShapeType="1"/>
                </p:cNvSpPr>
                <p:nvPr/>
              </p:nvSpPr>
              <p:spPr bwMode="auto">
                <a:xfrm flipV="1">
                  <a:off x="2572369" y="1700808"/>
                  <a:ext cx="350931" cy="0"/>
                </a:xfrm>
                <a:prstGeom prst="line">
                  <a:avLst/>
                </a:prstGeom>
                <a:noFill/>
                <a:ln w="28575">
                  <a:solidFill>
                    <a:srgbClr val="FFCC00"/>
                  </a:solidFill>
                  <a:round/>
                  <a:headEnd type="oval" w="med" len="med"/>
                  <a:tailEnd type="triangle" w="lg" len="lg"/>
                </a:ln>
              </p:spPr>
              <p:txBody>
                <a:bodyPr/>
                <a:lstStyle/>
                <a:p>
                  <a:endParaRPr lang="en-US" dirty="0">
                    <a:latin typeface="Times New Roman" panose="02020603050405020304" pitchFamily="18" charset="0"/>
                  </a:endParaRPr>
                </a:p>
              </p:txBody>
            </p:sp>
          </p:grpSp>
          <p:sp>
            <p:nvSpPr>
              <p:cNvPr id="82" name="TextBox 81"/>
              <p:cNvSpPr txBox="1"/>
              <p:nvPr/>
            </p:nvSpPr>
            <p:spPr>
              <a:xfrm>
                <a:off x="2440335" y="1657375"/>
                <a:ext cx="504056" cy="400110"/>
              </a:xfrm>
              <a:prstGeom prst="rect">
                <a:avLst/>
              </a:prstGeom>
              <a:noFill/>
            </p:spPr>
            <p:txBody>
              <a:bodyPr wrap="square" rtlCol="0">
                <a:spAutoFit/>
              </a:bodyPr>
              <a:lstStyle/>
              <a:p>
                <a:pPr>
                  <a:buNone/>
                </a:pPr>
                <a:r>
                  <a:rPr lang="en-US" sz="2000" dirty="0">
                    <a:solidFill>
                      <a:srgbClr val="FFC000"/>
                    </a:solidFill>
                    <a:latin typeface="Times New Roman" panose="02020603050405020304" pitchFamily="18" charset="0"/>
                  </a:rPr>
                  <a:t>2</a:t>
                </a:r>
              </a:p>
            </p:txBody>
          </p:sp>
        </p:grpSp>
        <p:grpSp>
          <p:nvGrpSpPr>
            <p:cNvPr id="87" name="Group 86"/>
            <p:cNvGrpSpPr/>
            <p:nvPr/>
          </p:nvGrpSpPr>
          <p:grpSpPr>
            <a:xfrm>
              <a:off x="3055636" y="5952060"/>
              <a:ext cx="1314155" cy="403473"/>
              <a:chOff x="2428447" y="1657375"/>
              <a:chExt cx="1314155" cy="403473"/>
            </a:xfrm>
          </p:grpSpPr>
          <p:grpSp>
            <p:nvGrpSpPr>
              <p:cNvPr id="88" name="Group 13"/>
              <p:cNvGrpSpPr/>
              <p:nvPr/>
            </p:nvGrpSpPr>
            <p:grpSpPr>
              <a:xfrm>
                <a:off x="2428447" y="1700808"/>
                <a:ext cx="1314155" cy="360040"/>
                <a:chOff x="2195736" y="1628800"/>
                <a:chExt cx="727564" cy="222770"/>
              </a:xfrm>
            </p:grpSpPr>
            <p:grpSp>
              <p:nvGrpSpPr>
                <p:cNvPr id="90" name="Group 33"/>
                <p:cNvGrpSpPr>
                  <a:grpSpLocks/>
                </p:cNvGrpSpPr>
                <p:nvPr/>
              </p:nvGrpSpPr>
              <p:grpSpPr bwMode="auto">
                <a:xfrm>
                  <a:off x="2195736" y="1628800"/>
                  <a:ext cx="446445" cy="222770"/>
                  <a:chOff x="1798" y="3919"/>
                  <a:chExt cx="565" cy="232"/>
                </a:xfrm>
              </p:grpSpPr>
              <p:sp>
                <p:nvSpPr>
                  <p:cNvPr id="92" name="Rectangle 91"/>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993300"/>
                    </a:extrusionClr>
                  </a:sp3d>
                </p:spPr>
                <p:txBody>
                  <a:bodyPr wrap="none" anchor="ctr">
                    <a:flatTx/>
                  </a:bodyPr>
                  <a:lstStyle/>
                  <a:p>
                    <a:endParaRPr lang="en-US" dirty="0">
                      <a:latin typeface="Times New Roman" panose="02020603050405020304" pitchFamily="18" charset="0"/>
                    </a:endParaRPr>
                  </a:p>
                </p:txBody>
              </p:sp>
              <p:sp>
                <p:nvSpPr>
                  <p:cNvPr id="93" name="Rectangle 92"/>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006600"/>
                    </a:extrusionClr>
                  </a:sp3d>
                </p:spPr>
                <p:txBody>
                  <a:bodyPr wrap="none" anchor="ctr">
                    <a:flatTx/>
                  </a:bodyPr>
                  <a:lstStyle/>
                  <a:p>
                    <a:endParaRPr lang="en-US" dirty="0">
                      <a:latin typeface="Times New Roman" panose="02020603050405020304" pitchFamily="18" charset="0"/>
                    </a:endParaRPr>
                  </a:p>
                </p:txBody>
              </p:sp>
            </p:grpSp>
            <p:sp>
              <p:nvSpPr>
                <p:cNvPr id="91" name="Line 40"/>
                <p:cNvSpPr>
                  <a:spLocks noChangeShapeType="1"/>
                </p:cNvSpPr>
                <p:nvPr/>
              </p:nvSpPr>
              <p:spPr bwMode="auto">
                <a:xfrm flipV="1">
                  <a:off x="2572369" y="1700808"/>
                  <a:ext cx="350931" cy="0"/>
                </a:xfrm>
                <a:prstGeom prst="line">
                  <a:avLst/>
                </a:prstGeom>
                <a:noFill/>
                <a:ln w="28575">
                  <a:solidFill>
                    <a:srgbClr val="FFCC00"/>
                  </a:solidFill>
                  <a:round/>
                  <a:headEnd type="oval" w="med" len="med"/>
                  <a:tailEnd type="triangle" w="lg" len="lg"/>
                </a:ln>
              </p:spPr>
              <p:txBody>
                <a:bodyPr/>
                <a:lstStyle/>
                <a:p>
                  <a:endParaRPr lang="en-US" dirty="0">
                    <a:latin typeface="Times New Roman" panose="02020603050405020304" pitchFamily="18" charset="0"/>
                  </a:endParaRPr>
                </a:p>
              </p:txBody>
            </p:sp>
          </p:grpSp>
          <p:sp>
            <p:nvSpPr>
              <p:cNvPr id="89" name="TextBox 88"/>
              <p:cNvSpPr txBox="1"/>
              <p:nvPr/>
            </p:nvSpPr>
            <p:spPr>
              <a:xfrm>
                <a:off x="2440335" y="1657375"/>
                <a:ext cx="504056" cy="400110"/>
              </a:xfrm>
              <a:prstGeom prst="rect">
                <a:avLst/>
              </a:prstGeom>
              <a:noFill/>
            </p:spPr>
            <p:txBody>
              <a:bodyPr wrap="square" rtlCol="0">
                <a:spAutoFit/>
              </a:bodyPr>
              <a:lstStyle/>
              <a:p>
                <a:pPr>
                  <a:buNone/>
                </a:pPr>
                <a:r>
                  <a:rPr lang="en-US" sz="2000" dirty="0">
                    <a:solidFill>
                      <a:srgbClr val="FFC000"/>
                    </a:solidFill>
                    <a:latin typeface="Times New Roman" panose="02020603050405020304" pitchFamily="18" charset="0"/>
                  </a:rPr>
                  <a:t>17</a:t>
                </a:r>
              </a:p>
            </p:txBody>
          </p:sp>
        </p:grpSp>
        <p:sp>
          <p:nvSpPr>
            <p:cNvPr id="106" name="Freeform 29"/>
            <p:cNvSpPr>
              <a:spLocks/>
            </p:cNvSpPr>
            <p:nvPr/>
          </p:nvSpPr>
          <p:spPr bwMode="auto">
            <a:xfrm>
              <a:off x="7668344" y="6101409"/>
              <a:ext cx="732911" cy="358880"/>
            </a:xfrm>
            <a:custGeom>
              <a:avLst/>
              <a:gdLst>
                <a:gd name="T0" fmla="*/ 0 w 338"/>
                <a:gd name="T1" fmla="*/ 7 h 230"/>
                <a:gd name="T2" fmla="*/ 211 w 338"/>
                <a:gd name="T3" fmla="*/ 10 h 230"/>
                <a:gd name="T4" fmla="*/ 319 w 338"/>
                <a:gd name="T5" fmla="*/ 67 h 230"/>
                <a:gd name="T6" fmla="*/ 328 w 338"/>
                <a:gd name="T7" fmla="*/ 230 h 230"/>
                <a:gd name="T8" fmla="*/ 0 60000 65536"/>
                <a:gd name="T9" fmla="*/ 0 60000 65536"/>
                <a:gd name="T10" fmla="*/ 0 60000 65536"/>
                <a:gd name="T11" fmla="*/ 0 60000 65536"/>
                <a:gd name="T12" fmla="*/ 0 w 338"/>
                <a:gd name="T13" fmla="*/ 0 h 230"/>
                <a:gd name="T14" fmla="*/ 338 w 338"/>
                <a:gd name="T15" fmla="*/ 230 h 230"/>
                <a:gd name="connsiteX0" fmla="*/ 0 w 10384"/>
                <a:gd name="connsiteY0" fmla="*/ 2711 h 12407"/>
                <a:gd name="connsiteX1" fmla="*/ 4026 w 10384"/>
                <a:gd name="connsiteY1" fmla="*/ 435 h 12407"/>
                <a:gd name="connsiteX2" fmla="*/ 9438 w 10384"/>
                <a:gd name="connsiteY2" fmla="*/ 5320 h 12407"/>
                <a:gd name="connsiteX3" fmla="*/ 9704 w 10384"/>
                <a:gd name="connsiteY3" fmla="*/ 12407 h 12407"/>
                <a:gd name="connsiteX0" fmla="*/ 0 w 10340"/>
                <a:gd name="connsiteY0" fmla="*/ 4271 h 13967"/>
                <a:gd name="connsiteX1" fmla="*/ 4026 w 10340"/>
                <a:gd name="connsiteY1" fmla="*/ 1995 h 13967"/>
                <a:gd name="connsiteX2" fmla="*/ 9394 w 10340"/>
                <a:gd name="connsiteY2" fmla="*/ 1995 h 13967"/>
                <a:gd name="connsiteX3" fmla="*/ 9704 w 10340"/>
                <a:gd name="connsiteY3" fmla="*/ 13967 h 13967"/>
                <a:gd name="connsiteX0" fmla="*/ 0 w 11436"/>
                <a:gd name="connsiteY0" fmla="*/ 3232 h 6695"/>
                <a:gd name="connsiteX1" fmla="*/ 4026 w 11436"/>
                <a:gd name="connsiteY1" fmla="*/ 956 h 6695"/>
                <a:gd name="connsiteX2" fmla="*/ 9394 w 11436"/>
                <a:gd name="connsiteY2" fmla="*/ 956 h 6695"/>
                <a:gd name="connsiteX3" fmla="*/ 11436 w 11436"/>
                <a:gd name="connsiteY3" fmla="*/ 6695 h 6695"/>
                <a:gd name="connsiteX0" fmla="*/ 0 w 10809"/>
                <a:gd name="connsiteY0" fmla="*/ 9251 h 14424"/>
                <a:gd name="connsiteX1" fmla="*/ 3520 w 10809"/>
                <a:gd name="connsiteY1" fmla="*/ 5852 h 14424"/>
                <a:gd name="connsiteX2" fmla="*/ 9729 w 10809"/>
                <a:gd name="connsiteY2" fmla="*/ 1428 h 14424"/>
                <a:gd name="connsiteX3" fmla="*/ 10000 w 10809"/>
                <a:gd name="connsiteY3" fmla="*/ 14424 h 14424"/>
                <a:gd name="connsiteX0" fmla="*/ 0 w 10618"/>
                <a:gd name="connsiteY0" fmla="*/ 9091 h 14264"/>
                <a:gd name="connsiteX1" fmla="*/ 3520 w 10618"/>
                <a:gd name="connsiteY1" fmla="*/ 5692 h 14264"/>
                <a:gd name="connsiteX2" fmla="*/ 9538 w 10618"/>
                <a:gd name="connsiteY2" fmla="*/ 1428 h 14264"/>
                <a:gd name="connsiteX3" fmla="*/ 10000 w 10618"/>
                <a:gd name="connsiteY3" fmla="*/ 14264 h 14264"/>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4082"/>
                <a:gd name="connsiteY0" fmla="*/ 11994 h 26269"/>
                <a:gd name="connsiteX1" fmla="*/ 4985 w 14082"/>
                <a:gd name="connsiteY1" fmla="*/ 283 h 26269"/>
                <a:gd name="connsiteX2" fmla="*/ 9538 w 14082"/>
                <a:gd name="connsiteY2" fmla="*/ 4331 h 26269"/>
                <a:gd name="connsiteX3" fmla="*/ 14082 w 14082"/>
                <a:gd name="connsiteY3" fmla="*/ 26269 h 26269"/>
                <a:gd name="connsiteX0" fmla="*/ 0 w 14082"/>
                <a:gd name="connsiteY0" fmla="*/ 11711 h 25986"/>
                <a:gd name="connsiteX1" fmla="*/ 4985 w 14082"/>
                <a:gd name="connsiteY1" fmla="*/ 0 h 25986"/>
                <a:gd name="connsiteX2" fmla="*/ 14082 w 14082"/>
                <a:gd name="connsiteY2" fmla="*/ 25986 h 25986"/>
                <a:gd name="connsiteX0" fmla="*/ 0 w 14082"/>
                <a:gd name="connsiteY0" fmla="*/ 7210 h 21485"/>
                <a:gd name="connsiteX1" fmla="*/ 9388 w 14082"/>
                <a:gd name="connsiteY1" fmla="*/ 865 h 21485"/>
                <a:gd name="connsiteX2" fmla="*/ 14082 w 14082"/>
                <a:gd name="connsiteY2" fmla="*/ 21485 h 21485"/>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2908 w 14082"/>
                <a:gd name="connsiteY2" fmla="*/ 8055 h 22784"/>
                <a:gd name="connsiteX3" fmla="*/ 14082 w 14082"/>
                <a:gd name="connsiteY3" fmla="*/ 22784 h 22784"/>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864"/>
                <a:gd name="connsiteY0" fmla="*/ 8509 h 22130"/>
                <a:gd name="connsiteX1" fmla="*/ 9388 w 14864"/>
                <a:gd name="connsiteY1" fmla="*/ 2164 h 22130"/>
                <a:gd name="connsiteX2" fmla="*/ 14082 w 14864"/>
                <a:gd name="connsiteY2" fmla="*/ 5110 h 22130"/>
                <a:gd name="connsiteX3" fmla="*/ 14659 w 14864"/>
                <a:gd name="connsiteY3" fmla="*/ 22130 h 22130"/>
                <a:gd name="connsiteX0" fmla="*/ 0 w 14864"/>
                <a:gd name="connsiteY0" fmla="*/ 10596 h 24217"/>
                <a:gd name="connsiteX1" fmla="*/ 8214 w 14864"/>
                <a:gd name="connsiteY1" fmla="*/ 1305 h 24217"/>
                <a:gd name="connsiteX2" fmla="*/ 14082 w 14864"/>
                <a:gd name="connsiteY2" fmla="*/ 7197 h 24217"/>
                <a:gd name="connsiteX3" fmla="*/ 14659 w 14864"/>
                <a:gd name="connsiteY3" fmla="*/ 24217 h 24217"/>
                <a:gd name="connsiteX0" fmla="*/ 0 w 14864"/>
                <a:gd name="connsiteY0" fmla="*/ 10615 h 24236"/>
                <a:gd name="connsiteX1" fmla="*/ 8214 w 14864"/>
                <a:gd name="connsiteY1" fmla="*/ 1324 h 24236"/>
                <a:gd name="connsiteX2" fmla="*/ 14082 w 14864"/>
                <a:gd name="connsiteY2" fmla="*/ 7216 h 24236"/>
                <a:gd name="connsiteX3" fmla="*/ 14659 w 14864"/>
                <a:gd name="connsiteY3" fmla="*/ 24236 h 2423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659"/>
                <a:gd name="connsiteY0" fmla="*/ 9865 h 23486"/>
                <a:gd name="connsiteX1" fmla="*/ 8214 w 14659"/>
                <a:gd name="connsiteY1" fmla="*/ 574 h 23486"/>
                <a:gd name="connsiteX2" fmla="*/ 14082 w 14659"/>
                <a:gd name="connsiteY2" fmla="*/ 6466 h 23486"/>
                <a:gd name="connsiteX3" fmla="*/ 14659 w 14659"/>
                <a:gd name="connsiteY3" fmla="*/ 23486 h 23486"/>
                <a:gd name="connsiteX0" fmla="*/ 0 w 14844"/>
                <a:gd name="connsiteY0" fmla="*/ 9865 h 23486"/>
                <a:gd name="connsiteX1" fmla="*/ 8214 w 14844"/>
                <a:gd name="connsiteY1" fmla="*/ 574 h 23486"/>
                <a:gd name="connsiteX2" fmla="*/ 14082 w 14844"/>
                <a:gd name="connsiteY2" fmla="*/ 6466 h 23486"/>
                <a:gd name="connsiteX3" fmla="*/ 14659 w 14844"/>
                <a:gd name="connsiteY3" fmla="*/ 23486 h 23486"/>
                <a:gd name="connsiteX0" fmla="*/ 0 w 14659"/>
                <a:gd name="connsiteY0" fmla="*/ 9865 h 23486"/>
                <a:gd name="connsiteX1" fmla="*/ 8214 w 14659"/>
                <a:gd name="connsiteY1" fmla="*/ 574 h 23486"/>
                <a:gd name="connsiteX2" fmla="*/ 12908 w 14659"/>
                <a:gd name="connsiteY2" fmla="*/ 3520 h 23486"/>
                <a:gd name="connsiteX3" fmla="*/ 14659 w 14659"/>
                <a:gd name="connsiteY3" fmla="*/ 23486 h 23486"/>
                <a:gd name="connsiteX0" fmla="*/ 0 w 14659"/>
                <a:gd name="connsiteY0" fmla="*/ 11631 h 25252"/>
                <a:gd name="connsiteX1" fmla="*/ 8214 w 14659"/>
                <a:gd name="connsiteY1" fmla="*/ 2340 h 25252"/>
                <a:gd name="connsiteX2" fmla="*/ 12908 w 14659"/>
                <a:gd name="connsiteY2" fmla="*/ 5286 h 25252"/>
                <a:gd name="connsiteX3" fmla="*/ 14659 w 14659"/>
                <a:gd name="connsiteY3" fmla="*/ 25252 h 25252"/>
                <a:gd name="connsiteX0" fmla="*/ 0 w 14659"/>
                <a:gd name="connsiteY0" fmla="*/ 12438 h 26059"/>
                <a:gd name="connsiteX1" fmla="*/ 8214 w 14659"/>
                <a:gd name="connsiteY1" fmla="*/ 3147 h 26059"/>
                <a:gd name="connsiteX2" fmla="*/ 12908 w 14659"/>
                <a:gd name="connsiteY2" fmla="*/ 6093 h 26059"/>
                <a:gd name="connsiteX3" fmla="*/ 14659 w 14659"/>
                <a:gd name="connsiteY3" fmla="*/ 26059 h 26059"/>
                <a:gd name="connsiteX0" fmla="*/ 0 w 14659"/>
                <a:gd name="connsiteY0" fmla="*/ 8615 h 22236"/>
                <a:gd name="connsiteX1" fmla="*/ 12908 w 14659"/>
                <a:gd name="connsiteY1" fmla="*/ 2270 h 22236"/>
                <a:gd name="connsiteX2" fmla="*/ 14659 w 14659"/>
                <a:gd name="connsiteY2" fmla="*/ 22236 h 22236"/>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291 h 22912"/>
                <a:gd name="connsiteX1" fmla="*/ 10561 w 14659"/>
                <a:gd name="connsiteY1" fmla="*/ 0 h 22912"/>
                <a:gd name="connsiteX2" fmla="*/ 14659 w 14659"/>
                <a:gd name="connsiteY2" fmla="*/ 22912 h 22912"/>
                <a:gd name="connsiteX0" fmla="*/ 0 w 14659"/>
                <a:gd name="connsiteY0" fmla="*/ 9291 h 22912"/>
                <a:gd name="connsiteX1" fmla="*/ 10561 w 14659"/>
                <a:gd name="connsiteY1" fmla="*/ 0 h 22912"/>
                <a:gd name="connsiteX2" fmla="*/ 14659 w 14659"/>
                <a:gd name="connsiteY2" fmla="*/ 22912 h 22912"/>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5101"/>
                <a:gd name="connsiteY0" fmla="*/ 8257 h 21878"/>
                <a:gd name="connsiteX1" fmla="*/ 10561 w 15101"/>
                <a:gd name="connsiteY1" fmla="*/ 1912 h 21878"/>
                <a:gd name="connsiteX2" fmla="*/ 14659 w 15101"/>
                <a:gd name="connsiteY2" fmla="*/ 21878 h 21878"/>
                <a:gd name="connsiteX0" fmla="*/ 0 w 16291"/>
                <a:gd name="connsiteY0" fmla="*/ 8257 h 21878"/>
                <a:gd name="connsiteX1" fmla="*/ 10561 w 16291"/>
                <a:gd name="connsiteY1" fmla="*/ 1912 h 21878"/>
                <a:gd name="connsiteX2" fmla="*/ 14659 w 16291"/>
                <a:gd name="connsiteY2" fmla="*/ 21878 h 21878"/>
                <a:gd name="connsiteX0" fmla="*/ 0 w 15439"/>
                <a:gd name="connsiteY0" fmla="*/ 8257 h 21878"/>
                <a:gd name="connsiteX1" fmla="*/ 10561 w 15439"/>
                <a:gd name="connsiteY1" fmla="*/ 1912 h 21878"/>
                <a:gd name="connsiteX2" fmla="*/ 14659 w 15439"/>
                <a:gd name="connsiteY2" fmla="*/ 21878 h 21878"/>
                <a:gd name="connsiteX0" fmla="*/ 0 w 15439"/>
                <a:gd name="connsiteY0" fmla="*/ 8257 h 21878"/>
                <a:gd name="connsiteX1" fmla="*/ 8214 w 15439"/>
                <a:gd name="connsiteY1" fmla="*/ 1912 h 21878"/>
                <a:gd name="connsiteX2" fmla="*/ 14659 w 15439"/>
                <a:gd name="connsiteY2" fmla="*/ 21878 h 21878"/>
                <a:gd name="connsiteX0" fmla="*/ 0 w 15439"/>
                <a:gd name="connsiteY0" fmla="*/ 8257 h 21878"/>
                <a:gd name="connsiteX1" fmla="*/ 8214 w 15439"/>
                <a:gd name="connsiteY1" fmla="*/ 7804 h 21878"/>
                <a:gd name="connsiteX2" fmla="*/ 14659 w 15439"/>
                <a:gd name="connsiteY2" fmla="*/ 21878 h 21878"/>
                <a:gd name="connsiteX0" fmla="*/ 0 w 15439"/>
                <a:gd name="connsiteY0" fmla="*/ 2440 h 16061"/>
                <a:gd name="connsiteX1" fmla="*/ 8214 w 15439"/>
                <a:gd name="connsiteY1" fmla="*/ 1987 h 16061"/>
                <a:gd name="connsiteX2" fmla="*/ 14659 w 15439"/>
                <a:gd name="connsiteY2" fmla="*/ 16061 h 16061"/>
                <a:gd name="connsiteX0" fmla="*/ 0 w 15439"/>
                <a:gd name="connsiteY0" fmla="*/ 3528 h 17149"/>
                <a:gd name="connsiteX1" fmla="*/ 8214 w 15439"/>
                <a:gd name="connsiteY1" fmla="*/ 129 h 17149"/>
                <a:gd name="connsiteX2" fmla="*/ 14659 w 15439"/>
                <a:gd name="connsiteY2" fmla="*/ 17149 h 17149"/>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7960 w 15439"/>
                <a:gd name="connsiteY1" fmla="*/ 2970 h 17430"/>
                <a:gd name="connsiteX2" fmla="*/ 14659 w 15439"/>
                <a:gd name="connsiteY2" fmla="*/ 17430 h 17430"/>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039"/>
                <a:gd name="connsiteY0" fmla="*/ 1060 h 14681"/>
                <a:gd name="connsiteX1" fmla="*/ 8044 w 15039"/>
                <a:gd name="connsiteY1" fmla="*/ 832 h 14681"/>
                <a:gd name="connsiteX2" fmla="*/ 14659 w 15039"/>
                <a:gd name="connsiteY2" fmla="*/ 14681 h 14681"/>
              </a:gdLst>
              <a:ahLst/>
              <a:cxnLst>
                <a:cxn ang="0">
                  <a:pos x="connsiteX0" y="connsiteY0"/>
                </a:cxn>
                <a:cxn ang="0">
                  <a:pos x="connsiteX1" y="connsiteY1"/>
                </a:cxn>
                <a:cxn ang="0">
                  <a:pos x="connsiteX2" y="connsiteY2"/>
                </a:cxn>
              </a:cxnLst>
              <a:rect l="l" t="t" r="r" b="b"/>
              <a:pathLst>
                <a:path w="15039" h="14681">
                  <a:moveTo>
                    <a:pt x="0" y="1060"/>
                  </a:moveTo>
                  <a:lnTo>
                    <a:pt x="8044" y="832"/>
                  </a:lnTo>
                  <a:cubicBezTo>
                    <a:pt x="12490" y="727"/>
                    <a:pt x="15039" y="0"/>
                    <a:pt x="14659" y="14681"/>
                  </a:cubicBezTo>
                </a:path>
              </a:pathLst>
            </a:custGeom>
            <a:noFill/>
            <a:ln w="38100" cap="flat" cmpd="sng">
              <a:solidFill>
                <a:schemeClr val="bg2"/>
              </a:solidFill>
              <a:prstDash val="solid"/>
              <a:round/>
              <a:headEnd type="oval" w="med" len="med"/>
              <a:tailEnd type="triangle" w="lg" len="lg"/>
            </a:ln>
          </p:spPr>
          <p:txBody>
            <a:bodyPr tIns="91440" bIns="91440" anchor="ctr"/>
            <a:lstStyle/>
            <a:p>
              <a:endParaRPr lang="en-US" dirty="0">
                <a:latin typeface="Times New Roman" panose="02020603050405020304" pitchFamily="18" charset="0"/>
              </a:endParaRPr>
            </a:p>
          </p:txBody>
        </p:sp>
        <p:grpSp>
          <p:nvGrpSpPr>
            <p:cNvPr id="107" name="ground"/>
            <p:cNvGrpSpPr>
              <a:grpSpLocks/>
            </p:cNvGrpSpPr>
            <p:nvPr/>
          </p:nvGrpSpPr>
          <p:grpSpPr bwMode="auto">
            <a:xfrm>
              <a:off x="8288965" y="6496769"/>
              <a:ext cx="171467" cy="123825"/>
              <a:chOff x="4543" y="1682"/>
              <a:chExt cx="136" cy="78"/>
            </a:xfrm>
          </p:grpSpPr>
          <p:sp>
            <p:nvSpPr>
              <p:cNvPr id="108" name="Line 31"/>
              <p:cNvSpPr>
                <a:spLocks noChangeShapeType="1"/>
              </p:cNvSpPr>
              <p:nvPr/>
            </p:nvSpPr>
            <p:spPr bwMode="auto">
              <a:xfrm>
                <a:off x="4543" y="1682"/>
                <a:ext cx="136" cy="0"/>
              </a:xfrm>
              <a:prstGeom prst="line">
                <a:avLst/>
              </a:prstGeom>
              <a:noFill/>
              <a:ln w="28575">
                <a:solidFill>
                  <a:schemeClr val="bg2"/>
                </a:solidFill>
                <a:round/>
                <a:headEnd/>
                <a:tailEnd/>
              </a:ln>
            </p:spPr>
            <p:txBody>
              <a:bodyPr/>
              <a:lstStyle/>
              <a:p>
                <a:endParaRPr lang="en-US" dirty="0">
                  <a:latin typeface="Times New Roman" panose="02020603050405020304" pitchFamily="18" charset="0"/>
                </a:endParaRPr>
              </a:p>
            </p:txBody>
          </p:sp>
          <p:sp>
            <p:nvSpPr>
              <p:cNvPr id="109" name="Line 32"/>
              <p:cNvSpPr>
                <a:spLocks noChangeShapeType="1"/>
              </p:cNvSpPr>
              <p:nvPr/>
            </p:nvSpPr>
            <p:spPr bwMode="auto">
              <a:xfrm>
                <a:off x="4575" y="1720"/>
                <a:ext cx="86" cy="0"/>
              </a:xfrm>
              <a:prstGeom prst="line">
                <a:avLst/>
              </a:prstGeom>
              <a:noFill/>
              <a:ln w="28575">
                <a:solidFill>
                  <a:schemeClr val="bg2"/>
                </a:solidFill>
                <a:round/>
                <a:headEnd/>
                <a:tailEnd/>
              </a:ln>
            </p:spPr>
            <p:txBody>
              <a:bodyPr/>
              <a:lstStyle/>
              <a:p>
                <a:endParaRPr lang="en-US" dirty="0">
                  <a:latin typeface="Times New Roman" panose="02020603050405020304" pitchFamily="18" charset="0"/>
                </a:endParaRPr>
              </a:p>
            </p:txBody>
          </p:sp>
          <p:sp>
            <p:nvSpPr>
              <p:cNvPr id="110" name="Line 33"/>
              <p:cNvSpPr>
                <a:spLocks noChangeShapeType="1"/>
              </p:cNvSpPr>
              <p:nvPr/>
            </p:nvSpPr>
            <p:spPr bwMode="auto">
              <a:xfrm>
                <a:off x="4594" y="1760"/>
                <a:ext cx="52" cy="0"/>
              </a:xfrm>
              <a:prstGeom prst="line">
                <a:avLst/>
              </a:prstGeom>
              <a:noFill/>
              <a:ln w="28575">
                <a:solidFill>
                  <a:schemeClr val="bg2"/>
                </a:solidFill>
                <a:round/>
                <a:headEnd/>
                <a:tailEnd/>
              </a:ln>
            </p:spPr>
            <p:txBody>
              <a:bodyPr/>
              <a:lstStyle/>
              <a:p>
                <a:endParaRPr lang="en-US" dirty="0">
                  <a:latin typeface="Times New Roman" panose="02020603050405020304" pitchFamily="18" charset="0"/>
                </a:endParaRPr>
              </a:p>
            </p:txBody>
          </p:sp>
        </p:grpSp>
      </p:grpSp>
      <p:sp>
        <p:nvSpPr>
          <p:cNvPr id="113" name="Rectangle 112"/>
          <p:cNvSpPr>
            <a:spLocks noChangeArrowheads="1"/>
          </p:cNvSpPr>
          <p:nvPr/>
        </p:nvSpPr>
        <p:spPr bwMode="auto">
          <a:xfrm>
            <a:off x="1919536" y="4816200"/>
            <a:ext cx="1000358" cy="287428"/>
          </a:xfrm>
          <a:prstGeom prst="rect">
            <a:avLst/>
          </a:prstGeom>
          <a:solidFill>
            <a:srgbClr val="006600"/>
          </a:solidFill>
          <a:ln w="9525">
            <a:miter lim="800000"/>
            <a:headEnd/>
            <a:tailEnd/>
          </a:ln>
          <a:scene3d>
            <a:camera prst="legacyObliqueTopRight"/>
            <a:lightRig rig="legacyFlat3" dir="b"/>
          </a:scene3d>
          <a:sp3d extrusionH="254000" prstMaterial="legacyMatte">
            <a:bevelT w="13500" h="13500" prst="angle"/>
            <a:bevelB w="13500" h="13500" prst="angle"/>
            <a:extrusionClr>
              <a:srgbClr val="006600"/>
            </a:extrusionClr>
          </a:sp3d>
        </p:spPr>
        <p:txBody>
          <a:bodyPr wrap="none" anchor="ctr">
            <a:flatTx/>
          </a:bodyPr>
          <a:lstStyle/>
          <a:p>
            <a:pPr>
              <a:buNone/>
            </a:pPr>
            <a:r>
              <a:rPr lang="en-US" dirty="0">
                <a:solidFill>
                  <a:srgbClr val="66FF33"/>
                </a:solidFill>
                <a:latin typeface="Times New Roman" panose="02020603050405020304" pitchFamily="18" charset="0"/>
                <a:cs typeface="Times New Roman" panose="02020603050405020304" pitchFamily="18" charset="0"/>
              </a:rPr>
              <a:t>start</a:t>
            </a:r>
          </a:p>
        </p:txBody>
      </p:sp>
      <p:sp>
        <p:nvSpPr>
          <p:cNvPr id="114" name="Freeform 29"/>
          <p:cNvSpPr>
            <a:spLocks/>
          </p:cNvSpPr>
          <p:nvPr/>
        </p:nvSpPr>
        <p:spPr bwMode="auto">
          <a:xfrm>
            <a:off x="2795057" y="4943487"/>
            <a:ext cx="564627" cy="285712"/>
          </a:xfrm>
          <a:custGeom>
            <a:avLst/>
            <a:gdLst>
              <a:gd name="T0" fmla="*/ 0 w 338"/>
              <a:gd name="T1" fmla="*/ 7 h 230"/>
              <a:gd name="T2" fmla="*/ 211 w 338"/>
              <a:gd name="T3" fmla="*/ 10 h 230"/>
              <a:gd name="T4" fmla="*/ 319 w 338"/>
              <a:gd name="T5" fmla="*/ 67 h 230"/>
              <a:gd name="T6" fmla="*/ 328 w 338"/>
              <a:gd name="T7" fmla="*/ 230 h 230"/>
              <a:gd name="T8" fmla="*/ 0 60000 65536"/>
              <a:gd name="T9" fmla="*/ 0 60000 65536"/>
              <a:gd name="T10" fmla="*/ 0 60000 65536"/>
              <a:gd name="T11" fmla="*/ 0 60000 65536"/>
              <a:gd name="T12" fmla="*/ 0 w 338"/>
              <a:gd name="T13" fmla="*/ 0 h 230"/>
              <a:gd name="T14" fmla="*/ 338 w 338"/>
              <a:gd name="T15" fmla="*/ 230 h 230"/>
              <a:gd name="connsiteX0" fmla="*/ 0 w 10384"/>
              <a:gd name="connsiteY0" fmla="*/ 2711 h 12407"/>
              <a:gd name="connsiteX1" fmla="*/ 4026 w 10384"/>
              <a:gd name="connsiteY1" fmla="*/ 435 h 12407"/>
              <a:gd name="connsiteX2" fmla="*/ 9438 w 10384"/>
              <a:gd name="connsiteY2" fmla="*/ 5320 h 12407"/>
              <a:gd name="connsiteX3" fmla="*/ 9704 w 10384"/>
              <a:gd name="connsiteY3" fmla="*/ 12407 h 12407"/>
              <a:gd name="connsiteX0" fmla="*/ 0 w 10340"/>
              <a:gd name="connsiteY0" fmla="*/ 4271 h 13967"/>
              <a:gd name="connsiteX1" fmla="*/ 4026 w 10340"/>
              <a:gd name="connsiteY1" fmla="*/ 1995 h 13967"/>
              <a:gd name="connsiteX2" fmla="*/ 9394 w 10340"/>
              <a:gd name="connsiteY2" fmla="*/ 1995 h 13967"/>
              <a:gd name="connsiteX3" fmla="*/ 9704 w 10340"/>
              <a:gd name="connsiteY3" fmla="*/ 13967 h 13967"/>
              <a:gd name="connsiteX0" fmla="*/ 0 w 11436"/>
              <a:gd name="connsiteY0" fmla="*/ 3232 h 6695"/>
              <a:gd name="connsiteX1" fmla="*/ 4026 w 11436"/>
              <a:gd name="connsiteY1" fmla="*/ 956 h 6695"/>
              <a:gd name="connsiteX2" fmla="*/ 9394 w 11436"/>
              <a:gd name="connsiteY2" fmla="*/ 956 h 6695"/>
              <a:gd name="connsiteX3" fmla="*/ 11436 w 11436"/>
              <a:gd name="connsiteY3" fmla="*/ 6695 h 6695"/>
              <a:gd name="connsiteX0" fmla="*/ 0 w 10809"/>
              <a:gd name="connsiteY0" fmla="*/ 9251 h 14424"/>
              <a:gd name="connsiteX1" fmla="*/ 3520 w 10809"/>
              <a:gd name="connsiteY1" fmla="*/ 5852 h 14424"/>
              <a:gd name="connsiteX2" fmla="*/ 9729 w 10809"/>
              <a:gd name="connsiteY2" fmla="*/ 1428 h 14424"/>
              <a:gd name="connsiteX3" fmla="*/ 10000 w 10809"/>
              <a:gd name="connsiteY3" fmla="*/ 14424 h 14424"/>
              <a:gd name="connsiteX0" fmla="*/ 0 w 10618"/>
              <a:gd name="connsiteY0" fmla="*/ 9091 h 14264"/>
              <a:gd name="connsiteX1" fmla="*/ 3520 w 10618"/>
              <a:gd name="connsiteY1" fmla="*/ 5692 h 14264"/>
              <a:gd name="connsiteX2" fmla="*/ 9538 w 10618"/>
              <a:gd name="connsiteY2" fmla="*/ 1428 h 14264"/>
              <a:gd name="connsiteX3" fmla="*/ 10000 w 10618"/>
              <a:gd name="connsiteY3" fmla="*/ 14264 h 14264"/>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4082"/>
              <a:gd name="connsiteY0" fmla="*/ 11994 h 26269"/>
              <a:gd name="connsiteX1" fmla="*/ 4985 w 14082"/>
              <a:gd name="connsiteY1" fmla="*/ 283 h 26269"/>
              <a:gd name="connsiteX2" fmla="*/ 9538 w 14082"/>
              <a:gd name="connsiteY2" fmla="*/ 4331 h 26269"/>
              <a:gd name="connsiteX3" fmla="*/ 14082 w 14082"/>
              <a:gd name="connsiteY3" fmla="*/ 26269 h 26269"/>
              <a:gd name="connsiteX0" fmla="*/ 0 w 14082"/>
              <a:gd name="connsiteY0" fmla="*/ 11711 h 25986"/>
              <a:gd name="connsiteX1" fmla="*/ 4985 w 14082"/>
              <a:gd name="connsiteY1" fmla="*/ 0 h 25986"/>
              <a:gd name="connsiteX2" fmla="*/ 14082 w 14082"/>
              <a:gd name="connsiteY2" fmla="*/ 25986 h 25986"/>
              <a:gd name="connsiteX0" fmla="*/ 0 w 14082"/>
              <a:gd name="connsiteY0" fmla="*/ 7210 h 21485"/>
              <a:gd name="connsiteX1" fmla="*/ 9388 w 14082"/>
              <a:gd name="connsiteY1" fmla="*/ 865 h 21485"/>
              <a:gd name="connsiteX2" fmla="*/ 14082 w 14082"/>
              <a:gd name="connsiteY2" fmla="*/ 21485 h 21485"/>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2908 w 14082"/>
              <a:gd name="connsiteY2" fmla="*/ 8055 h 22784"/>
              <a:gd name="connsiteX3" fmla="*/ 14082 w 14082"/>
              <a:gd name="connsiteY3" fmla="*/ 22784 h 22784"/>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864"/>
              <a:gd name="connsiteY0" fmla="*/ 8509 h 22130"/>
              <a:gd name="connsiteX1" fmla="*/ 9388 w 14864"/>
              <a:gd name="connsiteY1" fmla="*/ 2164 h 22130"/>
              <a:gd name="connsiteX2" fmla="*/ 14082 w 14864"/>
              <a:gd name="connsiteY2" fmla="*/ 5110 h 22130"/>
              <a:gd name="connsiteX3" fmla="*/ 14659 w 14864"/>
              <a:gd name="connsiteY3" fmla="*/ 22130 h 22130"/>
              <a:gd name="connsiteX0" fmla="*/ 0 w 14864"/>
              <a:gd name="connsiteY0" fmla="*/ 10596 h 24217"/>
              <a:gd name="connsiteX1" fmla="*/ 8214 w 14864"/>
              <a:gd name="connsiteY1" fmla="*/ 1305 h 24217"/>
              <a:gd name="connsiteX2" fmla="*/ 14082 w 14864"/>
              <a:gd name="connsiteY2" fmla="*/ 7197 h 24217"/>
              <a:gd name="connsiteX3" fmla="*/ 14659 w 14864"/>
              <a:gd name="connsiteY3" fmla="*/ 24217 h 24217"/>
              <a:gd name="connsiteX0" fmla="*/ 0 w 14864"/>
              <a:gd name="connsiteY0" fmla="*/ 10615 h 24236"/>
              <a:gd name="connsiteX1" fmla="*/ 8214 w 14864"/>
              <a:gd name="connsiteY1" fmla="*/ 1324 h 24236"/>
              <a:gd name="connsiteX2" fmla="*/ 14082 w 14864"/>
              <a:gd name="connsiteY2" fmla="*/ 7216 h 24236"/>
              <a:gd name="connsiteX3" fmla="*/ 14659 w 14864"/>
              <a:gd name="connsiteY3" fmla="*/ 24236 h 2423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659"/>
              <a:gd name="connsiteY0" fmla="*/ 9865 h 23486"/>
              <a:gd name="connsiteX1" fmla="*/ 8214 w 14659"/>
              <a:gd name="connsiteY1" fmla="*/ 574 h 23486"/>
              <a:gd name="connsiteX2" fmla="*/ 14082 w 14659"/>
              <a:gd name="connsiteY2" fmla="*/ 6466 h 23486"/>
              <a:gd name="connsiteX3" fmla="*/ 14659 w 14659"/>
              <a:gd name="connsiteY3" fmla="*/ 23486 h 23486"/>
              <a:gd name="connsiteX0" fmla="*/ 0 w 14844"/>
              <a:gd name="connsiteY0" fmla="*/ 9865 h 23486"/>
              <a:gd name="connsiteX1" fmla="*/ 8214 w 14844"/>
              <a:gd name="connsiteY1" fmla="*/ 574 h 23486"/>
              <a:gd name="connsiteX2" fmla="*/ 14082 w 14844"/>
              <a:gd name="connsiteY2" fmla="*/ 6466 h 23486"/>
              <a:gd name="connsiteX3" fmla="*/ 14659 w 14844"/>
              <a:gd name="connsiteY3" fmla="*/ 23486 h 23486"/>
              <a:gd name="connsiteX0" fmla="*/ 0 w 14659"/>
              <a:gd name="connsiteY0" fmla="*/ 9865 h 23486"/>
              <a:gd name="connsiteX1" fmla="*/ 8214 w 14659"/>
              <a:gd name="connsiteY1" fmla="*/ 574 h 23486"/>
              <a:gd name="connsiteX2" fmla="*/ 12908 w 14659"/>
              <a:gd name="connsiteY2" fmla="*/ 3520 h 23486"/>
              <a:gd name="connsiteX3" fmla="*/ 14659 w 14659"/>
              <a:gd name="connsiteY3" fmla="*/ 23486 h 23486"/>
              <a:gd name="connsiteX0" fmla="*/ 0 w 14659"/>
              <a:gd name="connsiteY0" fmla="*/ 11631 h 25252"/>
              <a:gd name="connsiteX1" fmla="*/ 8214 w 14659"/>
              <a:gd name="connsiteY1" fmla="*/ 2340 h 25252"/>
              <a:gd name="connsiteX2" fmla="*/ 12908 w 14659"/>
              <a:gd name="connsiteY2" fmla="*/ 5286 h 25252"/>
              <a:gd name="connsiteX3" fmla="*/ 14659 w 14659"/>
              <a:gd name="connsiteY3" fmla="*/ 25252 h 25252"/>
              <a:gd name="connsiteX0" fmla="*/ 0 w 14659"/>
              <a:gd name="connsiteY0" fmla="*/ 12438 h 26059"/>
              <a:gd name="connsiteX1" fmla="*/ 8214 w 14659"/>
              <a:gd name="connsiteY1" fmla="*/ 3147 h 26059"/>
              <a:gd name="connsiteX2" fmla="*/ 12908 w 14659"/>
              <a:gd name="connsiteY2" fmla="*/ 6093 h 26059"/>
              <a:gd name="connsiteX3" fmla="*/ 14659 w 14659"/>
              <a:gd name="connsiteY3" fmla="*/ 26059 h 26059"/>
              <a:gd name="connsiteX0" fmla="*/ 0 w 14659"/>
              <a:gd name="connsiteY0" fmla="*/ 8615 h 22236"/>
              <a:gd name="connsiteX1" fmla="*/ 12908 w 14659"/>
              <a:gd name="connsiteY1" fmla="*/ 2270 h 22236"/>
              <a:gd name="connsiteX2" fmla="*/ 14659 w 14659"/>
              <a:gd name="connsiteY2" fmla="*/ 22236 h 22236"/>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291 h 22912"/>
              <a:gd name="connsiteX1" fmla="*/ 10561 w 14659"/>
              <a:gd name="connsiteY1" fmla="*/ 0 h 22912"/>
              <a:gd name="connsiteX2" fmla="*/ 14659 w 14659"/>
              <a:gd name="connsiteY2" fmla="*/ 22912 h 22912"/>
              <a:gd name="connsiteX0" fmla="*/ 0 w 14659"/>
              <a:gd name="connsiteY0" fmla="*/ 9291 h 22912"/>
              <a:gd name="connsiteX1" fmla="*/ 10561 w 14659"/>
              <a:gd name="connsiteY1" fmla="*/ 0 h 22912"/>
              <a:gd name="connsiteX2" fmla="*/ 14659 w 14659"/>
              <a:gd name="connsiteY2" fmla="*/ 22912 h 22912"/>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5101"/>
              <a:gd name="connsiteY0" fmla="*/ 8257 h 21878"/>
              <a:gd name="connsiteX1" fmla="*/ 10561 w 15101"/>
              <a:gd name="connsiteY1" fmla="*/ 1912 h 21878"/>
              <a:gd name="connsiteX2" fmla="*/ 14659 w 15101"/>
              <a:gd name="connsiteY2" fmla="*/ 21878 h 21878"/>
              <a:gd name="connsiteX0" fmla="*/ 0 w 16291"/>
              <a:gd name="connsiteY0" fmla="*/ 8257 h 21878"/>
              <a:gd name="connsiteX1" fmla="*/ 10561 w 16291"/>
              <a:gd name="connsiteY1" fmla="*/ 1912 h 21878"/>
              <a:gd name="connsiteX2" fmla="*/ 14659 w 16291"/>
              <a:gd name="connsiteY2" fmla="*/ 21878 h 21878"/>
              <a:gd name="connsiteX0" fmla="*/ 0 w 15439"/>
              <a:gd name="connsiteY0" fmla="*/ 8257 h 21878"/>
              <a:gd name="connsiteX1" fmla="*/ 10561 w 15439"/>
              <a:gd name="connsiteY1" fmla="*/ 1912 h 21878"/>
              <a:gd name="connsiteX2" fmla="*/ 14659 w 15439"/>
              <a:gd name="connsiteY2" fmla="*/ 21878 h 21878"/>
              <a:gd name="connsiteX0" fmla="*/ 0 w 15439"/>
              <a:gd name="connsiteY0" fmla="*/ 8257 h 21878"/>
              <a:gd name="connsiteX1" fmla="*/ 8214 w 15439"/>
              <a:gd name="connsiteY1" fmla="*/ 1912 h 21878"/>
              <a:gd name="connsiteX2" fmla="*/ 14659 w 15439"/>
              <a:gd name="connsiteY2" fmla="*/ 21878 h 21878"/>
              <a:gd name="connsiteX0" fmla="*/ 0 w 15439"/>
              <a:gd name="connsiteY0" fmla="*/ 8257 h 21878"/>
              <a:gd name="connsiteX1" fmla="*/ 8214 w 15439"/>
              <a:gd name="connsiteY1" fmla="*/ 7804 h 21878"/>
              <a:gd name="connsiteX2" fmla="*/ 14659 w 15439"/>
              <a:gd name="connsiteY2" fmla="*/ 21878 h 21878"/>
              <a:gd name="connsiteX0" fmla="*/ 0 w 15439"/>
              <a:gd name="connsiteY0" fmla="*/ 2440 h 16061"/>
              <a:gd name="connsiteX1" fmla="*/ 8214 w 15439"/>
              <a:gd name="connsiteY1" fmla="*/ 1987 h 16061"/>
              <a:gd name="connsiteX2" fmla="*/ 14659 w 15439"/>
              <a:gd name="connsiteY2" fmla="*/ 16061 h 16061"/>
              <a:gd name="connsiteX0" fmla="*/ 0 w 15439"/>
              <a:gd name="connsiteY0" fmla="*/ 3528 h 17149"/>
              <a:gd name="connsiteX1" fmla="*/ 8214 w 15439"/>
              <a:gd name="connsiteY1" fmla="*/ 129 h 17149"/>
              <a:gd name="connsiteX2" fmla="*/ 14659 w 15439"/>
              <a:gd name="connsiteY2" fmla="*/ 17149 h 17149"/>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7960 w 15439"/>
              <a:gd name="connsiteY1" fmla="*/ 2970 h 17430"/>
              <a:gd name="connsiteX2" fmla="*/ 14659 w 15439"/>
              <a:gd name="connsiteY2" fmla="*/ 17430 h 17430"/>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039"/>
              <a:gd name="connsiteY0" fmla="*/ 1060 h 14681"/>
              <a:gd name="connsiteX1" fmla="*/ 8044 w 15039"/>
              <a:gd name="connsiteY1" fmla="*/ 832 h 14681"/>
              <a:gd name="connsiteX2" fmla="*/ 14659 w 15039"/>
              <a:gd name="connsiteY2" fmla="*/ 14681 h 14681"/>
              <a:gd name="connsiteX0" fmla="*/ 0 w 15039"/>
              <a:gd name="connsiteY0" fmla="*/ 6130 h 19751"/>
              <a:gd name="connsiteX1" fmla="*/ 7898 w 15039"/>
              <a:gd name="connsiteY1" fmla="*/ 105 h 19751"/>
              <a:gd name="connsiteX2" fmla="*/ 14659 w 15039"/>
              <a:gd name="connsiteY2" fmla="*/ 19751 h 19751"/>
              <a:gd name="connsiteX0" fmla="*/ 0 w 15039"/>
              <a:gd name="connsiteY0" fmla="*/ 6025 h 19646"/>
              <a:gd name="connsiteX1" fmla="*/ 7898 w 15039"/>
              <a:gd name="connsiteY1" fmla="*/ 0 h 19646"/>
              <a:gd name="connsiteX2" fmla="*/ 14659 w 15039"/>
              <a:gd name="connsiteY2" fmla="*/ 19646 h 19646"/>
              <a:gd name="connsiteX0" fmla="*/ 0 w 15039"/>
              <a:gd name="connsiteY0" fmla="*/ 6025 h 19646"/>
              <a:gd name="connsiteX1" fmla="*/ 7898 w 15039"/>
              <a:gd name="connsiteY1" fmla="*/ 0 h 19646"/>
              <a:gd name="connsiteX2" fmla="*/ 14659 w 15039"/>
              <a:gd name="connsiteY2" fmla="*/ 19646 h 19646"/>
              <a:gd name="connsiteX0" fmla="*/ 0 w 12972"/>
              <a:gd name="connsiteY0" fmla="*/ 8923 h 14681"/>
              <a:gd name="connsiteX1" fmla="*/ 7898 w 12972"/>
              <a:gd name="connsiteY1" fmla="*/ 2898 h 14681"/>
              <a:gd name="connsiteX2" fmla="*/ 12592 w 12972"/>
              <a:gd name="connsiteY2" fmla="*/ 14681 h 14681"/>
              <a:gd name="connsiteX0" fmla="*/ 0 w 12972"/>
              <a:gd name="connsiteY0" fmla="*/ 8923 h 14681"/>
              <a:gd name="connsiteX1" fmla="*/ 7263 w 12972"/>
              <a:gd name="connsiteY1" fmla="*/ 1519 h 14681"/>
              <a:gd name="connsiteX2" fmla="*/ 12592 w 12972"/>
              <a:gd name="connsiteY2" fmla="*/ 14681 h 14681"/>
              <a:gd name="connsiteX0" fmla="*/ 0 w 12592"/>
              <a:gd name="connsiteY0" fmla="*/ 7404 h 13162"/>
              <a:gd name="connsiteX1" fmla="*/ 7263 w 12592"/>
              <a:gd name="connsiteY1" fmla="*/ 0 h 13162"/>
              <a:gd name="connsiteX2" fmla="*/ 12592 w 12592"/>
              <a:gd name="connsiteY2" fmla="*/ 13162 h 13162"/>
              <a:gd name="connsiteX0" fmla="*/ 0 w 12592"/>
              <a:gd name="connsiteY0" fmla="*/ 7404 h 13162"/>
              <a:gd name="connsiteX1" fmla="*/ 7263 w 12592"/>
              <a:gd name="connsiteY1" fmla="*/ 0 h 13162"/>
              <a:gd name="connsiteX2" fmla="*/ 12592 w 12592"/>
              <a:gd name="connsiteY2" fmla="*/ 13162 h 13162"/>
              <a:gd name="connsiteX0" fmla="*/ 0 w 9567"/>
              <a:gd name="connsiteY0" fmla="*/ 7404 h 26175"/>
              <a:gd name="connsiteX1" fmla="*/ 7263 w 9567"/>
              <a:gd name="connsiteY1" fmla="*/ 0 h 26175"/>
              <a:gd name="connsiteX2" fmla="*/ 4909 w 9567"/>
              <a:gd name="connsiteY2" fmla="*/ 26175 h 26175"/>
              <a:gd name="connsiteX0" fmla="*/ 0 w 10000"/>
              <a:gd name="connsiteY0" fmla="*/ 2829 h 10000"/>
              <a:gd name="connsiteX1" fmla="*/ 7592 w 10000"/>
              <a:gd name="connsiteY1" fmla="*/ 0 h 10000"/>
              <a:gd name="connsiteX2" fmla="*/ 5131 w 10000"/>
              <a:gd name="connsiteY2" fmla="*/ 10000 h 10000"/>
              <a:gd name="connsiteX0" fmla="*/ 0 w 7598"/>
              <a:gd name="connsiteY0" fmla="*/ 2032 h 9203"/>
              <a:gd name="connsiteX1" fmla="*/ 5131 w 7598"/>
              <a:gd name="connsiteY1" fmla="*/ 2451 h 9203"/>
              <a:gd name="connsiteX2" fmla="*/ 5131 w 7598"/>
              <a:gd name="connsiteY2" fmla="*/ 9203 h 9203"/>
              <a:gd name="connsiteX0" fmla="*/ 0 w 10000"/>
              <a:gd name="connsiteY0" fmla="*/ 0 h 7792"/>
              <a:gd name="connsiteX1" fmla="*/ 6753 w 10000"/>
              <a:gd name="connsiteY1" fmla="*/ 455 h 7792"/>
              <a:gd name="connsiteX2" fmla="*/ 6753 w 10000"/>
              <a:gd name="connsiteY2" fmla="*/ 7792 h 7792"/>
              <a:gd name="connsiteX0" fmla="*/ 0 w 10000"/>
              <a:gd name="connsiteY0" fmla="*/ 0 h 10000"/>
              <a:gd name="connsiteX1" fmla="*/ 6753 w 10000"/>
              <a:gd name="connsiteY1" fmla="*/ 584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6753"/>
              <a:gd name="connsiteY0" fmla="*/ 0 h 10000"/>
              <a:gd name="connsiteX1" fmla="*/ 6753 w 6753"/>
              <a:gd name="connsiteY1" fmla="*/ 10000 h 10000"/>
              <a:gd name="connsiteX0" fmla="*/ 0 w 10000"/>
              <a:gd name="connsiteY0" fmla="*/ 0 h 10000"/>
              <a:gd name="connsiteX1" fmla="*/ 10000 w 10000"/>
              <a:gd name="connsiteY1" fmla="*/ 10000 h 10000"/>
              <a:gd name="connsiteX0" fmla="*/ 0 w 10000"/>
              <a:gd name="connsiteY0" fmla="*/ 0 h 10000"/>
              <a:gd name="connsiteX1" fmla="*/ 10000 w 10000"/>
              <a:gd name="connsiteY1" fmla="*/ 10000 h 10000"/>
              <a:gd name="connsiteX0" fmla="*/ 0 w 10453"/>
              <a:gd name="connsiteY0" fmla="*/ 7375 h 8436"/>
              <a:gd name="connsiteX1" fmla="*/ 10453 w 10453"/>
              <a:gd name="connsiteY1" fmla="*/ 8375 h 8436"/>
              <a:gd name="connsiteX0" fmla="*/ 0 w 10000"/>
              <a:gd name="connsiteY0" fmla="*/ 38 h 1296"/>
              <a:gd name="connsiteX1" fmla="*/ 10000 w 10000"/>
              <a:gd name="connsiteY1" fmla="*/ 1224 h 1296"/>
              <a:gd name="connsiteX0" fmla="*/ 0 w 10000"/>
              <a:gd name="connsiteY0" fmla="*/ 18588 h 28295"/>
              <a:gd name="connsiteX1" fmla="*/ 10000 w 10000"/>
              <a:gd name="connsiteY1" fmla="*/ 9444 h 28295"/>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 name="connsiteX0" fmla="*/ 0 w 7543"/>
              <a:gd name="connsiteY0" fmla="*/ 0 h 51959"/>
              <a:gd name="connsiteX1" fmla="*/ 7543 w 7543"/>
              <a:gd name="connsiteY1" fmla="*/ 51959 h 51959"/>
              <a:gd name="connsiteX0" fmla="*/ 0 w 10000"/>
              <a:gd name="connsiteY0" fmla="*/ 0 h 10000"/>
              <a:gd name="connsiteX1" fmla="*/ 10000 w 10000"/>
              <a:gd name="connsiteY1" fmla="*/ 10000 h 10000"/>
              <a:gd name="connsiteX0" fmla="*/ 0 w 13255"/>
              <a:gd name="connsiteY0" fmla="*/ 0 h 7987"/>
              <a:gd name="connsiteX1" fmla="*/ 13255 w 13255"/>
              <a:gd name="connsiteY1" fmla="*/ 7987 h 7987"/>
            </a:gdLst>
            <a:ahLst/>
            <a:cxnLst>
              <a:cxn ang="0">
                <a:pos x="connsiteX0" y="connsiteY0"/>
              </a:cxn>
              <a:cxn ang="0">
                <a:pos x="connsiteX1" y="connsiteY1"/>
              </a:cxn>
            </a:cxnLst>
            <a:rect l="l" t="t" r="r" b="b"/>
            <a:pathLst>
              <a:path w="13255" h="7987">
                <a:moveTo>
                  <a:pt x="0" y="0"/>
                </a:moveTo>
                <a:cubicBezTo>
                  <a:pt x="5972" y="190"/>
                  <a:pt x="8642" y="456"/>
                  <a:pt x="13255" y="7987"/>
                </a:cubicBezTo>
              </a:path>
            </a:pathLst>
          </a:custGeom>
          <a:noFill/>
          <a:ln w="38100" cap="flat" cmpd="sng">
            <a:solidFill>
              <a:srgbClr val="FFC000"/>
            </a:solidFill>
            <a:prstDash val="solid"/>
            <a:round/>
            <a:headEnd type="oval" w="med" len="med"/>
            <a:tailEnd type="triangle" w="lg" len="lg"/>
          </a:ln>
        </p:spPr>
        <p:txBody>
          <a:bodyPr tIns="91440" bIns="91440" anchor="ctr"/>
          <a:lstStyle/>
          <a:p>
            <a:endParaRPr lang="en-US" dirty="0">
              <a:latin typeface="Times New Roman" panose="02020603050405020304" pitchFamily="18" charset="0"/>
            </a:endParaRPr>
          </a:p>
        </p:txBody>
      </p:sp>
    </p:spTree>
  </p:cSld>
  <p:clrMapOvr>
    <a:masterClrMapping/>
  </p:clrMapOvr>
  <p:transition spd="slow">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Headed Lists</a:t>
            </a:r>
            <a:br>
              <a:rPr lang="en-US" dirty="0"/>
            </a:br>
            <a:r>
              <a:rPr lang="en-US" dirty="0"/>
              <a:t>A.k.a. Lists With Sentinels</a:t>
            </a:r>
          </a:p>
        </p:txBody>
      </p:sp>
      <p:grpSp>
        <p:nvGrpSpPr>
          <p:cNvPr id="55" name="bare structure"/>
          <p:cNvGrpSpPr>
            <a:grpSpLocks/>
          </p:cNvGrpSpPr>
          <p:nvPr/>
        </p:nvGrpSpPr>
        <p:grpSpPr bwMode="auto">
          <a:xfrm>
            <a:off x="3287689" y="5155780"/>
            <a:ext cx="806387" cy="360040"/>
            <a:chOff x="1798" y="3919"/>
            <a:chExt cx="565" cy="232"/>
          </a:xfrm>
        </p:grpSpPr>
        <p:sp>
          <p:nvSpPr>
            <p:cNvPr id="57" name="Rectangle 56"/>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993300"/>
              </a:extrusionClr>
            </a:sp3d>
          </p:spPr>
          <p:txBody>
            <a:bodyPr wrap="none" anchor="ctr">
              <a:flatTx/>
            </a:bodyPr>
            <a:lstStyle/>
            <a:p>
              <a:endParaRPr lang="en-US" dirty="0">
                <a:latin typeface="Times New Roman" panose="02020603050405020304" pitchFamily="18" charset="0"/>
              </a:endParaRPr>
            </a:p>
          </p:txBody>
        </p:sp>
        <p:sp>
          <p:nvSpPr>
            <p:cNvPr id="58" name="Rectangle 57"/>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006600"/>
              </a:extrusionClr>
            </a:sp3d>
          </p:spPr>
          <p:txBody>
            <a:bodyPr wrap="none" anchor="ctr">
              <a:flatTx/>
            </a:bodyPr>
            <a:lstStyle/>
            <a:p>
              <a:endParaRPr lang="en-US" dirty="0">
                <a:latin typeface="Times New Roman" panose="02020603050405020304" pitchFamily="18" charset="0"/>
              </a:endParaRPr>
            </a:p>
          </p:txBody>
        </p:sp>
      </p:grpSp>
      <p:sp>
        <p:nvSpPr>
          <p:cNvPr id="54" name="TextBox 53"/>
          <p:cNvSpPr txBox="1"/>
          <p:nvPr/>
        </p:nvSpPr>
        <p:spPr>
          <a:xfrm>
            <a:off x="3299572" y="5112347"/>
            <a:ext cx="504056" cy="400110"/>
          </a:xfrm>
          <a:prstGeom prst="rect">
            <a:avLst/>
          </a:prstGeom>
          <a:noFill/>
        </p:spPr>
        <p:txBody>
          <a:bodyPr wrap="square" rtlCol="0">
            <a:spAutoFit/>
          </a:bodyPr>
          <a:lstStyle/>
          <a:p>
            <a:pPr>
              <a:buNone/>
            </a:pPr>
            <a:r>
              <a:rPr lang="en-US" sz="2000" dirty="0">
                <a:solidFill>
                  <a:srgbClr val="FFC000"/>
                </a:solidFill>
                <a:latin typeface="Times New Roman" panose="02020603050405020304" pitchFamily="18" charset="0"/>
              </a:rPr>
              <a:t>-4</a:t>
            </a:r>
          </a:p>
        </p:txBody>
      </p:sp>
      <p:grpSp>
        <p:nvGrpSpPr>
          <p:cNvPr id="141" name="most of the list"/>
          <p:cNvGrpSpPr/>
          <p:nvPr/>
        </p:nvGrpSpPr>
        <p:grpSpPr>
          <a:xfrm>
            <a:off x="3967978" y="5052122"/>
            <a:ext cx="6016454" cy="704377"/>
            <a:chOff x="2443978" y="5916217"/>
            <a:chExt cx="6016454" cy="704377"/>
          </a:xfrm>
        </p:grpSpPr>
        <p:sp>
          <p:nvSpPr>
            <p:cNvPr id="56" name="Line 40"/>
            <p:cNvSpPr>
              <a:spLocks noChangeShapeType="1"/>
            </p:cNvSpPr>
            <p:nvPr/>
          </p:nvSpPr>
          <p:spPr bwMode="auto">
            <a:xfrm flipV="1">
              <a:off x="2443978" y="6136255"/>
              <a:ext cx="633866" cy="0"/>
            </a:xfrm>
            <a:prstGeom prst="line">
              <a:avLst/>
            </a:prstGeom>
            <a:noFill/>
            <a:ln w="28575">
              <a:solidFill>
                <a:srgbClr val="FFCC00"/>
              </a:solidFill>
              <a:round/>
              <a:headEnd type="oval" w="med" len="med"/>
              <a:tailEnd type="triangle" w="lg" len="lg"/>
            </a:ln>
          </p:spPr>
          <p:txBody>
            <a:bodyPr/>
            <a:lstStyle/>
            <a:p>
              <a:endParaRPr lang="en-US" dirty="0">
                <a:latin typeface="Times New Roman" panose="02020603050405020304" pitchFamily="18" charset="0"/>
              </a:endParaRPr>
            </a:p>
          </p:txBody>
        </p:sp>
        <p:grpSp>
          <p:nvGrpSpPr>
            <p:cNvPr id="66" name="Group 65"/>
            <p:cNvGrpSpPr/>
            <p:nvPr/>
          </p:nvGrpSpPr>
          <p:grpSpPr>
            <a:xfrm>
              <a:off x="5679473" y="5936805"/>
              <a:ext cx="1314155" cy="403473"/>
              <a:chOff x="2428447" y="1657375"/>
              <a:chExt cx="1314155" cy="403473"/>
            </a:xfrm>
          </p:grpSpPr>
          <p:grpSp>
            <p:nvGrpSpPr>
              <p:cNvPr id="67" name="Group 13"/>
              <p:cNvGrpSpPr/>
              <p:nvPr/>
            </p:nvGrpSpPr>
            <p:grpSpPr>
              <a:xfrm>
                <a:off x="2428447" y="1700808"/>
                <a:ext cx="1314155" cy="360040"/>
                <a:chOff x="2195736" y="1628800"/>
                <a:chExt cx="727564" cy="222770"/>
              </a:xfrm>
            </p:grpSpPr>
            <p:grpSp>
              <p:nvGrpSpPr>
                <p:cNvPr id="69" name="Group 33"/>
                <p:cNvGrpSpPr>
                  <a:grpSpLocks/>
                </p:cNvGrpSpPr>
                <p:nvPr/>
              </p:nvGrpSpPr>
              <p:grpSpPr bwMode="auto">
                <a:xfrm>
                  <a:off x="2195736" y="1628800"/>
                  <a:ext cx="446445" cy="222770"/>
                  <a:chOff x="1798" y="3919"/>
                  <a:chExt cx="565" cy="232"/>
                </a:xfrm>
              </p:grpSpPr>
              <p:sp>
                <p:nvSpPr>
                  <p:cNvPr id="71" name="Rectangle 70"/>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993300"/>
                    </a:extrusionClr>
                  </a:sp3d>
                </p:spPr>
                <p:txBody>
                  <a:bodyPr wrap="none" anchor="ctr">
                    <a:flatTx/>
                  </a:bodyPr>
                  <a:lstStyle/>
                  <a:p>
                    <a:endParaRPr lang="en-US" dirty="0">
                      <a:latin typeface="Times New Roman" panose="02020603050405020304" pitchFamily="18" charset="0"/>
                    </a:endParaRPr>
                  </a:p>
                </p:txBody>
              </p:sp>
              <p:sp>
                <p:nvSpPr>
                  <p:cNvPr id="72" name="Rectangle 71"/>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006600"/>
                    </a:extrusionClr>
                  </a:sp3d>
                </p:spPr>
                <p:txBody>
                  <a:bodyPr wrap="none" anchor="ctr">
                    <a:flatTx/>
                  </a:bodyPr>
                  <a:lstStyle/>
                  <a:p>
                    <a:endParaRPr lang="en-US" dirty="0">
                      <a:latin typeface="Times New Roman" panose="02020603050405020304" pitchFamily="18" charset="0"/>
                    </a:endParaRPr>
                  </a:p>
                </p:txBody>
              </p:sp>
            </p:grpSp>
            <p:sp>
              <p:nvSpPr>
                <p:cNvPr id="70" name="Line 40"/>
                <p:cNvSpPr>
                  <a:spLocks noChangeShapeType="1"/>
                </p:cNvSpPr>
                <p:nvPr/>
              </p:nvSpPr>
              <p:spPr bwMode="auto">
                <a:xfrm flipV="1">
                  <a:off x="2572369" y="1700808"/>
                  <a:ext cx="350931" cy="0"/>
                </a:xfrm>
                <a:prstGeom prst="line">
                  <a:avLst/>
                </a:prstGeom>
                <a:noFill/>
                <a:ln w="28575">
                  <a:solidFill>
                    <a:srgbClr val="FFCC00"/>
                  </a:solidFill>
                  <a:round/>
                  <a:headEnd type="oval" w="med" len="med"/>
                  <a:tailEnd type="triangle" w="lg" len="lg"/>
                </a:ln>
              </p:spPr>
              <p:txBody>
                <a:bodyPr/>
                <a:lstStyle/>
                <a:p>
                  <a:endParaRPr lang="en-US" dirty="0">
                    <a:latin typeface="Times New Roman" panose="02020603050405020304" pitchFamily="18" charset="0"/>
                  </a:endParaRPr>
                </a:p>
              </p:txBody>
            </p:sp>
          </p:grpSp>
          <p:sp>
            <p:nvSpPr>
              <p:cNvPr id="68" name="TextBox 67"/>
              <p:cNvSpPr txBox="1"/>
              <p:nvPr/>
            </p:nvSpPr>
            <p:spPr>
              <a:xfrm>
                <a:off x="2440335" y="1657375"/>
                <a:ext cx="504056" cy="400110"/>
              </a:xfrm>
              <a:prstGeom prst="rect">
                <a:avLst/>
              </a:prstGeom>
              <a:noFill/>
            </p:spPr>
            <p:txBody>
              <a:bodyPr wrap="square" rtlCol="0">
                <a:spAutoFit/>
              </a:bodyPr>
              <a:lstStyle/>
              <a:p>
                <a:pPr>
                  <a:buNone/>
                </a:pPr>
                <a:r>
                  <a:rPr lang="en-US" sz="2000" dirty="0">
                    <a:solidFill>
                      <a:srgbClr val="FFC000"/>
                    </a:solidFill>
                    <a:latin typeface="Times New Roman" panose="02020603050405020304" pitchFamily="18" charset="0"/>
                  </a:rPr>
                  <a:t>78</a:t>
                </a:r>
              </a:p>
            </p:txBody>
          </p:sp>
        </p:grpSp>
        <p:grpSp>
          <p:nvGrpSpPr>
            <p:cNvPr id="73" name="Group 72"/>
            <p:cNvGrpSpPr/>
            <p:nvPr/>
          </p:nvGrpSpPr>
          <p:grpSpPr>
            <a:xfrm>
              <a:off x="6996307" y="5923460"/>
              <a:ext cx="806387" cy="403473"/>
              <a:chOff x="2428447" y="1657375"/>
              <a:chExt cx="806387" cy="403473"/>
            </a:xfrm>
          </p:grpSpPr>
          <p:grpSp>
            <p:nvGrpSpPr>
              <p:cNvPr id="76" name="Group 33"/>
              <p:cNvGrpSpPr>
                <a:grpSpLocks/>
              </p:cNvGrpSpPr>
              <p:nvPr/>
            </p:nvGrpSpPr>
            <p:grpSpPr bwMode="auto">
              <a:xfrm>
                <a:off x="2428447" y="1700808"/>
                <a:ext cx="806387" cy="360040"/>
                <a:chOff x="1798" y="3919"/>
                <a:chExt cx="565" cy="232"/>
              </a:xfrm>
            </p:grpSpPr>
            <p:sp>
              <p:nvSpPr>
                <p:cNvPr id="78" name="Rectangle 77"/>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993300"/>
                  </a:extrusionClr>
                </a:sp3d>
              </p:spPr>
              <p:txBody>
                <a:bodyPr wrap="none" anchor="ctr">
                  <a:flatTx/>
                </a:bodyPr>
                <a:lstStyle/>
                <a:p>
                  <a:endParaRPr lang="en-US" dirty="0">
                    <a:latin typeface="Times New Roman" panose="02020603050405020304" pitchFamily="18" charset="0"/>
                  </a:endParaRPr>
                </a:p>
              </p:txBody>
            </p:sp>
            <p:sp>
              <p:nvSpPr>
                <p:cNvPr id="79" name="Rectangle 78"/>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006600"/>
                  </a:extrusionClr>
                </a:sp3d>
              </p:spPr>
              <p:txBody>
                <a:bodyPr wrap="none" anchor="ctr">
                  <a:flatTx/>
                </a:bodyPr>
                <a:lstStyle/>
                <a:p>
                  <a:endParaRPr lang="en-US" dirty="0">
                    <a:latin typeface="Times New Roman" panose="02020603050405020304" pitchFamily="18" charset="0"/>
                  </a:endParaRPr>
                </a:p>
              </p:txBody>
            </p:sp>
          </p:grpSp>
          <p:sp>
            <p:nvSpPr>
              <p:cNvPr id="75" name="TextBox 74"/>
              <p:cNvSpPr txBox="1"/>
              <p:nvPr/>
            </p:nvSpPr>
            <p:spPr>
              <a:xfrm>
                <a:off x="2440335" y="1657375"/>
                <a:ext cx="504056" cy="400110"/>
              </a:xfrm>
              <a:prstGeom prst="rect">
                <a:avLst/>
              </a:prstGeom>
              <a:noFill/>
            </p:spPr>
            <p:txBody>
              <a:bodyPr wrap="square" rtlCol="0">
                <a:spAutoFit/>
              </a:bodyPr>
              <a:lstStyle/>
              <a:p>
                <a:pPr>
                  <a:buNone/>
                </a:pPr>
                <a:r>
                  <a:rPr lang="en-US" sz="2000" dirty="0">
                    <a:solidFill>
                      <a:srgbClr val="FFC000"/>
                    </a:solidFill>
                    <a:latin typeface="Times New Roman" panose="02020603050405020304" pitchFamily="18" charset="0"/>
                  </a:rPr>
                  <a:t>52</a:t>
                </a:r>
              </a:p>
            </p:txBody>
          </p:sp>
        </p:grpSp>
        <p:grpSp>
          <p:nvGrpSpPr>
            <p:cNvPr id="80" name="Group 79"/>
            <p:cNvGrpSpPr/>
            <p:nvPr/>
          </p:nvGrpSpPr>
          <p:grpSpPr>
            <a:xfrm>
              <a:off x="4388290" y="5916217"/>
              <a:ext cx="1314155" cy="403473"/>
              <a:chOff x="2428447" y="1657375"/>
              <a:chExt cx="1314155" cy="403473"/>
            </a:xfrm>
          </p:grpSpPr>
          <p:grpSp>
            <p:nvGrpSpPr>
              <p:cNvPr id="81" name="Group 13"/>
              <p:cNvGrpSpPr/>
              <p:nvPr/>
            </p:nvGrpSpPr>
            <p:grpSpPr>
              <a:xfrm>
                <a:off x="2428447" y="1700808"/>
                <a:ext cx="1314155" cy="360040"/>
                <a:chOff x="2195736" y="1628800"/>
                <a:chExt cx="727564" cy="222770"/>
              </a:xfrm>
            </p:grpSpPr>
            <p:grpSp>
              <p:nvGrpSpPr>
                <p:cNvPr id="83" name="Group 33"/>
                <p:cNvGrpSpPr>
                  <a:grpSpLocks/>
                </p:cNvGrpSpPr>
                <p:nvPr/>
              </p:nvGrpSpPr>
              <p:grpSpPr bwMode="auto">
                <a:xfrm>
                  <a:off x="2195736" y="1628800"/>
                  <a:ext cx="446445" cy="222770"/>
                  <a:chOff x="1798" y="3919"/>
                  <a:chExt cx="565" cy="232"/>
                </a:xfrm>
              </p:grpSpPr>
              <p:sp>
                <p:nvSpPr>
                  <p:cNvPr id="85" name="Rectangle 84"/>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993300"/>
                    </a:extrusionClr>
                  </a:sp3d>
                </p:spPr>
                <p:txBody>
                  <a:bodyPr wrap="none" anchor="ctr">
                    <a:flatTx/>
                  </a:bodyPr>
                  <a:lstStyle/>
                  <a:p>
                    <a:endParaRPr lang="en-US" dirty="0">
                      <a:latin typeface="Times New Roman" panose="02020603050405020304" pitchFamily="18" charset="0"/>
                    </a:endParaRPr>
                  </a:p>
                </p:txBody>
              </p:sp>
              <p:sp>
                <p:nvSpPr>
                  <p:cNvPr id="86" name="Rectangle 85"/>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006600"/>
                    </a:extrusionClr>
                  </a:sp3d>
                </p:spPr>
                <p:txBody>
                  <a:bodyPr wrap="none" anchor="ctr">
                    <a:flatTx/>
                  </a:bodyPr>
                  <a:lstStyle/>
                  <a:p>
                    <a:endParaRPr lang="en-US" dirty="0">
                      <a:latin typeface="Times New Roman" panose="02020603050405020304" pitchFamily="18" charset="0"/>
                    </a:endParaRPr>
                  </a:p>
                </p:txBody>
              </p:sp>
            </p:grpSp>
            <p:sp>
              <p:nvSpPr>
                <p:cNvPr id="84" name="Line 40"/>
                <p:cNvSpPr>
                  <a:spLocks noChangeShapeType="1"/>
                </p:cNvSpPr>
                <p:nvPr/>
              </p:nvSpPr>
              <p:spPr bwMode="auto">
                <a:xfrm flipV="1">
                  <a:off x="2572369" y="1700808"/>
                  <a:ext cx="350931" cy="0"/>
                </a:xfrm>
                <a:prstGeom prst="line">
                  <a:avLst/>
                </a:prstGeom>
                <a:noFill/>
                <a:ln w="28575">
                  <a:solidFill>
                    <a:srgbClr val="FFCC00"/>
                  </a:solidFill>
                  <a:round/>
                  <a:headEnd type="oval" w="med" len="med"/>
                  <a:tailEnd type="triangle" w="lg" len="lg"/>
                </a:ln>
              </p:spPr>
              <p:txBody>
                <a:bodyPr/>
                <a:lstStyle/>
                <a:p>
                  <a:endParaRPr lang="en-US" dirty="0">
                    <a:latin typeface="Times New Roman" panose="02020603050405020304" pitchFamily="18" charset="0"/>
                  </a:endParaRPr>
                </a:p>
              </p:txBody>
            </p:sp>
          </p:grpSp>
          <p:sp>
            <p:nvSpPr>
              <p:cNvPr id="82" name="TextBox 81"/>
              <p:cNvSpPr txBox="1"/>
              <p:nvPr/>
            </p:nvSpPr>
            <p:spPr>
              <a:xfrm>
                <a:off x="2440335" y="1657375"/>
                <a:ext cx="504056" cy="400110"/>
              </a:xfrm>
              <a:prstGeom prst="rect">
                <a:avLst/>
              </a:prstGeom>
              <a:noFill/>
            </p:spPr>
            <p:txBody>
              <a:bodyPr wrap="square" rtlCol="0">
                <a:spAutoFit/>
              </a:bodyPr>
              <a:lstStyle/>
              <a:p>
                <a:pPr>
                  <a:buNone/>
                </a:pPr>
                <a:r>
                  <a:rPr lang="en-US" sz="2000" dirty="0">
                    <a:solidFill>
                      <a:srgbClr val="FFC000"/>
                    </a:solidFill>
                    <a:latin typeface="Times New Roman" panose="02020603050405020304" pitchFamily="18" charset="0"/>
                  </a:rPr>
                  <a:t>2</a:t>
                </a:r>
              </a:p>
            </p:txBody>
          </p:sp>
        </p:grpSp>
        <p:grpSp>
          <p:nvGrpSpPr>
            <p:cNvPr id="87" name="Group 86"/>
            <p:cNvGrpSpPr/>
            <p:nvPr/>
          </p:nvGrpSpPr>
          <p:grpSpPr>
            <a:xfrm>
              <a:off x="3055636" y="5952060"/>
              <a:ext cx="1314155" cy="403473"/>
              <a:chOff x="2428447" y="1657375"/>
              <a:chExt cx="1314155" cy="403473"/>
            </a:xfrm>
          </p:grpSpPr>
          <p:grpSp>
            <p:nvGrpSpPr>
              <p:cNvPr id="88" name="Group 13"/>
              <p:cNvGrpSpPr/>
              <p:nvPr/>
            </p:nvGrpSpPr>
            <p:grpSpPr>
              <a:xfrm>
                <a:off x="2428447" y="1700808"/>
                <a:ext cx="1314155" cy="360040"/>
                <a:chOff x="2195736" y="1628800"/>
                <a:chExt cx="727564" cy="222770"/>
              </a:xfrm>
            </p:grpSpPr>
            <p:grpSp>
              <p:nvGrpSpPr>
                <p:cNvPr id="90" name="Group 33"/>
                <p:cNvGrpSpPr>
                  <a:grpSpLocks/>
                </p:cNvGrpSpPr>
                <p:nvPr/>
              </p:nvGrpSpPr>
              <p:grpSpPr bwMode="auto">
                <a:xfrm>
                  <a:off x="2195736" y="1628800"/>
                  <a:ext cx="446445" cy="222770"/>
                  <a:chOff x="1798" y="3919"/>
                  <a:chExt cx="565" cy="232"/>
                </a:xfrm>
              </p:grpSpPr>
              <p:sp>
                <p:nvSpPr>
                  <p:cNvPr id="92" name="Rectangle 91"/>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993300"/>
                    </a:extrusionClr>
                  </a:sp3d>
                </p:spPr>
                <p:txBody>
                  <a:bodyPr wrap="none" anchor="ctr">
                    <a:flatTx/>
                  </a:bodyPr>
                  <a:lstStyle/>
                  <a:p>
                    <a:endParaRPr lang="en-US" dirty="0">
                      <a:latin typeface="Times New Roman" panose="02020603050405020304" pitchFamily="18" charset="0"/>
                    </a:endParaRPr>
                  </a:p>
                </p:txBody>
              </p:sp>
              <p:sp>
                <p:nvSpPr>
                  <p:cNvPr id="93" name="Rectangle 92"/>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006600"/>
                    </a:extrusionClr>
                  </a:sp3d>
                </p:spPr>
                <p:txBody>
                  <a:bodyPr wrap="none" anchor="ctr">
                    <a:flatTx/>
                  </a:bodyPr>
                  <a:lstStyle/>
                  <a:p>
                    <a:endParaRPr lang="en-US" dirty="0">
                      <a:latin typeface="Times New Roman" panose="02020603050405020304" pitchFamily="18" charset="0"/>
                    </a:endParaRPr>
                  </a:p>
                </p:txBody>
              </p:sp>
            </p:grpSp>
            <p:sp>
              <p:nvSpPr>
                <p:cNvPr id="91" name="Line 40"/>
                <p:cNvSpPr>
                  <a:spLocks noChangeShapeType="1"/>
                </p:cNvSpPr>
                <p:nvPr/>
              </p:nvSpPr>
              <p:spPr bwMode="auto">
                <a:xfrm flipV="1">
                  <a:off x="2572369" y="1700808"/>
                  <a:ext cx="350931" cy="0"/>
                </a:xfrm>
                <a:prstGeom prst="line">
                  <a:avLst/>
                </a:prstGeom>
                <a:noFill/>
                <a:ln w="28575">
                  <a:solidFill>
                    <a:srgbClr val="FFCC00"/>
                  </a:solidFill>
                  <a:round/>
                  <a:headEnd type="oval" w="med" len="med"/>
                  <a:tailEnd type="triangle" w="lg" len="lg"/>
                </a:ln>
              </p:spPr>
              <p:txBody>
                <a:bodyPr/>
                <a:lstStyle/>
                <a:p>
                  <a:endParaRPr lang="en-US" dirty="0">
                    <a:latin typeface="Times New Roman" panose="02020603050405020304" pitchFamily="18" charset="0"/>
                  </a:endParaRPr>
                </a:p>
              </p:txBody>
            </p:sp>
          </p:grpSp>
          <p:sp>
            <p:nvSpPr>
              <p:cNvPr id="89" name="TextBox 88"/>
              <p:cNvSpPr txBox="1"/>
              <p:nvPr/>
            </p:nvSpPr>
            <p:spPr>
              <a:xfrm>
                <a:off x="2440335" y="1657375"/>
                <a:ext cx="504056" cy="400110"/>
              </a:xfrm>
              <a:prstGeom prst="rect">
                <a:avLst/>
              </a:prstGeom>
              <a:noFill/>
            </p:spPr>
            <p:txBody>
              <a:bodyPr wrap="square" rtlCol="0">
                <a:spAutoFit/>
              </a:bodyPr>
              <a:lstStyle/>
              <a:p>
                <a:pPr>
                  <a:buNone/>
                </a:pPr>
                <a:r>
                  <a:rPr lang="en-US" sz="2000" dirty="0">
                    <a:solidFill>
                      <a:srgbClr val="FFC000"/>
                    </a:solidFill>
                    <a:latin typeface="Times New Roman" panose="02020603050405020304" pitchFamily="18" charset="0"/>
                  </a:rPr>
                  <a:t>17</a:t>
                </a:r>
              </a:p>
            </p:txBody>
          </p:sp>
        </p:grpSp>
        <p:sp>
          <p:nvSpPr>
            <p:cNvPr id="106" name="Freeform 29"/>
            <p:cNvSpPr>
              <a:spLocks/>
            </p:cNvSpPr>
            <p:nvPr/>
          </p:nvSpPr>
          <p:spPr bwMode="auto">
            <a:xfrm>
              <a:off x="7668344" y="6101409"/>
              <a:ext cx="732911" cy="358880"/>
            </a:xfrm>
            <a:custGeom>
              <a:avLst/>
              <a:gdLst>
                <a:gd name="T0" fmla="*/ 0 w 338"/>
                <a:gd name="T1" fmla="*/ 7 h 230"/>
                <a:gd name="T2" fmla="*/ 211 w 338"/>
                <a:gd name="T3" fmla="*/ 10 h 230"/>
                <a:gd name="T4" fmla="*/ 319 w 338"/>
                <a:gd name="T5" fmla="*/ 67 h 230"/>
                <a:gd name="T6" fmla="*/ 328 w 338"/>
                <a:gd name="T7" fmla="*/ 230 h 230"/>
                <a:gd name="T8" fmla="*/ 0 60000 65536"/>
                <a:gd name="T9" fmla="*/ 0 60000 65536"/>
                <a:gd name="T10" fmla="*/ 0 60000 65536"/>
                <a:gd name="T11" fmla="*/ 0 60000 65536"/>
                <a:gd name="T12" fmla="*/ 0 w 338"/>
                <a:gd name="T13" fmla="*/ 0 h 230"/>
                <a:gd name="T14" fmla="*/ 338 w 338"/>
                <a:gd name="T15" fmla="*/ 230 h 230"/>
                <a:gd name="connsiteX0" fmla="*/ 0 w 10384"/>
                <a:gd name="connsiteY0" fmla="*/ 2711 h 12407"/>
                <a:gd name="connsiteX1" fmla="*/ 4026 w 10384"/>
                <a:gd name="connsiteY1" fmla="*/ 435 h 12407"/>
                <a:gd name="connsiteX2" fmla="*/ 9438 w 10384"/>
                <a:gd name="connsiteY2" fmla="*/ 5320 h 12407"/>
                <a:gd name="connsiteX3" fmla="*/ 9704 w 10384"/>
                <a:gd name="connsiteY3" fmla="*/ 12407 h 12407"/>
                <a:gd name="connsiteX0" fmla="*/ 0 w 10340"/>
                <a:gd name="connsiteY0" fmla="*/ 4271 h 13967"/>
                <a:gd name="connsiteX1" fmla="*/ 4026 w 10340"/>
                <a:gd name="connsiteY1" fmla="*/ 1995 h 13967"/>
                <a:gd name="connsiteX2" fmla="*/ 9394 w 10340"/>
                <a:gd name="connsiteY2" fmla="*/ 1995 h 13967"/>
                <a:gd name="connsiteX3" fmla="*/ 9704 w 10340"/>
                <a:gd name="connsiteY3" fmla="*/ 13967 h 13967"/>
                <a:gd name="connsiteX0" fmla="*/ 0 w 11436"/>
                <a:gd name="connsiteY0" fmla="*/ 3232 h 6695"/>
                <a:gd name="connsiteX1" fmla="*/ 4026 w 11436"/>
                <a:gd name="connsiteY1" fmla="*/ 956 h 6695"/>
                <a:gd name="connsiteX2" fmla="*/ 9394 w 11436"/>
                <a:gd name="connsiteY2" fmla="*/ 956 h 6695"/>
                <a:gd name="connsiteX3" fmla="*/ 11436 w 11436"/>
                <a:gd name="connsiteY3" fmla="*/ 6695 h 6695"/>
                <a:gd name="connsiteX0" fmla="*/ 0 w 10809"/>
                <a:gd name="connsiteY0" fmla="*/ 9251 h 14424"/>
                <a:gd name="connsiteX1" fmla="*/ 3520 w 10809"/>
                <a:gd name="connsiteY1" fmla="*/ 5852 h 14424"/>
                <a:gd name="connsiteX2" fmla="*/ 9729 w 10809"/>
                <a:gd name="connsiteY2" fmla="*/ 1428 h 14424"/>
                <a:gd name="connsiteX3" fmla="*/ 10000 w 10809"/>
                <a:gd name="connsiteY3" fmla="*/ 14424 h 14424"/>
                <a:gd name="connsiteX0" fmla="*/ 0 w 10618"/>
                <a:gd name="connsiteY0" fmla="*/ 9091 h 14264"/>
                <a:gd name="connsiteX1" fmla="*/ 3520 w 10618"/>
                <a:gd name="connsiteY1" fmla="*/ 5692 h 14264"/>
                <a:gd name="connsiteX2" fmla="*/ 9538 w 10618"/>
                <a:gd name="connsiteY2" fmla="*/ 1428 h 14264"/>
                <a:gd name="connsiteX3" fmla="*/ 10000 w 10618"/>
                <a:gd name="connsiteY3" fmla="*/ 14264 h 14264"/>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4082"/>
                <a:gd name="connsiteY0" fmla="*/ 11994 h 26269"/>
                <a:gd name="connsiteX1" fmla="*/ 4985 w 14082"/>
                <a:gd name="connsiteY1" fmla="*/ 283 h 26269"/>
                <a:gd name="connsiteX2" fmla="*/ 9538 w 14082"/>
                <a:gd name="connsiteY2" fmla="*/ 4331 h 26269"/>
                <a:gd name="connsiteX3" fmla="*/ 14082 w 14082"/>
                <a:gd name="connsiteY3" fmla="*/ 26269 h 26269"/>
                <a:gd name="connsiteX0" fmla="*/ 0 w 14082"/>
                <a:gd name="connsiteY0" fmla="*/ 11711 h 25986"/>
                <a:gd name="connsiteX1" fmla="*/ 4985 w 14082"/>
                <a:gd name="connsiteY1" fmla="*/ 0 h 25986"/>
                <a:gd name="connsiteX2" fmla="*/ 14082 w 14082"/>
                <a:gd name="connsiteY2" fmla="*/ 25986 h 25986"/>
                <a:gd name="connsiteX0" fmla="*/ 0 w 14082"/>
                <a:gd name="connsiteY0" fmla="*/ 7210 h 21485"/>
                <a:gd name="connsiteX1" fmla="*/ 9388 w 14082"/>
                <a:gd name="connsiteY1" fmla="*/ 865 h 21485"/>
                <a:gd name="connsiteX2" fmla="*/ 14082 w 14082"/>
                <a:gd name="connsiteY2" fmla="*/ 21485 h 21485"/>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2908 w 14082"/>
                <a:gd name="connsiteY2" fmla="*/ 8055 h 22784"/>
                <a:gd name="connsiteX3" fmla="*/ 14082 w 14082"/>
                <a:gd name="connsiteY3" fmla="*/ 22784 h 22784"/>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864"/>
                <a:gd name="connsiteY0" fmla="*/ 8509 h 22130"/>
                <a:gd name="connsiteX1" fmla="*/ 9388 w 14864"/>
                <a:gd name="connsiteY1" fmla="*/ 2164 h 22130"/>
                <a:gd name="connsiteX2" fmla="*/ 14082 w 14864"/>
                <a:gd name="connsiteY2" fmla="*/ 5110 h 22130"/>
                <a:gd name="connsiteX3" fmla="*/ 14659 w 14864"/>
                <a:gd name="connsiteY3" fmla="*/ 22130 h 22130"/>
                <a:gd name="connsiteX0" fmla="*/ 0 w 14864"/>
                <a:gd name="connsiteY0" fmla="*/ 10596 h 24217"/>
                <a:gd name="connsiteX1" fmla="*/ 8214 w 14864"/>
                <a:gd name="connsiteY1" fmla="*/ 1305 h 24217"/>
                <a:gd name="connsiteX2" fmla="*/ 14082 w 14864"/>
                <a:gd name="connsiteY2" fmla="*/ 7197 h 24217"/>
                <a:gd name="connsiteX3" fmla="*/ 14659 w 14864"/>
                <a:gd name="connsiteY3" fmla="*/ 24217 h 24217"/>
                <a:gd name="connsiteX0" fmla="*/ 0 w 14864"/>
                <a:gd name="connsiteY0" fmla="*/ 10615 h 24236"/>
                <a:gd name="connsiteX1" fmla="*/ 8214 w 14864"/>
                <a:gd name="connsiteY1" fmla="*/ 1324 h 24236"/>
                <a:gd name="connsiteX2" fmla="*/ 14082 w 14864"/>
                <a:gd name="connsiteY2" fmla="*/ 7216 h 24236"/>
                <a:gd name="connsiteX3" fmla="*/ 14659 w 14864"/>
                <a:gd name="connsiteY3" fmla="*/ 24236 h 2423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659"/>
                <a:gd name="connsiteY0" fmla="*/ 9865 h 23486"/>
                <a:gd name="connsiteX1" fmla="*/ 8214 w 14659"/>
                <a:gd name="connsiteY1" fmla="*/ 574 h 23486"/>
                <a:gd name="connsiteX2" fmla="*/ 14082 w 14659"/>
                <a:gd name="connsiteY2" fmla="*/ 6466 h 23486"/>
                <a:gd name="connsiteX3" fmla="*/ 14659 w 14659"/>
                <a:gd name="connsiteY3" fmla="*/ 23486 h 23486"/>
                <a:gd name="connsiteX0" fmla="*/ 0 w 14844"/>
                <a:gd name="connsiteY0" fmla="*/ 9865 h 23486"/>
                <a:gd name="connsiteX1" fmla="*/ 8214 w 14844"/>
                <a:gd name="connsiteY1" fmla="*/ 574 h 23486"/>
                <a:gd name="connsiteX2" fmla="*/ 14082 w 14844"/>
                <a:gd name="connsiteY2" fmla="*/ 6466 h 23486"/>
                <a:gd name="connsiteX3" fmla="*/ 14659 w 14844"/>
                <a:gd name="connsiteY3" fmla="*/ 23486 h 23486"/>
                <a:gd name="connsiteX0" fmla="*/ 0 w 14659"/>
                <a:gd name="connsiteY0" fmla="*/ 9865 h 23486"/>
                <a:gd name="connsiteX1" fmla="*/ 8214 w 14659"/>
                <a:gd name="connsiteY1" fmla="*/ 574 h 23486"/>
                <a:gd name="connsiteX2" fmla="*/ 12908 w 14659"/>
                <a:gd name="connsiteY2" fmla="*/ 3520 h 23486"/>
                <a:gd name="connsiteX3" fmla="*/ 14659 w 14659"/>
                <a:gd name="connsiteY3" fmla="*/ 23486 h 23486"/>
                <a:gd name="connsiteX0" fmla="*/ 0 w 14659"/>
                <a:gd name="connsiteY0" fmla="*/ 11631 h 25252"/>
                <a:gd name="connsiteX1" fmla="*/ 8214 w 14659"/>
                <a:gd name="connsiteY1" fmla="*/ 2340 h 25252"/>
                <a:gd name="connsiteX2" fmla="*/ 12908 w 14659"/>
                <a:gd name="connsiteY2" fmla="*/ 5286 h 25252"/>
                <a:gd name="connsiteX3" fmla="*/ 14659 w 14659"/>
                <a:gd name="connsiteY3" fmla="*/ 25252 h 25252"/>
                <a:gd name="connsiteX0" fmla="*/ 0 w 14659"/>
                <a:gd name="connsiteY0" fmla="*/ 12438 h 26059"/>
                <a:gd name="connsiteX1" fmla="*/ 8214 w 14659"/>
                <a:gd name="connsiteY1" fmla="*/ 3147 h 26059"/>
                <a:gd name="connsiteX2" fmla="*/ 12908 w 14659"/>
                <a:gd name="connsiteY2" fmla="*/ 6093 h 26059"/>
                <a:gd name="connsiteX3" fmla="*/ 14659 w 14659"/>
                <a:gd name="connsiteY3" fmla="*/ 26059 h 26059"/>
                <a:gd name="connsiteX0" fmla="*/ 0 w 14659"/>
                <a:gd name="connsiteY0" fmla="*/ 8615 h 22236"/>
                <a:gd name="connsiteX1" fmla="*/ 12908 w 14659"/>
                <a:gd name="connsiteY1" fmla="*/ 2270 h 22236"/>
                <a:gd name="connsiteX2" fmla="*/ 14659 w 14659"/>
                <a:gd name="connsiteY2" fmla="*/ 22236 h 22236"/>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291 h 22912"/>
                <a:gd name="connsiteX1" fmla="*/ 10561 w 14659"/>
                <a:gd name="connsiteY1" fmla="*/ 0 h 22912"/>
                <a:gd name="connsiteX2" fmla="*/ 14659 w 14659"/>
                <a:gd name="connsiteY2" fmla="*/ 22912 h 22912"/>
                <a:gd name="connsiteX0" fmla="*/ 0 w 14659"/>
                <a:gd name="connsiteY0" fmla="*/ 9291 h 22912"/>
                <a:gd name="connsiteX1" fmla="*/ 10561 w 14659"/>
                <a:gd name="connsiteY1" fmla="*/ 0 h 22912"/>
                <a:gd name="connsiteX2" fmla="*/ 14659 w 14659"/>
                <a:gd name="connsiteY2" fmla="*/ 22912 h 22912"/>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5101"/>
                <a:gd name="connsiteY0" fmla="*/ 8257 h 21878"/>
                <a:gd name="connsiteX1" fmla="*/ 10561 w 15101"/>
                <a:gd name="connsiteY1" fmla="*/ 1912 h 21878"/>
                <a:gd name="connsiteX2" fmla="*/ 14659 w 15101"/>
                <a:gd name="connsiteY2" fmla="*/ 21878 h 21878"/>
                <a:gd name="connsiteX0" fmla="*/ 0 w 16291"/>
                <a:gd name="connsiteY0" fmla="*/ 8257 h 21878"/>
                <a:gd name="connsiteX1" fmla="*/ 10561 w 16291"/>
                <a:gd name="connsiteY1" fmla="*/ 1912 h 21878"/>
                <a:gd name="connsiteX2" fmla="*/ 14659 w 16291"/>
                <a:gd name="connsiteY2" fmla="*/ 21878 h 21878"/>
                <a:gd name="connsiteX0" fmla="*/ 0 w 15439"/>
                <a:gd name="connsiteY0" fmla="*/ 8257 h 21878"/>
                <a:gd name="connsiteX1" fmla="*/ 10561 w 15439"/>
                <a:gd name="connsiteY1" fmla="*/ 1912 h 21878"/>
                <a:gd name="connsiteX2" fmla="*/ 14659 w 15439"/>
                <a:gd name="connsiteY2" fmla="*/ 21878 h 21878"/>
                <a:gd name="connsiteX0" fmla="*/ 0 w 15439"/>
                <a:gd name="connsiteY0" fmla="*/ 8257 h 21878"/>
                <a:gd name="connsiteX1" fmla="*/ 8214 w 15439"/>
                <a:gd name="connsiteY1" fmla="*/ 1912 h 21878"/>
                <a:gd name="connsiteX2" fmla="*/ 14659 w 15439"/>
                <a:gd name="connsiteY2" fmla="*/ 21878 h 21878"/>
                <a:gd name="connsiteX0" fmla="*/ 0 w 15439"/>
                <a:gd name="connsiteY0" fmla="*/ 8257 h 21878"/>
                <a:gd name="connsiteX1" fmla="*/ 8214 w 15439"/>
                <a:gd name="connsiteY1" fmla="*/ 7804 h 21878"/>
                <a:gd name="connsiteX2" fmla="*/ 14659 w 15439"/>
                <a:gd name="connsiteY2" fmla="*/ 21878 h 21878"/>
                <a:gd name="connsiteX0" fmla="*/ 0 w 15439"/>
                <a:gd name="connsiteY0" fmla="*/ 2440 h 16061"/>
                <a:gd name="connsiteX1" fmla="*/ 8214 w 15439"/>
                <a:gd name="connsiteY1" fmla="*/ 1987 h 16061"/>
                <a:gd name="connsiteX2" fmla="*/ 14659 w 15439"/>
                <a:gd name="connsiteY2" fmla="*/ 16061 h 16061"/>
                <a:gd name="connsiteX0" fmla="*/ 0 w 15439"/>
                <a:gd name="connsiteY0" fmla="*/ 3528 h 17149"/>
                <a:gd name="connsiteX1" fmla="*/ 8214 w 15439"/>
                <a:gd name="connsiteY1" fmla="*/ 129 h 17149"/>
                <a:gd name="connsiteX2" fmla="*/ 14659 w 15439"/>
                <a:gd name="connsiteY2" fmla="*/ 17149 h 17149"/>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7960 w 15439"/>
                <a:gd name="connsiteY1" fmla="*/ 2970 h 17430"/>
                <a:gd name="connsiteX2" fmla="*/ 14659 w 15439"/>
                <a:gd name="connsiteY2" fmla="*/ 17430 h 17430"/>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039"/>
                <a:gd name="connsiteY0" fmla="*/ 1060 h 14681"/>
                <a:gd name="connsiteX1" fmla="*/ 8044 w 15039"/>
                <a:gd name="connsiteY1" fmla="*/ 832 h 14681"/>
                <a:gd name="connsiteX2" fmla="*/ 14659 w 15039"/>
                <a:gd name="connsiteY2" fmla="*/ 14681 h 14681"/>
              </a:gdLst>
              <a:ahLst/>
              <a:cxnLst>
                <a:cxn ang="0">
                  <a:pos x="connsiteX0" y="connsiteY0"/>
                </a:cxn>
                <a:cxn ang="0">
                  <a:pos x="connsiteX1" y="connsiteY1"/>
                </a:cxn>
                <a:cxn ang="0">
                  <a:pos x="connsiteX2" y="connsiteY2"/>
                </a:cxn>
              </a:cxnLst>
              <a:rect l="l" t="t" r="r" b="b"/>
              <a:pathLst>
                <a:path w="15039" h="14681">
                  <a:moveTo>
                    <a:pt x="0" y="1060"/>
                  </a:moveTo>
                  <a:lnTo>
                    <a:pt x="8044" y="832"/>
                  </a:lnTo>
                  <a:cubicBezTo>
                    <a:pt x="12490" y="727"/>
                    <a:pt x="15039" y="0"/>
                    <a:pt x="14659" y="14681"/>
                  </a:cubicBezTo>
                </a:path>
              </a:pathLst>
            </a:custGeom>
            <a:noFill/>
            <a:ln w="38100" cap="flat" cmpd="sng">
              <a:solidFill>
                <a:schemeClr val="bg2"/>
              </a:solidFill>
              <a:prstDash val="solid"/>
              <a:round/>
              <a:headEnd type="oval" w="med" len="med"/>
              <a:tailEnd type="triangle" w="lg" len="lg"/>
            </a:ln>
          </p:spPr>
          <p:txBody>
            <a:bodyPr tIns="91440" bIns="91440" anchor="ctr"/>
            <a:lstStyle/>
            <a:p>
              <a:endParaRPr lang="en-US" dirty="0">
                <a:latin typeface="Times New Roman" panose="02020603050405020304" pitchFamily="18" charset="0"/>
              </a:endParaRPr>
            </a:p>
          </p:txBody>
        </p:sp>
        <p:grpSp>
          <p:nvGrpSpPr>
            <p:cNvPr id="107" name="ground"/>
            <p:cNvGrpSpPr>
              <a:grpSpLocks/>
            </p:cNvGrpSpPr>
            <p:nvPr/>
          </p:nvGrpSpPr>
          <p:grpSpPr bwMode="auto">
            <a:xfrm>
              <a:off x="8288965" y="6496769"/>
              <a:ext cx="171467" cy="123825"/>
              <a:chOff x="4543" y="1682"/>
              <a:chExt cx="136" cy="78"/>
            </a:xfrm>
          </p:grpSpPr>
          <p:sp>
            <p:nvSpPr>
              <p:cNvPr id="108" name="Line 31"/>
              <p:cNvSpPr>
                <a:spLocks noChangeShapeType="1"/>
              </p:cNvSpPr>
              <p:nvPr/>
            </p:nvSpPr>
            <p:spPr bwMode="auto">
              <a:xfrm>
                <a:off x="4543" y="1682"/>
                <a:ext cx="136" cy="0"/>
              </a:xfrm>
              <a:prstGeom prst="line">
                <a:avLst/>
              </a:prstGeom>
              <a:noFill/>
              <a:ln w="28575">
                <a:solidFill>
                  <a:schemeClr val="bg2"/>
                </a:solidFill>
                <a:round/>
                <a:headEnd/>
                <a:tailEnd/>
              </a:ln>
            </p:spPr>
            <p:txBody>
              <a:bodyPr/>
              <a:lstStyle/>
              <a:p>
                <a:endParaRPr lang="en-US" dirty="0">
                  <a:latin typeface="Times New Roman" panose="02020603050405020304" pitchFamily="18" charset="0"/>
                </a:endParaRPr>
              </a:p>
            </p:txBody>
          </p:sp>
          <p:sp>
            <p:nvSpPr>
              <p:cNvPr id="109" name="Line 32"/>
              <p:cNvSpPr>
                <a:spLocks noChangeShapeType="1"/>
              </p:cNvSpPr>
              <p:nvPr/>
            </p:nvSpPr>
            <p:spPr bwMode="auto">
              <a:xfrm>
                <a:off x="4575" y="1720"/>
                <a:ext cx="86" cy="0"/>
              </a:xfrm>
              <a:prstGeom prst="line">
                <a:avLst/>
              </a:prstGeom>
              <a:noFill/>
              <a:ln w="28575">
                <a:solidFill>
                  <a:schemeClr val="bg2"/>
                </a:solidFill>
                <a:round/>
                <a:headEnd/>
                <a:tailEnd/>
              </a:ln>
            </p:spPr>
            <p:txBody>
              <a:bodyPr/>
              <a:lstStyle/>
              <a:p>
                <a:endParaRPr lang="en-US" dirty="0">
                  <a:latin typeface="Times New Roman" panose="02020603050405020304" pitchFamily="18" charset="0"/>
                </a:endParaRPr>
              </a:p>
            </p:txBody>
          </p:sp>
          <p:sp>
            <p:nvSpPr>
              <p:cNvPr id="110" name="Line 33"/>
              <p:cNvSpPr>
                <a:spLocks noChangeShapeType="1"/>
              </p:cNvSpPr>
              <p:nvPr/>
            </p:nvSpPr>
            <p:spPr bwMode="auto">
              <a:xfrm>
                <a:off x="4594" y="1760"/>
                <a:ext cx="52" cy="0"/>
              </a:xfrm>
              <a:prstGeom prst="line">
                <a:avLst/>
              </a:prstGeom>
              <a:noFill/>
              <a:ln w="28575">
                <a:solidFill>
                  <a:schemeClr val="bg2"/>
                </a:solidFill>
                <a:round/>
                <a:headEnd/>
                <a:tailEnd/>
              </a:ln>
            </p:spPr>
            <p:txBody>
              <a:bodyPr/>
              <a:lstStyle/>
              <a:p>
                <a:endParaRPr lang="en-US" dirty="0">
                  <a:latin typeface="Times New Roman" panose="02020603050405020304" pitchFamily="18" charset="0"/>
                </a:endParaRPr>
              </a:p>
            </p:txBody>
          </p:sp>
        </p:grpSp>
      </p:grpSp>
      <p:sp>
        <p:nvSpPr>
          <p:cNvPr id="113" name="Rectangle 112"/>
          <p:cNvSpPr>
            <a:spLocks noChangeArrowheads="1"/>
          </p:cNvSpPr>
          <p:nvPr/>
        </p:nvSpPr>
        <p:spPr bwMode="auto">
          <a:xfrm>
            <a:off x="1919536" y="4816200"/>
            <a:ext cx="1000358" cy="287428"/>
          </a:xfrm>
          <a:prstGeom prst="rect">
            <a:avLst/>
          </a:prstGeom>
          <a:solidFill>
            <a:srgbClr val="006600"/>
          </a:solidFill>
          <a:ln w="9525">
            <a:miter lim="800000"/>
            <a:headEnd/>
            <a:tailEnd/>
          </a:ln>
          <a:scene3d>
            <a:camera prst="legacyObliqueTopRight"/>
            <a:lightRig rig="legacyFlat3" dir="b"/>
          </a:scene3d>
          <a:sp3d extrusionH="254000" prstMaterial="legacyMatte">
            <a:bevelT w="13500" h="13500" prst="angle"/>
            <a:bevelB w="13500" h="13500" prst="angle"/>
            <a:extrusionClr>
              <a:srgbClr val="006600"/>
            </a:extrusionClr>
          </a:sp3d>
        </p:spPr>
        <p:txBody>
          <a:bodyPr wrap="none" anchor="ctr">
            <a:flatTx/>
          </a:bodyPr>
          <a:lstStyle/>
          <a:p>
            <a:pPr>
              <a:buNone/>
            </a:pPr>
            <a:r>
              <a:rPr lang="en-US" dirty="0">
                <a:solidFill>
                  <a:srgbClr val="66FF33"/>
                </a:solidFill>
                <a:latin typeface="Times New Roman" panose="02020603050405020304" pitchFamily="18" charset="0"/>
                <a:cs typeface="Times New Roman" panose="02020603050405020304" pitchFamily="18" charset="0"/>
              </a:rPr>
              <a:t>start</a:t>
            </a:r>
          </a:p>
        </p:txBody>
      </p:sp>
      <p:sp>
        <p:nvSpPr>
          <p:cNvPr id="114" name="Freeform 29"/>
          <p:cNvSpPr>
            <a:spLocks/>
          </p:cNvSpPr>
          <p:nvPr/>
        </p:nvSpPr>
        <p:spPr bwMode="auto">
          <a:xfrm>
            <a:off x="2795057" y="4943487"/>
            <a:ext cx="564627" cy="285712"/>
          </a:xfrm>
          <a:custGeom>
            <a:avLst/>
            <a:gdLst>
              <a:gd name="T0" fmla="*/ 0 w 338"/>
              <a:gd name="T1" fmla="*/ 7 h 230"/>
              <a:gd name="T2" fmla="*/ 211 w 338"/>
              <a:gd name="T3" fmla="*/ 10 h 230"/>
              <a:gd name="T4" fmla="*/ 319 w 338"/>
              <a:gd name="T5" fmla="*/ 67 h 230"/>
              <a:gd name="T6" fmla="*/ 328 w 338"/>
              <a:gd name="T7" fmla="*/ 230 h 230"/>
              <a:gd name="T8" fmla="*/ 0 60000 65536"/>
              <a:gd name="T9" fmla="*/ 0 60000 65536"/>
              <a:gd name="T10" fmla="*/ 0 60000 65536"/>
              <a:gd name="T11" fmla="*/ 0 60000 65536"/>
              <a:gd name="T12" fmla="*/ 0 w 338"/>
              <a:gd name="T13" fmla="*/ 0 h 230"/>
              <a:gd name="T14" fmla="*/ 338 w 338"/>
              <a:gd name="T15" fmla="*/ 230 h 230"/>
              <a:gd name="connsiteX0" fmla="*/ 0 w 10384"/>
              <a:gd name="connsiteY0" fmla="*/ 2711 h 12407"/>
              <a:gd name="connsiteX1" fmla="*/ 4026 w 10384"/>
              <a:gd name="connsiteY1" fmla="*/ 435 h 12407"/>
              <a:gd name="connsiteX2" fmla="*/ 9438 w 10384"/>
              <a:gd name="connsiteY2" fmla="*/ 5320 h 12407"/>
              <a:gd name="connsiteX3" fmla="*/ 9704 w 10384"/>
              <a:gd name="connsiteY3" fmla="*/ 12407 h 12407"/>
              <a:gd name="connsiteX0" fmla="*/ 0 w 10340"/>
              <a:gd name="connsiteY0" fmla="*/ 4271 h 13967"/>
              <a:gd name="connsiteX1" fmla="*/ 4026 w 10340"/>
              <a:gd name="connsiteY1" fmla="*/ 1995 h 13967"/>
              <a:gd name="connsiteX2" fmla="*/ 9394 w 10340"/>
              <a:gd name="connsiteY2" fmla="*/ 1995 h 13967"/>
              <a:gd name="connsiteX3" fmla="*/ 9704 w 10340"/>
              <a:gd name="connsiteY3" fmla="*/ 13967 h 13967"/>
              <a:gd name="connsiteX0" fmla="*/ 0 w 11436"/>
              <a:gd name="connsiteY0" fmla="*/ 3232 h 6695"/>
              <a:gd name="connsiteX1" fmla="*/ 4026 w 11436"/>
              <a:gd name="connsiteY1" fmla="*/ 956 h 6695"/>
              <a:gd name="connsiteX2" fmla="*/ 9394 w 11436"/>
              <a:gd name="connsiteY2" fmla="*/ 956 h 6695"/>
              <a:gd name="connsiteX3" fmla="*/ 11436 w 11436"/>
              <a:gd name="connsiteY3" fmla="*/ 6695 h 6695"/>
              <a:gd name="connsiteX0" fmla="*/ 0 w 10809"/>
              <a:gd name="connsiteY0" fmla="*/ 9251 h 14424"/>
              <a:gd name="connsiteX1" fmla="*/ 3520 w 10809"/>
              <a:gd name="connsiteY1" fmla="*/ 5852 h 14424"/>
              <a:gd name="connsiteX2" fmla="*/ 9729 w 10809"/>
              <a:gd name="connsiteY2" fmla="*/ 1428 h 14424"/>
              <a:gd name="connsiteX3" fmla="*/ 10000 w 10809"/>
              <a:gd name="connsiteY3" fmla="*/ 14424 h 14424"/>
              <a:gd name="connsiteX0" fmla="*/ 0 w 10618"/>
              <a:gd name="connsiteY0" fmla="*/ 9091 h 14264"/>
              <a:gd name="connsiteX1" fmla="*/ 3520 w 10618"/>
              <a:gd name="connsiteY1" fmla="*/ 5692 h 14264"/>
              <a:gd name="connsiteX2" fmla="*/ 9538 w 10618"/>
              <a:gd name="connsiteY2" fmla="*/ 1428 h 14264"/>
              <a:gd name="connsiteX3" fmla="*/ 10000 w 10618"/>
              <a:gd name="connsiteY3" fmla="*/ 14264 h 14264"/>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4082"/>
              <a:gd name="connsiteY0" fmla="*/ 11994 h 26269"/>
              <a:gd name="connsiteX1" fmla="*/ 4985 w 14082"/>
              <a:gd name="connsiteY1" fmla="*/ 283 h 26269"/>
              <a:gd name="connsiteX2" fmla="*/ 9538 w 14082"/>
              <a:gd name="connsiteY2" fmla="*/ 4331 h 26269"/>
              <a:gd name="connsiteX3" fmla="*/ 14082 w 14082"/>
              <a:gd name="connsiteY3" fmla="*/ 26269 h 26269"/>
              <a:gd name="connsiteX0" fmla="*/ 0 w 14082"/>
              <a:gd name="connsiteY0" fmla="*/ 11711 h 25986"/>
              <a:gd name="connsiteX1" fmla="*/ 4985 w 14082"/>
              <a:gd name="connsiteY1" fmla="*/ 0 h 25986"/>
              <a:gd name="connsiteX2" fmla="*/ 14082 w 14082"/>
              <a:gd name="connsiteY2" fmla="*/ 25986 h 25986"/>
              <a:gd name="connsiteX0" fmla="*/ 0 w 14082"/>
              <a:gd name="connsiteY0" fmla="*/ 7210 h 21485"/>
              <a:gd name="connsiteX1" fmla="*/ 9388 w 14082"/>
              <a:gd name="connsiteY1" fmla="*/ 865 h 21485"/>
              <a:gd name="connsiteX2" fmla="*/ 14082 w 14082"/>
              <a:gd name="connsiteY2" fmla="*/ 21485 h 21485"/>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2908 w 14082"/>
              <a:gd name="connsiteY2" fmla="*/ 8055 h 22784"/>
              <a:gd name="connsiteX3" fmla="*/ 14082 w 14082"/>
              <a:gd name="connsiteY3" fmla="*/ 22784 h 22784"/>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864"/>
              <a:gd name="connsiteY0" fmla="*/ 8509 h 22130"/>
              <a:gd name="connsiteX1" fmla="*/ 9388 w 14864"/>
              <a:gd name="connsiteY1" fmla="*/ 2164 h 22130"/>
              <a:gd name="connsiteX2" fmla="*/ 14082 w 14864"/>
              <a:gd name="connsiteY2" fmla="*/ 5110 h 22130"/>
              <a:gd name="connsiteX3" fmla="*/ 14659 w 14864"/>
              <a:gd name="connsiteY3" fmla="*/ 22130 h 22130"/>
              <a:gd name="connsiteX0" fmla="*/ 0 w 14864"/>
              <a:gd name="connsiteY0" fmla="*/ 10596 h 24217"/>
              <a:gd name="connsiteX1" fmla="*/ 8214 w 14864"/>
              <a:gd name="connsiteY1" fmla="*/ 1305 h 24217"/>
              <a:gd name="connsiteX2" fmla="*/ 14082 w 14864"/>
              <a:gd name="connsiteY2" fmla="*/ 7197 h 24217"/>
              <a:gd name="connsiteX3" fmla="*/ 14659 w 14864"/>
              <a:gd name="connsiteY3" fmla="*/ 24217 h 24217"/>
              <a:gd name="connsiteX0" fmla="*/ 0 w 14864"/>
              <a:gd name="connsiteY0" fmla="*/ 10615 h 24236"/>
              <a:gd name="connsiteX1" fmla="*/ 8214 w 14864"/>
              <a:gd name="connsiteY1" fmla="*/ 1324 h 24236"/>
              <a:gd name="connsiteX2" fmla="*/ 14082 w 14864"/>
              <a:gd name="connsiteY2" fmla="*/ 7216 h 24236"/>
              <a:gd name="connsiteX3" fmla="*/ 14659 w 14864"/>
              <a:gd name="connsiteY3" fmla="*/ 24236 h 2423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659"/>
              <a:gd name="connsiteY0" fmla="*/ 9865 h 23486"/>
              <a:gd name="connsiteX1" fmla="*/ 8214 w 14659"/>
              <a:gd name="connsiteY1" fmla="*/ 574 h 23486"/>
              <a:gd name="connsiteX2" fmla="*/ 14082 w 14659"/>
              <a:gd name="connsiteY2" fmla="*/ 6466 h 23486"/>
              <a:gd name="connsiteX3" fmla="*/ 14659 w 14659"/>
              <a:gd name="connsiteY3" fmla="*/ 23486 h 23486"/>
              <a:gd name="connsiteX0" fmla="*/ 0 w 14844"/>
              <a:gd name="connsiteY0" fmla="*/ 9865 h 23486"/>
              <a:gd name="connsiteX1" fmla="*/ 8214 w 14844"/>
              <a:gd name="connsiteY1" fmla="*/ 574 h 23486"/>
              <a:gd name="connsiteX2" fmla="*/ 14082 w 14844"/>
              <a:gd name="connsiteY2" fmla="*/ 6466 h 23486"/>
              <a:gd name="connsiteX3" fmla="*/ 14659 w 14844"/>
              <a:gd name="connsiteY3" fmla="*/ 23486 h 23486"/>
              <a:gd name="connsiteX0" fmla="*/ 0 w 14659"/>
              <a:gd name="connsiteY0" fmla="*/ 9865 h 23486"/>
              <a:gd name="connsiteX1" fmla="*/ 8214 w 14659"/>
              <a:gd name="connsiteY1" fmla="*/ 574 h 23486"/>
              <a:gd name="connsiteX2" fmla="*/ 12908 w 14659"/>
              <a:gd name="connsiteY2" fmla="*/ 3520 h 23486"/>
              <a:gd name="connsiteX3" fmla="*/ 14659 w 14659"/>
              <a:gd name="connsiteY3" fmla="*/ 23486 h 23486"/>
              <a:gd name="connsiteX0" fmla="*/ 0 w 14659"/>
              <a:gd name="connsiteY0" fmla="*/ 11631 h 25252"/>
              <a:gd name="connsiteX1" fmla="*/ 8214 w 14659"/>
              <a:gd name="connsiteY1" fmla="*/ 2340 h 25252"/>
              <a:gd name="connsiteX2" fmla="*/ 12908 w 14659"/>
              <a:gd name="connsiteY2" fmla="*/ 5286 h 25252"/>
              <a:gd name="connsiteX3" fmla="*/ 14659 w 14659"/>
              <a:gd name="connsiteY3" fmla="*/ 25252 h 25252"/>
              <a:gd name="connsiteX0" fmla="*/ 0 w 14659"/>
              <a:gd name="connsiteY0" fmla="*/ 12438 h 26059"/>
              <a:gd name="connsiteX1" fmla="*/ 8214 w 14659"/>
              <a:gd name="connsiteY1" fmla="*/ 3147 h 26059"/>
              <a:gd name="connsiteX2" fmla="*/ 12908 w 14659"/>
              <a:gd name="connsiteY2" fmla="*/ 6093 h 26059"/>
              <a:gd name="connsiteX3" fmla="*/ 14659 w 14659"/>
              <a:gd name="connsiteY3" fmla="*/ 26059 h 26059"/>
              <a:gd name="connsiteX0" fmla="*/ 0 w 14659"/>
              <a:gd name="connsiteY0" fmla="*/ 8615 h 22236"/>
              <a:gd name="connsiteX1" fmla="*/ 12908 w 14659"/>
              <a:gd name="connsiteY1" fmla="*/ 2270 h 22236"/>
              <a:gd name="connsiteX2" fmla="*/ 14659 w 14659"/>
              <a:gd name="connsiteY2" fmla="*/ 22236 h 22236"/>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291 h 22912"/>
              <a:gd name="connsiteX1" fmla="*/ 10561 w 14659"/>
              <a:gd name="connsiteY1" fmla="*/ 0 h 22912"/>
              <a:gd name="connsiteX2" fmla="*/ 14659 w 14659"/>
              <a:gd name="connsiteY2" fmla="*/ 22912 h 22912"/>
              <a:gd name="connsiteX0" fmla="*/ 0 w 14659"/>
              <a:gd name="connsiteY0" fmla="*/ 9291 h 22912"/>
              <a:gd name="connsiteX1" fmla="*/ 10561 w 14659"/>
              <a:gd name="connsiteY1" fmla="*/ 0 h 22912"/>
              <a:gd name="connsiteX2" fmla="*/ 14659 w 14659"/>
              <a:gd name="connsiteY2" fmla="*/ 22912 h 22912"/>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5101"/>
              <a:gd name="connsiteY0" fmla="*/ 8257 h 21878"/>
              <a:gd name="connsiteX1" fmla="*/ 10561 w 15101"/>
              <a:gd name="connsiteY1" fmla="*/ 1912 h 21878"/>
              <a:gd name="connsiteX2" fmla="*/ 14659 w 15101"/>
              <a:gd name="connsiteY2" fmla="*/ 21878 h 21878"/>
              <a:gd name="connsiteX0" fmla="*/ 0 w 16291"/>
              <a:gd name="connsiteY0" fmla="*/ 8257 h 21878"/>
              <a:gd name="connsiteX1" fmla="*/ 10561 w 16291"/>
              <a:gd name="connsiteY1" fmla="*/ 1912 h 21878"/>
              <a:gd name="connsiteX2" fmla="*/ 14659 w 16291"/>
              <a:gd name="connsiteY2" fmla="*/ 21878 h 21878"/>
              <a:gd name="connsiteX0" fmla="*/ 0 w 15439"/>
              <a:gd name="connsiteY0" fmla="*/ 8257 h 21878"/>
              <a:gd name="connsiteX1" fmla="*/ 10561 w 15439"/>
              <a:gd name="connsiteY1" fmla="*/ 1912 h 21878"/>
              <a:gd name="connsiteX2" fmla="*/ 14659 w 15439"/>
              <a:gd name="connsiteY2" fmla="*/ 21878 h 21878"/>
              <a:gd name="connsiteX0" fmla="*/ 0 w 15439"/>
              <a:gd name="connsiteY0" fmla="*/ 8257 h 21878"/>
              <a:gd name="connsiteX1" fmla="*/ 8214 w 15439"/>
              <a:gd name="connsiteY1" fmla="*/ 1912 h 21878"/>
              <a:gd name="connsiteX2" fmla="*/ 14659 w 15439"/>
              <a:gd name="connsiteY2" fmla="*/ 21878 h 21878"/>
              <a:gd name="connsiteX0" fmla="*/ 0 w 15439"/>
              <a:gd name="connsiteY0" fmla="*/ 8257 h 21878"/>
              <a:gd name="connsiteX1" fmla="*/ 8214 w 15439"/>
              <a:gd name="connsiteY1" fmla="*/ 7804 h 21878"/>
              <a:gd name="connsiteX2" fmla="*/ 14659 w 15439"/>
              <a:gd name="connsiteY2" fmla="*/ 21878 h 21878"/>
              <a:gd name="connsiteX0" fmla="*/ 0 w 15439"/>
              <a:gd name="connsiteY0" fmla="*/ 2440 h 16061"/>
              <a:gd name="connsiteX1" fmla="*/ 8214 w 15439"/>
              <a:gd name="connsiteY1" fmla="*/ 1987 h 16061"/>
              <a:gd name="connsiteX2" fmla="*/ 14659 w 15439"/>
              <a:gd name="connsiteY2" fmla="*/ 16061 h 16061"/>
              <a:gd name="connsiteX0" fmla="*/ 0 w 15439"/>
              <a:gd name="connsiteY0" fmla="*/ 3528 h 17149"/>
              <a:gd name="connsiteX1" fmla="*/ 8214 w 15439"/>
              <a:gd name="connsiteY1" fmla="*/ 129 h 17149"/>
              <a:gd name="connsiteX2" fmla="*/ 14659 w 15439"/>
              <a:gd name="connsiteY2" fmla="*/ 17149 h 17149"/>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7960 w 15439"/>
              <a:gd name="connsiteY1" fmla="*/ 2970 h 17430"/>
              <a:gd name="connsiteX2" fmla="*/ 14659 w 15439"/>
              <a:gd name="connsiteY2" fmla="*/ 17430 h 17430"/>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039"/>
              <a:gd name="connsiteY0" fmla="*/ 1060 h 14681"/>
              <a:gd name="connsiteX1" fmla="*/ 8044 w 15039"/>
              <a:gd name="connsiteY1" fmla="*/ 832 h 14681"/>
              <a:gd name="connsiteX2" fmla="*/ 14659 w 15039"/>
              <a:gd name="connsiteY2" fmla="*/ 14681 h 14681"/>
              <a:gd name="connsiteX0" fmla="*/ 0 w 15039"/>
              <a:gd name="connsiteY0" fmla="*/ 6130 h 19751"/>
              <a:gd name="connsiteX1" fmla="*/ 7898 w 15039"/>
              <a:gd name="connsiteY1" fmla="*/ 105 h 19751"/>
              <a:gd name="connsiteX2" fmla="*/ 14659 w 15039"/>
              <a:gd name="connsiteY2" fmla="*/ 19751 h 19751"/>
              <a:gd name="connsiteX0" fmla="*/ 0 w 15039"/>
              <a:gd name="connsiteY0" fmla="*/ 6025 h 19646"/>
              <a:gd name="connsiteX1" fmla="*/ 7898 w 15039"/>
              <a:gd name="connsiteY1" fmla="*/ 0 h 19646"/>
              <a:gd name="connsiteX2" fmla="*/ 14659 w 15039"/>
              <a:gd name="connsiteY2" fmla="*/ 19646 h 19646"/>
              <a:gd name="connsiteX0" fmla="*/ 0 w 15039"/>
              <a:gd name="connsiteY0" fmla="*/ 6025 h 19646"/>
              <a:gd name="connsiteX1" fmla="*/ 7898 w 15039"/>
              <a:gd name="connsiteY1" fmla="*/ 0 h 19646"/>
              <a:gd name="connsiteX2" fmla="*/ 14659 w 15039"/>
              <a:gd name="connsiteY2" fmla="*/ 19646 h 19646"/>
              <a:gd name="connsiteX0" fmla="*/ 0 w 12972"/>
              <a:gd name="connsiteY0" fmla="*/ 8923 h 14681"/>
              <a:gd name="connsiteX1" fmla="*/ 7898 w 12972"/>
              <a:gd name="connsiteY1" fmla="*/ 2898 h 14681"/>
              <a:gd name="connsiteX2" fmla="*/ 12592 w 12972"/>
              <a:gd name="connsiteY2" fmla="*/ 14681 h 14681"/>
              <a:gd name="connsiteX0" fmla="*/ 0 w 12972"/>
              <a:gd name="connsiteY0" fmla="*/ 8923 h 14681"/>
              <a:gd name="connsiteX1" fmla="*/ 7263 w 12972"/>
              <a:gd name="connsiteY1" fmla="*/ 1519 h 14681"/>
              <a:gd name="connsiteX2" fmla="*/ 12592 w 12972"/>
              <a:gd name="connsiteY2" fmla="*/ 14681 h 14681"/>
              <a:gd name="connsiteX0" fmla="*/ 0 w 12592"/>
              <a:gd name="connsiteY0" fmla="*/ 7404 h 13162"/>
              <a:gd name="connsiteX1" fmla="*/ 7263 w 12592"/>
              <a:gd name="connsiteY1" fmla="*/ 0 h 13162"/>
              <a:gd name="connsiteX2" fmla="*/ 12592 w 12592"/>
              <a:gd name="connsiteY2" fmla="*/ 13162 h 13162"/>
              <a:gd name="connsiteX0" fmla="*/ 0 w 12592"/>
              <a:gd name="connsiteY0" fmla="*/ 7404 h 13162"/>
              <a:gd name="connsiteX1" fmla="*/ 7263 w 12592"/>
              <a:gd name="connsiteY1" fmla="*/ 0 h 13162"/>
              <a:gd name="connsiteX2" fmla="*/ 12592 w 12592"/>
              <a:gd name="connsiteY2" fmla="*/ 13162 h 13162"/>
              <a:gd name="connsiteX0" fmla="*/ 0 w 9567"/>
              <a:gd name="connsiteY0" fmla="*/ 7404 h 26175"/>
              <a:gd name="connsiteX1" fmla="*/ 7263 w 9567"/>
              <a:gd name="connsiteY1" fmla="*/ 0 h 26175"/>
              <a:gd name="connsiteX2" fmla="*/ 4909 w 9567"/>
              <a:gd name="connsiteY2" fmla="*/ 26175 h 26175"/>
              <a:gd name="connsiteX0" fmla="*/ 0 w 10000"/>
              <a:gd name="connsiteY0" fmla="*/ 2829 h 10000"/>
              <a:gd name="connsiteX1" fmla="*/ 7592 w 10000"/>
              <a:gd name="connsiteY1" fmla="*/ 0 h 10000"/>
              <a:gd name="connsiteX2" fmla="*/ 5131 w 10000"/>
              <a:gd name="connsiteY2" fmla="*/ 10000 h 10000"/>
              <a:gd name="connsiteX0" fmla="*/ 0 w 7598"/>
              <a:gd name="connsiteY0" fmla="*/ 2032 h 9203"/>
              <a:gd name="connsiteX1" fmla="*/ 5131 w 7598"/>
              <a:gd name="connsiteY1" fmla="*/ 2451 h 9203"/>
              <a:gd name="connsiteX2" fmla="*/ 5131 w 7598"/>
              <a:gd name="connsiteY2" fmla="*/ 9203 h 9203"/>
              <a:gd name="connsiteX0" fmla="*/ 0 w 10000"/>
              <a:gd name="connsiteY0" fmla="*/ 0 h 7792"/>
              <a:gd name="connsiteX1" fmla="*/ 6753 w 10000"/>
              <a:gd name="connsiteY1" fmla="*/ 455 h 7792"/>
              <a:gd name="connsiteX2" fmla="*/ 6753 w 10000"/>
              <a:gd name="connsiteY2" fmla="*/ 7792 h 7792"/>
              <a:gd name="connsiteX0" fmla="*/ 0 w 10000"/>
              <a:gd name="connsiteY0" fmla="*/ 0 h 10000"/>
              <a:gd name="connsiteX1" fmla="*/ 6753 w 10000"/>
              <a:gd name="connsiteY1" fmla="*/ 584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6753"/>
              <a:gd name="connsiteY0" fmla="*/ 0 h 10000"/>
              <a:gd name="connsiteX1" fmla="*/ 6753 w 6753"/>
              <a:gd name="connsiteY1" fmla="*/ 10000 h 10000"/>
              <a:gd name="connsiteX0" fmla="*/ 0 w 10000"/>
              <a:gd name="connsiteY0" fmla="*/ 0 h 10000"/>
              <a:gd name="connsiteX1" fmla="*/ 10000 w 10000"/>
              <a:gd name="connsiteY1" fmla="*/ 10000 h 10000"/>
              <a:gd name="connsiteX0" fmla="*/ 0 w 10000"/>
              <a:gd name="connsiteY0" fmla="*/ 0 h 10000"/>
              <a:gd name="connsiteX1" fmla="*/ 10000 w 10000"/>
              <a:gd name="connsiteY1" fmla="*/ 10000 h 10000"/>
              <a:gd name="connsiteX0" fmla="*/ 0 w 10453"/>
              <a:gd name="connsiteY0" fmla="*/ 7375 h 8436"/>
              <a:gd name="connsiteX1" fmla="*/ 10453 w 10453"/>
              <a:gd name="connsiteY1" fmla="*/ 8375 h 8436"/>
              <a:gd name="connsiteX0" fmla="*/ 0 w 10000"/>
              <a:gd name="connsiteY0" fmla="*/ 38 h 1296"/>
              <a:gd name="connsiteX1" fmla="*/ 10000 w 10000"/>
              <a:gd name="connsiteY1" fmla="*/ 1224 h 1296"/>
              <a:gd name="connsiteX0" fmla="*/ 0 w 10000"/>
              <a:gd name="connsiteY0" fmla="*/ 18588 h 28295"/>
              <a:gd name="connsiteX1" fmla="*/ 10000 w 10000"/>
              <a:gd name="connsiteY1" fmla="*/ 9444 h 28295"/>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 name="connsiteX0" fmla="*/ 0 w 7543"/>
              <a:gd name="connsiteY0" fmla="*/ 0 h 51959"/>
              <a:gd name="connsiteX1" fmla="*/ 7543 w 7543"/>
              <a:gd name="connsiteY1" fmla="*/ 51959 h 51959"/>
              <a:gd name="connsiteX0" fmla="*/ 0 w 10000"/>
              <a:gd name="connsiteY0" fmla="*/ 0 h 10000"/>
              <a:gd name="connsiteX1" fmla="*/ 10000 w 10000"/>
              <a:gd name="connsiteY1" fmla="*/ 10000 h 10000"/>
              <a:gd name="connsiteX0" fmla="*/ 0 w 13255"/>
              <a:gd name="connsiteY0" fmla="*/ 0 h 7987"/>
              <a:gd name="connsiteX1" fmla="*/ 13255 w 13255"/>
              <a:gd name="connsiteY1" fmla="*/ 7987 h 7987"/>
            </a:gdLst>
            <a:ahLst/>
            <a:cxnLst>
              <a:cxn ang="0">
                <a:pos x="connsiteX0" y="connsiteY0"/>
              </a:cxn>
              <a:cxn ang="0">
                <a:pos x="connsiteX1" y="connsiteY1"/>
              </a:cxn>
            </a:cxnLst>
            <a:rect l="l" t="t" r="r" b="b"/>
            <a:pathLst>
              <a:path w="13255" h="7987">
                <a:moveTo>
                  <a:pt x="0" y="0"/>
                </a:moveTo>
                <a:cubicBezTo>
                  <a:pt x="5972" y="190"/>
                  <a:pt x="8642" y="456"/>
                  <a:pt x="13255" y="7987"/>
                </a:cubicBezTo>
              </a:path>
            </a:pathLst>
          </a:custGeom>
          <a:noFill/>
          <a:ln w="38100" cap="flat" cmpd="sng">
            <a:solidFill>
              <a:srgbClr val="FFC000"/>
            </a:solidFill>
            <a:prstDash val="solid"/>
            <a:round/>
            <a:headEnd type="oval" w="med" len="med"/>
            <a:tailEnd type="triangle" w="lg" len="lg"/>
          </a:ln>
        </p:spPr>
        <p:txBody>
          <a:bodyPr tIns="91440" bIns="91440" anchor="ctr"/>
          <a:lstStyle/>
          <a:p>
            <a:endParaRPr lang="en-US" dirty="0">
              <a:latin typeface="Times New Roman" panose="02020603050405020304" pitchFamily="18" charset="0"/>
            </a:endParaRPr>
          </a:p>
        </p:txBody>
      </p:sp>
      <p:sp>
        <p:nvSpPr>
          <p:cNvPr id="116" name="trivial example"/>
          <p:cNvSpPr>
            <a:spLocks noChangeArrowheads="1"/>
          </p:cNvSpPr>
          <p:nvPr/>
        </p:nvSpPr>
        <p:spPr bwMode="auto">
          <a:xfrm>
            <a:off x="259262" y="493773"/>
            <a:ext cx="11791313" cy="3731943"/>
          </a:xfrm>
          <a:prstGeom prst="wedgeRoundRectCallout">
            <a:avLst>
              <a:gd name="adj1" fmla="val -19517"/>
              <a:gd name="adj2" fmla="val 69492"/>
              <a:gd name="adj3" fmla="val 16667"/>
            </a:avLst>
          </a:prstGeom>
          <a:solidFill>
            <a:srgbClr val="00B0F0"/>
          </a:solidFill>
          <a:ln w="936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tIns="46800" rIns="0" bIns="46800" anchor="ctr"/>
          <a:lstStyle/>
          <a:p>
            <a:pPr marL="14288" indent="-14288">
              <a:spcBef>
                <a:spcPts val="1250"/>
              </a:spcBef>
              <a:buClr>
                <a:srgbClr val="000000"/>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a:solidFill>
                  <a:schemeClr val="tx1">
                    <a:lumMod val="95000"/>
                    <a:lumOff val="5000"/>
                  </a:schemeClr>
                </a:solidFill>
                <a:latin typeface="Times New Roman" panose="02020603050405020304" pitchFamily="18" charset="0"/>
              </a:rPr>
              <a:t>This list contains only positive integers, but we also need to keep track of the length of the list.</a:t>
            </a:r>
          </a:p>
          <a:p>
            <a:pPr marL="176213" indent="-176213">
              <a:spcBef>
                <a:spcPts val="1250"/>
              </a:spcBef>
              <a:buClr>
                <a:srgbClr val="000000"/>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a:solidFill>
                  <a:schemeClr val="tx1">
                    <a:lumMod val="95000"/>
                    <a:lumOff val="5000"/>
                  </a:schemeClr>
                </a:solidFill>
                <a:latin typeface="Times New Roman" panose="02020603050405020304" pitchFamily="18" charset="0"/>
              </a:rPr>
              <a:t>Rather than declaring a separate variable for length, store the length in a sentinel node, but make it negative so that as our code manipulates the list, it can detect the actual header (sentinel) and make sure not to mistakenly treat it as an ordinary (positive) node.</a:t>
            </a:r>
          </a:p>
        </p:txBody>
      </p:sp>
    </p:spTree>
    <p:extLst>
      <p:ext uri="{BB962C8B-B14F-4D97-AF65-F5344CB8AC3E}">
        <p14:creationId xmlns:p14="http://schemas.microsoft.com/office/powerpoint/2010/main" val="320576548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6"/>
                                        </p:tgtEl>
                                        <p:attrNameLst>
                                          <p:attrName>style.visibility</p:attrName>
                                        </p:attrNameLst>
                                      </p:cBhvr>
                                      <p:to>
                                        <p:strVal val="visible"/>
                                      </p:to>
                                    </p:set>
                                    <p:anim calcmode="lin" valueType="num">
                                      <p:cBhvr additive="base">
                                        <p:cTn id="7" dur="500" fill="hold"/>
                                        <p:tgtEl>
                                          <p:spTgt spid="116"/>
                                        </p:tgtEl>
                                        <p:attrNameLst>
                                          <p:attrName>ppt_x</p:attrName>
                                        </p:attrNameLst>
                                      </p:cBhvr>
                                      <p:tavLst>
                                        <p:tav tm="0">
                                          <p:val>
                                            <p:strVal val="#ppt_x"/>
                                          </p:val>
                                        </p:tav>
                                        <p:tav tm="100000">
                                          <p:val>
                                            <p:strVal val="#ppt_x"/>
                                          </p:val>
                                        </p:tav>
                                      </p:tavLst>
                                    </p:anim>
                                    <p:anim calcmode="lin" valueType="num">
                                      <p:cBhvr additive="base">
                                        <p:cTn id="8" dur="500" fill="hold"/>
                                        <p:tgtEl>
                                          <p:spTgt spid="1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8C511-BEE8-8469-ABB6-D888CD50DFBC}"/>
              </a:ext>
            </a:extLst>
          </p:cNvPr>
          <p:cNvSpPr>
            <a:spLocks noGrp="1"/>
          </p:cNvSpPr>
          <p:nvPr>
            <p:ph type="title"/>
          </p:nvPr>
        </p:nvSpPr>
        <p:spPr/>
        <p:txBody>
          <a:bodyPr>
            <a:noAutofit/>
          </a:bodyPr>
          <a:lstStyle/>
          <a:p>
            <a:r>
              <a:rPr lang="en-US" sz="4400" cap="none" dirty="0"/>
              <a:t>Which Data Structure Could We Use?</a:t>
            </a:r>
          </a:p>
        </p:txBody>
      </p:sp>
      <p:pic>
        <p:nvPicPr>
          <p:cNvPr id="4" name="Picture 3" descr="X-ray of a hand and ruler&#10;&#10;Description automatically generated">
            <a:extLst>
              <a:ext uri="{FF2B5EF4-FFF2-40B4-BE49-F238E27FC236}">
                <a16:creationId xmlns:a16="http://schemas.microsoft.com/office/drawing/2014/main" id="{91C90B9D-1455-753C-75EF-B40BB035066F}"/>
              </a:ext>
            </a:extLst>
          </p:cNvPr>
          <p:cNvPicPr>
            <a:picLocks noChangeAspect="1"/>
          </p:cNvPicPr>
          <p:nvPr/>
        </p:nvPicPr>
        <p:blipFill>
          <a:blip r:embed="rId3"/>
          <a:stretch>
            <a:fillRect/>
          </a:stretch>
        </p:blipFill>
        <p:spPr>
          <a:xfrm>
            <a:off x="411480" y="2173290"/>
            <a:ext cx="3901440" cy="3901440"/>
          </a:xfrm>
          <a:prstGeom prst="rect">
            <a:avLst/>
          </a:prstGeom>
        </p:spPr>
      </p:pic>
      <p:sp>
        <p:nvSpPr>
          <p:cNvPr id="5" name="TextBox 4">
            <a:extLst>
              <a:ext uri="{FF2B5EF4-FFF2-40B4-BE49-F238E27FC236}">
                <a16:creationId xmlns:a16="http://schemas.microsoft.com/office/drawing/2014/main" id="{E71F7372-24FA-A267-53EF-FAF31F39A4F5}"/>
              </a:ext>
            </a:extLst>
          </p:cNvPr>
          <p:cNvSpPr txBox="1"/>
          <p:nvPr/>
        </p:nvSpPr>
        <p:spPr>
          <a:xfrm>
            <a:off x="4470400" y="1973778"/>
            <a:ext cx="7187873" cy="1569660"/>
          </a:xfrm>
          <a:prstGeom prst="rect">
            <a:avLst/>
          </a:prstGeom>
          <a:noFill/>
        </p:spPr>
        <p:txBody>
          <a:bodyPr wrap="square">
            <a:spAutoFit/>
          </a:bodyPr>
          <a:lstStyle/>
          <a:p>
            <a:r>
              <a:rPr lang="en-US" sz="3200" dirty="0">
                <a:latin typeface="Times New Roman" panose="02020603050405020304" pitchFamily="18" charset="0"/>
              </a:rPr>
              <a:t>To store information about an X-Ray or MRI, where most of the image (background) is black.</a:t>
            </a:r>
          </a:p>
        </p:txBody>
      </p:sp>
    </p:spTree>
    <p:extLst>
      <p:ext uri="{BB962C8B-B14F-4D97-AF65-F5344CB8AC3E}">
        <p14:creationId xmlns:p14="http://schemas.microsoft.com/office/powerpoint/2010/main" val="27027863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8C511-BEE8-8469-ABB6-D888CD50DFBC}"/>
              </a:ext>
            </a:extLst>
          </p:cNvPr>
          <p:cNvSpPr>
            <a:spLocks noGrp="1"/>
          </p:cNvSpPr>
          <p:nvPr>
            <p:ph type="title"/>
          </p:nvPr>
        </p:nvSpPr>
        <p:spPr/>
        <p:txBody>
          <a:bodyPr>
            <a:noAutofit/>
          </a:bodyPr>
          <a:lstStyle/>
          <a:p>
            <a:r>
              <a:rPr lang="en-US" sz="4400" cap="none" dirty="0"/>
              <a:t>Which Data Structure Could We Use?</a:t>
            </a:r>
          </a:p>
        </p:txBody>
      </p:sp>
      <p:sp>
        <p:nvSpPr>
          <p:cNvPr id="5" name="TextBox 4">
            <a:extLst>
              <a:ext uri="{FF2B5EF4-FFF2-40B4-BE49-F238E27FC236}">
                <a16:creationId xmlns:a16="http://schemas.microsoft.com/office/drawing/2014/main" id="{E71F7372-24FA-A267-53EF-FAF31F39A4F5}"/>
              </a:ext>
            </a:extLst>
          </p:cNvPr>
          <p:cNvSpPr txBox="1"/>
          <p:nvPr/>
        </p:nvSpPr>
        <p:spPr>
          <a:xfrm>
            <a:off x="513407" y="2255458"/>
            <a:ext cx="7187873" cy="2062103"/>
          </a:xfrm>
          <a:prstGeom prst="rect">
            <a:avLst/>
          </a:prstGeom>
          <a:noFill/>
        </p:spPr>
        <p:txBody>
          <a:bodyPr wrap="square">
            <a:spAutoFit/>
          </a:bodyPr>
          <a:lstStyle/>
          <a:p>
            <a:r>
              <a:rPr lang="en-US" sz="3200" dirty="0">
                <a:latin typeface="Times New Roman" panose="02020603050405020304" pitchFamily="18" charset="0"/>
              </a:rPr>
              <a:t>Photoshop or another photo editing program where you have shapes on a solid color background and want to use the paint bucket to change colors.</a:t>
            </a:r>
          </a:p>
        </p:txBody>
      </p:sp>
      <p:pic>
        <p:nvPicPr>
          <p:cNvPr id="7" name="Picture 6" descr="A screenshot of a computer&#10;&#10;Description automatically generated">
            <a:extLst>
              <a:ext uri="{FF2B5EF4-FFF2-40B4-BE49-F238E27FC236}">
                <a16:creationId xmlns:a16="http://schemas.microsoft.com/office/drawing/2014/main" id="{F680B72B-F49D-E6C7-EB3F-49D0FF131D87}"/>
              </a:ext>
            </a:extLst>
          </p:cNvPr>
          <p:cNvPicPr>
            <a:picLocks noChangeAspect="1"/>
          </p:cNvPicPr>
          <p:nvPr/>
        </p:nvPicPr>
        <p:blipFill>
          <a:blip r:embed="rId3"/>
          <a:stretch>
            <a:fillRect/>
          </a:stretch>
        </p:blipFill>
        <p:spPr>
          <a:xfrm>
            <a:off x="7701280" y="3286510"/>
            <a:ext cx="4317771" cy="3571489"/>
          </a:xfrm>
          <a:prstGeom prst="rect">
            <a:avLst/>
          </a:prstGeom>
        </p:spPr>
      </p:pic>
    </p:spTree>
    <p:extLst>
      <p:ext uri="{BB962C8B-B14F-4D97-AF65-F5344CB8AC3E}">
        <p14:creationId xmlns:p14="http://schemas.microsoft.com/office/powerpoint/2010/main" val="20666104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8C511-BEE8-8469-ABB6-D888CD50DFBC}"/>
              </a:ext>
            </a:extLst>
          </p:cNvPr>
          <p:cNvSpPr>
            <a:spLocks noGrp="1"/>
          </p:cNvSpPr>
          <p:nvPr>
            <p:ph type="title"/>
          </p:nvPr>
        </p:nvSpPr>
        <p:spPr/>
        <p:txBody>
          <a:bodyPr>
            <a:noAutofit/>
          </a:bodyPr>
          <a:lstStyle/>
          <a:p>
            <a:r>
              <a:rPr lang="en-US" sz="4400" cap="none" dirty="0"/>
              <a:t>Which Data Structure Could We Use?</a:t>
            </a:r>
          </a:p>
        </p:txBody>
      </p:sp>
      <p:sp>
        <p:nvSpPr>
          <p:cNvPr id="5" name="TextBox 4">
            <a:extLst>
              <a:ext uri="{FF2B5EF4-FFF2-40B4-BE49-F238E27FC236}">
                <a16:creationId xmlns:a16="http://schemas.microsoft.com/office/drawing/2014/main" id="{E71F7372-24FA-A267-53EF-FAF31F39A4F5}"/>
              </a:ext>
            </a:extLst>
          </p:cNvPr>
          <p:cNvSpPr txBox="1"/>
          <p:nvPr/>
        </p:nvSpPr>
        <p:spPr>
          <a:xfrm>
            <a:off x="513407" y="2255458"/>
            <a:ext cx="5582593" cy="584775"/>
          </a:xfrm>
          <a:prstGeom prst="rect">
            <a:avLst/>
          </a:prstGeom>
          <a:noFill/>
        </p:spPr>
        <p:txBody>
          <a:bodyPr wrap="square">
            <a:spAutoFit/>
          </a:bodyPr>
          <a:lstStyle/>
          <a:p>
            <a:r>
              <a:rPr lang="en-US" sz="3200" dirty="0">
                <a:latin typeface="Times New Roman" panose="02020603050405020304" pitchFamily="18" charset="0"/>
              </a:rPr>
              <a:t>Representing a fingerprint.</a:t>
            </a:r>
          </a:p>
        </p:txBody>
      </p:sp>
      <p:pic>
        <p:nvPicPr>
          <p:cNvPr id="4" name="Picture 3" descr="A fingerprint on a smart phone&#10;&#10;Description automatically generated">
            <a:extLst>
              <a:ext uri="{FF2B5EF4-FFF2-40B4-BE49-F238E27FC236}">
                <a16:creationId xmlns:a16="http://schemas.microsoft.com/office/drawing/2014/main" id="{E486EDB2-A988-7658-EAF9-296E06C885E8}"/>
              </a:ext>
            </a:extLst>
          </p:cNvPr>
          <p:cNvPicPr>
            <a:picLocks noChangeAspect="1"/>
          </p:cNvPicPr>
          <p:nvPr/>
        </p:nvPicPr>
        <p:blipFill>
          <a:blip r:embed="rId3"/>
          <a:stretch>
            <a:fillRect/>
          </a:stretch>
        </p:blipFill>
        <p:spPr>
          <a:xfrm>
            <a:off x="7137400" y="1991360"/>
            <a:ext cx="4866640" cy="4866640"/>
          </a:xfrm>
          <a:prstGeom prst="rect">
            <a:avLst/>
          </a:prstGeom>
        </p:spPr>
      </p:pic>
    </p:spTree>
    <p:extLst>
      <p:ext uri="{BB962C8B-B14F-4D97-AF65-F5344CB8AC3E}">
        <p14:creationId xmlns:p14="http://schemas.microsoft.com/office/powerpoint/2010/main" val="28946120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6554" y="4748963"/>
            <a:ext cx="11151719" cy="1224136"/>
          </a:xfrm>
        </p:spPr>
        <p:txBody>
          <a:bodyPr>
            <a:noAutofit/>
          </a:bodyPr>
          <a:lstStyle/>
          <a:p>
            <a:pPr marL="0" indent="0">
              <a:buNone/>
            </a:pPr>
            <a:r>
              <a:rPr lang="en-US" sz="2400" dirty="0"/>
              <a:t>Ex.</a:t>
            </a:r>
          </a:p>
          <a:p>
            <a:r>
              <a:rPr lang="en-US" sz="2400" dirty="0"/>
              <a:t>Machine Learning </a:t>
            </a:r>
          </a:p>
          <a:p>
            <a:r>
              <a:rPr lang="en-US" sz="2400" dirty="0"/>
              <a:t>Image Compression</a:t>
            </a:r>
          </a:p>
          <a:p>
            <a:r>
              <a:rPr lang="en-US" sz="2400" dirty="0"/>
              <a:t>3D Reconstruction</a:t>
            </a:r>
          </a:p>
          <a:p>
            <a:r>
              <a:rPr lang="en-US" sz="2400" dirty="0"/>
              <a:t>Circuit Simulation</a:t>
            </a:r>
          </a:p>
          <a:p>
            <a:r>
              <a:rPr lang="en-US" sz="2400" dirty="0"/>
              <a:t>etc.</a:t>
            </a:r>
          </a:p>
        </p:txBody>
      </p:sp>
      <p:sp>
        <p:nvSpPr>
          <p:cNvPr id="2" name="Title 1"/>
          <p:cNvSpPr>
            <a:spLocks noGrp="1"/>
          </p:cNvSpPr>
          <p:nvPr>
            <p:ph type="title"/>
          </p:nvPr>
        </p:nvSpPr>
        <p:spPr>
          <a:xfrm>
            <a:off x="654534" y="884901"/>
            <a:ext cx="7886700" cy="693113"/>
          </a:xfrm>
        </p:spPr>
        <p:txBody>
          <a:bodyPr>
            <a:noAutofit/>
          </a:bodyPr>
          <a:lstStyle/>
          <a:p>
            <a:r>
              <a:rPr lang="en-US" sz="4800" cap="none" dirty="0"/>
              <a:t>Sparse Matrix</a:t>
            </a:r>
          </a:p>
        </p:txBody>
      </p:sp>
      <p:sp>
        <p:nvSpPr>
          <p:cNvPr id="8" name="TextBox 7">
            <a:extLst>
              <a:ext uri="{FF2B5EF4-FFF2-40B4-BE49-F238E27FC236}">
                <a16:creationId xmlns:a16="http://schemas.microsoft.com/office/drawing/2014/main" id="{DE6EAC26-5C63-9283-0160-5320376D5134}"/>
              </a:ext>
            </a:extLst>
          </p:cNvPr>
          <p:cNvSpPr txBox="1"/>
          <p:nvPr/>
        </p:nvSpPr>
        <p:spPr>
          <a:xfrm>
            <a:off x="506554" y="1973778"/>
            <a:ext cx="11151719" cy="584775"/>
          </a:xfrm>
          <a:prstGeom prst="rect">
            <a:avLst/>
          </a:prstGeom>
          <a:noFill/>
        </p:spPr>
        <p:txBody>
          <a:bodyPr wrap="square">
            <a:spAutoFit/>
          </a:bodyPr>
          <a:lstStyle/>
          <a:p>
            <a:r>
              <a:rPr lang="en-US" sz="3200" dirty="0">
                <a:latin typeface="Times New Roman" panose="02020603050405020304" pitchFamily="18" charset="0"/>
              </a:rPr>
              <a:t>A sparse matrix is one where most of the numbers are 0</a:t>
            </a:r>
          </a:p>
        </p:txBody>
      </p:sp>
      <p:graphicFrame>
        <p:nvGraphicFramePr>
          <p:cNvPr id="4" name="Table 3">
            <a:extLst>
              <a:ext uri="{FF2B5EF4-FFF2-40B4-BE49-F238E27FC236}">
                <a16:creationId xmlns:a16="http://schemas.microsoft.com/office/drawing/2014/main" id="{CC282AC2-D8CA-6743-FCE5-C87FF9096D09}"/>
              </a:ext>
            </a:extLst>
          </p:cNvPr>
          <p:cNvGraphicFramePr>
            <a:graphicFrameLocks noGrp="1"/>
          </p:cNvGraphicFramePr>
          <p:nvPr/>
        </p:nvGraphicFramePr>
        <p:xfrm>
          <a:off x="2426137" y="2558553"/>
          <a:ext cx="8128002" cy="1483360"/>
        </p:xfrm>
        <a:graphic>
          <a:graphicData uri="http://schemas.openxmlformats.org/drawingml/2006/table">
            <a:tbl>
              <a:tblPr bandRow="1">
                <a:tableStyleId>{F5AB1C69-6EDB-4FF4-983F-18BD219EF322}</a:tableStyleId>
              </a:tblPr>
              <a:tblGrid>
                <a:gridCol w="1354667">
                  <a:extLst>
                    <a:ext uri="{9D8B030D-6E8A-4147-A177-3AD203B41FA5}">
                      <a16:colId xmlns:a16="http://schemas.microsoft.com/office/drawing/2014/main" val="1253373585"/>
                    </a:ext>
                  </a:extLst>
                </a:gridCol>
                <a:gridCol w="1354667">
                  <a:extLst>
                    <a:ext uri="{9D8B030D-6E8A-4147-A177-3AD203B41FA5}">
                      <a16:colId xmlns:a16="http://schemas.microsoft.com/office/drawing/2014/main" val="3771130657"/>
                    </a:ext>
                  </a:extLst>
                </a:gridCol>
                <a:gridCol w="1354667">
                  <a:extLst>
                    <a:ext uri="{9D8B030D-6E8A-4147-A177-3AD203B41FA5}">
                      <a16:colId xmlns:a16="http://schemas.microsoft.com/office/drawing/2014/main" val="1500632110"/>
                    </a:ext>
                  </a:extLst>
                </a:gridCol>
                <a:gridCol w="1354667">
                  <a:extLst>
                    <a:ext uri="{9D8B030D-6E8A-4147-A177-3AD203B41FA5}">
                      <a16:colId xmlns:a16="http://schemas.microsoft.com/office/drawing/2014/main" val="1995428319"/>
                    </a:ext>
                  </a:extLst>
                </a:gridCol>
                <a:gridCol w="1354667">
                  <a:extLst>
                    <a:ext uri="{9D8B030D-6E8A-4147-A177-3AD203B41FA5}">
                      <a16:colId xmlns:a16="http://schemas.microsoft.com/office/drawing/2014/main" val="2540840809"/>
                    </a:ext>
                  </a:extLst>
                </a:gridCol>
                <a:gridCol w="1354667">
                  <a:extLst>
                    <a:ext uri="{9D8B030D-6E8A-4147-A177-3AD203B41FA5}">
                      <a16:colId xmlns:a16="http://schemas.microsoft.com/office/drawing/2014/main" val="690127111"/>
                    </a:ext>
                  </a:extLst>
                </a:gridCol>
              </a:tblGrid>
              <a:tr h="370840">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extLst>
                  <a:ext uri="{0D108BD9-81ED-4DB2-BD59-A6C34878D82A}">
                    <a16:rowId xmlns:a16="http://schemas.microsoft.com/office/drawing/2014/main" val="837091952"/>
                  </a:ext>
                </a:extLst>
              </a:tr>
              <a:tr h="370840">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1</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extLst>
                  <a:ext uri="{0D108BD9-81ED-4DB2-BD59-A6C34878D82A}">
                    <a16:rowId xmlns:a16="http://schemas.microsoft.com/office/drawing/2014/main" val="2555807937"/>
                  </a:ext>
                </a:extLst>
              </a:tr>
              <a:tr h="370840">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1</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extLst>
                  <a:ext uri="{0D108BD9-81ED-4DB2-BD59-A6C34878D82A}">
                    <a16:rowId xmlns:a16="http://schemas.microsoft.com/office/drawing/2014/main" val="1470886226"/>
                  </a:ext>
                </a:extLst>
              </a:tr>
              <a:tr h="370840">
                <a:tc>
                  <a:txBody>
                    <a:bodyPr/>
                    <a:lstStyle/>
                    <a:p>
                      <a:r>
                        <a:rPr lang="en-US" b="0" i="0" dirty="0">
                          <a:latin typeface="Times New Roman" panose="02020603050405020304" pitchFamily="18" charset="0"/>
                        </a:rPr>
                        <a:t>1</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1</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extLst>
                  <a:ext uri="{0D108BD9-81ED-4DB2-BD59-A6C34878D82A}">
                    <a16:rowId xmlns:a16="http://schemas.microsoft.com/office/drawing/2014/main" val="958327990"/>
                  </a:ext>
                </a:extLst>
              </a:tr>
            </a:tbl>
          </a:graphicData>
        </a:graphic>
      </p:graphicFrame>
    </p:spTree>
    <p:extLst>
      <p:ext uri="{BB962C8B-B14F-4D97-AF65-F5344CB8AC3E}">
        <p14:creationId xmlns:p14="http://schemas.microsoft.com/office/powerpoint/2010/main" val="2545525372"/>
      </p:ext>
    </p:extLst>
  </p:cSld>
  <p:clrMapOvr>
    <a:masterClrMapping/>
  </p:clrMapOvr>
  <p:transition spd="slow">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534" y="884901"/>
            <a:ext cx="7886700" cy="693113"/>
          </a:xfrm>
        </p:spPr>
        <p:txBody>
          <a:bodyPr>
            <a:noAutofit/>
          </a:bodyPr>
          <a:lstStyle/>
          <a:p>
            <a:r>
              <a:rPr lang="en-US" sz="4800" cap="none" dirty="0"/>
              <a:t>Sparse Matrix</a:t>
            </a:r>
          </a:p>
        </p:txBody>
      </p:sp>
      <p:sp>
        <p:nvSpPr>
          <p:cNvPr id="8" name="TextBox 7">
            <a:extLst>
              <a:ext uri="{FF2B5EF4-FFF2-40B4-BE49-F238E27FC236}">
                <a16:creationId xmlns:a16="http://schemas.microsoft.com/office/drawing/2014/main" id="{DE6EAC26-5C63-9283-0160-5320376D5134}"/>
              </a:ext>
            </a:extLst>
          </p:cNvPr>
          <p:cNvSpPr txBox="1"/>
          <p:nvPr/>
        </p:nvSpPr>
        <p:spPr>
          <a:xfrm>
            <a:off x="506554" y="1973778"/>
            <a:ext cx="11151719" cy="1077218"/>
          </a:xfrm>
          <a:prstGeom prst="rect">
            <a:avLst/>
          </a:prstGeom>
          <a:noFill/>
        </p:spPr>
        <p:txBody>
          <a:bodyPr wrap="square">
            <a:spAutoFit/>
          </a:bodyPr>
          <a:lstStyle/>
          <a:p>
            <a:r>
              <a:rPr lang="en-US" sz="3200" dirty="0">
                <a:latin typeface="Times New Roman" panose="02020603050405020304" pitchFamily="18" charset="0"/>
              </a:rPr>
              <a:t>Using a 2D array is one option, but less efficient for larger number of values </a:t>
            </a:r>
          </a:p>
        </p:txBody>
      </p:sp>
      <p:graphicFrame>
        <p:nvGraphicFramePr>
          <p:cNvPr id="4" name="Table 3">
            <a:extLst>
              <a:ext uri="{FF2B5EF4-FFF2-40B4-BE49-F238E27FC236}">
                <a16:creationId xmlns:a16="http://schemas.microsoft.com/office/drawing/2014/main" id="{CC282AC2-D8CA-6743-FCE5-C87FF9096D09}"/>
              </a:ext>
            </a:extLst>
          </p:cNvPr>
          <p:cNvGraphicFramePr>
            <a:graphicFrameLocks noGrp="1"/>
          </p:cNvGraphicFramePr>
          <p:nvPr/>
        </p:nvGraphicFramePr>
        <p:xfrm>
          <a:off x="2426137" y="2558553"/>
          <a:ext cx="8128002" cy="1483360"/>
        </p:xfrm>
        <a:graphic>
          <a:graphicData uri="http://schemas.openxmlformats.org/drawingml/2006/table">
            <a:tbl>
              <a:tblPr bandRow="1">
                <a:tableStyleId>{F5AB1C69-6EDB-4FF4-983F-18BD219EF322}</a:tableStyleId>
              </a:tblPr>
              <a:tblGrid>
                <a:gridCol w="1354667">
                  <a:extLst>
                    <a:ext uri="{9D8B030D-6E8A-4147-A177-3AD203B41FA5}">
                      <a16:colId xmlns:a16="http://schemas.microsoft.com/office/drawing/2014/main" val="1253373585"/>
                    </a:ext>
                  </a:extLst>
                </a:gridCol>
                <a:gridCol w="1354667">
                  <a:extLst>
                    <a:ext uri="{9D8B030D-6E8A-4147-A177-3AD203B41FA5}">
                      <a16:colId xmlns:a16="http://schemas.microsoft.com/office/drawing/2014/main" val="3771130657"/>
                    </a:ext>
                  </a:extLst>
                </a:gridCol>
                <a:gridCol w="1354667">
                  <a:extLst>
                    <a:ext uri="{9D8B030D-6E8A-4147-A177-3AD203B41FA5}">
                      <a16:colId xmlns:a16="http://schemas.microsoft.com/office/drawing/2014/main" val="1500632110"/>
                    </a:ext>
                  </a:extLst>
                </a:gridCol>
                <a:gridCol w="1354667">
                  <a:extLst>
                    <a:ext uri="{9D8B030D-6E8A-4147-A177-3AD203B41FA5}">
                      <a16:colId xmlns:a16="http://schemas.microsoft.com/office/drawing/2014/main" val="1995428319"/>
                    </a:ext>
                  </a:extLst>
                </a:gridCol>
                <a:gridCol w="1354667">
                  <a:extLst>
                    <a:ext uri="{9D8B030D-6E8A-4147-A177-3AD203B41FA5}">
                      <a16:colId xmlns:a16="http://schemas.microsoft.com/office/drawing/2014/main" val="2540840809"/>
                    </a:ext>
                  </a:extLst>
                </a:gridCol>
                <a:gridCol w="1354667">
                  <a:extLst>
                    <a:ext uri="{9D8B030D-6E8A-4147-A177-3AD203B41FA5}">
                      <a16:colId xmlns:a16="http://schemas.microsoft.com/office/drawing/2014/main" val="690127111"/>
                    </a:ext>
                  </a:extLst>
                </a:gridCol>
              </a:tblGrid>
              <a:tr h="370840">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extLst>
                  <a:ext uri="{0D108BD9-81ED-4DB2-BD59-A6C34878D82A}">
                    <a16:rowId xmlns:a16="http://schemas.microsoft.com/office/drawing/2014/main" val="837091952"/>
                  </a:ext>
                </a:extLst>
              </a:tr>
              <a:tr h="370840">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1</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extLst>
                  <a:ext uri="{0D108BD9-81ED-4DB2-BD59-A6C34878D82A}">
                    <a16:rowId xmlns:a16="http://schemas.microsoft.com/office/drawing/2014/main" val="2555807937"/>
                  </a:ext>
                </a:extLst>
              </a:tr>
              <a:tr h="370840">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1</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extLst>
                  <a:ext uri="{0D108BD9-81ED-4DB2-BD59-A6C34878D82A}">
                    <a16:rowId xmlns:a16="http://schemas.microsoft.com/office/drawing/2014/main" val="1470886226"/>
                  </a:ext>
                </a:extLst>
              </a:tr>
              <a:tr h="370840">
                <a:tc>
                  <a:txBody>
                    <a:bodyPr/>
                    <a:lstStyle/>
                    <a:p>
                      <a:r>
                        <a:rPr lang="en-US" b="0" i="0" dirty="0">
                          <a:latin typeface="Times New Roman" panose="02020603050405020304" pitchFamily="18" charset="0"/>
                        </a:rPr>
                        <a:t>1</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1</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extLst>
                  <a:ext uri="{0D108BD9-81ED-4DB2-BD59-A6C34878D82A}">
                    <a16:rowId xmlns:a16="http://schemas.microsoft.com/office/drawing/2014/main" val="958327990"/>
                  </a:ext>
                </a:extLst>
              </a:tr>
            </a:tbl>
          </a:graphicData>
        </a:graphic>
      </p:graphicFrame>
      <p:sp>
        <p:nvSpPr>
          <p:cNvPr id="6" name="TextBox 5">
            <a:extLst>
              <a:ext uri="{FF2B5EF4-FFF2-40B4-BE49-F238E27FC236}">
                <a16:creationId xmlns:a16="http://schemas.microsoft.com/office/drawing/2014/main" id="{F9842F4C-4BFE-79C4-F7A1-0CFE61E2F3C8}"/>
              </a:ext>
            </a:extLst>
          </p:cNvPr>
          <p:cNvSpPr txBox="1"/>
          <p:nvPr/>
        </p:nvSpPr>
        <p:spPr>
          <a:xfrm>
            <a:off x="388884" y="4280092"/>
            <a:ext cx="11041116" cy="2548390"/>
          </a:xfrm>
          <a:prstGeom prst="rect">
            <a:avLst/>
          </a:prstGeom>
          <a:noFill/>
        </p:spPr>
        <p:txBody>
          <a:bodyPr wrap="square">
            <a:spAutoFit/>
          </a:bodyPr>
          <a:lstStyle/>
          <a:p>
            <a:pPr marL="285750" indent="-285750">
              <a:lnSpc>
                <a:spcPct val="95000"/>
              </a:lnSpc>
              <a:buFont typeface="Arial" panose="020B0604020202020204" pitchFamily="34" charset="0"/>
              <a:buChar char="•"/>
            </a:pPr>
            <a:r>
              <a:rPr lang="en-US" sz="2800" dirty="0">
                <a:latin typeface="Times New Roman" panose="02020603050405020304" pitchFamily="18" charset="0"/>
              </a:rPr>
              <a:t>If there were a million by million 2D array but most of the entries are zeros, that would be filling a lot of memory with zeroes that would never be used for anything</a:t>
            </a:r>
          </a:p>
          <a:p>
            <a:pPr marL="171450" indent="-171450">
              <a:lnSpc>
                <a:spcPct val="95000"/>
              </a:lnSpc>
              <a:buFont typeface="Arial" panose="020B0604020202020204" pitchFamily="34" charset="0"/>
              <a:buChar char="•"/>
            </a:pPr>
            <a:endParaRPr lang="en-US" sz="2800" dirty="0">
              <a:latin typeface="Times New Roman" panose="02020603050405020304" pitchFamily="18" charset="0"/>
            </a:endParaRPr>
          </a:p>
          <a:p>
            <a:pPr marL="285750" indent="-285750">
              <a:lnSpc>
                <a:spcPct val="95000"/>
              </a:lnSpc>
              <a:buFont typeface="Arial" panose="020B0604020202020204" pitchFamily="34" charset="0"/>
              <a:buChar char="•"/>
            </a:pPr>
            <a:r>
              <a:rPr lang="en-US" sz="2800" dirty="0">
                <a:latin typeface="Times New Roman" panose="02020603050405020304" pitchFamily="18" charset="0"/>
              </a:rPr>
              <a:t>What we want is some other data structure that just stores the non-zero elements of M.</a:t>
            </a:r>
          </a:p>
        </p:txBody>
      </p:sp>
    </p:spTree>
    <p:extLst>
      <p:ext uri="{BB962C8B-B14F-4D97-AF65-F5344CB8AC3E}">
        <p14:creationId xmlns:p14="http://schemas.microsoft.com/office/powerpoint/2010/main" val="637504111"/>
      </p:ext>
    </p:extLst>
  </p:cSld>
  <p:clrMapOvr>
    <a:masterClrMapping/>
  </p:clrMapOvr>
  <p:transition spd="slow">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6042" y="2026716"/>
            <a:ext cx="10974765" cy="936104"/>
          </a:xfrm>
        </p:spPr>
        <p:txBody>
          <a:bodyPr anchor="t" anchorCtr="0">
            <a:noAutofit/>
          </a:bodyPr>
          <a:lstStyle/>
          <a:p>
            <a:r>
              <a:rPr lang="en-US" sz="2800" dirty="0"/>
              <a:t>Here’s a diagram of what each member of this sparse matrix structure might look like:</a:t>
            </a:r>
          </a:p>
          <a:p>
            <a:pPr>
              <a:buNone/>
            </a:pPr>
            <a:endParaRPr lang="en-US" sz="2800" dirty="0"/>
          </a:p>
          <a:p>
            <a:r>
              <a:rPr lang="en-US" sz="2800" dirty="0"/>
              <a:t>Each item is a member of two separate lists</a:t>
            </a:r>
          </a:p>
          <a:p>
            <a:pPr lvl="1"/>
            <a:r>
              <a:rPr lang="en-US" sz="2800" dirty="0"/>
              <a:t>All the non-zero items in row </a:t>
            </a:r>
            <a:r>
              <a:rPr lang="en-US" sz="2800" dirty="0">
                <a:latin typeface="Times New Roman" panose="02020603050405020304" pitchFamily="18" charset="0"/>
                <a:cs typeface="Times New Roman" panose="02020603050405020304" pitchFamily="18" charset="0"/>
              </a:rPr>
              <a:t>i</a:t>
            </a:r>
            <a:r>
              <a:rPr lang="en-US" sz="2800" dirty="0"/>
              <a:t> form a single ordered list, ordered by </a:t>
            </a:r>
            <a:r>
              <a:rPr lang="en-US" sz="2800" dirty="0">
                <a:latin typeface="Times New Roman" panose="02020603050405020304" pitchFamily="18" charset="0"/>
                <a:cs typeface="Times New Roman" panose="02020603050405020304" pitchFamily="18" charset="0"/>
              </a:rPr>
              <a:t>j</a:t>
            </a:r>
            <a:r>
              <a:rPr lang="en-US" sz="2800" dirty="0"/>
              <a:t> (their column number), linked by their </a:t>
            </a:r>
            <a:r>
              <a:rPr lang="en-US" sz="2800" dirty="0">
                <a:latin typeface="Times New Roman" panose="02020603050405020304" pitchFamily="18" charset="0"/>
                <a:cs typeface="Times New Roman" panose="02020603050405020304" pitchFamily="18" charset="0"/>
              </a:rPr>
              <a:t>nextInRowPtr</a:t>
            </a:r>
            <a:endParaRPr lang="en-US" sz="2800" dirty="0"/>
          </a:p>
          <a:p>
            <a:pPr lvl="1"/>
            <a:r>
              <a:rPr lang="en-US" sz="2800" dirty="0"/>
              <a:t>All the non-zero items in column </a:t>
            </a:r>
            <a:r>
              <a:rPr lang="en-US" sz="2800" dirty="0">
                <a:latin typeface="Times New Roman" panose="02020603050405020304" pitchFamily="18" charset="0"/>
                <a:cs typeface="Times New Roman" panose="02020603050405020304" pitchFamily="18" charset="0"/>
              </a:rPr>
              <a:t>j</a:t>
            </a:r>
            <a:r>
              <a:rPr lang="en-US" sz="2800" dirty="0"/>
              <a:t> form a single ordered list, ordered by </a:t>
            </a:r>
            <a:r>
              <a:rPr lang="en-US" sz="2800" dirty="0">
                <a:latin typeface="Times New Roman" panose="02020603050405020304" pitchFamily="18" charset="0"/>
                <a:cs typeface="Times New Roman" panose="02020603050405020304" pitchFamily="18" charset="0"/>
              </a:rPr>
              <a:t>i</a:t>
            </a:r>
            <a:r>
              <a:rPr lang="en-US" sz="2800" dirty="0"/>
              <a:t> (their row number), linked by their </a:t>
            </a:r>
            <a:r>
              <a:rPr lang="en-US" sz="2800" dirty="0">
                <a:latin typeface="Times New Roman" panose="02020603050405020304" pitchFamily="18" charset="0"/>
                <a:cs typeface="Times New Roman" panose="02020603050405020304" pitchFamily="18" charset="0"/>
              </a:rPr>
              <a:t>nextInColPtr</a:t>
            </a:r>
            <a:endParaRPr lang="en-US" sz="2800" dirty="0"/>
          </a:p>
          <a:p>
            <a:pPr lvl="1">
              <a:buNone/>
            </a:pPr>
            <a:endParaRPr lang="en-US" sz="1800" dirty="0"/>
          </a:p>
        </p:txBody>
      </p:sp>
      <p:sp>
        <p:nvSpPr>
          <p:cNvPr id="2" name="Title 1"/>
          <p:cNvSpPr>
            <a:spLocks noGrp="1"/>
          </p:cNvSpPr>
          <p:nvPr>
            <p:ph type="title"/>
          </p:nvPr>
        </p:nvSpPr>
        <p:spPr/>
        <p:txBody>
          <a:bodyPr>
            <a:noAutofit/>
          </a:bodyPr>
          <a:lstStyle/>
          <a:p>
            <a:r>
              <a:rPr lang="en-US" sz="3600" cap="none" dirty="0"/>
              <a:t>A Multi-Linked Structures Example:</a:t>
            </a:r>
            <a:br>
              <a:rPr lang="en-US" sz="3600" cap="none" dirty="0"/>
            </a:br>
            <a:r>
              <a:rPr lang="en-US" sz="3600" cap="none" dirty="0"/>
              <a:t>Orthogonal Lists For Sparse Matrices</a:t>
            </a:r>
          </a:p>
        </p:txBody>
      </p:sp>
      <p:grpSp>
        <p:nvGrpSpPr>
          <p:cNvPr id="38" name="Group 37"/>
          <p:cNvGrpSpPr/>
          <p:nvPr/>
        </p:nvGrpSpPr>
        <p:grpSpPr>
          <a:xfrm>
            <a:off x="3590113" y="2545973"/>
            <a:ext cx="3752837" cy="1349208"/>
            <a:chOff x="2799848" y="2564904"/>
            <a:chExt cx="3049360" cy="1349208"/>
          </a:xfrm>
        </p:grpSpPr>
        <p:sp>
          <p:nvSpPr>
            <p:cNvPr id="18" name="Rectangle 17"/>
            <p:cNvSpPr/>
            <p:nvPr/>
          </p:nvSpPr>
          <p:spPr bwMode="auto">
            <a:xfrm>
              <a:off x="2842136" y="2628900"/>
              <a:ext cx="2707671" cy="1042024"/>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Font typeface="Wingdings" pitchFamily="2" charset="2"/>
                <a:buChar char="§"/>
              </a:pPr>
              <a:endParaRPr lang="en-US" sz="2400" dirty="0">
                <a:solidFill>
                  <a:srgbClr val="336600"/>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2799848" y="3356992"/>
              <a:ext cx="1440160" cy="338554"/>
            </a:xfrm>
            <a:prstGeom prst="rect">
              <a:avLst/>
            </a:prstGeom>
            <a:noFill/>
          </p:spPr>
          <p:txBody>
            <a:bodyPr wrap="square" rtlCol="0">
              <a:spAutoFit/>
            </a:bodyPr>
            <a:lstStyle/>
            <a:p>
              <a:pPr algn="l">
                <a:buNone/>
              </a:pPr>
              <a:r>
                <a:rPr lang="en-US" sz="1600" dirty="0">
                  <a:latin typeface="Times New Roman" panose="02020603050405020304" pitchFamily="18" charset="0"/>
                  <a:cs typeface="Times New Roman" panose="02020603050405020304" pitchFamily="18" charset="0"/>
                </a:rPr>
                <a:t>nextInColPtr</a:t>
              </a:r>
            </a:p>
          </p:txBody>
        </p:sp>
        <p:sp>
          <p:nvSpPr>
            <p:cNvPr id="13" name="Line 40"/>
            <p:cNvSpPr>
              <a:spLocks noChangeShapeType="1"/>
            </p:cNvSpPr>
            <p:nvPr/>
          </p:nvSpPr>
          <p:spPr bwMode="auto">
            <a:xfrm rot="5400000" flipV="1">
              <a:off x="3921297" y="3727340"/>
              <a:ext cx="373545" cy="0"/>
            </a:xfrm>
            <a:prstGeom prst="line">
              <a:avLst/>
            </a:prstGeom>
            <a:noFill/>
            <a:ln w="28575">
              <a:solidFill>
                <a:srgbClr val="FFCC00"/>
              </a:solidFill>
              <a:round/>
              <a:headEnd type="oval" w="med" len="med"/>
              <a:tailEnd type="triangle" w="lg" len="lg"/>
            </a:ln>
            <a:effectLst>
              <a:outerShdw blurRad="50800" dist="38100" dir="2700000" algn="tl" rotWithShape="0">
                <a:prstClr val="black">
                  <a:alpha val="40000"/>
                </a:prstClr>
              </a:outerShdw>
            </a:effectLst>
          </p:spPr>
          <p:txBody>
            <a:bodyPr/>
            <a:lstStyle/>
            <a:p>
              <a:endParaRPr lang="en-US" dirty="0">
                <a:latin typeface="Times New Roman" panose="02020603050405020304" pitchFamily="18" charset="0"/>
                <a:cs typeface="Times New Roman" panose="02020603050405020304" pitchFamily="18" charset="0"/>
              </a:endParaRPr>
            </a:p>
          </p:txBody>
        </p:sp>
        <p:sp>
          <p:nvSpPr>
            <p:cNvPr id="25" name="TextBox 24"/>
            <p:cNvSpPr txBox="1"/>
            <p:nvPr/>
          </p:nvSpPr>
          <p:spPr>
            <a:xfrm>
              <a:off x="4186174" y="3356992"/>
              <a:ext cx="1396357" cy="338554"/>
            </a:xfrm>
            <a:prstGeom prst="rect">
              <a:avLst/>
            </a:prstGeom>
            <a:noFill/>
          </p:spPr>
          <p:txBody>
            <a:bodyPr wrap="square" rtlCol="0">
              <a:spAutoFit/>
            </a:bodyPr>
            <a:lstStyle/>
            <a:p>
              <a:pPr algn="l">
                <a:buNone/>
              </a:pPr>
              <a:r>
                <a:rPr lang="en-US" sz="1600" dirty="0">
                  <a:latin typeface="Times New Roman" panose="02020603050405020304" pitchFamily="18" charset="0"/>
                  <a:cs typeface="Times New Roman" panose="02020603050405020304" pitchFamily="18" charset="0"/>
                </a:rPr>
                <a:t>nextInRowPtr</a:t>
              </a:r>
            </a:p>
          </p:txBody>
        </p:sp>
        <p:sp>
          <p:nvSpPr>
            <p:cNvPr id="12" name="Line 40"/>
            <p:cNvSpPr>
              <a:spLocks noChangeShapeType="1"/>
            </p:cNvSpPr>
            <p:nvPr/>
          </p:nvSpPr>
          <p:spPr bwMode="auto">
            <a:xfrm flipV="1">
              <a:off x="5485522" y="3525853"/>
              <a:ext cx="363686" cy="0"/>
            </a:xfrm>
            <a:prstGeom prst="line">
              <a:avLst/>
            </a:prstGeom>
            <a:noFill/>
            <a:ln w="28575">
              <a:solidFill>
                <a:srgbClr val="FFCC00"/>
              </a:solidFill>
              <a:round/>
              <a:headEnd type="oval" w="med" len="med"/>
              <a:tailEnd type="triangle" w="lg" len="lg"/>
            </a:ln>
            <a:effectLst>
              <a:outerShdw blurRad="50800" dist="38100" dir="2700000" algn="tl" rotWithShape="0">
                <a:prstClr val="black">
                  <a:alpha val="40000"/>
                </a:prstClr>
              </a:outerShdw>
            </a:effectLst>
          </p:spPr>
          <p:txBody>
            <a:bodyPr/>
            <a:lstStyle/>
            <a:p>
              <a:endParaRPr lang="en-US" dirty="0">
                <a:latin typeface="Times New Roman" panose="02020603050405020304" pitchFamily="18" charset="0"/>
                <a:cs typeface="Times New Roman" panose="02020603050405020304" pitchFamily="18" charset="0"/>
              </a:endParaRPr>
            </a:p>
          </p:txBody>
        </p:sp>
        <p:cxnSp>
          <p:nvCxnSpPr>
            <p:cNvPr id="30" name="Straight Connector 29"/>
            <p:cNvCxnSpPr/>
            <p:nvPr/>
          </p:nvCxnSpPr>
          <p:spPr bwMode="auto">
            <a:xfrm>
              <a:off x="2831123" y="3332285"/>
              <a:ext cx="2717970" cy="0"/>
            </a:xfrm>
            <a:prstGeom prst="line">
              <a:avLst/>
            </a:prstGeom>
            <a:noFill/>
            <a:ln w="9525" cap="flat" cmpd="sng" algn="ctr">
              <a:solidFill>
                <a:schemeClr val="tx1"/>
              </a:solidFill>
              <a:prstDash val="solid"/>
              <a:round/>
              <a:headEnd type="none" w="med" len="med"/>
              <a:tailEnd type="none" w="med" len="med"/>
            </a:ln>
            <a:effectLst/>
          </p:spPr>
        </p:cxnSp>
        <p:sp>
          <p:nvSpPr>
            <p:cNvPr id="31" name="TextBox 30"/>
            <p:cNvSpPr txBox="1"/>
            <p:nvPr/>
          </p:nvSpPr>
          <p:spPr>
            <a:xfrm>
              <a:off x="2842919" y="3006970"/>
              <a:ext cx="1440160" cy="400110"/>
            </a:xfrm>
            <a:prstGeom prst="rect">
              <a:avLst/>
            </a:prstGeom>
            <a:noFill/>
          </p:spPr>
          <p:txBody>
            <a:bodyPr wrap="square" rtlCol="0">
              <a:spAutoFit/>
            </a:bodyPr>
            <a:lstStyle/>
            <a:p>
              <a:pPr algn="ctr">
                <a:buNone/>
              </a:pPr>
              <a:r>
                <a:rPr lang="en-US" sz="2000" dirty="0">
                  <a:latin typeface="Times New Roman" panose="02020603050405020304" pitchFamily="18" charset="0"/>
                  <a:cs typeface="Times New Roman" panose="02020603050405020304" pitchFamily="18" charset="0"/>
                </a:rPr>
                <a:t>j</a:t>
              </a:r>
            </a:p>
          </p:txBody>
        </p:sp>
        <p:sp>
          <p:nvSpPr>
            <p:cNvPr id="32" name="TextBox 31"/>
            <p:cNvSpPr txBox="1"/>
            <p:nvPr/>
          </p:nvSpPr>
          <p:spPr>
            <a:xfrm>
              <a:off x="4211960" y="2980470"/>
              <a:ext cx="1440160" cy="400110"/>
            </a:xfrm>
            <a:prstGeom prst="rect">
              <a:avLst/>
            </a:prstGeom>
            <a:noFill/>
          </p:spPr>
          <p:txBody>
            <a:bodyPr wrap="square" rtlCol="0">
              <a:spAutoFit/>
            </a:bodyPr>
            <a:lstStyle/>
            <a:p>
              <a:pPr algn="ctr">
                <a:buNone/>
              </a:pPr>
              <a:r>
                <a:rPr lang="en-US" sz="2000" dirty="0">
                  <a:latin typeface="Times New Roman" panose="02020603050405020304" pitchFamily="18" charset="0"/>
                  <a:cs typeface="Times New Roman" panose="02020603050405020304" pitchFamily="18" charset="0"/>
                </a:rPr>
                <a:t>i</a:t>
              </a:r>
            </a:p>
          </p:txBody>
        </p:sp>
        <p:sp>
          <p:nvSpPr>
            <p:cNvPr id="7" name="TextBox 6"/>
            <p:cNvSpPr txBox="1"/>
            <p:nvPr/>
          </p:nvSpPr>
          <p:spPr>
            <a:xfrm>
              <a:off x="3563888" y="2564904"/>
              <a:ext cx="1296144" cy="667875"/>
            </a:xfrm>
            <a:prstGeom prst="rect">
              <a:avLst/>
            </a:prstGeom>
            <a:noFill/>
          </p:spPr>
          <p:txBody>
            <a:bodyPr wrap="square" rtlCol="0">
              <a:spAutoFit/>
            </a:bodyPr>
            <a:lstStyle/>
            <a:p>
              <a:pPr algn="ctr">
                <a:lnSpc>
                  <a:spcPct val="110000"/>
                </a:lnSpc>
                <a:buNone/>
              </a:pPr>
              <a:r>
                <a:rPr lang="en-US" sz="2000" dirty="0">
                  <a:latin typeface="Times New Roman" panose="02020603050405020304" pitchFamily="18" charset="0"/>
                  <a:cs typeface="Times New Roman" panose="02020603050405020304" pitchFamily="18" charset="0"/>
                </a:rPr>
                <a:t>m</a:t>
              </a:r>
              <a:r>
                <a:rPr lang="en-US" sz="2000" baseline="-25000" dirty="0">
                  <a:latin typeface="Times New Roman" panose="02020603050405020304" pitchFamily="18" charset="0"/>
                  <a:cs typeface="Times New Roman" panose="02020603050405020304" pitchFamily="18" charset="0"/>
                </a:rPr>
                <a:t>i,j</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p:txBody>
        </p:sp>
        <p:cxnSp>
          <p:nvCxnSpPr>
            <p:cNvPr id="34" name="Straight Connector 33"/>
            <p:cNvCxnSpPr/>
            <p:nvPr/>
          </p:nvCxnSpPr>
          <p:spPr bwMode="auto">
            <a:xfrm>
              <a:off x="2834059" y="2996952"/>
              <a:ext cx="2715035" cy="0"/>
            </a:xfrm>
            <a:prstGeom prst="line">
              <a:avLst/>
            </a:prstGeom>
            <a:noFill/>
            <a:ln w="9525" cap="flat" cmpd="sng" algn="ctr">
              <a:solidFill>
                <a:schemeClr val="tx1"/>
              </a:solidFill>
              <a:prstDash val="solid"/>
              <a:round/>
              <a:headEnd type="none" w="med" len="med"/>
              <a:tailEnd type="none" w="med" len="med"/>
            </a:ln>
            <a:effectLst/>
          </p:spPr>
        </p:cxnSp>
        <p:cxnSp>
          <p:nvCxnSpPr>
            <p:cNvPr id="36" name="Straight Connector 35"/>
            <p:cNvCxnSpPr/>
            <p:nvPr/>
          </p:nvCxnSpPr>
          <p:spPr bwMode="auto">
            <a:xfrm rot="5400000">
              <a:off x="3853222" y="3335700"/>
              <a:ext cx="681419" cy="0"/>
            </a:xfrm>
            <a:prstGeom prst="line">
              <a:avLst/>
            </a:prstGeom>
            <a:noFill/>
            <a:ln w="9525" cap="flat" cmpd="sng" algn="ctr">
              <a:solidFill>
                <a:schemeClr val="tx1"/>
              </a:solidFill>
              <a:prstDash val="solid"/>
              <a:round/>
              <a:headEnd type="none" w="med" len="med"/>
              <a:tailEnd type="none" w="med" len="med"/>
            </a:ln>
            <a:effectLst/>
          </p:spPr>
        </p:cxnSp>
      </p:grpSp>
      <p:sp>
        <p:nvSpPr>
          <p:cNvPr id="20" name="row header sentinel mark" hidden="1"/>
          <p:cNvSpPr>
            <a:spLocks noChangeArrowheads="1"/>
          </p:cNvSpPr>
          <p:nvPr/>
        </p:nvSpPr>
        <p:spPr bwMode="auto">
          <a:xfrm>
            <a:off x="1764650" y="430030"/>
            <a:ext cx="8147774" cy="1528088"/>
          </a:xfrm>
          <a:prstGeom prst="wedgeRoundRectCallout">
            <a:avLst>
              <a:gd name="adj1" fmla="val -26071"/>
              <a:gd name="adj2" fmla="val 99520"/>
              <a:gd name="adj3" fmla="val 16667"/>
            </a:avLst>
          </a:prstGeom>
          <a:solidFill>
            <a:srgbClr val="996633"/>
          </a:solidFill>
          <a:ln w="936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tIns="46800" rIns="0" bIns="46800" anchor="ctr"/>
          <a:lstStyle/>
          <a:p>
            <a:pPr>
              <a:spcBef>
                <a:spcPts val="1250"/>
              </a:spcBef>
              <a:buClr>
                <a:srgbClr val="000000"/>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dirty="0">
                <a:latin typeface="Times New Roman" panose="02020603050405020304" pitchFamily="18" charset="0"/>
              </a:rPr>
              <a:t>Note:  The geometric arrangement of the fields here means nothing;  I just put </a:t>
            </a:r>
            <a:r>
              <a:rPr lang="en-US" dirty="0">
                <a:latin typeface="Times New Roman" panose="02020603050405020304" pitchFamily="18" charset="0"/>
                <a:cs typeface="Times New Roman" panose="02020603050405020304" pitchFamily="18" charset="0"/>
              </a:rPr>
              <a:t>j</a:t>
            </a:r>
            <a:r>
              <a:rPr lang="en-US" dirty="0">
                <a:latin typeface="Times New Roman" panose="02020603050405020304" pitchFamily="18" charset="0"/>
              </a:rPr>
              <a:t> and </a:t>
            </a:r>
            <a:r>
              <a:rPr lang="en-US" dirty="0">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rPr>
              <a:t> “backwards” to make the artwork come out usably.  Since </a:t>
            </a:r>
            <a:r>
              <a:rPr lang="en-US" dirty="0">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rPr>
              <a:t> is the row number, </a:t>
            </a:r>
            <a:r>
              <a:rPr lang="en-US" dirty="0">
                <a:latin typeface="Times New Roman" panose="02020603050405020304" pitchFamily="18" charset="0"/>
                <a:cs typeface="Times New Roman" panose="02020603050405020304" pitchFamily="18" charset="0"/>
              </a:rPr>
              <a:t>j</a:t>
            </a:r>
            <a:r>
              <a:rPr lang="en-US" dirty="0">
                <a:latin typeface="Times New Roman" panose="02020603050405020304" pitchFamily="18" charset="0"/>
              </a:rPr>
              <a:t> is the column number, I would have liked to put </a:t>
            </a:r>
            <a:r>
              <a:rPr lang="en-US" dirty="0">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rPr>
              <a:t> first (to the left) and </a:t>
            </a:r>
            <a:r>
              <a:rPr lang="en-US" dirty="0">
                <a:latin typeface="Times New Roman" panose="02020603050405020304" pitchFamily="18" charset="0"/>
                <a:cs typeface="Times New Roman" panose="02020603050405020304" pitchFamily="18" charset="0"/>
              </a:rPr>
              <a:t>j</a:t>
            </a:r>
            <a:r>
              <a:rPr lang="en-US" dirty="0">
                <a:latin typeface="Times New Roman" panose="02020603050405020304" pitchFamily="18" charset="0"/>
              </a:rPr>
              <a:t> second but then the crossing row and column pointer arrows on the next slide would have made the slide look like a plate of spaghetti</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8C511-BEE8-8469-ABB6-D888CD50DFBC}"/>
              </a:ext>
            </a:extLst>
          </p:cNvPr>
          <p:cNvSpPr>
            <a:spLocks noGrp="1"/>
          </p:cNvSpPr>
          <p:nvPr>
            <p:ph type="title"/>
          </p:nvPr>
        </p:nvSpPr>
        <p:spPr/>
        <p:txBody>
          <a:bodyPr>
            <a:noAutofit/>
          </a:bodyPr>
          <a:lstStyle/>
          <a:p>
            <a:r>
              <a:rPr lang="en-US" sz="4400" cap="none" dirty="0"/>
              <a:t>Sparse Matrices</a:t>
            </a:r>
          </a:p>
        </p:txBody>
      </p:sp>
      <p:graphicFrame>
        <p:nvGraphicFramePr>
          <p:cNvPr id="5" name="Table 4">
            <a:extLst>
              <a:ext uri="{FF2B5EF4-FFF2-40B4-BE49-F238E27FC236}">
                <a16:creationId xmlns:a16="http://schemas.microsoft.com/office/drawing/2014/main" id="{A701A5BD-8AF4-0C20-70A6-7866CC56BD38}"/>
              </a:ext>
            </a:extLst>
          </p:cNvPr>
          <p:cNvGraphicFramePr>
            <a:graphicFrameLocks noGrp="1"/>
          </p:cNvGraphicFramePr>
          <p:nvPr>
            <p:extLst>
              <p:ext uri="{D42A27DB-BD31-4B8C-83A1-F6EECF244321}">
                <p14:modId xmlns:p14="http://schemas.microsoft.com/office/powerpoint/2010/main" val="3297665590"/>
              </p:ext>
            </p:extLst>
          </p:nvPr>
        </p:nvGraphicFramePr>
        <p:xfrm>
          <a:off x="751572" y="2314152"/>
          <a:ext cx="8128002" cy="1483360"/>
        </p:xfrm>
        <a:graphic>
          <a:graphicData uri="http://schemas.openxmlformats.org/drawingml/2006/table">
            <a:tbl>
              <a:tblPr bandRow="1">
                <a:tableStyleId>{F5AB1C69-6EDB-4FF4-983F-18BD219EF322}</a:tableStyleId>
              </a:tblPr>
              <a:tblGrid>
                <a:gridCol w="1354667">
                  <a:extLst>
                    <a:ext uri="{9D8B030D-6E8A-4147-A177-3AD203B41FA5}">
                      <a16:colId xmlns:a16="http://schemas.microsoft.com/office/drawing/2014/main" val="1253373585"/>
                    </a:ext>
                  </a:extLst>
                </a:gridCol>
                <a:gridCol w="1354667">
                  <a:extLst>
                    <a:ext uri="{9D8B030D-6E8A-4147-A177-3AD203B41FA5}">
                      <a16:colId xmlns:a16="http://schemas.microsoft.com/office/drawing/2014/main" val="3771130657"/>
                    </a:ext>
                  </a:extLst>
                </a:gridCol>
                <a:gridCol w="1354667">
                  <a:extLst>
                    <a:ext uri="{9D8B030D-6E8A-4147-A177-3AD203B41FA5}">
                      <a16:colId xmlns:a16="http://schemas.microsoft.com/office/drawing/2014/main" val="1500632110"/>
                    </a:ext>
                  </a:extLst>
                </a:gridCol>
                <a:gridCol w="1354667">
                  <a:extLst>
                    <a:ext uri="{9D8B030D-6E8A-4147-A177-3AD203B41FA5}">
                      <a16:colId xmlns:a16="http://schemas.microsoft.com/office/drawing/2014/main" val="1995428319"/>
                    </a:ext>
                  </a:extLst>
                </a:gridCol>
                <a:gridCol w="1354667">
                  <a:extLst>
                    <a:ext uri="{9D8B030D-6E8A-4147-A177-3AD203B41FA5}">
                      <a16:colId xmlns:a16="http://schemas.microsoft.com/office/drawing/2014/main" val="2540840809"/>
                    </a:ext>
                  </a:extLst>
                </a:gridCol>
                <a:gridCol w="1354667">
                  <a:extLst>
                    <a:ext uri="{9D8B030D-6E8A-4147-A177-3AD203B41FA5}">
                      <a16:colId xmlns:a16="http://schemas.microsoft.com/office/drawing/2014/main" val="690127111"/>
                    </a:ext>
                  </a:extLst>
                </a:gridCol>
              </a:tblGrid>
              <a:tr h="370840">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extLst>
                  <a:ext uri="{0D108BD9-81ED-4DB2-BD59-A6C34878D82A}">
                    <a16:rowId xmlns:a16="http://schemas.microsoft.com/office/drawing/2014/main" val="837091952"/>
                  </a:ext>
                </a:extLst>
              </a:tr>
              <a:tr h="370840">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1</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extLst>
                  <a:ext uri="{0D108BD9-81ED-4DB2-BD59-A6C34878D82A}">
                    <a16:rowId xmlns:a16="http://schemas.microsoft.com/office/drawing/2014/main" val="2555807937"/>
                  </a:ext>
                </a:extLst>
              </a:tr>
              <a:tr h="370840">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2</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extLst>
                  <a:ext uri="{0D108BD9-81ED-4DB2-BD59-A6C34878D82A}">
                    <a16:rowId xmlns:a16="http://schemas.microsoft.com/office/drawing/2014/main" val="1470886226"/>
                  </a:ext>
                </a:extLst>
              </a:tr>
              <a:tr h="370840">
                <a:tc>
                  <a:txBody>
                    <a:bodyPr/>
                    <a:lstStyle/>
                    <a:p>
                      <a:r>
                        <a:rPr lang="en-US" b="0" i="0" dirty="0">
                          <a:latin typeface="Times New Roman" panose="02020603050405020304" pitchFamily="18" charset="0"/>
                        </a:rPr>
                        <a:t>5</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4</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extLst>
                  <a:ext uri="{0D108BD9-81ED-4DB2-BD59-A6C34878D82A}">
                    <a16:rowId xmlns:a16="http://schemas.microsoft.com/office/drawing/2014/main" val="958327990"/>
                  </a:ext>
                </a:extLst>
              </a:tr>
            </a:tbl>
          </a:graphicData>
        </a:graphic>
      </p:graphicFrame>
      <p:sp>
        <p:nvSpPr>
          <p:cNvPr id="6" name="TextBox 5">
            <a:extLst>
              <a:ext uri="{FF2B5EF4-FFF2-40B4-BE49-F238E27FC236}">
                <a16:creationId xmlns:a16="http://schemas.microsoft.com/office/drawing/2014/main" id="{1514DA69-F378-3E9D-8A72-D3113E1CABB4}"/>
              </a:ext>
            </a:extLst>
          </p:cNvPr>
          <p:cNvSpPr txBox="1"/>
          <p:nvPr/>
        </p:nvSpPr>
        <p:spPr>
          <a:xfrm>
            <a:off x="1335023" y="1979901"/>
            <a:ext cx="7579605" cy="369332"/>
          </a:xfrm>
          <a:prstGeom prst="rect">
            <a:avLst/>
          </a:prstGeom>
          <a:noFill/>
        </p:spPr>
        <p:txBody>
          <a:bodyPr wrap="square" rtlCol="0">
            <a:spAutoFit/>
          </a:bodyPr>
          <a:lstStyle/>
          <a:p>
            <a:r>
              <a:rPr lang="en-US" dirty="0">
                <a:solidFill>
                  <a:srgbClr val="0070C0"/>
                </a:solidFill>
                <a:latin typeface="Times New Roman" panose="02020603050405020304" pitchFamily="18" charset="0"/>
                <a:cs typeface="Times New Roman" panose="02020603050405020304" pitchFamily="18" charset="0"/>
              </a:rPr>
              <a:t>0                    1                     2                         3                    4                    5</a:t>
            </a:r>
          </a:p>
        </p:txBody>
      </p:sp>
      <p:sp>
        <p:nvSpPr>
          <p:cNvPr id="7" name="TextBox 6">
            <a:extLst>
              <a:ext uri="{FF2B5EF4-FFF2-40B4-BE49-F238E27FC236}">
                <a16:creationId xmlns:a16="http://schemas.microsoft.com/office/drawing/2014/main" id="{816AE1CC-B2D1-237D-3BFF-456BBE182FE1}"/>
              </a:ext>
            </a:extLst>
          </p:cNvPr>
          <p:cNvSpPr txBox="1"/>
          <p:nvPr/>
        </p:nvSpPr>
        <p:spPr>
          <a:xfrm>
            <a:off x="219705" y="2349233"/>
            <a:ext cx="356190" cy="369332"/>
          </a:xfrm>
          <a:prstGeom prst="rect">
            <a:avLst/>
          </a:prstGeom>
          <a:noFill/>
        </p:spPr>
        <p:txBody>
          <a:bodyPr wrap="square" rtlCol="0">
            <a:spAutoFit/>
          </a:bodyPr>
          <a:lstStyle/>
          <a:p>
            <a:r>
              <a:rPr lang="en-US" dirty="0">
                <a:solidFill>
                  <a:srgbClr val="0070C0"/>
                </a:solidFill>
                <a:latin typeface="Times New Roman" panose="02020603050405020304" pitchFamily="18" charset="0"/>
                <a:cs typeface="Times New Roman" panose="02020603050405020304" pitchFamily="18" charset="0"/>
              </a:rPr>
              <a:t>0   </a:t>
            </a:r>
          </a:p>
        </p:txBody>
      </p:sp>
      <p:sp>
        <p:nvSpPr>
          <p:cNvPr id="8" name="TextBox 7">
            <a:extLst>
              <a:ext uri="{FF2B5EF4-FFF2-40B4-BE49-F238E27FC236}">
                <a16:creationId xmlns:a16="http://schemas.microsoft.com/office/drawing/2014/main" id="{6280A6FE-460D-E655-4709-F5D6AC2A44FE}"/>
              </a:ext>
            </a:extLst>
          </p:cNvPr>
          <p:cNvSpPr txBox="1"/>
          <p:nvPr/>
        </p:nvSpPr>
        <p:spPr>
          <a:xfrm>
            <a:off x="219705" y="2718565"/>
            <a:ext cx="356190" cy="369332"/>
          </a:xfrm>
          <a:prstGeom prst="rect">
            <a:avLst/>
          </a:prstGeom>
          <a:noFill/>
        </p:spPr>
        <p:txBody>
          <a:bodyPr wrap="square" rtlCol="0">
            <a:spAutoFit/>
          </a:bodyPr>
          <a:lstStyle/>
          <a:p>
            <a:r>
              <a:rPr lang="en-US" dirty="0">
                <a:solidFill>
                  <a:srgbClr val="0070C0"/>
                </a:solidFill>
                <a:latin typeface="Times New Roman" panose="02020603050405020304" pitchFamily="18" charset="0"/>
                <a:cs typeface="Times New Roman" panose="02020603050405020304" pitchFamily="18" charset="0"/>
              </a:rPr>
              <a:t>1   </a:t>
            </a:r>
          </a:p>
        </p:txBody>
      </p:sp>
      <p:sp>
        <p:nvSpPr>
          <p:cNvPr id="9" name="TextBox 8">
            <a:extLst>
              <a:ext uri="{FF2B5EF4-FFF2-40B4-BE49-F238E27FC236}">
                <a16:creationId xmlns:a16="http://schemas.microsoft.com/office/drawing/2014/main" id="{7A69704D-8937-F0B9-6183-398577F52C72}"/>
              </a:ext>
            </a:extLst>
          </p:cNvPr>
          <p:cNvSpPr txBox="1"/>
          <p:nvPr/>
        </p:nvSpPr>
        <p:spPr>
          <a:xfrm>
            <a:off x="219705" y="3059668"/>
            <a:ext cx="356190" cy="369332"/>
          </a:xfrm>
          <a:prstGeom prst="rect">
            <a:avLst/>
          </a:prstGeom>
          <a:noFill/>
        </p:spPr>
        <p:txBody>
          <a:bodyPr wrap="square" rtlCol="0">
            <a:spAutoFit/>
          </a:bodyPr>
          <a:lstStyle/>
          <a:p>
            <a:r>
              <a:rPr lang="en-US" dirty="0">
                <a:solidFill>
                  <a:srgbClr val="0070C0"/>
                </a:solidFill>
                <a:latin typeface="Times New Roman" panose="02020603050405020304" pitchFamily="18" charset="0"/>
                <a:cs typeface="Times New Roman" panose="02020603050405020304" pitchFamily="18" charset="0"/>
              </a:rPr>
              <a:t>2   </a:t>
            </a:r>
          </a:p>
        </p:txBody>
      </p:sp>
      <p:sp>
        <p:nvSpPr>
          <p:cNvPr id="10" name="TextBox 9">
            <a:extLst>
              <a:ext uri="{FF2B5EF4-FFF2-40B4-BE49-F238E27FC236}">
                <a16:creationId xmlns:a16="http://schemas.microsoft.com/office/drawing/2014/main" id="{D05F2A0A-B80B-E3E9-60FD-37E5014AA6F9}"/>
              </a:ext>
            </a:extLst>
          </p:cNvPr>
          <p:cNvSpPr txBox="1"/>
          <p:nvPr/>
        </p:nvSpPr>
        <p:spPr>
          <a:xfrm>
            <a:off x="219704" y="3428180"/>
            <a:ext cx="356190" cy="369332"/>
          </a:xfrm>
          <a:prstGeom prst="rect">
            <a:avLst/>
          </a:prstGeom>
          <a:noFill/>
        </p:spPr>
        <p:txBody>
          <a:bodyPr wrap="square" rtlCol="0">
            <a:spAutoFit/>
          </a:bodyPr>
          <a:lstStyle/>
          <a:p>
            <a:r>
              <a:rPr lang="en-US" dirty="0">
                <a:solidFill>
                  <a:srgbClr val="0070C0"/>
                </a:solidFill>
                <a:latin typeface="Times New Roman" panose="02020603050405020304" pitchFamily="18" charset="0"/>
                <a:cs typeface="Times New Roman" panose="02020603050405020304" pitchFamily="18" charset="0"/>
              </a:rPr>
              <a:t>3   </a:t>
            </a:r>
          </a:p>
        </p:txBody>
      </p:sp>
      <p:grpSp>
        <p:nvGrpSpPr>
          <p:cNvPr id="13" name="Group 12">
            <a:extLst>
              <a:ext uri="{FF2B5EF4-FFF2-40B4-BE49-F238E27FC236}">
                <a16:creationId xmlns:a16="http://schemas.microsoft.com/office/drawing/2014/main" id="{C3C7F2A7-C67D-6497-29DA-3E20EE70D734}"/>
              </a:ext>
            </a:extLst>
          </p:cNvPr>
          <p:cNvGrpSpPr/>
          <p:nvPr/>
        </p:nvGrpSpPr>
        <p:grpSpPr>
          <a:xfrm>
            <a:off x="1441823" y="4619721"/>
            <a:ext cx="3752837" cy="1349208"/>
            <a:chOff x="2799848" y="2564904"/>
            <a:chExt cx="3049360" cy="1349208"/>
          </a:xfrm>
        </p:grpSpPr>
        <p:sp>
          <p:nvSpPr>
            <p:cNvPr id="14" name="Rectangle 13">
              <a:extLst>
                <a:ext uri="{FF2B5EF4-FFF2-40B4-BE49-F238E27FC236}">
                  <a16:creationId xmlns:a16="http://schemas.microsoft.com/office/drawing/2014/main" id="{B28C14A7-2BB9-3DDC-8718-CEBE9E12B796}"/>
                </a:ext>
              </a:extLst>
            </p:cNvPr>
            <p:cNvSpPr/>
            <p:nvPr/>
          </p:nvSpPr>
          <p:spPr bwMode="auto">
            <a:xfrm>
              <a:off x="2842136" y="2628900"/>
              <a:ext cx="2707671" cy="1042024"/>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Font typeface="Wingdings" pitchFamily="2" charset="2"/>
                <a:buChar char="§"/>
              </a:pPr>
              <a:endParaRPr lang="en-US" sz="2400" dirty="0">
                <a:solidFill>
                  <a:srgbClr val="336600"/>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EE61094-947B-B158-63A0-9372E7D7642F}"/>
                </a:ext>
              </a:extLst>
            </p:cNvPr>
            <p:cNvSpPr txBox="1"/>
            <p:nvPr/>
          </p:nvSpPr>
          <p:spPr>
            <a:xfrm>
              <a:off x="2799848" y="3356992"/>
              <a:ext cx="1440160" cy="338554"/>
            </a:xfrm>
            <a:prstGeom prst="rect">
              <a:avLst/>
            </a:prstGeom>
            <a:noFill/>
          </p:spPr>
          <p:txBody>
            <a:bodyPr wrap="square" rtlCol="0">
              <a:spAutoFit/>
            </a:bodyPr>
            <a:lstStyle/>
            <a:p>
              <a:pPr algn="l">
                <a:buNone/>
              </a:pPr>
              <a:r>
                <a:rPr lang="en-US" sz="1600" dirty="0">
                  <a:latin typeface="Times New Roman" panose="02020603050405020304" pitchFamily="18" charset="0"/>
                  <a:cs typeface="Times New Roman" panose="02020603050405020304" pitchFamily="18" charset="0"/>
                </a:rPr>
                <a:t>nextInColPtr</a:t>
              </a:r>
            </a:p>
          </p:txBody>
        </p:sp>
        <p:sp>
          <p:nvSpPr>
            <p:cNvPr id="16" name="Line 40">
              <a:extLst>
                <a:ext uri="{FF2B5EF4-FFF2-40B4-BE49-F238E27FC236}">
                  <a16:creationId xmlns:a16="http://schemas.microsoft.com/office/drawing/2014/main" id="{FF94F5A8-F41A-E54E-706F-8F7E74D337CD}"/>
                </a:ext>
              </a:extLst>
            </p:cNvPr>
            <p:cNvSpPr>
              <a:spLocks noChangeShapeType="1"/>
            </p:cNvSpPr>
            <p:nvPr/>
          </p:nvSpPr>
          <p:spPr bwMode="auto">
            <a:xfrm rot="5400000" flipV="1">
              <a:off x="3921297" y="3727340"/>
              <a:ext cx="373545" cy="0"/>
            </a:xfrm>
            <a:prstGeom prst="line">
              <a:avLst/>
            </a:prstGeom>
            <a:noFill/>
            <a:ln w="28575">
              <a:solidFill>
                <a:srgbClr val="FFCC00"/>
              </a:solidFill>
              <a:round/>
              <a:headEnd type="oval" w="med" len="med"/>
              <a:tailEnd type="triangle" w="lg" len="lg"/>
            </a:ln>
            <a:effectLst>
              <a:outerShdw blurRad="50800" dist="38100" dir="2700000" algn="tl" rotWithShape="0">
                <a:prstClr val="black">
                  <a:alpha val="40000"/>
                </a:prstClr>
              </a:outerShdw>
            </a:effectLst>
          </p:spPr>
          <p:txBody>
            <a:bodyPr/>
            <a:lstStyle/>
            <a:p>
              <a:endParaRPr lang="en-US"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30667D3E-2873-95E7-4B24-2BE2AB5E38BB}"/>
                </a:ext>
              </a:extLst>
            </p:cNvPr>
            <p:cNvSpPr txBox="1"/>
            <p:nvPr/>
          </p:nvSpPr>
          <p:spPr>
            <a:xfrm>
              <a:off x="4186174" y="3356992"/>
              <a:ext cx="1396357" cy="338554"/>
            </a:xfrm>
            <a:prstGeom prst="rect">
              <a:avLst/>
            </a:prstGeom>
            <a:noFill/>
          </p:spPr>
          <p:txBody>
            <a:bodyPr wrap="square" rtlCol="0">
              <a:spAutoFit/>
            </a:bodyPr>
            <a:lstStyle/>
            <a:p>
              <a:pPr algn="l">
                <a:buNone/>
              </a:pPr>
              <a:r>
                <a:rPr lang="en-US" sz="1600" dirty="0">
                  <a:latin typeface="Times New Roman" panose="02020603050405020304" pitchFamily="18" charset="0"/>
                  <a:cs typeface="Times New Roman" panose="02020603050405020304" pitchFamily="18" charset="0"/>
                </a:rPr>
                <a:t>nextInRowPtr</a:t>
              </a:r>
            </a:p>
          </p:txBody>
        </p:sp>
        <p:sp>
          <p:nvSpPr>
            <p:cNvPr id="18" name="Line 40">
              <a:extLst>
                <a:ext uri="{FF2B5EF4-FFF2-40B4-BE49-F238E27FC236}">
                  <a16:creationId xmlns:a16="http://schemas.microsoft.com/office/drawing/2014/main" id="{2A1C4068-FC92-6CC3-8345-176887921FF1}"/>
                </a:ext>
              </a:extLst>
            </p:cNvPr>
            <p:cNvSpPr>
              <a:spLocks noChangeShapeType="1"/>
            </p:cNvSpPr>
            <p:nvPr/>
          </p:nvSpPr>
          <p:spPr bwMode="auto">
            <a:xfrm flipV="1">
              <a:off x="5485522" y="3525853"/>
              <a:ext cx="363686" cy="0"/>
            </a:xfrm>
            <a:prstGeom prst="line">
              <a:avLst/>
            </a:prstGeom>
            <a:noFill/>
            <a:ln w="28575">
              <a:solidFill>
                <a:srgbClr val="FFCC00"/>
              </a:solidFill>
              <a:round/>
              <a:headEnd type="oval" w="med" len="med"/>
              <a:tailEnd type="triangle" w="lg" len="lg"/>
            </a:ln>
            <a:effectLst>
              <a:outerShdw blurRad="50800" dist="38100" dir="2700000" algn="tl" rotWithShape="0">
                <a:prstClr val="black">
                  <a:alpha val="40000"/>
                </a:prstClr>
              </a:outerShdw>
            </a:effectLst>
          </p:spPr>
          <p:txBody>
            <a:bodyPr/>
            <a:lstStyle/>
            <a:p>
              <a:endParaRPr lang="en-US" dirty="0">
                <a:latin typeface="Times New Roman" panose="02020603050405020304" pitchFamily="18" charset="0"/>
                <a:cs typeface="Times New Roman" panose="02020603050405020304" pitchFamily="18" charset="0"/>
              </a:endParaRPr>
            </a:p>
          </p:txBody>
        </p:sp>
        <p:cxnSp>
          <p:nvCxnSpPr>
            <p:cNvPr id="19" name="Straight Connector 18">
              <a:extLst>
                <a:ext uri="{FF2B5EF4-FFF2-40B4-BE49-F238E27FC236}">
                  <a16:creationId xmlns:a16="http://schemas.microsoft.com/office/drawing/2014/main" id="{970EE043-0BF3-F84B-9ECD-42505C0A541D}"/>
                </a:ext>
              </a:extLst>
            </p:cNvPr>
            <p:cNvCxnSpPr/>
            <p:nvPr/>
          </p:nvCxnSpPr>
          <p:spPr bwMode="auto">
            <a:xfrm>
              <a:off x="2831123" y="3332285"/>
              <a:ext cx="2717970" cy="0"/>
            </a:xfrm>
            <a:prstGeom prst="line">
              <a:avLst/>
            </a:prstGeom>
            <a:noFill/>
            <a:ln w="9525" cap="flat" cmpd="sng" algn="ctr">
              <a:solidFill>
                <a:schemeClr val="tx1"/>
              </a:solidFill>
              <a:prstDash val="solid"/>
              <a:round/>
              <a:headEnd type="none" w="med" len="med"/>
              <a:tailEnd type="none" w="med" len="med"/>
            </a:ln>
            <a:effectLst/>
          </p:spPr>
        </p:cxnSp>
        <p:sp>
          <p:nvSpPr>
            <p:cNvPr id="20" name="TextBox 19">
              <a:extLst>
                <a:ext uri="{FF2B5EF4-FFF2-40B4-BE49-F238E27FC236}">
                  <a16:creationId xmlns:a16="http://schemas.microsoft.com/office/drawing/2014/main" id="{8BB8B827-4D48-88BA-B353-B3B4C9089E09}"/>
                </a:ext>
              </a:extLst>
            </p:cNvPr>
            <p:cNvSpPr txBox="1"/>
            <p:nvPr/>
          </p:nvSpPr>
          <p:spPr>
            <a:xfrm>
              <a:off x="2842919" y="3006970"/>
              <a:ext cx="1440160" cy="400110"/>
            </a:xfrm>
            <a:prstGeom prst="rect">
              <a:avLst/>
            </a:prstGeom>
            <a:noFill/>
          </p:spPr>
          <p:txBody>
            <a:bodyPr wrap="square" rtlCol="0">
              <a:spAutoFit/>
            </a:bodyPr>
            <a:lstStyle/>
            <a:p>
              <a:pPr algn="ctr">
                <a:buNone/>
              </a:pPr>
              <a:r>
                <a:rPr lang="en-US" sz="2000" dirty="0">
                  <a:latin typeface="Times New Roman" panose="02020603050405020304" pitchFamily="18" charset="0"/>
                  <a:cs typeface="Times New Roman" panose="02020603050405020304" pitchFamily="18" charset="0"/>
                </a:rPr>
                <a:t>j</a:t>
              </a:r>
            </a:p>
          </p:txBody>
        </p:sp>
        <p:sp>
          <p:nvSpPr>
            <p:cNvPr id="21" name="TextBox 20">
              <a:extLst>
                <a:ext uri="{FF2B5EF4-FFF2-40B4-BE49-F238E27FC236}">
                  <a16:creationId xmlns:a16="http://schemas.microsoft.com/office/drawing/2014/main" id="{08BD5296-5D47-1D48-B45B-B399D85EEC5B}"/>
                </a:ext>
              </a:extLst>
            </p:cNvPr>
            <p:cNvSpPr txBox="1"/>
            <p:nvPr/>
          </p:nvSpPr>
          <p:spPr>
            <a:xfrm>
              <a:off x="4211960" y="2980470"/>
              <a:ext cx="1440160" cy="400110"/>
            </a:xfrm>
            <a:prstGeom prst="rect">
              <a:avLst/>
            </a:prstGeom>
            <a:noFill/>
          </p:spPr>
          <p:txBody>
            <a:bodyPr wrap="square" rtlCol="0">
              <a:spAutoFit/>
            </a:bodyPr>
            <a:lstStyle/>
            <a:p>
              <a:pPr algn="ctr">
                <a:buNone/>
              </a:pPr>
              <a:r>
                <a:rPr lang="en-US" sz="2000" dirty="0">
                  <a:latin typeface="Times New Roman" panose="02020603050405020304" pitchFamily="18" charset="0"/>
                  <a:cs typeface="Times New Roman" panose="02020603050405020304" pitchFamily="18" charset="0"/>
                </a:rPr>
                <a:t>i</a:t>
              </a:r>
            </a:p>
          </p:txBody>
        </p:sp>
        <p:sp>
          <p:nvSpPr>
            <p:cNvPr id="22" name="TextBox 21">
              <a:extLst>
                <a:ext uri="{FF2B5EF4-FFF2-40B4-BE49-F238E27FC236}">
                  <a16:creationId xmlns:a16="http://schemas.microsoft.com/office/drawing/2014/main" id="{A0BE2D63-F3CF-017A-303B-B7E778AB75DC}"/>
                </a:ext>
              </a:extLst>
            </p:cNvPr>
            <p:cNvSpPr txBox="1"/>
            <p:nvPr/>
          </p:nvSpPr>
          <p:spPr>
            <a:xfrm>
              <a:off x="3563888" y="2564904"/>
              <a:ext cx="1296144" cy="667875"/>
            </a:xfrm>
            <a:prstGeom prst="rect">
              <a:avLst/>
            </a:prstGeom>
            <a:noFill/>
          </p:spPr>
          <p:txBody>
            <a:bodyPr wrap="square" rtlCol="0">
              <a:spAutoFit/>
            </a:bodyPr>
            <a:lstStyle/>
            <a:p>
              <a:pPr algn="ctr">
                <a:lnSpc>
                  <a:spcPct val="110000"/>
                </a:lnSpc>
                <a:buNone/>
              </a:pPr>
              <a:r>
                <a:rPr lang="en-US" sz="2000" dirty="0">
                  <a:latin typeface="Times New Roman" panose="02020603050405020304" pitchFamily="18" charset="0"/>
                  <a:cs typeface="Times New Roman" panose="02020603050405020304" pitchFamily="18" charset="0"/>
                </a:rPr>
                <a:t>m</a:t>
              </a:r>
              <a:r>
                <a:rPr lang="en-US" sz="2000" baseline="-25000" dirty="0">
                  <a:latin typeface="Times New Roman" panose="02020603050405020304" pitchFamily="18" charset="0"/>
                  <a:cs typeface="Times New Roman" panose="02020603050405020304" pitchFamily="18" charset="0"/>
                </a:rPr>
                <a:t>i,j</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p:txBody>
        </p:sp>
        <p:cxnSp>
          <p:nvCxnSpPr>
            <p:cNvPr id="23" name="Straight Connector 22">
              <a:extLst>
                <a:ext uri="{FF2B5EF4-FFF2-40B4-BE49-F238E27FC236}">
                  <a16:creationId xmlns:a16="http://schemas.microsoft.com/office/drawing/2014/main" id="{719488B3-F9F9-4392-2923-5A3C0690356B}"/>
                </a:ext>
              </a:extLst>
            </p:cNvPr>
            <p:cNvCxnSpPr/>
            <p:nvPr/>
          </p:nvCxnSpPr>
          <p:spPr bwMode="auto">
            <a:xfrm>
              <a:off x="2834059" y="2996952"/>
              <a:ext cx="2715035" cy="0"/>
            </a:xfrm>
            <a:prstGeom prst="line">
              <a:avLst/>
            </a:prstGeom>
            <a:noFill/>
            <a:ln w="9525" cap="flat" cmpd="sng" algn="ctr">
              <a:solidFill>
                <a:schemeClr val="tx1"/>
              </a:solidFill>
              <a:prstDash val="solid"/>
              <a:round/>
              <a:headEnd type="none" w="med" len="med"/>
              <a:tailEnd type="none" w="med" len="med"/>
            </a:ln>
            <a:effectLst/>
          </p:spPr>
        </p:cxnSp>
        <p:cxnSp>
          <p:nvCxnSpPr>
            <p:cNvPr id="24" name="Straight Connector 23">
              <a:extLst>
                <a:ext uri="{FF2B5EF4-FFF2-40B4-BE49-F238E27FC236}">
                  <a16:creationId xmlns:a16="http://schemas.microsoft.com/office/drawing/2014/main" id="{BC97D1E1-B8B7-E824-861C-12BEE1CBBE02}"/>
                </a:ext>
              </a:extLst>
            </p:cNvPr>
            <p:cNvCxnSpPr/>
            <p:nvPr/>
          </p:nvCxnSpPr>
          <p:spPr bwMode="auto">
            <a:xfrm rot="5400000">
              <a:off x="3853222" y="3335700"/>
              <a:ext cx="681419" cy="0"/>
            </a:xfrm>
            <a:prstGeom prst="line">
              <a:avLst/>
            </a:prstGeom>
            <a:noFill/>
            <a:ln w="9525" cap="flat" cmpd="sng" algn="ctr">
              <a:solidFill>
                <a:schemeClr val="tx1"/>
              </a:solidFill>
              <a:prstDash val="solid"/>
              <a:round/>
              <a:headEnd type="none" w="med" len="med"/>
              <a:tailEnd type="none" w="med" len="med"/>
            </a:ln>
            <a:effectLst/>
          </p:spPr>
        </p:cxnSp>
      </p:grpSp>
    </p:spTree>
    <p:extLst>
      <p:ext uri="{BB962C8B-B14F-4D97-AF65-F5344CB8AC3E}">
        <p14:creationId xmlns:p14="http://schemas.microsoft.com/office/powerpoint/2010/main" val="28404943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6E337-509F-6554-E69E-6354215076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47677C-9BA6-6163-4526-301DADFEBD2F}"/>
              </a:ext>
            </a:extLst>
          </p:cNvPr>
          <p:cNvSpPr>
            <a:spLocks noGrp="1"/>
          </p:cNvSpPr>
          <p:nvPr>
            <p:ph type="title"/>
          </p:nvPr>
        </p:nvSpPr>
        <p:spPr/>
        <p:txBody>
          <a:bodyPr>
            <a:noAutofit/>
          </a:bodyPr>
          <a:lstStyle/>
          <a:p>
            <a:r>
              <a:rPr lang="en-US" sz="4400" cap="none" dirty="0"/>
              <a:t>Sparse Matrices</a:t>
            </a:r>
          </a:p>
        </p:txBody>
      </p:sp>
      <p:graphicFrame>
        <p:nvGraphicFramePr>
          <p:cNvPr id="5" name="Table 4">
            <a:extLst>
              <a:ext uri="{FF2B5EF4-FFF2-40B4-BE49-F238E27FC236}">
                <a16:creationId xmlns:a16="http://schemas.microsoft.com/office/drawing/2014/main" id="{0075AE72-87CC-D988-93EE-E6A8F0148373}"/>
              </a:ext>
            </a:extLst>
          </p:cNvPr>
          <p:cNvGraphicFramePr>
            <a:graphicFrameLocks noGrp="1"/>
          </p:cNvGraphicFramePr>
          <p:nvPr>
            <p:extLst>
              <p:ext uri="{D42A27DB-BD31-4B8C-83A1-F6EECF244321}">
                <p14:modId xmlns:p14="http://schemas.microsoft.com/office/powerpoint/2010/main" val="2105086571"/>
              </p:ext>
            </p:extLst>
          </p:nvPr>
        </p:nvGraphicFramePr>
        <p:xfrm>
          <a:off x="751572" y="2314152"/>
          <a:ext cx="8128002" cy="1483360"/>
        </p:xfrm>
        <a:graphic>
          <a:graphicData uri="http://schemas.openxmlformats.org/drawingml/2006/table">
            <a:tbl>
              <a:tblPr bandRow="1">
                <a:tableStyleId>{F5AB1C69-6EDB-4FF4-983F-18BD219EF322}</a:tableStyleId>
              </a:tblPr>
              <a:tblGrid>
                <a:gridCol w="1354667">
                  <a:extLst>
                    <a:ext uri="{9D8B030D-6E8A-4147-A177-3AD203B41FA5}">
                      <a16:colId xmlns:a16="http://schemas.microsoft.com/office/drawing/2014/main" val="1253373585"/>
                    </a:ext>
                  </a:extLst>
                </a:gridCol>
                <a:gridCol w="1354667">
                  <a:extLst>
                    <a:ext uri="{9D8B030D-6E8A-4147-A177-3AD203B41FA5}">
                      <a16:colId xmlns:a16="http://schemas.microsoft.com/office/drawing/2014/main" val="3771130657"/>
                    </a:ext>
                  </a:extLst>
                </a:gridCol>
                <a:gridCol w="1354667">
                  <a:extLst>
                    <a:ext uri="{9D8B030D-6E8A-4147-A177-3AD203B41FA5}">
                      <a16:colId xmlns:a16="http://schemas.microsoft.com/office/drawing/2014/main" val="1500632110"/>
                    </a:ext>
                  </a:extLst>
                </a:gridCol>
                <a:gridCol w="1354667">
                  <a:extLst>
                    <a:ext uri="{9D8B030D-6E8A-4147-A177-3AD203B41FA5}">
                      <a16:colId xmlns:a16="http://schemas.microsoft.com/office/drawing/2014/main" val="1995428319"/>
                    </a:ext>
                  </a:extLst>
                </a:gridCol>
                <a:gridCol w="1354667">
                  <a:extLst>
                    <a:ext uri="{9D8B030D-6E8A-4147-A177-3AD203B41FA5}">
                      <a16:colId xmlns:a16="http://schemas.microsoft.com/office/drawing/2014/main" val="2540840809"/>
                    </a:ext>
                  </a:extLst>
                </a:gridCol>
                <a:gridCol w="1354667">
                  <a:extLst>
                    <a:ext uri="{9D8B030D-6E8A-4147-A177-3AD203B41FA5}">
                      <a16:colId xmlns:a16="http://schemas.microsoft.com/office/drawing/2014/main" val="690127111"/>
                    </a:ext>
                  </a:extLst>
                </a:gridCol>
              </a:tblGrid>
              <a:tr h="370840">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extLst>
                  <a:ext uri="{0D108BD9-81ED-4DB2-BD59-A6C34878D82A}">
                    <a16:rowId xmlns:a16="http://schemas.microsoft.com/office/drawing/2014/main" val="837091952"/>
                  </a:ext>
                </a:extLst>
              </a:tr>
              <a:tr h="370840">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1</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extLst>
                  <a:ext uri="{0D108BD9-81ED-4DB2-BD59-A6C34878D82A}">
                    <a16:rowId xmlns:a16="http://schemas.microsoft.com/office/drawing/2014/main" val="2555807937"/>
                  </a:ext>
                </a:extLst>
              </a:tr>
              <a:tr h="370840">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2</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extLst>
                  <a:ext uri="{0D108BD9-81ED-4DB2-BD59-A6C34878D82A}">
                    <a16:rowId xmlns:a16="http://schemas.microsoft.com/office/drawing/2014/main" val="1470886226"/>
                  </a:ext>
                </a:extLst>
              </a:tr>
              <a:tr h="370840">
                <a:tc>
                  <a:txBody>
                    <a:bodyPr/>
                    <a:lstStyle/>
                    <a:p>
                      <a:r>
                        <a:rPr lang="en-US" b="0" i="0" dirty="0">
                          <a:solidFill>
                            <a:srgbClr val="FF0000"/>
                          </a:solidFill>
                          <a:latin typeface="Times New Roman" panose="02020603050405020304" pitchFamily="18" charset="0"/>
                        </a:rPr>
                        <a:t>5</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4</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extLst>
                  <a:ext uri="{0D108BD9-81ED-4DB2-BD59-A6C34878D82A}">
                    <a16:rowId xmlns:a16="http://schemas.microsoft.com/office/drawing/2014/main" val="958327990"/>
                  </a:ext>
                </a:extLst>
              </a:tr>
            </a:tbl>
          </a:graphicData>
        </a:graphic>
      </p:graphicFrame>
      <p:sp>
        <p:nvSpPr>
          <p:cNvPr id="6" name="TextBox 5">
            <a:extLst>
              <a:ext uri="{FF2B5EF4-FFF2-40B4-BE49-F238E27FC236}">
                <a16:creationId xmlns:a16="http://schemas.microsoft.com/office/drawing/2014/main" id="{A1A5E9A2-E8A0-182F-519B-DB4D694C2150}"/>
              </a:ext>
            </a:extLst>
          </p:cNvPr>
          <p:cNvSpPr txBox="1"/>
          <p:nvPr/>
        </p:nvSpPr>
        <p:spPr>
          <a:xfrm>
            <a:off x="1025771" y="1979901"/>
            <a:ext cx="7579605" cy="369332"/>
          </a:xfrm>
          <a:prstGeom prst="rect">
            <a:avLst/>
          </a:prstGeom>
          <a:noFill/>
        </p:spPr>
        <p:txBody>
          <a:bodyPr wrap="square" rtlCol="0">
            <a:spAutoFit/>
          </a:bodyPr>
          <a:lstStyle/>
          <a:p>
            <a:r>
              <a:rPr lang="en-US" dirty="0">
                <a:solidFill>
                  <a:srgbClr val="0070C0"/>
                </a:solidFill>
                <a:latin typeface="Times New Roman" panose="02020603050405020304" pitchFamily="18" charset="0"/>
                <a:cs typeface="Times New Roman" panose="02020603050405020304" pitchFamily="18" charset="0"/>
              </a:rPr>
              <a:t>0                      1                     2                         3                    4                 5</a:t>
            </a:r>
          </a:p>
        </p:txBody>
      </p:sp>
      <p:sp>
        <p:nvSpPr>
          <p:cNvPr id="7" name="TextBox 6">
            <a:extLst>
              <a:ext uri="{FF2B5EF4-FFF2-40B4-BE49-F238E27FC236}">
                <a16:creationId xmlns:a16="http://schemas.microsoft.com/office/drawing/2014/main" id="{438AC3FC-1463-C92E-0976-B0AAF399F3A0}"/>
              </a:ext>
            </a:extLst>
          </p:cNvPr>
          <p:cNvSpPr txBox="1"/>
          <p:nvPr/>
        </p:nvSpPr>
        <p:spPr>
          <a:xfrm>
            <a:off x="219705" y="2349233"/>
            <a:ext cx="356190" cy="369332"/>
          </a:xfrm>
          <a:prstGeom prst="rect">
            <a:avLst/>
          </a:prstGeom>
          <a:noFill/>
        </p:spPr>
        <p:txBody>
          <a:bodyPr wrap="square" rtlCol="0">
            <a:spAutoFit/>
          </a:bodyPr>
          <a:lstStyle/>
          <a:p>
            <a:r>
              <a:rPr lang="en-US" dirty="0">
                <a:solidFill>
                  <a:srgbClr val="0070C0"/>
                </a:solidFill>
                <a:latin typeface="Times New Roman" panose="02020603050405020304" pitchFamily="18" charset="0"/>
                <a:cs typeface="Times New Roman" panose="02020603050405020304" pitchFamily="18" charset="0"/>
              </a:rPr>
              <a:t>0   </a:t>
            </a:r>
          </a:p>
        </p:txBody>
      </p:sp>
      <p:sp>
        <p:nvSpPr>
          <p:cNvPr id="8" name="TextBox 7">
            <a:extLst>
              <a:ext uri="{FF2B5EF4-FFF2-40B4-BE49-F238E27FC236}">
                <a16:creationId xmlns:a16="http://schemas.microsoft.com/office/drawing/2014/main" id="{BAF0D09C-111D-3BCF-7577-5BA7FDE6BF14}"/>
              </a:ext>
            </a:extLst>
          </p:cNvPr>
          <p:cNvSpPr txBox="1"/>
          <p:nvPr/>
        </p:nvSpPr>
        <p:spPr>
          <a:xfrm>
            <a:off x="219705" y="2718565"/>
            <a:ext cx="356190" cy="369332"/>
          </a:xfrm>
          <a:prstGeom prst="rect">
            <a:avLst/>
          </a:prstGeom>
          <a:noFill/>
        </p:spPr>
        <p:txBody>
          <a:bodyPr wrap="square" rtlCol="0">
            <a:spAutoFit/>
          </a:bodyPr>
          <a:lstStyle/>
          <a:p>
            <a:r>
              <a:rPr lang="en-US" dirty="0">
                <a:solidFill>
                  <a:srgbClr val="0070C0"/>
                </a:solidFill>
                <a:latin typeface="Times New Roman" panose="02020603050405020304" pitchFamily="18" charset="0"/>
                <a:cs typeface="Times New Roman" panose="02020603050405020304" pitchFamily="18" charset="0"/>
              </a:rPr>
              <a:t>1   </a:t>
            </a:r>
          </a:p>
        </p:txBody>
      </p:sp>
      <p:sp>
        <p:nvSpPr>
          <p:cNvPr id="9" name="TextBox 8">
            <a:extLst>
              <a:ext uri="{FF2B5EF4-FFF2-40B4-BE49-F238E27FC236}">
                <a16:creationId xmlns:a16="http://schemas.microsoft.com/office/drawing/2014/main" id="{072720BF-0197-6539-72C0-ECB9CF28C3F1}"/>
              </a:ext>
            </a:extLst>
          </p:cNvPr>
          <p:cNvSpPr txBox="1"/>
          <p:nvPr/>
        </p:nvSpPr>
        <p:spPr>
          <a:xfrm>
            <a:off x="219705" y="3059668"/>
            <a:ext cx="356190" cy="369332"/>
          </a:xfrm>
          <a:prstGeom prst="rect">
            <a:avLst/>
          </a:prstGeom>
          <a:noFill/>
        </p:spPr>
        <p:txBody>
          <a:bodyPr wrap="square" rtlCol="0">
            <a:spAutoFit/>
          </a:bodyPr>
          <a:lstStyle/>
          <a:p>
            <a:r>
              <a:rPr lang="en-US" dirty="0">
                <a:solidFill>
                  <a:srgbClr val="0070C0"/>
                </a:solidFill>
                <a:latin typeface="Times New Roman" panose="02020603050405020304" pitchFamily="18" charset="0"/>
                <a:cs typeface="Times New Roman" panose="02020603050405020304" pitchFamily="18" charset="0"/>
              </a:rPr>
              <a:t>2   </a:t>
            </a:r>
          </a:p>
        </p:txBody>
      </p:sp>
      <p:sp>
        <p:nvSpPr>
          <p:cNvPr id="10" name="TextBox 9">
            <a:extLst>
              <a:ext uri="{FF2B5EF4-FFF2-40B4-BE49-F238E27FC236}">
                <a16:creationId xmlns:a16="http://schemas.microsoft.com/office/drawing/2014/main" id="{D9C57A4A-F788-CE46-433F-6442FEAD9A8E}"/>
              </a:ext>
            </a:extLst>
          </p:cNvPr>
          <p:cNvSpPr txBox="1"/>
          <p:nvPr/>
        </p:nvSpPr>
        <p:spPr>
          <a:xfrm>
            <a:off x="219704" y="3428180"/>
            <a:ext cx="356190" cy="369332"/>
          </a:xfrm>
          <a:prstGeom prst="rect">
            <a:avLst/>
          </a:prstGeom>
          <a:noFill/>
        </p:spPr>
        <p:txBody>
          <a:bodyPr wrap="square" rtlCol="0">
            <a:spAutoFit/>
          </a:bodyPr>
          <a:lstStyle/>
          <a:p>
            <a:r>
              <a:rPr lang="en-US" dirty="0">
                <a:solidFill>
                  <a:srgbClr val="0070C0"/>
                </a:solidFill>
                <a:latin typeface="Times New Roman" panose="02020603050405020304" pitchFamily="18" charset="0"/>
                <a:cs typeface="Times New Roman" panose="02020603050405020304" pitchFamily="18" charset="0"/>
              </a:rPr>
              <a:t>3   </a:t>
            </a:r>
          </a:p>
        </p:txBody>
      </p:sp>
      <p:grpSp>
        <p:nvGrpSpPr>
          <p:cNvPr id="13" name="Group 12">
            <a:extLst>
              <a:ext uri="{FF2B5EF4-FFF2-40B4-BE49-F238E27FC236}">
                <a16:creationId xmlns:a16="http://schemas.microsoft.com/office/drawing/2014/main" id="{6939A496-81A2-F9E8-F2B5-0B4A4594CC9D}"/>
              </a:ext>
            </a:extLst>
          </p:cNvPr>
          <p:cNvGrpSpPr/>
          <p:nvPr/>
        </p:nvGrpSpPr>
        <p:grpSpPr>
          <a:xfrm>
            <a:off x="670643" y="4619721"/>
            <a:ext cx="3752837" cy="1349208"/>
            <a:chOff x="2799848" y="2564904"/>
            <a:chExt cx="3049360" cy="1349208"/>
          </a:xfrm>
        </p:grpSpPr>
        <p:sp>
          <p:nvSpPr>
            <p:cNvPr id="14" name="Rectangle 13">
              <a:extLst>
                <a:ext uri="{FF2B5EF4-FFF2-40B4-BE49-F238E27FC236}">
                  <a16:creationId xmlns:a16="http://schemas.microsoft.com/office/drawing/2014/main" id="{E6BB9226-C4C2-EF9D-8477-63ECDE35170C}"/>
                </a:ext>
              </a:extLst>
            </p:cNvPr>
            <p:cNvSpPr/>
            <p:nvPr/>
          </p:nvSpPr>
          <p:spPr bwMode="auto">
            <a:xfrm>
              <a:off x="2842136" y="2628900"/>
              <a:ext cx="2707671" cy="1042024"/>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Font typeface="Wingdings" pitchFamily="2" charset="2"/>
                <a:buChar char="§"/>
              </a:pPr>
              <a:endParaRPr lang="en-US" sz="2400" dirty="0">
                <a:solidFill>
                  <a:srgbClr val="336600"/>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C57AF5E8-D739-EF8B-E423-07C4E6A2B252}"/>
                </a:ext>
              </a:extLst>
            </p:cNvPr>
            <p:cNvSpPr txBox="1"/>
            <p:nvPr/>
          </p:nvSpPr>
          <p:spPr>
            <a:xfrm>
              <a:off x="2799848" y="3356992"/>
              <a:ext cx="1440160" cy="338554"/>
            </a:xfrm>
            <a:prstGeom prst="rect">
              <a:avLst/>
            </a:prstGeom>
            <a:noFill/>
          </p:spPr>
          <p:txBody>
            <a:bodyPr wrap="square" rtlCol="0">
              <a:spAutoFit/>
            </a:bodyPr>
            <a:lstStyle/>
            <a:p>
              <a:pPr algn="l">
                <a:buNone/>
              </a:pPr>
              <a:r>
                <a:rPr lang="en-US" sz="1600" dirty="0">
                  <a:latin typeface="Times New Roman" panose="02020603050405020304" pitchFamily="18" charset="0"/>
                  <a:cs typeface="Times New Roman" panose="02020603050405020304" pitchFamily="18" charset="0"/>
                </a:rPr>
                <a:t>nextInColPtr</a:t>
              </a:r>
            </a:p>
          </p:txBody>
        </p:sp>
        <p:sp>
          <p:nvSpPr>
            <p:cNvPr id="16" name="Line 40">
              <a:extLst>
                <a:ext uri="{FF2B5EF4-FFF2-40B4-BE49-F238E27FC236}">
                  <a16:creationId xmlns:a16="http://schemas.microsoft.com/office/drawing/2014/main" id="{ECA6FA47-81F1-685F-387E-ED97FA5C5761}"/>
                </a:ext>
              </a:extLst>
            </p:cNvPr>
            <p:cNvSpPr>
              <a:spLocks noChangeShapeType="1"/>
            </p:cNvSpPr>
            <p:nvPr/>
          </p:nvSpPr>
          <p:spPr bwMode="auto">
            <a:xfrm rot="5400000" flipV="1">
              <a:off x="3921297" y="3727340"/>
              <a:ext cx="373545" cy="0"/>
            </a:xfrm>
            <a:prstGeom prst="line">
              <a:avLst/>
            </a:prstGeom>
            <a:noFill/>
            <a:ln w="28575">
              <a:solidFill>
                <a:srgbClr val="FFCC00"/>
              </a:solidFill>
              <a:round/>
              <a:headEnd type="oval" w="med" len="med"/>
              <a:tailEnd type="triangle" w="lg" len="lg"/>
            </a:ln>
            <a:effectLst>
              <a:outerShdw blurRad="50800" dist="38100" dir="2700000" algn="tl" rotWithShape="0">
                <a:prstClr val="black">
                  <a:alpha val="40000"/>
                </a:prstClr>
              </a:outerShdw>
            </a:effectLst>
          </p:spPr>
          <p:txBody>
            <a:bodyPr/>
            <a:lstStyle/>
            <a:p>
              <a:endParaRPr lang="en-US"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3DFDCF04-5CDA-574F-9CC5-52ED6672EDE6}"/>
                </a:ext>
              </a:extLst>
            </p:cNvPr>
            <p:cNvSpPr txBox="1"/>
            <p:nvPr/>
          </p:nvSpPr>
          <p:spPr>
            <a:xfrm>
              <a:off x="4186174" y="3356992"/>
              <a:ext cx="1396357" cy="338554"/>
            </a:xfrm>
            <a:prstGeom prst="rect">
              <a:avLst/>
            </a:prstGeom>
            <a:noFill/>
          </p:spPr>
          <p:txBody>
            <a:bodyPr wrap="square" rtlCol="0">
              <a:spAutoFit/>
            </a:bodyPr>
            <a:lstStyle/>
            <a:p>
              <a:pPr algn="l">
                <a:buNone/>
              </a:pPr>
              <a:r>
                <a:rPr lang="en-US" sz="1600" dirty="0">
                  <a:latin typeface="Times New Roman" panose="02020603050405020304" pitchFamily="18" charset="0"/>
                  <a:cs typeface="Times New Roman" panose="02020603050405020304" pitchFamily="18" charset="0"/>
                </a:rPr>
                <a:t>nextInRowPtr</a:t>
              </a:r>
            </a:p>
          </p:txBody>
        </p:sp>
        <p:sp>
          <p:nvSpPr>
            <p:cNvPr id="18" name="Line 40">
              <a:extLst>
                <a:ext uri="{FF2B5EF4-FFF2-40B4-BE49-F238E27FC236}">
                  <a16:creationId xmlns:a16="http://schemas.microsoft.com/office/drawing/2014/main" id="{A807239F-FD51-1848-2A11-0CD474656B30}"/>
                </a:ext>
              </a:extLst>
            </p:cNvPr>
            <p:cNvSpPr>
              <a:spLocks noChangeShapeType="1"/>
            </p:cNvSpPr>
            <p:nvPr/>
          </p:nvSpPr>
          <p:spPr bwMode="auto">
            <a:xfrm flipV="1">
              <a:off x="5485522" y="3525853"/>
              <a:ext cx="363686" cy="0"/>
            </a:xfrm>
            <a:prstGeom prst="line">
              <a:avLst/>
            </a:prstGeom>
            <a:noFill/>
            <a:ln w="28575">
              <a:solidFill>
                <a:srgbClr val="FFCC00"/>
              </a:solidFill>
              <a:round/>
              <a:headEnd type="oval" w="med" len="med"/>
              <a:tailEnd type="triangle" w="lg" len="lg"/>
            </a:ln>
            <a:effectLst>
              <a:outerShdw blurRad="50800" dist="38100" dir="2700000" algn="tl" rotWithShape="0">
                <a:prstClr val="black">
                  <a:alpha val="40000"/>
                </a:prstClr>
              </a:outerShdw>
            </a:effectLst>
          </p:spPr>
          <p:txBody>
            <a:bodyPr/>
            <a:lstStyle/>
            <a:p>
              <a:endParaRPr lang="en-US" dirty="0">
                <a:latin typeface="Times New Roman" panose="02020603050405020304" pitchFamily="18" charset="0"/>
                <a:cs typeface="Times New Roman" panose="02020603050405020304" pitchFamily="18" charset="0"/>
              </a:endParaRPr>
            </a:p>
          </p:txBody>
        </p:sp>
        <p:cxnSp>
          <p:nvCxnSpPr>
            <p:cNvPr id="19" name="Straight Connector 18">
              <a:extLst>
                <a:ext uri="{FF2B5EF4-FFF2-40B4-BE49-F238E27FC236}">
                  <a16:creationId xmlns:a16="http://schemas.microsoft.com/office/drawing/2014/main" id="{2DBB1E11-8EB2-3A81-052F-B49107D6B3AA}"/>
                </a:ext>
              </a:extLst>
            </p:cNvPr>
            <p:cNvCxnSpPr/>
            <p:nvPr/>
          </p:nvCxnSpPr>
          <p:spPr bwMode="auto">
            <a:xfrm>
              <a:off x="2831123" y="3332285"/>
              <a:ext cx="2717970" cy="0"/>
            </a:xfrm>
            <a:prstGeom prst="line">
              <a:avLst/>
            </a:prstGeom>
            <a:noFill/>
            <a:ln w="9525" cap="flat" cmpd="sng" algn="ctr">
              <a:solidFill>
                <a:schemeClr val="tx1"/>
              </a:solidFill>
              <a:prstDash val="solid"/>
              <a:round/>
              <a:headEnd type="none" w="med" len="med"/>
              <a:tailEnd type="none" w="med" len="med"/>
            </a:ln>
            <a:effectLst/>
          </p:spPr>
        </p:cxnSp>
        <p:sp>
          <p:nvSpPr>
            <p:cNvPr id="20" name="TextBox 19">
              <a:extLst>
                <a:ext uri="{FF2B5EF4-FFF2-40B4-BE49-F238E27FC236}">
                  <a16:creationId xmlns:a16="http://schemas.microsoft.com/office/drawing/2014/main" id="{1524FC54-E0C8-D223-D568-B52FCA5C6C4C}"/>
                </a:ext>
              </a:extLst>
            </p:cNvPr>
            <p:cNvSpPr txBox="1"/>
            <p:nvPr/>
          </p:nvSpPr>
          <p:spPr>
            <a:xfrm>
              <a:off x="2842919" y="3006970"/>
              <a:ext cx="1440160" cy="400110"/>
            </a:xfrm>
            <a:prstGeom prst="rect">
              <a:avLst/>
            </a:prstGeom>
            <a:noFill/>
          </p:spPr>
          <p:txBody>
            <a:bodyPr wrap="square" rtlCol="0">
              <a:spAutoFit/>
            </a:bodyPr>
            <a:lstStyle/>
            <a:p>
              <a:pPr algn="ctr">
                <a:buNone/>
              </a:pPr>
              <a:r>
                <a:rPr lang="en-US" sz="2000" dirty="0">
                  <a:latin typeface="Times New Roman" panose="02020603050405020304" pitchFamily="18" charset="0"/>
                  <a:cs typeface="Times New Roman" panose="02020603050405020304" pitchFamily="18" charset="0"/>
                </a:rPr>
                <a:t>j  (column)</a:t>
              </a:r>
            </a:p>
          </p:txBody>
        </p:sp>
        <p:sp>
          <p:nvSpPr>
            <p:cNvPr id="21" name="TextBox 20">
              <a:extLst>
                <a:ext uri="{FF2B5EF4-FFF2-40B4-BE49-F238E27FC236}">
                  <a16:creationId xmlns:a16="http://schemas.microsoft.com/office/drawing/2014/main" id="{49551C63-4109-A4CB-39E2-EA9C4C3D9667}"/>
                </a:ext>
              </a:extLst>
            </p:cNvPr>
            <p:cNvSpPr txBox="1"/>
            <p:nvPr/>
          </p:nvSpPr>
          <p:spPr>
            <a:xfrm>
              <a:off x="4211960" y="2980470"/>
              <a:ext cx="1440160" cy="400110"/>
            </a:xfrm>
            <a:prstGeom prst="rect">
              <a:avLst/>
            </a:prstGeom>
            <a:noFill/>
          </p:spPr>
          <p:txBody>
            <a:bodyPr wrap="square" rtlCol="0">
              <a:spAutoFit/>
            </a:bodyPr>
            <a:lstStyle/>
            <a:p>
              <a:pPr algn="ctr">
                <a:buNone/>
              </a:pPr>
              <a:r>
                <a:rPr lang="en-US" sz="2000" dirty="0">
                  <a:latin typeface="Times New Roman" panose="02020603050405020304" pitchFamily="18" charset="0"/>
                  <a:cs typeface="Times New Roman" panose="02020603050405020304" pitchFamily="18" charset="0"/>
                </a:rPr>
                <a:t>i (row)</a:t>
              </a:r>
            </a:p>
          </p:txBody>
        </p:sp>
        <p:sp>
          <p:nvSpPr>
            <p:cNvPr id="22" name="TextBox 21">
              <a:extLst>
                <a:ext uri="{FF2B5EF4-FFF2-40B4-BE49-F238E27FC236}">
                  <a16:creationId xmlns:a16="http://schemas.microsoft.com/office/drawing/2014/main" id="{50162147-CD96-E8D8-AC29-3074237C1227}"/>
                </a:ext>
              </a:extLst>
            </p:cNvPr>
            <p:cNvSpPr txBox="1"/>
            <p:nvPr/>
          </p:nvSpPr>
          <p:spPr>
            <a:xfrm>
              <a:off x="3563888" y="2564904"/>
              <a:ext cx="1296144" cy="667875"/>
            </a:xfrm>
            <a:prstGeom prst="rect">
              <a:avLst/>
            </a:prstGeom>
            <a:noFill/>
          </p:spPr>
          <p:txBody>
            <a:bodyPr wrap="square" rtlCol="0">
              <a:spAutoFit/>
            </a:bodyPr>
            <a:lstStyle/>
            <a:p>
              <a:pPr algn="ctr">
                <a:lnSpc>
                  <a:spcPct val="110000"/>
                </a:lnSpc>
                <a:buNone/>
              </a:pPr>
              <a:r>
                <a:rPr lang="en-US" sz="2000" dirty="0">
                  <a:latin typeface="Times New Roman" panose="02020603050405020304" pitchFamily="18" charset="0"/>
                  <a:cs typeface="Times New Roman" panose="02020603050405020304" pitchFamily="18" charset="0"/>
                </a:rPr>
                <a:t>m</a:t>
              </a:r>
              <a:r>
                <a:rPr lang="en-US" sz="2000" baseline="-25000" dirty="0">
                  <a:latin typeface="Times New Roman" panose="02020603050405020304" pitchFamily="18" charset="0"/>
                  <a:cs typeface="Times New Roman" panose="02020603050405020304" pitchFamily="18" charset="0"/>
                </a:rPr>
                <a:t>i,j</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p:txBody>
        </p:sp>
        <p:cxnSp>
          <p:nvCxnSpPr>
            <p:cNvPr id="23" name="Straight Connector 22">
              <a:extLst>
                <a:ext uri="{FF2B5EF4-FFF2-40B4-BE49-F238E27FC236}">
                  <a16:creationId xmlns:a16="http://schemas.microsoft.com/office/drawing/2014/main" id="{71E85DF8-F0F4-DD33-6FF5-81ACA4D2A127}"/>
                </a:ext>
              </a:extLst>
            </p:cNvPr>
            <p:cNvCxnSpPr/>
            <p:nvPr/>
          </p:nvCxnSpPr>
          <p:spPr bwMode="auto">
            <a:xfrm>
              <a:off x="2834059" y="2996952"/>
              <a:ext cx="2715035" cy="0"/>
            </a:xfrm>
            <a:prstGeom prst="line">
              <a:avLst/>
            </a:prstGeom>
            <a:noFill/>
            <a:ln w="9525" cap="flat" cmpd="sng" algn="ctr">
              <a:solidFill>
                <a:schemeClr val="tx1"/>
              </a:solidFill>
              <a:prstDash val="solid"/>
              <a:round/>
              <a:headEnd type="none" w="med" len="med"/>
              <a:tailEnd type="none" w="med" len="med"/>
            </a:ln>
            <a:effectLst/>
          </p:spPr>
        </p:cxnSp>
        <p:cxnSp>
          <p:nvCxnSpPr>
            <p:cNvPr id="24" name="Straight Connector 23">
              <a:extLst>
                <a:ext uri="{FF2B5EF4-FFF2-40B4-BE49-F238E27FC236}">
                  <a16:creationId xmlns:a16="http://schemas.microsoft.com/office/drawing/2014/main" id="{3C4B87A3-1786-0683-D450-3485F7BE082C}"/>
                </a:ext>
              </a:extLst>
            </p:cNvPr>
            <p:cNvCxnSpPr/>
            <p:nvPr/>
          </p:nvCxnSpPr>
          <p:spPr bwMode="auto">
            <a:xfrm rot="5400000">
              <a:off x="3853222" y="3335700"/>
              <a:ext cx="681419" cy="0"/>
            </a:xfrm>
            <a:prstGeom prst="line">
              <a:avLst/>
            </a:prstGeom>
            <a:noFill/>
            <a:ln w="9525" cap="flat" cmpd="sng" algn="ctr">
              <a:solidFill>
                <a:schemeClr val="tx1"/>
              </a:solidFill>
              <a:prstDash val="solid"/>
              <a:round/>
              <a:headEnd type="none" w="med" len="med"/>
              <a:tailEnd type="none" w="med" len="med"/>
            </a:ln>
            <a:effectLst/>
          </p:spPr>
        </p:cxnSp>
      </p:grpSp>
      <p:grpSp>
        <p:nvGrpSpPr>
          <p:cNvPr id="3" name="Group 2">
            <a:extLst>
              <a:ext uri="{FF2B5EF4-FFF2-40B4-BE49-F238E27FC236}">
                <a16:creationId xmlns:a16="http://schemas.microsoft.com/office/drawing/2014/main" id="{D2172485-C3C8-4F09-6B00-1A6B1588B105}"/>
              </a:ext>
            </a:extLst>
          </p:cNvPr>
          <p:cNvGrpSpPr/>
          <p:nvPr/>
        </p:nvGrpSpPr>
        <p:grpSpPr>
          <a:xfrm>
            <a:off x="5757968" y="4712498"/>
            <a:ext cx="3510281" cy="1130642"/>
            <a:chOff x="2799848" y="2564904"/>
            <a:chExt cx="2852272" cy="1130642"/>
          </a:xfrm>
        </p:grpSpPr>
        <p:sp>
          <p:nvSpPr>
            <p:cNvPr id="4" name="Rectangle 3">
              <a:extLst>
                <a:ext uri="{FF2B5EF4-FFF2-40B4-BE49-F238E27FC236}">
                  <a16:creationId xmlns:a16="http://schemas.microsoft.com/office/drawing/2014/main" id="{8EF54A5C-EF88-FCFE-C0DB-569843D06314}"/>
                </a:ext>
              </a:extLst>
            </p:cNvPr>
            <p:cNvSpPr/>
            <p:nvPr/>
          </p:nvSpPr>
          <p:spPr bwMode="auto">
            <a:xfrm>
              <a:off x="2842136" y="2628900"/>
              <a:ext cx="2707671" cy="1042024"/>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Font typeface="Wingdings" pitchFamily="2" charset="2"/>
                <a:buChar char="§"/>
              </a:pPr>
              <a:endParaRPr lang="en-US" sz="2400" dirty="0">
                <a:solidFill>
                  <a:srgbClr val="33660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BB6B078-8CB3-B29D-4BC5-77B9D51FD6A2}"/>
                </a:ext>
              </a:extLst>
            </p:cNvPr>
            <p:cNvSpPr txBox="1"/>
            <p:nvPr/>
          </p:nvSpPr>
          <p:spPr>
            <a:xfrm>
              <a:off x="2799848" y="3356992"/>
              <a:ext cx="1440160" cy="338554"/>
            </a:xfrm>
            <a:prstGeom prst="rect">
              <a:avLst/>
            </a:prstGeom>
            <a:noFill/>
          </p:spPr>
          <p:txBody>
            <a:bodyPr wrap="square" rtlCol="0">
              <a:spAutoFit/>
            </a:bodyPr>
            <a:lstStyle/>
            <a:p>
              <a:pPr algn="l">
                <a:buNone/>
              </a:pPr>
              <a:r>
                <a:rPr lang="en-US" sz="1600" dirty="0">
                  <a:latin typeface="Times New Roman" panose="02020603050405020304" pitchFamily="18" charset="0"/>
                  <a:cs typeface="Times New Roman" panose="02020603050405020304" pitchFamily="18" charset="0"/>
                </a:rPr>
                <a:t>NULL</a:t>
              </a:r>
            </a:p>
          </p:txBody>
        </p:sp>
        <p:cxnSp>
          <p:nvCxnSpPr>
            <p:cNvPr id="27" name="Straight Connector 26">
              <a:extLst>
                <a:ext uri="{FF2B5EF4-FFF2-40B4-BE49-F238E27FC236}">
                  <a16:creationId xmlns:a16="http://schemas.microsoft.com/office/drawing/2014/main" id="{24B00800-98AC-F710-3EEE-9D19C78D66B4}"/>
                </a:ext>
              </a:extLst>
            </p:cNvPr>
            <p:cNvCxnSpPr/>
            <p:nvPr/>
          </p:nvCxnSpPr>
          <p:spPr bwMode="auto">
            <a:xfrm>
              <a:off x="2831123" y="3332285"/>
              <a:ext cx="2717970" cy="0"/>
            </a:xfrm>
            <a:prstGeom prst="line">
              <a:avLst/>
            </a:prstGeom>
            <a:noFill/>
            <a:ln w="9525" cap="flat" cmpd="sng" algn="ctr">
              <a:solidFill>
                <a:schemeClr val="tx1"/>
              </a:solidFill>
              <a:prstDash val="solid"/>
              <a:round/>
              <a:headEnd type="none" w="med" len="med"/>
              <a:tailEnd type="none" w="med" len="med"/>
            </a:ln>
            <a:effectLst/>
          </p:spPr>
        </p:cxnSp>
        <p:sp>
          <p:nvSpPr>
            <p:cNvPr id="28" name="TextBox 27">
              <a:extLst>
                <a:ext uri="{FF2B5EF4-FFF2-40B4-BE49-F238E27FC236}">
                  <a16:creationId xmlns:a16="http://schemas.microsoft.com/office/drawing/2014/main" id="{37E25DAB-F2BF-5319-6D3F-D7A1509E8C9A}"/>
                </a:ext>
              </a:extLst>
            </p:cNvPr>
            <p:cNvSpPr txBox="1"/>
            <p:nvPr/>
          </p:nvSpPr>
          <p:spPr>
            <a:xfrm>
              <a:off x="2945258" y="2994990"/>
              <a:ext cx="1440160" cy="400110"/>
            </a:xfrm>
            <a:prstGeom prst="rect">
              <a:avLst/>
            </a:prstGeom>
            <a:noFill/>
          </p:spPr>
          <p:txBody>
            <a:bodyPr wrap="square" rtlCol="0">
              <a:spAutoFit/>
            </a:bodyPr>
            <a:lstStyle/>
            <a:p>
              <a:pPr algn="ctr">
                <a:buNone/>
              </a:pPr>
              <a:r>
                <a:rPr lang="en-US" sz="2000" dirty="0">
                  <a:latin typeface="Times New Roman" panose="02020603050405020304" pitchFamily="18" charset="0"/>
                  <a:cs typeface="Times New Roman" panose="02020603050405020304" pitchFamily="18" charset="0"/>
                </a:rPr>
                <a:t>0</a:t>
              </a:r>
            </a:p>
          </p:txBody>
        </p:sp>
        <p:sp>
          <p:nvSpPr>
            <p:cNvPr id="29" name="TextBox 28">
              <a:extLst>
                <a:ext uri="{FF2B5EF4-FFF2-40B4-BE49-F238E27FC236}">
                  <a16:creationId xmlns:a16="http://schemas.microsoft.com/office/drawing/2014/main" id="{1FF312A3-95ED-D4AE-14C0-ED65DA2793C4}"/>
                </a:ext>
              </a:extLst>
            </p:cNvPr>
            <p:cNvSpPr txBox="1"/>
            <p:nvPr/>
          </p:nvSpPr>
          <p:spPr>
            <a:xfrm>
              <a:off x="4211960" y="2980470"/>
              <a:ext cx="1440160" cy="400110"/>
            </a:xfrm>
            <a:prstGeom prst="rect">
              <a:avLst/>
            </a:prstGeom>
            <a:noFill/>
          </p:spPr>
          <p:txBody>
            <a:bodyPr wrap="square" rtlCol="0">
              <a:spAutoFit/>
            </a:bodyPr>
            <a:lstStyle/>
            <a:p>
              <a:pPr algn="ctr">
                <a:buNone/>
              </a:pPr>
              <a:r>
                <a:rPr lang="en-US" sz="2000" dirty="0">
                  <a:latin typeface="Times New Roman" panose="02020603050405020304" pitchFamily="18" charset="0"/>
                  <a:cs typeface="Times New Roman" panose="02020603050405020304" pitchFamily="18" charset="0"/>
                </a:rPr>
                <a:t>3</a:t>
              </a:r>
            </a:p>
          </p:txBody>
        </p:sp>
        <p:sp>
          <p:nvSpPr>
            <p:cNvPr id="30" name="TextBox 29">
              <a:extLst>
                <a:ext uri="{FF2B5EF4-FFF2-40B4-BE49-F238E27FC236}">
                  <a16:creationId xmlns:a16="http://schemas.microsoft.com/office/drawing/2014/main" id="{CD2B8894-0945-9400-0F4E-2D5A19AA5530}"/>
                </a:ext>
              </a:extLst>
            </p:cNvPr>
            <p:cNvSpPr txBox="1"/>
            <p:nvPr/>
          </p:nvSpPr>
          <p:spPr>
            <a:xfrm>
              <a:off x="3563888" y="2564904"/>
              <a:ext cx="1296144" cy="406330"/>
            </a:xfrm>
            <a:prstGeom prst="rect">
              <a:avLst/>
            </a:prstGeom>
            <a:noFill/>
          </p:spPr>
          <p:txBody>
            <a:bodyPr wrap="square" rtlCol="0">
              <a:spAutoFit/>
            </a:bodyPr>
            <a:lstStyle/>
            <a:p>
              <a:pPr algn="ctr">
                <a:lnSpc>
                  <a:spcPct val="110000"/>
                </a:lnSpc>
                <a:buNone/>
              </a:pPr>
              <a:r>
                <a:rPr lang="en-US" sz="2000" dirty="0">
                  <a:solidFill>
                    <a:srgbClr val="FF0000"/>
                  </a:solidFill>
                  <a:latin typeface="Times New Roman" panose="02020603050405020304" pitchFamily="18" charset="0"/>
                  <a:cs typeface="Times New Roman" panose="02020603050405020304" pitchFamily="18" charset="0"/>
                </a:rPr>
                <a:t>5</a:t>
              </a:r>
            </a:p>
          </p:txBody>
        </p:sp>
        <p:cxnSp>
          <p:nvCxnSpPr>
            <p:cNvPr id="31" name="Straight Connector 30">
              <a:extLst>
                <a:ext uri="{FF2B5EF4-FFF2-40B4-BE49-F238E27FC236}">
                  <a16:creationId xmlns:a16="http://schemas.microsoft.com/office/drawing/2014/main" id="{8EECE4B3-E56C-D3FB-14E1-1A056E4CFE80}"/>
                </a:ext>
              </a:extLst>
            </p:cNvPr>
            <p:cNvCxnSpPr/>
            <p:nvPr/>
          </p:nvCxnSpPr>
          <p:spPr bwMode="auto">
            <a:xfrm>
              <a:off x="2834059" y="2996952"/>
              <a:ext cx="2715035" cy="0"/>
            </a:xfrm>
            <a:prstGeom prst="line">
              <a:avLst/>
            </a:prstGeom>
            <a:noFill/>
            <a:ln w="9525" cap="flat" cmpd="sng" algn="ctr">
              <a:solidFill>
                <a:schemeClr val="tx1"/>
              </a:solidFill>
              <a:prstDash val="solid"/>
              <a:round/>
              <a:headEnd type="none" w="med" len="med"/>
              <a:tailEnd type="none" w="med" len="med"/>
            </a:ln>
            <a:effectLst/>
          </p:spPr>
        </p:cxnSp>
        <p:cxnSp>
          <p:nvCxnSpPr>
            <p:cNvPr id="32" name="Straight Connector 31">
              <a:extLst>
                <a:ext uri="{FF2B5EF4-FFF2-40B4-BE49-F238E27FC236}">
                  <a16:creationId xmlns:a16="http://schemas.microsoft.com/office/drawing/2014/main" id="{75A1AC27-59FD-8C29-DAF4-FBB1870B4FB2}"/>
                </a:ext>
              </a:extLst>
            </p:cNvPr>
            <p:cNvCxnSpPr/>
            <p:nvPr/>
          </p:nvCxnSpPr>
          <p:spPr bwMode="auto">
            <a:xfrm rot="5400000">
              <a:off x="3853222" y="3335700"/>
              <a:ext cx="681419" cy="0"/>
            </a:xfrm>
            <a:prstGeom prst="line">
              <a:avLst/>
            </a:prstGeom>
            <a:noFill/>
            <a:ln w="9525" cap="flat" cmpd="sng" algn="ctr">
              <a:solidFill>
                <a:schemeClr val="tx1"/>
              </a:solidFill>
              <a:prstDash val="solid"/>
              <a:round/>
              <a:headEnd type="none" w="med" len="med"/>
              <a:tailEnd type="none" w="med" len="med"/>
            </a:ln>
            <a:effectLst/>
          </p:spPr>
        </p:cxnSp>
      </p:grpSp>
      <p:sp>
        <p:nvSpPr>
          <p:cNvPr id="33" name="Line 40">
            <a:extLst>
              <a:ext uri="{FF2B5EF4-FFF2-40B4-BE49-F238E27FC236}">
                <a16:creationId xmlns:a16="http://schemas.microsoft.com/office/drawing/2014/main" id="{FF2CEAE9-7FBC-E8D6-9517-1B039670038A}"/>
              </a:ext>
            </a:extLst>
          </p:cNvPr>
          <p:cNvSpPr>
            <a:spLocks noChangeShapeType="1"/>
          </p:cNvSpPr>
          <p:nvPr/>
        </p:nvSpPr>
        <p:spPr bwMode="auto">
          <a:xfrm flipV="1">
            <a:off x="9022846" y="5667145"/>
            <a:ext cx="447587" cy="0"/>
          </a:xfrm>
          <a:prstGeom prst="line">
            <a:avLst/>
          </a:prstGeom>
          <a:noFill/>
          <a:ln w="28575">
            <a:solidFill>
              <a:srgbClr val="FFCC00"/>
            </a:solidFill>
            <a:round/>
            <a:headEnd type="oval" w="med" len="med"/>
            <a:tailEnd type="triangle" w="lg" len="lg"/>
          </a:ln>
          <a:effectLst>
            <a:outerShdw blurRad="50800" dist="38100" dir="2700000" algn="tl" rotWithShape="0">
              <a:prstClr val="black">
                <a:alpha val="40000"/>
              </a:prstClr>
            </a:outerShdw>
          </a:effectLst>
        </p:spPr>
        <p:txBody>
          <a:bodyPr/>
          <a:lstStyle/>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36367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B545D-43C5-11BD-0707-B194159749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5BDA33-A30C-7EA1-E622-B4CD20EB2BB1}"/>
              </a:ext>
            </a:extLst>
          </p:cNvPr>
          <p:cNvSpPr>
            <a:spLocks noGrp="1"/>
          </p:cNvSpPr>
          <p:nvPr>
            <p:ph type="title"/>
          </p:nvPr>
        </p:nvSpPr>
        <p:spPr/>
        <p:txBody>
          <a:bodyPr>
            <a:noAutofit/>
          </a:bodyPr>
          <a:lstStyle/>
          <a:p>
            <a:r>
              <a:rPr lang="en-US" sz="4400" cap="none" dirty="0"/>
              <a:t>Sparse Matrices</a:t>
            </a:r>
          </a:p>
        </p:txBody>
      </p:sp>
      <p:graphicFrame>
        <p:nvGraphicFramePr>
          <p:cNvPr id="5" name="Table 4">
            <a:extLst>
              <a:ext uri="{FF2B5EF4-FFF2-40B4-BE49-F238E27FC236}">
                <a16:creationId xmlns:a16="http://schemas.microsoft.com/office/drawing/2014/main" id="{28870171-8461-0924-C039-FFD1EEBC81D3}"/>
              </a:ext>
            </a:extLst>
          </p:cNvPr>
          <p:cNvGraphicFramePr>
            <a:graphicFrameLocks noGrp="1"/>
          </p:cNvGraphicFramePr>
          <p:nvPr/>
        </p:nvGraphicFramePr>
        <p:xfrm>
          <a:off x="751572" y="2314152"/>
          <a:ext cx="8128002" cy="1483360"/>
        </p:xfrm>
        <a:graphic>
          <a:graphicData uri="http://schemas.openxmlformats.org/drawingml/2006/table">
            <a:tbl>
              <a:tblPr bandRow="1">
                <a:tableStyleId>{F5AB1C69-6EDB-4FF4-983F-18BD219EF322}</a:tableStyleId>
              </a:tblPr>
              <a:tblGrid>
                <a:gridCol w="1354667">
                  <a:extLst>
                    <a:ext uri="{9D8B030D-6E8A-4147-A177-3AD203B41FA5}">
                      <a16:colId xmlns:a16="http://schemas.microsoft.com/office/drawing/2014/main" val="1253373585"/>
                    </a:ext>
                  </a:extLst>
                </a:gridCol>
                <a:gridCol w="1354667">
                  <a:extLst>
                    <a:ext uri="{9D8B030D-6E8A-4147-A177-3AD203B41FA5}">
                      <a16:colId xmlns:a16="http://schemas.microsoft.com/office/drawing/2014/main" val="3771130657"/>
                    </a:ext>
                  </a:extLst>
                </a:gridCol>
                <a:gridCol w="1354667">
                  <a:extLst>
                    <a:ext uri="{9D8B030D-6E8A-4147-A177-3AD203B41FA5}">
                      <a16:colId xmlns:a16="http://schemas.microsoft.com/office/drawing/2014/main" val="1500632110"/>
                    </a:ext>
                  </a:extLst>
                </a:gridCol>
                <a:gridCol w="1354667">
                  <a:extLst>
                    <a:ext uri="{9D8B030D-6E8A-4147-A177-3AD203B41FA5}">
                      <a16:colId xmlns:a16="http://schemas.microsoft.com/office/drawing/2014/main" val="1995428319"/>
                    </a:ext>
                  </a:extLst>
                </a:gridCol>
                <a:gridCol w="1354667">
                  <a:extLst>
                    <a:ext uri="{9D8B030D-6E8A-4147-A177-3AD203B41FA5}">
                      <a16:colId xmlns:a16="http://schemas.microsoft.com/office/drawing/2014/main" val="2540840809"/>
                    </a:ext>
                  </a:extLst>
                </a:gridCol>
                <a:gridCol w="1354667">
                  <a:extLst>
                    <a:ext uri="{9D8B030D-6E8A-4147-A177-3AD203B41FA5}">
                      <a16:colId xmlns:a16="http://schemas.microsoft.com/office/drawing/2014/main" val="690127111"/>
                    </a:ext>
                  </a:extLst>
                </a:gridCol>
              </a:tblGrid>
              <a:tr h="370840">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extLst>
                  <a:ext uri="{0D108BD9-81ED-4DB2-BD59-A6C34878D82A}">
                    <a16:rowId xmlns:a16="http://schemas.microsoft.com/office/drawing/2014/main" val="837091952"/>
                  </a:ext>
                </a:extLst>
              </a:tr>
              <a:tr h="370840">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1</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extLst>
                  <a:ext uri="{0D108BD9-81ED-4DB2-BD59-A6C34878D82A}">
                    <a16:rowId xmlns:a16="http://schemas.microsoft.com/office/drawing/2014/main" val="2555807937"/>
                  </a:ext>
                </a:extLst>
              </a:tr>
              <a:tr h="370840">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2</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extLst>
                  <a:ext uri="{0D108BD9-81ED-4DB2-BD59-A6C34878D82A}">
                    <a16:rowId xmlns:a16="http://schemas.microsoft.com/office/drawing/2014/main" val="1470886226"/>
                  </a:ext>
                </a:extLst>
              </a:tr>
              <a:tr h="370840">
                <a:tc>
                  <a:txBody>
                    <a:bodyPr/>
                    <a:lstStyle/>
                    <a:p>
                      <a:r>
                        <a:rPr lang="en-US" b="0" i="0" dirty="0">
                          <a:latin typeface="Times New Roman" panose="02020603050405020304" pitchFamily="18" charset="0"/>
                        </a:rPr>
                        <a:t>5</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4</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tc>
                  <a:txBody>
                    <a:bodyPr/>
                    <a:lstStyle/>
                    <a:p>
                      <a:r>
                        <a:rPr lang="en-US" b="0" i="0" dirty="0">
                          <a:latin typeface="Times New Roman" panose="02020603050405020304" pitchFamily="18" charset="0"/>
                        </a:rPr>
                        <a:t>0</a:t>
                      </a:r>
                    </a:p>
                  </a:txBody>
                  <a:tcPr/>
                </a:tc>
                <a:extLst>
                  <a:ext uri="{0D108BD9-81ED-4DB2-BD59-A6C34878D82A}">
                    <a16:rowId xmlns:a16="http://schemas.microsoft.com/office/drawing/2014/main" val="958327990"/>
                  </a:ext>
                </a:extLst>
              </a:tr>
            </a:tbl>
          </a:graphicData>
        </a:graphic>
      </p:graphicFrame>
      <p:sp>
        <p:nvSpPr>
          <p:cNvPr id="6" name="TextBox 5">
            <a:extLst>
              <a:ext uri="{FF2B5EF4-FFF2-40B4-BE49-F238E27FC236}">
                <a16:creationId xmlns:a16="http://schemas.microsoft.com/office/drawing/2014/main" id="{A0744688-E71F-37C2-659B-0E64D02F067F}"/>
              </a:ext>
            </a:extLst>
          </p:cNvPr>
          <p:cNvSpPr txBox="1"/>
          <p:nvPr/>
        </p:nvSpPr>
        <p:spPr>
          <a:xfrm>
            <a:off x="1025771" y="1979901"/>
            <a:ext cx="7579605" cy="369332"/>
          </a:xfrm>
          <a:prstGeom prst="rect">
            <a:avLst/>
          </a:prstGeom>
          <a:noFill/>
        </p:spPr>
        <p:txBody>
          <a:bodyPr wrap="square" rtlCol="0">
            <a:spAutoFit/>
          </a:bodyPr>
          <a:lstStyle/>
          <a:p>
            <a:r>
              <a:rPr lang="en-US" dirty="0">
                <a:solidFill>
                  <a:srgbClr val="0070C0"/>
                </a:solidFill>
                <a:latin typeface="Times New Roman" panose="02020603050405020304" pitchFamily="18" charset="0"/>
                <a:cs typeface="Times New Roman" panose="02020603050405020304" pitchFamily="18" charset="0"/>
              </a:rPr>
              <a:t>0                      1                     2                         3                    4                 5</a:t>
            </a:r>
          </a:p>
        </p:txBody>
      </p:sp>
      <p:sp>
        <p:nvSpPr>
          <p:cNvPr id="7" name="TextBox 6">
            <a:extLst>
              <a:ext uri="{FF2B5EF4-FFF2-40B4-BE49-F238E27FC236}">
                <a16:creationId xmlns:a16="http://schemas.microsoft.com/office/drawing/2014/main" id="{70C51AB4-C582-D69E-3A55-D598E3725CE0}"/>
              </a:ext>
            </a:extLst>
          </p:cNvPr>
          <p:cNvSpPr txBox="1"/>
          <p:nvPr/>
        </p:nvSpPr>
        <p:spPr>
          <a:xfrm>
            <a:off x="219705" y="2349233"/>
            <a:ext cx="356190" cy="369332"/>
          </a:xfrm>
          <a:prstGeom prst="rect">
            <a:avLst/>
          </a:prstGeom>
          <a:noFill/>
        </p:spPr>
        <p:txBody>
          <a:bodyPr wrap="square" rtlCol="0">
            <a:spAutoFit/>
          </a:bodyPr>
          <a:lstStyle/>
          <a:p>
            <a:r>
              <a:rPr lang="en-US" dirty="0">
                <a:solidFill>
                  <a:srgbClr val="0070C0"/>
                </a:solidFill>
                <a:latin typeface="Times New Roman" panose="02020603050405020304" pitchFamily="18" charset="0"/>
                <a:cs typeface="Times New Roman" panose="02020603050405020304" pitchFamily="18" charset="0"/>
              </a:rPr>
              <a:t>0   </a:t>
            </a:r>
          </a:p>
        </p:txBody>
      </p:sp>
      <p:sp>
        <p:nvSpPr>
          <p:cNvPr id="8" name="TextBox 7">
            <a:extLst>
              <a:ext uri="{FF2B5EF4-FFF2-40B4-BE49-F238E27FC236}">
                <a16:creationId xmlns:a16="http://schemas.microsoft.com/office/drawing/2014/main" id="{DAF01F50-20EB-9CA3-BD45-85D27C28557F}"/>
              </a:ext>
            </a:extLst>
          </p:cNvPr>
          <p:cNvSpPr txBox="1"/>
          <p:nvPr/>
        </p:nvSpPr>
        <p:spPr>
          <a:xfrm>
            <a:off x="219705" y="2718565"/>
            <a:ext cx="356190" cy="369332"/>
          </a:xfrm>
          <a:prstGeom prst="rect">
            <a:avLst/>
          </a:prstGeom>
          <a:noFill/>
        </p:spPr>
        <p:txBody>
          <a:bodyPr wrap="square" rtlCol="0">
            <a:spAutoFit/>
          </a:bodyPr>
          <a:lstStyle/>
          <a:p>
            <a:r>
              <a:rPr lang="en-US" dirty="0">
                <a:solidFill>
                  <a:srgbClr val="0070C0"/>
                </a:solidFill>
                <a:latin typeface="Times New Roman" panose="02020603050405020304" pitchFamily="18" charset="0"/>
                <a:cs typeface="Times New Roman" panose="02020603050405020304" pitchFamily="18" charset="0"/>
              </a:rPr>
              <a:t>1   </a:t>
            </a:r>
          </a:p>
        </p:txBody>
      </p:sp>
      <p:sp>
        <p:nvSpPr>
          <p:cNvPr id="9" name="TextBox 8">
            <a:extLst>
              <a:ext uri="{FF2B5EF4-FFF2-40B4-BE49-F238E27FC236}">
                <a16:creationId xmlns:a16="http://schemas.microsoft.com/office/drawing/2014/main" id="{46D929F7-7529-5053-46A7-B9FAE343C751}"/>
              </a:ext>
            </a:extLst>
          </p:cNvPr>
          <p:cNvSpPr txBox="1"/>
          <p:nvPr/>
        </p:nvSpPr>
        <p:spPr>
          <a:xfrm>
            <a:off x="219705" y="3059668"/>
            <a:ext cx="356190" cy="369332"/>
          </a:xfrm>
          <a:prstGeom prst="rect">
            <a:avLst/>
          </a:prstGeom>
          <a:noFill/>
        </p:spPr>
        <p:txBody>
          <a:bodyPr wrap="square" rtlCol="0">
            <a:spAutoFit/>
          </a:bodyPr>
          <a:lstStyle/>
          <a:p>
            <a:r>
              <a:rPr lang="en-US" dirty="0">
                <a:solidFill>
                  <a:srgbClr val="0070C0"/>
                </a:solidFill>
                <a:latin typeface="Times New Roman" panose="02020603050405020304" pitchFamily="18" charset="0"/>
                <a:cs typeface="Times New Roman" panose="02020603050405020304" pitchFamily="18" charset="0"/>
              </a:rPr>
              <a:t>2   </a:t>
            </a:r>
          </a:p>
        </p:txBody>
      </p:sp>
      <p:sp>
        <p:nvSpPr>
          <p:cNvPr id="10" name="TextBox 9">
            <a:extLst>
              <a:ext uri="{FF2B5EF4-FFF2-40B4-BE49-F238E27FC236}">
                <a16:creationId xmlns:a16="http://schemas.microsoft.com/office/drawing/2014/main" id="{862F185D-7AFC-CCEA-0097-62A4D7DF4F4A}"/>
              </a:ext>
            </a:extLst>
          </p:cNvPr>
          <p:cNvSpPr txBox="1"/>
          <p:nvPr/>
        </p:nvSpPr>
        <p:spPr>
          <a:xfrm>
            <a:off x="219704" y="3428180"/>
            <a:ext cx="356190" cy="369332"/>
          </a:xfrm>
          <a:prstGeom prst="rect">
            <a:avLst/>
          </a:prstGeom>
          <a:noFill/>
        </p:spPr>
        <p:txBody>
          <a:bodyPr wrap="square" rtlCol="0">
            <a:spAutoFit/>
          </a:bodyPr>
          <a:lstStyle/>
          <a:p>
            <a:r>
              <a:rPr lang="en-US" dirty="0">
                <a:solidFill>
                  <a:srgbClr val="0070C0"/>
                </a:solidFill>
                <a:latin typeface="Times New Roman" panose="02020603050405020304" pitchFamily="18" charset="0"/>
                <a:cs typeface="Times New Roman" panose="02020603050405020304" pitchFamily="18" charset="0"/>
              </a:rPr>
              <a:t>3   </a:t>
            </a:r>
          </a:p>
        </p:txBody>
      </p:sp>
      <p:grpSp>
        <p:nvGrpSpPr>
          <p:cNvPr id="13" name="Group 12">
            <a:extLst>
              <a:ext uri="{FF2B5EF4-FFF2-40B4-BE49-F238E27FC236}">
                <a16:creationId xmlns:a16="http://schemas.microsoft.com/office/drawing/2014/main" id="{FE8D7561-E9EB-DBC6-6E2B-42189FA3C218}"/>
              </a:ext>
            </a:extLst>
          </p:cNvPr>
          <p:cNvGrpSpPr/>
          <p:nvPr/>
        </p:nvGrpSpPr>
        <p:grpSpPr>
          <a:xfrm>
            <a:off x="8382049" y="674600"/>
            <a:ext cx="3752837" cy="1349208"/>
            <a:chOff x="2799848" y="2564904"/>
            <a:chExt cx="3049360" cy="1349208"/>
          </a:xfrm>
        </p:grpSpPr>
        <p:sp>
          <p:nvSpPr>
            <p:cNvPr id="14" name="Rectangle 13">
              <a:extLst>
                <a:ext uri="{FF2B5EF4-FFF2-40B4-BE49-F238E27FC236}">
                  <a16:creationId xmlns:a16="http://schemas.microsoft.com/office/drawing/2014/main" id="{002CEF92-CC73-831E-50E0-B146C2B6EAD9}"/>
                </a:ext>
              </a:extLst>
            </p:cNvPr>
            <p:cNvSpPr/>
            <p:nvPr/>
          </p:nvSpPr>
          <p:spPr bwMode="auto">
            <a:xfrm>
              <a:off x="2842136" y="2628900"/>
              <a:ext cx="2707671" cy="1042024"/>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Font typeface="Wingdings" pitchFamily="2" charset="2"/>
                <a:buChar char="§"/>
              </a:pPr>
              <a:endParaRPr lang="en-US" sz="2400" dirty="0">
                <a:solidFill>
                  <a:srgbClr val="336600"/>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2CD7CC6-56CA-0538-1D76-41E627976BD5}"/>
                </a:ext>
              </a:extLst>
            </p:cNvPr>
            <p:cNvSpPr txBox="1"/>
            <p:nvPr/>
          </p:nvSpPr>
          <p:spPr>
            <a:xfrm>
              <a:off x="2799848" y="3356992"/>
              <a:ext cx="1440160" cy="338554"/>
            </a:xfrm>
            <a:prstGeom prst="rect">
              <a:avLst/>
            </a:prstGeom>
            <a:noFill/>
          </p:spPr>
          <p:txBody>
            <a:bodyPr wrap="square" rtlCol="0">
              <a:spAutoFit/>
            </a:bodyPr>
            <a:lstStyle/>
            <a:p>
              <a:pPr algn="l">
                <a:buNone/>
              </a:pPr>
              <a:r>
                <a:rPr lang="en-US" sz="1600" dirty="0">
                  <a:latin typeface="Times New Roman" panose="02020603050405020304" pitchFamily="18" charset="0"/>
                  <a:cs typeface="Times New Roman" panose="02020603050405020304" pitchFamily="18" charset="0"/>
                </a:rPr>
                <a:t>nextInColPtr</a:t>
              </a:r>
            </a:p>
          </p:txBody>
        </p:sp>
        <p:sp>
          <p:nvSpPr>
            <p:cNvPr id="16" name="Line 40">
              <a:extLst>
                <a:ext uri="{FF2B5EF4-FFF2-40B4-BE49-F238E27FC236}">
                  <a16:creationId xmlns:a16="http://schemas.microsoft.com/office/drawing/2014/main" id="{773A42FA-8512-74E3-D69D-0C73DD240DAD}"/>
                </a:ext>
              </a:extLst>
            </p:cNvPr>
            <p:cNvSpPr>
              <a:spLocks noChangeShapeType="1"/>
            </p:cNvSpPr>
            <p:nvPr/>
          </p:nvSpPr>
          <p:spPr bwMode="auto">
            <a:xfrm rot="5400000" flipV="1">
              <a:off x="3921297" y="3727340"/>
              <a:ext cx="373545" cy="0"/>
            </a:xfrm>
            <a:prstGeom prst="line">
              <a:avLst/>
            </a:prstGeom>
            <a:noFill/>
            <a:ln w="28575">
              <a:solidFill>
                <a:srgbClr val="FFCC00"/>
              </a:solidFill>
              <a:round/>
              <a:headEnd type="oval" w="med" len="med"/>
              <a:tailEnd type="triangle" w="lg" len="lg"/>
            </a:ln>
            <a:effectLst>
              <a:outerShdw blurRad="50800" dist="38100" dir="2700000" algn="tl" rotWithShape="0">
                <a:prstClr val="black">
                  <a:alpha val="40000"/>
                </a:prstClr>
              </a:outerShdw>
            </a:effectLst>
          </p:spPr>
          <p:txBody>
            <a:bodyPr/>
            <a:lstStyle/>
            <a:p>
              <a:endParaRPr lang="en-US"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4F841871-8F17-F59A-3E56-142848A5C090}"/>
                </a:ext>
              </a:extLst>
            </p:cNvPr>
            <p:cNvSpPr txBox="1"/>
            <p:nvPr/>
          </p:nvSpPr>
          <p:spPr>
            <a:xfrm>
              <a:off x="4186174" y="3356992"/>
              <a:ext cx="1396357" cy="338554"/>
            </a:xfrm>
            <a:prstGeom prst="rect">
              <a:avLst/>
            </a:prstGeom>
            <a:noFill/>
          </p:spPr>
          <p:txBody>
            <a:bodyPr wrap="square" rtlCol="0">
              <a:spAutoFit/>
            </a:bodyPr>
            <a:lstStyle/>
            <a:p>
              <a:pPr algn="l">
                <a:buNone/>
              </a:pPr>
              <a:r>
                <a:rPr lang="en-US" sz="1600" dirty="0">
                  <a:latin typeface="Times New Roman" panose="02020603050405020304" pitchFamily="18" charset="0"/>
                  <a:cs typeface="Times New Roman" panose="02020603050405020304" pitchFamily="18" charset="0"/>
                </a:rPr>
                <a:t>nextInRowPtr</a:t>
              </a:r>
            </a:p>
          </p:txBody>
        </p:sp>
        <p:sp>
          <p:nvSpPr>
            <p:cNvPr id="18" name="Line 40">
              <a:extLst>
                <a:ext uri="{FF2B5EF4-FFF2-40B4-BE49-F238E27FC236}">
                  <a16:creationId xmlns:a16="http://schemas.microsoft.com/office/drawing/2014/main" id="{33381A23-5BCF-6911-E249-0930BFBD00D6}"/>
                </a:ext>
              </a:extLst>
            </p:cNvPr>
            <p:cNvSpPr>
              <a:spLocks noChangeShapeType="1"/>
            </p:cNvSpPr>
            <p:nvPr/>
          </p:nvSpPr>
          <p:spPr bwMode="auto">
            <a:xfrm flipV="1">
              <a:off x="5485522" y="3525853"/>
              <a:ext cx="363686" cy="0"/>
            </a:xfrm>
            <a:prstGeom prst="line">
              <a:avLst/>
            </a:prstGeom>
            <a:noFill/>
            <a:ln w="28575">
              <a:solidFill>
                <a:srgbClr val="FFCC00"/>
              </a:solidFill>
              <a:round/>
              <a:headEnd type="oval" w="med" len="med"/>
              <a:tailEnd type="triangle" w="lg" len="lg"/>
            </a:ln>
            <a:effectLst>
              <a:outerShdw blurRad="50800" dist="38100" dir="2700000" algn="tl" rotWithShape="0">
                <a:prstClr val="black">
                  <a:alpha val="40000"/>
                </a:prstClr>
              </a:outerShdw>
            </a:effectLst>
          </p:spPr>
          <p:txBody>
            <a:bodyPr/>
            <a:lstStyle/>
            <a:p>
              <a:endParaRPr lang="en-US" dirty="0">
                <a:latin typeface="Times New Roman" panose="02020603050405020304" pitchFamily="18" charset="0"/>
                <a:cs typeface="Times New Roman" panose="02020603050405020304" pitchFamily="18" charset="0"/>
              </a:endParaRPr>
            </a:p>
          </p:txBody>
        </p:sp>
        <p:cxnSp>
          <p:nvCxnSpPr>
            <p:cNvPr id="19" name="Straight Connector 18">
              <a:extLst>
                <a:ext uri="{FF2B5EF4-FFF2-40B4-BE49-F238E27FC236}">
                  <a16:creationId xmlns:a16="http://schemas.microsoft.com/office/drawing/2014/main" id="{3C1F4E31-7148-1475-AE9F-1B57622C4E9E}"/>
                </a:ext>
              </a:extLst>
            </p:cNvPr>
            <p:cNvCxnSpPr/>
            <p:nvPr/>
          </p:nvCxnSpPr>
          <p:spPr bwMode="auto">
            <a:xfrm>
              <a:off x="2831123" y="3332285"/>
              <a:ext cx="2717970" cy="0"/>
            </a:xfrm>
            <a:prstGeom prst="line">
              <a:avLst/>
            </a:prstGeom>
            <a:noFill/>
            <a:ln w="9525" cap="flat" cmpd="sng" algn="ctr">
              <a:solidFill>
                <a:schemeClr val="tx1"/>
              </a:solidFill>
              <a:prstDash val="solid"/>
              <a:round/>
              <a:headEnd type="none" w="med" len="med"/>
              <a:tailEnd type="none" w="med" len="med"/>
            </a:ln>
            <a:effectLst/>
          </p:spPr>
        </p:cxnSp>
        <p:sp>
          <p:nvSpPr>
            <p:cNvPr id="20" name="TextBox 19">
              <a:extLst>
                <a:ext uri="{FF2B5EF4-FFF2-40B4-BE49-F238E27FC236}">
                  <a16:creationId xmlns:a16="http://schemas.microsoft.com/office/drawing/2014/main" id="{42FEC227-D593-30B5-B99F-4747EA08FD1F}"/>
                </a:ext>
              </a:extLst>
            </p:cNvPr>
            <p:cNvSpPr txBox="1"/>
            <p:nvPr/>
          </p:nvSpPr>
          <p:spPr>
            <a:xfrm>
              <a:off x="2842919" y="3006970"/>
              <a:ext cx="1440160" cy="400110"/>
            </a:xfrm>
            <a:prstGeom prst="rect">
              <a:avLst/>
            </a:prstGeom>
            <a:noFill/>
          </p:spPr>
          <p:txBody>
            <a:bodyPr wrap="square" rtlCol="0">
              <a:spAutoFit/>
            </a:bodyPr>
            <a:lstStyle/>
            <a:p>
              <a:pPr algn="ctr">
                <a:buNone/>
              </a:pPr>
              <a:r>
                <a:rPr lang="en-US" sz="2000" dirty="0">
                  <a:latin typeface="Times New Roman" panose="02020603050405020304" pitchFamily="18" charset="0"/>
                  <a:cs typeface="Times New Roman" panose="02020603050405020304" pitchFamily="18" charset="0"/>
                </a:rPr>
                <a:t>j  (column)</a:t>
              </a:r>
            </a:p>
          </p:txBody>
        </p:sp>
        <p:sp>
          <p:nvSpPr>
            <p:cNvPr id="21" name="TextBox 20">
              <a:extLst>
                <a:ext uri="{FF2B5EF4-FFF2-40B4-BE49-F238E27FC236}">
                  <a16:creationId xmlns:a16="http://schemas.microsoft.com/office/drawing/2014/main" id="{8B32BF84-9E09-4742-237D-E8D3FBCED44B}"/>
                </a:ext>
              </a:extLst>
            </p:cNvPr>
            <p:cNvSpPr txBox="1"/>
            <p:nvPr/>
          </p:nvSpPr>
          <p:spPr>
            <a:xfrm>
              <a:off x="4211960" y="2980470"/>
              <a:ext cx="1440160" cy="400110"/>
            </a:xfrm>
            <a:prstGeom prst="rect">
              <a:avLst/>
            </a:prstGeom>
            <a:noFill/>
          </p:spPr>
          <p:txBody>
            <a:bodyPr wrap="square" rtlCol="0">
              <a:spAutoFit/>
            </a:bodyPr>
            <a:lstStyle/>
            <a:p>
              <a:pPr algn="ctr">
                <a:buNone/>
              </a:pPr>
              <a:r>
                <a:rPr lang="en-US" sz="2000" dirty="0">
                  <a:latin typeface="Times New Roman" panose="02020603050405020304" pitchFamily="18" charset="0"/>
                  <a:cs typeface="Times New Roman" panose="02020603050405020304" pitchFamily="18" charset="0"/>
                </a:rPr>
                <a:t>i (row)</a:t>
              </a:r>
            </a:p>
          </p:txBody>
        </p:sp>
        <p:sp>
          <p:nvSpPr>
            <p:cNvPr id="22" name="TextBox 21">
              <a:extLst>
                <a:ext uri="{FF2B5EF4-FFF2-40B4-BE49-F238E27FC236}">
                  <a16:creationId xmlns:a16="http://schemas.microsoft.com/office/drawing/2014/main" id="{5AA34C51-8511-E8E2-ADF9-8B3CD92EF189}"/>
                </a:ext>
              </a:extLst>
            </p:cNvPr>
            <p:cNvSpPr txBox="1"/>
            <p:nvPr/>
          </p:nvSpPr>
          <p:spPr>
            <a:xfrm>
              <a:off x="3563888" y="2564904"/>
              <a:ext cx="1296144" cy="667875"/>
            </a:xfrm>
            <a:prstGeom prst="rect">
              <a:avLst/>
            </a:prstGeom>
            <a:noFill/>
          </p:spPr>
          <p:txBody>
            <a:bodyPr wrap="square" rtlCol="0">
              <a:spAutoFit/>
            </a:bodyPr>
            <a:lstStyle/>
            <a:p>
              <a:pPr algn="ctr">
                <a:lnSpc>
                  <a:spcPct val="110000"/>
                </a:lnSpc>
                <a:buNone/>
              </a:pPr>
              <a:r>
                <a:rPr lang="en-US" sz="2000" dirty="0">
                  <a:latin typeface="Times New Roman" panose="02020603050405020304" pitchFamily="18" charset="0"/>
                  <a:cs typeface="Times New Roman" panose="02020603050405020304" pitchFamily="18" charset="0"/>
                </a:rPr>
                <a:t>m</a:t>
              </a:r>
              <a:r>
                <a:rPr lang="en-US" sz="2000" baseline="-25000" dirty="0">
                  <a:latin typeface="Times New Roman" panose="02020603050405020304" pitchFamily="18" charset="0"/>
                  <a:cs typeface="Times New Roman" panose="02020603050405020304" pitchFamily="18" charset="0"/>
                </a:rPr>
                <a:t>i,j</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p:txBody>
        </p:sp>
        <p:cxnSp>
          <p:nvCxnSpPr>
            <p:cNvPr id="23" name="Straight Connector 22">
              <a:extLst>
                <a:ext uri="{FF2B5EF4-FFF2-40B4-BE49-F238E27FC236}">
                  <a16:creationId xmlns:a16="http://schemas.microsoft.com/office/drawing/2014/main" id="{9D186BDE-3DF5-7024-6487-60AF538659AE}"/>
                </a:ext>
              </a:extLst>
            </p:cNvPr>
            <p:cNvCxnSpPr/>
            <p:nvPr/>
          </p:nvCxnSpPr>
          <p:spPr bwMode="auto">
            <a:xfrm>
              <a:off x="2834059" y="2996952"/>
              <a:ext cx="2715035" cy="0"/>
            </a:xfrm>
            <a:prstGeom prst="line">
              <a:avLst/>
            </a:prstGeom>
            <a:noFill/>
            <a:ln w="9525" cap="flat" cmpd="sng" algn="ctr">
              <a:solidFill>
                <a:schemeClr val="tx1"/>
              </a:solidFill>
              <a:prstDash val="solid"/>
              <a:round/>
              <a:headEnd type="none" w="med" len="med"/>
              <a:tailEnd type="none" w="med" len="med"/>
            </a:ln>
            <a:effectLst/>
          </p:spPr>
        </p:cxnSp>
        <p:cxnSp>
          <p:nvCxnSpPr>
            <p:cNvPr id="24" name="Straight Connector 23">
              <a:extLst>
                <a:ext uri="{FF2B5EF4-FFF2-40B4-BE49-F238E27FC236}">
                  <a16:creationId xmlns:a16="http://schemas.microsoft.com/office/drawing/2014/main" id="{2179C73B-EEA1-138E-D71B-4DFA2D63F1F6}"/>
                </a:ext>
              </a:extLst>
            </p:cNvPr>
            <p:cNvCxnSpPr/>
            <p:nvPr/>
          </p:nvCxnSpPr>
          <p:spPr bwMode="auto">
            <a:xfrm rot="5400000">
              <a:off x="3853222" y="3335700"/>
              <a:ext cx="681419" cy="0"/>
            </a:xfrm>
            <a:prstGeom prst="line">
              <a:avLst/>
            </a:prstGeom>
            <a:noFill/>
            <a:ln w="9525" cap="flat" cmpd="sng" algn="ctr">
              <a:solidFill>
                <a:schemeClr val="tx1"/>
              </a:solidFill>
              <a:prstDash val="solid"/>
              <a:round/>
              <a:headEnd type="none" w="med" len="med"/>
              <a:tailEnd type="none" w="med" len="med"/>
            </a:ln>
            <a:effectLst/>
          </p:spPr>
        </p:cxnSp>
      </p:grpSp>
      <p:grpSp>
        <p:nvGrpSpPr>
          <p:cNvPr id="3" name="Group 2">
            <a:extLst>
              <a:ext uri="{FF2B5EF4-FFF2-40B4-BE49-F238E27FC236}">
                <a16:creationId xmlns:a16="http://schemas.microsoft.com/office/drawing/2014/main" id="{CBAE4108-812E-D57B-EA83-C730F8515C22}"/>
              </a:ext>
            </a:extLst>
          </p:cNvPr>
          <p:cNvGrpSpPr/>
          <p:nvPr/>
        </p:nvGrpSpPr>
        <p:grpSpPr>
          <a:xfrm>
            <a:off x="1384032" y="5406560"/>
            <a:ext cx="1727323" cy="1111505"/>
            <a:chOff x="3456499" y="2564904"/>
            <a:chExt cx="1403533" cy="1111505"/>
          </a:xfrm>
        </p:grpSpPr>
        <p:sp>
          <p:nvSpPr>
            <p:cNvPr id="4" name="Rectangle 3">
              <a:extLst>
                <a:ext uri="{FF2B5EF4-FFF2-40B4-BE49-F238E27FC236}">
                  <a16:creationId xmlns:a16="http://schemas.microsoft.com/office/drawing/2014/main" id="{B00C3B7D-4707-991B-6394-9B76D22C8D8E}"/>
                </a:ext>
              </a:extLst>
            </p:cNvPr>
            <p:cNvSpPr/>
            <p:nvPr/>
          </p:nvSpPr>
          <p:spPr bwMode="auto">
            <a:xfrm>
              <a:off x="3456499" y="2655969"/>
              <a:ext cx="1337133" cy="1014954"/>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Font typeface="Wingdings" pitchFamily="2" charset="2"/>
                <a:buChar char="§"/>
              </a:pPr>
              <a:endParaRPr lang="en-US" sz="2400" dirty="0">
                <a:solidFill>
                  <a:srgbClr val="33660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3F7C67ED-38E6-A71A-43E8-32250A3F499E}"/>
                </a:ext>
              </a:extLst>
            </p:cNvPr>
            <p:cNvSpPr txBox="1"/>
            <p:nvPr/>
          </p:nvSpPr>
          <p:spPr>
            <a:xfrm>
              <a:off x="3563887" y="3332285"/>
              <a:ext cx="676121" cy="338554"/>
            </a:xfrm>
            <a:prstGeom prst="rect">
              <a:avLst/>
            </a:prstGeom>
            <a:noFill/>
          </p:spPr>
          <p:txBody>
            <a:bodyPr wrap="square" rtlCol="0">
              <a:spAutoFit/>
            </a:bodyPr>
            <a:lstStyle/>
            <a:p>
              <a:pPr algn="l">
                <a:buNone/>
              </a:pPr>
              <a:r>
                <a:rPr lang="en-US" sz="1600" dirty="0">
                  <a:latin typeface="Times New Roman" panose="02020603050405020304" pitchFamily="18" charset="0"/>
                  <a:cs typeface="Times New Roman" panose="02020603050405020304" pitchFamily="18" charset="0"/>
                </a:rPr>
                <a:t>NULL</a:t>
              </a:r>
            </a:p>
          </p:txBody>
        </p:sp>
        <p:cxnSp>
          <p:nvCxnSpPr>
            <p:cNvPr id="27" name="Straight Connector 26">
              <a:extLst>
                <a:ext uri="{FF2B5EF4-FFF2-40B4-BE49-F238E27FC236}">
                  <a16:creationId xmlns:a16="http://schemas.microsoft.com/office/drawing/2014/main" id="{9B0E5F90-58E6-C6F5-FBF2-A65D7FCDED68}"/>
                </a:ext>
              </a:extLst>
            </p:cNvPr>
            <p:cNvCxnSpPr>
              <a:cxnSpLocks/>
            </p:cNvCxnSpPr>
            <p:nvPr/>
          </p:nvCxnSpPr>
          <p:spPr bwMode="auto">
            <a:xfrm>
              <a:off x="3456499" y="3332285"/>
              <a:ext cx="1337133" cy="0"/>
            </a:xfrm>
            <a:prstGeom prst="line">
              <a:avLst/>
            </a:prstGeom>
            <a:noFill/>
            <a:ln w="9525" cap="flat" cmpd="sng" algn="ctr">
              <a:solidFill>
                <a:schemeClr val="tx1"/>
              </a:solidFill>
              <a:prstDash val="solid"/>
              <a:round/>
              <a:headEnd type="none" w="med" len="med"/>
              <a:tailEnd type="none" w="med" len="med"/>
            </a:ln>
            <a:effectLst/>
          </p:spPr>
        </p:cxnSp>
        <p:sp>
          <p:nvSpPr>
            <p:cNvPr id="28" name="TextBox 27">
              <a:extLst>
                <a:ext uri="{FF2B5EF4-FFF2-40B4-BE49-F238E27FC236}">
                  <a16:creationId xmlns:a16="http://schemas.microsoft.com/office/drawing/2014/main" id="{095FADE8-667D-73B4-8DE1-AF86396B8D4D}"/>
                </a:ext>
              </a:extLst>
            </p:cNvPr>
            <p:cNvSpPr txBox="1"/>
            <p:nvPr/>
          </p:nvSpPr>
          <p:spPr>
            <a:xfrm>
              <a:off x="3563887" y="2987660"/>
              <a:ext cx="581673" cy="400110"/>
            </a:xfrm>
            <a:prstGeom prst="rect">
              <a:avLst/>
            </a:prstGeom>
            <a:noFill/>
          </p:spPr>
          <p:txBody>
            <a:bodyPr wrap="square" rtlCol="0">
              <a:spAutoFit/>
            </a:bodyPr>
            <a:lstStyle/>
            <a:p>
              <a:pPr algn="ctr">
                <a:buNone/>
              </a:pPr>
              <a:r>
                <a:rPr lang="en-US" sz="2000" dirty="0">
                  <a:latin typeface="Times New Roman" panose="02020603050405020304" pitchFamily="18" charset="0"/>
                  <a:cs typeface="Times New Roman" panose="02020603050405020304" pitchFamily="18" charset="0"/>
                </a:rPr>
                <a:t>0</a:t>
              </a:r>
            </a:p>
          </p:txBody>
        </p:sp>
        <p:sp>
          <p:nvSpPr>
            <p:cNvPr id="29" name="TextBox 28">
              <a:extLst>
                <a:ext uri="{FF2B5EF4-FFF2-40B4-BE49-F238E27FC236}">
                  <a16:creationId xmlns:a16="http://schemas.microsoft.com/office/drawing/2014/main" id="{FD217482-C7F0-2161-F47B-6B10130F5403}"/>
                </a:ext>
              </a:extLst>
            </p:cNvPr>
            <p:cNvSpPr txBox="1"/>
            <p:nvPr/>
          </p:nvSpPr>
          <p:spPr>
            <a:xfrm>
              <a:off x="4211960" y="2980470"/>
              <a:ext cx="581673" cy="400110"/>
            </a:xfrm>
            <a:prstGeom prst="rect">
              <a:avLst/>
            </a:prstGeom>
            <a:noFill/>
          </p:spPr>
          <p:txBody>
            <a:bodyPr wrap="square" rtlCol="0">
              <a:spAutoFit/>
            </a:bodyPr>
            <a:lstStyle/>
            <a:p>
              <a:pPr algn="ctr">
                <a:buNone/>
              </a:pPr>
              <a:r>
                <a:rPr lang="en-US" sz="2000" dirty="0">
                  <a:latin typeface="Times New Roman" panose="02020603050405020304" pitchFamily="18" charset="0"/>
                  <a:cs typeface="Times New Roman" panose="02020603050405020304" pitchFamily="18" charset="0"/>
                </a:rPr>
                <a:t>3</a:t>
              </a:r>
            </a:p>
          </p:txBody>
        </p:sp>
        <p:sp>
          <p:nvSpPr>
            <p:cNvPr id="30" name="TextBox 29">
              <a:extLst>
                <a:ext uri="{FF2B5EF4-FFF2-40B4-BE49-F238E27FC236}">
                  <a16:creationId xmlns:a16="http://schemas.microsoft.com/office/drawing/2014/main" id="{8EE82619-B36F-A238-3362-AD9946E78B48}"/>
                </a:ext>
              </a:extLst>
            </p:cNvPr>
            <p:cNvSpPr txBox="1"/>
            <p:nvPr/>
          </p:nvSpPr>
          <p:spPr>
            <a:xfrm>
              <a:off x="3563888" y="2564904"/>
              <a:ext cx="1296144" cy="406330"/>
            </a:xfrm>
            <a:prstGeom prst="rect">
              <a:avLst/>
            </a:prstGeom>
            <a:noFill/>
          </p:spPr>
          <p:txBody>
            <a:bodyPr wrap="square" rtlCol="0">
              <a:spAutoFit/>
            </a:bodyPr>
            <a:lstStyle/>
            <a:p>
              <a:pPr algn="ctr">
                <a:lnSpc>
                  <a:spcPct val="110000"/>
                </a:lnSpc>
                <a:buNone/>
              </a:pPr>
              <a:r>
                <a:rPr lang="en-US" sz="2000" dirty="0">
                  <a:latin typeface="Times New Roman" panose="02020603050405020304" pitchFamily="18" charset="0"/>
                  <a:cs typeface="Times New Roman" panose="02020603050405020304" pitchFamily="18" charset="0"/>
                </a:rPr>
                <a:t>5</a:t>
              </a:r>
            </a:p>
          </p:txBody>
        </p:sp>
        <p:cxnSp>
          <p:nvCxnSpPr>
            <p:cNvPr id="31" name="Straight Connector 30">
              <a:extLst>
                <a:ext uri="{FF2B5EF4-FFF2-40B4-BE49-F238E27FC236}">
                  <a16:creationId xmlns:a16="http://schemas.microsoft.com/office/drawing/2014/main" id="{B79E5847-F17D-A615-1799-5F70074CBA56}"/>
                </a:ext>
              </a:extLst>
            </p:cNvPr>
            <p:cNvCxnSpPr>
              <a:cxnSpLocks/>
            </p:cNvCxnSpPr>
            <p:nvPr/>
          </p:nvCxnSpPr>
          <p:spPr bwMode="auto">
            <a:xfrm>
              <a:off x="3456499" y="2971234"/>
              <a:ext cx="1337134" cy="25718"/>
            </a:xfrm>
            <a:prstGeom prst="line">
              <a:avLst/>
            </a:prstGeom>
            <a:noFill/>
            <a:ln w="9525" cap="flat" cmpd="sng" algn="ctr">
              <a:solidFill>
                <a:schemeClr val="tx1"/>
              </a:solidFill>
              <a:prstDash val="solid"/>
              <a:round/>
              <a:headEnd type="none" w="med" len="med"/>
              <a:tailEnd type="none" w="med" len="med"/>
            </a:ln>
            <a:effectLst/>
          </p:spPr>
        </p:cxnSp>
        <p:cxnSp>
          <p:nvCxnSpPr>
            <p:cNvPr id="32" name="Straight Connector 31">
              <a:extLst>
                <a:ext uri="{FF2B5EF4-FFF2-40B4-BE49-F238E27FC236}">
                  <a16:creationId xmlns:a16="http://schemas.microsoft.com/office/drawing/2014/main" id="{2056B974-B0BC-0DE4-5F9E-E52A3BC2AE81}"/>
                </a:ext>
              </a:extLst>
            </p:cNvPr>
            <p:cNvCxnSpPr/>
            <p:nvPr/>
          </p:nvCxnSpPr>
          <p:spPr bwMode="auto">
            <a:xfrm rot="5400000">
              <a:off x="3853222" y="3335700"/>
              <a:ext cx="681419" cy="0"/>
            </a:xfrm>
            <a:prstGeom prst="line">
              <a:avLst/>
            </a:prstGeom>
            <a:noFill/>
            <a:ln w="9525" cap="flat" cmpd="sng" algn="ctr">
              <a:solidFill>
                <a:schemeClr val="tx1"/>
              </a:solidFill>
              <a:prstDash val="solid"/>
              <a:round/>
              <a:headEnd type="none" w="med" len="med"/>
              <a:tailEnd type="none" w="med" len="med"/>
            </a:ln>
            <a:effectLst/>
          </p:spPr>
        </p:cxnSp>
      </p:grpSp>
      <p:sp>
        <p:nvSpPr>
          <p:cNvPr id="33" name="Line 40">
            <a:extLst>
              <a:ext uri="{FF2B5EF4-FFF2-40B4-BE49-F238E27FC236}">
                <a16:creationId xmlns:a16="http://schemas.microsoft.com/office/drawing/2014/main" id="{CE5E680B-334B-E4AC-4CD3-704E771CFED1}"/>
              </a:ext>
            </a:extLst>
          </p:cNvPr>
          <p:cNvSpPr>
            <a:spLocks noChangeShapeType="1"/>
          </p:cNvSpPr>
          <p:nvPr/>
        </p:nvSpPr>
        <p:spPr bwMode="auto">
          <a:xfrm flipV="1">
            <a:off x="2835964" y="6357523"/>
            <a:ext cx="733021" cy="25718"/>
          </a:xfrm>
          <a:prstGeom prst="line">
            <a:avLst/>
          </a:prstGeom>
          <a:noFill/>
          <a:ln w="28575">
            <a:solidFill>
              <a:srgbClr val="FFCC00"/>
            </a:solidFill>
            <a:round/>
            <a:headEnd type="oval" w="med" len="med"/>
            <a:tailEnd type="triangle" w="lg" len="lg"/>
          </a:ln>
          <a:effectLst>
            <a:outerShdw blurRad="50800" dist="38100" dir="2700000" algn="tl" rotWithShape="0">
              <a:prstClr val="black">
                <a:alpha val="40000"/>
              </a:prstClr>
            </a:outerShdw>
          </a:effectLst>
        </p:spPr>
        <p:txBody>
          <a:bodyPr/>
          <a:lstStyle/>
          <a:p>
            <a:endParaRPr lang="en-US" dirty="0">
              <a:latin typeface="Times New Roman" panose="02020603050405020304" pitchFamily="18" charset="0"/>
              <a:cs typeface="Times New Roman" panose="02020603050405020304" pitchFamily="18" charset="0"/>
            </a:endParaRPr>
          </a:p>
        </p:txBody>
      </p:sp>
      <p:grpSp>
        <p:nvGrpSpPr>
          <p:cNvPr id="36" name="Group 35">
            <a:extLst>
              <a:ext uri="{FF2B5EF4-FFF2-40B4-BE49-F238E27FC236}">
                <a16:creationId xmlns:a16="http://schemas.microsoft.com/office/drawing/2014/main" id="{4B0EC66B-85D6-758F-5FAD-ADE7E35B929E}"/>
              </a:ext>
            </a:extLst>
          </p:cNvPr>
          <p:cNvGrpSpPr/>
          <p:nvPr/>
        </p:nvGrpSpPr>
        <p:grpSpPr>
          <a:xfrm>
            <a:off x="6090702" y="3749102"/>
            <a:ext cx="1727323" cy="1111505"/>
            <a:chOff x="3456499" y="2564904"/>
            <a:chExt cx="1403533" cy="1111505"/>
          </a:xfrm>
        </p:grpSpPr>
        <p:sp>
          <p:nvSpPr>
            <p:cNvPr id="37" name="Rectangle 36">
              <a:extLst>
                <a:ext uri="{FF2B5EF4-FFF2-40B4-BE49-F238E27FC236}">
                  <a16:creationId xmlns:a16="http://schemas.microsoft.com/office/drawing/2014/main" id="{A6BBBB94-8252-FDFE-37E0-F5783174ECF3}"/>
                </a:ext>
              </a:extLst>
            </p:cNvPr>
            <p:cNvSpPr/>
            <p:nvPr/>
          </p:nvSpPr>
          <p:spPr bwMode="auto">
            <a:xfrm>
              <a:off x="3456499" y="2655969"/>
              <a:ext cx="1337133" cy="1014954"/>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Font typeface="Wingdings" pitchFamily="2" charset="2"/>
                <a:buChar char="§"/>
              </a:pPr>
              <a:endParaRPr lang="en-US" sz="2400" dirty="0">
                <a:solidFill>
                  <a:srgbClr val="336600"/>
                </a:solidFill>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F7A3A4AD-DB80-3038-BC4C-C3915FC5BAC3}"/>
                </a:ext>
              </a:extLst>
            </p:cNvPr>
            <p:cNvSpPr txBox="1"/>
            <p:nvPr/>
          </p:nvSpPr>
          <p:spPr>
            <a:xfrm>
              <a:off x="3563887" y="3332285"/>
              <a:ext cx="676121" cy="338554"/>
            </a:xfrm>
            <a:prstGeom prst="rect">
              <a:avLst/>
            </a:prstGeom>
            <a:noFill/>
          </p:spPr>
          <p:txBody>
            <a:bodyPr wrap="square" rtlCol="0">
              <a:spAutoFit/>
            </a:bodyPr>
            <a:lstStyle/>
            <a:p>
              <a:pPr algn="l">
                <a:buNone/>
              </a:pPr>
              <a:endParaRPr lang="en-US" sz="1600" dirty="0">
                <a:latin typeface="Times New Roman" panose="02020603050405020304" pitchFamily="18" charset="0"/>
                <a:cs typeface="Times New Roman" panose="02020603050405020304" pitchFamily="18" charset="0"/>
              </a:endParaRPr>
            </a:p>
          </p:txBody>
        </p:sp>
        <p:cxnSp>
          <p:nvCxnSpPr>
            <p:cNvPr id="39" name="Straight Connector 38">
              <a:extLst>
                <a:ext uri="{FF2B5EF4-FFF2-40B4-BE49-F238E27FC236}">
                  <a16:creationId xmlns:a16="http://schemas.microsoft.com/office/drawing/2014/main" id="{730FD9AC-EE4F-4408-04A5-1DC3DEF381CB}"/>
                </a:ext>
              </a:extLst>
            </p:cNvPr>
            <p:cNvCxnSpPr>
              <a:cxnSpLocks/>
            </p:cNvCxnSpPr>
            <p:nvPr/>
          </p:nvCxnSpPr>
          <p:spPr bwMode="auto">
            <a:xfrm>
              <a:off x="3456499" y="3332285"/>
              <a:ext cx="1337133" cy="0"/>
            </a:xfrm>
            <a:prstGeom prst="line">
              <a:avLst/>
            </a:prstGeom>
            <a:noFill/>
            <a:ln w="9525" cap="flat" cmpd="sng" algn="ctr">
              <a:solidFill>
                <a:schemeClr val="tx1"/>
              </a:solidFill>
              <a:prstDash val="solid"/>
              <a:round/>
              <a:headEnd type="none" w="med" len="med"/>
              <a:tailEnd type="none" w="med" len="med"/>
            </a:ln>
            <a:effectLst/>
          </p:spPr>
        </p:cxnSp>
        <p:sp>
          <p:nvSpPr>
            <p:cNvPr id="40" name="TextBox 39">
              <a:extLst>
                <a:ext uri="{FF2B5EF4-FFF2-40B4-BE49-F238E27FC236}">
                  <a16:creationId xmlns:a16="http://schemas.microsoft.com/office/drawing/2014/main" id="{B0D03A99-386C-442A-0548-EEEF9BC9B6A3}"/>
                </a:ext>
              </a:extLst>
            </p:cNvPr>
            <p:cNvSpPr txBox="1"/>
            <p:nvPr/>
          </p:nvSpPr>
          <p:spPr>
            <a:xfrm>
              <a:off x="3563887" y="2987660"/>
              <a:ext cx="581673" cy="400110"/>
            </a:xfrm>
            <a:prstGeom prst="rect">
              <a:avLst/>
            </a:prstGeom>
            <a:noFill/>
          </p:spPr>
          <p:txBody>
            <a:bodyPr wrap="square" rtlCol="0">
              <a:spAutoFit/>
            </a:bodyPr>
            <a:lstStyle/>
            <a:p>
              <a:pPr algn="ctr">
                <a:buNone/>
              </a:pPr>
              <a:r>
                <a:rPr lang="en-US" sz="2000" dirty="0">
                  <a:latin typeface="Times New Roman" panose="02020603050405020304" pitchFamily="18" charset="0"/>
                  <a:cs typeface="Times New Roman" panose="02020603050405020304" pitchFamily="18" charset="0"/>
                </a:rPr>
                <a:t>3</a:t>
              </a:r>
            </a:p>
          </p:txBody>
        </p:sp>
        <p:sp>
          <p:nvSpPr>
            <p:cNvPr id="41" name="TextBox 40">
              <a:extLst>
                <a:ext uri="{FF2B5EF4-FFF2-40B4-BE49-F238E27FC236}">
                  <a16:creationId xmlns:a16="http://schemas.microsoft.com/office/drawing/2014/main" id="{DFDF7FF0-2C2F-F0AF-A71B-F2D3E577C031}"/>
                </a:ext>
              </a:extLst>
            </p:cNvPr>
            <p:cNvSpPr txBox="1"/>
            <p:nvPr/>
          </p:nvSpPr>
          <p:spPr>
            <a:xfrm>
              <a:off x="4211960" y="2980470"/>
              <a:ext cx="581673" cy="400110"/>
            </a:xfrm>
            <a:prstGeom prst="rect">
              <a:avLst/>
            </a:prstGeom>
            <a:noFill/>
          </p:spPr>
          <p:txBody>
            <a:bodyPr wrap="square" rtlCol="0">
              <a:spAutoFit/>
            </a:bodyPr>
            <a:lstStyle/>
            <a:p>
              <a:pPr algn="ctr">
                <a:buNone/>
              </a:pPr>
              <a:r>
                <a:rPr lang="en-US" sz="2000" dirty="0">
                  <a:latin typeface="Times New Roman" panose="02020603050405020304" pitchFamily="18" charset="0"/>
                  <a:cs typeface="Times New Roman" panose="02020603050405020304" pitchFamily="18" charset="0"/>
                </a:rPr>
                <a:t>1</a:t>
              </a:r>
            </a:p>
          </p:txBody>
        </p:sp>
        <p:sp>
          <p:nvSpPr>
            <p:cNvPr id="42" name="TextBox 41">
              <a:extLst>
                <a:ext uri="{FF2B5EF4-FFF2-40B4-BE49-F238E27FC236}">
                  <a16:creationId xmlns:a16="http://schemas.microsoft.com/office/drawing/2014/main" id="{502E1017-B911-0DB5-2E1E-ABB093FF84FE}"/>
                </a:ext>
              </a:extLst>
            </p:cNvPr>
            <p:cNvSpPr txBox="1"/>
            <p:nvPr/>
          </p:nvSpPr>
          <p:spPr>
            <a:xfrm>
              <a:off x="3563888" y="2564904"/>
              <a:ext cx="1296144" cy="406330"/>
            </a:xfrm>
            <a:prstGeom prst="rect">
              <a:avLst/>
            </a:prstGeom>
            <a:noFill/>
          </p:spPr>
          <p:txBody>
            <a:bodyPr wrap="square" rtlCol="0">
              <a:spAutoFit/>
            </a:bodyPr>
            <a:lstStyle/>
            <a:p>
              <a:pPr algn="ctr">
                <a:lnSpc>
                  <a:spcPct val="110000"/>
                </a:lnSpc>
                <a:buNone/>
              </a:pPr>
              <a:r>
                <a:rPr lang="en-US" sz="2000" dirty="0">
                  <a:latin typeface="Times New Roman" panose="02020603050405020304" pitchFamily="18" charset="0"/>
                  <a:cs typeface="Times New Roman" panose="02020603050405020304" pitchFamily="18" charset="0"/>
                </a:rPr>
                <a:t>1</a:t>
              </a:r>
            </a:p>
          </p:txBody>
        </p:sp>
        <p:cxnSp>
          <p:nvCxnSpPr>
            <p:cNvPr id="43" name="Straight Connector 42">
              <a:extLst>
                <a:ext uri="{FF2B5EF4-FFF2-40B4-BE49-F238E27FC236}">
                  <a16:creationId xmlns:a16="http://schemas.microsoft.com/office/drawing/2014/main" id="{42DFEA08-9433-0384-0B99-443B31D2CB18}"/>
                </a:ext>
              </a:extLst>
            </p:cNvPr>
            <p:cNvCxnSpPr>
              <a:cxnSpLocks/>
            </p:cNvCxnSpPr>
            <p:nvPr/>
          </p:nvCxnSpPr>
          <p:spPr bwMode="auto">
            <a:xfrm>
              <a:off x="3456499" y="2971234"/>
              <a:ext cx="1337134" cy="25718"/>
            </a:xfrm>
            <a:prstGeom prst="line">
              <a:avLst/>
            </a:prstGeom>
            <a:noFill/>
            <a:ln w="9525" cap="flat" cmpd="sng" algn="ctr">
              <a:solidFill>
                <a:schemeClr val="tx1"/>
              </a:solidFill>
              <a:prstDash val="solid"/>
              <a:round/>
              <a:headEnd type="none" w="med" len="med"/>
              <a:tailEnd type="none" w="med" len="med"/>
            </a:ln>
            <a:effectLst/>
          </p:spPr>
        </p:cxnSp>
        <p:cxnSp>
          <p:nvCxnSpPr>
            <p:cNvPr id="44" name="Straight Connector 43">
              <a:extLst>
                <a:ext uri="{FF2B5EF4-FFF2-40B4-BE49-F238E27FC236}">
                  <a16:creationId xmlns:a16="http://schemas.microsoft.com/office/drawing/2014/main" id="{87A3F129-0F58-A5BB-56E9-499F94402A57}"/>
                </a:ext>
              </a:extLst>
            </p:cNvPr>
            <p:cNvCxnSpPr/>
            <p:nvPr/>
          </p:nvCxnSpPr>
          <p:spPr bwMode="auto">
            <a:xfrm rot="5400000">
              <a:off x="3853222" y="3335700"/>
              <a:ext cx="681419" cy="0"/>
            </a:xfrm>
            <a:prstGeom prst="line">
              <a:avLst/>
            </a:prstGeom>
            <a:noFill/>
            <a:ln w="9525" cap="flat" cmpd="sng" algn="ctr">
              <a:solidFill>
                <a:schemeClr val="tx1"/>
              </a:solidFill>
              <a:prstDash val="solid"/>
              <a:round/>
              <a:headEnd type="none" w="med" len="med"/>
              <a:tailEnd type="none" w="med" len="med"/>
            </a:ln>
            <a:effectLst/>
          </p:spPr>
        </p:cxnSp>
      </p:grpSp>
      <p:grpSp>
        <p:nvGrpSpPr>
          <p:cNvPr id="45" name="Group 44">
            <a:extLst>
              <a:ext uri="{FF2B5EF4-FFF2-40B4-BE49-F238E27FC236}">
                <a16:creationId xmlns:a16="http://schemas.microsoft.com/office/drawing/2014/main" id="{052A05FC-166F-BF78-05E5-93178D515731}"/>
              </a:ext>
            </a:extLst>
          </p:cNvPr>
          <p:cNvGrpSpPr/>
          <p:nvPr/>
        </p:nvGrpSpPr>
        <p:grpSpPr>
          <a:xfrm>
            <a:off x="3628516" y="5553390"/>
            <a:ext cx="1727323" cy="1111505"/>
            <a:chOff x="3456499" y="2564904"/>
            <a:chExt cx="1403533" cy="1111505"/>
          </a:xfrm>
        </p:grpSpPr>
        <p:sp>
          <p:nvSpPr>
            <p:cNvPr id="46" name="Rectangle 45">
              <a:extLst>
                <a:ext uri="{FF2B5EF4-FFF2-40B4-BE49-F238E27FC236}">
                  <a16:creationId xmlns:a16="http://schemas.microsoft.com/office/drawing/2014/main" id="{D598FD2B-8DE6-960C-5D56-0B286E7E9CC5}"/>
                </a:ext>
              </a:extLst>
            </p:cNvPr>
            <p:cNvSpPr/>
            <p:nvPr/>
          </p:nvSpPr>
          <p:spPr bwMode="auto">
            <a:xfrm>
              <a:off x="3456499" y="2655969"/>
              <a:ext cx="1337133" cy="1014954"/>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Font typeface="Wingdings" pitchFamily="2" charset="2"/>
                <a:buChar char="§"/>
              </a:pPr>
              <a:endParaRPr lang="en-US" sz="2400" dirty="0">
                <a:solidFill>
                  <a:srgbClr val="336600"/>
                </a:solidFill>
                <a:latin typeface="Times New Roman" panose="020206030504050203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9AE805E0-5AA4-558A-8E33-CB39A9176A0F}"/>
                </a:ext>
              </a:extLst>
            </p:cNvPr>
            <p:cNvSpPr txBox="1"/>
            <p:nvPr/>
          </p:nvSpPr>
          <p:spPr>
            <a:xfrm>
              <a:off x="3563887" y="3332285"/>
              <a:ext cx="676121" cy="338554"/>
            </a:xfrm>
            <a:prstGeom prst="rect">
              <a:avLst/>
            </a:prstGeom>
            <a:noFill/>
          </p:spPr>
          <p:txBody>
            <a:bodyPr wrap="square" rtlCol="0">
              <a:spAutoFit/>
            </a:bodyPr>
            <a:lstStyle/>
            <a:p>
              <a:pPr algn="l">
                <a:buNone/>
              </a:pPr>
              <a:r>
                <a:rPr lang="en-US" sz="1600" dirty="0">
                  <a:latin typeface="Times New Roman" panose="02020603050405020304" pitchFamily="18" charset="0"/>
                  <a:cs typeface="Times New Roman" panose="02020603050405020304" pitchFamily="18" charset="0"/>
                </a:rPr>
                <a:t>NULL</a:t>
              </a:r>
            </a:p>
          </p:txBody>
        </p:sp>
        <p:cxnSp>
          <p:nvCxnSpPr>
            <p:cNvPr id="48" name="Straight Connector 47">
              <a:extLst>
                <a:ext uri="{FF2B5EF4-FFF2-40B4-BE49-F238E27FC236}">
                  <a16:creationId xmlns:a16="http://schemas.microsoft.com/office/drawing/2014/main" id="{2F27C225-DF6F-EB8B-1315-2060319EA9E2}"/>
                </a:ext>
              </a:extLst>
            </p:cNvPr>
            <p:cNvCxnSpPr>
              <a:cxnSpLocks/>
            </p:cNvCxnSpPr>
            <p:nvPr/>
          </p:nvCxnSpPr>
          <p:spPr bwMode="auto">
            <a:xfrm>
              <a:off x="3456499" y="3332285"/>
              <a:ext cx="1337133" cy="0"/>
            </a:xfrm>
            <a:prstGeom prst="line">
              <a:avLst/>
            </a:prstGeom>
            <a:noFill/>
            <a:ln w="9525" cap="flat" cmpd="sng" algn="ctr">
              <a:solidFill>
                <a:schemeClr val="tx1"/>
              </a:solidFill>
              <a:prstDash val="solid"/>
              <a:round/>
              <a:headEnd type="none" w="med" len="med"/>
              <a:tailEnd type="none" w="med" len="med"/>
            </a:ln>
            <a:effectLst/>
          </p:spPr>
        </p:cxnSp>
        <p:sp>
          <p:nvSpPr>
            <p:cNvPr id="49" name="TextBox 48">
              <a:extLst>
                <a:ext uri="{FF2B5EF4-FFF2-40B4-BE49-F238E27FC236}">
                  <a16:creationId xmlns:a16="http://schemas.microsoft.com/office/drawing/2014/main" id="{F6F31CFC-4FBE-B35A-550C-78187158950C}"/>
                </a:ext>
              </a:extLst>
            </p:cNvPr>
            <p:cNvSpPr txBox="1"/>
            <p:nvPr/>
          </p:nvSpPr>
          <p:spPr>
            <a:xfrm>
              <a:off x="3563887" y="2987660"/>
              <a:ext cx="581673" cy="400110"/>
            </a:xfrm>
            <a:prstGeom prst="rect">
              <a:avLst/>
            </a:prstGeom>
            <a:noFill/>
          </p:spPr>
          <p:txBody>
            <a:bodyPr wrap="square" rtlCol="0">
              <a:spAutoFit/>
            </a:bodyPr>
            <a:lstStyle/>
            <a:p>
              <a:pPr algn="ctr">
                <a:buNone/>
              </a:pPr>
              <a:r>
                <a:rPr lang="en-US" sz="2000" dirty="0">
                  <a:latin typeface="Times New Roman" panose="02020603050405020304" pitchFamily="18" charset="0"/>
                  <a:cs typeface="Times New Roman" panose="02020603050405020304" pitchFamily="18" charset="0"/>
                </a:rPr>
                <a:t>2</a:t>
              </a:r>
            </a:p>
          </p:txBody>
        </p:sp>
        <p:sp>
          <p:nvSpPr>
            <p:cNvPr id="50" name="TextBox 49">
              <a:extLst>
                <a:ext uri="{FF2B5EF4-FFF2-40B4-BE49-F238E27FC236}">
                  <a16:creationId xmlns:a16="http://schemas.microsoft.com/office/drawing/2014/main" id="{3B642B19-F7EA-FDF5-0DA1-3F5DAF02FC7E}"/>
                </a:ext>
              </a:extLst>
            </p:cNvPr>
            <p:cNvSpPr txBox="1"/>
            <p:nvPr/>
          </p:nvSpPr>
          <p:spPr>
            <a:xfrm>
              <a:off x="4211960" y="2980470"/>
              <a:ext cx="581673" cy="400110"/>
            </a:xfrm>
            <a:prstGeom prst="rect">
              <a:avLst/>
            </a:prstGeom>
            <a:noFill/>
          </p:spPr>
          <p:txBody>
            <a:bodyPr wrap="square" rtlCol="0">
              <a:spAutoFit/>
            </a:bodyPr>
            <a:lstStyle/>
            <a:p>
              <a:pPr algn="ctr">
                <a:buNone/>
              </a:pPr>
              <a:r>
                <a:rPr lang="en-US" sz="2000" dirty="0">
                  <a:latin typeface="Times New Roman" panose="02020603050405020304" pitchFamily="18" charset="0"/>
                  <a:cs typeface="Times New Roman" panose="02020603050405020304" pitchFamily="18" charset="0"/>
                </a:rPr>
                <a:t>3</a:t>
              </a:r>
            </a:p>
          </p:txBody>
        </p:sp>
        <p:sp>
          <p:nvSpPr>
            <p:cNvPr id="51" name="TextBox 50">
              <a:extLst>
                <a:ext uri="{FF2B5EF4-FFF2-40B4-BE49-F238E27FC236}">
                  <a16:creationId xmlns:a16="http://schemas.microsoft.com/office/drawing/2014/main" id="{2928BCB1-113E-924E-58AA-DF876EE8A9FD}"/>
                </a:ext>
              </a:extLst>
            </p:cNvPr>
            <p:cNvSpPr txBox="1"/>
            <p:nvPr/>
          </p:nvSpPr>
          <p:spPr>
            <a:xfrm>
              <a:off x="3563888" y="2564904"/>
              <a:ext cx="1296144" cy="406330"/>
            </a:xfrm>
            <a:prstGeom prst="rect">
              <a:avLst/>
            </a:prstGeom>
            <a:noFill/>
          </p:spPr>
          <p:txBody>
            <a:bodyPr wrap="square" rtlCol="0">
              <a:spAutoFit/>
            </a:bodyPr>
            <a:lstStyle/>
            <a:p>
              <a:pPr algn="ctr">
                <a:lnSpc>
                  <a:spcPct val="110000"/>
                </a:lnSpc>
                <a:buNone/>
              </a:pPr>
              <a:r>
                <a:rPr lang="en-US" sz="2000" dirty="0">
                  <a:latin typeface="Times New Roman" panose="02020603050405020304" pitchFamily="18" charset="0"/>
                  <a:cs typeface="Times New Roman" panose="02020603050405020304" pitchFamily="18" charset="0"/>
                </a:rPr>
                <a:t>4</a:t>
              </a:r>
            </a:p>
          </p:txBody>
        </p:sp>
        <p:cxnSp>
          <p:nvCxnSpPr>
            <p:cNvPr id="52" name="Straight Connector 51">
              <a:extLst>
                <a:ext uri="{FF2B5EF4-FFF2-40B4-BE49-F238E27FC236}">
                  <a16:creationId xmlns:a16="http://schemas.microsoft.com/office/drawing/2014/main" id="{7CC08394-DE99-3427-18B4-FB6C26975B58}"/>
                </a:ext>
              </a:extLst>
            </p:cNvPr>
            <p:cNvCxnSpPr>
              <a:cxnSpLocks/>
            </p:cNvCxnSpPr>
            <p:nvPr/>
          </p:nvCxnSpPr>
          <p:spPr bwMode="auto">
            <a:xfrm>
              <a:off x="3456499" y="2971234"/>
              <a:ext cx="1337134" cy="25718"/>
            </a:xfrm>
            <a:prstGeom prst="line">
              <a:avLst/>
            </a:prstGeom>
            <a:noFill/>
            <a:ln w="9525" cap="flat" cmpd="sng" algn="ctr">
              <a:solidFill>
                <a:schemeClr val="tx1"/>
              </a:solidFill>
              <a:prstDash val="solid"/>
              <a:round/>
              <a:headEnd type="none" w="med" len="med"/>
              <a:tailEnd type="none" w="med" len="med"/>
            </a:ln>
            <a:effectLst/>
          </p:spPr>
        </p:cxnSp>
        <p:cxnSp>
          <p:nvCxnSpPr>
            <p:cNvPr id="53" name="Straight Connector 52">
              <a:extLst>
                <a:ext uri="{FF2B5EF4-FFF2-40B4-BE49-F238E27FC236}">
                  <a16:creationId xmlns:a16="http://schemas.microsoft.com/office/drawing/2014/main" id="{3F90C3BF-04BC-4B76-E453-02E5C6BC4781}"/>
                </a:ext>
              </a:extLst>
            </p:cNvPr>
            <p:cNvCxnSpPr/>
            <p:nvPr/>
          </p:nvCxnSpPr>
          <p:spPr bwMode="auto">
            <a:xfrm rot="5400000">
              <a:off x="3853222" y="3335700"/>
              <a:ext cx="681419" cy="0"/>
            </a:xfrm>
            <a:prstGeom prst="line">
              <a:avLst/>
            </a:prstGeom>
            <a:noFill/>
            <a:ln w="9525" cap="flat" cmpd="sng" algn="ctr">
              <a:solidFill>
                <a:schemeClr val="tx1"/>
              </a:solidFill>
              <a:prstDash val="solid"/>
              <a:round/>
              <a:headEnd type="none" w="med" len="med"/>
              <a:tailEnd type="none" w="med" len="med"/>
            </a:ln>
            <a:effectLst/>
          </p:spPr>
        </p:cxnSp>
      </p:grpSp>
      <p:grpSp>
        <p:nvGrpSpPr>
          <p:cNvPr id="55" name="Group 54">
            <a:extLst>
              <a:ext uri="{FF2B5EF4-FFF2-40B4-BE49-F238E27FC236}">
                <a16:creationId xmlns:a16="http://schemas.microsoft.com/office/drawing/2014/main" id="{1D559BFC-B326-C5C7-DE03-DFEFA3BBEB5A}"/>
              </a:ext>
            </a:extLst>
          </p:cNvPr>
          <p:cNvGrpSpPr/>
          <p:nvPr/>
        </p:nvGrpSpPr>
        <p:grpSpPr>
          <a:xfrm>
            <a:off x="6090702" y="5067216"/>
            <a:ext cx="1727323" cy="1111505"/>
            <a:chOff x="3456499" y="2564904"/>
            <a:chExt cx="1403533" cy="1111505"/>
          </a:xfrm>
        </p:grpSpPr>
        <p:sp>
          <p:nvSpPr>
            <p:cNvPr id="56" name="Rectangle 55">
              <a:extLst>
                <a:ext uri="{FF2B5EF4-FFF2-40B4-BE49-F238E27FC236}">
                  <a16:creationId xmlns:a16="http://schemas.microsoft.com/office/drawing/2014/main" id="{05AAEFC7-B3EE-A818-D739-5A424B9E45CF}"/>
                </a:ext>
              </a:extLst>
            </p:cNvPr>
            <p:cNvSpPr/>
            <p:nvPr/>
          </p:nvSpPr>
          <p:spPr bwMode="auto">
            <a:xfrm>
              <a:off x="3456499" y="2655969"/>
              <a:ext cx="1337133" cy="1014954"/>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Font typeface="Wingdings" pitchFamily="2" charset="2"/>
                <a:buChar char="§"/>
              </a:pPr>
              <a:endParaRPr lang="en-US" sz="2400" dirty="0">
                <a:solidFill>
                  <a:srgbClr val="336600"/>
                </a:solidFill>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1BD65C3E-1EB4-6265-4C4C-202C0200985B}"/>
                </a:ext>
              </a:extLst>
            </p:cNvPr>
            <p:cNvSpPr txBox="1"/>
            <p:nvPr/>
          </p:nvSpPr>
          <p:spPr>
            <a:xfrm>
              <a:off x="3563887" y="3332285"/>
              <a:ext cx="676121" cy="338554"/>
            </a:xfrm>
            <a:prstGeom prst="rect">
              <a:avLst/>
            </a:prstGeom>
            <a:noFill/>
          </p:spPr>
          <p:txBody>
            <a:bodyPr wrap="square" rtlCol="0">
              <a:spAutoFit/>
            </a:bodyPr>
            <a:lstStyle/>
            <a:p>
              <a:pPr algn="l">
                <a:buNone/>
              </a:pPr>
              <a:r>
                <a:rPr lang="en-US" sz="1600" dirty="0">
                  <a:latin typeface="Times New Roman" panose="02020603050405020304" pitchFamily="18" charset="0"/>
                  <a:cs typeface="Times New Roman" panose="02020603050405020304" pitchFamily="18" charset="0"/>
                </a:rPr>
                <a:t>NULL</a:t>
              </a:r>
            </a:p>
          </p:txBody>
        </p:sp>
        <p:cxnSp>
          <p:nvCxnSpPr>
            <p:cNvPr id="58" name="Straight Connector 57">
              <a:extLst>
                <a:ext uri="{FF2B5EF4-FFF2-40B4-BE49-F238E27FC236}">
                  <a16:creationId xmlns:a16="http://schemas.microsoft.com/office/drawing/2014/main" id="{14FA148A-E4D5-C625-9F01-6169226A9B98}"/>
                </a:ext>
              </a:extLst>
            </p:cNvPr>
            <p:cNvCxnSpPr>
              <a:cxnSpLocks/>
            </p:cNvCxnSpPr>
            <p:nvPr/>
          </p:nvCxnSpPr>
          <p:spPr bwMode="auto">
            <a:xfrm>
              <a:off x="3456499" y="3332285"/>
              <a:ext cx="1337133" cy="0"/>
            </a:xfrm>
            <a:prstGeom prst="line">
              <a:avLst/>
            </a:prstGeom>
            <a:noFill/>
            <a:ln w="9525" cap="flat" cmpd="sng" algn="ctr">
              <a:solidFill>
                <a:schemeClr val="tx1"/>
              </a:solidFill>
              <a:prstDash val="solid"/>
              <a:round/>
              <a:headEnd type="none" w="med" len="med"/>
              <a:tailEnd type="none" w="med" len="med"/>
            </a:ln>
            <a:effectLst/>
          </p:spPr>
        </p:cxnSp>
        <p:sp>
          <p:nvSpPr>
            <p:cNvPr id="59" name="TextBox 58">
              <a:extLst>
                <a:ext uri="{FF2B5EF4-FFF2-40B4-BE49-F238E27FC236}">
                  <a16:creationId xmlns:a16="http://schemas.microsoft.com/office/drawing/2014/main" id="{E0917E51-6F5E-3B5D-9AC6-ADE36A04FE22}"/>
                </a:ext>
              </a:extLst>
            </p:cNvPr>
            <p:cNvSpPr txBox="1"/>
            <p:nvPr/>
          </p:nvSpPr>
          <p:spPr>
            <a:xfrm>
              <a:off x="3563887" y="2987660"/>
              <a:ext cx="581673" cy="400110"/>
            </a:xfrm>
            <a:prstGeom prst="rect">
              <a:avLst/>
            </a:prstGeom>
            <a:noFill/>
          </p:spPr>
          <p:txBody>
            <a:bodyPr wrap="square" rtlCol="0">
              <a:spAutoFit/>
            </a:bodyPr>
            <a:lstStyle/>
            <a:p>
              <a:pPr algn="ctr">
                <a:buNone/>
              </a:pPr>
              <a:r>
                <a:rPr lang="en-US" sz="2000" dirty="0">
                  <a:latin typeface="Times New Roman" panose="02020603050405020304" pitchFamily="18" charset="0"/>
                  <a:cs typeface="Times New Roman" panose="02020603050405020304" pitchFamily="18" charset="0"/>
                </a:rPr>
                <a:t>3</a:t>
              </a:r>
            </a:p>
          </p:txBody>
        </p:sp>
        <p:sp>
          <p:nvSpPr>
            <p:cNvPr id="60" name="TextBox 59">
              <a:extLst>
                <a:ext uri="{FF2B5EF4-FFF2-40B4-BE49-F238E27FC236}">
                  <a16:creationId xmlns:a16="http://schemas.microsoft.com/office/drawing/2014/main" id="{E493B72E-7F01-45BD-0B7A-BE38EF8BA7A6}"/>
                </a:ext>
              </a:extLst>
            </p:cNvPr>
            <p:cNvSpPr txBox="1"/>
            <p:nvPr/>
          </p:nvSpPr>
          <p:spPr>
            <a:xfrm>
              <a:off x="4211960" y="2980470"/>
              <a:ext cx="581673" cy="400110"/>
            </a:xfrm>
            <a:prstGeom prst="rect">
              <a:avLst/>
            </a:prstGeom>
            <a:noFill/>
          </p:spPr>
          <p:txBody>
            <a:bodyPr wrap="square" rtlCol="0">
              <a:spAutoFit/>
            </a:bodyPr>
            <a:lstStyle/>
            <a:p>
              <a:pPr algn="ctr">
                <a:buNone/>
              </a:pPr>
              <a:r>
                <a:rPr lang="en-US" sz="2000" dirty="0">
                  <a:latin typeface="Times New Roman" panose="02020603050405020304" pitchFamily="18" charset="0"/>
                  <a:cs typeface="Times New Roman" panose="02020603050405020304" pitchFamily="18" charset="0"/>
                </a:rPr>
                <a:t>2</a:t>
              </a:r>
            </a:p>
          </p:txBody>
        </p:sp>
        <p:sp>
          <p:nvSpPr>
            <p:cNvPr id="61" name="TextBox 60">
              <a:extLst>
                <a:ext uri="{FF2B5EF4-FFF2-40B4-BE49-F238E27FC236}">
                  <a16:creationId xmlns:a16="http://schemas.microsoft.com/office/drawing/2014/main" id="{2182AE65-1D26-9CD2-2E79-0A315E316533}"/>
                </a:ext>
              </a:extLst>
            </p:cNvPr>
            <p:cNvSpPr txBox="1"/>
            <p:nvPr/>
          </p:nvSpPr>
          <p:spPr>
            <a:xfrm>
              <a:off x="3563888" y="2564904"/>
              <a:ext cx="1296144" cy="406330"/>
            </a:xfrm>
            <a:prstGeom prst="rect">
              <a:avLst/>
            </a:prstGeom>
            <a:noFill/>
          </p:spPr>
          <p:txBody>
            <a:bodyPr wrap="square" rtlCol="0">
              <a:spAutoFit/>
            </a:bodyPr>
            <a:lstStyle/>
            <a:p>
              <a:pPr algn="ctr">
                <a:lnSpc>
                  <a:spcPct val="110000"/>
                </a:lnSpc>
                <a:buNone/>
              </a:pPr>
              <a:r>
                <a:rPr lang="en-US" sz="2000" dirty="0">
                  <a:latin typeface="Times New Roman" panose="02020603050405020304" pitchFamily="18" charset="0"/>
                  <a:cs typeface="Times New Roman" panose="02020603050405020304" pitchFamily="18" charset="0"/>
                </a:rPr>
                <a:t>2</a:t>
              </a:r>
            </a:p>
          </p:txBody>
        </p:sp>
        <p:cxnSp>
          <p:nvCxnSpPr>
            <p:cNvPr id="62" name="Straight Connector 61">
              <a:extLst>
                <a:ext uri="{FF2B5EF4-FFF2-40B4-BE49-F238E27FC236}">
                  <a16:creationId xmlns:a16="http://schemas.microsoft.com/office/drawing/2014/main" id="{26C00D71-71BE-F006-31C9-3F5DD40C692F}"/>
                </a:ext>
              </a:extLst>
            </p:cNvPr>
            <p:cNvCxnSpPr>
              <a:cxnSpLocks/>
            </p:cNvCxnSpPr>
            <p:nvPr/>
          </p:nvCxnSpPr>
          <p:spPr bwMode="auto">
            <a:xfrm>
              <a:off x="3456499" y="2971234"/>
              <a:ext cx="1337134" cy="25718"/>
            </a:xfrm>
            <a:prstGeom prst="line">
              <a:avLst/>
            </a:prstGeom>
            <a:noFill/>
            <a:ln w="9525" cap="flat" cmpd="sng" algn="ctr">
              <a:solidFill>
                <a:schemeClr val="tx1"/>
              </a:solidFill>
              <a:prstDash val="solid"/>
              <a:round/>
              <a:headEnd type="none" w="med" len="med"/>
              <a:tailEnd type="none" w="med" len="med"/>
            </a:ln>
            <a:effectLst/>
          </p:spPr>
        </p:cxnSp>
        <p:cxnSp>
          <p:nvCxnSpPr>
            <p:cNvPr id="63" name="Straight Connector 62">
              <a:extLst>
                <a:ext uri="{FF2B5EF4-FFF2-40B4-BE49-F238E27FC236}">
                  <a16:creationId xmlns:a16="http://schemas.microsoft.com/office/drawing/2014/main" id="{8233C83D-25A1-013E-6A42-BD7BAC530F70}"/>
                </a:ext>
              </a:extLst>
            </p:cNvPr>
            <p:cNvCxnSpPr/>
            <p:nvPr/>
          </p:nvCxnSpPr>
          <p:spPr bwMode="auto">
            <a:xfrm rot="5400000">
              <a:off x="3853222" y="3335700"/>
              <a:ext cx="681419" cy="0"/>
            </a:xfrm>
            <a:prstGeom prst="line">
              <a:avLst/>
            </a:prstGeom>
            <a:noFill/>
            <a:ln w="9525" cap="flat" cmpd="sng" algn="ctr">
              <a:solidFill>
                <a:schemeClr val="tx1"/>
              </a:solidFill>
              <a:prstDash val="solid"/>
              <a:round/>
              <a:headEnd type="none" w="med" len="med"/>
              <a:tailEnd type="none" w="med" len="med"/>
            </a:ln>
            <a:effectLst/>
          </p:spPr>
        </p:cxnSp>
      </p:grpSp>
      <p:sp>
        <p:nvSpPr>
          <p:cNvPr id="64" name="Line 40">
            <a:extLst>
              <a:ext uri="{FF2B5EF4-FFF2-40B4-BE49-F238E27FC236}">
                <a16:creationId xmlns:a16="http://schemas.microsoft.com/office/drawing/2014/main" id="{90ACF467-32CB-29A5-390F-EAAA6FFB719C}"/>
              </a:ext>
            </a:extLst>
          </p:cNvPr>
          <p:cNvSpPr>
            <a:spLocks noChangeShapeType="1"/>
          </p:cNvSpPr>
          <p:nvPr/>
        </p:nvSpPr>
        <p:spPr bwMode="auto">
          <a:xfrm>
            <a:off x="6362803" y="4706811"/>
            <a:ext cx="0" cy="554556"/>
          </a:xfrm>
          <a:prstGeom prst="line">
            <a:avLst/>
          </a:prstGeom>
          <a:noFill/>
          <a:ln w="28575">
            <a:solidFill>
              <a:srgbClr val="FFCC00"/>
            </a:solidFill>
            <a:round/>
            <a:headEnd type="oval" w="med" len="med"/>
            <a:tailEnd type="triangle" w="lg" len="lg"/>
          </a:ln>
          <a:effectLst>
            <a:outerShdw blurRad="50800" dist="38100" dir="2700000" algn="tl" rotWithShape="0">
              <a:prstClr val="black">
                <a:alpha val="40000"/>
              </a:prstClr>
            </a:outerShdw>
          </a:effectLst>
        </p:spPr>
        <p:txBody>
          <a:bodyPr/>
          <a:lstStyle/>
          <a:p>
            <a:endParaRPr lang="en-US" dirty="0">
              <a:latin typeface="Times New Roman" panose="02020603050405020304" pitchFamily="18" charset="0"/>
              <a:cs typeface="Times New Roman" panose="02020603050405020304" pitchFamily="18" charset="0"/>
            </a:endParaRPr>
          </a:p>
        </p:txBody>
      </p:sp>
      <p:sp>
        <p:nvSpPr>
          <p:cNvPr id="65" name="TextBox 64">
            <a:extLst>
              <a:ext uri="{FF2B5EF4-FFF2-40B4-BE49-F238E27FC236}">
                <a16:creationId xmlns:a16="http://schemas.microsoft.com/office/drawing/2014/main" id="{A8F119EC-CB5E-E9A4-99CA-71CB9C5DEF6D}"/>
              </a:ext>
            </a:extLst>
          </p:cNvPr>
          <p:cNvSpPr txBox="1"/>
          <p:nvPr/>
        </p:nvSpPr>
        <p:spPr>
          <a:xfrm>
            <a:off x="7020445" y="5810534"/>
            <a:ext cx="832100" cy="338554"/>
          </a:xfrm>
          <a:prstGeom prst="rect">
            <a:avLst/>
          </a:prstGeom>
          <a:noFill/>
        </p:spPr>
        <p:txBody>
          <a:bodyPr wrap="square" rtlCol="0">
            <a:spAutoFit/>
          </a:bodyPr>
          <a:lstStyle/>
          <a:p>
            <a:pPr algn="l">
              <a:buNone/>
            </a:pPr>
            <a:r>
              <a:rPr lang="en-US" sz="1600" dirty="0">
                <a:latin typeface="Times New Roman" panose="02020603050405020304" pitchFamily="18" charset="0"/>
                <a:cs typeface="Times New Roman" panose="02020603050405020304" pitchFamily="18" charset="0"/>
              </a:rPr>
              <a:t>NULL</a:t>
            </a:r>
          </a:p>
        </p:txBody>
      </p:sp>
      <p:sp>
        <p:nvSpPr>
          <p:cNvPr id="66" name="TextBox 65">
            <a:extLst>
              <a:ext uri="{FF2B5EF4-FFF2-40B4-BE49-F238E27FC236}">
                <a16:creationId xmlns:a16="http://schemas.microsoft.com/office/drawing/2014/main" id="{A0F3FD2E-5E1B-C030-9BD0-22790B2D8A5C}"/>
              </a:ext>
            </a:extLst>
          </p:cNvPr>
          <p:cNvSpPr txBox="1"/>
          <p:nvPr/>
        </p:nvSpPr>
        <p:spPr>
          <a:xfrm>
            <a:off x="6938084" y="4544225"/>
            <a:ext cx="832100" cy="338554"/>
          </a:xfrm>
          <a:prstGeom prst="rect">
            <a:avLst/>
          </a:prstGeom>
          <a:noFill/>
        </p:spPr>
        <p:txBody>
          <a:bodyPr wrap="square" rtlCol="0">
            <a:spAutoFit/>
          </a:bodyPr>
          <a:lstStyle/>
          <a:p>
            <a:pPr algn="l">
              <a:buNone/>
            </a:pPr>
            <a:r>
              <a:rPr lang="en-US" sz="1600" dirty="0">
                <a:latin typeface="Times New Roman" panose="02020603050405020304" pitchFamily="18" charset="0"/>
                <a:cs typeface="Times New Roman" panose="02020603050405020304" pitchFamily="18" charset="0"/>
              </a:rPr>
              <a:t>NULL</a:t>
            </a:r>
          </a:p>
        </p:txBody>
      </p:sp>
    </p:spTree>
    <p:extLst>
      <p:ext uri="{BB962C8B-B14F-4D97-AF65-F5344CB8AC3E}">
        <p14:creationId xmlns:p14="http://schemas.microsoft.com/office/powerpoint/2010/main" val="4252200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row arrow to 882,667"/>
          <p:cNvSpPr/>
          <p:nvPr/>
        </p:nvSpPr>
        <p:spPr bwMode="auto">
          <a:xfrm rot="16200000">
            <a:off x="8870285" y="2316345"/>
            <a:ext cx="140678" cy="1728862"/>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grpSp>
        <p:nvGrpSpPr>
          <p:cNvPr id="564" name="882,801"/>
          <p:cNvGrpSpPr/>
          <p:nvPr/>
        </p:nvGrpSpPr>
        <p:grpSpPr>
          <a:xfrm>
            <a:off x="9717876" y="4653753"/>
            <a:ext cx="579293" cy="433289"/>
            <a:chOff x="539552" y="1556792"/>
            <a:chExt cx="579293" cy="433289"/>
          </a:xfrm>
          <a:effectLst>
            <a:outerShdw blurRad="50800" dist="38100" dir="2700000" algn="tl" rotWithShape="0">
              <a:prstClr val="black">
                <a:alpha val="40000"/>
              </a:prstClr>
            </a:outerShdw>
          </a:effectLst>
        </p:grpSpPr>
        <p:grpSp>
          <p:nvGrpSpPr>
            <p:cNvPr id="565" name="Group 287"/>
            <p:cNvGrpSpPr/>
            <p:nvPr/>
          </p:nvGrpSpPr>
          <p:grpSpPr>
            <a:xfrm>
              <a:off x="539553" y="1700808"/>
              <a:ext cx="579292" cy="144016"/>
              <a:chOff x="2483768" y="5013176"/>
              <a:chExt cx="579292" cy="144016"/>
            </a:xfrm>
          </p:grpSpPr>
          <p:sp>
            <p:nvSpPr>
              <p:cNvPr id="570" name="Rectangle 569"/>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801</a:t>
                </a:r>
                <a:endParaRPr lang="en-US" sz="1200" dirty="0">
                  <a:solidFill>
                    <a:srgbClr val="336600"/>
                  </a:solidFill>
                  <a:latin typeface="Times New Roman" panose="02020603050405020304" pitchFamily="18" charset="0"/>
                </a:endParaRPr>
              </a:p>
            </p:txBody>
          </p:sp>
          <p:sp>
            <p:nvSpPr>
              <p:cNvPr id="571" name="Rectangle 570"/>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882</a:t>
                </a:r>
              </a:p>
            </p:txBody>
          </p:sp>
        </p:grpSp>
        <p:sp>
          <p:nvSpPr>
            <p:cNvPr id="566" name="Rectangle 565"/>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0.17</a:t>
              </a:r>
              <a:endParaRPr lang="en-US" sz="1200" dirty="0">
                <a:solidFill>
                  <a:srgbClr val="336600"/>
                </a:solidFill>
                <a:latin typeface="Times New Roman" panose="02020603050405020304" pitchFamily="18" charset="0"/>
              </a:endParaRPr>
            </a:p>
          </p:txBody>
        </p:sp>
        <p:grpSp>
          <p:nvGrpSpPr>
            <p:cNvPr id="567" name="Group 296"/>
            <p:cNvGrpSpPr/>
            <p:nvPr/>
          </p:nvGrpSpPr>
          <p:grpSpPr>
            <a:xfrm>
              <a:off x="539553" y="1846065"/>
              <a:ext cx="579292" cy="144016"/>
              <a:chOff x="2483768" y="5013176"/>
              <a:chExt cx="579292" cy="144016"/>
            </a:xfrm>
          </p:grpSpPr>
          <p:sp>
            <p:nvSpPr>
              <p:cNvPr id="568" name="Rectangle 567"/>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569" name="Rectangle 568"/>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440" name="Group 439"/>
          <p:cNvGrpSpPr/>
          <p:nvPr/>
        </p:nvGrpSpPr>
        <p:grpSpPr>
          <a:xfrm>
            <a:off x="9759838" y="5011375"/>
            <a:ext cx="192172" cy="413481"/>
            <a:chOff x="2003564" y="2071545"/>
            <a:chExt cx="192172" cy="413481"/>
          </a:xfrm>
          <a:effectLst>
            <a:outerShdw blurRad="50800" dist="38100" dir="2700000" algn="tl" rotWithShape="0">
              <a:prstClr val="black">
                <a:alpha val="40000"/>
              </a:prstClr>
            </a:outerShdw>
          </a:effectLst>
        </p:grpSpPr>
        <p:sp>
          <p:nvSpPr>
            <p:cNvPr id="441" name="Line 40"/>
            <p:cNvSpPr>
              <a:spLocks noChangeShapeType="1"/>
            </p:cNvSpPr>
            <p:nvPr/>
          </p:nvSpPr>
          <p:spPr bwMode="auto">
            <a:xfrm rot="5400000" flipV="1">
              <a:off x="1955954" y="2218193"/>
              <a:ext cx="293295" cy="0"/>
            </a:xfrm>
            <a:prstGeom prst="line">
              <a:avLst/>
            </a:prstGeom>
            <a:noFill/>
            <a:ln w="28575">
              <a:solidFill>
                <a:schemeClr val="bg1">
                  <a:lumMod val="50000"/>
                </a:schemeClr>
              </a:solidFill>
              <a:round/>
              <a:headEnd type="oval" w="med" len="med"/>
              <a:tailEnd type="triangle" w="med" len="med"/>
            </a:ln>
            <a:effectLst/>
          </p:spPr>
          <p:txBody>
            <a:bodyPr/>
            <a:lstStyle/>
            <a:p>
              <a:pPr>
                <a:buClr>
                  <a:srgbClr val="006600"/>
                </a:buClr>
              </a:pPr>
              <a:endParaRPr lang="en-US" sz="1200" dirty="0">
                <a:latin typeface="Times New Roman" panose="02020603050405020304" pitchFamily="18" charset="0"/>
              </a:endParaRPr>
            </a:p>
          </p:txBody>
        </p:sp>
        <p:sp>
          <p:nvSpPr>
            <p:cNvPr id="442" name="Line 26"/>
            <p:cNvSpPr>
              <a:spLocks noChangeShapeType="1"/>
            </p:cNvSpPr>
            <p:nvPr/>
          </p:nvSpPr>
          <p:spPr bwMode="auto">
            <a:xfrm>
              <a:off x="2003564" y="2388340"/>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443" name="Line 27"/>
            <p:cNvSpPr>
              <a:spLocks noChangeShapeType="1"/>
            </p:cNvSpPr>
            <p:nvPr/>
          </p:nvSpPr>
          <p:spPr bwMode="auto">
            <a:xfrm>
              <a:off x="2048781" y="2435444"/>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444" name="Line 28"/>
            <p:cNvSpPr>
              <a:spLocks noChangeShapeType="1"/>
            </p:cNvSpPr>
            <p:nvPr/>
          </p:nvSpPr>
          <p:spPr bwMode="auto">
            <a:xfrm>
              <a:off x="2075629" y="2485026"/>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592" name="168,667"/>
          <p:cNvGrpSpPr/>
          <p:nvPr/>
        </p:nvGrpSpPr>
        <p:grpSpPr>
          <a:xfrm>
            <a:off x="7545284" y="2988086"/>
            <a:ext cx="579293" cy="433289"/>
            <a:chOff x="539552" y="1556792"/>
            <a:chExt cx="579293" cy="433289"/>
          </a:xfrm>
          <a:effectLst>
            <a:outerShdw blurRad="50800" dist="38100" dir="2700000" algn="tl" rotWithShape="0">
              <a:prstClr val="black">
                <a:alpha val="40000"/>
              </a:prstClr>
            </a:outerShdw>
          </a:effectLst>
        </p:grpSpPr>
        <p:grpSp>
          <p:nvGrpSpPr>
            <p:cNvPr id="593" name="Group 287"/>
            <p:cNvGrpSpPr/>
            <p:nvPr/>
          </p:nvGrpSpPr>
          <p:grpSpPr>
            <a:xfrm>
              <a:off x="539553" y="1700808"/>
              <a:ext cx="579292" cy="144016"/>
              <a:chOff x="2483768" y="5013176"/>
              <a:chExt cx="579292" cy="144016"/>
            </a:xfrm>
          </p:grpSpPr>
          <p:sp>
            <p:nvSpPr>
              <p:cNvPr id="598" name="Rectangle 597"/>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667</a:t>
                </a:r>
                <a:endParaRPr lang="en-US" sz="1200" dirty="0">
                  <a:solidFill>
                    <a:srgbClr val="336600"/>
                  </a:solidFill>
                  <a:latin typeface="Times New Roman" panose="02020603050405020304" pitchFamily="18" charset="0"/>
                </a:endParaRPr>
              </a:p>
            </p:txBody>
          </p:sp>
          <p:sp>
            <p:nvSpPr>
              <p:cNvPr id="599" name="Rectangle 598"/>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168</a:t>
                </a:r>
              </a:p>
            </p:txBody>
          </p:sp>
        </p:grpSp>
        <p:sp>
          <p:nvSpPr>
            <p:cNvPr id="594" name="Rectangle 593"/>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0.62</a:t>
              </a:r>
              <a:endParaRPr lang="en-US" sz="1200" dirty="0">
                <a:solidFill>
                  <a:srgbClr val="336600"/>
                </a:solidFill>
                <a:latin typeface="Times New Roman" panose="02020603050405020304" pitchFamily="18" charset="0"/>
              </a:endParaRPr>
            </a:p>
          </p:txBody>
        </p:sp>
        <p:grpSp>
          <p:nvGrpSpPr>
            <p:cNvPr id="595" name="Group 296"/>
            <p:cNvGrpSpPr/>
            <p:nvPr/>
          </p:nvGrpSpPr>
          <p:grpSpPr>
            <a:xfrm>
              <a:off x="539553" y="1846065"/>
              <a:ext cx="579292" cy="144016"/>
              <a:chOff x="2483768" y="5013176"/>
              <a:chExt cx="579292" cy="144016"/>
            </a:xfrm>
          </p:grpSpPr>
          <p:sp>
            <p:nvSpPr>
              <p:cNvPr id="596" name="Rectangle 595"/>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597" name="Rectangle 596"/>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601" name="168,801"/>
          <p:cNvGrpSpPr/>
          <p:nvPr/>
        </p:nvGrpSpPr>
        <p:grpSpPr>
          <a:xfrm>
            <a:off x="9717876" y="2991022"/>
            <a:ext cx="579293" cy="433289"/>
            <a:chOff x="539552" y="1556792"/>
            <a:chExt cx="579293" cy="433289"/>
          </a:xfrm>
          <a:effectLst>
            <a:outerShdw blurRad="50800" dist="38100" dir="2700000" algn="tl" rotWithShape="0">
              <a:prstClr val="black">
                <a:alpha val="40000"/>
              </a:prstClr>
            </a:outerShdw>
          </a:effectLst>
        </p:grpSpPr>
        <p:grpSp>
          <p:nvGrpSpPr>
            <p:cNvPr id="602" name="Group 287"/>
            <p:cNvGrpSpPr/>
            <p:nvPr/>
          </p:nvGrpSpPr>
          <p:grpSpPr>
            <a:xfrm>
              <a:off x="539553" y="1700808"/>
              <a:ext cx="579292" cy="144016"/>
              <a:chOff x="2483768" y="5013176"/>
              <a:chExt cx="579292" cy="144016"/>
            </a:xfrm>
          </p:grpSpPr>
          <p:sp>
            <p:nvSpPr>
              <p:cNvPr id="607" name="Rectangle 606"/>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801</a:t>
                </a:r>
                <a:endParaRPr lang="en-US" sz="1200" dirty="0">
                  <a:solidFill>
                    <a:srgbClr val="336600"/>
                  </a:solidFill>
                  <a:latin typeface="Times New Roman" panose="02020603050405020304" pitchFamily="18" charset="0"/>
                </a:endParaRPr>
              </a:p>
            </p:txBody>
          </p:sp>
          <p:sp>
            <p:nvSpPr>
              <p:cNvPr id="608" name="Rectangle 607"/>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168</a:t>
                </a:r>
                <a:endParaRPr lang="en-US" sz="1200" dirty="0">
                  <a:solidFill>
                    <a:srgbClr val="336600"/>
                  </a:solidFill>
                  <a:latin typeface="Times New Roman" panose="02020603050405020304" pitchFamily="18" charset="0"/>
                </a:endParaRPr>
              </a:p>
            </p:txBody>
          </p:sp>
        </p:grpSp>
        <p:sp>
          <p:nvSpPr>
            <p:cNvPr id="603" name="Rectangle 602"/>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0.38</a:t>
              </a:r>
              <a:endParaRPr lang="en-US" sz="1200" dirty="0">
                <a:solidFill>
                  <a:srgbClr val="336600"/>
                </a:solidFill>
                <a:latin typeface="Times New Roman" panose="02020603050405020304" pitchFamily="18" charset="0"/>
              </a:endParaRPr>
            </a:p>
          </p:txBody>
        </p:sp>
        <p:grpSp>
          <p:nvGrpSpPr>
            <p:cNvPr id="604" name="Group 296"/>
            <p:cNvGrpSpPr/>
            <p:nvPr/>
          </p:nvGrpSpPr>
          <p:grpSpPr>
            <a:xfrm>
              <a:off x="539553" y="1846065"/>
              <a:ext cx="579292" cy="144016"/>
              <a:chOff x="2483768" y="5013176"/>
              <a:chExt cx="579292" cy="144016"/>
            </a:xfrm>
          </p:grpSpPr>
          <p:sp>
            <p:nvSpPr>
              <p:cNvPr id="605" name="Rectangle 604"/>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606" name="Rectangle 605"/>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611" name="152,326"/>
          <p:cNvGrpSpPr/>
          <p:nvPr/>
        </p:nvGrpSpPr>
        <p:grpSpPr>
          <a:xfrm>
            <a:off x="6458988" y="2157992"/>
            <a:ext cx="579293" cy="433289"/>
            <a:chOff x="539552" y="1556792"/>
            <a:chExt cx="579293" cy="433289"/>
          </a:xfrm>
          <a:effectLst>
            <a:outerShdw blurRad="50800" dist="38100" dir="2700000" algn="tl" rotWithShape="0">
              <a:prstClr val="black">
                <a:alpha val="40000"/>
              </a:prstClr>
            </a:outerShdw>
          </a:effectLst>
        </p:grpSpPr>
        <p:grpSp>
          <p:nvGrpSpPr>
            <p:cNvPr id="612" name="Group 287"/>
            <p:cNvGrpSpPr/>
            <p:nvPr/>
          </p:nvGrpSpPr>
          <p:grpSpPr>
            <a:xfrm>
              <a:off x="539553" y="1700808"/>
              <a:ext cx="579292" cy="144016"/>
              <a:chOff x="2483768" y="5013176"/>
              <a:chExt cx="579292" cy="144016"/>
            </a:xfrm>
          </p:grpSpPr>
          <p:sp>
            <p:nvSpPr>
              <p:cNvPr id="617" name="Rectangle 616"/>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326</a:t>
                </a:r>
              </a:p>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618" name="Rectangle 617"/>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a:buClr>
                    <a:srgbClr val="006600"/>
                  </a:buClr>
                </a:pPr>
                <a:r>
                  <a:rPr lang="en-US" sz="1200" dirty="0">
                    <a:latin typeface="Times New Roman" panose="02020603050405020304" pitchFamily="18" charset="0"/>
                  </a:rPr>
                  <a:t>152</a:t>
                </a:r>
              </a:p>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sp>
          <p:nvSpPr>
            <p:cNvPr id="613" name="Rectangle 612"/>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0.31</a:t>
              </a:r>
              <a:endParaRPr lang="en-US" sz="1200" dirty="0">
                <a:solidFill>
                  <a:srgbClr val="336600"/>
                </a:solidFill>
                <a:latin typeface="Times New Roman" panose="02020603050405020304" pitchFamily="18" charset="0"/>
              </a:endParaRPr>
            </a:p>
          </p:txBody>
        </p:sp>
        <p:grpSp>
          <p:nvGrpSpPr>
            <p:cNvPr id="614" name="Group 296"/>
            <p:cNvGrpSpPr/>
            <p:nvPr/>
          </p:nvGrpSpPr>
          <p:grpSpPr>
            <a:xfrm>
              <a:off x="539553" y="1846065"/>
              <a:ext cx="579292" cy="144016"/>
              <a:chOff x="2483768" y="5013176"/>
              <a:chExt cx="579292" cy="144016"/>
            </a:xfrm>
          </p:grpSpPr>
          <p:sp>
            <p:nvSpPr>
              <p:cNvPr id="615" name="Rectangle 614"/>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616" name="Rectangle 615"/>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619" name="882,667"/>
          <p:cNvGrpSpPr/>
          <p:nvPr/>
        </p:nvGrpSpPr>
        <p:grpSpPr>
          <a:xfrm>
            <a:off x="7545284" y="4654994"/>
            <a:ext cx="579293" cy="433289"/>
            <a:chOff x="539552" y="1556792"/>
            <a:chExt cx="579293" cy="433289"/>
          </a:xfrm>
          <a:effectLst>
            <a:outerShdw blurRad="50800" dist="38100" dir="2700000" algn="tl" rotWithShape="0">
              <a:prstClr val="black">
                <a:alpha val="40000"/>
              </a:prstClr>
            </a:outerShdw>
          </a:effectLst>
        </p:grpSpPr>
        <p:grpSp>
          <p:nvGrpSpPr>
            <p:cNvPr id="620" name="Group 287"/>
            <p:cNvGrpSpPr/>
            <p:nvPr/>
          </p:nvGrpSpPr>
          <p:grpSpPr>
            <a:xfrm>
              <a:off x="539553" y="1700808"/>
              <a:ext cx="579292" cy="144016"/>
              <a:chOff x="2483768" y="5013176"/>
              <a:chExt cx="579292" cy="144016"/>
            </a:xfrm>
          </p:grpSpPr>
          <p:sp>
            <p:nvSpPr>
              <p:cNvPr id="625" name="Rectangle 624"/>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667</a:t>
                </a:r>
                <a:endParaRPr lang="en-US" sz="1200" dirty="0">
                  <a:solidFill>
                    <a:srgbClr val="336600"/>
                  </a:solidFill>
                  <a:latin typeface="Times New Roman" panose="02020603050405020304" pitchFamily="18" charset="0"/>
                </a:endParaRPr>
              </a:p>
            </p:txBody>
          </p:sp>
          <p:sp>
            <p:nvSpPr>
              <p:cNvPr id="626" name="Rectangle 625"/>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882</a:t>
                </a:r>
              </a:p>
            </p:txBody>
          </p:sp>
        </p:grpSp>
        <p:sp>
          <p:nvSpPr>
            <p:cNvPr id="621" name="Rectangle 620"/>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0.53</a:t>
              </a:r>
              <a:endParaRPr lang="en-US" sz="1200" dirty="0">
                <a:solidFill>
                  <a:srgbClr val="336600"/>
                </a:solidFill>
                <a:latin typeface="Times New Roman" panose="02020603050405020304" pitchFamily="18" charset="0"/>
              </a:endParaRPr>
            </a:p>
          </p:txBody>
        </p:sp>
        <p:grpSp>
          <p:nvGrpSpPr>
            <p:cNvPr id="622" name="Group 296"/>
            <p:cNvGrpSpPr/>
            <p:nvPr/>
          </p:nvGrpSpPr>
          <p:grpSpPr>
            <a:xfrm>
              <a:off x="539553" y="1846065"/>
              <a:ext cx="579292" cy="144016"/>
              <a:chOff x="2483768" y="5013176"/>
              <a:chExt cx="579292" cy="144016"/>
            </a:xfrm>
          </p:grpSpPr>
          <p:sp>
            <p:nvSpPr>
              <p:cNvPr id="623" name="Rectangle 622"/>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624" name="Rectangle 623"/>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sp>
        <p:nvSpPr>
          <p:cNvPr id="627" name="Freeform 626"/>
          <p:cNvSpPr/>
          <p:nvPr/>
        </p:nvSpPr>
        <p:spPr bwMode="auto">
          <a:xfrm>
            <a:off x="7712976" y="3343276"/>
            <a:ext cx="146384" cy="1313497"/>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grpSp>
        <p:nvGrpSpPr>
          <p:cNvPr id="640" name="882,801 null"/>
          <p:cNvGrpSpPr/>
          <p:nvPr/>
        </p:nvGrpSpPr>
        <p:grpSpPr>
          <a:xfrm>
            <a:off x="9899786" y="5003240"/>
            <a:ext cx="530823" cy="354111"/>
            <a:chOff x="8123779" y="2073383"/>
            <a:chExt cx="589109" cy="354111"/>
          </a:xfrm>
        </p:grpSpPr>
        <p:sp>
          <p:nvSpPr>
            <p:cNvPr id="641" name="Arc 640"/>
            <p:cNvSpPr/>
            <p:nvPr/>
          </p:nvSpPr>
          <p:spPr bwMode="auto">
            <a:xfrm>
              <a:off x="8123779" y="2073383"/>
              <a:ext cx="495300" cy="354111"/>
            </a:xfrm>
            <a:prstGeom prst="arc">
              <a:avLst>
                <a:gd name="adj1" fmla="val 16200000"/>
                <a:gd name="adj2" fmla="val 478342"/>
              </a:avLst>
            </a:prstGeom>
            <a:noFill/>
            <a:ln w="25400" cap="flat" cmpd="sng" algn="ctr">
              <a:solidFill>
                <a:schemeClr val="bg1">
                  <a:lumMod val="50000"/>
                </a:schemeClr>
              </a:solidFill>
              <a:prstDash val="solid"/>
              <a:round/>
              <a:headEnd type="oval" w="med" len="med"/>
              <a:tailEnd type="triangl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642" name="Line 26"/>
            <p:cNvSpPr>
              <a:spLocks noChangeShapeType="1"/>
            </p:cNvSpPr>
            <p:nvPr/>
          </p:nvSpPr>
          <p:spPr bwMode="auto">
            <a:xfrm>
              <a:off x="8520716" y="2302526"/>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643" name="Line 27"/>
            <p:cNvSpPr>
              <a:spLocks noChangeShapeType="1"/>
            </p:cNvSpPr>
            <p:nvPr/>
          </p:nvSpPr>
          <p:spPr bwMode="auto">
            <a:xfrm>
              <a:off x="8565933" y="2349630"/>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644" name="Line 28"/>
            <p:cNvSpPr>
              <a:spLocks noChangeShapeType="1"/>
            </p:cNvSpPr>
            <p:nvPr/>
          </p:nvSpPr>
          <p:spPr bwMode="auto">
            <a:xfrm>
              <a:off x="8592781" y="2399212"/>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217" name="168,801 null"/>
          <p:cNvGrpSpPr/>
          <p:nvPr/>
        </p:nvGrpSpPr>
        <p:grpSpPr>
          <a:xfrm>
            <a:off x="9899380" y="3345884"/>
            <a:ext cx="540021" cy="354111"/>
            <a:chOff x="8123779" y="2073383"/>
            <a:chExt cx="589109" cy="354111"/>
          </a:xfrm>
        </p:grpSpPr>
        <p:sp>
          <p:nvSpPr>
            <p:cNvPr id="218" name="Arc 217"/>
            <p:cNvSpPr/>
            <p:nvPr/>
          </p:nvSpPr>
          <p:spPr bwMode="auto">
            <a:xfrm>
              <a:off x="8123779" y="2073383"/>
              <a:ext cx="495300" cy="354111"/>
            </a:xfrm>
            <a:prstGeom prst="arc">
              <a:avLst>
                <a:gd name="adj1" fmla="val 16200000"/>
                <a:gd name="adj2" fmla="val 478342"/>
              </a:avLst>
            </a:prstGeom>
            <a:noFill/>
            <a:ln w="25400" cap="flat" cmpd="sng" algn="ctr">
              <a:solidFill>
                <a:schemeClr val="bg1">
                  <a:lumMod val="50000"/>
                </a:schemeClr>
              </a:solidFill>
              <a:prstDash val="solid"/>
              <a:round/>
              <a:headEnd type="oval" w="med" len="med"/>
              <a:tailEnd type="triangl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19" name="Line 26"/>
            <p:cNvSpPr>
              <a:spLocks noChangeShapeType="1"/>
            </p:cNvSpPr>
            <p:nvPr/>
          </p:nvSpPr>
          <p:spPr bwMode="auto">
            <a:xfrm>
              <a:off x="8520716" y="2302526"/>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20" name="Line 27"/>
            <p:cNvSpPr>
              <a:spLocks noChangeShapeType="1"/>
            </p:cNvSpPr>
            <p:nvPr/>
          </p:nvSpPr>
          <p:spPr bwMode="auto">
            <a:xfrm>
              <a:off x="8565933" y="2349630"/>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21" name="Line 28"/>
            <p:cNvSpPr>
              <a:spLocks noChangeShapeType="1"/>
            </p:cNvSpPr>
            <p:nvPr/>
          </p:nvSpPr>
          <p:spPr bwMode="auto">
            <a:xfrm>
              <a:off x="8592781" y="2399212"/>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228" name="Group 227"/>
          <p:cNvGrpSpPr/>
          <p:nvPr/>
        </p:nvGrpSpPr>
        <p:grpSpPr>
          <a:xfrm>
            <a:off x="7584150" y="5012391"/>
            <a:ext cx="192172" cy="413481"/>
            <a:chOff x="2003564" y="2071545"/>
            <a:chExt cx="192172" cy="413481"/>
          </a:xfrm>
          <a:effectLst>
            <a:outerShdw blurRad="50800" dist="38100" dir="2700000" algn="tl" rotWithShape="0">
              <a:prstClr val="black">
                <a:alpha val="40000"/>
              </a:prstClr>
            </a:outerShdw>
          </a:effectLst>
        </p:grpSpPr>
        <p:sp>
          <p:nvSpPr>
            <p:cNvPr id="229" name="Line 40"/>
            <p:cNvSpPr>
              <a:spLocks noChangeShapeType="1"/>
            </p:cNvSpPr>
            <p:nvPr/>
          </p:nvSpPr>
          <p:spPr bwMode="auto">
            <a:xfrm rot="5400000" flipV="1">
              <a:off x="1955954" y="2218193"/>
              <a:ext cx="293295" cy="0"/>
            </a:xfrm>
            <a:prstGeom prst="line">
              <a:avLst/>
            </a:prstGeom>
            <a:noFill/>
            <a:ln w="28575">
              <a:solidFill>
                <a:schemeClr val="bg1">
                  <a:lumMod val="50000"/>
                </a:schemeClr>
              </a:solidFill>
              <a:round/>
              <a:headEnd type="oval" w="med" len="med"/>
              <a:tailEnd type="triangle" w="med" len="med"/>
            </a:ln>
            <a:effectLst/>
          </p:spPr>
          <p:txBody>
            <a:bodyPr/>
            <a:lstStyle/>
            <a:p>
              <a:pPr>
                <a:buClr>
                  <a:srgbClr val="006600"/>
                </a:buClr>
              </a:pPr>
              <a:endParaRPr lang="en-US" sz="1200" dirty="0">
                <a:latin typeface="Times New Roman" panose="02020603050405020304" pitchFamily="18" charset="0"/>
              </a:endParaRPr>
            </a:p>
          </p:txBody>
        </p:sp>
        <p:sp>
          <p:nvSpPr>
            <p:cNvPr id="230" name="Line 26"/>
            <p:cNvSpPr>
              <a:spLocks noChangeShapeType="1"/>
            </p:cNvSpPr>
            <p:nvPr/>
          </p:nvSpPr>
          <p:spPr bwMode="auto">
            <a:xfrm>
              <a:off x="2003564" y="2388340"/>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31" name="Line 27"/>
            <p:cNvSpPr>
              <a:spLocks noChangeShapeType="1"/>
            </p:cNvSpPr>
            <p:nvPr/>
          </p:nvSpPr>
          <p:spPr bwMode="auto">
            <a:xfrm>
              <a:off x="2048781" y="2435444"/>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32" name="Line 28"/>
            <p:cNvSpPr>
              <a:spLocks noChangeShapeType="1"/>
            </p:cNvSpPr>
            <p:nvPr/>
          </p:nvSpPr>
          <p:spPr bwMode="auto">
            <a:xfrm>
              <a:off x="2075629" y="2485026"/>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238" name="Group 237"/>
          <p:cNvGrpSpPr/>
          <p:nvPr/>
        </p:nvGrpSpPr>
        <p:grpSpPr>
          <a:xfrm>
            <a:off x="6506268" y="2511464"/>
            <a:ext cx="192172" cy="402753"/>
            <a:chOff x="2003564" y="2071545"/>
            <a:chExt cx="192172" cy="402753"/>
          </a:xfrm>
          <a:effectLst>
            <a:outerShdw blurRad="50800" dist="38100" dir="2700000" algn="tl" rotWithShape="0">
              <a:prstClr val="black">
                <a:alpha val="40000"/>
              </a:prstClr>
            </a:outerShdw>
          </a:effectLst>
        </p:grpSpPr>
        <p:sp>
          <p:nvSpPr>
            <p:cNvPr id="239" name="Line 40"/>
            <p:cNvSpPr>
              <a:spLocks noChangeShapeType="1"/>
            </p:cNvSpPr>
            <p:nvPr/>
          </p:nvSpPr>
          <p:spPr bwMode="auto">
            <a:xfrm rot="5400000" flipV="1">
              <a:off x="1955954" y="2218193"/>
              <a:ext cx="293295" cy="0"/>
            </a:xfrm>
            <a:prstGeom prst="line">
              <a:avLst/>
            </a:prstGeom>
            <a:noFill/>
            <a:ln w="25400">
              <a:solidFill>
                <a:schemeClr val="bg1">
                  <a:lumMod val="50000"/>
                </a:schemeClr>
              </a:solidFill>
              <a:round/>
              <a:headEnd type="oval" w="med" len="med"/>
              <a:tailEnd type="triangle" w="med" len="med"/>
            </a:ln>
            <a:effectLst/>
          </p:spPr>
          <p:txBody>
            <a:bodyPr/>
            <a:lstStyle/>
            <a:p>
              <a:pPr>
                <a:buClr>
                  <a:srgbClr val="006600"/>
                </a:buClr>
              </a:pPr>
              <a:endParaRPr lang="en-US" sz="1200" dirty="0">
                <a:latin typeface="Times New Roman" panose="02020603050405020304" pitchFamily="18" charset="0"/>
              </a:endParaRPr>
            </a:p>
          </p:txBody>
        </p:sp>
        <p:sp>
          <p:nvSpPr>
            <p:cNvPr id="240" name="Line 26"/>
            <p:cNvSpPr>
              <a:spLocks noChangeShapeType="1"/>
            </p:cNvSpPr>
            <p:nvPr/>
          </p:nvSpPr>
          <p:spPr bwMode="auto">
            <a:xfrm>
              <a:off x="2003564" y="2377612"/>
              <a:ext cx="192172" cy="0"/>
            </a:xfrm>
            <a:prstGeom prst="line">
              <a:avLst/>
            </a:prstGeom>
            <a:noFill/>
            <a:ln w="25400">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41" name="Line 27"/>
            <p:cNvSpPr>
              <a:spLocks noChangeShapeType="1"/>
            </p:cNvSpPr>
            <p:nvPr/>
          </p:nvSpPr>
          <p:spPr bwMode="auto">
            <a:xfrm>
              <a:off x="2048781" y="2424716"/>
              <a:ext cx="121520" cy="0"/>
            </a:xfrm>
            <a:prstGeom prst="line">
              <a:avLst/>
            </a:prstGeom>
            <a:noFill/>
            <a:ln w="25400">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42" name="Line 28"/>
            <p:cNvSpPr>
              <a:spLocks noChangeShapeType="1"/>
            </p:cNvSpPr>
            <p:nvPr/>
          </p:nvSpPr>
          <p:spPr bwMode="auto">
            <a:xfrm>
              <a:off x="2075629" y="2474298"/>
              <a:ext cx="73477" cy="0"/>
            </a:xfrm>
            <a:prstGeom prst="line">
              <a:avLst/>
            </a:prstGeom>
            <a:noFill/>
            <a:ln w="25400">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257" name="152,326 null"/>
          <p:cNvGrpSpPr/>
          <p:nvPr/>
        </p:nvGrpSpPr>
        <p:grpSpPr>
          <a:xfrm>
            <a:off x="6650228" y="2511606"/>
            <a:ext cx="589109" cy="354111"/>
            <a:chOff x="8123779" y="2073383"/>
            <a:chExt cx="589109" cy="354111"/>
          </a:xfrm>
        </p:grpSpPr>
        <p:sp>
          <p:nvSpPr>
            <p:cNvPr id="258" name="Arc 257"/>
            <p:cNvSpPr/>
            <p:nvPr/>
          </p:nvSpPr>
          <p:spPr bwMode="auto">
            <a:xfrm>
              <a:off x="8123779" y="2073383"/>
              <a:ext cx="495300" cy="354111"/>
            </a:xfrm>
            <a:prstGeom prst="arc">
              <a:avLst>
                <a:gd name="adj1" fmla="val 16200000"/>
                <a:gd name="adj2" fmla="val 478342"/>
              </a:avLst>
            </a:prstGeom>
            <a:noFill/>
            <a:ln w="25400" cap="flat" cmpd="sng" algn="ctr">
              <a:solidFill>
                <a:schemeClr val="bg1">
                  <a:lumMod val="50000"/>
                </a:schemeClr>
              </a:solidFill>
              <a:prstDash val="solid"/>
              <a:round/>
              <a:headEnd type="oval" w="med" len="med"/>
              <a:tailEnd type="triangl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59" name="Line 26"/>
            <p:cNvSpPr>
              <a:spLocks noChangeShapeType="1"/>
            </p:cNvSpPr>
            <p:nvPr/>
          </p:nvSpPr>
          <p:spPr bwMode="auto">
            <a:xfrm>
              <a:off x="8520716" y="2302526"/>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60" name="Line 27"/>
            <p:cNvSpPr>
              <a:spLocks noChangeShapeType="1"/>
            </p:cNvSpPr>
            <p:nvPr/>
          </p:nvSpPr>
          <p:spPr bwMode="auto">
            <a:xfrm>
              <a:off x="8565933" y="2349630"/>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61" name="Line 28"/>
            <p:cNvSpPr>
              <a:spLocks noChangeShapeType="1"/>
            </p:cNvSpPr>
            <p:nvPr/>
          </p:nvSpPr>
          <p:spPr bwMode="auto">
            <a:xfrm>
              <a:off x="8592781" y="2399212"/>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273" name="617,713"/>
          <p:cNvGrpSpPr/>
          <p:nvPr/>
        </p:nvGrpSpPr>
        <p:grpSpPr>
          <a:xfrm>
            <a:off x="8631580" y="3814176"/>
            <a:ext cx="579293" cy="433289"/>
            <a:chOff x="539552" y="1556792"/>
            <a:chExt cx="579293" cy="433289"/>
          </a:xfrm>
          <a:effectLst>
            <a:outerShdw blurRad="50800" dist="38100" dir="2700000" algn="tl" rotWithShape="0">
              <a:prstClr val="black">
                <a:alpha val="40000"/>
              </a:prstClr>
            </a:outerShdw>
          </a:effectLst>
        </p:grpSpPr>
        <p:grpSp>
          <p:nvGrpSpPr>
            <p:cNvPr id="274" name="Group 287"/>
            <p:cNvGrpSpPr/>
            <p:nvPr/>
          </p:nvGrpSpPr>
          <p:grpSpPr>
            <a:xfrm>
              <a:off x="539553" y="1700808"/>
              <a:ext cx="579292" cy="144016"/>
              <a:chOff x="2483768" y="5013176"/>
              <a:chExt cx="579292" cy="144016"/>
            </a:xfrm>
          </p:grpSpPr>
          <p:sp>
            <p:nvSpPr>
              <p:cNvPr id="279" name="Rectangle 278"/>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713</a:t>
                </a:r>
                <a:endParaRPr lang="en-US" sz="1200" dirty="0">
                  <a:solidFill>
                    <a:srgbClr val="336600"/>
                  </a:solidFill>
                  <a:latin typeface="Times New Roman" panose="02020603050405020304" pitchFamily="18" charset="0"/>
                </a:endParaRPr>
              </a:p>
            </p:txBody>
          </p:sp>
          <p:sp>
            <p:nvSpPr>
              <p:cNvPr id="280" name="Rectangle 279"/>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a:buClr>
                    <a:srgbClr val="006600"/>
                  </a:buClr>
                </a:pPr>
                <a:r>
                  <a:rPr lang="en-US" sz="1200" dirty="0">
                    <a:latin typeface="Times New Roman" panose="02020603050405020304" pitchFamily="18" charset="0"/>
                  </a:rPr>
                  <a:t>617</a:t>
                </a:r>
              </a:p>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sp>
          <p:nvSpPr>
            <p:cNvPr id="275" name="Rectangle 274"/>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0.22</a:t>
              </a:r>
              <a:endParaRPr lang="en-US" sz="1200" dirty="0">
                <a:solidFill>
                  <a:srgbClr val="336600"/>
                </a:solidFill>
                <a:latin typeface="Times New Roman" panose="02020603050405020304" pitchFamily="18" charset="0"/>
              </a:endParaRPr>
            </a:p>
          </p:txBody>
        </p:sp>
        <p:grpSp>
          <p:nvGrpSpPr>
            <p:cNvPr id="276" name="Group 296"/>
            <p:cNvGrpSpPr/>
            <p:nvPr/>
          </p:nvGrpSpPr>
          <p:grpSpPr>
            <a:xfrm>
              <a:off x="539553" y="1846065"/>
              <a:ext cx="579292" cy="144016"/>
              <a:chOff x="2483768" y="5013176"/>
              <a:chExt cx="579292" cy="144016"/>
            </a:xfrm>
          </p:grpSpPr>
          <p:sp>
            <p:nvSpPr>
              <p:cNvPr id="277" name="Rectangle 276"/>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278" name="Rectangle 277"/>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287" name="617,713 null"/>
          <p:cNvGrpSpPr/>
          <p:nvPr/>
        </p:nvGrpSpPr>
        <p:grpSpPr>
          <a:xfrm>
            <a:off x="8808938" y="4167790"/>
            <a:ext cx="589109" cy="354111"/>
            <a:chOff x="8123779" y="2073383"/>
            <a:chExt cx="589109" cy="354111"/>
          </a:xfrm>
        </p:grpSpPr>
        <p:sp>
          <p:nvSpPr>
            <p:cNvPr id="289" name="Arc 288"/>
            <p:cNvSpPr/>
            <p:nvPr/>
          </p:nvSpPr>
          <p:spPr bwMode="auto">
            <a:xfrm>
              <a:off x="8123779" y="2073383"/>
              <a:ext cx="495300" cy="354111"/>
            </a:xfrm>
            <a:prstGeom prst="arc">
              <a:avLst>
                <a:gd name="adj1" fmla="val 16200000"/>
                <a:gd name="adj2" fmla="val 478342"/>
              </a:avLst>
            </a:prstGeom>
            <a:noFill/>
            <a:ln w="25400" cap="flat" cmpd="sng" algn="ctr">
              <a:solidFill>
                <a:schemeClr val="bg1">
                  <a:lumMod val="50000"/>
                </a:schemeClr>
              </a:solidFill>
              <a:prstDash val="solid"/>
              <a:round/>
              <a:headEnd type="oval" w="med" len="med"/>
              <a:tailEnd type="triangl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90" name="Line 26"/>
            <p:cNvSpPr>
              <a:spLocks noChangeShapeType="1"/>
            </p:cNvSpPr>
            <p:nvPr/>
          </p:nvSpPr>
          <p:spPr bwMode="auto">
            <a:xfrm>
              <a:off x="8520716" y="2302526"/>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91" name="Line 27"/>
            <p:cNvSpPr>
              <a:spLocks noChangeShapeType="1"/>
            </p:cNvSpPr>
            <p:nvPr/>
          </p:nvSpPr>
          <p:spPr bwMode="auto">
            <a:xfrm>
              <a:off x="8565933" y="2349630"/>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92" name="Line 28"/>
            <p:cNvSpPr>
              <a:spLocks noChangeShapeType="1"/>
            </p:cNvSpPr>
            <p:nvPr/>
          </p:nvSpPr>
          <p:spPr bwMode="auto">
            <a:xfrm>
              <a:off x="8592781" y="2399212"/>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sp>
        <p:nvSpPr>
          <p:cNvPr id="572" name="Freeform 571"/>
          <p:cNvSpPr/>
          <p:nvPr/>
        </p:nvSpPr>
        <p:spPr bwMode="auto">
          <a:xfrm>
            <a:off x="9860750" y="3347934"/>
            <a:ext cx="195691" cy="1306924"/>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grpSp>
        <p:nvGrpSpPr>
          <p:cNvPr id="294" name="927,713"/>
          <p:cNvGrpSpPr/>
          <p:nvPr/>
        </p:nvGrpSpPr>
        <p:grpSpPr>
          <a:xfrm>
            <a:off x="8631580" y="5498408"/>
            <a:ext cx="579293" cy="433289"/>
            <a:chOff x="539552" y="1556792"/>
            <a:chExt cx="579293" cy="433289"/>
          </a:xfrm>
          <a:effectLst>
            <a:outerShdw blurRad="50800" dist="38100" dir="2700000" algn="tl" rotWithShape="0">
              <a:prstClr val="black">
                <a:alpha val="40000"/>
              </a:prstClr>
            </a:outerShdw>
          </a:effectLst>
        </p:grpSpPr>
        <p:grpSp>
          <p:nvGrpSpPr>
            <p:cNvPr id="295" name="Group 287"/>
            <p:cNvGrpSpPr/>
            <p:nvPr/>
          </p:nvGrpSpPr>
          <p:grpSpPr>
            <a:xfrm>
              <a:off x="539553" y="1700808"/>
              <a:ext cx="579292" cy="144016"/>
              <a:chOff x="2483768" y="5013176"/>
              <a:chExt cx="579292" cy="144016"/>
            </a:xfrm>
          </p:grpSpPr>
          <p:sp>
            <p:nvSpPr>
              <p:cNvPr id="304" name="Rectangle 303"/>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713</a:t>
                </a:r>
                <a:endParaRPr lang="en-US" sz="1200" dirty="0">
                  <a:solidFill>
                    <a:srgbClr val="336600"/>
                  </a:solidFill>
                  <a:latin typeface="Times New Roman" panose="02020603050405020304" pitchFamily="18" charset="0"/>
                </a:endParaRPr>
              </a:p>
            </p:txBody>
          </p:sp>
          <p:sp>
            <p:nvSpPr>
              <p:cNvPr id="305" name="Rectangle 304"/>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a:buClr>
                    <a:srgbClr val="006600"/>
                  </a:buClr>
                </a:pPr>
                <a:r>
                  <a:rPr lang="en-US" sz="1200" dirty="0">
                    <a:latin typeface="Times New Roman" panose="02020603050405020304" pitchFamily="18" charset="0"/>
                  </a:rPr>
                  <a:t>927</a:t>
                </a:r>
              </a:p>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sp>
          <p:nvSpPr>
            <p:cNvPr id="300" name="Rectangle 299"/>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0.46</a:t>
              </a:r>
              <a:endParaRPr lang="en-US" sz="1200" dirty="0">
                <a:solidFill>
                  <a:srgbClr val="336600"/>
                </a:solidFill>
                <a:latin typeface="Times New Roman" panose="02020603050405020304" pitchFamily="18" charset="0"/>
              </a:endParaRPr>
            </a:p>
          </p:txBody>
        </p:sp>
        <p:grpSp>
          <p:nvGrpSpPr>
            <p:cNvPr id="301" name="Group 296"/>
            <p:cNvGrpSpPr/>
            <p:nvPr/>
          </p:nvGrpSpPr>
          <p:grpSpPr>
            <a:xfrm>
              <a:off x="539553" y="1846065"/>
              <a:ext cx="579292" cy="144016"/>
              <a:chOff x="2483768" y="5013176"/>
              <a:chExt cx="579292" cy="144016"/>
            </a:xfrm>
          </p:grpSpPr>
          <p:sp>
            <p:nvSpPr>
              <p:cNvPr id="302" name="Rectangle 301"/>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303" name="Rectangle 302"/>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306" name="Group 305"/>
          <p:cNvGrpSpPr/>
          <p:nvPr/>
        </p:nvGrpSpPr>
        <p:grpSpPr>
          <a:xfrm>
            <a:off x="8684211" y="5854382"/>
            <a:ext cx="192172" cy="413481"/>
            <a:chOff x="2003564" y="2071545"/>
            <a:chExt cx="192172" cy="413481"/>
          </a:xfrm>
          <a:effectLst>
            <a:outerShdw blurRad="50800" dist="38100" dir="2700000" algn="tl" rotWithShape="0">
              <a:prstClr val="black">
                <a:alpha val="40000"/>
              </a:prstClr>
            </a:outerShdw>
          </a:effectLst>
        </p:grpSpPr>
        <p:sp>
          <p:nvSpPr>
            <p:cNvPr id="307" name="Line 40"/>
            <p:cNvSpPr>
              <a:spLocks noChangeShapeType="1"/>
            </p:cNvSpPr>
            <p:nvPr/>
          </p:nvSpPr>
          <p:spPr bwMode="auto">
            <a:xfrm rot="5400000" flipV="1">
              <a:off x="1955954" y="2218193"/>
              <a:ext cx="293295" cy="0"/>
            </a:xfrm>
            <a:prstGeom prst="line">
              <a:avLst/>
            </a:prstGeom>
            <a:noFill/>
            <a:ln w="28575">
              <a:solidFill>
                <a:schemeClr val="bg1">
                  <a:lumMod val="50000"/>
                </a:schemeClr>
              </a:solidFill>
              <a:round/>
              <a:headEnd type="oval" w="med" len="med"/>
              <a:tailEnd type="triangle" w="med" len="med"/>
            </a:ln>
            <a:effectLst/>
          </p:spPr>
          <p:txBody>
            <a:bodyPr/>
            <a:lstStyle/>
            <a:p>
              <a:pPr>
                <a:buClr>
                  <a:srgbClr val="006600"/>
                </a:buClr>
              </a:pPr>
              <a:endParaRPr lang="en-US" sz="1200" dirty="0">
                <a:latin typeface="Times New Roman" panose="02020603050405020304" pitchFamily="18" charset="0"/>
              </a:endParaRPr>
            </a:p>
          </p:txBody>
        </p:sp>
        <p:sp>
          <p:nvSpPr>
            <p:cNvPr id="308" name="Line 26"/>
            <p:cNvSpPr>
              <a:spLocks noChangeShapeType="1"/>
            </p:cNvSpPr>
            <p:nvPr/>
          </p:nvSpPr>
          <p:spPr bwMode="auto">
            <a:xfrm>
              <a:off x="2003564" y="2388340"/>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309" name="Line 27"/>
            <p:cNvSpPr>
              <a:spLocks noChangeShapeType="1"/>
            </p:cNvSpPr>
            <p:nvPr/>
          </p:nvSpPr>
          <p:spPr bwMode="auto">
            <a:xfrm>
              <a:off x="2048781" y="2435444"/>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310" name="Line 28"/>
            <p:cNvSpPr>
              <a:spLocks noChangeShapeType="1"/>
            </p:cNvSpPr>
            <p:nvPr/>
          </p:nvSpPr>
          <p:spPr bwMode="auto">
            <a:xfrm>
              <a:off x="2075629" y="2485026"/>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311" name="927,713 null"/>
          <p:cNvGrpSpPr/>
          <p:nvPr/>
        </p:nvGrpSpPr>
        <p:grpSpPr>
          <a:xfrm>
            <a:off x="8797804" y="5855071"/>
            <a:ext cx="589109" cy="354111"/>
            <a:chOff x="8123779" y="2073383"/>
            <a:chExt cx="589109" cy="354111"/>
          </a:xfrm>
        </p:grpSpPr>
        <p:sp>
          <p:nvSpPr>
            <p:cNvPr id="312" name="Arc 311"/>
            <p:cNvSpPr/>
            <p:nvPr/>
          </p:nvSpPr>
          <p:spPr bwMode="auto">
            <a:xfrm>
              <a:off x="8123779" y="2073383"/>
              <a:ext cx="495300" cy="354111"/>
            </a:xfrm>
            <a:prstGeom prst="arc">
              <a:avLst>
                <a:gd name="adj1" fmla="val 16200000"/>
                <a:gd name="adj2" fmla="val 478342"/>
              </a:avLst>
            </a:prstGeom>
            <a:noFill/>
            <a:ln w="25400" cap="flat" cmpd="sng" algn="ctr">
              <a:solidFill>
                <a:schemeClr val="bg1">
                  <a:lumMod val="50000"/>
                </a:schemeClr>
              </a:solidFill>
              <a:prstDash val="solid"/>
              <a:round/>
              <a:headEnd type="oval" w="med" len="med"/>
              <a:tailEnd type="triangl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313" name="Line 26"/>
            <p:cNvSpPr>
              <a:spLocks noChangeShapeType="1"/>
            </p:cNvSpPr>
            <p:nvPr/>
          </p:nvSpPr>
          <p:spPr bwMode="auto">
            <a:xfrm>
              <a:off x="8520716" y="2302526"/>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314" name="Line 27"/>
            <p:cNvSpPr>
              <a:spLocks noChangeShapeType="1"/>
            </p:cNvSpPr>
            <p:nvPr/>
          </p:nvSpPr>
          <p:spPr bwMode="auto">
            <a:xfrm>
              <a:off x="8565933" y="2349630"/>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315" name="Line 28"/>
            <p:cNvSpPr>
              <a:spLocks noChangeShapeType="1"/>
            </p:cNvSpPr>
            <p:nvPr/>
          </p:nvSpPr>
          <p:spPr bwMode="auto">
            <a:xfrm>
              <a:off x="8592781" y="2399212"/>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sp>
        <p:nvSpPr>
          <p:cNvPr id="362" name="Freeform 361"/>
          <p:cNvSpPr/>
          <p:nvPr/>
        </p:nvSpPr>
        <p:spPr bwMode="auto">
          <a:xfrm rot="16200000">
            <a:off x="8750323" y="4071954"/>
            <a:ext cx="186188" cy="1744395"/>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316" name="Freeform 315"/>
          <p:cNvSpPr/>
          <p:nvPr/>
        </p:nvSpPr>
        <p:spPr bwMode="auto">
          <a:xfrm>
            <a:off x="8780630" y="4175635"/>
            <a:ext cx="195691" cy="1316128"/>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5" name="illustration">
            <a:extLst>
              <a:ext uri="{FF2B5EF4-FFF2-40B4-BE49-F238E27FC236}">
                <a16:creationId xmlns:a16="http://schemas.microsoft.com/office/drawing/2014/main" id="{C3A071F6-148B-A101-EDB1-C0F4A6B829F7}"/>
              </a:ext>
            </a:extLst>
          </p:cNvPr>
          <p:cNvSpPr>
            <a:spLocks noChangeArrowheads="1"/>
          </p:cNvSpPr>
          <p:nvPr/>
        </p:nvSpPr>
        <p:spPr bwMode="auto">
          <a:xfrm>
            <a:off x="629391" y="2187804"/>
            <a:ext cx="5414174" cy="2967818"/>
          </a:xfrm>
          <a:prstGeom prst="wedgeRoundRectCallout">
            <a:avLst>
              <a:gd name="adj1" fmla="val -21157"/>
              <a:gd name="adj2" fmla="val 27064"/>
              <a:gd name="adj3" fmla="val 16667"/>
            </a:avLst>
          </a:prstGeom>
          <a:solidFill>
            <a:schemeClr val="accent3">
              <a:lumMod val="60000"/>
              <a:lumOff val="40000"/>
            </a:schemeClr>
          </a:solidFill>
          <a:ln w="936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tIns="46800" rIns="0" bIns="46800" anchor="ctr"/>
          <a:lstStyle/>
          <a:p>
            <a:pPr marL="176213" indent="-176213">
              <a:spcBef>
                <a:spcPts val="1250"/>
              </a:spcBef>
              <a:buClr>
                <a:schemeClr val="tx1"/>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dirty="0">
                <a:latin typeface="Times New Roman" panose="02020603050405020304" pitchFamily="18" charset="0"/>
              </a:rPr>
              <a:t>  </a:t>
            </a:r>
            <a:r>
              <a:rPr lang="en-US" sz="2800" dirty="0">
                <a:latin typeface="Times New Roman" panose="02020603050405020304" pitchFamily="18" charset="0"/>
              </a:rPr>
              <a:t>Here’s an illustration of a (very!) sparse matrix having only 7 non-zero elements in it: m</a:t>
            </a:r>
            <a:r>
              <a:rPr lang="en-US" sz="2800" baseline="-25000" dirty="0">
                <a:latin typeface="Times New Roman" panose="02020603050405020304" pitchFamily="18" charset="0"/>
              </a:rPr>
              <a:t>152,326</a:t>
            </a:r>
            <a:r>
              <a:rPr lang="en-US" sz="2800" dirty="0">
                <a:latin typeface="Times New Roman" panose="02020603050405020304" pitchFamily="18" charset="0"/>
              </a:rPr>
              <a:t>, m</a:t>
            </a:r>
            <a:r>
              <a:rPr lang="en-US" sz="2800" baseline="-25000" dirty="0">
                <a:latin typeface="Times New Roman" panose="02020603050405020304" pitchFamily="18" charset="0"/>
              </a:rPr>
              <a:t>168,667</a:t>
            </a:r>
            <a:r>
              <a:rPr lang="en-US" sz="2800" dirty="0">
                <a:latin typeface="Times New Roman" panose="02020603050405020304" pitchFamily="18" charset="0"/>
              </a:rPr>
              <a:t>, m</a:t>
            </a:r>
            <a:r>
              <a:rPr lang="en-US" sz="2800" baseline="-25000" dirty="0">
                <a:latin typeface="Times New Roman" panose="02020603050405020304" pitchFamily="18" charset="0"/>
              </a:rPr>
              <a:t>168,801</a:t>
            </a:r>
            <a:r>
              <a:rPr lang="en-US" sz="2800" dirty="0">
                <a:latin typeface="Times New Roman" panose="02020603050405020304" pitchFamily="18" charset="0"/>
              </a:rPr>
              <a:t>, m</a:t>
            </a:r>
            <a:r>
              <a:rPr lang="en-US" sz="2800" baseline="-25000" dirty="0">
                <a:latin typeface="Times New Roman" panose="02020603050405020304" pitchFamily="18" charset="0"/>
              </a:rPr>
              <a:t>617,713</a:t>
            </a:r>
            <a:r>
              <a:rPr lang="en-US" sz="2800" dirty="0">
                <a:latin typeface="Times New Roman" panose="02020603050405020304" pitchFamily="18" charset="0"/>
              </a:rPr>
              <a:t>, m</a:t>
            </a:r>
            <a:r>
              <a:rPr lang="en-US" sz="2800" baseline="-25000" dirty="0">
                <a:latin typeface="Times New Roman" panose="02020603050405020304" pitchFamily="18" charset="0"/>
              </a:rPr>
              <a:t>882,667</a:t>
            </a:r>
            <a:r>
              <a:rPr lang="en-US" sz="2800" dirty="0">
                <a:latin typeface="Times New Roman" panose="02020603050405020304" pitchFamily="18" charset="0"/>
              </a:rPr>
              <a:t>, m</a:t>
            </a:r>
            <a:r>
              <a:rPr lang="en-US" sz="2800" baseline="-25000" dirty="0">
                <a:latin typeface="Times New Roman" panose="02020603050405020304" pitchFamily="18" charset="0"/>
              </a:rPr>
              <a:t>882,801</a:t>
            </a:r>
            <a:r>
              <a:rPr lang="en-US" sz="2800" dirty="0">
                <a:latin typeface="Times New Roman" panose="02020603050405020304" pitchFamily="18" charset="0"/>
              </a:rPr>
              <a:t>, and m</a:t>
            </a:r>
            <a:r>
              <a:rPr lang="en-US" sz="2800" baseline="-25000" dirty="0">
                <a:latin typeface="Times New Roman" panose="02020603050405020304" pitchFamily="18" charset="0"/>
              </a:rPr>
              <a:t>927,713</a:t>
            </a:r>
            <a:r>
              <a:rPr lang="en-US" sz="2800" dirty="0">
                <a:latin typeface="Times New Roman" panose="02020603050405020304" pitchFamily="18" charset="0"/>
              </a:rPr>
              <a:t>   </a:t>
            </a:r>
          </a:p>
          <a:p>
            <a:pPr marL="176213" indent="-176213">
              <a:spcBef>
                <a:spcPts val="1250"/>
              </a:spcBef>
              <a:buClr>
                <a:schemeClr val="tx1"/>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dirty="0">
              <a:latin typeface="Times New Roman" panose="02020603050405020304" pitchFamily="18" charset="0"/>
            </a:endParaRPr>
          </a:p>
        </p:txBody>
      </p:sp>
      <p:sp>
        <p:nvSpPr>
          <p:cNvPr id="7" name="TextBox 6">
            <a:extLst>
              <a:ext uri="{FF2B5EF4-FFF2-40B4-BE49-F238E27FC236}">
                <a16:creationId xmlns:a16="http://schemas.microsoft.com/office/drawing/2014/main" id="{B77B1B46-8854-63E2-81AF-F00AF7AFE817}"/>
              </a:ext>
            </a:extLst>
          </p:cNvPr>
          <p:cNvSpPr txBox="1"/>
          <p:nvPr/>
        </p:nvSpPr>
        <p:spPr>
          <a:xfrm>
            <a:off x="629391" y="868680"/>
            <a:ext cx="6100762" cy="830997"/>
          </a:xfrm>
          <a:prstGeom prst="rect">
            <a:avLst/>
          </a:prstGeom>
          <a:noFill/>
        </p:spPr>
        <p:txBody>
          <a:bodyPr wrap="square">
            <a:spAutoFit/>
          </a:bodyPr>
          <a:lstStyle/>
          <a:p>
            <a:pPr>
              <a:spcBef>
                <a:spcPct val="0"/>
              </a:spcBef>
            </a:pPr>
            <a:r>
              <a:rPr lang="en-US" sz="4800" dirty="0">
                <a:solidFill>
                  <a:schemeClr val="bg1"/>
                </a:solidFill>
                <a:latin typeface="Times New Roman" panose="02020603050405020304" pitchFamily="18" charset="0"/>
                <a:ea typeface="+mj-ea"/>
                <a:cs typeface="+mj-cs"/>
              </a:rPr>
              <a:t>Sparse Matrices </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is is column 667">
            <a:extLst>
              <a:ext uri="{FF2B5EF4-FFF2-40B4-BE49-F238E27FC236}">
                <a16:creationId xmlns:a16="http://schemas.microsoft.com/office/drawing/2014/main" id="{D391D7E4-3EAD-9B52-CAB4-2A52E4F98101}"/>
              </a:ext>
            </a:extLst>
          </p:cNvPr>
          <p:cNvSpPr/>
          <p:nvPr/>
        </p:nvSpPr>
        <p:spPr bwMode="auto">
          <a:xfrm>
            <a:off x="7407213" y="1896668"/>
            <a:ext cx="936104" cy="3456384"/>
          </a:xfrm>
          <a:prstGeom prst="rect">
            <a:avLst/>
          </a:prstGeom>
          <a:solidFill>
            <a:srgbClr val="FFCC99"/>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defTabSz="914400" fontAlgn="base">
              <a:lnSpc>
                <a:spcPct val="90000"/>
              </a:lnSpc>
              <a:spcBef>
                <a:spcPct val="20000"/>
              </a:spcBef>
              <a:spcAft>
                <a:spcPct val="0"/>
              </a:spcAft>
              <a:buClr>
                <a:srgbClr val="006600"/>
              </a:buClr>
            </a:pPr>
            <a:r>
              <a:rPr lang="en-US" sz="1600" dirty="0">
                <a:solidFill>
                  <a:srgbClr val="336600"/>
                </a:solidFill>
                <a:latin typeface="Times New Roman" panose="02020603050405020304" pitchFamily="18" charset="0"/>
              </a:rPr>
              <a:t>This is column 667</a:t>
            </a:r>
          </a:p>
        </p:txBody>
      </p:sp>
      <p:sp>
        <p:nvSpPr>
          <p:cNvPr id="243" name="row arrow to 882,667"/>
          <p:cNvSpPr/>
          <p:nvPr/>
        </p:nvSpPr>
        <p:spPr bwMode="auto">
          <a:xfrm rot="16200000">
            <a:off x="8870285" y="2316345"/>
            <a:ext cx="140678" cy="1728862"/>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grpSp>
        <p:nvGrpSpPr>
          <p:cNvPr id="564" name="882,801"/>
          <p:cNvGrpSpPr/>
          <p:nvPr/>
        </p:nvGrpSpPr>
        <p:grpSpPr>
          <a:xfrm>
            <a:off x="9717876" y="4653753"/>
            <a:ext cx="579293" cy="433289"/>
            <a:chOff x="539552" y="1556792"/>
            <a:chExt cx="579293" cy="433289"/>
          </a:xfrm>
          <a:effectLst>
            <a:outerShdw blurRad="50800" dist="38100" dir="2700000" algn="tl" rotWithShape="0">
              <a:prstClr val="black">
                <a:alpha val="40000"/>
              </a:prstClr>
            </a:outerShdw>
          </a:effectLst>
        </p:grpSpPr>
        <p:grpSp>
          <p:nvGrpSpPr>
            <p:cNvPr id="565" name="Group 287"/>
            <p:cNvGrpSpPr/>
            <p:nvPr/>
          </p:nvGrpSpPr>
          <p:grpSpPr>
            <a:xfrm>
              <a:off x="539553" y="1700808"/>
              <a:ext cx="579292" cy="144016"/>
              <a:chOff x="2483768" y="5013176"/>
              <a:chExt cx="579292" cy="144016"/>
            </a:xfrm>
          </p:grpSpPr>
          <p:sp>
            <p:nvSpPr>
              <p:cNvPr id="570" name="Rectangle 569"/>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801</a:t>
                </a:r>
                <a:endParaRPr lang="en-US" sz="1200" dirty="0">
                  <a:solidFill>
                    <a:srgbClr val="336600"/>
                  </a:solidFill>
                  <a:latin typeface="Times New Roman" panose="02020603050405020304" pitchFamily="18" charset="0"/>
                </a:endParaRPr>
              </a:p>
            </p:txBody>
          </p:sp>
          <p:sp>
            <p:nvSpPr>
              <p:cNvPr id="571" name="Rectangle 570"/>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882</a:t>
                </a:r>
              </a:p>
            </p:txBody>
          </p:sp>
        </p:grpSp>
        <p:sp>
          <p:nvSpPr>
            <p:cNvPr id="566" name="Rectangle 565"/>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0.17</a:t>
              </a:r>
              <a:endParaRPr lang="en-US" sz="1200" dirty="0">
                <a:solidFill>
                  <a:srgbClr val="336600"/>
                </a:solidFill>
                <a:latin typeface="Times New Roman" panose="02020603050405020304" pitchFamily="18" charset="0"/>
              </a:endParaRPr>
            </a:p>
          </p:txBody>
        </p:sp>
        <p:grpSp>
          <p:nvGrpSpPr>
            <p:cNvPr id="567" name="Group 296"/>
            <p:cNvGrpSpPr/>
            <p:nvPr/>
          </p:nvGrpSpPr>
          <p:grpSpPr>
            <a:xfrm>
              <a:off x="539553" y="1846065"/>
              <a:ext cx="579292" cy="144016"/>
              <a:chOff x="2483768" y="5013176"/>
              <a:chExt cx="579292" cy="144016"/>
            </a:xfrm>
          </p:grpSpPr>
          <p:sp>
            <p:nvSpPr>
              <p:cNvPr id="568" name="Rectangle 567"/>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569" name="Rectangle 568"/>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440" name="Group 439"/>
          <p:cNvGrpSpPr/>
          <p:nvPr/>
        </p:nvGrpSpPr>
        <p:grpSpPr>
          <a:xfrm>
            <a:off x="9759838" y="5011375"/>
            <a:ext cx="192172" cy="413481"/>
            <a:chOff x="2003564" y="2071545"/>
            <a:chExt cx="192172" cy="413481"/>
          </a:xfrm>
          <a:effectLst>
            <a:outerShdw blurRad="50800" dist="38100" dir="2700000" algn="tl" rotWithShape="0">
              <a:prstClr val="black">
                <a:alpha val="40000"/>
              </a:prstClr>
            </a:outerShdw>
          </a:effectLst>
        </p:grpSpPr>
        <p:sp>
          <p:nvSpPr>
            <p:cNvPr id="441" name="Line 40"/>
            <p:cNvSpPr>
              <a:spLocks noChangeShapeType="1"/>
            </p:cNvSpPr>
            <p:nvPr/>
          </p:nvSpPr>
          <p:spPr bwMode="auto">
            <a:xfrm rot="5400000" flipV="1">
              <a:off x="1955954" y="2218193"/>
              <a:ext cx="293295" cy="0"/>
            </a:xfrm>
            <a:prstGeom prst="line">
              <a:avLst/>
            </a:prstGeom>
            <a:noFill/>
            <a:ln w="28575">
              <a:solidFill>
                <a:schemeClr val="bg1">
                  <a:lumMod val="50000"/>
                </a:schemeClr>
              </a:solidFill>
              <a:round/>
              <a:headEnd type="oval" w="med" len="med"/>
              <a:tailEnd type="triangle" w="med" len="med"/>
            </a:ln>
            <a:effectLst/>
          </p:spPr>
          <p:txBody>
            <a:bodyPr/>
            <a:lstStyle/>
            <a:p>
              <a:pPr>
                <a:buClr>
                  <a:srgbClr val="006600"/>
                </a:buClr>
              </a:pPr>
              <a:endParaRPr lang="en-US" sz="1200" dirty="0">
                <a:latin typeface="Times New Roman" panose="02020603050405020304" pitchFamily="18" charset="0"/>
              </a:endParaRPr>
            </a:p>
          </p:txBody>
        </p:sp>
        <p:sp>
          <p:nvSpPr>
            <p:cNvPr id="442" name="Line 26"/>
            <p:cNvSpPr>
              <a:spLocks noChangeShapeType="1"/>
            </p:cNvSpPr>
            <p:nvPr/>
          </p:nvSpPr>
          <p:spPr bwMode="auto">
            <a:xfrm>
              <a:off x="2003564" y="2388340"/>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443" name="Line 27"/>
            <p:cNvSpPr>
              <a:spLocks noChangeShapeType="1"/>
            </p:cNvSpPr>
            <p:nvPr/>
          </p:nvSpPr>
          <p:spPr bwMode="auto">
            <a:xfrm>
              <a:off x="2048781" y="2435444"/>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444" name="Line 28"/>
            <p:cNvSpPr>
              <a:spLocks noChangeShapeType="1"/>
            </p:cNvSpPr>
            <p:nvPr/>
          </p:nvSpPr>
          <p:spPr bwMode="auto">
            <a:xfrm>
              <a:off x="2075629" y="2485026"/>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611" name="152,326"/>
          <p:cNvGrpSpPr/>
          <p:nvPr/>
        </p:nvGrpSpPr>
        <p:grpSpPr>
          <a:xfrm>
            <a:off x="6458988" y="2157992"/>
            <a:ext cx="579293" cy="433289"/>
            <a:chOff x="539552" y="1556792"/>
            <a:chExt cx="579293" cy="433289"/>
          </a:xfrm>
          <a:effectLst>
            <a:outerShdw blurRad="50800" dist="38100" dir="2700000" algn="tl" rotWithShape="0">
              <a:prstClr val="black">
                <a:alpha val="40000"/>
              </a:prstClr>
            </a:outerShdw>
          </a:effectLst>
        </p:grpSpPr>
        <p:grpSp>
          <p:nvGrpSpPr>
            <p:cNvPr id="612" name="Group 287"/>
            <p:cNvGrpSpPr/>
            <p:nvPr/>
          </p:nvGrpSpPr>
          <p:grpSpPr>
            <a:xfrm>
              <a:off x="539553" y="1700808"/>
              <a:ext cx="579292" cy="144016"/>
              <a:chOff x="2483768" y="5013176"/>
              <a:chExt cx="579292" cy="144016"/>
            </a:xfrm>
          </p:grpSpPr>
          <p:sp>
            <p:nvSpPr>
              <p:cNvPr id="617" name="Rectangle 616"/>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326</a:t>
                </a:r>
              </a:p>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618" name="Rectangle 617"/>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a:buClr>
                    <a:srgbClr val="006600"/>
                  </a:buClr>
                </a:pPr>
                <a:r>
                  <a:rPr lang="en-US" sz="1200" dirty="0">
                    <a:latin typeface="Times New Roman" panose="02020603050405020304" pitchFamily="18" charset="0"/>
                  </a:rPr>
                  <a:t>152</a:t>
                </a:r>
              </a:p>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sp>
          <p:nvSpPr>
            <p:cNvPr id="613" name="Rectangle 612"/>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0.31</a:t>
              </a:r>
              <a:endParaRPr lang="en-US" sz="1200" dirty="0">
                <a:solidFill>
                  <a:srgbClr val="336600"/>
                </a:solidFill>
                <a:latin typeface="Times New Roman" panose="02020603050405020304" pitchFamily="18" charset="0"/>
              </a:endParaRPr>
            </a:p>
          </p:txBody>
        </p:sp>
        <p:grpSp>
          <p:nvGrpSpPr>
            <p:cNvPr id="614" name="Group 296"/>
            <p:cNvGrpSpPr/>
            <p:nvPr/>
          </p:nvGrpSpPr>
          <p:grpSpPr>
            <a:xfrm>
              <a:off x="539553" y="1846065"/>
              <a:ext cx="579292" cy="144016"/>
              <a:chOff x="2483768" y="5013176"/>
              <a:chExt cx="579292" cy="144016"/>
            </a:xfrm>
          </p:grpSpPr>
          <p:sp>
            <p:nvSpPr>
              <p:cNvPr id="615" name="Rectangle 614"/>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616" name="Rectangle 615"/>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619" name="882,667"/>
          <p:cNvGrpSpPr/>
          <p:nvPr/>
        </p:nvGrpSpPr>
        <p:grpSpPr>
          <a:xfrm>
            <a:off x="7545284" y="4654994"/>
            <a:ext cx="579293" cy="433289"/>
            <a:chOff x="539552" y="1556792"/>
            <a:chExt cx="579293" cy="433289"/>
          </a:xfrm>
          <a:effectLst>
            <a:outerShdw blurRad="50800" dist="38100" dir="2700000" algn="tl" rotWithShape="0">
              <a:prstClr val="black">
                <a:alpha val="40000"/>
              </a:prstClr>
            </a:outerShdw>
          </a:effectLst>
        </p:grpSpPr>
        <p:grpSp>
          <p:nvGrpSpPr>
            <p:cNvPr id="620" name="Group 287"/>
            <p:cNvGrpSpPr/>
            <p:nvPr/>
          </p:nvGrpSpPr>
          <p:grpSpPr>
            <a:xfrm>
              <a:off x="539553" y="1700808"/>
              <a:ext cx="579292" cy="144016"/>
              <a:chOff x="2483768" y="5013176"/>
              <a:chExt cx="579292" cy="144016"/>
            </a:xfrm>
          </p:grpSpPr>
          <p:sp>
            <p:nvSpPr>
              <p:cNvPr id="625" name="Rectangle 624"/>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667</a:t>
                </a:r>
                <a:endParaRPr lang="en-US" sz="1200" dirty="0">
                  <a:solidFill>
                    <a:srgbClr val="336600"/>
                  </a:solidFill>
                  <a:latin typeface="Times New Roman" panose="02020603050405020304" pitchFamily="18" charset="0"/>
                </a:endParaRPr>
              </a:p>
            </p:txBody>
          </p:sp>
          <p:sp>
            <p:nvSpPr>
              <p:cNvPr id="626" name="Rectangle 625"/>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882</a:t>
                </a:r>
              </a:p>
            </p:txBody>
          </p:sp>
        </p:grpSp>
        <p:sp>
          <p:nvSpPr>
            <p:cNvPr id="621" name="Rectangle 620"/>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0.53</a:t>
              </a:r>
              <a:endParaRPr lang="en-US" sz="1200" dirty="0">
                <a:solidFill>
                  <a:srgbClr val="336600"/>
                </a:solidFill>
                <a:latin typeface="Times New Roman" panose="02020603050405020304" pitchFamily="18" charset="0"/>
              </a:endParaRPr>
            </a:p>
          </p:txBody>
        </p:sp>
        <p:grpSp>
          <p:nvGrpSpPr>
            <p:cNvPr id="622" name="Group 296"/>
            <p:cNvGrpSpPr/>
            <p:nvPr/>
          </p:nvGrpSpPr>
          <p:grpSpPr>
            <a:xfrm>
              <a:off x="539553" y="1846065"/>
              <a:ext cx="579292" cy="144016"/>
              <a:chOff x="2483768" y="5013176"/>
              <a:chExt cx="579292" cy="144016"/>
            </a:xfrm>
          </p:grpSpPr>
          <p:sp>
            <p:nvSpPr>
              <p:cNvPr id="623" name="Rectangle 622"/>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624" name="Rectangle 623"/>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640" name="882,801 null"/>
          <p:cNvGrpSpPr/>
          <p:nvPr/>
        </p:nvGrpSpPr>
        <p:grpSpPr>
          <a:xfrm>
            <a:off x="9899786" y="5003240"/>
            <a:ext cx="530823" cy="354111"/>
            <a:chOff x="8123779" y="2073383"/>
            <a:chExt cx="589109" cy="354111"/>
          </a:xfrm>
        </p:grpSpPr>
        <p:sp>
          <p:nvSpPr>
            <p:cNvPr id="641" name="Arc 640"/>
            <p:cNvSpPr/>
            <p:nvPr/>
          </p:nvSpPr>
          <p:spPr bwMode="auto">
            <a:xfrm>
              <a:off x="8123779" y="2073383"/>
              <a:ext cx="495300" cy="354111"/>
            </a:xfrm>
            <a:prstGeom prst="arc">
              <a:avLst>
                <a:gd name="adj1" fmla="val 16200000"/>
                <a:gd name="adj2" fmla="val 478342"/>
              </a:avLst>
            </a:prstGeom>
            <a:noFill/>
            <a:ln w="25400" cap="flat" cmpd="sng" algn="ctr">
              <a:solidFill>
                <a:schemeClr val="bg1">
                  <a:lumMod val="50000"/>
                </a:schemeClr>
              </a:solidFill>
              <a:prstDash val="solid"/>
              <a:round/>
              <a:headEnd type="oval" w="med" len="med"/>
              <a:tailEnd type="triangl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642" name="Line 26"/>
            <p:cNvSpPr>
              <a:spLocks noChangeShapeType="1"/>
            </p:cNvSpPr>
            <p:nvPr/>
          </p:nvSpPr>
          <p:spPr bwMode="auto">
            <a:xfrm>
              <a:off x="8520716" y="2302526"/>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643" name="Line 27"/>
            <p:cNvSpPr>
              <a:spLocks noChangeShapeType="1"/>
            </p:cNvSpPr>
            <p:nvPr/>
          </p:nvSpPr>
          <p:spPr bwMode="auto">
            <a:xfrm>
              <a:off x="8565933" y="2349630"/>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644" name="Line 28"/>
            <p:cNvSpPr>
              <a:spLocks noChangeShapeType="1"/>
            </p:cNvSpPr>
            <p:nvPr/>
          </p:nvSpPr>
          <p:spPr bwMode="auto">
            <a:xfrm>
              <a:off x="8592781" y="2399212"/>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217" name="168,801 null"/>
          <p:cNvGrpSpPr/>
          <p:nvPr/>
        </p:nvGrpSpPr>
        <p:grpSpPr>
          <a:xfrm>
            <a:off x="9899380" y="3345884"/>
            <a:ext cx="540021" cy="354111"/>
            <a:chOff x="8123779" y="2073383"/>
            <a:chExt cx="589109" cy="354111"/>
          </a:xfrm>
        </p:grpSpPr>
        <p:sp>
          <p:nvSpPr>
            <p:cNvPr id="218" name="Arc 217"/>
            <p:cNvSpPr/>
            <p:nvPr/>
          </p:nvSpPr>
          <p:spPr bwMode="auto">
            <a:xfrm>
              <a:off x="8123779" y="2073383"/>
              <a:ext cx="495300" cy="354111"/>
            </a:xfrm>
            <a:prstGeom prst="arc">
              <a:avLst>
                <a:gd name="adj1" fmla="val 16200000"/>
                <a:gd name="adj2" fmla="val 478342"/>
              </a:avLst>
            </a:prstGeom>
            <a:noFill/>
            <a:ln w="25400" cap="flat" cmpd="sng" algn="ctr">
              <a:solidFill>
                <a:schemeClr val="bg1">
                  <a:lumMod val="50000"/>
                </a:schemeClr>
              </a:solidFill>
              <a:prstDash val="solid"/>
              <a:round/>
              <a:headEnd type="oval" w="med" len="med"/>
              <a:tailEnd type="triangl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19" name="Line 26"/>
            <p:cNvSpPr>
              <a:spLocks noChangeShapeType="1"/>
            </p:cNvSpPr>
            <p:nvPr/>
          </p:nvSpPr>
          <p:spPr bwMode="auto">
            <a:xfrm>
              <a:off x="8520716" y="2302526"/>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20" name="Line 27"/>
            <p:cNvSpPr>
              <a:spLocks noChangeShapeType="1"/>
            </p:cNvSpPr>
            <p:nvPr/>
          </p:nvSpPr>
          <p:spPr bwMode="auto">
            <a:xfrm>
              <a:off x="8565933" y="2349630"/>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21" name="Line 28"/>
            <p:cNvSpPr>
              <a:spLocks noChangeShapeType="1"/>
            </p:cNvSpPr>
            <p:nvPr/>
          </p:nvSpPr>
          <p:spPr bwMode="auto">
            <a:xfrm>
              <a:off x="8592781" y="2399212"/>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228" name="Group 227"/>
          <p:cNvGrpSpPr/>
          <p:nvPr/>
        </p:nvGrpSpPr>
        <p:grpSpPr>
          <a:xfrm>
            <a:off x="7584150" y="5012391"/>
            <a:ext cx="192172" cy="413481"/>
            <a:chOff x="2003564" y="2071545"/>
            <a:chExt cx="192172" cy="413481"/>
          </a:xfrm>
          <a:effectLst>
            <a:outerShdw blurRad="50800" dist="38100" dir="2700000" algn="tl" rotWithShape="0">
              <a:prstClr val="black">
                <a:alpha val="40000"/>
              </a:prstClr>
            </a:outerShdw>
          </a:effectLst>
        </p:grpSpPr>
        <p:sp>
          <p:nvSpPr>
            <p:cNvPr id="229" name="Line 40"/>
            <p:cNvSpPr>
              <a:spLocks noChangeShapeType="1"/>
            </p:cNvSpPr>
            <p:nvPr/>
          </p:nvSpPr>
          <p:spPr bwMode="auto">
            <a:xfrm rot="5400000" flipV="1">
              <a:off x="1955954" y="2218193"/>
              <a:ext cx="293295" cy="0"/>
            </a:xfrm>
            <a:prstGeom prst="line">
              <a:avLst/>
            </a:prstGeom>
            <a:noFill/>
            <a:ln w="28575">
              <a:solidFill>
                <a:schemeClr val="bg1">
                  <a:lumMod val="50000"/>
                </a:schemeClr>
              </a:solidFill>
              <a:round/>
              <a:headEnd type="oval" w="med" len="med"/>
              <a:tailEnd type="triangle" w="med" len="med"/>
            </a:ln>
            <a:effectLst/>
          </p:spPr>
          <p:txBody>
            <a:bodyPr/>
            <a:lstStyle/>
            <a:p>
              <a:pPr>
                <a:buClr>
                  <a:srgbClr val="006600"/>
                </a:buClr>
              </a:pPr>
              <a:endParaRPr lang="en-US" sz="1200" dirty="0">
                <a:latin typeface="Times New Roman" panose="02020603050405020304" pitchFamily="18" charset="0"/>
              </a:endParaRPr>
            </a:p>
          </p:txBody>
        </p:sp>
        <p:sp>
          <p:nvSpPr>
            <p:cNvPr id="230" name="Line 26"/>
            <p:cNvSpPr>
              <a:spLocks noChangeShapeType="1"/>
            </p:cNvSpPr>
            <p:nvPr/>
          </p:nvSpPr>
          <p:spPr bwMode="auto">
            <a:xfrm>
              <a:off x="2003564" y="2388340"/>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31" name="Line 27"/>
            <p:cNvSpPr>
              <a:spLocks noChangeShapeType="1"/>
            </p:cNvSpPr>
            <p:nvPr/>
          </p:nvSpPr>
          <p:spPr bwMode="auto">
            <a:xfrm>
              <a:off x="2048781" y="2435444"/>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32" name="Line 28"/>
            <p:cNvSpPr>
              <a:spLocks noChangeShapeType="1"/>
            </p:cNvSpPr>
            <p:nvPr/>
          </p:nvSpPr>
          <p:spPr bwMode="auto">
            <a:xfrm>
              <a:off x="2075629" y="2485026"/>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238" name="Group 237"/>
          <p:cNvGrpSpPr/>
          <p:nvPr/>
        </p:nvGrpSpPr>
        <p:grpSpPr>
          <a:xfrm>
            <a:off x="6506268" y="2511464"/>
            <a:ext cx="192172" cy="402753"/>
            <a:chOff x="2003564" y="2071545"/>
            <a:chExt cx="192172" cy="402753"/>
          </a:xfrm>
          <a:effectLst>
            <a:outerShdw blurRad="50800" dist="38100" dir="2700000" algn="tl" rotWithShape="0">
              <a:prstClr val="black">
                <a:alpha val="40000"/>
              </a:prstClr>
            </a:outerShdw>
          </a:effectLst>
        </p:grpSpPr>
        <p:sp>
          <p:nvSpPr>
            <p:cNvPr id="239" name="Line 40"/>
            <p:cNvSpPr>
              <a:spLocks noChangeShapeType="1"/>
            </p:cNvSpPr>
            <p:nvPr/>
          </p:nvSpPr>
          <p:spPr bwMode="auto">
            <a:xfrm rot="5400000" flipV="1">
              <a:off x="1955954" y="2218193"/>
              <a:ext cx="293295" cy="0"/>
            </a:xfrm>
            <a:prstGeom prst="line">
              <a:avLst/>
            </a:prstGeom>
            <a:noFill/>
            <a:ln w="25400">
              <a:solidFill>
                <a:schemeClr val="bg1">
                  <a:lumMod val="50000"/>
                </a:schemeClr>
              </a:solidFill>
              <a:round/>
              <a:headEnd type="oval" w="med" len="med"/>
              <a:tailEnd type="triangle" w="med" len="med"/>
            </a:ln>
            <a:effectLst/>
          </p:spPr>
          <p:txBody>
            <a:bodyPr/>
            <a:lstStyle/>
            <a:p>
              <a:pPr>
                <a:buClr>
                  <a:srgbClr val="006600"/>
                </a:buClr>
              </a:pPr>
              <a:endParaRPr lang="en-US" sz="1200" dirty="0">
                <a:latin typeface="Times New Roman" panose="02020603050405020304" pitchFamily="18" charset="0"/>
              </a:endParaRPr>
            </a:p>
          </p:txBody>
        </p:sp>
        <p:sp>
          <p:nvSpPr>
            <p:cNvPr id="240" name="Line 26"/>
            <p:cNvSpPr>
              <a:spLocks noChangeShapeType="1"/>
            </p:cNvSpPr>
            <p:nvPr/>
          </p:nvSpPr>
          <p:spPr bwMode="auto">
            <a:xfrm>
              <a:off x="2003564" y="2377612"/>
              <a:ext cx="192172" cy="0"/>
            </a:xfrm>
            <a:prstGeom prst="line">
              <a:avLst/>
            </a:prstGeom>
            <a:noFill/>
            <a:ln w="25400">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41" name="Line 27"/>
            <p:cNvSpPr>
              <a:spLocks noChangeShapeType="1"/>
            </p:cNvSpPr>
            <p:nvPr/>
          </p:nvSpPr>
          <p:spPr bwMode="auto">
            <a:xfrm>
              <a:off x="2048781" y="2424716"/>
              <a:ext cx="121520" cy="0"/>
            </a:xfrm>
            <a:prstGeom prst="line">
              <a:avLst/>
            </a:prstGeom>
            <a:noFill/>
            <a:ln w="25400">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42" name="Line 28"/>
            <p:cNvSpPr>
              <a:spLocks noChangeShapeType="1"/>
            </p:cNvSpPr>
            <p:nvPr/>
          </p:nvSpPr>
          <p:spPr bwMode="auto">
            <a:xfrm>
              <a:off x="2075629" y="2474298"/>
              <a:ext cx="73477" cy="0"/>
            </a:xfrm>
            <a:prstGeom prst="line">
              <a:avLst/>
            </a:prstGeom>
            <a:noFill/>
            <a:ln w="25400">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257" name="152,326 null"/>
          <p:cNvGrpSpPr/>
          <p:nvPr/>
        </p:nvGrpSpPr>
        <p:grpSpPr>
          <a:xfrm>
            <a:off x="6650228" y="2511606"/>
            <a:ext cx="589109" cy="354111"/>
            <a:chOff x="8123779" y="2073383"/>
            <a:chExt cx="589109" cy="354111"/>
          </a:xfrm>
        </p:grpSpPr>
        <p:sp>
          <p:nvSpPr>
            <p:cNvPr id="258" name="Arc 257"/>
            <p:cNvSpPr/>
            <p:nvPr/>
          </p:nvSpPr>
          <p:spPr bwMode="auto">
            <a:xfrm>
              <a:off x="8123779" y="2073383"/>
              <a:ext cx="495300" cy="354111"/>
            </a:xfrm>
            <a:prstGeom prst="arc">
              <a:avLst>
                <a:gd name="adj1" fmla="val 16200000"/>
                <a:gd name="adj2" fmla="val 478342"/>
              </a:avLst>
            </a:prstGeom>
            <a:noFill/>
            <a:ln w="25400" cap="flat" cmpd="sng" algn="ctr">
              <a:solidFill>
                <a:schemeClr val="bg1">
                  <a:lumMod val="50000"/>
                </a:schemeClr>
              </a:solidFill>
              <a:prstDash val="solid"/>
              <a:round/>
              <a:headEnd type="oval" w="med" len="med"/>
              <a:tailEnd type="triangl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59" name="Line 26"/>
            <p:cNvSpPr>
              <a:spLocks noChangeShapeType="1"/>
            </p:cNvSpPr>
            <p:nvPr/>
          </p:nvSpPr>
          <p:spPr bwMode="auto">
            <a:xfrm>
              <a:off x="8520716" y="2302526"/>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60" name="Line 27"/>
            <p:cNvSpPr>
              <a:spLocks noChangeShapeType="1"/>
            </p:cNvSpPr>
            <p:nvPr/>
          </p:nvSpPr>
          <p:spPr bwMode="auto">
            <a:xfrm>
              <a:off x="8565933" y="2349630"/>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61" name="Line 28"/>
            <p:cNvSpPr>
              <a:spLocks noChangeShapeType="1"/>
            </p:cNvSpPr>
            <p:nvPr/>
          </p:nvSpPr>
          <p:spPr bwMode="auto">
            <a:xfrm>
              <a:off x="8592781" y="2399212"/>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273" name="617,713"/>
          <p:cNvGrpSpPr/>
          <p:nvPr/>
        </p:nvGrpSpPr>
        <p:grpSpPr>
          <a:xfrm>
            <a:off x="8631580" y="3814176"/>
            <a:ext cx="579293" cy="433289"/>
            <a:chOff x="539552" y="1556792"/>
            <a:chExt cx="579293" cy="433289"/>
          </a:xfrm>
          <a:effectLst>
            <a:outerShdw blurRad="50800" dist="38100" dir="2700000" algn="tl" rotWithShape="0">
              <a:prstClr val="black">
                <a:alpha val="40000"/>
              </a:prstClr>
            </a:outerShdw>
          </a:effectLst>
        </p:grpSpPr>
        <p:grpSp>
          <p:nvGrpSpPr>
            <p:cNvPr id="274" name="Group 287"/>
            <p:cNvGrpSpPr/>
            <p:nvPr/>
          </p:nvGrpSpPr>
          <p:grpSpPr>
            <a:xfrm>
              <a:off x="539553" y="1700808"/>
              <a:ext cx="579292" cy="144016"/>
              <a:chOff x="2483768" y="5013176"/>
              <a:chExt cx="579292" cy="144016"/>
            </a:xfrm>
          </p:grpSpPr>
          <p:sp>
            <p:nvSpPr>
              <p:cNvPr id="279" name="Rectangle 278"/>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713</a:t>
                </a:r>
                <a:endParaRPr lang="en-US" sz="1200" dirty="0">
                  <a:solidFill>
                    <a:srgbClr val="336600"/>
                  </a:solidFill>
                  <a:latin typeface="Times New Roman" panose="02020603050405020304" pitchFamily="18" charset="0"/>
                </a:endParaRPr>
              </a:p>
            </p:txBody>
          </p:sp>
          <p:sp>
            <p:nvSpPr>
              <p:cNvPr id="280" name="Rectangle 279"/>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a:buClr>
                    <a:srgbClr val="006600"/>
                  </a:buClr>
                </a:pPr>
                <a:r>
                  <a:rPr lang="en-US" sz="1200" dirty="0">
                    <a:latin typeface="Times New Roman" panose="02020603050405020304" pitchFamily="18" charset="0"/>
                  </a:rPr>
                  <a:t>617</a:t>
                </a:r>
              </a:p>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sp>
          <p:nvSpPr>
            <p:cNvPr id="275" name="Rectangle 274"/>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0.22</a:t>
              </a:r>
              <a:endParaRPr lang="en-US" sz="1200" dirty="0">
                <a:solidFill>
                  <a:srgbClr val="336600"/>
                </a:solidFill>
                <a:latin typeface="Times New Roman" panose="02020603050405020304" pitchFamily="18" charset="0"/>
              </a:endParaRPr>
            </a:p>
          </p:txBody>
        </p:sp>
        <p:grpSp>
          <p:nvGrpSpPr>
            <p:cNvPr id="276" name="Group 296"/>
            <p:cNvGrpSpPr/>
            <p:nvPr/>
          </p:nvGrpSpPr>
          <p:grpSpPr>
            <a:xfrm>
              <a:off x="539553" y="1846065"/>
              <a:ext cx="579292" cy="144016"/>
              <a:chOff x="2483768" y="5013176"/>
              <a:chExt cx="579292" cy="144016"/>
            </a:xfrm>
          </p:grpSpPr>
          <p:sp>
            <p:nvSpPr>
              <p:cNvPr id="277" name="Rectangle 276"/>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278" name="Rectangle 277"/>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287" name="617,713 null"/>
          <p:cNvGrpSpPr/>
          <p:nvPr/>
        </p:nvGrpSpPr>
        <p:grpSpPr>
          <a:xfrm>
            <a:off x="8808938" y="4167790"/>
            <a:ext cx="589109" cy="354111"/>
            <a:chOff x="8123779" y="2073383"/>
            <a:chExt cx="589109" cy="354111"/>
          </a:xfrm>
        </p:grpSpPr>
        <p:sp>
          <p:nvSpPr>
            <p:cNvPr id="289" name="Arc 288"/>
            <p:cNvSpPr/>
            <p:nvPr/>
          </p:nvSpPr>
          <p:spPr bwMode="auto">
            <a:xfrm>
              <a:off x="8123779" y="2073383"/>
              <a:ext cx="495300" cy="354111"/>
            </a:xfrm>
            <a:prstGeom prst="arc">
              <a:avLst>
                <a:gd name="adj1" fmla="val 16200000"/>
                <a:gd name="adj2" fmla="val 478342"/>
              </a:avLst>
            </a:prstGeom>
            <a:noFill/>
            <a:ln w="25400" cap="flat" cmpd="sng" algn="ctr">
              <a:solidFill>
                <a:schemeClr val="bg1">
                  <a:lumMod val="50000"/>
                </a:schemeClr>
              </a:solidFill>
              <a:prstDash val="solid"/>
              <a:round/>
              <a:headEnd type="oval" w="med" len="med"/>
              <a:tailEnd type="triangl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90" name="Line 26"/>
            <p:cNvSpPr>
              <a:spLocks noChangeShapeType="1"/>
            </p:cNvSpPr>
            <p:nvPr/>
          </p:nvSpPr>
          <p:spPr bwMode="auto">
            <a:xfrm>
              <a:off x="8520716" y="2302526"/>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91" name="Line 27"/>
            <p:cNvSpPr>
              <a:spLocks noChangeShapeType="1"/>
            </p:cNvSpPr>
            <p:nvPr/>
          </p:nvSpPr>
          <p:spPr bwMode="auto">
            <a:xfrm>
              <a:off x="8565933" y="2349630"/>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92" name="Line 28"/>
            <p:cNvSpPr>
              <a:spLocks noChangeShapeType="1"/>
            </p:cNvSpPr>
            <p:nvPr/>
          </p:nvSpPr>
          <p:spPr bwMode="auto">
            <a:xfrm>
              <a:off x="8592781" y="2399212"/>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294" name="927,713"/>
          <p:cNvGrpSpPr/>
          <p:nvPr/>
        </p:nvGrpSpPr>
        <p:grpSpPr>
          <a:xfrm>
            <a:off x="8631580" y="5498408"/>
            <a:ext cx="579293" cy="433289"/>
            <a:chOff x="539552" y="1556792"/>
            <a:chExt cx="579293" cy="433289"/>
          </a:xfrm>
          <a:effectLst>
            <a:outerShdw blurRad="50800" dist="38100" dir="2700000" algn="tl" rotWithShape="0">
              <a:prstClr val="black">
                <a:alpha val="40000"/>
              </a:prstClr>
            </a:outerShdw>
          </a:effectLst>
        </p:grpSpPr>
        <p:grpSp>
          <p:nvGrpSpPr>
            <p:cNvPr id="295" name="Group 287"/>
            <p:cNvGrpSpPr/>
            <p:nvPr/>
          </p:nvGrpSpPr>
          <p:grpSpPr>
            <a:xfrm>
              <a:off x="539553" y="1700808"/>
              <a:ext cx="579292" cy="144016"/>
              <a:chOff x="2483768" y="5013176"/>
              <a:chExt cx="579292" cy="144016"/>
            </a:xfrm>
          </p:grpSpPr>
          <p:sp>
            <p:nvSpPr>
              <p:cNvPr id="304" name="Rectangle 303"/>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713</a:t>
                </a:r>
                <a:endParaRPr lang="en-US" sz="1200" dirty="0">
                  <a:solidFill>
                    <a:srgbClr val="336600"/>
                  </a:solidFill>
                  <a:latin typeface="Times New Roman" panose="02020603050405020304" pitchFamily="18" charset="0"/>
                </a:endParaRPr>
              </a:p>
            </p:txBody>
          </p:sp>
          <p:sp>
            <p:nvSpPr>
              <p:cNvPr id="305" name="Rectangle 304"/>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a:buClr>
                    <a:srgbClr val="006600"/>
                  </a:buClr>
                </a:pPr>
                <a:r>
                  <a:rPr lang="en-US" sz="1200" dirty="0">
                    <a:latin typeface="Times New Roman" panose="02020603050405020304" pitchFamily="18" charset="0"/>
                  </a:rPr>
                  <a:t>927</a:t>
                </a:r>
              </a:p>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sp>
          <p:nvSpPr>
            <p:cNvPr id="300" name="Rectangle 299"/>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0.46</a:t>
              </a:r>
              <a:endParaRPr lang="en-US" sz="1200" dirty="0">
                <a:solidFill>
                  <a:srgbClr val="336600"/>
                </a:solidFill>
                <a:latin typeface="Times New Roman" panose="02020603050405020304" pitchFamily="18" charset="0"/>
              </a:endParaRPr>
            </a:p>
          </p:txBody>
        </p:sp>
        <p:grpSp>
          <p:nvGrpSpPr>
            <p:cNvPr id="301" name="Group 296"/>
            <p:cNvGrpSpPr/>
            <p:nvPr/>
          </p:nvGrpSpPr>
          <p:grpSpPr>
            <a:xfrm>
              <a:off x="539553" y="1846065"/>
              <a:ext cx="579292" cy="144016"/>
              <a:chOff x="2483768" y="5013176"/>
              <a:chExt cx="579292" cy="144016"/>
            </a:xfrm>
          </p:grpSpPr>
          <p:sp>
            <p:nvSpPr>
              <p:cNvPr id="302" name="Rectangle 301"/>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303" name="Rectangle 302"/>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306" name="Group 305"/>
          <p:cNvGrpSpPr/>
          <p:nvPr/>
        </p:nvGrpSpPr>
        <p:grpSpPr>
          <a:xfrm>
            <a:off x="8684211" y="5854382"/>
            <a:ext cx="192172" cy="413481"/>
            <a:chOff x="2003564" y="2071545"/>
            <a:chExt cx="192172" cy="413481"/>
          </a:xfrm>
          <a:effectLst>
            <a:outerShdw blurRad="50800" dist="38100" dir="2700000" algn="tl" rotWithShape="0">
              <a:prstClr val="black">
                <a:alpha val="40000"/>
              </a:prstClr>
            </a:outerShdw>
          </a:effectLst>
        </p:grpSpPr>
        <p:sp>
          <p:nvSpPr>
            <p:cNvPr id="307" name="Line 40"/>
            <p:cNvSpPr>
              <a:spLocks noChangeShapeType="1"/>
            </p:cNvSpPr>
            <p:nvPr/>
          </p:nvSpPr>
          <p:spPr bwMode="auto">
            <a:xfrm rot="5400000" flipV="1">
              <a:off x="1955954" y="2218193"/>
              <a:ext cx="293295" cy="0"/>
            </a:xfrm>
            <a:prstGeom prst="line">
              <a:avLst/>
            </a:prstGeom>
            <a:noFill/>
            <a:ln w="28575">
              <a:solidFill>
                <a:schemeClr val="bg1">
                  <a:lumMod val="50000"/>
                </a:schemeClr>
              </a:solidFill>
              <a:round/>
              <a:headEnd type="oval" w="med" len="med"/>
              <a:tailEnd type="triangle" w="med" len="med"/>
            </a:ln>
            <a:effectLst/>
          </p:spPr>
          <p:txBody>
            <a:bodyPr/>
            <a:lstStyle/>
            <a:p>
              <a:pPr>
                <a:buClr>
                  <a:srgbClr val="006600"/>
                </a:buClr>
              </a:pPr>
              <a:endParaRPr lang="en-US" sz="1200" dirty="0">
                <a:latin typeface="Times New Roman" panose="02020603050405020304" pitchFamily="18" charset="0"/>
              </a:endParaRPr>
            </a:p>
          </p:txBody>
        </p:sp>
        <p:sp>
          <p:nvSpPr>
            <p:cNvPr id="308" name="Line 26"/>
            <p:cNvSpPr>
              <a:spLocks noChangeShapeType="1"/>
            </p:cNvSpPr>
            <p:nvPr/>
          </p:nvSpPr>
          <p:spPr bwMode="auto">
            <a:xfrm>
              <a:off x="2003564" y="2388340"/>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309" name="Line 27"/>
            <p:cNvSpPr>
              <a:spLocks noChangeShapeType="1"/>
            </p:cNvSpPr>
            <p:nvPr/>
          </p:nvSpPr>
          <p:spPr bwMode="auto">
            <a:xfrm>
              <a:off x="2048781" y="2435444"/>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310" name="Line 28"/>
            <p:cNvSpPr>
              <a:spLocks noChangeShapeType="1"/>
            </p:cNvSpPr>
            <p:nvPr/>
          </p:nvSpPr>
          <p:spPr bwMode="auto">
            <a:xfrm>
              <a:off x="2075629" y="2485026"/>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311" name="927,713 null"/>
          <p:cNvGrpSpPr/>
          <p:nvPr/>
        </p:nvGrpSpPr>
        <p:grpSpPr>
          <a:xfrm>
            <a:off x="8797804" y="5855071"/>
            <a:ext cx="589109" cy="354111"/>
            <a:chOff x="8123779" y="2073383"/>
            <a:chExt cx="589109" cy="354111"/>
          </a:xfrm>
        </p:grpSpPr>
        <p:sp>
          <p:nvSpPr>
            <p:cNvPr id="312" name="Arc 311"/>
            <p:cNvSpPr/>
            <p:nvPr/>
          </p:nvSpPr>
          <p:spPr bwMode="auto">
            <a:xfrm>
              <a:off x="8123779" y="2073383"/>
              <a:ext cx="495300" cy="354111"/>
            </a:xfrm>
            <a:prstGeom prst="arc">
              <a:avLst>
                <a:gd name="adj1" fmla="val 16200000"/>
                <a:gd name="adj2" fmla="val 478342"/>
              </a:avLst>
            </a:prstGeom>
            <a:noFill/>
            <a:ln w="25400" cap="flat" cmpd="sng" algn="ctr">
              <a:solidFill>
                <a:schemeClr val="bg1">
                  <a:lumMod val="50000"/>
                </a:schemeClr>
              </a:solidFill>
              <a:prstDash val="solid"/>
              <a:round/>
              <a:headEnd type="oval" w="med" len="med"/>
              <a:tailEnd type="triangl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313" name="Line 26"/>
            <p:cNvSpPr>
              <a:spLocks noChangeShapeType="1"/>
            </p:cNvSpPr>
            <p:nvPr/>
          </p:nvSpPr>
          <p:spPr bwMode="auto">
            <a:xfrm>
              <a:off x="8520716" y="2302526"/>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314" name="Line 27"/>
            <p:cNvSpPr>
              <a:spLocks noChangeShapeType="1"/>
            </p:cNvSpPr>
            <p:nvPr/>
          </p:nvSpPr>
          <p:spPr bwMode="auto">
            <a:xfrm>
              <a:off x="8565933" y="2349630"/>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315" name="Line 28"/>
            <p:cNvSpPr>
              <a:spLocks noChangeShapeType="1"/>
            </p:cNvSpPr>
            <p:nvPr/>
          </p:nvSpPr>
          <p:spPr bwMode="auto">
            <a:xfrm>
              <a:off x="8592781" y="2399212"/>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sp>
        <p:nvSpPr>
          <p:cNvPr id="362" name="Freeform 361"/>
          <p:cNvSpPr/>
          <p:nvPr/>
        </p:nvSpPr>
        <p:spPr bwMode="auto">
          <a:xfrm rot="16200000">
            <a:off x="8750323" y="4071954"/>
            <a:ext cx="186188" cy="1744395"/>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316" name="Freeform 315"/>
          <p:cNvSpPr/>
          <p:nvPr/>
        </p:nvSpPr>
        <p:spPr bwMode="auto">
          <a:xfrm>
            <a:off x="8780630" y="4175635"/>
            <a:ext cx="195691" cy="1316128"/>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5" name="illustration">
            <a:extLst>
              <a:ext uri="{FF2B5EF4-FFF2-40B4-BE49-F238E27FC236}">
                <a16:creationId xmlns:a16="http://schemas.microsoft.com/office/drawing/2014/main" id="{C3A071F6-148B-A101-EDB1-C0F4A6B829F7}"/>
              </a:ext>
            </a:extLst>
          </p:cNvPr>
          <p:cNvSpPr>
            <a:spLocks noChangeArrowheads="1"/>
          </p:cNvSpPr>
          <p:nvPr/>
        </p:nvSpPr>
        <p:spPr bwMode="auto">
          <a:xfrm>
            <a:off x="629391" y="2187804"/>
            <a:ext cx="5414174" cy="2967818"/>
          </a:xfrm>
          <a:prstGeom prst="wedgeRoundRectCallout">
            <a:avLst>
              <a:gd name="adj1" fmla="val -21157"/>
              <a:gd name="adj2" fmla="val 27064"/>
              <a:gd name="adj3" fmla="val 16667"/>
            </a:avLst>
          </a:prstGeom>
          <a:solidFill>
            <a:schemeClr val="accent3">
              <a:lumMod val="60000"/>
              <a:lumOff val="40000"/>
            </a:schemeClr>
          </a:solidFill>
          <a:ln w="936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tIns="46800" rIns="0" bIns="46800" anchor="ctr"/>
          <a:lstStyle/>
          <a:p>
            <a:pPr marL="176213" indent="-176213">
              <a:spcBef>
                <a:spcPts val="1250"/>
              </a:spcBef>
              <a:buClr>
                <a:schemeClr val="tx1"/>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dirty="0">
                <a:latin typeface="Times New Roman" panose="02020603050405020304" pitchFamily="18" charset="0"/>
              </a:rPr>
              <a:t>  </a:t>
            </a:r>
            <a:r>
              <a:rPr lang="en-US" sz="2800" dirty="0">
                <a:latin typeface="Times New Roman" panose="02020603050405020304" pitchFamily="18" charset="0"/>
              </a:rPr>
              <a:t>Here’s an illustration of a (very!) sparse matrix having only 7 non-zero elements in it: m</a:t>
            </a:r>
            <a:r>
              <a:rPr lang="en-US" sz="2800" baseline="-25000" dirty="0">
                <a:latin typeface="Times New Roman" panose="02020603050405020304" pitchFamily="18" charset="0"/>
              </a:rPr>
              <a:t>152,326</a:t>
            </a:r>
            <a:r>
              <a:rPr lang="en-US" sz="2800" dirty="0">
                <a:latin typeface="Times New Roman" panose="02020603050405020304" pitchFamily="18" charset="0"/>
              </a:rPr>
              <a:t>, m</a:t>
            </a:r>
            <a:r>
              <a:rPr lang="en-US" sz="2800" baseline="-25000" dirty="0">
                <a:latin typeface="Times New Roman" panose="02020603050405020304" pitchFamily="18" charset="0"/>
              </a:rPr>
              <a:t>168,667</a:t>
            </a:r>
            <a:r>
              <a:rPr lang="en-US" sz="2800" dirty="0">
                <a:latin typeface="Times New Roman" panose="02020603050405020304" pitchFamily="18" charset="0"/>
              </a:rPr>
              <a:t>, m</a:t>
            </a:r>
            <a:r>
              <a:rPr lang="en-US" sz="2800" baseline="-25000" dirty="0">
                <a:latin typeface="Times New Roman" panose="02020603050405020304" pitchFamily="18" charset="0"/>
              </a:rPr>
              <a:t>168,801</a:t>
            </a:r>
            <a:r>
              <a:rPr lang="en-US" sz="2800" dirty="0">
                <a:latin typeface="Times New Roman" panose="02020603050405020304" pitchFamily="18" charset="0"/>
              </a:rPr>
              <a:t>, m</a:t>
            </a:r>
            <a:r>
              <a:rPr lang="en-US" sz="2800" baseline="-25000" dirty="0">
                <a:latin typeface="Times New Roman" panose="02020603050405020304" pitchFamily="18" charset="0"/>
              </a:rPr>
              <a:t>617,713</a:t>
            </a:r>
            <a:r>
              <a:rPr lang="en-US" sz="2800" dirty="0">
                <a:latin typeface="Times New Roman" panose="02020603050405020304" pitchFamily="18" charset="0"/>
              </a:rPr>
              <a:t>, m</a:t>
            </a:r>
            <a:r>
              <a:rPr lang="en-US" sz="2800" baseline="-25000" dirty="0">
                <a:latin typeface="Times New Roman" panose="02020603050405020304" pitchFamily="18" charset="0"/>
              </a:rPr>
              <a:t>882,667</a:t>
            </a:r>
            <a:r>
              <a:rPr lang="en-US" sz="2800" dirty="0">
                <a:latin typeface="Times New Roman" panose="02020603050405020304" pitchFamily="18" charset="0"/>
              </a:rPr>
              <a:t>, m</a:t>
            </a:r>
            <a:r>
              <a:rPr lang="en-US" sz="2800" baseline="-25000" dirty="0">
                <a:latin typeface="Times New Roman" panose="02020603050405020304" pitchFamily="18" charset="0"/>
              </a:rPr>
              <a:t>882,801</a:t>
            </a:r>
            <a:r>
              <a:rPr lang="en-US" sz="2800" dirty="0">
                <a:latin typeface="Times New Roman" panose="02020603050405020304" pitchFamily="18" charset="0"/>
              </a:rPr>
              <a:t>, and m</a:t>
            </a:r>
            <a:r>
              <a:rPr lang="en-US" sz="2800" baseline="-25000" dirty="0">
                <a:latin typeface="Times New Roman" panose="02020603050405020304" pitchFamily="18" charset="0"/>
              </a:rPr>
              <a:t>927,713</a:t>
            </a:r>
            <a:r>
              <a:rPr lang="en-US" sz="2800" dirty="0">
                <a:latin typeface="Times New Roman" panose="02020603050405020304" pitchFamily="18" charset="0"/>
              </a:rPr>
              <a:t>   </a:t>
            </a:r>
          </a:p>
          <a:p>
            <a:pPr marL="176213" indent="-176213">
              <a:spcBef>
                <a:spcPts val="1250"/>
              </a:spcBef>
              <a:buClr>
                <a:schemeClr val="tx1"/>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dirty="0">
              <a:latin typeface="Times New Roman" panose="02020603050405020304" pitchFamily="18" charset="0"/>
            </a:endParaRPr>
          </a:p>
        </p:txBody>
      </p:sp>
      <p:sp>
        <p:nvSpPr>
          <p:cNvPr id="7" name="TextBox 6">
            <a:extLst>
              <a:ext uri="{FF2B5EF4-FFF2-40B4-BE49-F238E27FC236}">
                <a16:creationId xmlns:a16="http://schemas.microsoft.com/office/drawing/2014/main" id="{B77B1B46-8854-63E2-81AF-F00AF7AFE817}"/>
              </a:ext>
            </a:extLst>
          </p:cNvPr>
          <p:cNvSpPr txBox="1"/>
          <p:nvPr/>
        </p:nvSpPr>
        <p:spPr>
          <a:xfrm>
            <a:off x="629391" y="868680"/>
            <a:ext cx="6100762" cy="830997"/>
          </a:xfrm>
          <a:prstGeom prst="rect">
            <a:avLst/>
          </a:prstGeom>
          <a:noFill/>
        </p:spPr>
        <p:txBody>
          <a:bodyPr wrap="square">
            <a:spAutoFit/>
          </a:bodyPr>
          <a:lstStyle/>
          <a:p>
            <a:pPr>
              <a:spcBef>
                <a:spcPct val="0"/>
              </a:spcBef>
            </a:pPr>
            <a:r>
              <a:rPr lang="en-US" sz="4800" dirty="0">
                <a:solidFill>
                  <a:schemeClr val="bg1"/>
                </a:solidFill>
                <a:latin typeface="Times New Roman" panose="02020603050405020304" pitchFamily="18" charset="0"/>
                <a:ea typeface="+mj-ea"/>
                <a:cs typeface="+mj-cs"/>
              </a:rPr>
              <a:t>Sparse Matrices </a:t>
            </a:r>
          </a:p>
        </p:txBody>
      </p:sp>
      <p:sp>
        <p:nvSpPr>
          <p:cNvPr id="3" name="This is row 168 (rectangle)">
            <a:extLst>
              <a:ext uri="{FF2B5EF4-FFF2-40B4-BE49-F238E27FC236}">
                <a16:creationId xmlns:a16="http://schemas.microsoft.com/office/drawing/2014/main" id="{650112D1-8006-F79A-46C7-C282892E8F56}"/>
              </a:ext>
            </a:extLst>
          </p:cNvPr>
          <p:cNvSpPr/>
          <p:nvPr/>
        </p:nvSpPr>
        <p:spPr bwMode="auto">
          <a:xfrm>
            <a:off x="7439520" y="2852847"/>
            <a:ext cx="3182154" cy="864096"/>
          </a:xfrm>
          <a:prstGeom prst="rect">
            <a:avLst/>
          </a:prstGeom>
          <a:solidFill>
            <a:schemeClr val="accent3">
              <a:lumMod val="40000"/>
              <a:lumOff val="60000"/>
            </a:schemeClr>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b" anchorCtr="0" compatLnSpc="1">
            <a:prstTxWarp prst="textNoShape">
              <a:avLst/>
            </a:prstTxWarp>
          </a:bodyPr>
          <a:lstStyle/>
          <a:p>
            <a:pPr marL="174625" indent="-174625" defTabSz="914400" fontAlgn="base">
              <a:lnSpc>
                <a:spcPct val="90000"/>
              </a:lnSpc>
              <a:spcBef>
                <a:spcPct val="20000"/>
              </a:spcBef>
              <a:spcAft>
                <a:spcPct val="0"/>
              </a:spcAft>
              <a:buClr>
                <a:srgbClr val="006600"/>
              </a:buClr>
            </a:pPr>
            <a:r>
              <a:rPr lang="en-US" sz="1600" dirty="0">
                <a:solidFill>
                  <a:srgbClr val="336600"/>
                </a:solidFill>
                <a:latin typeface="Times New Roman" panose="02020603050405020304" pitchFamily="18" charset="0"/>
              </a:rPr>
              <a:t>                     </a:t>
            </a:r>
          </a:p>
        </p:txBody>
      </p:sp>
      <p:grpSp>
        <p:nvGrpSpPr>
          <p:cNvPr id="592" name="168,667"/>
          <p:cNvGrpSpPr/>
          <p:nvPr/>
        </p:nvGrpSpPr>
        <p:grpSpPr>
          <a:xfrm>
            <a:off x="7545284" y="2988086"/>
            <a:ext cx="579293" cy="433289"/>
            <a:chOff x="539552" y="1556792"/>
            <a:chExt cx="579293" cy="433289"/>
          </a:xfrm>
          <a:effectLst>
            <a:outerShdw blurRad="50800" dist="38100" dir="2700000" algn="tl" rotWithShape="0">
              <a:prstClr val="black">
                <a:alpha val="40000"/>
              </a:prstClr>
            </a:outerShdw>
          </a:effectLst>
        </p:grpSpPr>
        <p:grpSp>
          <p:nvGrpSpPr>
            <p:cNvPr id="593" name="Group 287"/>
            <p:cNvGrpSpPr/>
            <p:nvPr/>
          </p:nvGrpSpPr>
          <p:grpSpPr>
            <a:xfrm>
              <a:off x="539553" y="1700808"/>
              <a:ext cx="579292" cy="144016"/>
              <a:chOff x="2483768" y="5013176"/>
              <a:chExt cx="579292" cy="144016"/>
            </a:xfrm>
          </p:grpSpPr>
          <p:sp>
            <p:nvSpPr>
              <p:cNvPr id="598" name="Rectangle 597"/>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667</a:t>
                </a:r>
                <a:endParaRPr lang="en-US" sz="1200" dirty="0">
                  <a:solidFill>
                    <a:srgbClr val="336600"/>
                  </a:solidFill>
                  <a:latin typeface="Times New Roman" panose="02020603050405020304" pitchFamily="18" charset="0"/>
                </a:endParaRPr>
              </a:p>
            </p:txBody>
          </p:sp>
          <p:sp>
            <p:nvSpPr>
              <p:cNvPr id="599" name="Rectangle 598"/>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168</a:t>
                </a:r>
              </a:p>
            </p:txBody>
          </p:sp>
        </p:grpSp>
        <p:sp>
          <p:nvSpPr>
            <p:cNvPr id="594" name="Rectangle 593"/>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0.62</a:t>
              </a:r>
              <a:endParaRPr lang="en-US" sz="1200" dirty="0">
                <a:solidFill>
                  <a:srgbClr val="336600"/>
                </a:solidFill>
                <a:latin typeface="Times New Roman" panose="02020603050405020304" pitchFamily="18" charset="0"/>
              </a:endParaRPr>
            </a:p>
          </p:txBody>
        </p:sp>
        <p:grpSp>
          <p:nvGrpSpPr>
            <p:cNvPr id="595" name="Group 296"/>
            <p:cNvGrpSpPr/>
            <p:nvPr/>
          </p:nvGrpSpPr>
          <p:grpSpPr>
            <a:xfrm>
              <a:off x="539553" y="1846065"/>
              <a:ext cx="579292" cy="144016"/>
              <a:chOff x="2483768" y="5013176"/>
              <a:chExt cx="579292" cy="144016"/>
            </a:xfrm>
          </p:grpSpPr>
          <p:sp>
            <p:nvSpPr>
              <p:cNvPr id="596" name="Rectangle 595"/>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597" name="Rectangle 596"/>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sp>
        <p:nvSpPr>
          <p:cNvPr id="8" name="This is row 168 (text)">
            <a:extLst>
              <a:ext uri="{FF2B5EF4-FFF2-40B4-BE49-F238E27FC236}">
                <a16:creationId xmlns:a16="http://schemas.microsoft.com/office/drawing/2014/main" id="{96ED93FC-D777-9CDE-7A9A-115AC41A333F}"/>
              </a:ext>
            </a:extLst>
          </p:cNvPr>
          <p:cNvSpPr txBox="1"/>
          <p:nvPr/>
        </p:nvSpPr>
        <p:spPr>
          <a:xfrm>
            <a:off x="8040216" y="3068960"/>
            <a:ext cx="1728192" cy="338554"/>
          </a:xfrm>
          <a:prstGeom prst="rect">
            <a:avLst/>
          </a:prstGeom>
          <a:noFill/>
        </p:spPr>
        <p:txBody>
          <a:bodyPr wrap="square" rtlCol="0">
            <a:spAutoFit/>
          </a:bodyPr>
          <a:lstStyle/>
          <a:p>
            <a:pPr algn="ctr">
              <a:buClr>
                <a:srgbClr val="006600"/>
              </a:buClr>
              <a:buNone/>
            </a:pPr>
            <a:r>
              <a:rPr lang="en-US" sz="1600" dirty="0">
                <a:latin typeface="Times New Roman" panose="02020603050405020304" pitchFamily="18" charset="0"/>
              </a:rPr>
              <a:t>This is row 168</a:t>
            </a:r>
          </a:p>
        </p:txBody>
      </p:sp>
      <p:grpSp>
        <p:nvGrpSpPr>
          <p:cNvPr id="601" name="168,801"/>
          <p:cNvGrpSpPr/>
          <p:nvPr/>
        </p:nvGrpSpPr>
        <p:grpSpPr>
          <a:xfrm>
            <a:off x="9717876" y="2991022"/>
            <a:ext cx="579293" cy="433289"/>
            <a:chOff x="539552" y="1556792"/>
            <a:chExt cx="579293" cy="433289"/>
          </a:xfrm>
          <a:effectLst>
            <a:outerShdw blurRad="50800" dist="38100" dir="2700000" algn="tl" rotWithShape="0">
              <a:prstClr val="black">
                <a:alpha val="40000"/>
              </a:prstClr>
            </a:outerShdw>
          </a:effectLst>
        </p:grpSpPr>
        <p:grpSp>
          <p:nvGrpSpPr>
            <p:cNvPr id="602" name="Group 287"/>
            <p:cNvGrpSpPr/>
            <p:nvPr/>
          </p:nvGrpSpPr>
          <p:grpSpPr>
            <a:xfrm>
              <a:off x="539553" y="1700808"/>
              <a:ext cx="579292" cy="144016"/>
              <a:chOff x="2483768" y="5013176"/>
              <a:chExt cx="579292" cy="144016"/>
            </a:xfrm>
          </p:grpSpPr>
          <p:sp>
            <p:nvSpPr>
              <p:cNvPr id="607" name="Rectangle 606"/>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801</a:t>
                </a:r>
                <a:endParaRPr lang="en-US" sz="1200" dirty="0">
                  <a:solidFill>
                    <a:srgbClr val="336600"/>
                  </a:solidFill>
                  <a:latin typeface="Times New Roman" panose="02020603050405020304" pitchFamily="18" charset="0"/>
                </a:endParaRPr>
              </a:p>
            </p:txBody>
          </p:sp>
          <p:sp>
            <p:nvSpPr>
              <p:cNvPr id="608" name="Rectangle 607"/>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168</a:t>
                </a:r>
                <a:endParaRPr lang="en-US" sz="1200" dirty="0">
                  <a:solidFill>
                    <a:srgbClr val="336600"/>
                  </a:solidFill>
                  <a:latin typeface="Times New Roman" panose="02020603050405020304" pitchFamily="18" charset="0"/>
                </a:endParaRPr>
              </a:p>
            </p:txBody>
          </p:sp>
        </p:grpSp>
        <p:grpSp>
          <p:nvGrpSpPr>
            <p:cNvPr id="604" name="Group 296"/>
            <p:cNvGrpSpPr/>
            <p:nvPr/>
          </p:nvGrpSpPr>
          <p:grpSpPr>
            <a:xfrm>
              <a:off x="539553" y="1846065"/>
              <a:ext cx="579292" cy="144016"/>
              <a:chOff x="2483768" y="5013176"/>
              <a:chExt cx="579292" cy="144016"/>
            </a:xfrm>
          </p:grpSpPr>
          <p:sp>
            <p:nvSpPr>
              <p:cNvPr id="605" name="Rectangle 604"/>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606" name="Rectangle 605"/>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sp>
          <p:nvSpPr>
            <p:cNvPr id="603" name="Rectangle 602"/>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0.38</a:t>
              </a:r>
              <a:endParaRPr lang="en-US" sz="1200" dirty="0">
                <a:solidFill>
                  <a:srgbClr val="336600"/>
                </a:solidFill>
                <a:latin typeface="Times New Roman" panose="02020603050405020304" pitchFamily="18" charset="0"/>
              </a:endParaRPr>
            </a:p>
          </p:txBody>
        </p:sp>
      </p:grpSp>
      <p:sp>
        <p:nvSpPr>
          <p:cNvPr id="572" name="Freeform 571"/>
          <p:cNvSpPr/>
          <p:nvPr/>
        </p:nvSpPr>
        <p:spPr bwMode="auto">
          <a:xfrm>
            <a:off x="9860750" y="3347934"/>
            <a:ext cx="195691" cy="1306924"/>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627" name="Freeform 626"/>
          <p:cNvSpPr/>
          <p:nvPr/>
        </p:nvSpPr>
        <p:spPr bwMode="auto">
          <a:xfrm>
            <a:off x="7712976" y="3343276"/>
            <a:ext cx="146384" cy="1313497"/>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9" name="This nextInRowPtr">
            <a:extLst>
              <a:ext uri="{FF2B5EF4-FFF2-40B4-BE49-F238E27FC236}">
                <a16:creationId xmlns:a16="http://schemas.microsoft.com/office/drawing/2014/main" id="{19E8C2FB-9D3C-DCFD-6DD5-096B8E5E4C2C}"/>
              </a:ext>
            </a:extLst>
          </p:cNvPr>
          <p:cNvSpPr>
            <a:spLocks noChangeArrowheads="1"/>
          </p:cNvSpPr>
          <p:nvPr/>
        </p:nvSpPr>
        <p:spPr bwMode="auto">
          <a:xfrm>
            <a:off x="3130481" y="795489"/>
            <a:ext cx="2727920" cy="1359768"/>
          </a:xfrm>
          <a:prstGeom prst="wedgeRoundRectCallout">
            <a:avLst>
              <a:gd name="adj1" fmla="val 72379"/>
              <a:gd name="adj2" fmla="val 102807"/>
              <a:gd name="adj3" fmla="val 16667"/>
            </a:avLst>
          </a:prstGeom>
          <a:solidFill>
            <a:srgbClr val="FFFF00"/>
          </a:solidFill>
          <a:ln w="936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tIns="46800" rIns="0" bIns="46800" anchor="ctr"/>
          <a:lstStyle/>
          <a:p>
            <a:pPr>
              <a:spcBef>
                <a:spcPts val="1250"/>
              </a:spcBef>
              <a:buClr>
                <a:srgbClr val="006600"/>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dirty="0">
                <a:latin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nextInColPtr</a:t>
            </a:r>
            <a:r>
              <a:rPr lang="en-US" dirty="0">
                <a:latin typeface="Times New Roman" panose="02020603050405020304" pitchFamily="18" charset="0"/>
              </a:rPr>
              <a:t> is </a:t>
            </a:r>
            <a:r>
              <a:rPr lang="en-US" dirty="0">
                <a:latin typeface="Times New Roman" panose="02020603050405020304" pitchFamily="18" charset="0"/>
                <a:cs typeface="Times New Roman" panose="02020603050405020304" pitchFamily="18" charset="0"/>
              </a:rPr>
              <a:t>NULL</a:t>
            </a:r>
            <a:r>
              <a:rPr lang="en-US" dirty="0">
                <a:latin typeface="Times New Roman" panose="02020603050405020304" pitchFamily="18" charset="0"/>
              </a:rPr>
              <a:t> since there are no other non-zero elements in column 326 of the matrix</a:t>
            </a:r>
          </a:p>
        </p:txBody>
      </p:sp>
      <p:sp>
        <p:nvSpPr>
          <p:cNvPr id="10" name="This nextInRowPtr">
            <a:extLst>
              <a:ext uri="{FF2B5EF4-FFF2-40B4-BE49-F238E27FC236}">
                <a16:creationId xmlns:a16="http://schemas.microsoft.com/office/drawing/2014/main" id="{5753551F-4DD4-9CB9-FAB0-D6FB2FBA3AA8}"/>
              </a:ext>
            </a:extLst>
          </p:cNvPr>
          <p:cNvSpPr>
            <a:spLocks noChangeArrowheads="1"/>
          </p:cNvSpPr>
          <p:nvPr/>
        </p:nvSpPr>
        <p:spPr bwMode="auto">
          <a:xfrm>
            <a:off x="7576771" y="595290"/>
            <a:ext cx="2727920" cy="1359768"/>
          </a:xfrm>
          <a:prstGeom prst="wedgeRoundRectCallout">
            <a:avLst>
              <a:gd name="adj1" fmla="val -62817"/>
              <a:gd name="adj2" fmla="val 108503"/>
              <a:gd name="adj3" fmla="val 16667"/>
            </a:avLst>
          </a:prstGeom>
          <a:solidFill>
            <a:srgbClr val="FFFF00"/>
          </a:solidFill>
          <a:ln w="936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tIns="46800" rIns="0" bIns="46800" anchor="ctr"/>
          <a:lstStyle/>
          <a:p>
            <a:pPr>
              <a:spcBef>
                <a:spcPts val="1250"/>
              </a:spcBef>
              <a:buClr>
                <a:srgbClr val="006600"/>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dirty="0">
                <a:latin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nextInRowPtr</a:t>
            </a:r>
            <a:r>
              <a:rPr lang="en-US" dirty="0">
                <a:latin typeface="Times New Roman" panose="02020603050405020304" pitchFamily="18" charset="0"/>
              </a:rPr>
              <a:t> is </a:t>
            </a:r>
            <a:r>
              <a:rPr lang="en-US" dirty="0">
                <a:latin typeface="Times New Roman" panose="02020603050405020304" pitchFamily="18" charset="0"/>
                <a:cs typeface="Times New Roman" panose="02020603050405020304" pitchFamily="18" charset="0"/>
              </a:rPr>
              <a:t>NULL</a:t>
            </a:r>
            <a:r>
              <a:rPr lang="en-US" dirty="0">
                <a:latin typeface="Times New Roman" panose="02020603050405020304" pitchFamily="18" charset="0"/>
              </a:rPr>
              <a:t> since there are no other non-zero elements in row 152 of the matrix</a:t>
            </a:r>
          </a:p>
        </p:txBody>
      </p:sp>
    </p:spTree>
    <p:extLst>
      <p:ext uri="{BB962C8B-B14F-4D97-AF65-F5344CB8AC3E}">
        <p14:creationId xmlns:p14="http://schemas.microsoft.com/office/powerpoint/2010/main" val="160111590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blinds(horizontal)">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linds(horizontal)">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8" grpId="0"/>
      <p:bldP spid="9" grpId="0" animBg="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backdrop for column of row headers">
            <a:extLst>
              <a:ext uri="{FF2B5EF4-FFF2-40B4-BE49-F238E27FC236}">
                <a16:creationId xmlns:a16="http://schemas.microsoft.com/office/drawing/2014/main" id="{C4EF37C8-0FEF-A91E-9C4C-C9F42BF1A71D}"/>
              </a:ext>
            </a:extLst>
          </p:cNvPr>
          <p:cNvSpPr/>
          <p:nvPr/>
        </p:nvSpPr>
        <p:spPr bwMode="auto">
          <a:xfrm rot="16200000">
            <a:off x="3167703" y="4053047"/>
            <a:ext cx="4844562" cy="930389"/>
          </a:xfrm>
          <a:prstGeom prst="rect">
            <a:avLst/>
          </a:prstGeom>
          <a:solidFill>
            <a:srgbClr val="CCEC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43" name="row arrow to 882,667"/>
          <p:cNvSpPr/>
          <p:nvPr/>
        </p:nvSpPr>
        <p:spPr bwMode="auto">
          <a:xfrm rot="16200000">
            <a:off x="8870285" y="2316345"/>
            <a:ext cx="140678" cy="1728862"/>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grpSp>
        <p:nvGrpSpPr>
          <p:cNvPr id="564" name="882,801"/>
          <p:cNvGrpSpPr/>
          <p:nvPr/>
        </p:nvGrpSpPr>
        <p:grpSpPr>
          <a:xfrm>
            <a:off x="9717876" y="4653753"/>
            <a:ext cx="579293" cy="433289"/>
            <a:chOff x="539552" y="1556792"/>
            <a:chExt cx="579293" cy="433289"/>
          </a:xfrm>
          <a:effectLst>
            <a:outerShdw blurRad="50800" dist="38100" dir="2700000" algn="tl" rotWithShape="0">
              <a:prstClr val="black">
                <a:alpha val="40000"/>
              </a:prstClr>
            </a:outerShdw>
          </a:effectLst>
        </p:grpSpPr>
        <p:grpSp>
          <p:nvGrpSpPr>
            <p:cNvPr id="565" name="Group 287"/>
            <p:cNvGrpSpPr/>
            <p:nvPr/>
          </p:nvGrpSpPr>
          <p:grpSpPr>
            <a:xfrm>
              <a:off x="539553" y="1700808"/>
              <a:ext cx="579292" cy="144016"/>
              <a:chOff x="2483768" y="5013176"/>
              <a:chExt cx="579292" cy="144016"/>
            </a:xfrm>
          </p:grpSpPr>
          <p:sp>
            <p:nvSpPr>
              <p:cNvPr id="570" name="Rectangle 569"/>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801</a:t>
                </a:r>
                <a:endParaRPr lang="en-US" sz="1200" dirty="0">
                  <a:solidFill>
                    <a:srgbClr val="336600"/>
                  </a:solidFill>
                  <a:latin typeface="Times New Roman" panose="02020603050405020304" pitchFamily="18" charset="0"/>
                </a:endParaRPr>
              </a:p>
            </p:txBody>
          </p:sp>
          <p:sp>
            <p:nvSpPr>
              <p:cNvPr id="571" name="Rectangle 570"/>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882</a:t>
                </a:r>
              </a:p>
            </p:txBody>
          </p:sp>
        </p:grpSp>
        <p:sp>
          <p:nvSpPr>
            <p:cNvPr id="566" name="Rectangle 565"/>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0.17</a:t>
              </a:r>
              <a:endParaRPr lang="en-US" sz="1200" dirty="0">
                <a:solidFill>
                  <a:srgbClr val="336600"/>
                </a:solidFill>
                <a:latin typeface="Times New Roman" panose="02020603050405020304" pitchFamily="18" charset="0"/>
              </a:endParaRPr>
            </a:p>
          </p:txBody>
        </p:sp>
        <p:grpSp>
          <p:nvGrpSpPr>
            <p:cNvPr id="567" name="Group 296"/>
            <p:cNvGrpSpPr/>
            <p:nvPr/>
          </p:nvGrpSpPr>
          <p:grpSpPr>
            <a:xfrm>
              <a:off x="539553" y="1846065"/>
              <a:ext cx="579292" cy="144016"/>
              <a:chOff x="2483768" y="5013176"/>
              <a:chExt cx="579292" cy="144016"/>
            </a:xfrm>
          </p:grpSpPr>
          <p:sp>
            <p:nvSpPr>
              <p:cNvPr id="568" name="Rectangle 567"/>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569" name="Rectangle 568"/>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440" name="Group 439"/>
          <p:cNvGrpSpPr/>
          <p:nvPr/>
        </p:nvGrpSpPr>
        <p:grpSpPr>
          <a:xfrm>
            <a:off x="9759838" y="5011375"/>
            <a:ext cx="192172" cy="413481"/>
            <a:chOff x="2003564" y="2071545"/>
            <a:chExt cx="192172" cy="413481"/>
          </a:xfrm>
          <a:effectLst>
            <a:outerShdw blurRad="50800" dist="38100" dir="2700000" algn="tl" rotWithShape="0">
              <a:prstClr val="black">
                <a:alpha val="40000"/>
              </a:prstClr>
            </a:outerShdw>
          </a:effectLst>
        </p:grpSpPr>
        <p:sp>
          <p:nvSpPr>
            <p:cNvPr id="441" name="Line 40"/>
            <p:cNvSpPr>
              <a:spLocks noChangeShapeType="1"/>
            </p:cNvSpPr>
            <p:nvPr/>
          </p:nvSpPr>
          <p:spPr bwMode="auto">
            <a:xfrm rot="5400000" flipV="1">
              <a:off x="1955954" y="2218193"/>
              <a:ext cx="293295" cy="0"/>
            </a:xfrm>
            <a:prstGeom prst="line">
              <a:avLst/>
            </a:prstGeom>
            <a:noFill/>
            <a:ln w="28575">
              <a:solidFill>
                <a:schemeClr val="bg1">
                  <a:lumMod val="50000"/>
                </a:schemeClr>
              </a:solidFill>
              <a:round/>
              <a:headEnd type="oval" w="med" len="med"/>
              <a:tailEnd type="triangle" w="med" len="med"/>
            </a:ln>
            <a:effectLst/>
          </p:spPr>
          <p:txBody>
            <a:bodyPr/>
            <a:lstStyle/>
            <a:p>
              <a:pPr>
                <a:buClr>
                  <a:srgbClr val="006600"/>
                </a:buClr>
              </a:pPr>
              <a:endParaRPr lang="en-US" sz="1200" dirty="0">
                <a:latin typeface="Times New Roman" panose="02020603050405020304" pitchFamily="18" charset="0"/>
              </a:endParaRPr>
            </a:p>
          </p:txBody>
        </p:sp>
        <p:sp>
          <p:nvSpPr>
            <p:cNvPr id="442" name="Line 26"/>
            <p:cNvSpPr>
              <a:spLocks noChangeShapeType="1"/>
            </p:cNvSpPr>
            <p:nvPr/>
          </p:nvSpPr>
          <p:spPr bwMode="auto">
            <a:xfrm>
              <a:off x="2003564" y="2388340"/>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443" name="Line 27"/>
            <p:cNvSpPr>
              <a:spLocks noChangeShapeType="1"/>
            </p:cNvSpPr>
            <p:nvPr/>
          </p:nvSpPr>
          <p:spPr bwMode="auto">
            <a:xfrm>
              <a:off x="2048781" y="2435444"/>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444" name="Line 28"/>
            <p:cNvSpPr>
              <a:spLocks noChangeShapeType="1"/>
            </p:cNvSpPr>
            <p:nvPr/>
          </p:nvSpPr>
          <p:spPr bwMode="auto">
            <a:xfrm>
              <a:off x="2075629" y="2485026"/>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611" name="152,326"/>
          <p:cNvGrpSpPr/>
          <p:nvPr/>
        </p:nvGrpSpPr>
        <p:grpSpPr>
          <a:xfrm>
            <a:off x="6458988" y="2157992"/>
            <a:ext cx="579293" cy="433289"/>
            <a:chOff x="539552" y="1556792"/>
            <a:chExt cx="579293" cy="433289"/>
          </a:xfrm>
          <a:effectLst>
            <a:outerShdw blurRad="50800" dist="38100" dir="2700000" algn="tl" rotWithShape="0">
              <a:prstClr val="black">
                <a:alpha val="40000"/>
              </a:prstClr>
            </a:outerShdw>
          </a:effectLst>
        </p:grpSpPr>
        <p:grpSp>
          <p:nvGrpSpPr>
            <p:cNvPr id="612" name="Group 287"/>
            <p:cNvGrpSpPr/>
            <p:nvPr/>
          </p:nvGrpSpPr>
          <p:grpSpPr>
            <a:xfrm>
              <a:off x="539553" y="1700808"/>
              <a:ext cx="579292" cy="144016"/>
              <a:chOff x="2483768" y="5013176"/>
              <a:chExt cx="579292" cy="144016"/>
            </a:xfrm>
          </p:grpSpPr>
          <p:sp>
            <p:nvSpPr>
              <p:cNvPr id="617" name="Rectangle 616"/>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326</a:t>
                </a:r>
              </a:p>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618" name="Rectangle 617"/>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a:buClr>
                    <a:srgbClr val="006600"/>
                  </a:buClr>
                </a:pPr>
                <a:r>
                  <a:rPr lang="en-US" sz="1200" dirty="0">
                    <a:latin typeface="Times New Roman" panose="02020603050405020304" pitchFamily="18" charset="0"/>
                  </a:rPr>
                  <a:t>152</a:t>
                </a:r>
              </a:p>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sp>
          <p:nvSpPr>
            <p:cNvPr id="613" name="Rectangle 612"/>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0.31</a:t>
              </a:r>
              <a:endParaRPr lang="en-US" sz="1200" dirty="0">
                <a:solidFill>
                  <a:srgbClr val="336600"/>
                </a:solidFill>
                <a:latin typeface="Times New Roman" panose="02020603050405020304" pitchFamily="18" charset="0"/>
              </a:endParaRPr>
            </a:p>
          </p:txBody>
        </p:sp>
        <p:grpSp>
          <p:nvGrpSpPr>
            <p:cNvPr id="614" name="Group 296"/>
            <p:cNvGrpSpPr/>
            <p:nvPr/>
          </p:nvGrpSpPr>
          <p:grpSpPr>
            <a:xfrm>
              <a:off x="539553" y="1846065"/>
              <a:ext cx="579292" cy="144016"/>
              <a:chOff x="2483768" y="5013176"/>
              <a:chExt cx="579292" cy="144016"/>
            </a:xfrm>
          </p:grpSpPr>
          <p:sp>
            <p:nvSpPr>
              <p:cNvPr id="615" name="Rectangle 614"/>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616" name="Rectangle 615"/>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619" name="882,667"/>
          <p:cNvGrpSpPr/>
          <p:nvPr/>
        </p:nvGrpSpPr>
        <p:grpSpPr>
          <a:xfrm>
            <a:off x="7545284" y="4654994"/>
            <a:ext cx="579293" cy="433289"/>
            <a:chOff x="539552" y="1556792"/>
            <a:chExt cx="579293" cy="433289"/>
          </a:xfrm>
          <a:effectLst>
            <a:outerShdw blurRad="50800" dist="38100" dir="2700000" algn="tl" rotWithShape="0">
              <a:prstClr val="black">
                <a:alpha val="40000"/>
              </a:prstClr>
            </a:outerShdw>
          </a:effectLst>
        </p:grpSpPr>
        <p:grpSp>
          <p:nvGrpSpPr>
            <p:cNvPr id="620" name="Group 287"/>
            <p:cNvGrpSpPr/>
            <p:nvPr/>
          </p:nvGrpSpPr>
          <p:grpSpPr>
            <a:xfrm>
              <a:off x="539553" y="1700808"/>
              <a:ext cx="579292" cy="144016"/>
              <a:chOff x="2483768" y="5013176"/>
              <a:chExt cx="579292" cy="144016"/>
            </a:xfrm>
          </p:grpSpPr>
          <p:sp>
            <p:nvSpPr>
              <p:cNvPr id="625" name="Rectangle 624"/>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667</a:t>
                </a:r>
                <a:endParaRPr lang="en-US" sz="1200" dirty="0">
                  <a:solidFill>
                    <a:srgbClr val="336600"/>
                  </a:solidFill>
                  <a:latin typeface="Times New Roman" panose="02020603050405020304" pitchFamily="18" charset="0"/>
                </a:endParaRPr>
              </a:p>
            </p:txBody>
          </p:sp>
          <p:sp>
            <p:nvSpPr>
              <p:cNvPr id="626" name="Rectangle 625"/>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882</a:t>
                </a:r>
              </a:p>
            </p:txBody>
          </p:sp>
        </p:grpSp>
        <p:sp>
          <p:nvSpPr>
            <p:cNvPr id="621" name="Rectangle 620"/>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0.53</a:t>
              </a:r>
              <a:endParaRPr lang="en-US" sz="1200" dirty="0">
                <a:solidFill>
                  <a:srgbClr val="336600"/>
                </a:solidFill>
                <a:latin typeface="Times New Roman" panose="02020603050405020304" pitchFamily="18" charset="0"/>
              </a:endParaRPr>
            </a:p>
          </p:txBody>
        </p:sp>
        <p:grpSp>
          <p:nvGrpSpPr>
            <p:cNvPr id="622" name="Group 296"/>
            <p:cNvGrpSpPr/>
            <p:nvPr/>
          </p:nvGrpSpPr>
          <p:grpSpPr>
            <a:xfrm>
              <a:off x="539553" y="1846065"/>
              <a:ext cx="579292" cy="144016"/>
              <a:chOff x="2483768" y="5013176"/>
              <a:chExt cx="579292" cy="144016"/>
            </a:xfrm>
          </p:grpSpPr>
          <p:sp>
            <p:nvSpPr>
              <p:cNvPr id="623" name="Rectangle 622"/>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624" name="Rectangle 623"/>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640" name="882,801 null"/>
          <p:cNvGrpSpPr/>
          <p:nvPr/>
        </p:nvGrpSpPr>
        <p:grpSpPr>
          <a:xfrm>
            <a:off x="9899786" y="5003240"/>
            <a:ext cx="530823" cy="354111"/>
            <a:chOff x="8123779" y="2073383"/>
            <a:chExt cx="589109" cy="354111"/>
          </a:xfrm>
        </p:grpSpPr>
        <p:sp>
          <p:nvSpPr>
            <p:cNvPr id="641" name="Arc 640"/>
            <p:cNvSpPr/>
            <p:nvPr/>
          </p:nvSpPr>
          <p:spPr bwMode="auto">
            <a:xfrm>
              <a:off x="8123779" y="2073383"/>
              <a:ext cx="495300" cy="354111"/>
            </a:xfrm>
            <a:prstGeom prst="arc">
              <a:avLst>
                <a:gd name="adj1" fmla="val 16200000"/>
                <a:gd name="adj2" fmla="val 478342"/>
              </a:avLst>
            </a:prstGeom>
            <a:noFill/>
            <a:ln w="25400" cap="flat" cmpd="sng" algn="ctr">
              <a:solidFill>
                <a:schemeClr val="bg1">
                  <a:lumMod val="50000"/>
                </a:schemeClr>
              </a:solidFill>
              <a:prstDash val="solid"/>
              <a:round/>
              <a:headEnd type="oval" w="med" len="med"/>
              <a:tailEnd type="triangl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642" name="Line 26"/>
            <p:cNvSpPr>
              <a:spLocks noChangeShapeType="1"/>
            </p:cNvSpPr>
            <p:nvPr/>
          </p:nvSpPr>
          <p:spPr bwMode="auto">
            <a:xfrm>
              <a:off x="8520716" y="2302526"/>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643" name="Line 27"/>
            <p:cNvSpPr>
              <a:spLocks noChangeShapeType="1"/>
            </p:cNvSpPr>
            <p:nvPr/>
          </p:nvSpPr>
          <p:spPr bwMode="auto">
            <a:xfrm>
              <a:off x="8565933" y="2349630"/>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644" name="Line 28"/>
            <p:cNvSpPr>
              <a:spLocks noChangeShapeType="1"/>
            </p:cNvSpPr>
            <p:nvPr/>
          </p:nvSpPr>
          <p:spPr bwMode="auto">
            <a:xfrm>
              <a:off x="8592781" y="2399212"/>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217" name="168,801 null"/>
          <p:cNvGrpSpPr/>
          <p:nvPr/>
        </p:nvGrpSpPr>
        <p:grpSpPr>
          <a:xfrm>
            <a:off x="9899380" y="3345884"/>
            <a:ext cx="540021" cy="354111"/>
            <a:chOff x="8123779" y="2073383"/>
            <a:chExt cx="589109" cy="354111"/>
          </a:xfrm>
        </p:grpSpPr>
        <p:sp>
          <p:nvSpPr>
            <p:cNvPr id="218" name="Arc 217"/>
            <p:cNvSpPr/>
            <p:nvPr/>
          </p:nvSpPr>
          <p:spPr bwMode="auto">
            <a:xfrm>
              <a:off x="8123779" y="2073383"/>
              <a:ext cx="495300" cy="354111"/>
            </a:xfrm>
            <a:prstGeom prst="arc">
              <a:avLst>
                <a:gd name="adj1" fmla="val 16200000"/>
                <a:gd name="adj2" fmla="val 478342"/>
              </a:avLst>
            </a:prstGeom>
            <a:noFill/>
            <a:ln w="25400" cap="flat" cmpd="sng" algn="ctr">
              <a:solidFill>
                <a:schemeClr val="bg1">
                  <a:lumMod val="50000"/>
                </a:schemeClr>
              </a:solidFill>
              <a:prstDash val="solid"/>
              <a:round/>
              <a:headEnd type="oval" w="med" len="med"/>
              <a:tailEnd type="triangl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19" name="Line 26"/>
            <p:cNvSpPr>
              <a:spLocks noChangeShapeType="1"/>
            </p:cNvSpPr>
            <p:nvPr/>
          </p:nvSpPr>
          <p:spPr bwMode="auto">
            <a:xfrm>
              <a:off x="8520716" y="2302526"/>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20" name="Line 27"/>
            <p:cNvSpPr>
              <a:spLocks noChangeShapeType="1"/>
            </p:cNvSpPr>
            <p:nvPr/>
          </p:nvSpPr>
          <p:spPr bwMode="auto">
            <a:xfrm>
              <a:off x="8565933" y="2349630"/>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21" name="Line 28"/>
            <p:cNvSpPr>
              <a:spLocks noChangeShapeType="1"/>
            </p:cNvSpPr>
            <p:nvPr/>
          </p:nvSpPr>
          <p:spPr bwMode="auto">
            <a:xfrm>
              <a:off x="8592781" y="2399212"/>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228" name="Group 227"/>
          <p:cNvGrpSpPr/>
          <p:nvPr/>
        </p:nvGrpSpPr>
        <p:grpSpPr>
          <a:xfrm>
            <a:off x="7584150" y="5012391"/>
            <a:ext cx="192172" cy="413481"/>
            <a:chOff x="2003564" y="2071545"/>
            <a:chExt cx="192172" cy="413481"/>
          </a:xfrm>
          <a:effectLst>
            <a:outerShdw blurRad="50800" dist="38100" dir="2700000" algn="tl" rotWithShape="0">
              <a:prstClr val="black">
                <a:alpha val="40000"/>
              </a:prstClr>
            </a:outerShdw>
          </a:effectLst>
        </p:grpSpPr>
        <p:sp>
          <p:nvSpPr>
            <p:cNvPr id="229" name="Line 40"/>
            <p:cNvSpPr>
              <a:spLocks noChangeShapeType="1"/>
            </p:cNvSpPr>
            <p:nvPr/>
          </p:nvSpPr>
          <p:spPr bwMode="auto">
            <a:xfrm rot="5400000" flipV="1">
              <a:off x="1955954" y="2218193"/>
              <a:ext cx="293295" cy="0"/>
            </a:xfrm>
            <a:prstGeom prst="line">
              <a:avLst/>
            </a:prstGeom>
            <a:noFill/>
            <a:ln w="28575">
              <a:solidFill>
                <a:schemeClr val="bg1">
                  <a:lumMod val="50000"/>
                </a:schemeClr>
              </a:solidFill>
              <a:round/>
              <a:headEnd type="oval" w="med" len="med"/>
              <a:tailEnd type="triangle" w="med" len="med"/>
            </a:ln>
            <a:effectLst/>
          </p:spPr>
          <p:txBody>
            <a:bodyPr/>
            <a:lstStyle/>
            <a:p>
              <a:pPr>
                <a:buClr>
                  <a:srgbClr val="006600"/>
                </a:buClr>
              </a:pPr>
              <a:endParaRPr lang="en-US" sz="1200" dirty="0">
                <a:latin typeface="Times New Roman" panose="02020603050405020304" pitchFamily="18" charset="0"/>
              </a:endParaRPr>
            </a:p>
          </p:txBody>
        </p:sp>
        <p:sp>
          <p:nvSpPr>
            <p:cNvPr id="230" name="Line 26"/>
            <p:cNvSpPr>
              <a:spLocks noChangeShapeType="1"/>
            </p:cNvSpPr>
            <p:nvPr/>
          </p:nvSpPr>
          <p:spPr bwMode="auto">
            <a:xfrm>
              <a:off x="2003564" y="2388340"/>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31" name="Line 27"/>
            <p:cNvSpPr>
              <a:spLocks noChangeShapeType="1"/>
            </p:cNvSpPr>
            <p:nvPr/>
          </p:nvSpPr>
          <p:spPr bwMode="auto">
            <a:xfrm>
              <a:off x="2048781" y="2435444"/>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32" name="Line 28"/>
            <p:cNvSpPr>
              <a:spLocks noChangeShapeType="1"/>
            </p:cNvSpPr>
            <p:nvPr/>
          </p:nvSpPr>
          <p:spPr bwMode="auto">
            <a:xfrm>
              <a:off x="2075629" y="2485026"/>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238" name="Group 237"/>
          <p:cNvGrpSpPr/>
          <p:nvPr/>
        </p:nvGrpSpPr>
        <p:grpSpPr>
          <a:xfrm>
            <a:off x="6506268" y="2511464"/>
            <a:ext cx="192172" cy="402753"/>
            <a:chOff x="2003564" y="2071545"/>
            <a:chExt cx="192172" cy="402753"/>
          </a:xfrm>
          <a:effectLst>
            <a:outerShdw blurRad="50800" dist="38100" dir="2700000" algn="tl" rotWithShape="0">
              <a:prstClr val="black">
                <a:alpha val="40000"/>
              </a:prstClr>
            </a:outerShdw>
          </a:effectLst>
        </p:grpSpPr>
        <p:sp>
          <p:nvSpPr>
            <p:cNvPr id="239" name="Line 40"/>
            <p:cNvSpPr>
              <a:spLocks noChangeShapeType="1"/>
            </p:cNvSpPr>
            <p:nvPr/>
          </p:nvSpPr>
          <p:spPr bwMode="auto">
            <a:xfrm rot="5400000" flipV="1">
              <a:off x="1955954" y="2218193"/>
              <a:ext cx="293295" cy="0"/>
            </a:xfrm>
            <a:prstGeom prst="line">
              <a:avLst/>
            </a:prstGeom>
            <a:noFill/>
            <a:ln w="25400">
              <a:solidFill>
                <a:schemeClr val="bg1">
                  <a:lumMod val="50000"/>
                </a:schemeClr>
              </a:solidFill>
              <a:round/>
              <a:headEnd type="oval" w="med" len="med"/>
              <a:tailEnd type="triangle" w="med" len="med"/>
            </a:ln>
            <a:effectLst/>
          </p:spPr>
          <p:txBody>
            <a:bodyPr/>
            <a:lstStyle/>
            <a:p>
              <a:pPr>
                <a:buClr>
                  <a:srgbClr val="006600"/>
                </a:buClr>
              </a:pPr>
              <a:endParaRPr lang="en-US" sz="1200" dirty="0">
                <a:latin typeface="Times New Roman" panose="02020603050405020304" pitchFamily="18" charset="0"/>
              </a:endParaRPr>
            </a:p>
          </p:txBody>
        </p:sp>
        <p:sp>
          <p:nvSpPr>
            <p:cNvPr id="240" name="Line 26"/>
            <p:cNvSpPr>
              <a:spLocks noChangeShapeType="1"/>
            </p:cNvSpPr>
            <p:nvPr/>
          </p:nvSpPr>
          <p:spPr bwMode="auto">
            <a:xfrm>
              <a:off x="2003564" y="2377612"/>
              <a:ext cx="192172" cy="0"/>
            </a:xfrm>
            <a:prstGeom prst="line">
              <a:avLst/>
            </a:prstGeom>
            <a:noFill/>
            <a:ln w="25400">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41" name="Line 27"/>
            <p:cNvSpPr>
              <a:spLocks noChangeShapeType="1"/>
            </p:cNvSpPr>
            <p:nvPr/>
          </p:nvSpPr>
          <p:spPr bwMode="auto">
            <a:xfrm>
              <a:off x="2048781" y="2424716"/>
              <a:ext cx="121520" cy="0"/>
            </a:xfrm>
            <a:prstGeom prst="line">
              <a:avLst/>
            </a:prstGeom>
            <a:noFill/>
            <a:ln w="25400">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42" name="Line 28"/>
            <p:cNvSpPr>
              <a:spLocks noChangeShapeType="1"/>
            </p:cNvSpPr>
            <p:nvPr/>
          </p:nvSpPr>
          <p:spPr bwMode="auto">
            <a:xfrm>
              <a:off x="2075629" y="2474298"/>
              <a:ext cx="73477" cy="0"/>
            </a:xfrm>
            <a:prstGeom prst="line">
              <a:avLst/>
            </a:prstGeom>
            <a:noFill/>
            <a:ln w="25400">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257" name="152,326 null"/>
          <p:cNvGrpSpPr/>
          <p:nvPr/>
        </p:nvGrpSpPr>
        <p:grpSpPr>
          <a:xfrm>
            <a:off x="6650228" y="2511606"/>
            <a:ext cx="589109" cy="354111"/>
            <a:chOff x="8123779" y="2073383"/>
            <a:chExt cx="589109" cy="354111"/>
          </a:xfrm>
        </p:grpSpPr>
        <p:sp>
          <p:nvSpPr>
            <p:cNvPr id="258" name="Arc 257"/>
            <p:cNvSpPr/>
            <p:nvPr/>
          </p:nvSpPr>
          <p:spPr bwMode="auto">
            <a:xfrm>
              <a:off x="8123779" y="2073383"/>
              <a:ext cx="495300" cy="354111"/>
            </a:xfrm>
            <a:prstGeom prst="arc">
              <a:avLst>
                <a:gd name="adj1" fmla="val 16200000"/>
                <a:gd name="adj2" fmla="val 478342"/>
              </a:avLst>
            </a:prstGeom>
            <a:noFill/>
            <a:ln w="25400" cap="flat" cmpd="sng" algn="ctr">
              <a:solidFill>
                <a:schemeClr val="bg1">
                  <a:lumMod val="50000"/>
                </a:schemeClr>
              </a:solidFill>
              <a:prstDash val="solid"/>
              <a:round/>
              <a:headEnd type="oval" w="med" len="med"/>
              <a:tailEnd type="triangl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59" name="Line 26"/>
            <p:cNvSpPr>
              <a:spLocks noChangeShapeType="1"/>
            </p:cNvSpPr>
            <p:nvPr/>
          </p:nvSpPr>
          <p:spPr bwMode="auto">
            <a:xfrm>
              <a:off x="8520716" y="2302526"/>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60" name="Line 27"/>
            <p:cNvSpPr>
              <a:spLocks noChangeShapeType="1"/>
            </p:cNvSpPr>
            <p:nvPr/>
          </p:nvSpPr>
          <p:spPr bwMode="auto">
            <a:xfrm>
              <a:off x="8565933" y="2349630"/>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61" name="Line 28"/>
            <p:cNvSpPr>
              <a:spLocks noChangeShapeType="1"/>
            </p:cNvSpPr>
            <p:nvPr/>
          </p:nvSpPr>
          <p:spPr bwMode="auto">
            <a:xfrm>
              <a:off x="8592781" y="2399212"/>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273" name="617,713"/>
          <p:cNvGrpSpPr/>
          <p:nvPr/>
        </p:nvGrpSpPr>
        <p:grpSpPr>
          <a:xfrm>
            <a:off x="8631580" y="3814176"/>
            <a:ext cx="579293" cy="433289"/>
            <a:chOff x="539552" y="1556792"/>
            <a:chExt cx="579293" cy="433289"/>
          </a:xfrm>
          <a:effectLst>
            <a:outerShdw blurRad="50800" dist="38100" dir="2700000" algn="tl" rotWithShape="0">
              <a:prstClr val="black">
                <a:alpha val="40000"/>
              </a:prstClr>
            </a:outerShdw>
          </a:effectLst>
        </p:grpSpPr>
        <p:grpSp>
          <p:nvGrpSpPr>
            <p:cNvPr id="274" name="Group 287"/>
            <p:cNvGrpSpPr/>
            <p:nvPr/>
          </p:nvGrpSpPr>
          <p:grpSpPr>
            <a:xfrm>
              <a:off x="539553" y="1700808"/>
              <a:ext cx="579292" cy="144016"/>
              <a:chOff x="2483768" y="5013176"/>
              <a:chExt cx="579292" cy="144016"/>
            </a:xfrm>
          </p:grpSpPr>
          <p:sp>
            <p:nvSpPr>
              <p:cNvPr id="279" name="Rectangle 278"/>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713</a:t>
                </a:r>
                <a:endParaRPr lang="en-US" sz="1200" dirty="0">
                  <a:solidFill>
                    <a:srgbClr val="336600"/>
                  </a:solidFill>
                  <a:latin typeface="Times New Roman" panose="02020603050405020304" pitchFamily="18" charset="0"/>
                </a:endParaRPr>
              </a:p>
            </p:txBody>
          </p:sp>
          <p:sp>
            <p:nvSpPr>
              <p:cNvPr id="280" name="Rectangle 279"/>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a:buClr>
                    <a:srgbClr val="006600"/>
                  </a:buClr>
                </a:pPr>
                <a:r>
                  <a:rPr lang="en-US" sz="1200" dirty="0">
                    <a:latin typeface="Times New Roman" panose="02020603050405020304" pitchFamily="18" charset="0"/>
                  </a:rPr>
                  <a:t>617</a:t>
                </a:r>
              </a:p>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sp>
          <p:nvSpPr>
            <p:cNvPr id="275" name="Rectangle 274"/>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0.22</a:t>
              </a:r>
              <a:endParaRPr lang="en-US" sz="1200" dirty="0">
                <a:solidFill>
                  <a:srgbClr val="336600"/>
                </a:solidFill>
                <a:latin typeface="Times New Roman" panose="02020603050405020304" pitchFamily="18" charset="0"/>
              </a:endParaRPr>
            </a:p>
          </p:txBody>
        </p:sp>
        <p:grpSp>
          <p:nvGrpSpPr>
            <p:cNvPr id="276" name="Group 296"/>
            <p:cNvGrpSpPr/>
            <p:nvPr/>
          </p:nvGrpSpPr>
          <p:grpSpPr>
            <a:xfrm>
              <a:off x="539553" y="1846065"/>
              <a:ext cx="579292" cy="144016"/>
              <a:chOff x="2483768" y="5013176"/>
              <a:chExt cx="579292" cy="144016"/>
            </a:xfrm>
          </p:grpSpPr>
          <p:sp>
            <p:nvSpPr>
              <p:cNvPr id="277" name="Rectangle 276"/>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278" name="Rectangle 277"/>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287" name="617,713 null"/>
          <p:cNvGrpSpPr/>
          <p:nvPr/>
        </p:nvGrpSpPr>
        <p:grpSpPr>
          <a:xfrm>
            <a:off x="8808938" y="4167790"/>
            <a:ext cx="589109" cy="354111"/>
            <a:chOff x="8123779" y="2073383"/>
            <a:chExt cx="589109" cy="354111"/>
          </a:xfrm>
        </p:grpSpPr>
        <p:sp>
          <p:nvSpPr>
            <p:cNvPr id="289" name="Arc 288"/>
            <p:cNvSpPr/>
            <p:nvPr/>
          </p:nvSpPr>
          <p:spPr bwMode="auto">
            <a:xfrm>
              <a:off x="8123779" y="2073383"/>
              <a:ext cx="495300" cy="354111"/>
            </a:xfrm>
            <a:prstGeom prst="arc">
              <a:avLst>
                <a:gd name="adj1" fmla="val 16200000"/>
                <a:gd name="adj2" fmla="val 478342"/>
              </a:avLst>
            </a:prstGeom>
            <a:noFill/>
            <a:ln w="25400" cap="flat" cmpd="sng" algn="ctr">
              <a:solidFill>
                <a:schemeClr val="bg1">
                  <a:lumMod val="50000"/>
                </a:schemeClr>
              </a:solidFill>
              <a:prstDash val="solid"/>
              <a:round/>
              <a:headEnd type="oval" w="med" len="med"/>
              <a:tailEnd type="triangl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90" name="Line 26"/>
            <p:cNvSpPr>
              <a:spLocks noChangeShapeType="1"/>
            </p:cNvSpPr>
            <p:nvPr/>
          </p:nvSpPr>
          <p:spPr bwMode="auto">
            <a:xfrm>
              <a:off x="8520716" y="2302526"/>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91" name="Line 27"/>
            <p:cNvSpPr>
              <a:spLocks noChangeShapeType="1"/>
            </p:cNvSpPr>
            <p:nvPr/>
          </p:nvSpPr>
          <p:spPr bwMode="auto">
            <a:xfrm>
              <a:off x="8565933" y="2349630"/>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92" name="Line 28"/>
            <p:cNvSpPr>
              <a:spLocks noChangeShapeType="1"/>
            </p:cNvSpPr>
            <p:nvPr/>
          </p:nvSpPr>
          <p:spPr bwMode="auto">
            <a:xfrm>
              <a:off x="8592781" y="2399212"/>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294" name="927,713"/>
          <p:cNvGrpSpPr/>
          <p:nvPr/>
        </p:nvGrpSpPr>
        <p:grpSpPr>
          <a:xfrm>
            <a:off x="8631580" y="5498408"/>
            <a:ext cx="579293" cy="433289"/>
            <a:chOff x="539552" y="1556792"/>
            <a:chExt cx="579293" cy="433289"/>
          </a:xfrm>
          <a:effectLst>
            <a:outerShdw blurRad="50800" dist="38100" dir="2700000" algn="tl" rotWithShape="0">
              <a:prstClr val="black">
                <a:alpha val="40000"/>
              </a:prstClr>
            </a:outerShdw>
          </a:effectLst>
        </p:grpSpPr>
        <p:grpSp>
          <p:nvGrpSpPr>
            <p:cNvPr id="295" name="Group 287"/>
            <p:cNvGrpSpPr/>
            <p:nvPr/>
          </p:nvGrpSpPr>
          <p:grpSpPr>
            <a:xfrm>
              <a:off x="539553" y="1700808"/>
              <a:ext cx="579292" cy="144016"/>
              <a:chOff x="2483768" y="5013176"/>
              <a:chExt cx="579292" cy="144016"/>
            </a:xfrm>
          </p:grpSpPr>
          <p:sp>
            <p:nvSpPr>
              <p:cNvPr id="304" name="Rectangle 303"/>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713</a:t>
                </a:r>
                <a:endParaRPr lang="en-US" sz="1200" dirty="0">
                  <a:solidFill>
                    <a:srgbClr val="336600"/>
                  </a:solidFill>
                  <a:latin typeface="Times New Roman" panose="02020603050405020304" pitchFamily="18" charset="0"/>
                </a:endParaRPr>
              </a:p>
            </p:txBody>
          </p:sp>
          <p:sp>
            <p:nvSpPr>
              <p:cNvPr id="305" name="Rectangle 304"/>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a:buClr>
                    <a:srgbClr val="006600"/>
                  </a:buClr>
                </a:pPr>
                <a:r>
                  <a:rPr lang="en-US" sz="1200" dirty="0">
                    <a:latin typeface="Times New Roman" panose="02020603050405020304" pitchFamily="18" charset="0"/>
                  </a:rPr>
                  <a:t>927</a:t>
                </a:r>
              </a:p>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sp>
          <p:nvSpPr>
            <p:cNvPr id="300" name="Rectangle 299"/>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0.46</a:t>
              </a:r>
              <a:endParaRPr lang="en-US" sz="1200" dirty="0">
                <a:solidFill>
                  <a:srgbClr val="336600"/>
                </a:solidFill>
                <a:latin typeface="Times New Roman" panose="02020603050405020304" pitchFamily="18" charset="0"/>
              </a:endParaRPr>
            </a:p>
          </p:txBody>
        </p:sp>
        <p:grpSp>
          <p:nvGrpSpPr>
            <p:cNvPr id="301" name="Group 296"/>
            <p:cNvGrpSpPr/>
            <p:nvPr/>
          </p:nvGrpSpPr>
          <p:grpSpPr>
            <a:xfrm>
              <a:off x="539553" y="1846065"/>
              <a:ext cx="579292" cy="144016"/>
              <a:chOff x="2483768" y="5013176"/>
              <a:chExt cx="579292" cy="144016"/>
            </a:xfrm>
          </p:grpSpPr>
          <p:sp>
            <p:nvSpPr>
              <p:cNvPr id="302" name="Rectangle 301"/>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303" name="Rectangle 302"/>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306" name="Group 305"/>
          <p:cNvGrpSpPr/>
          <p:nvPr/>
        </p:nvGrpSpPr>
        <p:grpSpPr>
          <a:xfrm>
            <a:off x="8684211" y="5854382"/>
            <a:ext cx="192172" cy="413481"/>
            <a:chOff x="2003564" y="2071545"/>
            <a:chExt cx="192172" cy="413481"/>
          </a:xfrm>
          <a:effectLst>
            <a:outerShdw blurRad="50800" dist="38100" dir="2700000" algn="tl" rotWithShape="0">
              <a:prstClr val="black">
                <a:alpha val="40000"/>
              </a:prstClr>
            </a:outerShdw>
          </a:effectLst>
        </p:grpSpPr>
        <p:sp>
          <p:nvSpPr>
            <p:cNvPr id="307" name="Line 40"/>
            <p:cNvSpPr>
              <a:spLocks noChangeShapeType="1"/>
            </p:cNvSpPr>
            <p:nvPr/>
          </p:nvSpPr>
          <p:spPr bwMode="auto">
            <a:xfrm rot="5400000" flipV="1">
              <a:off x="1955954" y="2218193"/>
              <a:ext cx="293295" cy="0"/>
            </a:xfrm>
            <a:prstGeom prst="line">
              <a:avLst/>
            </a:prstGeom>
            <a:noFill/>
            <a:ln w="28575">
              <a:solidFill>
                <a:schemeClr val="bg1">
                  <a:lumMod val="50000"/>
                </a:schemeClr>
              </a:solidFill>
              <a:round/>
              <a:headEnd type="oval" w="med" len="med"/>
              <a:tailEnd type="triangle" w="med" len="med"/>
            </a:ln>
            <a:effectLst/>
          </p:spPr>
          <p:txBody>
            <a:bodyPr/>
            <a:lstStyle/>
            <a:p>
              <a:pPr>
                <a:buClr>
                  <a:srgbClr val="006600"/>
                </a:buClr>
              </a:pPr>
              <a:endParaRPr lang="en-US" sz="1200" dirty="0">
                <a:latin typeface="Times New Roman" panose="02020603050405020304" pitchFamily="18" charset="0"/>
              </a:endParaRPr>
            </a:p>
          </p:txBody>
        </p:sp>
        <p:sp>
          <p:nvSpPr>
            <p:cNvPr id="308" name="Line 26"/>
            <p:cNvSpPr>
              <a:spLocks noChangeShapeType="1"/>
            </p:cNvSpPr>
            <p:nvPr/>
          </p:nvSpPr>
          <p:spPr bwMode="auto">
            <a:xfrm>
              <a:off x="2003564" y="2388340"/>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309" name="Line 27"/>
            <p:cNvSpPr>
              <a:spLocks noChangeShapeType="1"/>
            </p:cNvSpPr>
            <p:nvPr/>
          </p:nvSpPr>
          <p:spPr bwMode="auto">
            <a:xfrm>
              <a:off x="2048781" y="2435444"/>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310" name="Line 28"/>
            <p:cNvSpPr>
              <a:spLocks noChangeShapeType="1"/>
            </p:cNvSpPr>
            <p:nvPr/>
          </p:nvSpPr>
          <p:spPr bwMode="auto">
            <a:xfrm>
              <a:off x="2075629" y="2485026"/>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311" name="927,713 null"/>
          <p:cNvGrpSpPr/>
          <p:nvPr/>
        </p:nvGrpSpPr>
        <p:grpSpPr>
          <a:xfrm>
            <a:off x="8797804" y="5855071"/>
            <a:ext cx="589109" cy="354111"/>
            <a:chOff x="8123779" y="2073383"/>
            <a:chExt cx="589109" cy="354111"/>
          </a:xfrm>
        </p:grpSpPr>
        <p:sp>
          <p:nvSpPr>
            <p:cNvPr id="312" name="Arc 311"/>
            <p:cNvSpPr/>
            <p:nvPr/>
          </p:nvSpPr>
          <p:spPr bwMode="auto">
            <a:xfrm>
              <a:off x="8123779" y="2073383"/>
              <a:ext cx="495300" cy="354111"/>
            </a:xfrm>
            <a:prstGeom prst="arc">
              <a:avLst>
                <a:gd name="adj1" fmla="val 16200000"/>
                <a:gd name="adj2" fmla="val 478342"/>
              </a:avLst>
            </a:prstGeom>
            <a:noFill/>
            <a:ln w="25400" cap="flat" cmpd="sng" algn="ctr">
              <a:solidFill>
                <a:schemeClr val="bg1">
                  <a:lumMod val="50000"/>
                </a:schemeClr>
              </a:solidFill>
              <a:prstDash val="solid"/>
              <a:round/>
              <a:headEnd type="oval" w="med" len="med"/>
              <a:tailEnd type="triangl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313" name="Line 26"/>
            <p:cNvSpPr>
              <a:spLocks noChangeShapeType="1"/>
            </p:cNvSpPr>
            <p:nvPr/>
          </p:nvSpPr>
          <p:spPr bwMode="auto">
            <a:xfrm>
              <a:off x="8520716" y="2302526"/>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314" name="Line 27"/>
            <p:cNvSpPr>
              <a:spLocks noChangeShapeType="1"/>
            </p:cNvSpPr>
            <p:nvPr/>
          </p:nvSpPr>
          <p:spPr bwMode="auto">
            <a:xfrm>
              <a:off x="8565933" y="2349630"/>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315" name="Line 28"/>
            <p:cNvSpPr>
              <a:spLocks noChangeShapeType="1"/>
            </p:cNvSpPr>
            <p:nvPr/>
          </p:nvSpPr>
          <p:spPr bwMode="auto">
            <a:xfrm>
              <a:off x="8592781" y="2399212"/>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sp>
        <p:nvSpPr>
          <p:cNvPr id="362" name="Freeform 361"/>
          <p:cNvSpPr/>
          <p:nvPr/>
        </p:nvSpPr>
        <p:spPr bwMode="auto">
          <a:xfrm rot="16200000">
            <a:off x="8750323" y="4071954"/>
            <a:ext cx="186188" cy="1744395"/>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316" name="Freeform 315"/>
          <p:cNvSpPr/>
          <p:nvPr/>
        </p:nvSpPr>
        <p:spPr bwMode="auto">
          <a:xfrm>
            <a:off x="8780630" y="4175635"/>
            <a:ext cx="195691" cy="1316128"/>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7" name="TextBox 6">
            <a:extLst>
              <a:ext uri="{FF2B5EF4-FFF2-40B4-BE49-F238E27FC236}">
                <a16:creationId xmlns:a16="http://schemas.microsoft.com/office/drawing/2014/main" id="{B77B1B46-8854-63E2-81AF-F00AF7AFE817}"/>
              </a:ext>
            </a:extLst>
          </p:cNvPr>
          <p:cNvSpPr txBox="1"/>
          <p:nvPr/>
        </p:nvSpPr>
        <p:spPr>
          <a:xfrm>
            <a:off x="629391" y="868680"/>
            <a:ext cx="6100762" cy="830997"/>
          </a:xfrm>
          <a:prstGeom prst="rect">
            <a:avLst/>
          </a:prstGeom>
          <a:noFill/>
        </p:spPr>
        <p:txBody>
          <a:bodyPr wrap="square">
            <a:spAutoFit/>
          </a:bodyPr>
          <a:lstStyle/>
          <a:p>
            <a:pPr>
              <a:spcBef>
                <a:spcPct val="0"/>
              </a:spcBef>
            </a:pPr>
            <a:r>
              <a:rPr lang="en-US" sz="4800" dirty="0">
                <a:solidFill>
                  <a:schemeClr val="bg1"/>
                </a:solidFill>
                <a:latin typeface="Times New Roman" panose="02020603050405020304" pitchFamily="18" charset="0"/>
                <a:ea typeface="+mj-ea"/>
                <a:cs typeface="+mj-cs"/>
              </a:rPr>
              <a:t>Sparse Matrices </a:t>
            </a:r>
          </a:p>
        </p:txBody>
      </p:sp>
      <p:grpSp>
        <p:nvGrpSpPr>
          <p:cNvPr id="592" name="168,667"/>
          <p:cNvGrpSpPr/>
          <p:nvPr/>
        </p:nvGrpSpPr>
        <p:grpSpPr>
          <a:xfrm>
            <a:off x="7545284" y="2988086"/>
            <a:ext cx="579293" cy="433289"/>
            <a:chOff x="539552" y="1556792"/>
            <a:chExt cx="579293" cy="433289"/>
          </a:xfrm>
          <a:effectLst>
            <a:outerShdw blurRad="50800" dist="38100" dir="2700000" algn="tl" rotWithShape="0">
              <a:prstClr val="black">
                <a:alpha val="40000"/>
              </a:prstClr>
            </a:outerShdw>
          </a:effectLst>
        </p:grpSpPr>
        <p:grpSp>
          <p:nvGrpSpPr>
            <p:cNvPr id="593" name="Group 287"/>
            <p:cNvGrpSpPr/>
            <p:nvPr/>
          </p:nvGrpSpPr>
          <p:grpSpPr>
            <a:xfrm>
              <a:off x="539553" y="1700808"/>
              <a:ext cx="579292" cy="144016"/>
              <a:chOff x="2483768" y="5013176"/>
              <a:chExt cx="579292" cy="144016"/>
            </a:xfrm>
          </p:grpSpPr>
          <p:sp>
            <p:nvSpPr>
              <p:cNvPr id="598" name="Rectangle 597"/>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667</a:t>
                </a:r>
                <a:endParaRPr lang="en-US" sz="1200" dirty="0">
                  <a:solidFill>
                    <a:srgbClr val="336600"/>
                  </a:solidFill>
                  <a:latin typeface="Times New Roman" panose="02020603050405020304" pitchFamily="18" charset="0"/>
                </a:endParaRPr>
              </a:p>
            </p:txBody>
          </p:sp>
          <p:sp>
            <p:nvSpPr>
              <p:cNvPr id="599" name="Rectangle 598"/>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168</a:t>
                </a:r>
              </a:p>
            </p:txBody>
          </p:sp>
        </p:grpSp>
        <p:sp>
          <p:nvSpPr>
            <p:cNvPr id="594" name="Rectangle 593"/>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0.62</a:t>
              </a:r>
              <a:endParaRPr lang="en-US" sz="1200" dirty="0">
                <a:solidFill>
                  <a:srgbClr val="336600"/>
                </a:solidFill>
                <a:latin typeface="Times New Roman" panose="02020603050405020304" pitchFamily="18" charset="0"/>
              </a:endParaRPr>
            </a:p>
          </p:txBody>
        </p:sp>
        <p:grpSp>
          <p:nvGrpSpPr>
            <p:cNvPr id="595" name="Group 296"/>
            <p:cNvGrpSpPr/>
            <p:nvPr/>
          </p:nvGrpSpPr>
          <p:grpSpPr>
            <a:xfrm>
              <a:off x="539553" y="1846065"/>
              <a:ext cx="579292" cy="144016"/>
              <a:chOff x="2483768" y="5013176"/>
              <a:chExt cx="579292" cy="144016"/>
            </a:xfrm>
          </p:grpSpPr>
          <p:sp>
            <p:nvSpPr>
              <p:cNvPr id="596" name="Rectangle 595"/>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597" name="Rectangle 596"/>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601" name="168,801"/>
          <p:cNvGrpSpPr/>
          <p:nvPr/>
        </p:nvGrpSpPr>
        <p:grpSpPr>
          <a:xfrm>
            <a:off x="9717876" y="2991022"/>
            <a:ext cx="579293" cy="433289"/>
            <a:chOff x="539552" y="1556792"/>
            <a:chExt cx="579293" cy="433289"/>
          </a:xfrm>
          <a:effectLst>
            <a:outerShdw blurRad="50800" dist="38100" dir="2700000" algn="tl" rotWithShape="0">
              <a:prstClr val="black">
                <a:alpha val="40000"/>
              </a:prstClr>
            </a:outerShdw>
          </a:effectLst>
        </p:grpSpPr>
        <p:grpSp>
          <p:nvGrpSpPr>
            <p:cNvPr id="602" name="Group 287"/>
            <p:cNvGrpSpPr/>
            <p:nvPr/>
          </p:nvGrpSpPr>
          <p:grpSpPr>
            <a:xfrm>
              <a:off x="539553" y="1700808"/>
              <a:ext cx="579292" cy="144016"/>
              <a:chOff x="2483768" y="5013176"/>
              <a:chExt cx="579292" cy="144016"/>
            </a:xfrm>
          </p:grpSpPr>
          <p:sp>
            <p:nvSpPr>
              <p:cNvPr id="607" name="Rectangle 606"/>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801</a:t>
                </a:r>
                <a:endParaRPr lang="en-US" sz="1200" dirty="0">
                  <a:solidFill>
                    <a:srgbClr val="336600"/>
                  </a:solidFill>
                  <a:latin typeface="Times New Roman" panose="02020603050405020304" pitchFamily="18" charset="0"/>
                </a:endParaRPr>
              </a:p>
            </p:txBody>
          </p:sp>
          <p:sp>
            <p:nvSpPr>
              <p:cNvPr id="608" name="Rectangle 607"/>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168</a:t>
                </a:r>
                <a:endParaRPr lang="en-US" sz="1200" dirty="0">
                  <a:solidFill>
                    <a:srgbClr val="336600"/>
                  </a:solidFill>
                  <a:latin typeface="Times New Roman" panose="02020603050405020304" pitchFamily="18" charset="0"/>
                </a:endParaRPr>
              </a:p>
            </p:txBody>
          </p:sp>
        </p:grpSp>
        <p:grpSp>
          <p:nvGrpSpPr>
            <p:cNvPr id="604" name="Group 296"/>
            <p:cNvGrpSpPr/>
            <p:nvPr/>
          </p:nvGrpSpPr>
          <p:grpSpPr>
            <a:xfrm>
              <a:off x="539553" y="1846065"/>
              <a:ext cx="579292" cy="144016"/>
              <a:chOff x="2483768" y="5013176"/>
              <a:chExt cx="579292" cy="144016"/>
            </a:xfrm>
          </p:grpSpPr>
          <p:sp>
            <p:nvSpPr>
              <p:cNvPr id="605" name="Rectangle 604"/>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606" name="Rectangle 605"/>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sp>
          <p:nvSpPr>
            <p:cNvPr id="603" name="Rectangle 602"/>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0.38</a:t>
              </a:r>
              <a:endParaRPr lang="en-US" sz="1200" dirty="0">
                <a:solidFill>
                  <a:srgbClr val="336600"/>
                </a:solidFill>
                <a:latin typeface="Times New Roman" panose="02020603050405020304" pitchFamily="18" charset="0"/>
              </a:endParaRPr>
            </a:p>
          </p:txBody>
        </p:sp>
      </p:grpSp>
      <p:sp>
        <p:nvSpPr>
          <p:cNvPr id="572" name="Freeform 571"/>
          <p:cNvSpPr/>
          <p:nvPr/>
        </p:nvSpPr>
        <p:spPr bwMode="auto">
          <a:xfrm>
            <a:off x="9860750" y="3347934"/>
            <a:ext cx="195691" cy="1306924"/>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627" name="Freeform 626"/>
          <p:cNvSpPr/>
          <p:nvPr/>
        </p:nvSpPr>
        <p:spPr bwMode="auto">
          <a:xfrm>
            <a:off x="7712976" y="3343276"/>
            <a:ext cx="146384" cy="1313497"/>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6" name="answer">
            <a:extLst>
              <a:ext uri="{FF2B5EF4-FFF2-40B4-BE49-F238E27FC236}">
                <a16:creationId xmlns:a16="http://schemas.microsoft.com/office/drawing/2014/main" id="{50ECB274-D9ED-8294-5A9F-34F5D90EAAAE}"/>
              </a:ext>
            </a:extLst>
          </p:cNvPr>
          <p:cNvSpPr>
            <a:spLocks noChangeArrowheads="1"/>
          </p:cNvSpPr>
          <p:nvPr/>
        </p:nvSpPr>
        <p:spPr bwMode="auto">
          <a:xfrm>
            <a:off x="676939" y="4202263"/>
            <a:ext cx="4380831" cy="2016015"/>
          </a:xfrm>
          <a:prstGeom prst="wedgeRoundRectCallout">
            <a:avLst>
              <a:gd name="adj1" fmla="val -21157"/>
              <a:gd name="adj2" fmla="val 27064"/>
              <a:gd name="adj3" fmla="val 16667"/>
            </a:avLst>
          </a:prstGeom>
          <a:solidFill>
            <a:schemeClr val="accent3">
              <a:lumMod val="60000"/>
              <a:lumOff val="40000"/>
            </a:schemeClr>
          </a:solidFill>
          <a:ln w="936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tIns="46800" rIns="0" bIns="46800" anchor="ctr"/>
          <a:lstStyle/>
          <a:p>
            <a:pPr>
              <a:spcBef>
                <a:spcPts val="1250"/>
              </a:spcBef>
              <a:buClr>
                <a:srgbClr val="006600"/>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dirty="0">
                <a:latin typeface="Times New Roman" panose="02020603050405020304" pitchFamily="18" charset="0"/>
              </a:rPr>
              <a:t>One solution: add a column of row headers, ordered by row #, one header for each row having at least one non-zero element in it</a:t>
            </a:r>
          </a:p>
        </p:txBody>
      </p:sp>
      <p:sp>
        <p:nvSpPr>
          <p:cNvPr id="11" name="col header sentinel mark">
            <a:extLst>
              <a:ext uri="{FF2B5EF4-FFF2-40B4-BE49-F238E27FC236}">
                <a16:creationId xmlns:a16="http://schemas.microsoft.com/office/drawing/2014/main" id="{C68744B7-4EC1-4E09-9156-FB0BF4B64221}"/>
              </a:ext>
            </a:extLst>
          </p:cNvPr>
          <p:cNvSpPr>
            <a:spLocks noChangeArrowheads="1"/>
          </p:cNvSpPr>
          <p:nvPr/>
        </p:nvSpPr>
        <p:spPr bwMode="auto">
          <a:xfrm>
            <a:off x="6127456" y="6067654"/>
            <a:ext cx="2808312" cy="783704"/>
          </a:xfrm>
          <a:prstGeom prst="wedgeRoundRectCallout">
            <a:avLst>
              <a:gd name="adj1" fmla="val -57825"/>
              <a:gd name="adj2" fmla="val 27058"/>
              <a:gd name="adj3" fmla="val 16667"/>
            </a:avLst>
          </a:prstGeom>
          <a:solidFill>
            <a:srgbClr val="00B0F0"/>
          </a:solidFill>
          <a:ln w="936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tIns="46800" rIns="0" bIns="46800" anchor="ctr"/>
          <a:lstStyle/>
          <a:p>
            <a:pPr marL="290513" indent="-290513">
              <a:spcBef>
                <a:spcPts val="1250"/>
              </a:spcBef>
              <a:buClr>
                <a:srgbClr val="006600"/>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dirty="0">
                <a:latin typeface="Times New Roman" panose="02020603050405020304" pitchFamily="18" charset="0"/>
              </a:rPr>
              <a:t>… and a negative row # for a column header</a:t>
            </a:r>
          </a:p>
        </p:txBody>
      </p:sp>
      <p:sp>
        <p:nvSpPr>
          <p:cNvPr id="15" name="assume">
            <a:extLst>
              <a:ext uri="{FF2B5EF4-FFF2-40B4-BE49-F238E27FC236}">
                <a16:creationId xmlns:a16="http://schemas.microsoft.com/office/drawing/2014/main" id="{B5E8F965-B1FD-96D0-C00A-3FBA1A93884A}"/>
              </a:ext>
            </a:extLst>
          </p:cNvPr>
          <p:cNvSpPr>
            <a:spLocks noChangeArrowheads="1"/>
          </p:cNvSpPr>
          <p:nvPr/>
        </p:nvSpPr>
        <p:spPr bwMode="auto">
          <a:xfrm>
            <a:off x="610472" y="1987687"/>
            <a:ext cx="5003196" cy="1875346"/>
          </a:xfrm>
          <a:prstGeom prst="wedgeRoundRectCallout">
            <a:avLst>
              <a:gd name="adj1" fmla="val -21157"/>
              <a:gd name="adj2" fmla="val 27064"/>
              <a:gd name="adj3" fmla="val 16667"/>
            </a:avLst>
          </a:prstGeom>
          <a:solidFill>
            <a:schemeClr val="accent3">
              <a:lumMod val="60000"/>
              <a:lumOff val="40000"/>
            </a:schemeClr>
          </a:solidFill>
          <a:ln w="936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tIns="46800" rIns="0" bIns="46800" anchor="ctr"/>
          <a:lstStyle/>
          <a:p>
            <a:pPr marL="176213" indent="-176213">
              <a:spcBef>
                <a:spcPts val="1250"/>
              </a:spcBef>
              <a:buClr>
                <a:schemeClr val="tx1"/>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a:latin typeface="Times New Roman" panose="02020603050405020304" pitchFamily="18" charset="0"/>
              </a:rPr>
              <a:t>Assume, for example, that you wish to know the value of m</a:t>
            </a:r>
            <a:r>
              <a:rPr lang="en-US" sz="2800" baseline="-25000" dirty="0">
                <a:latin typeface="Times New Roman" panose="02020603050405020304" pitchFamily="18" charset="0"/>
              </a:rPr>
              <a:t>56,492</a:t>
            </a:r>
            <a:r>
              <a:rPr lang="en-US" sz="2800" dirty="0">
                <a:latin typeface="Times New Roman" panose="02020603050405020304" pitchFamily="18" charset="0"/>
              </a:rPr>
              <a:t> </a:t>
            </a:r>
          </a:p>
          <a:p>
            <a:pPr marL="176213" indent="-176213">
              <a:spcBef>
                <a:spcPts val="1250"/>
              </a:spcBef>
              <a:buClr>
                <a:schemeClr val="tx1"/>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a:latin typeface="Times New Roman" panose="02020603050405020304" pitchFamily="18" charset="0"/>
              </a:rPr>
              <a:t>How do we traverse this?</a:t>
            </a:r>
          </a:p>
        </p:txBody>
      </p:sp>
      <p:sp>
        <p:nvSpPr>
          <p:cNvPr id="17" name="row arrow to 882,667">
            <a:extLst>
              <a:ext uri="{FF2B5EF4-FFF2-40B4-BE49-F238E27FC236}">
                <a16:creationId xmlns:a16="http://schemas.microsoft.com/office/drawing/2014/main" id="{DB8D2FCD-B71F-83AE-B87A-B3D939A0629E}"/>
              </a:ext>
            </a:extLst>
          </p:cNvPr>
          <p:cNvSpPr/>
          <p:nvPr/>
        </p:nvSpPr>
        <p:spPr bwMode="auto">
          <a:xfrm rot="16200000">
            <a:off x="6611962" y="4059261"/>
            <a:ext cx="140678" cy="1728862"/>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18" name="row arrow to 152,326">
            <a:extLst>
              <a:ext uri="{FF2B5EF4-FFF2-40B4-BE49-F238E27FC236}">
                <a16:creationId xmlns:a16="http://schemas.microsoft.com/office/drawing/2014/main" id="{970C6506-AEC6-BE58-7F37-36BD5C7B4345}"/>
              </a:ext>
            </a:extLst>
          </p:cNvPr>
          <p:cNvSpPr/>
          <p:nvPr/>
        </p:nvSpPr>
        <p:spPr bwMode="auto">
          <a:xfrm rot="16200000">
            <a:off x="6057888" y="2107210"/>
            <a:ext cx="159745" cy="637451"/>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19" name="row arrow to 927,713">
            <a:extLst>
              <a:ext uri="{FF2B5EF4-FFF2-40B4-BE49-F238E27FC236}">
                <a16:creationId xmlns:a16="http://schemas.microsoft.com/office/drawing/2014/main" id="{FB24EA79-BD25-315E-E6EA-A17F836A20D7}"/>
              </a:ext>
            </a:extLst>
          </p:cNvPr>
          <p:cNvSpPr/>
          <p:nvPr/>
        </p:nvSpPr>
        <p:spPr bwMode="auto">
          <a:xfrm rot="16200000">
            <a:off x="7139242" y="4377865"/>
            <a:ext cx="178185" cy="2799702"/>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0" name="row arrow to 168,667">
            <a:extLst>
              <a:ext uri="{FF2B5EF4-FFF2-40B4-BE49-F238E27FC236}">
                <a16:creationId xmlns:a16="http://schemas.microsoft.com/office/drawing/2014/main" id="{E8FBD6CA-9C3C-82DD-28CF-C5ECAA0F7683}"/>
              </a:ext>
            </a:extLst>
          </p:cNvPr>
          <p:cNvSpPr/>
          <p:nvPr/>
        </p:nvSpPr>
        <p:spPr bwMode="auto">
          <a:xfrm rot="16200000">
            <a:off x="6571750" y="2371736"/>
            <a:ext cx="207865" cy="1742099"/>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grpSp>
        <p:nvGrpSpPr>
          <p:cNvPr id="22" name="row headers">
            <a:extLst>
              <a:ext uri="{FF2B5EF4-FFF2-40B4-BE49-F238E27FC236}">
                <a16:creationId xmlns:a16="http://schemas.microsoft.com/office/drawing/2014/main" id="{BD4C14F7-47CD-3E35-53BB-739914C66877}"/>
              </a:ext>
            </a:extLst>
          </p:cNvPr>
          <p:cNvGrpSpPr/>
          <p:nvPr/>
        </p:nvGrpSpPr>
        <p:grpSpPr>
          <a:xfrm>
            <a:off x="5343267" y="2409662"/>
            <a:ext cx="592423" cy="3780402"/>
            <a:chOff x="3848691" y="2151294"/>
            <a:chExt cx="592423" cy="3780402"/>
          </a:xfrm>
        </p:grpSpPr>
        <p:grpSp>
          <p:nvGrpSpPr>
            <p:cNvPr id="23" name="Group 22">
              <a:extLst>
                <a:ext uri="{FF2B5EF4-FFF2-40B4-BE49-F238E27FC236}">
                  <a16:creationId xmlns:a16="http://schemas.microsoft.com/office/drawing/2014/main" id="{3CE09B87-2E47-56F0-E40D-650493BF2A11}"/>
                </a:ext>
              </a:extLst>
            </p:cNvPr>
            <p:cNvGrpSpPr/>
            <p:nvPr/>
          </p:nvGrpSpPr>
          <p:grpSpPr>
            <a:xfrm>
              <a:off x="3861821" y="2151294"/>
              <a:ext cx="579293" cy="433289"/>
              <a:chOff x="539552" y="1556792"/>
              <a:chExt cx="579293" cy="433289"/>
            </a:xfrm>
            <a:effectLst>
              <a:outerShdw blurRad="50800" dist="38100" dir="2700000" algn="tl" rotWithShape="0">
                <a:prstClr val="black">
                  <a:alpha val="40000"/>
                </a:prstClr>
              </a:outerShdw>
            </a:effectLst>
          </p:grpSpPr>
          <p:grpSp>
            <p:nvGrpSpPr>
              <p:cNvPr id="56" name="Group 287">
                <a:extLst>
                  <a:ext uri="{FF2B5EF4-FFF2-40B4-BE49-F238E27FC236}">
                    <a16:creationId xmlns:a16="http://schemas.microsoft.com/office/drawing/2014/main" id="{53FFAC17-E2FC-EA8B-689C-04109AD30006}"/>
                  </a:ext>
                </a:extLst>
              </p:cNvPr>
              <p:cNvGrpSpPr/>
              <p:nvPr/>
            </p:nvGrpSpPr>
            <p:grpSpPr>
              <a:xfrm>
                <a:off x="539553" y="1700808"/>
                <a:ext cx="579292" cy="144016"/>
                <a:chOff x="2483768" y="5013176"/>
                <a:chExt cx="579292" cy="144016"/>
              </a:xfrm>
            </p:grpSpPr>
            <p:sp>
              <p:nvSpPr>
                <p:cNvPr id="61" name="Rectangle 60">
                  <a:extLst>
                    <a:ext uri="{FF2B5EF4-FFF2-40B4-BE49-F238E27FC236}">
                      <a16:creationId xmlns:a16="http://schemas.microsoft.com/office/drawing/2014/main" id="{EBBAE33E-0738-613A-006E-87CAEF868D95}"/>
                    </a:ext>
                  </a:extLst>
                </p:cNvPr>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-1</a:t>
                  </a:r>
                  <a:endParaRPr lang="en-US" sz="1200" dirty="0">
                    <a:solidFill>
                      <a:srgbClr val="336600"/>
                    </a:solidFill>
                    <a:latin typeface="Times New Roman" panose="02020603050405020304" pitchFamily="18" charset="0"/>
                  </a:endParaRPr>
                </a:p>
              </p:txBody>
            </p:sp>
            <p:sp>
              <p:nvSpPr>
                <p:cNvPr id="62" name="Rectangle 61">
                  <a:extLst>
                    <a:ext uri="{FF2B5EF4-FFF2-40B4-BE49-F238E27FC236}">
                      <a16:creationId xmlns:a16="http://schemas.microsoft.com/office/drawing/2014/main" id="{0DAC95CE-D026-CEE3-3C94-B042F1296B3E}"/>
                    </a:ext>
                  </a:extLst>
                </p:cNvPr>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152</a:t>
                  </a:r>
                  <a:endParaRPr lang="en-US" sz="1200" dirty="0">
                    <a:solidFill>
                      <a:srgbClr val="336600"/>
                    </a:solidFill>
                    <a:latin typeface="Times New Roman" panose="02020603050405020304" pitchFamily="18" charset="0"/>
                  </a:endParaRPr>
                </a:p>
              </p:txBody>
            </p:sp>
          </p:grpSp>
          <p:sp>
            <p:nvSpPr>
              <p:cNvPr id="57" name="Rectangle 56">
                <a:extLst>
                  <a:ext uri="{FF2B5EF4-FFF2-40B4-BE49-F238E27FC236}">
                    <a16:creationId xmlns:a16="http://schemas.microsoft.com/office/drawing/2014/main" id="{92838CC9-2F44-C3AE-BB10-476585DE7ABC}"/>
                  </a:ext>
                </a:extLst>
              </p:cNvPr>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a:t>
                </a:r>
              </a:p>
            </p:txBody>
          </p:sp>
          <p:grpSp>
            <p:nvGrpSpPr>
              <p:cNvPr id="58" name="Group 296">
                <a:extLst>
                  <a:ext uri="{FF2B5EF4-FFF2-40B4-BE49-F238E27FC236}">
                    <a16:creationId xmlns:a16="http://schemas.microsoft.com/office/drawing/2014/main" id="{3C288325-660B-0B56-BDBD-ABD9D6D4BD02}"/>
                  </a:ext>
                </a:extLst>
              </p:cNvPr>
              <p:cNvGrpSpPr/>
              <p:nvPr/>
            </p:nvGrpSpPr>
            <p:grpSpPr>
              <a:xfrm>
                <a:off x="539553" y="1846065"/>
                <a:ext cx="579292" cy="144016"/>
                <a:chOff x="2483768" y="5013176"/>
                <a:chExt cx="579292" cy="144016"/>
              </a:xfrm>
            </p:grpSpPr>
            <p:sp>
              <p:nvSpPr>
                <p:cNvPr id="59" name="Rectangle 58">
                  <a:extLst>
                    <a:ext uri="{FF2B5EF4-FFF2-40B4-BE49-F238E27FC236}">
                      <a16:creationId xmlns:a16="http://schemas.microsoft.com/office/drawing/2014/main" id="{70DBF741-1A43-8386-086C-FF5DCFCA13C8}"/>
                    </a:ext>
                  </a:extLst>
                </p:cNvPr>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60" name="Rectangle 59">
                  <a:extLst>
                    <a:ext uri="{FF2B5EF4-FFF2-40B4-BE49-F238E27FC236}">
                      <a16:creationId xmlns:a16="http://schemas.microsoft.com/office/drawing/2014/main" id="{7F37E10F-06C0-E636-BFD5-C5FF9167989A}"/>
                    </a:ext>
                  </a:extLst>
                </p:cNvPr>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24" name="Group 23">
              <a:extLst>
                <a:ext uri="{FF2B5EF4-FFF2-40B4-BE49-F238E27FC236}">
                  <a16:creationId xmlns:a16="http://schemas.microsoft.com/office/drawing/2014/main" id="{1D2E16CF-411B-0B14-8804-22DAB6A925AC}"/>
                </a:ext>
              </a:extLst>
            </p:cNvPr>
            <p:cNvGrpSpPr/>
            <p:nvPr/>
          </p:nvGrpSpPr>
          <p:grpSpPr>
            <a:xfrm>
              <a:off x="3861821" y="2986339"/>
              <a:ext cx="579293" cy="433289"/>
              <a:chOff x="539552" y="1556792"/>
              <a:chExt cx="579293" cy="433289"/>
            </a:xfrm>
            <a:effectLst>
              <a:outerShdw blurRad="50800" dist="38100" dir="2700000" algn="tl" rotWithShape="0">
                <a:prstClr val="black">
                  <a:alpha val="40000"/>
                </a:prstClr>
              </a:outerShdw>
            </a:effectLst>
          </p:grpSpPr>
          <p:grpSp>
            <p:nvGrpSpPr>
              <p:cNvPr id="49" name="Group 287">
                <a:extLst>
                  <a:ext uri="{FF2B5EF4-FFF2-40B4-BE49-F238E27FC236}">
                    <a16:creationId xmlns:a16="http://schemas.microsoft.com/office/drawing/2014/main" id="{CDB66A35-5EEB-8A22-C16F-772CA474EE6D}"/>
                  </a:ext>
                </a:extLst>
              </p:cNvPr>
              <p:cNvGrpSpPr/>
              <p:nvPr/>
            </p:nvGrpSpPr>
            <p:grpSpPr>
              <a:xfrm>
                <a:off x="539553" y="1700808"/>
                <a:ext cx="579292" cy="144016"/>
                <a:chOff x="2483768" y="5013176"/>
                <a:chExt cx="579292" cy="144016"/>
              </a:xfrm>
            </p:grpSpPr>
            <p:sp>
              <p:nvSpPr>
                <p:cNvPr id="54" name="Rectangle 53">
                  <a:extLst>
                    <a:ext uri="{FF2B5EF4-FFF2-40B4-BE49-F238E27FC236}">
                      <a16:creationId xmlns:a16="http://schemas.microsoft.com/office/drawing/2014/main" id="{DF8A0C03-6711-6A66-7ADA-C9CB54A62910}"/>
                    </a:ext>
                  </a:extLst>
                </p:cNvPr>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-1</a:t>
                  </a:r>
                </a:p>
              </p:txBody>
            </p:sp>
            <p:sp>
              <p:nvSpPr>
                <p:cNvPr id="55" name="Rectangle 54">
                  <a:extLst>
                    <a:ext uri="{FF2B5EF4-FFF2-40B4-BE49-F238E27FC236}">
                      <a16:creationId xmlns:a16="http://schemas.microsoft.com/office/drawing/2014/main" id="{862BAA27-F14A-0F83-7B4D-D0C786D1C30F}"/>
                    </a:ext>
                  </a:extLst>
                </p:cNvPr>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168</a:t>
                  </a:r>
                  <a:endParaRPr lang="en-US" sz="1200" dirty="0">
                    <a:solidFill>
                      <a:srgbClr val="336600"/>
                    </a:solidFill>
                    <a:latin typeface="Times New Roman" panose="02020603050405020304" pitchFamily="18" charset="0"/>
                  </a:endParaRPr>
                </a:p>
              </p:txBody>
            </p:sp>
          </p:grpSp>
          <p:sp>
            <p:nvSpPr>
              <p:cNvPr id="50" name="Rectangle 49">
                <a:extLst>
                  <a:ext uri="{FF2B5EF4-FFF2-40B4-BE49-F238E27FC236}">
                    <a16:creationId xmlns:a16="http://schemas.microsoft.com/office/drawing/2014/main" id="{258A66A7-4F95-3F7F-F89B-2A7CF87D4F05}"/>
                  </a:ext>
                </a:extLst>
              </p:cNvPr>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a:t>
                </a:r>
              </a:p>
            </p:txBody>
          </p:sp>
          <p:grpSp>
            <p:nvGrpSpPr>
              <p:cNvPr id="51" name="Group 296">
                <a:extLst>
                  <a:ext uri="{FF2B5EF4-FFF2-40B4-BE49-F238E27FC236}">
                    <a16:creationId xmlns:a16="http://schemas.microsoft.com/office/drawing/2014/main" id="{CDB8888D-FD1E-9F4B-F9B7-35E3C02B38F4}"/>
                  </a:ext>
                </a:extLst>
              </p:cNvPr>
              <p:cNvGrpSpPr/>
              <p:nvPr/>
            </p:nvGrpSpPr>
            <p:grpSpPr>
              <a:xfrm>
                <a:off x="539553" y="1846065"/>
                <a:ext cx="579292" cy="144016"/>
                <a:chOff x="2483768" y="5013176"/>
                <a:chExt cx="579292" cy="144016"/>
              </a:xfrm>
            </p:grpSpPr>
            <p:sp>
              <p:nvSpPr>
                <p:cNvPr id="52" name="Rectangle 51">
                  <a:extLst>
                    <a:ext uri="{FF2B5EF4-FFF2-40B4-BE49-F238E27FC236}">
                      <a16:creationId xmlns:a16="http://schemas.microsoft.com/office/drawing/2014/main" id="{79CE11AE-D333-C063-A037-65566DF7DFAD}"/>
                    </a:ext>
                  </a:extLst>
                </p:cNvPr>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53" name="Rectangle 52">
                  <a:extLst>
                    <a:ext uri="{FF2B5EF4-FFF2-40B4-BE49-F238E27FC236}">
                      <a16:creationId xmlns:a16="http://schemas.microsoft.com/office/drawing/2014/main" id="{0EC1C670-4587-4DBF-0269-CED21236C65A}"/>
                    </a:ext>
                  </a:extLst>
                </p:cNvPr>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25" name="Group 24">
              <a:extLst>
                <a:ext uri="{FF2B5EF4-FFF2-40B4-BE49-F238E27FC236}">
                  <a16:creationId xmlns:a16="http://schemas.microsoft.com/office/drawing/2014/main" id="{733AFA05-3995-BBA9-A93B-A27731CD0A2D}"/>
                </a:ext>
              </a:extLst>
            </p:cNvPr>
            <p:cNvGrpSpPr/>
            <p:nvPr/>
          </p:nvGrpSpPr>
          <p:grpSpPr>
            <a:xfrm>
              <a:off x="3861821" y="4656429"/>
              <a:ext cx="579293" cy="433289"/>
              <a:chOff x="539552" y="1556792"/>
              <a:chExt cx="579293" cy="433289"/>
            </a:xfrm>
            <a:effectLst>
              <a:outerShdw blurRad="50800" dist="38100" dir="2700000" algn="tl" rotWithShape="0">
                <a:prstClr val="black">
                  <a:alpha val="40000"/>
                </a:prstClr>
              </a:outerShdw>
            </a:effectLst>
          </p:grpSpPr>
          <p:grpSp>
            <p:nvGrpSpPr>
              <p:cNvPr id="42" name="Group 287">
                <a:extLst>
                  <a:ext uri="{FF2B5EF4-FFF2-40B4-BE49-F238E27FC236}">
                    <a16:creationId xmlns:a16="http://schemas.microsoft.com/office/drawing/2014/main" id="{F8CE3467-293F-130C-B304-66B33A2BCBA3}"/>
                  </a:ext>
                </a:extLst>
              </p:cNvPr>
              <p:cNvGrpSpPr/>
              <p:nvPr/>
            </p:nvGrpSpPr>
            <p:grpSpPr>
              <a:xfrm>
                <a:off x="539553" y="1700808"/>
                <a:ext cx="579292" cy="144016"/>
                <a:chOff x="2483768" y="5013176"/>
                <a:chExt cx="579292" cy="144016"/>
              </a:xfrm>
            </p:grpSpPr>
            <p:sp>
              <p:nvSpPr>
                <p:cNvPr id="47" name="Rectangle 46">
                  <a:extLst>
                    <a:ext uri="{FF2B5EF4-FFF2-40B4-BE49-F238E27FC236}">
                      <a16:creationId xmlns:a16="http://schemas.microsoft.com/office/drawing/2014/main" id="{266AD470-7A4E-A83B-79F8-4997D0F2111E}"/>
                    </a:ext>
                  </a:extLst>
                </p:cNvPr>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-1</a:t>
                  </a:r>
                  <a:endParaRPr lang="en-US" sz="1200" dirty="0">
                    <a:solidFill>
                      <a:srgbClr val="336600"/>
                    </a:solidFill>
                    <a:latin typeface="Times New Roman" panose="02020603050405020304" pitchFamily="18" charset="0"/>
                  </a:endParaRPr>
                </a:p>
              </p:txBody>
            </p:sp>
            <p:sp>
              <p:nvSpPr>
                <p:cNvPr id="48" name="Rectangle 47">
                  <a:extLst>
                    <a:ext uri="{FF2B5EF4-FFF2-40B4-BE49-F238E27FC236}">
                      <a16:creationId xmlns:a16="http://schemas.microsoft.com/office/drawing/2014/main" id="{8F2C1127-A2BE-40E6-DB3C-153121EDA0EB}"/>
                    </a:ext>
                  </a:extLst>
                </p:cNvPr>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882</a:t>
                  </a:r>
                  <a:endParaRPr lang="en-US" sz="1200" dirty="0">
                    <a:solidFill>
                      <a:srgbClr val="336600"/>
                    </a:solidFill>
                    <a:latin typeface="Times New Roman" panose="02020603050405020304" pitchFamily="18" charset="0"/>
                  </a:endParaRPr>
                </a:p>
              </p:txBody>
            </p:sp>
          </p:grpSp>
          <p:sp>
            <p:nvSpPr>
              <p:cNvPr id="43" name="Rectangle 42">
                <a:extLst>
                  <a:ext uri="{FF2B5EF4-FFF2-40B4-BE49-F238E27FC236}">
                    <a16:creationId xmlns:a16="http://schemas.microsoft.com/office/drawing/2014/main" id="{B2089CC3-E1C5-B4A2-6130-455972792505}"/>
                  </a:ext>
                </a:extLst>
              </p:cNvPr>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a:t>
                </a:r>
              </a:p>
            </p:txBody>
          </p:sp>
          <p:grpSp>
            <p:nvGrpSpPr>
              <p:cNvPr id="44" name="Group 296">
                <a:extLst>
                  <a:ext uri="{FF2B5EF4-FFF2-40B4-BE49-F238E27FC236}">
                    <a16:creationId xmlns:a16="http://schemas.microsoft.com/office/drawing/2014/main" id="{7F4A41A9-3D17-16F8-CB8F-0FCF361CE368}"/>
                  </a:ext>
                </a:extLst>
              </p:cNvPr>
              <p:cNvGrpSpPr/>
              <p:nvPr/>
            </p:nvGrpSpPr>
            <p:grpSpPr>
              <a:xfrm>
                <a:off x="539553" y="1846065"/>
                <a:ext cx="579292" cy="144016"/>
                <a:chOff x="2483768" y="5013176"/>
                <a:chExt cx="579292" cy="144016"/>
              </a:xfrm>
            </p:grpSpPr>
            <p:sp>
              <p:nvSpPr>
                <p:cNvPr id="45" name="Rectangle 44">
                  <a:extLst>
                    <a:ext uri="{FF2B5EF4-FFF2-40B4-BE49-F238E27FC236}">
                      <a16:creationId xmlns:a16="http://schemas.microsoft.com/office/drawing/2014/main" id="{AD241A5C-00C2-858F-E7B1-600AA0B2EB0D}"/>
                    </a:ext>
                  </a:extLst>
                </p:cNvPr>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46" name="Rectangle 45">
                  <a:extLst>
                    <a:ext uri="{FF2B5EF4-FFF2-40B4-BE49-F238E27FC236}">
                      <a16:creationId xmlns:a16="http://schemas.microsoft.com/office/drawing/2014/main" id="{3EDBBD42-366B-9C04-F1C5-F94A86C0D5F0}"/>
                    </a:ext>
                  </a:extLst>
                </p:cNvPr>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26" name="Group 25">
              <a:extLst>
                <a:ext uri="{FF2B5EF4-FFF2-40B4-BE49-F238E27FC236}">
                  <a16:creationId xmlns:a16="http://schemas.microsoft.com/office/drawing/2014/main" id="{8EE590F7-B9F1-329F-F714-B5CB803A71A1}"/>
                </a:ext>
              </a:extLst>
            </p:cNvPr>
            <p:cNvGrpSpPr/>
            <p:nvPr/>
          </p:nvGrpSpPr>
          <p:grpSpPr>
            <a:xfrm>
              <a:off x="3861821" y="3821384"/>
              <a:ext cx="579293" cy="433289"/>
              <a:chOff x="539552" y="1556792"/>
              <a:chExt cx="579293" cy="433289"/>
            </a:xfrm>
            <a:effectLst>
              <a:outerShdw blurRad="50800" dist="38100" dir="2700000" algn="tl" rotWithShape="0">
                <a:prstClr val="black">
                  <a:alpha val="40000"/>
                </a:prstClr>
              </a:outerShdw>
            </a:effectLst>
          </p:grpSpPr>
          <p:grpSp>
            <p:nvGrpSpPr>
              <p:cNvPr id="35" name="Group 287">
                <a:extLst>
                  <a:ext uri="{FF2B5EF4-FFF2-40B4-BE49-F238E27FC236}">
                    <a16:creationId xmlns:a16="http://schemas.microsoft.com/office/drawing/2014/main" id="{4A8565D0-5630-E1D8-7B83-4098EA843C53}"/>
                  </a:ext>
                </a:extLst>
              </p:cNvPr>
              <p:cNvGrpSpPr/>
              <p:nvPr/>
            </p:nvGrpSpPr>
            <p:grpSpPr>
              <a:xfrm>
                <a:off x="539553" y="1700808"/>
                <a:ext cx="579292" cy="144016"/>
                <a:chOff x="2483768" y="5013176"/>
                <a:chExt cx="579292" cy="144016"/>
              </a:xfrm>
            </p:grpSpPr>
            <p:sp>
              <p:nvSpPr>
                <p:cNvPr id="40" name="Rectangle 39">
                  <a:extLst>
                    <a:ext uri="{FF2B5EF4-FFF2-40B4-BE49-F238E27FC236}">
                      <a16:creationId xmlns:a16="http://schemas.microsoft.com/office/drawing/2014/main" id="{9B14C156-F20C-DC6E-FBC1-BA3B590547EA}"/>
                    </a:ext>
                  </a:extLst>
                </p:cNvPr>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-1</a:t>
                  </a:r>
                </a:p>
              </p:txBody>
            </p:sp>
            <p:sp>
              <p:nvSpPr>
                <p:cNvPr id="41" name="Rectangle 40">
                  <a:extLst>
                    <a:ext uri="{FF2B5EF4-FFF2-40B4-BE49-F238E27FC236}">
                      <a16:creationId xmlns:a16="http://schemas.microsoft.com/office/drawing/2014/main" id="{0946C386-3E9B-5127-A677-8617896D4AFC}"/>
                    </a:ext>
                  </a:extLst>
                </p:cNvPr>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617</a:t>
                  </a:r>
                  <a:endParaRPr lang="en-US" sz="1200" dirty="0">
                    <a:solidFill>
                      <a:srgbClr val="336600"/>
                    </a:solidFill>
                    <a:latin typeface="Times New Roman" panose="02020603050405020304" pitchFamily="18" charset="0"/>
                  </a:endParaRPr>
                </a:p>
              </p:txBody>
            </p:sp>
          </p:grpSp>
          <p:sp>
            <p:nvSpPr>
              <p:cNvPr id="36" name="Rectangle 35">
                <a:extLst>
                  <a:ext uri="{FF2B5EF4-FFF2-40B4-BE49-F238E27FC236}">
                    <a16:creationId xmlns:a16="http://schemas.microsoft.com/office/drawing/2014/main" id="{20C0325F-67E3-4140-0D3E-BF0844037257}"/>
                  </a:ext>
                </a:extLst>
              </p:cNvPr>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a:t>
                </a:r>
              </a:p>
            </p:txBody>
          </p:sp>
          <p:grpSp>
            <p:nvGrpSpPr>
              <p:cNvPr id="37" name="Group 296">
                <a:extLst>
                  <a:ext uri="{FF2B5EF4-FFF2-40B4-BE49-F238E27FC236}">
                    <a16:creationId xmlns:a16="http://schemas.microsoft.com/office/drawing/2014/main" id="{02334CCA-8877-EBF0-AC7E-F41B62377B1E}"/>
                  </a:ext>
                </a:extLst>
              </p:cNvPr>
              <p:cNvGrpSpPr/>
              <p:nvPr/>
            </p:nvGrpSpPr>
            <p:grpSpPr>
              <a:xfrm>
                <a:off x="539553" y="1846065"/>
                <a:ext cx="579292" cy="144016"/>
                <a:chOff x="2483768" y="5013176"/>
                <a:chExt cx="579292" cy="144016"/>
              </a:xfrm>
            </p:grpSpPr>
            <p:sp>
              <p:nvSpPr>
                <p:cNvPr id="38" name="Rectangle 37">
                  <a:extLst>
                    <a:ext uri="{FF2B5EF4-FFF2-40B4-BE49-F238E27FC236}">
                      <a16:creationId xmlns:a16="http://schemas.microsoft.com/office/drawing/2014/main" id="{C99B98FE-D22C-3CAC-AB28-5FC9F2D02C7B}"/>
                    </a:ext>
                  </a:extLst>
                </p:cNvPr>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39" name="Rectangle 38">
                  <a:extLst>
                    <a:ext uri="{FF2B5EF4-FFF2-40B4-BE49-F238E27FC236}">
                      <a16:creationId xmlns:a16="http://schemas.microsoft.com/office/drawing/2014/main" id="{214FCD00-4446-EB74-5107-FA8ED2DA1A98}"/>
                    </a:ext>
                  </a:extLst>
                </p:cNvPr>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27" name="Group 26">
              <a:extLst>
                <a:ext uri="{FF2B5EF4-FFF2-40B4-BE49-F238E27FC236}">
                  <a16:creationId xmlns:a16="http://schemas.microsoft.com/office/drawing/2014/main" id="{C16BF710-130F-6E0E-F69D-C634CD342401}"/>
                </a:ext>
              </a:extLst>
            </p:cNvPr>
            <p:cNvGrpSpPr/>
            <p:nvPr/>
          </p:nvGrpSpPr>
          <p:grpSpPr>
            <a:xfrm>
              <a:off x="3848691" y="5498407"/>
              <a:ext cx="579293" cy="433289"/>
              <a:chOff x="539552" y="1556792"/>
              <a:chExt cx="579293" cy="433289"/>
            </a:xfrm>
            <a:effectLst>
              <a:outerShdw blurRad="50800" dist="38100" dir="2700000" algn="tl" rotWithShape="0">
                <a:prstClr val="black">
                  <a:alpha val="40000"/>
                </a:prstClr>
              </a:outerShdw>
            </a:effectLst>
          </p:grpSpPr>
          <p:grpSp>
            <p:nvGrpSpPr>
              <p:cNvPr id="28" name="Group 287">
                <a:extLst>
                  <a:ext uri="{FF2B5EF4-FFF2-40B4-BE49-F238E27FC236}">
                    <a16:creationId xmlns:a16="http://schemas.microsoft.com/office/drawing/2014/main" id="{1266E71A-44FC-1241-3DCE-4DA788CABE51}"/>
                  </a:ext>
                </a:extLst>
              </p:cNvPr>
              <p:cNvGrpSpPr/>
              <p:nvPr/>
            </p:nvGrpSpPr>
            <p:grpSpPr>
              <a:xfrm>
                <a:off x="539553" y="1700808"/>
                <a:ext cx="579292" cy="144016"/>
                <a:chOff x="2483768" y="5013176"/>
                <a:chExt cx="579292" cy="144016"/>
              </a:xfrm>
            </p:grpSpPr>
            <p:sp>
              <p:nvSpPr>
                <p:cNvPr id="33" name="Rectangle 32">
                  <a:extLst>
                    <a:ext uri="{FF2B5EF4-FFF2-40B4-BE49-F238E27FC236}">
                      <a16:creationId xmlns:a16="http://schemas.microsoft.com/office/drawing/2014/main" id="{6D8887EF-25E7-97AF-71BC-4974B582ECC0}"/>
                    </a:ext>
                  </a:extLst>
                </p:cNvPr>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-1</a:t>
                  </a:r>
                  <a:endParaRPr lang="en-US" sz="1200" dirty="0">
                    <a:solidFill>
                      <a:srgbClr val="336600"/>
                    </a:solidFill>
                    <a:latin typeface="Times New Roman" panose="02020603050405020304" pitchFamily="18" charset="0"/>
                  </a:endParaRPr>
                </a:p>
              </p:txBody>
            </p:sp>
            <p:sp>
              <p:nvSpPr>
                <p:cNvPr id="34" name="Rectangle 33">
                  <a:extLst>
                    <a:ext uri="{FF2B5EF4-FFF2-40B4-BE49-F238E27FC236}">
                      <a16:creationId xmlns:a16="http://schemas.microsoft.com/office/drawing/2014/main" id="{C511C705-9D1B-3D9F-0403-AD76025A8E79}"/>
                    </a:ext>
                  </a:extLst>
                </p:cNvPr>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a:buClr>
                      <a:srgbClr val="006600"/>
                    </a:buClr>
                  </a:pPr>
                  <a:r>
                    <a:rPr lang="en-US" sz="1200" dirty="0">
                      <a:latin typeface="Times New Roman" panose="02020603050405020304" pitchFamily="18" charset="0"/>
                    </a:rPr>
                    <a:t>927</a:t>
                  </a:r>
                </a:p>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sp>
            <p:nvSpPr>
              <p:cNvPr id="29" name="Rectangle 28">
                <a:extLst>
                  <a:ext uri="{FF2B5EF4-FFF2-40B4-BE49-F238E27FC236}">
                    <a16:creationId xmlns:a16="http://schemas.microsoft.com/office/drawing/2014/main" id="{91E3D836-AB29-7416-BE0F-762279AFF9F5}"/>
                  </a:ext>
                </a:extLst>
              </p:cNvPr>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a:t>
                </a:r>
                <a:endParaRPr lang="en-US" sz="1200" dirty="0">
                  <a:solidFill>
                    <a:srgbClr val="336600"/>
                  </a:solidFill>
                  <a:latin typeface="Times New Roman" panose="02020603050405020304" pitchFamily="18" charset="0"/>
                </a:endParaRPr>
              </a:p>
            </p:txBody>
          </p:sp>
          <p:grpSp>
            <p:nvGrpSpPr>
              <p:cNvPr id="30" name="Group 296">
                <a:extLst>
                  <a:ext uri="{FF2B5EF4-FFF2-40B4-BE49-F238E27FC236}">
                    <a16:creationId xmlns:a16="http://schemas.microsoft.com/office/drawing/2014/main" id="{C6A63A40-046C-A0E1-04F3-C7CAC5B7AC66}"/>
                  </a:ext>
                </a:extLst>
              </p:cNvPr>
              <p:cNvGrpSpPr/>
              <p:nvPr/>
            </p:nvGrpSpPr>
            <p:grpSpPr>
              <a:xfrm>
                <a:off x="539553" y="1846065"/>
                <a:ext cx="579292" cy="144016"/>
                <a:chOff x="2483768" y="5013176"/>
                <a:chExt cx="579292" cy="144016"/>
              </a:xfrm>
            </p:grpSpPr>
            <p:sp>
              <p:nvSpPr>
                <p:cNvPr id="31" name="Rectangle 30">
                  <a:extLst>
                    <a:ext uri="{FF2B5EF4-FFF2-40B4-BE49-F238E27FC236}">
                      <a16:creationId xmlns:a16="http://schemas.microsoft.com/office/drawing/2014/main" id="{797FB1B7-9945-A6ED-9EDE-7E29A5B046F2}"/>
                    </a:ext>
                  </a:extLst>
                </p:cNvPr>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32" name="Rectangle 31">
                  <a:extLst>
                    <a:ext uri="{FF2B5EF4-FFF2-40B4-BE49-F238E27FC236}">
                      <a16:creationId xmlns:a16="http://schemas.microsoft.com/office/drawing/2014/main" id="{662D837E-EA95-5288-9886-C5C5F7DC2F43}"/>
                    </a:ext>
                  </a:extLst>
                </p:cNvPr>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spTree>
    <p:extLst>
      <p:ext uri="{BB962C8B-B14F-4D97-AF65-F5344CB8AC3E}">
        <p14:creationId xmlns:p14="http://schemas.microsoft.com/office/powerpoint/2010/main" val="411968475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 name="This is column 667"/>
          <p:cNvSpPr/>
          <p:nvPr/>
        </p:nvSpPr>
        <p:spPr bwMode="auto">
          <a:xfrm>
            <a:off x="7392144" y="2060848"/>
            <a:ext cx="936104" cy="3456384"/>
          </a:xfrm>
          <a:prstGeom prst="rect">
            <a:avLst/>
          </a:prstGeom>
          <a:solidFill>
            <a:srgbClr val="FFCC99"/>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defTabSz="914400" fontAlgn="base">
              <a:lnSpc>
                <a:spcPct val="90000"/>
              </a:lnSpc>
              <a:spcBef>
                <a:spcPct val="20000"/>
              </a:spcBef>
              <a:spcAft>
                <a:spcPct val="0"/>
              </a:spcAft>
              <a:buClr>
                <a:srgbClr val="006600"/>
              </a:buClr>
            </a:pPr>
            <a:r>
              <a:rPr lang="en-US" sz="1600" dirty="0">
                <a:solidFill>
                  <a:srgbClr val="336600"/>
                </a:solidFill>
                <a:latin typeface="Times New Roman" panose="02020603050405020304" pitchFamily="18" charset="0"/>
              </a:rPr>
              <a:t>This is column 667</a:t>
            </a:r>
          </a:p>
        </p:txBody>
      </p:sp>
      <p:sp>
        <p:nvSpPr>
          <p:cNvPr id="327" name="This is row 168 (rectangle)"/>
          <p:cNvSpPr/>
          <p:nvPr/>
        </p:nvSpPr>
        <p:spPr bwMode="auto">
          <a:xfrm>
            <a:off x="7320136" y="2852936"/>
            <a:ext cx="3182154" cy="864096"/>
          </a:xfrm>
          <a:prstGeom prst="rect">
            <a:avLst/>
          </a:prstGeom>
          <a:solidFill>
            <a:srgbClr val="FFCC99"/>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b" anchorCtr="0" compatLnSpc="1">
            <a:prstTxWarp prst="textNoShape">
              <a:avLst/>
            </a:prstTxWarp>
          </a:bodyPr>
          <a:lstStyle/>
          <a:p>
            <a:pPr marL="174625" indent="-174625" defTabSz="914400" fontAlgn="base">
              <a:lnSpc>
                <a:spcPct val="90000"/>
              </a:lnSpc>
              <a:spcBef>
                <a:spcPct val="20000"/>
              </a:spcBef>
              <a:spcAft>
                <a:spcPct val="0"/>
              </a:spcAft>
              <a:buClr>
                <a:srgbClr val="006600"/>
              </a:buClr>
            </a:pPr>
            <a:r>
              <a:rPr lang="en-US" sz="1600" dirty="0">
                <a:solidFill>
                  <a:srgbClr val="336600"/>
                </a:solidFill>
                <a:latin typeface="Times New Roman" panose="02020603050405020304" pitchFamily="18" charset="0"/>
              </a:rPr>
              <a:t>                     </a:t>
            </a:r>
          </a:p>
        </p:txBody>
      </p:sp>
      <p:sp>
        <p:nvSpPr>
          <p:cNvPr id="265" name="backdrop for column of row headers"/>
          <p:cNvSpPr/>
          <p:nvPr/>
        </p:nvSpPr>
        <p:spPr bwMode="auto">
          <a:xfrm rot="16200000">
            <a:off x="3131281" y="4013205"/>
            <a:ext cx="4844562" cy="930389"/>
          </a:xfrm>
          <a:prstGeom prst="rect">
            <a:avLst/>
          </a:prstGeom>
          <a:solidFill>
            <a:srgbClr val="CCEC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grpSp>
        <p:nvGrpSpPr>
          <p:cNvPr id="281" name="row headers"/>
          <p:cNvGrpSpPr/>
          <p:nvPr/>
        </p:nvGrpSpPr>
        <p:grpSpPr>
          <a:xfrm>
            <a:off x="5268132" y="2123282"/>
            <a:ext cx="592423" cy="3780402"/>
            <a:chOff x="3848691" y="2151294"/>
            <a:chExt cx="592423" cy="3780402"/>
          </a:xfrm>
        </p:grpSpPr>
        <p:grpSp>
          <p:nvGrpSpPr>
            <p:cNvPr id="370" name="Group 369"/>
            <p:cNvGrpSpPr/>
            <p:nvPr/>
          </p:nvGrpSpPr>
          <p:grpSpPr>
            <a:xfrm>
              <a:off x="3861821" y="2151294"/>
              <a:ext cx="579293" cy="433289"/>
              <a:chOff x="539552" y="1556792"/>
              <a:chExt cx="579293" cy="433289"/>
            </a:xfrm>
            <a:effectLst>
              <a:outerShdw blurRad="50800" dist="38100" dir="2700000" algn="tl" rotWithShape="0">
                <a:prstClr val="black">
                  <a:alpha val="40000"/>
                </a:prstClr>
              </a:outerShdw>
            </a:effectLst>
          </p:grpSpPr>
          <p:grpSp>
            <p:nvGrpSpPr>
              <p:cNvPr id="371" name="Group 287"/>
              <p:cNvGrpSpPr/>
              <p:nvPr/>
            </p:nvGrpSpPr>
            <p:grpSpPr>
              <a:xfrm>
                <a:off x="539553" y="1700808"/>
                <a:ext cx="579292" cy="144016"/>
                <a:chOff x="2483768" y="5013176"/>
                <a:chExt cx="579292" cy="144016"/>
              </a:xfrm>
            </p:grpSpPr>
            <p:sp>
              <p:nvSpPr>
                <p:cNvPr id="380" name="Rectangle 379"/>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-1</a:t>
                  </a:r>
                  <a:endParaRPr lang="en-US" sz="1200" dirty="0">
                    <a:solidFill>
                      <a:srgbClr val="336600"/>
                    </a:solidFill>
                    <a:latin typeface="Times New Roman" panose="02020603050405020304" pitchFamily="18" charset="0"/>
                  </a:endParaRPr>
                </a:p>
              </p:txBody>
            </p:sp>
            <p:sp>
              <p:nvSpPr>
                <p:cNvPr id="381" name="Rectangle 380"/>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152</a:t>
                  </a:r>
                  <a:endParaRPr lang="en-US" sz="1200" dirty="0">
                    <a:solidFill>
                      <a:srgbClr val="336600"/>
                    </a:solidFill>
                    <a:latin typeface="Times New Roman" panose="02020603050405020304" pitchFamily="18" charset="0"/>
                  </a:endParaRPr>
                </a:p>
              </p:txBody>
            </p:sp>
          </p:grpSp>
          <p:sp>
            <p:nvSpPr>
              <p:cNvPr id="372" name="Rectangle 371"/>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a:t>
                </a:r>
              </a:p>
            </p:txBody>
          </p:sp>
          <p:grpSp>
            <p:nvGrpSpPr>
              <p:cNvPr id="373" name="Group 296"/>
              <p:cNvGrpSpPr/>
              <p:nvPr/>
            </p:nvGrpSpPr>
            <p:grpSpPr>
              <a:xfrm>
                <a:off x="539553" y="1846065"/>
                <a:ext cx="579292" cy="144016"/>
                <a:chOff x="2483768" y="5013176"/>
                <a:chExt cx="579292" cy="144016"/>
              </a:xfrm>
            </p:grpSpPr>
            <p:sp>
              <p:nvSpPr>
                <p:cNvPr id="378" name="Rectangle 377"/>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379" name="Rectangle 378"/>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382" name="Group 381"/>
            <p:cNvGrpSpPr/>
            <p:nvPr/>
          </p:nvGrpSpPr>
          <p:grpSpPr>
            <a:xfrm>
              <a:off x="3861821" y="2986339"/>
              <a:ext cx="579293" cy="433289"/>
              <a:chOff x="539552" y="1556792"/>
              <a:chExt cx="579293" cy="433289"/>
            </a:xfrm>
            <a:effectLst>
              <a:outerShdw blurRad="50800" dist="38100" dir="2700000" algn="tl" rotWithShape="0">
                <a:prstClr val="black">
                  <a:alpha val="40000"/>
                </a:prstClr>
              </a:outerShdw>
            </a:effectLst>
          </p:grpSpPr>
          <p:grpSp>
            <p:nvGrpSpPr>
              <p:cNvPr id="383" name="Group 287"/>
              <p:cNvGrpSpPr/>
              <p:nvPr/>
            </p:nvGrpSpPr>
            <p:grpSpPr>
              <a:xfrm>
                <a:off x="539553" y="1700808"/>
                <a:ext cx="579292" cy="144016"/>
                <a:chOff x="2483768" y="5013176"/>
                <a:chExt cx="579292" cy="144016"/>
              </a:xfrm>
            </p:grpSpPr>
            <p:sp>
              <p:nvSpPr>
                <p:cNvPr id="392" name="Rectangle 391"/>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-1</a:t>
                  </a:r>
                </a:p>
              </p:txBody>
            </p:sp>
            <p:sp>
              <p:nvSpPr>
                <p:cNvPr id="393" name="Rectangle 392"/>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168</a:t>
                  </a:r>
                  <a:endParaRPr lang="en-US" sz="1200" dirty="0">
                    <a:solidFill>
                      <a:srgbClr val="336600"/>
                    </a:solidFill>
                    <a:latin typeface="Times New Roman" panose="02020603050405020304" pitchFamily="18" charset="0"/>
                  </a:endParaRPr>
                </a:p>
              </p:txBody>
            </p:sp>
          </p:grpSp>
          <p:sp>
            <p:nvSpPr>
              <p:cNvPr id="384" name="Rectangle 383"/>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a:t>
                </a:r>
              </a:p>
            </p:txBody>
          </p:sp>
          <p:grpSp>
            <p:nvGrpSpPr>
              <p:cNvPr id="385" name="Group 296"/>
              <p:cNvGrpSpPr/>
              <p:nvPr/>
            </p:nvGrpSpPr>
            <p:grpSpPr>
              <a:xfrm>
                <a:off x="539553" y="1846065"/>
                <a:ext cx="579292" cy="144016"/>
                <a:chOff x="2483768" y="5013176"/>
                <a:chExt cx="579292" cy="144016"/>
              </a:xfrm>
            </p:grpSpPr>
            <p:sp>
              <p:nvSpPr>
                <p:cNvPr id="390" name="Rectangle 389"/>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391" name="Rectangle 390"/>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394" name="Group 393"/>
            <p:cNvGrpSpPr/>
            <p:nvPr/>
          </p:nvGrpSpPr>
          <p:grpSpPr>
            <a:xfrm>
              <a:off x="3861821" y="4656429"/>
              <a:ext cx="579293" cy="433289"/>
              <a:chOff x="539552" y="1556792"/>
              <a:chExt cx="579293" cy="433289"/>
            </a:xfrm>
            <a:effectLst>
              <a:outerShdw blurRad="50800" dist="38100" dir="2700000" algn="tl" rotWithShape="0">
                <a:prstClr val="black">
                  <a:alpha val="40000"/>
                </a:prstClr>
              </a:outerShdw>
            </a:effectLst>
          </p:grpSpPr>
          <p:grpSp>
            <p:nvGrpSpPr>
              <p:cNvPr id="395" name="Group 287"/>
              <p:cNvGrpSpPr/>
              <p:nvPr/>
            </p:nvGrpSpPr>
            <p:grpSpPr>
              <a:xfrm>
                <a:off x="539553" y="1700808"/>
                <a:ext cx="579292" cy="144016"/>
                <a:chOff x="2483768" y="5013176"/>
                <a:chExt cx="579292" cy="144016"/>
              </a:xfrm>
            </p:grpSpPr>
            <p:sp>
              <p:nvSpPr>
                <p:cNvPr id="404" name="Rectangle 403"/>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-1</a:t>
                  </a:r>
                  <a:endParaRPr lang="en-US" sz="1200" dirty="0">
                    <a:solidFill>
                      <a:srgbClr val="336600"/>
                    </a:solidFill>
                    <a:latin typeface="Times New Roman" panose="02020603050405020304" pitchFamily="18" charset="0"/>
                  </a:endParaRPr>
                </a:p>
              </p:txBody>
            </p:sp>
            <p:sp>
              <p:nvSpPr>
                <p:cNvPr id="405" name="Rectangle 404"/>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882</a:t>
                  </a:r>
                  <a:endParaRPr lang="en-US" sz="1200" dirty="0">
                    <a:solidFill>
                      <a:srgbClr val="336600"/>
                    </a:solidFill>
                    <a:latin typeface="Times New Roman" panose="02020603050405020304" pitchFamily="18" charset="0"/>
                  </a:endParaRPr>
                </a:p>
              </p:txBody>
            </p:sp>
          </p:grpSp>
          <p:sp>
            <p:nvSpPr>
              <p:cNvPr id="396" name="Rectangle 395"/>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a:t>
                </a:r>
              </a:p>
            </p:txBody>
          </p:sp>
          <p:grpSp>
            <p:nvGrpSpPr>
              <p:cNvPr id="397" name="Group 296"/>
              <p:cNvGrpSpPr/>
              <p:nvPr/>
            </p:nvGrpSpPr>
            <p:grpSpPr>
              <a:xfrm>
                <a:off x="539553" y="1846065"/>
                <a:ext cx="579292" cy="144016"/>
                <a:chOff x="2483768" y="5013176"/>
                <a:chExt cx="579292" cy="144016"/>
              </a:xfrm>
            </p:grpSpPr>
            <p:sp>
              <p:nvSpPr>
                <p:cNvPr id="402" name="Rectangle 401"/>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403" name="Rectangle 402"/>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406" name="Group 405"/>
            <p:cNvGrpSpPr/>
            <p:nvPr/>
          </p:nvGrpSpPr>
          <p:grpSpPr>
            <a:xfrm>
              <a:off x="3861821" y="3821384"/>
              <a:ext cx="579293" cy="433289"/>
              <a:chOff x="539552" y="1556792"/>
              <a:chExt cx="579293" cy="433289"/>
            </a:xfrm>
            <a:effectLst>
              <a:outerShdw blurRad="50800" dist="38100" dir="2700000" algn="tl" rotWithShape="0">
                <a:prstClr val="black">
                  <a:alpha val="40000"/>
                </a:prstClr>
              </a:outerShdw>
            </a:effectLst>
          </p:grpSpPr>
          <p:grpSp>
            <p:nvGrpSpPr>
              <p:cNvPr id="407" name="Group 287"/>
              <p:cNvGrpSpPr/>
              <p:nvPr/>
            </p:nvGrpSpPr>
            <p:grpSpPr>
              <a:xfrm>
                <a:off x="539553" y="1700808"/>
                <a:ext cx="579292" cy="144016"/>
                <a:chOff x="2483768" y="5013176"/>
                <a:chExt cx="579292" cy="144016"/>
              </a:xfrm>
            </p:grpSpPr>
            <p:sp>
              <p:nvSpPr>
                <p:cNvPr id="416" name="Rectangle 415"/>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-1</a:t>
                  </a:r>
                </a:p>
              </p:txBody>
            </p:sp>
            <p:sp>
              <p:nvSpPr>
                <p:cNvPr id="417" name="Rectangle 416"/>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617</a:t>
                  </a:r>
                  <a:endParaRPr lang="en-US" sz="1200" dirty="0">
                    <a:solidFill>
                      <a:srgbClr val="336600"/>
                    </a:solidFill>
                    <a:latin typeface="Times New Roman" panose="02020603050405020304" pitchFamily="18" charset="0"/>
                  </a:endParaRPr>
                </a:p>
              </p:txBody>
            </p:sp>
          </p:grpSp>
          <p:sp>
            <p:nvSpPr>
              <p:cNvPr id="408" name="Rectangle 407"/>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a:t>
                </a:r>
              </a:p>
            </p:txBody>
          </p:sp>
          <p:grpSp>
            <p:nvGrpSpPr>
              <p:cNvPr id="409" name="Group 296"/>
              <p:cNvGrpSpPr/>
              <p:nvPr/>
            </p:nvGrpSpPr>
            <p:grpSpPr>
              <a:xfrm>
                <a:off x="539553" y="1846065"/>
                <a:ext cx="579292" cy="144016"/>
                <a:chOff x="2483768" y="5013176"/>
                <a:chExt cx="579292" cy="144016"/>
              </a:xfrm>
            </p:grpSpPr>
            <p:sp>
              <p:nvSpPr>
                <p:cNvPr id="414" name="Rectangle 413"/>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415" name="Rectangle 414"/>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336" name="Group 335"/>
            <p:cNvGrpSpPr/>
            <p:nvPr/>
          </p:nvGrpSpPr>
          <p:grpSpPr>
            <a:xfrm>
              <a:off x="3848691" y="5498407"/>
              <a:ext cx="579293" cy="433289"/>
              <a:chOff x="539552" y="1556792"/>
              <a:chExt cx="579293" cy="433289"/>
            </a:xfrm>
            <a:effectLst>
              <a:outerShdw blurRad="50800" dist="38100" dir="2700000" algn="tl" rotWithShape="0">
                <a:prstClr val="black">
                  <a:alpha val="40000"/>
                </a:prstClr>
              </a:outerShdw>
            </a:effectLst>
          </p:grpSpPr>
          <p:grpSp>
            <p:nvGrpSpPr>
              <p:cNvPr id="337" name="Group 287"/>
              <p:cNvGrpSpPr/>
              <p:nvPr/>
            </p:nvGrpSpPr>
            <p:grpSpPr>
              <a:xfrm>
                <a:off x="539553" y="1700808"/>
                <a:ext cx="579292" cy="144016"/>
                <a:chOff x="2483768" y="5013176"/>
                <a:chExt cx="579292" cy="144016"/>
              </a:xfrm>
            </p:grpSpPr>
            <p:sp>
              <p:nvSpPr>
                <p:cNvPr id="342" name="Rectangle 341"/>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-1</a:t>
                  </a:r>
                  <a:endParaRPr lang="en-US" sz="1200" dirty="0">
                    <a:solidFill>
                      <a:srgbClr val="336600"/>
                    </a:solidFill>
                    <a:latin typeface="Times New Roman" panose="02020603050405020304" pitchFamily="18" charset="0"/>
                  </a:endParaRPr>
                </a:p>
              </p:txBody>
            </p:sp>
            <p:sp>
              <p:nvSpPr>
                <p:cNvPr id="343" name="Rectangle 342"/>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a:buClr>
                      <a:srgbClr val="006600"/>
                    </a:buClr>
                  </a:pPr>
                  <a:r>
                    <a:rPr lang="en-US" sz="1200" dirty="0">
                      <a:latin typeface="Times New Roman" panose="02020603050405020304" pitchFamily="18" charset="0"/>
                    </a:rPr>
                    <a:t>927</a:t>
                  </a:r>
                </a:p>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sp>
            <p:nvSpPr>
              <p:cNvPr id="338" name="Rectangle 337"/>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a:t>
                </a:r>
                <a:endParaRPr lang="en-US" sz="1200" dirty="0">
                  <a:solidFill>
                    <a:srgbClr val="336600"/>
                  </a:solidFill>
                  <a:latin typeface="Times New Roman" panose="02020603050405020304" pitchFamily="18" charset="0"/>
                </a:endParaRPr>
              </a:p>
            </p:txBody>
          </p:sp>
          <p:grpSp>
            <p:nvGrpSpPr>
              <p:cNvPr id="339" name="Group 296"/>
              <p:cNvGrpSpPr/>
              <p:nvPr/>
            </p:nvGrpSpPr>
            <p:grpSpPr>
              <a:xfrm>
                <a:off x="539553" y="1846065"/>
                <a:ext cx="579292" cy="144016"/>
                <a:chOff x="2483768" y="5013176"/>
                <a:chExt cx="579292" cy="144016"/>
              </a:xfrm>
            </p:grpSpPr>
            <p:sp>
              <p:nvSpPr>
                <p:cNvPr id="340" name="Rectangle 339"/>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341" name="Rectangle 340"/>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grpSp>
        <p:nvGrpSpPr>
          <p:cNvPr id="267" name="The &quot;real&quot; matrix"/>
          <p:cNvGrpSpPr/>
          <p:nvPr/>
        </p:nvGrpSpPr>
        <p:grpSpPr>
          <a:xfrm>
            <a:off x="6289610" y="2060848"/>
            <a:ext cx="4198879" cy="4627654"/>
            <a:chOff x="4130036" y="2071312"/>
            <a:chExt cx="4834453" cy="4627654"/>
          </a:xfrm>
        </p:grpSpPr>
        <p:sp>
          <p:nvSpPr>
            <p:cNvPr id="256" name="Rectangle 255"/>
            <p:cNvSpPr/>
            <p:nvPr/>
          </p:nvSpPr>
          <p:spPr bwMode="auto">
            <a:xfrm>
              <a:off x="4139952" y="2071312"/>
              <a:ext cx="4824536" cy="4598048"/>
            </a:xfrm>
            <a:prstGeom prst="rect">
              <a:avLst/>
            </a:prstGeom>
            <a:solidFill>
              <a:srgbClr val="FFCC99"/>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62" name="TextBox 261"/>
            <p:cNvSpPr txBox="1"/>
            <p:nvPr/>
          </p:nvSpPr>
          <p:spPr>
            <a:xfrm>
              <a:off x="4130036" y="6298856"/>
              <a:ext cx="4834453" cy="400110"/>
            </a:xfrm>
            <a:prstGeom prst="rect">
              <a:avLst/>
            </a:prstGeom>
            <a:noFill/>
          </p:spPr>
          <p:txBody>
            <a:bodyPr wrap="square" rtlCol="0">
              <a:spAutoFit/>
            </a:bodyPr>
            <a:lstStyle/>
            <a:p>
              <a:pPr algn="ctr">
                <a:buClr>
                  <a:srgbClr val="006600"/>
                </a:buClr>
                <a:buNone/>
              </a:pPr>
              <a:r>
                <a:rPr lang="en-US" sz="2000" dirty="0">
                  <a:latin typeface="Times New Roman" panose="02020603050405020304" pitchFamily="18" charset="0"/>
                </a:rPr>
                <a:t>The “real” sparse matrix elements</a:t>
              </a:r>
            </a:p>
          </p:txBody>
        </p:sp>
      </p:grpSp>
      <p:sp>
        <p:nvSpPr>
          <p:cNvPr id="264" name="backdrop for row of column headers"/>
          <p:cNvSpPr/>
          <p:nvPr/>
        </p:nvSpPr>
        <p:spPr bwMode="auto">
          <a:xfrm>
            <a:off x="5155223" y="1171843"/>
            <a:ext cx="5405273" cy="720080"/>
          </a:xfrm>
          <a:prstGeom prst="rect">
            <a:avLst/>
          </a:prstGeom>
          <a:solidFill>
            <a:srgbClr val="CCEC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446" name="arrow to 168,-1"/>
          <p:cNvSpPr/>
          <p:nvPr/>
        </p:nvSpPr>
        <p:spPr bwMode="auto">
          <a:xfrm>
            <a:off x="5519193" y="2514490"/>
            <a:ext cx="170909" cy="478002"/>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447" name="arrow to 617,-1"/>
          <p:cNvSpPr/>
          <p:nvPr/>
        </p:nvSpPr>
        <p:spPr bwMode="auto">
          <a:xfrm>
            <a:off x="5519193" y="3330432"/>
            <a:ext cx="170909" cy="478002"/>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448" name="arrow to 882,-1"/>
          <p:cNvSpPr/>
          <p:nvPr/>
        </p:nvSpPr>
        <p:spPr bwMode="auto">
          <a:xfrm>
            <a:off x="5519193" y="4166963"/>
            <a:ext cx="170909" cy="478002"/>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43" name="row arrow to 882,667"/>
          <p:cNvSpPr/>
          <p:nvPr/>
        </p:nvSpPr>
        <p:spPr bwMode="auto">
          <a:xfrm rot="16200000">
            <a:off x="6611962" y="4059261"/>
            <a:ext cx="140678" cy="1728862"/>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44" name="row arrow to 617,713"/>
          <p:cNvSpPr/>
          <p:nvPr/>
        </p:nvSpPr>
        <p:spPr bwMode="auto">
          <a:xfrm rot="16200000">
            <a:off x="7141241" y="2694976"/>
            <a:ext cx="181738" cy="2795541"/>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50" name="row arrow to 152,326"/>
          <p:cNvSpPr/>
          <p:nvPr/>
        </p:nvSpPr>
        <p:spPr bwMode="auto">
          <a:xfrm rot="16200000">
            <a:off x="6057888" y="2107210"/>
            <a:ext cx="159745" cy="637451"/>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grpSp>
        <p:nvGrpSpPr>
          <p:cNvPr id="344" name="Group 343"/>
          <p:cNvGrpSpPr/>
          <p:nvPr/>
        </p:nvGrpSpPr>
        <p:grpSpPr>
          <a:xfrm>
            <a:off x="5447430" y="5867792"/>
            <a:ext cx="192172" cy="413481"/>
            <a:chOff x="2003564" y="2071545"/>
            <a:chExt cx="192172" cy="413481"/>
          </a:xfrm>
          <a:effectLst>
            <a:outerShdw blurRad="50800" dist="38100" dir="2700000" algn="tl" rotWithShape="0">
              <a:prstClr val="black">
                <a:alpha val="40000"/>
              </a:prstClr>
            </a:outerShdw>
          </a:effectLst>
        </p:grpSpPr>
        <p:sp>
          <p:nvSpPr>
            <p:cNvPr id="345" name="Line 40"/>
            <p:cNvSpPr>
              <a:spLocks noChangeShapeType="1"/>
            </p:cNvSpPr>
            <p:nvPr/>
          </p:nvSpPr>
          <p:spPr bwMode="auto">
            <a:xfrm rot="5400000" flipV="1">
              <a:off x="1955954" y="2218193"/>
              <a:ext cx="293295" cy="0"/>
            </a:xfrm>
            <a:prstGeom prst="line">
              <a:avLst/>
            </a:prstGeom>
            <a:noFill/>
            <a:ln w="28575">
              <a:solidFill>
                <a:schemeClr val="bg1">
                  <a:lumMod val="50000"/>
                </a:schemeClr>
              </a:solidFill>
              <a:round/>
              <a:headEnd type="oval" w="med" len="med"/>
              <a:tailEnd type="triangle" w="med" len="med"/>
            </a:ln>
            <a:effectLst/>
          </p:spPr>
          <p:txBody>
            <a:bodyPr/>
            <a:lstStyle/>
            <a:p>
              <a:pPr>
                <a:buClr>
                  <a:srgbClr val="006600"/>
                </a:buClr>
              </a:pPr>
              <a:endParaRPr lang="en-US" sz="1200" dirty="0">
                <a:latin typeface="Times New Roman" panose="02020603050405020304" pitchFamily="18" charset="0"/>
              </a:endParaRPr>
            </a:p>
          </p:txBody>
        </p:sp>
        <p:sp>
          <p:nvSpPr>
            <p:cNvPr id="352" name="Line 26"/>
            <p:cNvSpPr>
              <a:spLocks noChangeShapeType="1"/>
            </p:cNvSpPr>
            <p:nvPr/>
          </p:nvSpPr>
          <p:spPr bwMode="auto">
            <a:xfrm>
              <a:off x="2003564" y="2388340"/>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353" name="Line 27"/>
            <p:cNvSpPr>
              <a:spLocks noChangeShapeType="1"/>
            </p:cNvSpPr>
            <p:nvPr/>
          </p:nvSpPr>
          <p:spPr bwMode="auto">
            <a:xfrm>
              <a:off x="2048781" y="2435444"/>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354" name="Line 28"/>
            <p:cNvSpPr>
              <a:spLocks noChangeShapeType="1"/>
            </p:cNvSpPr>
            <p:nvPr/>
          </p:nvSpPr>
          <p:spPr bwMode="auto">
            <a:xfrm>
              <a:off x="2075629" y="2485026"/>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sp>
        <p:nvSpPr>
          <p:cNvPr id="376" name="row arrow to 927,713"/>
          <p:cNvSpPr/>
          <p:nvPr/>
        </p:nvSpPr>
        <p:spPr bwMode="auto">
          <a:xfrm rot="16200000">
            <a:off x="7139242" y="4377865"/>
            <a:ext cx="178185" cy="2799702"/>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377" name="arrow to 927,-1"/>
          <p:cNvSpPr/>
          <p:nvPr/>
        </p:nvSpPr>
        <p:spPr bwMode="auto">
          <a:xfrm>
            <a:off x="5519193" y="5002390"/>
            <a:ext cx="170909" cy="478002"/>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22" name="row arrow to 168,667"/>
          <p:cNvSpPr/>
          <p:nvPr/>
        </p:nvSpPr>
        <p:spPr bwMode="auto">
          <a:xfrm rot="16200000">
            <a:off x="6571750" y="2371736"/>
            <a:ext cx="207865" cy="1742099"/>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grpSp>
        <p:nvGrpSpPr>
          <p:cNvPr id="564" name="882,801"/>
          <p:cNvGrpSpPr/>
          <p:nvPr/>
        </p:nvGrpSpPr>
        <p:grpSpPr>
          <a:xfrm>
            <a:off x="9717876" y="4653753"/>
            <a:ext cx="579293" cy="433289"/>
            <a:chOff x="539552" y="1556792"/>
            <a:chExt cx="579293" cy="433289"/>
          </a:xfrm>
          <a:effectLst>
            <a:outerShdw blurRad="50800" dist="38100" dir="2700000" algn="tl" rotWithShape="0">
              <a:prstClr val="black">
                <a:alpha val="40000"/>
              </a:prstClr>
            </a:outerShdw>
          </a:effectLst>
        </p:grpSpPr>
        <p:grpSp>
          <p:nvGrpSpPr>
            <p:cNvPr id="565" name="Group 287"/>
            <p:cNvGrpSpPr/>
            <p:nvPr/>
          </p:nvGrpSpPr>
          <p:grpSpPr>
            <a:xfrm>
              <a:off x="539553" y="1700808"/>
              <a:ext cx="579292" cy="144016"/>
              <a:chOff x="2483768" y="5013176"/>
              <a:chExt cx="579292" cy="144016"/>
            </a:xfrm>
          </p:grpSpPr>
          <p:sp>
            <p:nvSpPr>
              <p:cNvPr id="570" name="Rectangle 569"/>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801</a:t>
                </a:r>
                <a:endParaRPr lang="en-US" sz="1200" dirty="0">
                  <a:solidFill>
                    <a:srgbClr val="336600"/>
                  </a:solidFill>
                  <a:latin typeface="Times New Roman" panose="02020603050405020304" pitchFamily="18" charset="0"/>
                </a:endParaRPr>
              </a:p>
            </p:txBody>
          </p:sp>
          <p:sp>
            <p:nvSpPr>
              <p:cNvPr id="571" name="Rectangle 570"/>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882</a:t>
                </a:r>
              </a:p>
            </p:txBody>
          </p:sp>
        </p:grpSp>
        <p:sp>
          <p:nvSpPr>
            <p:cNvPr id="566" name="Rectangle 565"/>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0.17</a:t>
              </a:r>
              <a:endParaRPr lang="en-US" sz="1200" dirty="0">
                <a:solidFill>
                  <a:srgbClr val="336600"/>
                </a:solidFill>
                <a:latin typeface="Times New Roman" panose="02020603050405020304" pitchFamily="18" charset="0"/>
              </a:endParaRPr>
            </a:p>
          </p:txBody>
        </p:sp>
        <p:grpSp>
          <p:nvGrpSpPr>
            <p:cNvPr id="567" name="Group 296"/>
            <p:cNvGrpSpPr/>
            <p:nvPr/>
          </p:nvGrpSpPr>
          <p:grpSpPr>
            <a:xfrm>
              <a:off x="539553" y="1846065"/>
              <a:ext cx="579292" cy="144016"/>
              <a:chOff x="2483768" y="5013176"/>
              <a:chExt cx="579292" cy="144016"/>
            </a:xfrm>
          </p:grpSpPr>
          <p:sp>
            <p:nvSpPr>
              <p:cNvPr id="568" name="Rectangle 567"/>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569" name="Rectangle 568"/>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440" name="Group 439"/>
          <p:cNvGrpSpPr/>
          <p:nvPr/>
        </p:nvGrpSpPr>
        <p:grpSpPr>
          <a:xfrm>
            <a:off x="9759838" y="5011375"/>
            <a:ext cx="192172" cy="413481"/>
            <a:chOff x="2003564" y="2071545"/>
            <a:chExt cx="192172" cy="413481"/>
          </a:xfrm>
          <a:effectLst>
            <a:outerShdw blurRad="50800" dist="38100" dir="2700000" algn="tl" rotWithShape="0">
              <a:prstClr val="black">
                <a:alpha val="40000"/>
              </a:prstClr>
            </a:outerShdw>
          </a:effectLst>
        </p:grpSpPr>
        <p:sp>
          <p:nvSpPr>
            <p:cNvPr id="441" name="Line 40"/>
            <p:cNvSpPr>
              <a:spLocks noChangeShapeType="1"/>
            </p:cNvSpPr>
            <p:nvPr/>
          </p:nvSpPr>
          <p:spPr bwMode="auto">
            <a:xfrm rot="5400000" flipV="1">
              <a:off x="1955954" y="2218193"/>
              <a:ext cx="293295" cy="0"/>
            </a:xfrm>
            <a:prstGeom prst="line">
              <a:avLst/>
            </a:prstGeom>
            <a:noFill/>
            <a:ln w="28575">
              <a:solidFill>
                <a:schemeClr val="bg1">
                  <a:lumMod val="50000"/>
                </a:schemeClr>
              </a:solidFill>
              <a:round/>
              <a:headEnd type="oval" w="med" len="med"/>
              <a:tailEnd type="triangle" w="med" len="med"/>
            </a:ln>
            <a:effectLst/>
          </p:spPr>
          <p:txBody>
            <a:bodyPr/>
            <a:lstStyle/>
            <a:p>
              <a:pPr>
                <a:buClr>
                  <a:srgbClr val="006600"/>
                </a:buClr>
              </a:pPr>
              <a:endParaRPr lang="en-US" sz="1200" dirty="0">
                <a:latin typeface="Times New Roman" panose="02020603050405020304" pitchFamily="18" charset="0"/>
              </a:endParaRPr>
            </a:p>
          </p:txBody>
        </p:sp>
        <p:sp>
          <p:nvSpPr>
            <p:cNvPr id="442" name="Line 26"/>
            <p:cNvSpPr>
              <a:spLocks noChangeShapeType="1"/>
            </p:cNvSpPr>
            <p:nvPr/>
          </p:nvSpPr>
          <p:spPr bwMode="auto">
            <a:xfrm>
              <a:off x="2003564" y="2388340"/>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443" name="Line 27"/>
            <p:cNvSpPr>
              <a:spLocks noChangeShapeType="1"/>
            </p:cNvSpPr>
            <p:nvPr/>
          </p:nvSpPr>
          <p:spPr bwMode="auto">
            <a:xfrm>
              <a:off x="2048781" y="2435444"/>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444" name="Line 28"/>
            <p:cNvSpPr>
              <a:spLocks noChangeShapeType="1"/>
            </p:cNvSpPr>
            <p:nvPr/>
          </p:nvSpPr>
          <p:spPr bwMode="auto">
            <a:xfrm>
              <a:off x="2075629" y="2485026"/>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592" name="168,667"/>
          <p:cNvGrpSpPr/>
          <p:nvPr/>
        </p:nvGrpSpPr>
        <p:grpSpPr>
          <a:xfrm>
            <a:off x="7545284" y="2988086"/>
            <a:ext cx="579293" cy="433289"/>
            <a:chOff x="539552" y="1556792"/>
            <a:chExt cx="579293" cy="433289"/>
          </a:xfrm>
          <a:effectLst>
            <a:outerShdw blurRad="50800" dist="38100" dir="2700000" algn="tl" rotWithShape="0">
              <a:prstClr val="black">
                <a:alpha val="40000"/>
              </a:prstClr>
            </a:outerShdw>
          </a:effectLst>
        </p:grpSpPr>
        <p:grpSp>
          <p:nvGrpSpPr>
            <p:cNvPr id="593" name="Group 287"/>
            <p:cNvGrpSpPr/>
            <p:nvPr/>
          </p:nvGrpSpPr>
          <p:grpSpPr>
            <a:xfrm>
              <a:off x="539553" y="1700808"/>
              <a:ext cx="579292" cy="144016"/>
              <a:chOff x="2483768" y="5013176"/>
              <a:chExt cx="579292" cy="144016"/>
            </a:xfrm>
          </p:grpSpPr>
          <p:sp>
            <p:nvSpPr>
              <p:cNvPr id="598" name="Rectangle 597"/>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667</a:t>
                </a:r>
                <a:endParaRPr lang="en-US" sz="1200" dirty="0">
                  <a:solidFill>
                    <a:srgbClr val="336600"/>
                  </a:solidFill>
                  <a:latin typeface="Times New Roman" panose="02020603050405020304" pitchFamily="18" charset="0"/>
                </a:endParaRPr>
              </a:p>
            </p:txBody>
          </p:sp>
          <p:sp>
            <p:nvSpPr>
              <p:cNvPr id="599" name="Rectangle 598"/>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168</a:t>
                </a:r>
              </a:p>
            </p:txBody>
          </p:sp>
        </p:grpSp>
        <p:sp>
          <p:nvSpPr>
            <p:cNvPr id="594" name="Rectangle 593"/>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0.62</a:t>
              </a:r>
              <a:endParaRPr lang="en-US" sz="1200" dirty="0">
                <a:solidFill>
                  <a:srgbClr val="336600"/>
                </a:solidFill>
                <a:latin typeface="Times New Roman" panose="02020603050405020304" pitchFamily="18" charset="0"/>
              </a:endParaRPr>
            </a:p>
          </p:txBody>
        </p:sp>
        <p:grpSp>
          <p:nvGrpSpPr>
            <p:cNvPr id="595" name="Group 296"/>
            <p:cNvGrpSpPr/>
            <p:nvPr/>
          </p:nvGrpSpPr>
          <p:grpSpPr>
            <a:xfrm>
              <a:off x="539553" y="1846065"/>
              <a:ext cx="579292" cy="144016"/>
              <a:chOff x="2483768" y="5013176"/>
              <a:chExt cx="579292" cy="144016"/>
            </a:xfrm>
          </p:grpSpPr>
          <p:sp>
            <p:nvSpPr>
              <p:cNvPr id="596" name="Rectangle 595"/>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597" name="Rectangle 596"/>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601" name="168,801"/>
          <p:cNvGrpSpPr/>
          <p:nvPr/>
        </p:nvGrpSpPr>
        <p:grpSpPr>
          <a:xfrm>
            <a:off x="9717876" y="2991022"/>
            <a:ext cx="579293" cy="433289"/>
            <a:chOff x="539552" y="1556792"/>
            <a:chExt cx="579293" cy="433289"/>
          </a:xfrm>
          <a:effectLst>
            <a:outerShdw blurRad="50800" dist="38100" dir="2700000" algn="tl" rotWithShape="0">
              <a:prstClr val="black">
                <a:alpha val="40000"/>
              </a:prstClr>
            </a:outerShdw>
          </a:effectLst>
        </p:grpSpPr>
        <p:grpSp>
          <p:nvGrpSpPr>
            <p:cNvPr id="602" name="Group 287"/>
            <p:cNvGrpSpPr/>
            <p:nvPr/>
          </p:nvGrpSpPr>
          <p:grpSpPr>
            <a:xfrm>
              <a:off x="539553" y="1700808"/>
              <a:ext cx="579292" cy="144016"/>
              <a:chOff x="2483768" y="5013176"/>
              <a:chExt cx="579292" cy="144016"/>
            </a:xfrm>
          </p:grpSpPr>
          <p:sp>
            <p:nvSpPr>
              <p:cNvPr id="607" name="Rectangle 606"/>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801</a:t>
                </a:r>
                <a:endParaRPr lang="en-US" sz="1200" dirty="0">
                  <a:solidFill>
                    <a:srgbClr val="336600"/>
                  </a:solidFill>
                  <a:latin typeface="Times New Roman" panose="02020603050405020304" pitchFamily="18" charset="0"/>
                </a:endParaRPr>
              </a:p>
            </p:txBody>
          </p:sp>
          <p:sp>
            <p:nvSpPr>
              <p:cNvPr id="608" name="Rectangle 607"/>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168</a:t>
                </a:r>
                <a:endParaRPr lang="en-US" sz="1200" dirty="0">
                  <a:solidFill>
                    <a:srgbClr val="336600"/>
                  </a:solidFill>
                  <a:latin typeface="Times New Roman" panose="02020603050405020304" pitchFamily="18" charset="0"/>
                </a:endParaRPr>
              </a:p>
            </p:txBody>
          </p:sp>
        </p:grpSp>
        <p:sp>
          <p:nvSpPr>
            <p:cNvPr id="603" name="Rectangle 602"/>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0.38</a:t>
              </a:r>
              <a:endParaRPr lang="en-US" sz="1200" dirty="0">
                <a:solidFill>
                  <a:srgbClr val="336600"/>
                </a:solidFill>
                <a:latin typeface="Times New Roman" panose="02020603050405020304" pitchFamily="18" charset="0"/>
              </a:endParaRPr>
            </a:p>
          </p:txBody>
        </p:sp>
        <p:grpSp>
          <p:nvGrpSpPr>
            <p:cNvPr id="604" name="Group 296"/>
            <p:cNvGrpSpPr/>
            <p:nvPr/>
          </p:nvGrpSpPr>
          <p:grpSpPr>
            <a:xfrm>
              <a:off x="539553" y="1846065"/>
              <a:ext cx="579292" cy="144016"/>
              <a:chOff x="2483768" y="5013176"/>
              <a:chExt cx="579292" cy="144016"/>
            </a:xfrm>
          </p:grpSpPr>
          <p:sp>
            <p:nvSpPr>
              <p:cNvPr id="605" name="Rectangle 604"/>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606" name="Rectangle 605"/>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sp>
        <p:nvSpPr>
          <p:cNvPr id="610" name="row arrow to 168,801"/>
          <p:cNvSpPr/>
          <p:nvPr/>
        </p:nvSpPr>
        <p:spPr bwMode="auto">
          <a:xfrm rot="16200000">
            <a:off x="8766597" y="2402563"/>
            <a:ext cx="149471" cy="1745139"/>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grpSp>
        <p:nvGrpSpPr>
          <p:cNvPr id="611" name="152,326"/>
          <p:cNvGrpSpPr/>
          <p:nvPr/>
        </p:nvGrpSpPr>
        <p:grpSpPr>
          <a:xfrm>
            <a:off x="6458988" y="2157992"/>
            <a:ext cx="579293" cy="433289"/>
            <a:chOff x="539552" y="1556792"/>
            <a:chExt cx="579293" cy="433289"/>
          </a:xfrm>
          <a:effectLst>
            <a:outerShdw blurRad="50800" dist="38100" dir="2700000" algn="tl" rotWithShape="0">
              <a:prstClr val="black">
                <a:alpha val="40000"/>
              </a:prstClr>
            </a:outerShdw>
          </a:effectLst>
        </p:grpSpPr>
        <p:grpSp>
          <p:nvGrpSpPr>
            <p:cNvPr id="612" name="Group 287"/>
            <p:cNvGrpSpPr/>
            <p:nvPr/>
          </p:nvGrpSpPr>
          <p:grpSpPr>
            <a:xfrm>
              <a:off x="539553" y="1700808"/>
              <a:ext cx="579292" cy="144016"/>
              <a:chOff x="2483768" y="5013176"/>
              <a:chExt cx="579292" cy="144016"/>
            </a:xfrm>
          </p:grpSpPr>
          <p:sp>
            <p:nvSpPr>
              <p:cNvPr id="617" name="Rectangle 616"/>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326</a:t>
                </a:r>
              </a:p>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618" name="Rectangle 617"/>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a:buClr>
                    <a:srgbClr val="006600"/>
                  </a:buClr>
                </a:pPr>
                <a:r>
                  <a:rPr lang="en-US" sz="1200" dirty="0">
                    <a:latin typeface="Times New Roman" panose="02020603050405020304" pitchFamily="18" charset="0"/>
                  </a:rPr>
                  <a:t>152</a:t>
                </a:r>
              </a:p>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sp>
          <p:nvSpPr>
            <p:cNvPr id="613" name="Rectangle 612"/>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0.31</a:t>
              </a:r>
              <a:endParaRPr lang="en-US" sz="1200" dirty="0">
                <a:solidFill>
                  <a:srgbClr val="336600"/>
                </a:solidFill>
                <a:latin typeface="Times New Roman" panose="02020603050405020304" pitchFamily="18" charset="0"/>
              </a:endParaRPr>
            </a:p>
          </p:txBody>
        </p:sp>
        <p:grpSp>
          <p:nvGrpSpPr>
            <p:cNvPr id="614" name="Group 296"/>
            <p:cNvGrpSpPr/>
            <p:nvPr/>
          </p:nvGrpSpPr>
          <p:grpSpPr>
            <a:xfrm>
              <a:off x="539553" y="1846065"/>
              <a:ext cx="579292" cy="144016"/>
              <a:chOff x="2483768" y="5013176"/>
              <a:chExt cx="579292" cy="144016"/>
            </a:xfrm>
          </p:grpSpPr>
          <p:sp>
            <p:nvSpPr>
              <p:cNvPr id="615" name="Rectangle 614"/>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616" name="Rectangle 615"/>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619" name="882,667"/>
          <p:cNvGrpSpPr/>
          <p:nvPr/>
        </p:nvGrpSpPr>
        <p:grpSpPr>
          <a:xfrm>
            <a:off x="7545284" y="4654994"/>
            <a:ext cx="579293" cy="433289"/>
            <a:chOff x="539552" y="1556792"/>
            <a:chExt cx="579293" cy="433289"/>
          </a:xfrm>
          <a:effectLst>
            <a:outerShdw blurRad="50800" dist="38100" dir="2700000" algn="tl" rotWithShape="0">
              <a:prstClr val="black">
                <a:alpha val="40000"/>
              </a:prstClr>
            </a:outerShdw>
          </a:effectLst>
        </p:grpSpPr>
        <p:grpSp>
          <p:nvGrpSpPr>
            <p:cNvPr id="620" name="Group 287"/>
            <p:cNvGrpSpPr/>
            <p:nvPr/>
          </p:nvGrpSpPr>
          <p:grpSpPr>
            <a:xfrm>
              <a:off x="539553" y="1700808"/>
              <a:ext cx="579292" cy="144016"/>
              <a:chOff x="2483768" y="5013176"/>
              <a:chExt cx="579292" cy="144016"/>
            </a:xfrm>
          </p:grpSpPr>
          <p:sp>
            <p:nvSpPr>
              <p:cNvPr id="625" name="Rectangle 624"/>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667</a:t>
                </a:r>
                <a:endParaRPr lang="en-US" sz="1200" dirty="0">
                  <a:solidFill>
                    <a:srgbClr val="336600"/>
                  </a:solidFill>
                  <a:latin typeface="Times New Roman" panose="02020603050405020304" pitchFamily="18" charset="0"/>
                </a:endParaRPr>
              </a:p>
            </p:txBody>
          </p:sp>
          <p:sp>
            <p:nvSpPr>
              <p:cNvPr id="626" name="Rectangle 625"/>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882</a:t>
                </a:r>
              </a:p>
            </p:txBody>
          </p:sp>
        </p:grpSp>
        <p:sp>
          <p:nvSpPr>
            <p:cNvPr id="621" name="Rectangle 620"/>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0.53</a:t>
              </a:r>
              <a:endParaRPr lang="en-US" sz="1200" dirty="0">
                <a:solidFill>
                  <a:srgbClr val="336600"/>
                </a:solidFill>
                <a:latin typeface="Times New Roman" panose="02020603050405020304" pitchFamily="18" charset="0"/>
              </a:endParaRPr>
            </a:p>
          </p:txBody>
        </p:sp>
        <p:grpSp>
          <p:nvGrpSpPr>
            <p:cNvPr id="622" name="Group 296"/>
            <p:cNvGrpSpPr/>
            <p:nvPr/>
          </p:nvGrpSpPr>
          <p:grpSpPr>
            <a:xfrm>
              <a:off x="539553" y="1846065"/>
              <a:ext cx="579292" cy="144016"/>
              <a:chOff x="2483768" y="5013176"/>
              <a:chExt cx="579292" cy="144016"/>
            </a:xfrm>
          </p:grpSpPr>
          <p:sp>
            <p:nvSpPr>
              <p:cNvPr id="623" name="Rectangle 622"/>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624" name="Rectangle 623"/>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sp>
        <p:nvSpPr>
          <p:cNvPr id="627" name="Freeform 626"/>
          <p:cNvSpPr/>
          <p:nvPr/>
        </p:nvSpPr>
        <p:spPr bwMode="auto">
          <a:xfrm>
            <a:off x="7712976" y="3343276"/>
            <a:ext cx="146384" cy="1313497"/>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grpSp>
        <p:nvGrpSpPr>
          <p:cNvPr id="640" name="882,801 null"/>
          <p:cNvGrpSpPr/>
          <p:nvPr/>
        </p:nvGrpSpPr>
        <p:grpSpPr>
          <a:xfrm>
            <a:off x="9899786" y="5003240"/>
            <a:ext cx="530823" cy="354111"/>
            <a:chOff x="8123779" y="2073383"/>
            <a:chExt cx="589109" cy="354111"/>
          </a:xfrm>
        </p:grpSpPr>
        <p:sp>
          <p:nvSpPr>
            <p:cNvPr id="641" name="Arc 640"/>
            <p:cNvSpPr/>
            <p:nvPr/>
          </p:nvSpPr>
          <p:spPr bwMode="auto">
            <a:xfrm>
              <a:off x="8123779" y="2073383"/>
              <a:ext cx="495300" cy="354111"/>
            </a:xfrm>
            <a:prstGeom prst="arc">
              <a:avLst>
                <a:gd name="adj1" fmla="val 16200000"/>
                <a:gd name="adj2" fmla="val 478342"/>
              </a:avLst>
            </a:prstGeom>
            <a:noFill/>
            <a:ln w="25400" cap="flat" cmpd="sng" algn="ctr">
              <a:solidFill>
                <a:schemeClr val="bg1">
                  <a:lumMod val="50000"/>
                </a:schemeClr>
              </a:solidFill>
              <a:prstDash val="solid"/>
              <a:round/>
              <a:headEnd type="oval" w="med" len="med"/>
              <a:tailEnd type="triangl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642" name="Line 26"/>
            <p:cNvSpPr>
              <a:spLocks noChangeShapeType="1"/>
            </p:cNvSpPr>
            <p:nvPr/>
          </p:nvSpPr>
          <p:spPr bwMode="auto">
            <a:xfrm>
              <a:off x="8520716" y="2302526"/>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643" name="Line 27"/>
            <p:cNvSpPr>
              <a:spLocks noChangeShapeType="1"/>
            </p:cNvSpPr>
            <p:nvPr/>
          </p:nvSpPr>
          <p:spPr bwMode="auto">
            <a:xfrm>
              <a:off x="8565933" y="2349630"/>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644" name="Line 28"/>
            <p:cNvSpPr>
              <a:spLocks noChangeShapeType="1"/>
            </p:cNvSpPr>
            <p:nvPr/>
          </p:nvSpPr>
          <p:spPr bwMode="auto">
            <a:xfrm>
              <a:off x="8592781" y="2399212"/>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sp>
        <p:nvSpPr>
          <p:cNvPr id="211" name="row arrow to 882,801"/>
          <p:cNvSpPr/>
          <p:nvPr/>
        </p:nvSpPr>
        <p:spPr bwMode="auto">
          <a:xfrm rot="16200000">
            <a:off x="8757394" y="4059734"/>
            <a:ext cx="165712" cy="1746262"/>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grpSp>
        <p:nvGrpSpPr>
          <p:cNvPr id="217" name="168,801 null"/>
          <p:cNvGrpSpPr/>
          <p:nvPr/>
        </p:nvGrpSpPr>
        <p:grpSpPr>
          <a:xfrm>
            <a:off x="9899380" y="3345884"/>
            <a:ext cx="540021" cy="354111"/>
            <a:chOff x="8123779" y="2073383"/>
            <a:chExt cx="589109" cy="354111"/>
          </a:xfrm>
        </p:grpSpPr>
        <p:sp>
          <p:nvSpPr>
            <p:cNvPr id="218" name="Arc 217"/>
            <p:cNvSpPr/>
            <p:nvPr/>
          </p:nvSpPr>
          <p:spPr bwMode="auto">
            <a:xfrm>
              <a:off x="8123779" y="2073383"/>
              <a:ext cx="495300" cy="354111"/>
            </a:xfrm>
            <a:prstGeom prst="arc">
              <a:avLst>
                <a:gd name="adj1" fmla="val 16200000"/>
                <a:gd name="adj2" fmla="val 478342"/>
              </a:avLst>
            </a:prstGeom>
            <a:noFill/>
            <a:ln w="25400" cap="flat" cmpd="sng" algn="ctr">
              <a:solidFill>
                <a:schemeClr val="bg1">
                  <a:lumMod val="50000"/>
                </a:schemeClr>
              </a:solidFill>
              <a:prstDash val="solid"/>
              <a:round/>
              <a:headEnd type="oval" w="med" len="med"/>
              <a:tailEnd type="triangl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19" name="Line 26"/>
            <p:cNvSpPr>
              <a:spLocks noChangeShapeType="1"/>
            </p:cNvSpPr>
            <p:nvPr/>
          </p:nvSpPr>
          <p:spPr bwMode="auto">
            <a:xfrm>
              <a:off x="8520716" y="2302526"/>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20" name="Line 27"/>
            <p:cNvSpPr>
              <a:spLocks noChangeShapeType="1"/>
            </p:cNvSpPr>
            <p:nvPr/>
          </p:nvSpPr>
          <p:spPr bwMode="auto">
            <a:xfrm>
              <a:off x="8565933" y="2349630"/>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21" name="Line 28"/>
            <p:cNvSpPr>
              <a:spLocks noChangeShapeType="1"/>
            </p:cNvSpPr>
            <p:nvPr/>
          </p:nvSpPr>
          <p:spPr bwMode="auto">
            <a:xfrm>
              <a:off x="8592781" y="2399212"/>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228" name="Group 227"/>
          <p:cNvGrpSpPr/>
          <p:nvPr/>
        </p:nvGrpSpPr>
        <p:grpSpPr>
          <a:xfrm>
            <a:off x="7584150" y="5012391"/>
            <a:ext cx="192172" cy="413481"/>
            <a:chOff x="2003564" y="2071545"/>
            <a:chExt cx="192172" cy="413481"/>
          </a:xfrm>
          <a:effectLst>
            <a:outerShdw blurRad="50800" dist="38100" dir="2700000" algn="tl" rotWithShape="0">
              <a:prstClr val="black">
                <a:alpha val="40000"/>
              </a:prstClr>
            </a:outerShdw>
          </a:effectLst>
        </p:grpSpPr>
        <p:sp>
          <p:nvSpPr>
            <p:cNvPr id="229" name="Line 40"/>
            <p:cNvSpPr>
              <a:spLocks noChangeShapeType="1"/>
            </p:cNvSpPr>
            <p:nvPr/>
          </p:nvSpPr>
          <p:spPr bwMode="auto">
            <a:xfrm rot="5400000" flipV="1">
              <a:off x="1955954" y="2218193"/>
              <a:ext cx="293295" cy="0"/>
            </a:xfrm>
            <a:prstGeom prst="line">
              <a:avLst/>
            </a:prstGeom>
            <a:noFill/>
            <a:ln w="28575">
              <a:solidFill>
                <a:schemeClr val="bg1">
                  <a:lumMod val="50000"/>
                </a:schemeClr>
              </a:solidFill>
              <a:round/>
              <a:headEnd type="oval" w="med" len="med"/>
              <a:tailEnd type="triangle" w="med" len="med"/>
            </a:ln>
            <a:effectLst/>
          </p:spPr>
          <p:txBody>
            <a:bodyPr/>
            <a:lstStyle/>
            <a:p>
              <a:pPr>
                <a:buClr>
                  <a:srgbClr val="006600"/>
                </a:buClr>
              </a:pPr>
              <a:endParaRPr lang="en-US" sz="1200" dirty="0">
                <a:latin typeface="Times New Roman" panose="02020603050405020304" pitchFamily="18" charset="0"/>
              </a:endParaRPr>
            </a:p>
          </p:txBody>
        </p:sp>
        <p:sp>
          <p:nvSpPr>
            <p:cNvPr id="230" name="Line 26"/>
            <p:cNvSpPr>
              <a:spLocks noChangeShapeType="1"/>
            </p:cNvSpPr>
            <p:nvPr/>
          </p:nvSpPr>
          <p:spPr bwMode="auto">
            <a:xfrm>
              <a:off x="2003564" y="2388340"/>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31" name="Line 27"/>
            <p:cNvSpPr>
              <a:spLocks noChangeShapeType="1"/>
            </p:cNvSpPr>
            <p:nvPr/>
          </p:nvSpPr>
          <p:spPr bwMode="auto">
            <a:xfrm>
              <a:off x="2048781" y="2435444"/>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32" name="Line 28"/>
            <p:cNvSpPr>
              <a:spLocks noChangeShapeType="1"/>
            </p:cNvSpPr>
            <p:nvPr/>
          </p:nvSpPr>
          <p:spPr bwMode="auto">
            <a:xfrm>
              <a:off x="2075629" y="2485026"/>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238" name="Group 237"/>
          <p:cNvGrpSpPr/>
          <p:nvPr/>
        </p:nvGrpSpPr>
        <p:grpSpPr>
          <a:xfrm>
            <a:off x="6506268" y="2511464"/>
            <a:ext cx="192172" cy="402753"/>
            <a:chOff x="2003564" y="2071545"/>
            <a:chExt cx="192172" cy="402753"/>
          </a:xfrm>
          <a:effectLst>
            <a:outerShdw blurRad="50800" dist="38100" dir="2700000" algn="tl" rotWithShape="0">
              <a:prstClr val="black">
                <a:alpha val="40000"/>
              </a:prstClr>
            </a:outerShdw>
          </a:effectLst>
        </p:grpSpPr>
        <p:sp>
          <p:nvSpPr>
            <p:cNvPr id="239" name="Line 40"/>
            <p:cNvSpPr>
              <a:spLocks noChangeShapeType="1"/>
            </p:cNvSpPr>
            <p:nvPr/>
          </p:nvSpPr>
          <p:spPr bwMode="auto">
            <a:xfrm rot="5400000" flipV="1">
              <a:off x="1955954" y="2218193"/>
              <a:ext cx="293295" cy="0"/>
            </a:xfrm>
            <a:prstGeom prst="line">
              <a:avLst/>
            </a:prstGeom>
            <a:noFill/>
            <a:ln w="25400">
              <a:solidFill>
                <a:schemeClr val="bg1">
                  <a:lumMod val="50000"/>
                </a:schemeClr>
              </a:solidFill>
              <a:round/>
              <a:headEnd type="oval" w="med" len="med"/>
              <a:tailEnd type="triangle" w="med" len="med"/>
            </a:ln>
            <a:effectLst/>
          </p:spPr>
          <p:txBody>
            <a:bodyPr/>
            <a:lstStyle/>
            <a:p>
              <a:pPr>
                <a:buClr>
                  <a:srgbClr val="006600"/>
                </a:buClr>
              </a:pPr>
              <a:endParaRPr lang="en-US" sz="1200" dirty="0">
                <a:latin typeface="Times New Roman" panose="02020603050405020304" pitchFamily="18" charset="0"/>
              </a:endParaRPr>
            </a:p>
          </p:txBody>
        </p:sp>
        <p:sp>
          <p:nvSpPr>
            <p:cNvPr id="240" name="Line 26"/>
            <p:cNvSpPr>
              <a:spLocks noChangeShapeType="1"/>
            </p:cNvSpPr>
            <p:nvPr/>
          </p:nvSpPr>
          <p:spPr bwMode="auto">
            <a:xfrm>
              <a:off x="2003564" y="2377612"/>
              <a:ext cx="192172" cy="0"/>
            </a:xfrm>
            <a:prstGeom prst="line">
              <a:avLst/>
            </a:prstGeom>
            <a:noFill/>
            <a:ln w="25400">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41" name="Line 27"/>
            <p:cNvSpPr>
              <a:spLocks noChangeShapeType="1"/>
            </p:cNvSpPr>
            <p:nvPr/>
          </p:nvSpPr>
          <p:spPr bwMode="auto">
            <a:xfrm>
              <a:off x="2048781" y="2424716"/>
              <a:ext cx="121520" cy="0"/>
            </a:xfrm>
            <a:prstGeom prst="line">
              <a:avLst/>
            </a:prstGeom>
            <a:noFill/>
            <a:ln w="25400">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42" name="Line 28"/>
            <p:cNvSpPr>
              <a:spLocks noChangeShapeType="1"/>
            </p:cNvSpPr>
            <p:nvPr/>
          </p:nvSpPr>
          <p:spPr bwMode="auto">
            <a:xfrm>
              <a:off x="2075629" y="2474298"/>
              <a:ext cx="73477" cy="0"/>
            </a:xfrm>
            <a:prstGeom prst="line">
              <a:avLst/>
            </a:prstGeom>
            <a:noFill/>
            <a:ln w="25400">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257" name="152,326 null"/>
          <p:cNvGrpSpPr/>
          <p:nvPr/>
        </p:nvGrpSpPr>
        <p:grpSpPr>
          <a:xfrm>
            <a:off x="6650228" y="2511606"/>
            <a:ext cx="589109" cy="354111"/>
            <a:chOff x="8123779" y="2073383"/>
            <a:chExt cx="589109" cy="354111"/>
          </a:xfrm>
        </p:grpSpPr>
        <p:sp>
          <p:nvSpPr>
            <p:cNvPr id="258" name="Arc 257"/>
            <p:cNvSpPr/>
            <p:nvPr/>
          </p:nvSpPr>
          <p:spPr bwMode="auto">
            <a:xfrm>
              <a:off x="8123779" y="2073383"/>
              <a:ext cx="495300" cy="354111"/>
            </a:xfrm>
            <a:prstGeom prst="arc">
              <a:avLst>
                <a:gd name="adj1" fmla="val 16200000"/>
                <a:gd name="adj2" fmla="val 478342"/>
              </a:avLst>
            </a:prstGeom>
            <a:noFill/>
            <a:ln w="25400" cap="flat" cmpd="sng" algn="ctr">
              <a:solidFill>
                <a:schemeClr val="bg1">
                  <a:lumMod val="50000"/>
                </a:schemeClr>
              </a:solidFill>
              <a:prstDash val="solid"/>
              <a:round/>
              <a:headEnd type="oval" w="med" len="med"/>
              <a:tailEnd type="triangl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59" name="Line 26"/>
            <p:cNvSpPr>
              <a:spLocks noChangeShapeType="1"/>
            </p:cNvSpPr>
            <p:nvPr/>
          </p:nvSpPr>
          <p:spPr bwMode="auto">
            <a:xfrm>
              <a:off x="8520716" y="2302526"/>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60" name="Line 27"/>
            <p:cNvSpPr>
              <a:spLocks noChangeShapeType="1"/>
            </p:cNvSpPr>
            <p:nvPr/>
          </p:nvSpPr>
          <p:spPr bwMode="auto">
            <a:xfrm>
              <a:off x="8565933" y="2349630"/>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61" name="Line 28"/>
            <p:cNvSpPr>
              <a:spLocks noChangeShapeType="1"/>
            </p:cNvSpPr>
            <p:nvPr/>
          </p:nvSpPr>
          <p:spPr bwMode="auto">
            <a:xfrm>
              <a:off x="8592781" y="2399212"/>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273" name="617,713"/>
          <p:cNvGrpSpPr/>
          <p:nvPr/>
        </p:nvGrpSpPr>
        <p:grpSpPr>
          <a:xfrm>
            <a:off x="8631580" y="3814176"/>
            <a:ext cx="579293" cy="433289"/>
            <a:chOff x="539552" y="1556792"/>
            <a:chExt cx="579293" cy="433289"/>
          </a:xfrm>
          <a:effectLst>
            <a:outerShdw blurRad="50800" dist="38100" dir="2700000" algn="tl" rotWithShape="0">
              <a:prstClr val="black">
                <a:alpha val="40000"/>
              </a:prstClr>
            </a:outerShdw>
          </a:effectLst>
        </p:grpSpPr>
        <p:grpSp>
          <p:nvGrpSpPr>
            <p:cNvPr id="274" name="Group 287"/>
            <p:cNvGrpSpPr/>
            <p:nvPr/>
          </p:nvGrpSpPr>
          <p:grpSpPr>
            <a:xfrm>
              <a:off x="539553" y="1700808"/>
              <a:ext cx="579292" cy="144016"/>
              <a:chOff x="2483768" y="5013176"/>
              <a:chExt cx="579292" cy="144016"/>
            </a:xfrm>
          </p:grpSpPr>
          <p:sp>
            <p:nvSpPr>
              <p:cNvPr id="279" name="Rectangle 278"/>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713</a:t>
                </a:r>
                <a:endParaRPr lang="en-US" sz="1200" dirty="0">
                  <a:solidFill>
                    <a:srgbClr val="336600"/>
                  </a:solidFill>
                  <a:latin typeface="Times New Roman" panose="02020603050405020304" pitchFamily="18" charset="0"/>
                </a:endParaRPr>
              </a:p>
            </p:txBody>
          </p:sp>
          <p:sp>
            <p:nvSpPr>
              <p:cNvPr id="280" name="Rectangle 279"/>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a:buClr>
                    <a:srgbClr val="006600"/>
                  </a:buClr>
                </a:pPr>
                <a:r>
                  <a:rPr lang="en-US" sz="1200" dirty="0">
                    <a:latin typeface="Times New Roman" panose="02020603050405020304" pitchFamily="18" charset="0"/>
                  </a:rPr>
                  <a:t>617</a:t>
                </a:r>
              </a:p>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sp>
          <p:nvSpPr>
            <p:cNvPr id="275" name="Rectangle 274"/>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0.22</a:t>
              </a:r>
              <a:endParaRPr lang="en-US" sz="1200" dirty="0">
                <a:solidFill>
                  <a:srgbClr val="336600"/>
                </a:solidFill>
                <a:latin typeface="Times New Roman" panose="02020603050405020304" pitchFamily="18" charset="0"/>
              </a:endParaRPr>
            </a:p>
          </p:txBody>
        </p:sp>
        <p:grpSp>
          <p:nvGrpSpPr>
            <p:cNvPr id="276" name="Group 296"/>
            <p:cNvGrpSpPr/>
            <p:nvPr/>
          </p:nvGrpSpPr>
          <p:grpSpPr>
            <a:xfrm>
              <a:off x="539553" y="1846065"/>
              <a:ext cx="579292" cy="144016"/>
              <a:chOff x="2483768" y="5013176"/>
              <a:chExt cx="579292" cy="144016"/>
            </a:xfrm>
          </p:grpSpPr>
          <p:sp>
            <p:nvSpPr>
              <p:cNvPr id="277" name="Rectangle 276"/>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278" name="Rectangle 277"/>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287" name="617,713 null"/>
          <p:cNvGrpSpPr/>
          <p:nvPr/>
        </p:nvGrpSpPr>
        <p:grpSpPr>
          <a:xfrm>
            <a:off x="8808938" y="4167790"/>
            <a:ext cx="589109" cy="354111"/>
            <a:chOff x="8123779" y="2073383"/>
            <a:chExt cx="589109" cy="354111"/>
          </a:xfrm>
        </p:grpSpPr>
        <p:sp>
          <p:nvSpPr>
            <p:cNvPr id="289" name="Arc 288"/>
            <p:cNvSpPr/>
            <p:nvPr/>
          </p:nvSpPr>
          <p:spPr bwMode="auto">
            <a:xfrm>
              <a:off x="8123779" y="2073383"/>
              <a:ext cx="495300" cy="354111"/>
            </a:xfrm>
            <a:prstGeom prst="arc">
              <a:avLst>
                <a:gd name="adj1" fmla="val 16200000"/>
                <a:gd name="adj2" fmla="val 478342"/>
              </a:avLst>
            </a:prstGeom>
            <a:noFill/>
            <a:ln w="25400" cap="flat" cmpd="sng" algn="ctr">
              <a:solidFill>
                <a:schemeClr val="bg1">
                  <a:lumMod val="50000"/>
                </a:schemeClr>
              </a:solidFill>
              <a:prstDash val="solid"/>
              <a:round/>
              <a:headEnd type="oval" w="med" len="med"/>
              <a:tailEnd type="triangl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90" name="Line 26"/>
            <p:cNvSpPr>
              <a:spLocks noChangeShapeType="1"/>
            </p:cNvSpPr>
            <p:nvPr/>
          </p:nvSpPr>
          <p:spPr bwMode="auto">
            <a:xfrm>
              <a:off x="8520716" y="2302526"/>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91" name="Line 27"/>
            <p:cNvSpPr>
              <a:spLocks noChangeShapeType="1"/>
            </p:cNvSpPr>
            <p:nvPr/>
          </p:nvSpPr>
          <p:spPr bwMode="auto">
            <a:xfrm>
              <a:off x="8565933" y="2349630"/>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292" name="Line 28"/>
            <p:cNvSpPr>
              <a:spLocks noChangeShapeType="1"/>
            </p:cNvSpPr>
            <p:nvPr/>
          </p:nvSpPr>
          <p:spPr bwMode="auto">
            <a:xfrm>
              <a:off x="8592781" y="2399212"/>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sp>
        <p:nvSpPr>
          <p:cNvPr id="572" name="Freeform 571"/>
          <p:cNvSpPr/>
          <p:nvPr/>
        </p:nvSpPr>
        <p:spPr bwMode="auto">
          <a:xfrm>
            <a:off x="9860750" y="3347934"/>
            <a:ext cx="195691" cy="1306924"/>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grpSp>
        <p:nvGrpSpPr>
          <p:cNvPr id="294" name="927,713"/>
          <p:cNvGrpSpPr/>
          <p:nvPr/>
        </p:nvGrpSpPr>
        <p:grpSpPr>
          <a:xfrm>
            <a:off x="8631580" y="5498408"/>
            <a:ext cx="579293" cy="433289"/>
            <a:chOff x="539552" y="1556792"/>
            <a:chExt cx="579293" cy="433289"/>
          </a:xfrm>
          <a:effectLst>
            <a:outerShdw blurRad="50800" dist="38100" dir="2700000" algn="tl" rotWithShape="0">
              <a:prstClr val="black">
                <a:alpha val="40000"/>
              </a:prstClr>
            </a:outerShdw>
          </a:effectLst>
        </p:grpSpPr>
        <p:grpSp>
          <p:nvGrpSpPr>
            <p:cNvPr id="295" name="Group 287"/>
            <p:cNvGrpSpPr/>
            <p:nvPr/>
          </p:nvGrpSpPr>
          <p:grpSpPr>
            <a:xfrm>
              <a:off x="539553" y="1700808"/>
              <a:ext cx="579292" cy="144016"/>
              <a:chOff x="2483768" y="5013176"/>
              <a:chExt cx="579292" cy="144016"/>
            </a:xfrm>
          </p:grpSpPr>
          <p:sp>
            <p:nvSpPr>
              <p:cNvPr id="304" name="Rectangle 303"/>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713</a:t>
                </a:r>
                <a:endParaRPr lang="en-US" sz="1200" dirty="0">
                  <a:solidFill>
                    <a:srgbClr val="336600"/>
                  </a:solidFill>
                  <a:latin typeface="Times New Roman" panose="02020603050405020304" pitchFamily="18" charset="0"/>
                </a:endParaRPr>
              </a:p>
            </p:txBody>
          </p:sp>
          <p:sp>
            <p:nvSpPr>
              <p:cNvPr id="305" name="Rectangle 304"/>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a:buClr>
                    <a:srgbClr val="006600"/>
                  </a:buClr>
                </a:pPr>
                <a:r>
                  <a:rPr lang="en-US" sz="1200" dirty="0">
                    <a:latin typeface="Times New Roman" panose="02020603050405020304" pitchFamily="18" charset="0"/>
                  </a:rPr>
                  <a:t>927</a:t>
                </a:r>
              </a:p>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sp>
          <p:nvSpPr>
            <p:cNvPr id="300" name="Rectangle 299"/>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0.46</a:t>
              </a:r>
              <a:endParaRPr lang="en-US" sz="1200" dirty="0">
                <a:solidFill>
                  <a:srgbClr val="336600"/>
                </a:solidFill>
                <a:latin typeface="Times New Roman" panose="02020603050405020304" pitchFamily="18" charset="0"/>
              </a:endParaRPr>
            </a:p>
          </p:txBody>
        </p:sp>
        <p:grpSp>
          <p:nvGrpSpPr>
            <p:cNvPr id="301" name="Group 296"/>
            <p:cNvGrpSpPr/>
            <p:nvPr/>
          </p:nvGrpSpPr>
          <p:grpSpPr>
            <a:xfrm>
              <a:off x="539553" y="1846065"/>
              <a:ext cx="579292" cy="144016"/>
              <a:chOff x="2483768" y="5013176"/>
              <a:chExt cx="579292" cy="144016"/>
            </a:xfrm>
          </p:grpSpPr>
          <p:sp>
            <p:nvSpPr>
              <p:cNvPr id="302" name="Rectangle 301"/>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303" name="Rectangle 302"/>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306" name="Group 305"/>
          <p:cNvGrpSpPr/>
          <p:nvPr/>
        </p:nvGrpSpPr>
        <p:grpSpPr>
          <a:xfrm>
            <a:off x="8684211" y="5854382"/>
            <a:ext cx="192172" cy="413481"/>
            <a:chOff x="2003564" y="2071545"/>
            <a:chExt cx="192172" cy="413481"/>
          </a:xfrm>
          <a:effectLst>
            <a:outerShdw blurRad="50800" dist="38100" dir="2700000" algn="tl" rotWithShape="0">
              <a:prstClr val="black">
                <a:alpha val="40000"/>
              </a:prstClr>
            </a:outerShdw>
          </a:effectLst>
        </p:grpSpPr>
        <p:sp>
          <p:nvSpPr>
            <p:cNvPr id="307" name="Line 40"/>
            <p:cNvSpPr>
              <a:spLocks noChangeShapeType="1"/>
            </p:cNvSpPr>
            <p:nvPr/>
          </p:nvSpPr>
          <p:spPr bwMode="auto">
            <a:xfrm rot="5400000" flipV="1">
              <a:off x="1955954" y="2218193"/>
              <a:ext cx="293295" cy="0"/>
            </a:xfrm>
            <a:prstGeom prst="line">
              <a:avLst/>
            </a:prstGeom>
            <a:noFill/>
            <a:ln w="28575">
              <a:solidFill>
                <a:schemeClr val="bg1">
                  <a:lumMod val="50000"/>
                </a:schemeClr>
              </a:solidFill>
              <a:round/>
              <a:headEnd type="oval" w="med" len="med"/>
              <a:tailEnd type="triangle" w="med" len="med"/>
            </a:ln>
            <a:effectLst/>
          </p:spPr>
          <p:txBody>
            <a:bodyPr/>
            <a:lstStyle/>
            <a:p>
              <a:pPr>
                <a:buClr>
                  <a:srgbClr val="006600"/>
                </a:buClr>
              </a:pPr>
              <a:endParaRPr lang="en-US" sz="1200" dirty="0">
                <a:latin typeface="Times New Roman" panose="02020603050405020304" pitchFamily="18" charset="0"/>
              </a:endParaRPr>
            </a:p>
          </p:txBody>
        </p:sp>
        <p:sp>
          <p:nvSpPr>
            <p:cNvPr id="308" name="Line 26"/>
            <p:cNvSpPr>
              <a:spLocks noChangeShapeType="1"/>
            </p:cNvSpPr>
            <p:nvPr/>
          </p:nvSpPr>
          <p:spPr bwMode="auto">
            <a:xfrm>
              <a:off x="2003564" y="2388340"/>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309" name="Line 27"/>
            <p:cNvSpPr>
              <a:spLocks noChangeShapeType="1"/>
            </p:cNvSpPr>
            <p:nvPr/>
          </p:nvSpPr>
          <p:spPr bwMode="auto">
            <a:xfrm>
              <a:off x="2048781" y="2435444"/>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310" name="Line 28"/>
            <p:cNvSpPr>
              <a:spLocks noChangeShapeType="1"/>
            </p:cNvSpPr>
            <p:nvPr/>
          </p:nvSpPr>
          <p:spPr bwMode="auto">
            <a:xfrm>
              <a:off x="2075629" y="2485026"/>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311" name="927,713 null"/>
          <p:cNvGrpSpPr/>
          <p:nvPr/>
        </p:nvGrpSpPr>
        <p:grpSpPr>
          <a:xfrm>
            <a:off x="8797804" y="5855071"/>
            <a:ext cx="589109" cy="354111"/>
            <a:chOff x="8123779" y="2073383"/>
            <a:chExt cx="589109" cy="354111"/>
          </a:xfrm>
        </p:grpSpPr>
        <p:sp>
          <p:nvSpPr>
            <p:cNvPr id="312" name="Arc 311"/>
            <p:cNvSpPr/>
            <p:nvPr/>
          </p:nvSpPr>
          <p:spPr bwMode="auto">
            <a:xfrm>
              <a:off x="8123779" y="2073383"/>
              <a:ext cx="495300" cy="354111"/>
            </a:xfrm>
            <a:prstGeom prst="arc">
              <a:avLst>
                <a:gd name="adj1" fmla="val 16200000"/>
                <a:gd name="adj2" fmla="val 478342"/>
              </a:avLst>
            </a:prstGeom>
            <a:noFill/>
            <a:ln w="25400" cap="flat" cmpd="sng" algn="ctr">
              <a:solidFill>
                <a:schemeClr val="bg1">
                  <a:lumMod val="50000"/>
                </a:schemeClr>
              </a:solidFill>
              <a:prstDash val="solid"/>
              <a:round/>
              <a:headEnd type="oval" w="med" len="med"/>
              <a:tailEnd type="triangl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313" name="Line 26"/>
            <p:cNvSpPr>
              <a:spLocks noChangeShapeType="1"/>
            </p:cNvSpPr>
            <p:nvPr/>
          </p:nvSpPr>
          <p:spPr bwMode="auto">
            <a:xfrm>
              <a:off x="8520716" y="2302526"/>
              <a:ext cx="192172"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314" name="Line 27"/>
            <p:cNvSpPr>
              <a:spLocks noChangeShapeType="1"/>
            </p:cNvSpPr>
            <p:nvPr/>
          </p:nvSpPr>
          <p:spPr bwMode="auto">
            <a:xfrm>
              <a:off x="8565933" y="2349630"/>
              <a:ext cx="12152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315" name="Line 28"/>
            <p:cNvSpPr>
              <a:spLocks noChangeShapeType="1"/>
            </p:cNvSpPr>
            <p:nvPr/>
          </p:nvSpPr>
          <p:spPr bwMode="auto">
            <a:xfrm>
              <a:off x="8592781" y="2399212"/>
              <a:ext cx="73477"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nvGrpSpPr>
          <p:cNvPr id="271" name="row of coulumn headers"/>
          <p:cNvGrpSpPr/>
          <p:nvPr/>
        </p:nvGrpSpPr>
        <p:grpSpPr>
          <a:xfrm>
            <a:off x="5372692" y="1316250"/>
            <a:ext cx="5115797" cy="2514803"/>
            <a:chOff x="3848691" y="1316249"/>
            <a:chExt cx="5115797" cy="2514803"/>
          </a:xfrm>
        </p:grpSpPr>
        <p:grpSp>
          <p:nvGrpSpPr>
            <p:cNvPr id="269" name="Group 268"/>
            <p:cNvGrpSpPr/>
            <p:nvPr/>
          </p:nvGrpSpPr>
          <p:grpSpPr>
            <a:xfrm>
              <a:off x="3848691" y="1316249"/>
              <a:ext cx="1083349" cy="838042"/>
              <a:chOff x="3848691" y="1316249"/>
              <a:chExt cx="1083349" cy="838042"/>
            </a:xfrm>
          </p:grpSpPr>
          <p:grpSp>
            <p:nvGrpSpPr>
              <p:cNvPr id="369" name="Group 368"/>
              <p:cNvGrpSpPr/>
              <p:nvPr/>
            </p:nvGrpSpPr>
            <p:grpSpPr>
              <a:xfrm>
                <a:off x="3848691" y="1316249"/>
                <a:ext cx="579293" cy="433289"/>
                <a:chOff x="907073" y="1556792"/>
                <a:chExt cx="579293" cy="433289"/>
              </a:xfrm>
              <a:effectLst>
                <a:outerShdw blurRad="50800" dist="38100" dir="2700000" algn="tl" rotWithShape="0">
                  <a:prstClr val="black">
                    <a:alpha val="40000"/>
                  </a:prstClr>
                </a:outerShdw>
              </a:effectLst>
            </p:grpSpPr>
            <p:grpSp>
              <p:nvGrpSpPr>
                <p:cNvPr id="288" name="Group 287"/>
                <p:cNvGrpSpPr/>
                <p:nvPr/>
              </p:nvGrpSpPr>
              <p:grpSpPr>
                <a:xfrm>
                  <a:off x="907074" y="1700808"/>
                  <a:ext cx="579292" cy="144016"/>
                  <a:chOff x="2851289" y="5013176"/>
                  <a:chExt cx="579292" cy="144016"/>
                </a:xfrm>
              </p:grpSpPr>
              <p:sp>
                <p:nvSpPr>
                  <p:cNvPr id="246" name="Rectangle 245"/>
                  <p:cNvSpPr/>
                  <p:nvPr/>
                </p:nvSpPr>
                <p:spPr bwMode="auto">
                  <a:xfrm>
                    <a:off x="2851289"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-1</a:t>
                    </a:r>
                  </a:p>
                </p:txBody>
              </p:sp>
              <p:sp>
                <p:nvSpPr>
                  <p:cNvPr id="285" name="Rectangle 284"/>
                  <p:cNvSpPr/>
                  <p:nvPr/>
                </p:nvSpPr>
                <p:spPr bwMode="auto">
                  <a:xfrm>
                    <a:off x="3142549"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-1</a:t>
                    </a:r>
                    <a:endParaRPr lang="en-US" sz="1200" dirty="0">
                      <a:solidFill>
                        <a:srgbClr val="336600"/>
                      </a:solidFill>
                      <a:latin typeface="Times New Roman" panose="02020603050405020304" pitchFamily="18" charset="0"/>
                    </a:endParaRPr>
                  </a:p>
                </p:txBody>
              </p:sp>
            </p:grpSp>
            <p:sp>
              <p:nvSpPr>
                <p:cNvPr id="296" name="Rectangle 295"/>
                <p:cNvSpPr/>
                <p:nvPr/>
              </p:nvSpPr>
              <p:spPr bwMode="auto">
                <a:xfrm>
                  <a:off x="907073"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a:t>
                  </a:r>
                  <a:endParaRPr lang="en-US" sz="1200" dirty="0">
                    <a:solidFill>
                      <a:srgbClr val="336600"/>
                    </a:solidFill>
                    <a:latin typeface="Times New Roman" panose="02020603050405020304" pitchFamily="18" charset="0"/>
                  </a:endParaRPr>
                </a:p>
              </p:txBody>
            </p:sp>
            <p:grpSp>
              <p:nvGrpSpPr>
                <p:cNvPr id="297" name="Group 296"/>
                <p:cNvGrpSpPr/>
                <p:nvPr/>
              </p:nvGrpSpPr>
              <p:grpSpPr>
                <a:xfrm>
                  <a:off x="907074" y="1846065"/>
                  <a:ext cx="579292" cy="144016"/>
                  <a:chOff x="2851289" y="5013176"/>
                  <a:chExt cx="579292" cy="144016"/>
                </a:xfrm>
              </p:grpSpPr>
              <p:sp>
                <p:nvSpPr>
                  <p:cNvPr id="298" name="Rectangle 297"/>
                  <p:cNvSpPr/>
                  <p:nvPr/>
                </p:nvSpPr>
                <p:spPr bwMode="auto">
                  <a:xfrm>
                    <a:off x="2851289"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299" name="Rectangle 298"/>
                  <p:cNvSpPr/>
                  <p:nvPr/>
                </p:nvSpPr>
                <p:spPr bwMode="auto">
                  <a:xfrm>
                    <a:off x="3142549"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sp>
            <p:nvSpPr>
              <p:cNvPr id="548" name="Freeform 547"/>
              <p:cNvSpPr/>
              <p:nvPr/>
            </p:nvSpPr>
            <p:spPr bwMode="auto">
              <a:xfrm rot="16200000">
                <a:off x="4510484" y="1252656"/>
                <a:ext cx="170909" cy="672202"/>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445" name="Freeform 444"/>
              <p:cNvSpPr/>
              <p:nvPr/>
            </p:nvSpPr>
            <p:spPr bwMode="auto">
              <a:xfrm>
                <a:off x="3979555" y="1676289"/>
                <a:ext cx="170909" cy="478002"/>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grpSp>
        <p:grpSp>
          <p:nvGrpSpPr>
            <p:cNvPr id="268" name="row of column headers"/>
            <p:cNvGrpSpPr/>
            <p:nvPr/>
          </p:nvGrpSpPr>
          <p:grpSpPr>
            <a:xfrm>
              <a:off x="4934987" y="1316249"/>
              <a:ext cx="4029501" cy="2514803"/>
              <a:chOff x="4934987" y="1316249"/>
              <a:chExt cx="4029501" cy="2514803"/>
            </a:xfrm>
          </p:grpSpPr>
          <p:grpSp>
            <p:nvGrpSpPr>
              <p:cNvPr id="490" name="Group 489"/>
              <p:cNvGrpSpPr/>
              <p:nvPr/>
            </p:nvGrpSpPr>
            <p:grpSpPr>
              <a:xfrm>
                <a:off x="4934987" y="1316249"/>
                <a:ext cx="579293" cy="433289"/>
                <a:chOff x="834374" y="1556792"/>
                <a:chExt cx="579293" cy="433289"/>
              </a:xfrm>
              <a:effectLst>
                <a:outerShdw blurRad="50800" dist="38100" dir="2700000" algn="tl" rotWithShape="0">
                  <a:prstClr val="black">
                    <a:alpha val="40000"/>
                  </a:prstClr>
                </a:outerShdw>
              </a:effectLst>
            </p:grpSpPr>
            <p:grpSp>
              <p:nvGrpSpPr>
                <p:cNvPr id="491" name="Group 287"/>
                <p:cNvGrpSpPr/>
                <p:nvPr/>
              </p:nvGrpSpPr>
              <p:grpSpPr>
                <a:xfrm>
                  <a:off x="834375" y="1700808"/>
                  <a:ext cx="576664" cy="144016"/>
                  <a:chOff x="2778590" y="5013176"/>
                  <a:chExt cx="576664" cy="144016"/>
                </a:xfrm>
              </p:grpSpPr>
              <p:sp>
                <p:nvSpPr>
                  <p:cNvPr id="496" name="Rectangle 495"/>
                  <p:cNvSpPr/>
                  <p:nvPr/>
                </p:nvSpPr>
                <p:spPr bwMode="auto">
                  <a:xfrm>
                    <a:off x="2778590"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326</a:t>
                    </a:r>
                    <a:endParaRPr lang="en-US" sz="1200" dirty="0">
                      <a:solidFill>
                        <a:srgbClr val="336600"/>
                      </a:solidFill>
                      <a:latin typeface="Times New Roman" panose="02020603050405020304" pitchFamily="18" charset="0"/>
                    </a:endParaRPr>
                  </a:p>
                </p:txBody>
              </p:sp>
              <p:sp>
                <p:nvSpPr>
                  <p:cNvPr id="497" name="Rectangle 496"/>
                  <p:cNvSpPr/>
                  <p:nvPr/>
                </p:nvSpPr>
                <p:spPr bwMode="auto">
                  <a:xfrm>
                    <a:off x="3067222"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-1</a:t>
                    </a:r>
                  </a:p>
                </p:txBody>
              </p:sp>
            </p:grpSp>
            <p:sp>
              <p:nvSpPr>
                <p:cNvPr id="492" name="Rectangle 491"/>
                <p:cNvSpPr/>
                <p:nvPr/>
              </p:nvSpPr>
              <p:spPr bwMode="auto">
                <a:xfrm>
                  <a:off x="834374"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a:t>
                  </a:r>
                  <a:endParaRPr lang="en-US" sz="1200" dirty="0">
                    <a:solidFill>
                      <a:srgbClr val="336600"/>
                    </a:solidFill>
                    <a:latin typeface="Times New Roman" panose="02020603050405020304" pitchFamily="18" charset="0"/>
                  </a:endParaRPr>
                </a:p>
              </p:txBody>
            </p:sp>
            <p:grpSp>
              <p:nvGrpSpPr>
                <p:cNvPr id="493" name="Group 296"/>
                <p:cNvGrpSpPr/>
                <p:nvPr/>
              </p:nvGrpSpPr>
              <p:grpSpPr>
                <a:xfrm>
                  <a:off x="834375" y="1846065"/>
                  <a:ext cx="579292" cy="144016"/>
                  <a:chOff x="2778590" y="5013176"/>
                  <a:chExt cx="579292" cy="144016"/>
                </a:xfrm>
              </p:grpSpPr>
              <p:sp>
                <p:nvSpPr>
                  <p:cNvPr id="494" name="Rectangle 493"/>
                  <p:cNvSpPr/>
                  <p:nvPr/>
                </p:nvSpPr>
                <p:spPr bwMode="auto">
                  <a:xfrm>
                    <a:off x="2778590"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495" name="Rectangle 494"/>
                  <p:cNvSpPr/>
                  <p:nvPr/>
                </p:nvSpPr>
                <p:spPr bwMode="auto">
                  <a:xfrm>
                    <a:off x="3069850"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506" name="Group 505"/>
              <p:cNvGrpSpPr/>
              <p:nvPr/>
            </p:nvGrpSpPr>
            <p:grpSpPr>
              <a:xfrm>
                <a:off x="6021283" y="1316249"/>
                <a:ext cx="579293" cy="433289"/>
                <a:chOff x="697528" y="1556792"/>
                <a:chExt cx="579293" cy="433289"/>
              </a:xfrm>
              <a:effectLst>
                <a:outerShdw blurRad="50800" dist="38100" dir="2700000" algn="tl" rotWithShape="0">
                  <a:prstClr val="black">
                    <a:alpha val="40000"/>
                  </a:prstClr>
                </a:outerShdw>
              </a:effectLst>
            </p:grpSpPr>
            <p:grpSp>
              <p:nvGrpSpPr>
                <p:cNvPr id="507" name="Group 287"/>
                <p:cNvGrpSpPr/>
                <p:nvPr/>
              </p:nvGrpSpPr>
              <p:grpSpPr>
                <a:xfrm>
                  <a:off x="697529" y="1700808"/>
                  <a:ext cx="578801" cy="144016"/>
                  <a:chOff x="2641744" y="5013176"/>
                  <a:chExt cx="578801" cy="144016"/>
                </a:xfrm>
              </p:grpSpPr>
              <p:sp>
                <p:nvSpPr>
                  <p:cNvPr id="512" name="Rectangle 511"/>
                  <p:cNvSpPr/>
                  <p:nvPr/>
                </p:nvSpPr>
                <p:spPr bwMode="auto">
                  <a:xfrm>
                    <a:off x="2641744"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667</a:t>
                    </a:r>
                    <a:endParaRPr lang="en-US" sz="1200" dirty="0">
                      <a:solidFill>
                        <a:srgbClr val="336600"/>
                      </a:solidFill>
                      <a:latin typeface="Times New Roman" panose="02020603050405020304" pitchFamily="18" charset="0"/>
                    </a:endParaRPr>
                  </a:p>
                </p:txBody>
              </p:sp>
              <p:sp>
                <p:nvSpPr>
                  <p:cNvPr id="513" name="Rectangle 512"/>
                  <p:cNvSpPr/>
                  <p:nvPr/>
                </p:nvSpPr>
                <p:spPr bwMode="auto">
                  <a:xfrm>
                    <a:off x="2932513"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-1</a:t>
                    </a:r>
                  </a:p>
                </p:txBody>
              </p:sp>
            </p:grpSp>
            <p:sp>
              <p:nvSpPr>
                <p:cNvPr id="508" name="Rectangle 507"/>
                <p:cNvSpPr/>
                <p:nvPr/>
              </p:nvSpPr>
              <p:spPr bwMode="auto">
                <a:xfrm>
                  <a:off x="697528"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a:t>
                  </a:r>
                  <a:endParaRPr lang="en-US" sz="1200" dirty="0">
                    <a:solidFill>
                      <a:srgbClr val="336600"/>
                    </a:solidFill>
                    <a:latin typeface="Times New Roman" panose="02020603050405020304" pitchFamily="18" charset="0"/>
                  </a:endParaRPr>
                </a:p>
              </p:txBody>
            </p:sp>
            <p:grpSp>
              <p:nvGrpSpPr>
                <p:cNvPr id="509" name="Group 296"/>
                <p:cNvGrpSpPr/>
                <p:nvPr/>
              </p:nvGrpSpPr>
              <p:grpSpPr>
                <a:xfrm>
                  <a:off x="697529" y="1846065"/>
                  <a:ext cx="579292" cy="144016"/>
                  <a:chOff x="2641744" y="5013176"/>
                  <a:chExt cx="579292" cy="144016"/>
                </a:xfrm>
              </p:grpSpPr>
              <p:sp>
                <p:nvSpPr>
                  <p:cNvPr id="510" name="Rectangle 509"/>
                  <p:cNvSpPr/>
                  <p:nvPr/>
                </p:nvSpPr>
                <p:spPr bwMode="auto">
                  <a:xfrm>
                    <a:off x="2641744"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511" name="Rectangle 510"/>
                  <p:cNvSpPr/>
                  <p:nvPr/>
                </p:nvSpPr>
                <p:spPr bwMode="auto">
                  <a:xfrm>
                    <a:off x="2933004"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514" name="Group 513"/>
              <p:cNvGrpSpPr/>
              <p:nvPr/>
            </p:nvGrpSpPr>
            <p:grpSpPr>
              <a:xfrm>
                <a:off x="7107579" y="1316249"/>
                <a:ext cx="579293" cy="433289"/>
                <a:chOff x="606388" y="1556792"/>
                <a:chExt cx="579293" cy="433289"/>
              </a:xfrm>
              <a:effectLst>
                <a:outerShdw blurRad="50800" dist="38100" dir="2700000" algn="tl" rotWithShape="0">
                  <a:prstClr val="black">
                    <a:alpha val="40000"/>
                  </a:prstClr>
                </a:outerShdw>
              </a:effectLst>
            </p:grpSpPr>
            <p:grpSp>
              <p:nvGrpSpPr>
                <p:cNvPr id="515" name="Group 287"/>
                <p:cNvGrpSpPr/>
                <p:nvPr/>
              </p:nvGrpSpPr>
              <p:grpSpPr>
                <a:xfrm>
                  <a:off x="606389" y="1700808"/>
                  <a:ext cx="579292" cy="144016"/>
                  <a:chOff x="2550604" y="5013176"/>
                  <a:chExt cx="579292" cy="144016"/>
                </a:xfrm>
              </p:grpSpPr>
              <p:sp>
                <p:nvSpPr>
                  <p:cNvPr id="520" name="Rectangle 519"/>
                  <p:cNvSpPr/>
                  <p:nvPr/>
                </p:nvSpPr>
                <p:spPr bwMode="auto">
                  <a:xfrm>
                    <a:off x="2550604"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713</a:t>
                    </a:r>
                    <a:endParaRPr lang="en-US" sz="1200" dirty="0">
                      <a:solidFill>
                        <a:srgbClr val="336600"/>
                      </a:solidFill>
                      <a:latin typeface="Times New Roman" panose="02020603050405020304" pitchFamily="18" charset="0"/>
                    </a:endParaRPr>
                  </a:p>
                </p:txBody>
              </p:sp>
              <p:sp>
                <p:nvSpPr>
                  <p:cNvPr id="521" name="Rectangle 520"/>
                  <p:cNvSpPr/>
                  <p:nvPr/>
                </p:nvSpPr>
                <p:spPr bwMode="auto">
                  <a:xfrm>
                    <a:off x="2841864"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-1</a:t>
                    </a:r>
                  </a:p>
                </p:txBody>
              </p:sp>
            </p:grpSp>
            <p:sp>
              <p:nvSpPr>
                <p:cNvPr id="516" name="Rectangle 515"/>
                <p:cNvSpPr/>
                <p:nvPr/>
              </p:nvSpPr>
              <p:spPr bwMode="auto">
                <a:xfrm>
                  <a:off x="606388"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a:t>
                  </a:r>
                  <a:endParaRPr lang="en-US" sz="1200" dirty="0">
                    <a:solidFill>
                      <a:srgbClr val="336600"/>
                    </a:solidFill>
                    <a:latin typeface="Times New Roman" panose="02020603050405020304" pitchFamily="18" charset="0"/>
                  </a:endParaRPr>
                </a:p>
              </p:txBody>
            </p:sp>
            <p:grpSp>
              <p:nvGrpSpPr>
                <p:cNvPr id="517" name="Group 296"/>
                <p:cNvGrpSpPr/>
                <p:nvPr/>
              </p:nvGrpSpPr>
              <p:grpSpPr>
                <a:xfrm>
                  <a:off x="606389" y="1846065"/>
                  <a:ext cx="579292" cy="144016"/>
                  <a:chOff x="2550604" y="5013176"/>
                  <a:chExt cx="579292" cy="144016"/>
                </a:xfrm>
              </p:grpSpPr>
              <p:sp>
                <p:nvSpPr>
                  <p:cNvPr id="518" name="Rectangle 517"/>
                  <p:cNvSpPr/>
                  <p:nvPr/>
                </p:nvSpPr>
                <p:spPr bwMode="auto">
                  <a:xfrm>
                    <a:off x="2550604"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519" name="Rectangle 518"/>
                  <p:cNvSpPr/>
                  <p:nvPr/>
                </p:nvSpPr>
                <p:spPr bwMode="auto">
                  <a:xfrm>
                    <a:off x="2841864"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522" name="Group 521"/>
              <p:cNvGrpSpPr/>
              <p:nvPr/>
            </p:nvGrpSpPr>
            <p:grpSpPr>
              <a:xfrm>
                <a:off x="8193875" y="1316249"/>
                <a:ext cx="579293" cy="433289"/>
                <a:chOff x="539552" y="1556792"/>
                <a:chExt cx="579293" cy="433289"/>
              </a:xfrm>
              <a:effectLst>
                <a:outerShdw blurRad="50800" dist="38100" dir="2700000" algn="tl" rotWithShape="0">
                  <a:prstClr val="black">
                    <a:alpha val="40000"/>
                  </a:prstClr>
                </a:outerShdw>
              </a:effectLst>
            </p:grpSpPr>
            <p:grpSp>
              <p:nvGrpSpPr>
                <p:cNvPr id="523" name="Group 287"/>
                <p:cNvGrpSpPr/>
                <p:nvPr/>
              </p:nvGrpSpPr>
              <p:grpSpPr>
                <a:xfrm>
                  <a:off x="539553" y="1700808"/>
                  <a:ext cx="579292" cy="144016"/>
                  <a:chOff x="2483768" y="5013176"/>
                  <a:chExt cx="579292" cy="144016"/>
                </a:xfrm>
              </p:grpSpPr>
              <p:sp>
                <p:nvSpPr>
                  <p:cNvPr id="528" name="Rectangle 527"/>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801</a:t>
                    </a:r>
                    <a:endParaRPr lang="en-US" sz="1200" dirty="0">
                      <a:solidFill>
                        <a:srgbClr val="336600"/>
                      </a:solidFill>
                      <a:latin typeface="Times New Roman" panose="02020603050405020304" pitchFamily="18" charset="0"/>
                    </a:endParaRPr>
                  </a:p>
                </p:txBody>
              </p:sp>
              <p:sp>
                <p:nvSpPr>
                  <p:cNvPr id="529" name="Rectangle 528"/>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solidFill>
                          <a:srgbClr val="336600"/>
                        </a:solidFill>
                        <a:latin typeface="Times New Roman" panose="02020603050405020304" pitchFamily="18" charset="0"/>
                      </a:rPr>
                      <a:t>-1</a:t>
                    </a:r>
                  </a:p>
                </p:txBody>
              </p:sp>
            </p:grpSp>
            <p:sp>
              <p:nvSpPr>
                <p:cNvPr id="524" name="Rectangle 523"/>
                <p:cNvSpPr/>
                <p:nvPr/>
              </p:nvSpPr>
              <p:spPr bwMode="auto">
                <a:xfrm>
                  <a:off x="539552" y="1556792"/>
                  <a:ext cx="578521"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a:t>
                  </a:r>
                  <a:endParaRPr lang="en-US" sz="1200" dirty="0">
                    <a:solidFill>
                      <a:srgbClr val="336600"/>
                    </a:solidFill>
                    <a:latin typeface="Times New Roman" panose="02020603050405020304" pitchFamily="18" charset="0"/>
                  </a:endParaRPr>
                </a:p>
              </p:txBody>
            </p:sp>
            <p:grpSp>
              <p:nvGrpSpPr>
                <p:cNvPr id="525" name="Group 296"/>
                <p:cNvGrpSpPr/>
                <p:nvPr/>
              </p:nvGrpSpPr>
              <p:grpSpPr>
                <a:xfrm>
                  <a:off x="539553" y="1846065"/>
                  <a:ext cx="579292" cy="144016"/>
                  <a:chOff x="2483768" y="5013176"/>
                  <a:chExt cx="579292" cy="144016"/>
                </a:xfrm>
              </p:grpSpPr>
              <p:sp>
                <p:nvSpPr>
                  <p:cNvPr id="526" name="Rectangle 525"/>
                  <p:cNvSpPr/>
                  <p:nvPr/>
                </p:nvSpPr>
                <p:spPr bwMode="auto">
                  <a:xfrm>
                    <a:off x="248376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sp>
                <p:nvSpPr>
                  <p:cNvPr id="527" name="Rectangle 526"/>
                  <p:cNvSpPr/>
                  <p:nvPr/>
                </p:nvSpPr>
                <p:spPr bwMode="auto">
                  <a:xfrm>
                    <a:off x="2775028" y="5013176"/>
                    <a:ext cx="288032" cy="144016"/>
                  </a:xfrm>
                  <a:prstGeom prst="rect">
                    <a:avLst/>
                  </a:prstGeom>
                  <a:solidFill>
                    <a:srgbClr val="CDF5C3"/>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endParaRPr lang="en-US" sz="1200" dirty="0">
                      <a:solidFill>
                        <a:srgbClr val="336600"/>
                      </a:solidFill>
                      <a:latin typeface="Times New Roman" panose="02020603050405020304" pitchFamily="18" charset="0"/>
                    </a:endParaRPr>
                  </a:p>
                </p:txBody>
              </p:sp>
            </p:grpSp>
          </p:grpSp>
          <p:grpSp>
            <p:nvGrpSpPr>
              <p:cNvPr id="351" name="Group 350"/>
              <p:cNvGrpSpPr/>
              <p:nvPr/>
            </p:nvGrpSpPr>
            <p:grpSpPr>
              <a:xfrm>
                <a:off x="8375379" y="1675184"/>
                <a:ext cx="589109" cy="354111"/>
                <a:chOff x="3848100" y="5091113"/>
                <a:chExt cx="589109" cy="354111"/>
              </a:xfrm>
            </p:grpSpPr>
            <p:sp>
              <p:nvSpPr>
                <p:cNvPr id="346" name="Arc 345"/>
                <p:cNvSpPr/>
                <p:nvPr/>
              </p:nvSpPr>
              <p:spPr bwMode="auto">
                <a:xfrm>
                  <a:off x="3848100" y="5091113"/>
                  <a:ext cx="495300" cy="354111"/>
                </a:xfrm>
                <a:prstGeom prst="arc">
                  <a:avLst>
                    <a:gd name="adj1" fmla="val 16200000"/>
                    <a:gd name="adj2" fmla="val 478342"/>
                  </a:avLst>
                </a:prstGeom>
                <a:noFill/>
                <a:ln w="25400" cap="flat" cmpd="sng" algn="ctr">
                  <a:solidFill>
                    <a:schemeClr val="bg1">
                      <a:lumMod val="50000"/>
                    </a:schemeClr>
                  </a:solidFill>
                  <a:prstDash val="solid"/>
                  <a:round/>
                  <a:headEnd type="oval" w="med" len="med"/>
                  <a:tailEnd type="triangl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grpSp>
              <p:nvGrpSpPr>
                <p:cNvPr id="347" name="Group 169"/>
                <p:cNvGrpSpPr/>
                <p:nvPr/>
              </p:nvGrpSpPr>
              <p:grpSpPr>
                <a:xfrm>
                  <a:off x="4245037" y="5320256"/>
                  <a:ext cx="192172" cy="96686"/>
                  <a:chOff x="7871053" y="5359611"/>
                  <a:chExt cx="268104" cy="109310"/>
                </a:xfrm>
                <a:effectLst>
                  <a:outerShdw blurRad="50800" dist="38100" dir="2700000" algn="tl" rotWithShape="0">
                    <a:prstClr val="black">
                      <a:alpha val="40000"/>
                    </a:prstClr>
                  </a:outerShdw>
                </a:effectLst>
              </p:grpSpPr>
              <p:sp>
                <p:nvSpPr>
                  <p:cNvPr id="348" name="Line 26"/>
                  <p:cNvSpPr>
                    <a:spLocks noChangeShapeType="1"/>
                  </p:cNvSpPr>
                  <p:nvPr/>
                </p:nvSpPr>
                <p:spPr bwMode="auto">
                  <a:xfrm>
                    <a:off x="7871053" y="5359611"/>
                    <a:ext cx="268104"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349" name="Line 27"/>
                  <p:cNvSpPr>
                    <a:spLocks noChangeShapeType="1"/>
                  </p:cNvSpPr>
                  <p:nvPr/>
                </p:nvSpPr>
                <p:spPr bwMode="auto">
                  <a:xfrm>
                    <a:off x="7934136" y="5412865"/>
                    <a:ext cx="169536"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sp>
                <p:nvSpPr>
                  <p:cNvPr id="350" name="Line 28"/>
                  <p:cNvSpPr>
                    <a:spLocks noChangeShapeType="1"/>
                  </p:cNvSpPr>
                  <p:nvPr/>
                </p:nvSpPr>
                <p:spPr bwMode="auto">
                  <a:xfrm>
                    <a:off x="7971592" y="5468921"/>
                    <a:ext cx="102510" cy="0"/>
                  </a:xfrm>
                  <a:prstGeom prst="line">
                    <a:avLst/>
                  </a:prstGeom>
                  <a:noFill/>
                  <a:ln w="28575">
                    <a:solidFill>
                      <a:schemeClr val="bg2"/>
                    </a:solidFill>
                    <a:round/>
                    <a:headEnd/>
                    <a:tailEnd/>
                  </a:ln>
                </p:spPr>
                <p:txBody>
                  <a:bodyPr/>
                  <a:lstStyle/>
                  <a:p>
                    <a:pPr>
                      <a:buClr>
                        <a:srgbClr val="006600"/>
                      </a:buClr>
                    </a:pPr>
                    <a:endParaRPr lang="en-US" sz="1200" dirty="0">
                      <a:latin typeface="Times New Roman" panose="02020603050405020304" pitchFamily="18" charset="0"/>
                    </a:endParaRPr>
                  </a:p>
                </p:txBody>
              </p:sp>
            </p:grpSp>
          </p:grpSp>
          <p:sp>
            <p:nvSpPr>
              <p:cNvPr id="551" name="Freeform 550"/>
              <p:cNvSpPr/>
              <p:nvPr/>
            </p:nvSpPr>
            <p:spPr bwMode="auto">
              <a:xfrm rot="16200000">
                <a:off x="5613181" y="1264719"/>
                <a:ext cx="170909" cy="648072"/>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552" name="Freeform 551"/>
              <p:cNvSpPr/>
              <p:nvPr/>
            </p:nvSpPr>
            <p:spPr bwMode="auto">
              <a:xfrm rot="16200000">
                <a:off x="6690673" y="1256834"/>
                <a:ext cx="170909" cy="663840"/>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553" name="Freeform 552"/>
              <p:cNvSpPr/>
              <p:nvPr/>
            </p:nvSpPr>
            <p:spPr bwMode="auto">
              <a:xfrm rot="16200000">
                <a:off x="7773401" y="1257587"/>
                <a:ext cx="184822" cy="649968"/>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581" name="Freeform 580"/>
              <p:cNvSpPr/>
              <p:nvPr/>
            </p:nvSpPr>
            <p:spPr bwMode="auto">
              <a:xfrm>
                <a:off x="8342456" y="1680109"/>
                <a:ext cx="189984" cy="1300483"/>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45" name="Freeform 244"/>
              <p:cNvSpPr/>
              <p:nvPr/>
            </p:nvSpPr>
            <p:spPr bwMode="auto">
              <a:xfrm>
                <a:off x="7259252" y="1680202"/>
                <a:ext cx="193068" cy="2150850"/>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47" name="Freeform 246"/>
              <p:cNvSpPr/>
              <p:nvPr/>
            </p:nvSpPr>
            <p:spPr bwMode="auto">
              <a:xfrm>
                <a:off x="6168820" y="1665012"/>
                <a:ext cx="162908" cy="1338808"/>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48" name="Freeform 247"/>
              <p:cNvSpPr/>
              <p:nvPr/>
            </p:nvSpPr>
            <p:spPr bwMode="auto">
              <a:xfrm>
                <a:off x="5086615" y="1670269"/>
                <a:ext cx="107177" cy="480314"/>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grpSp>
      </p:grpSp>
      <p:sp>
        <p:nvSpPr>
          <p:cNvPr id="321" name="TextBox 320"/>
          <p:cNvSpPr txBox="1"/>
          <p:nvPr/>
        </p:nvSpPr>
        <p:spPr>
          <a:xfrm>
            <a:off x="3659603" y="1331828"/>
            <a:ext cx="1224136" cy="400110"/>
          </a:xfrm>
          <a:prstGeom prst="rect">
            <a:avLst/>
          </a:prstGeom>
          <a:noFill/>
        </p:spPr>
        <p:txBody>
          <a:bodyPr wrap="square" rtlCol="0">
            <a:spAutoFit/>
          </a:bodyPr>
          <a:lstStyle/>
          <a:p>
            <a:pPr algn="ctr">
              <a:buClr>
                <a:srgbClr val="006600"/>
              </a:buClr>
              <a:buNone/>
            </a:pPr>
            <a:r>
              <a:rPr lang="en-US" sz="2000" dirty="0">
                <a:solidFill>
                  <a:schemeClr val="bg1"/>
                </a:solidFill>
                <a:latin typeface="Times New Roman" panose="02020603050405020304" pitchFamily="18" charset="0"/>
                <a:cs typeface="Times New Roman" panose="02020603050405020304" pitchFamily="18" charset="0"/>
              </a:rPr>
              <a:t>start</a:t>
            </a:r>
          </a:p>
        </p:txBody>
      </p:sp>
      <p:sp>
        <p:nvSpPr>
          <p:cNvPr id="322" name="Freeform 321"/>
          <p:cNvSpPr/>
          <p:nvPr/>
        </p:nvSpPr>
        <p:spPr bwMode="auto">
          <a:xfrm rot="16200000">
            <a:off x="4921509" y="1185767"/>
            <a:ext cx="184666" cy="718459"/>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325" name="arrow to 152,-1"/>
          <p:cNvSpPr/>
          <p:nvPr/>
        </p:nvSpPr>
        <p:spPr bwMode="auto">
          <a:xfrm>
            <a:off x="3647728" y="1628800"/>
            <a:ext cx="2016224" cy="936104"/>
          </a:xfrm>
          <a:prstGeom prst="arc">
            <a:avLst>
              <a:gd name="adj1" fmla="val 16200000"/>
              <a:gd name="adj2" fmla="val 161368"/>
            </a:avLst>
          </a:prstGeom>
          <a:noFill/>
          <a:ln w="28575" cap="flat" cmpd="sng" algn="ctr">
            <a:solidFill>
              <a:srgbClr val="FFC000"/>
            </a:solidFill>
            <a:prstDash val="solid"/>
            <a:round/>
            <a:headEnd type="oval" w="med" len="med"/>
            <a:tailEnd type="triangle" w="lg"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335" name="Freeform 334"/>
          <p:cNvSpPr/>
          <p:nvPr/>
        </p:nvSpPr>
        <p:spPr bwMode="auto">
          <a:xfrm rot="16200000">
            <a:off x="8211700" y="4601274"/>
            <a:ext cx="170909" cy="657891"/>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366" name="Freeform 365"/>
          <p:cNvSpPr/>
          <p:nvPr/>
        </p:nvSpPr>
        <p:spPr bwMode="auto">
          <a:xfrm>
            <a:off x="8770952" y="4171509"/>
            <a:ext cx="170909" cy="478002"/>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254" name="headers are not elements"/>
          <p:cNvSpPr>
            <a:spLocks noChangeArrowheads="1"/>
          </p:cNvSpPr>
          <p:nvPr/>
        </p:nvSpPr>
        <p:spPr bwMode="auto">
          <a:xfrm>
            <a:off x="1598670" y="1785338"/>
            <a:ext cx="2723502" cy="2876677"/>
          </a:xfrm>
          <a:prstGeom prst="wedgeRoundRectCallout">
            <a:avLst>
              <a:gd name="adj1" fmla="val 70677"/>
              <a:gd name="adj2" fmla="val -43068"/>
              <a:gd name="adj3" fmla="val 16667"/>
            </a:avLst>
          </a:prstGeom>
          <a:solidFill>
            <a:srgbClr val="00B0F0"/>
          </a:solidFill>
          <a:ln w="9360">
            <a:solidFill>
              <a:srgbClr val="0000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tIns="46800" rIns="0" bIns="46800" anchor="ctr"/>
          <a:lstStyle/>
          <a:p>
            <a:pPr>
              <a:spcBef>
                <a:spcPts val="1250"/>
              </a:spcBef>
              <a:buClr>
                <a:srgbClr val="006600"/>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400" dirty="0">
                <a:latin typeface="Times New Roman" panose="02020603050405020304" pitchFamily="18" charset="0"/>
              </a:rPr>
              <a:t>Note that these header nodes are not elements of the sparse matrix from the mathematical standpoint</a:t>
            </a:r>
          </a:p>
        </p:txBody>
      </p:sp>
      <p:sp>
        <p:nvSpPr>
          <p:cNvPr id="282" name="882,713"/>
          <p:cNvSpPr/>
          <p:nvPr/>
        </p:nvSpPr>
        <p:spPr bwMode="auto">
          <a:xfrm>
            <a:off x="8635329" y="4662016"/>
            <a:ext cx="575494" cy="433859"/>
          </a:xfrm>
          <a:prstGeom prst="rect">
            <a:avLst/>
          </a:prstGeom>
          <a:solidFill>
            <a:srgbClr val="EBFCE8"/>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174625" indent="-174625" algn="ctr" defTabSz="914400" fontAlgn="base">
              <a:lnSpc>
                <a:spcPct val="90000"/>
              </a:lnSpc>
              <a:spcBef>
                <a:spcPct val="20000"/>
              </a:spcBef>
              <a:spcAft>
                <a:spcPct val="0"/>
              </a:spcAft>
              <a:buClr>
                <a:srgbClr val="006600"/>
              </a:buClr>
            </a:pPr>
            <a:r>
              <a:rPr lang="en-US" sz="1200" dirty="0">
                <a:latin typeface="Times New Roman" panose="02020603050405020304" pitchFamily="18" charset="0"/>
              </a:rPr>
              <a:t>0.05</a:t>
            </a:r>
          </a:p>
          <a:p>
            <a:pPr marL="174625" indent="-174625" algn="ctr" defTabSz="914400" fontAlgn="base">
              <a:lnSpc>
                <a:spcPts val="800"/>
              </a:lnSpc>
              <a:spcBef>
                <a:spcPct val="20000"/>
              </a:spcBef>
              <a:spcAft>
                <a:spcPct val="0"/>
              </a:spcAft>
              <a:buClr>
                <a:srgbClr val="006600"/>
              </a:buClr>
            </a:pPr>
            <a:r>
              <a:rPr lang="en-US" sz="1200" dirty="0">
                <a:latin typeface="Times New Roman" panose="02020603050405020304" pitchFamily="18" charset="0"/>
              </a:rPr>
              <a:t>713 882</a:t>
            </a:r>
          </a:p>
        </p:txBody>
      </p:sp>
      <p:cxnSp>
        <p:nvCxnSpPr>
          <p:cNvPr id="284" name="882,713 Straight Connector 283"/>
          <p:cNvCxnSpPr/>
          <p:nvPr/>
        </p:nvCxnSpPr>
        <p:spPr bwMode="auto">
          <a:xfrm rot="10800000" flipH="1">
            <a:off x="8635329" y="4951330"/>
            <a:ext cx="575494" cy="0"/>
          </a:xfrm>
          <a:prstGeom prst="line">
            <a:avLst/>
          </a:prstGeom>
          <a:noFill/>
          <a:ln w="9525" cap="flat" cmpd="sng" algn="ctr">
            <a:solidFill>
              <a:schemeClr val="tx1"/>
            </a:solidFill>
            <a:prstDash val="solid"/>
            <a:round/>
            <a:headEnd type="none" w="med" len="med"/>
            <a:tailEnd type="none" w="med" len="med"/>
          </a:ln>
          <a:effectLst/>
        </p:spPr>
      </p:cxnSp>
      <p:cxnSp>
        <p:nvCxnSpPr>
          <p:cNvPr id="286" name="882,713 Straight Connector 285"/>
          <p:cNvCxnSpPr/>
          <p:nvPr/>
        </p:nvCxnSpPr>
        <p:spPr bwMode="auto">
          <a:xfrm rot="10800000" flipH="1">
            <a:off x="8635328" y="4804295"/>
            <a:ext cx="575494" cy="0"/>
          </a:xfrm>
          <a:prstGeom prst="line">
            <a:avLst/>
          </a:prstGeom>
          <a:noFill/>
          <a:ln w="9525" cap="flat" cmpd="sng" algn="ctr">
            <a:solidFill>
              <a:schemeClr val="tx1"/>
            </a:solidFill>
            <a:prstDash val="solid"/>
            <a:round/>
            <a:headEnd type="none" w="med" len="med"/>
            <a:tailEnd type="none" w="med" len="med"/>
          </a:ln>
          <a:effectLst/>
        </p:spPr>
      </p:cxnSp>
      <p:cxnSp>
        <p:nvCxnSpPr>
          <p:cNvPr id="318" name="882,713 Straight Connector 317"/>
          <p:cNvCxnSpPr/>
          <p:nvPr/>
        </p:nvCxnSpPr>
        <p:spPr bwMode="auto">
          <a:xfrm rot="5400000">
            <a:off x="8775340" y="4948522"/>
            <a:ext cx="291083" cy="0"/>
          </a:xfrm>
          <a:prstGeom prst="line">
            <a:avLst/>
          </a:prstGeom>
          <a:noFill/>
          <a:ln w="9525" cap="flat" cmpd="sng" algn="ctr">
            <a:solidFill>
              <a:schemeClr val="tx1"/>
            </a:solidFill>
            <a:prstDash val="solid"/>
            <a:round/>
            <a:headEnd type="none" w="med" len="med"/>
            <a:tailEnd type="none" w="med" len="med"/>
          </a:ln>
          <a:effectLst/>
        </p:spPr>
      </p:cxnSp>
      <p:sp>
        <p:nvSpPr>
          <p:cNvPr id="367" name="Freeform 366"/>
          <p:cNvSpPr/>
          <p:nvPr/>
        </p:nvSpPr>
        <p:spPr bwMode="auto">
          <a:xfrm>
            <a:off x="8762906" y="5020456"/>
            <a:ext cx="170909" cy="478002"/>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362" name="Freeform 361"/>
          <p:cNvSpPr/>
          <p:nvPr/>
        </p:nvSpPr>
        <p:spPr bwMode="auto">
          <a:xfrm rot="16200000">
            <a:off x="9295599" y="4609185"/>
            <a:ext cx="178141" cy="661888"/>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
        <p:nvSpPr>
          <p:cNvPr id="316" name="Freeform 315"/>
          <p:cNvSpPr/>
          <p:nvPr/>
        </p:nvSpPr>
        <p:spPr bwMode="auto">
          <a:xfrm>
            <a:off x="8780630" y="4175635"/>
            <a:ext cx="195691" cy="1316128"/>
          </a:xfrm>
          <a:custGeom>
            <a:avLst/>
            <a:gdLst>
              <a:gd name="connsiteX0" fmla="*/ 13189 w 106974"/>
              <a:gd name="connsiteY0" fmla="*/ 0 h 483577"/>
              <a:gd name="connsiteX1" fmla="*/ 13189 w 106974"/>
              <a:gd name="connsiteY1" fmla="*/ 123092 h 483577"/>
              <a:gd name="connsiteX2" fmla="*/ 92320 w 106974"/>
              <a:gd name="connsiteY2" fmla="*/ 219807 h 483577"/>
              <a:gd name="connsiteX3" fmla="*/ 101112 w 106974"/>
              <a:gd name="connsiteY3" fmla="*/ 483577 h 483577"/>
              <a:gd name="connsiteX0" fmla="*/ 14654 w 102577"/>
              <a:gd name="connsiteY0" fmla="*/ 0 h 483577"/>
              <a:gd name="connsiteX1" fmla="*/ 14654 w 102577"/>
              <a:gd name="connsiteY1" fmla="*/ 123092 h 483577"/>
              <a:gd name="connsiteX2" fmla="*/ 102577 w 102577"/>
              <a:gd name="connsiteY2" fmla="*/ 483577 h 483577"/>
              <a:gd name="connsiteX0" fmla="*/ 6595 w 107115"/>
              <a:gd name="connsiteY0" fmla="*/ 0 h 483577"/>
              <a:gd name="connsiteX1" fmla="*/ 92461 w 107115"/>
              <a:gd name="connsiteY1" fmla="*/ 208854 h 483577"/>
              <a:gd name="connsiteX2" fmla="*/ 94518 w 107115"/>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4327"/>
              <a:gd name="connsiteY0" fmla="*/ 0 h 483577"/>
              <a:gd name="connsiteX1" fmla="*/ 89673 w 104327"/>
              <a:gd name="connsiteY1" fmla="*/ 208854 h 483577"/>
              <a:gd name="connsiteX2" fmla="*/ 91730 w 104327"/>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43194"/>
              <a:gd name="connsiteY0" fmla="*/ 0 h 483577"/>
              <a:gd name="connsiteX1" fmla="*/ 89673 w 143194"/>
              <a:gd name="connsiteY1" fmla="*/ 208854 h 483577"/>
              <a:gd name="connsiteX2" fmla="*/ 91730 w 143194"/>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9659"/>
              <a:gd name="connsiteY0" fmla="*/ 0 h 483577"/>
              <a:gd name="connsiteX1" fmla="*/ 89673 w 109659"/>
              <a:gd name="connsiteY1" fmla="*/ 208854 h 483577"/>
              <a:gd name="connsiteX2" fmla="*/ 91730 w 109659"/>
              <a:gd name="connsiteY2" fmla="*/ 483577 h 483577"/>
              <a:gd name="connsiteX0" fmla="*/ 3807 w 101291"/>
              <a:gd name="connsiteY0" fmla="*/ 0 h 483577"/>
              <a:gd name="connsiteX1" fmla="*/ 89673 w 101291"/>
              <a:gd name="connsiteY1" fmla="*/ 208854 h 483577"/>
              <a:gd name="connsiteX2" fmla="*/ 91730 w 101291"/>
              <a:gd name="connsiteY2" fmla="*/ 483577 h 483577"/>
              <a:gd name="connsiteX0" fmla="*/ 3807 w 170909"/>
              <a:gd name="connsiteY0" fmla="*/ 0 h 483577"/>
              <a:gd name="connsiteX1" fmla="*/ 89673 w 170909"/>
              <a:gd name="connsiteY1" fmla="*/ 208854 h 483577"/>
              <a:gd name="connsiteX2" fmla="*/ 91730 w 170909"/>
              <a:gd name="connsiteY2" fmla="*/ 483577 h 483577"/>
              <a:gd name="connsiteX0" fmla="*/ 3807 w 170909"/>
              <a:gd name="connsiteY0" fmla="*/ 0 h 478002"/>
              <a:gd name="connsiteX1" fmla="*/ 89673 w 170909"/>
              <a:gd name="connsiteY1" fmla="*/ 208854 h 478002"/>
              <a:gd name="connsiteX2" fmla="*/ 158637 w 170909"/>
              <a:gd name="connsiteY2" fmla="*/ 478002 h 478002"/>
              <a:gd name="connsiteX0" fmla="*/ 3807 w 170909"/>
              <a:gd name="connsiteY0" fmla="*/ 0 h 478002"/>
              <a:gd name="connsiteX1" fmla="*/ 89673 w 170909"/>
              <a:gd name="connsiteY1" fmla="*/ 208854 h 478002"/>
              <a:gd name="connsiteX2" fmla="*/ 158637 w 170909"/>
              <a:gd name="connsiteY2" fmla="*/ 478002 h 478002"/>
            </a:gdLst>
            <a:ahLst/>
            <a:cxnLst>
              <a:cxn ang="0">
                <a:pos x="connsiteX0" y="connsiteY0"/>
              </a:cxn>
              <a:cxn ang="0">
                <a:pos x="connsiteX1" y="connsiteY1"/>
              </a:cxn>
              <a:cxn ang="0">
                <a:pos x="connsiteX2" y="connsiteY2"/>
              </a:cxn>
            </a:cxnLst>
            <a:rect l="l" t="t" r="r" b="b"/>
            <a:pathLst>
              <a:path w="170909" h="478002">
                <a:moveTo>
                  <a:pt x="3807" y="0"/>
                </a:moveTo>
                <a:cubicBezTo>
                  <a:pt x="0" y="140802"/>
                  <a:pt x="42767" y="168755"/>
                  <a:pt x="89673" y="208854"/>
                </a:cubicBezTo>
                <a:cubicBezTo>
                  <a:pt x="170909" y="277144"/>
                  <a:pt x="159835" y="313691"/>
                  <a:pt x="158637" y="478002"/>
                </a:cubicBezTo>
              </a:path>
            </a:pathLst>
          </a:custGeom>
          <a:noFill/>
          <a:ln w="25400" cap="flat" cmpd="sng" algn="ctr">
            <a:solidFill>
              <a:srgbClr val="FFCC00"/>
            </a:solidFill>
            <a:prstDash val="solid"/>
            <a:round/>
            <a:headEnd type="oval" w="med" len="med"/>
            <a:tailEnd type="triangle" w="lg" len="lg"/>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174625" indent="-174625" algn="just" defTabSz="914400" fontAlgn="base">
              <a:lnSpc>
                <a:spcPct val="90000"/>
              </a:lnSpc>
              <a:spcBef>
                <a:spcPct val="20000"/>
              </a:spcBef>
              <a:spcAft>
                <a:spcPct val="0"/>
              </a:spcAft>
              <a:buClr>
                <a:srgbClr val="006600"/>
              </a:buClr>
              <a:buFont typeface="Wingdings" pitchFamily="2" charset="2"/>
              <a:buChar char="§"/>
            </a:pPr>
            <a:endParaRPr lang="en-US" sz="2400" dirty="0">
              <a:solidFill>
                <a:srgbClr val="336600"/>
              </a:solidFill>
              <a:latin typeface="Times New Roman" panose="02020603050405020304" pitchFamily="18" charset="0"/>
            </a:endParaRPr>
          </a:p>
        </p:txBody>
      </p:sp>
    </p:spTree>
    <p:extLst>
      <p:ext uri="{BB962C8B-B14F-4D97-AF65-F5344CB8AC3E}">
        <p14:creationId xmlns:p14="http://schemas.microsoft.com/office/powerpoint/2010/main" val="386474257"/>
      </p:ext>
    </p:extLst>
  </p:cSld>
  <p:clrMapOvr>
    <a:masterClrMapping/>
  </p:clrMapOvr>
  <p:transition spd="slow">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dirty="0">
                <a:solidFill>
                  <a:srgbClr val="FFFFFF"/>
                </a:solidFill>
              </a:rPr>
              <a:t>Questions?</a:t>
            </a: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324614" y="784859"/>
            <a:ext cx="7498616" cy="5676901"/>
          </a:xfrm>
          <a:prstGeom prst="rect">
            <a:avLst/>
          </a:prstGeom>
        </p:spPr>
      </p:pic>
      <p:sp>
        <p:nvSpPr>
          <p:cNvPr id="3" name="TextBox 2">
            <a:extLst>
              <a:ext uri="{FF2B5EF4-FFF2-40B4-BE49-F238E27FC236}">
                <a16:creationId xmlns:a16="http://schemas.microsoft.com/office/drawing/2014/main" id="{38D01B49-E309-CC64-A7CA-D6911B3FCE0E}"/>
              </a:ext>
            </a:extLst>
          </p:cNvPr>
          <p:cNvSpPr txBox="1"/>
          <p:nvPr/>
        </p:nvSpPr>
        <p:spPr>
          <a:xfrm>
            <a:off x="8059752" y="4253229"/>
            <a:ext cx="3554621" cy="769441"/>
          </a:xfrm>
          <a:prstGeom prst="rect">
            <a:avLst/>
          </a:prstGeom>
          <a:noFill/>
        </p:spPr>
        <p:txBody>
          <a:bodyPr wrap="square" rtlCol="0">
            <a:spAutoFit/>
          </a:bodyPr>
          <a:lstStyle/>
          <a:p>
            <a:r>
              <a:rPr lang="en-US" sz="4400" dirty="0">
                <a:solidFill>
                  <a:schemeClr val="bg1"/>
                </a:solidFill>
              </a:rPr>
              <a:t>Questions</a:t>
            </a:r>
          </a:p>
        </p:txBody>
      </p:sp>
    </p:spTree>
    <p:extLst>
      <p:ext uri="{BB962C8B-B14F-4D97-AF65-F5344CB8AC3E}">
        <p14:creationId xmlns:p14="http://schemas.microsoft.com/office/powerpoint/2010/main" val="35013474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2ADBB-00B6-22B6-DE25-DD3F68CB63FA}"/>
            </a:ext>
          </a:extLst>
        </p:cNvPr>
        <p:cNvGrpSpPr/>
        <p:nvPr/>
      </p:nvGrpSpPr>
      <p:grpSpPr>
        <a:xfrm>
          <a:off x="0" y="0"/>
          <a:ext cx="0" cy="0"/>
          <a:chOff x="0" y="0"/>
          <a:chExt cx="0" cy="0"/>
        </a:xfrm>
      </p:grpSpPr>
      <p:sp>
        <p:nvSpPr>
          <p:cNvPr id="11268" name="Rectangle 2">
            <a:extLst>
              <a:ext uri="{FF2B5EF4-FFF2-40B4-BE49-F238E27FC236}">
                <a16:creationId xmlns:a16="http://schemas.microsoft.com/office/drawing/2014/main" id="{F5C1968D-A49B-7232-7761-C41909DCDCCA}"/>
              </a:ext>
            </a:extLst>
          </p:cNvPr>
          <p:cNvSpPr>
            <a:spLocks noGrp="1" noChangeArrowheads="1"/>
          </p:cNvSpPr>
          <p:nvPr>
            <p:ph type="title"/>
          </p:nvPr>
        </p:nvSpPr>
        <p:spPr/>
        <p:txBody>
          <a:bodyPr>
            <a:normAutofit/>
          </a:bodyPr>
          <a:lstStyle/>
          <a:p>
            <a:pPr eaLnBrk="1" hangingPunct="1"/>
            <a:r>
              <a:rPr lang="en-US" altLang="en-US" sz="4800" dirty="0">
                <a:latin typeface="Times New Roman" panose="02020603050405020304" pitchFamily="18" charset="0"/>
                <a:cs typeface="Times New Roman" panose="02020603050405020304" pitchFamily="18" charset="0"/>
              </a:rPr>
              <a:t>In Class Exercise</a:t>
            </a:r>
          </a:p>
        </p:txBody>
      </p:sp>
      <p:sp>
        <p:nvSpPr>
          <p:cNvPr id="2" name="Content Placeholder 1">
            <a:extLst>
              <a:ext uri="{FF2B5EF4-FFF2-40B4-BE49-F238E27FC236}">
                <a16:creationId xmlns:a16="http://schemas.microsoft.com/office/drawing/2014/main" id="{C43CECAF-425E-BC9E-6E18-2A03E61C7762}"/>
              </a:ext>
            </a:extLst>
          </p:cNvPr>
          <p:cNvSpPr>
            <a:spLocks noGrp="1"/>
          </p:cNvSpPr>
          <p:nvPr>
            <p:ph idx="1"/>
          </p:nvPr>
        </p:nvSpPr>
        <p:spPr>
          <a:xfrm>
            <a:off x="386080" y="1981200"/>
            <a:ext cx="11224728" cy="4876800"/>
          </a:xfrm>
        </p:spPr>
        <p:txBody>
          <a:bodyPr anchor="t" anchorCtr="0">
            <a:normAutofit fontScale="92500"/>
          </a:bodyPr>
          <a:lstStyle/>
          <a:p>
            <a:pPr>
              <a:buFont typeface="Wingdings" pitchFamily="2" charset="2"/>
              <a:buChar char="Ø"/>
            </a:pPr>
            <a:r>
              <a:rPr lang="en-US" altLang="en-US" sz="2800" dirty="0"/>
              <a:t>Start with the Circular List code on Canvas.  Note: the use of the double pointer:</a:t>
            </a:r>
          </a:p>
          <a:p>
            <a:pPr marL="324000" lvl="1" indent="0">
              <a:buNone/>
            </a:pPr>
            <a:r>
              <a:rPr lang="en-US" altLang="en-US" sz="2600" dirty="0">
                <a:solidFill>
                  <a:srgbClr val="0070C0"/>
                </a:solidFill>
              </a:rPr>
              <a:t>void insertEnd(struct Node** head, int data) {</a:t>
            </a:r>
            <a:endParaRPr lang="en-US" altLang="en-US" sz="2800" dirty="0"/>
          </a:p>
          <a:p>
            <a:pPr>
              <a:buFont typeface="Wingdings" pitchFamily="2" charset="2"/>
              <a:buChar char="§"/>
            </a:pPr>
            <a:r>
              <a:rPr lang="en-US" sz="2800" dirty="0"/>
              <a:t>In C, when a pointer is passed to a function, the function gets a copy of that pointer. If you need to modify the original pointer (e.g., updating the head of the list), you need to pass a pointer to that pointer (i.e., a double pointer).</a:t>
            </a:r>
          </a:p>
          <a:p>
            <a:pPr>
              <a:buFont typeface="Wingdings" pitchFamily="2" charset="2"/>
              <a:buChar char="§"/>
            </a:pPr>
            <a:r>
              <a:rPr lang="en-US" sz="2800" dirty="0"/>
              <a:t>By using a double pointer, the insertEnd function can change the head of the list, which is necessary when inserting the first node into an empty list.</a:t>
            </a:r>
          </a:p>
          <a:p>
            <a:pPr marL="0" indent="0">
              <a:buNone/>
            </a:pPr>
            <a:endParaRPr lang="en-US" altLang="en-US" sz="2800" dirty="0">
              <a:solidFill>
                <a:srgbClr val="FF0000"/>
              </a:solidFill>
            </a:endParaRPr>
          </a:p>
          <a:p>
            <a:pPr marL="0" indent="0">
              <a:buNone/>
            </a:pPr>
            <a:r>
              <a:rPr lang="en-US" altLang="en-US" sz="2800" dirty="0">
                <a:solidFill>
                  <a:srgbClr val="FF0000"/>
                </a:solidFill>
              </a:rPr>
              <a:t>Give the Big-O time complexity for the insertEnd function.  Justify your answer.</a:t>
            </a:r>
          </a:p>
          <a:p>
            <a:pPr>
              <a:buFont typeface="Wingdings" pitchFamily="2" charset="2"/>
              <a:buChar char="Ø"/>
            </a:pPr>
            <a:endParaRPr lang="en-US" altLang="en-US" dirty="0"/>
          </a:p>
        </p:txBody>
      </p:sp>
    </p:spTree>
    <p:extLst>
      <p:ext uri="{BB962C8B-B14F-4D97-AF65-F5344CB8AC3E}">
        <p14:creationId xmlns:p14="http://schemas.microsoft.com/office/powerpoint/2010/main" val="11734516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p:txBody>
          <a:bodyPr>
            <a:normAutofit/>
          </a:bodyPr>
          <a:lstStyle/>
          <a:p>
            <a:pPr eaLnBrk="1" hangingPunct="1"/>
            <a:r>
              <a:rPr lang="en-US" altLang="en-US" sz="4800" dirty="0">
                <a:latin typeface="Times New Roman" panose="02020603050405020304" pitchFamily="18" charset="0"/>
                <a:cs typeface="Times New Roman" panose="02020603050405020304" pitchFamily="18" charset="0"/>
              </a:rPr>
              <a:t>In Class Exercise CHALLENGE </a:t>
            </a:r>
          </a:p>
        </p:txBody>
      </p:sp>
      <p:sp>
        <p:nvSpPr>
          <p:cNvPr id="2" name="Content Placeholder 1"/>
          <p:cNvSpPr>
            <a:spLocks noGrp="1"/>
          </p:cNvSpPr>
          <p:nvPr>
            <p:ph idx="1"/>
          </p:nvPr>
        </p:nvSpPr>
        <p:spPr>
          <a:xfrm>
            <a:off x="581192" y="1981200"/>
            <a:ext cx="11029616" cy="4114800"/>
          </a:xfrm>
        </p:spPr>
        <p:txBody>
          <a:bodyPr anchor="t" anchorCtr="0">
            <a:normAutofit fontScale="85000" lnSpcReduction="20000"/>
          </a:bodyPr>
          <a:lstStyle/>
          <a:p>
            <a:pPr>
              <a:buFont typeface="Wingdings" pitchFamily="2" charset="2"/>
              <a:buChar char="Ø"/>
            </a:pPr>
            <a:r>
              <a:rPr lang="en-US" altLang="en-US" sz="2800" dirty="0"/>
              <a:t>Create a function: removeInt</a:t>
            </a:r>
          </a:p>
          <a:p>
            <a:pPr marL="0" indent="0">
              <a:buNone/>
            </a:pPr>
            <a:r>
              <a:rPr lang="en-US" altLang="en-US" sz="2800" dirty="0">
                <a:solidFill>
                  <a:srgbClr val="0070C0"/>
                </a:solidFill>
              </a:rPr>
              <a:t>void removeNum(struct Node** head, int data) {</a:t>
            </a:r>
          </a:p>
          <a:p>
            <a:pPr marL="0" indent="0">
              <a:buNone/>
            </a:pPr>
            <a:endParaRPr lang="en-US" altLang="en-US" sz="2800" dirty="0">
              <a:solidFill>
                <a:srgbClr val="0070C0"/>
              </a:solidFill>
            </a:endParaRPr>
          </a:p>
          <a:p>
            <a:pPr marL="0" indent="0">
              <a:buNone/>
            </a:pPr>
            <a:r>
              <a:rPr lang="en-US" altLang="en-US" sz="2800" dirty="0">
                <a:solidFill>
                  <a:schemeClr val="tx1"/>
                </a:solidFill>
              </a:rPr>
              <a:t>that will remove the first occurrence of the data value from the circular list.</a:t>
            </a:r>
          </a:p>
          <a:p>
            <a:pPr marL="0" indent="0">
              <a:buNone/>
            </a:pPr>
            <a:r>
              <a:rPr lang="en-US" altLang="en-US" sz="2800" dirty="0">
                <a:solidFill>
                  <a:schemeClr val="tx1"/>
                </a:solidFill>
              </a:rPr>
              <a:t>In main, test:</a:t>
            </a:r>
          </a:p>
          <a:p>
            <a:pPr marL="514350" indent="-514350">
              <a:buAutoNum type="arabicParenR"/>
            </a:pPr>
            <a:r>
              <a:rPr lang="en-US" altLang="en-US" sz="2800" dirty="0">
                <a:solidFill>
                  <a:schemeClr val="tx1"/>
                </a:solidFill>
              </a:rPr>
              <a:t>Calling removeNum when the list is empty.</a:t>
            </a:r>
          </a:p>
          <a:p>
            <a:pPr marL="514350" indent="-514350">
              <a:buAutoNum type="arabicParenR"/>
            </a:pPr>
            <a:r>
              <a:rPr lang="en-US" altLang="en-US" sz="2800" dirty="0">
                <a:solidFill>
                  <a:schemeClr val="tx1"/>
                </a:solidFill>
              </a:rPr>
              <a:t>Calling removeNum when it means removing the only number in the list.</a:t>
            </a:r>
          </a:p>
          <a:p>
            <a:pPr marL="514350" indent="-514350">
              <a:buAutoNum type="arabicParenR"/>
            </a:pPr>
            <a:r>
              <a:rPr lang="en-US" altLang="en-US" sz="2800" dirty="0">
                <a:solidFill>
                  <a:schemeClr val="tx1"/>
                </a:solidFill>
              </a:rPr>
              <a:t>Calling removeNum when it means removing the 2</a:t>
            </a:r>
            <a:r>
              <a:rPr lang="en-US" altLang="en-US" sz="2800" baseline="30000" dirty="0">
                <a:solidFill>
                  <a:schemeClr val="tx1"/>
                </a:solidFill>
              </a:rPr>
              <a:t>nd</a:t>
            </a:r>
            <a:r>
              <a:rPr lang="en-US" altLang="en-US" sz="2800" dirty="0">
                <a:solidFill>
                  <a:schemeClr val="tx1"/>
                </a:solidFill>
              </a:rPr>
              <a:t> entry when there are 4 entries.</a:t>
            </a:r>
          </a:p>
          <a:p>
            <a:pPr marL="514350" indent="-514350">
              <a:buAutoNum type="arabicParenR"/>
            </a:pPr>
            <a:r>
              <a:rPr lang="en-US" altLang="en-US" sz="2800" dirty="0">
                <a:solidFill>
                  <a:schemeClr val="tx1"/>
                </a:solidFill>
              </a:rPr>
              <a:t>Calling removeNum with a number that is not actually in the list.</a:t>
            </a:r>
          </a:p>
          <a:p>
            <a:pPr>
              <a:buFont typeface="Wingdings" pitchFamily="2" charset="2"/>
              <a:buChar char="Ø"/>
            </a:pPr>
            <a:endParaRPr lang="en-US" altLang="en-US" sz="2800" dirty="0"/>
          </a:p>
        </p:txBody>
      </p:sp>
    </p:spTree>
    <p:extLst>
      <p:ext uri="{BB962C8B-B14F-4D97-AF65-F5344CB8AC3E}">
        <p14:creationId xmlns:p14="http://schemas.microsoft.com/office/powerpoint/2010/main" val="8922109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p:txBody>
          <a:bodyPr>
            <a:normAutofit/>
          </a:bodyPr>
          <a:lstStyle/>
          <a:p>
            <a:pPr eaLnBrk="1" hangingPunct="1"/>
            <a:r>
              <a:rPr lang="en-US" altLang="en-US" sz="4800" dirty="0">
                <a:latin typeface="Times New Roman" panose="02020603050405020304" pitchFamily="18" charset="0"/>
                <a:cs typeface="Times New Roman" panose="02020603050405020304" pitchFamily="18" charset="0"/>
              </a:rPr>
              <a:t>In Class Exercise CHALLENGE </a:t>
            </a:r>
          </a:p>
        </p:txBody>
      </p:sp>
      <p:sp>
        <p:nvSpPr>
          <p:cNvPr id="6" name="TextBox 5">
            <a:extLst>
              <a:ext uri="{FF2B5EF4-FFF2-40B4-BE49-F238E27FC236}">
                <a16:creationId xmlns:a16="http://schemas.microsoft.com/office/drawing/2014/main" id="{FC563D9B-9E8B-61A6-3BD6-57F14063CBCB}"/>
              </a:ext>
            </a:extLst>
          </p:cNvPr>
          <p:cNvSpPr txBox="1"/>
          <p:nvPr/>
        </p:nvSpPr>
        <p:spPr>
          <a:xfrm>
            <a:off x="581192" y="1779687"/>
            <a:ext cx="6103088" cy="5078313"/>
          </a:xfrm>
          <a:prstGeom prst="rect">
            <a:avLst/>
          </a:prstGeom>
          <a:noFill/>
        </p:spPr>
        <p:txBody>
          <a:bodyPr wrap="square">
            <a:spAutoFit/>
          </a:bodyPr>
          <a:lstStyle/>
          <a:p>
            <a:r>
              <a:rPr lang="en-US" dirty="0"/>
              <a:t>int main() {</a:t>
            </a:r>
          </a:p>
          <a:p>
            <a:r>
              <a:rPr lang="en-US" dirty="0"/>
              <a:t>    struct Node* head = NULL;</a:t>
            </a:r>
          </a:p>
          <a:p>
            <a:r>
              <a:rPr lang="en-US" dirty="0"/>
              <a:t>    removeNum(&amp;head, 4);</a:t>
            </a:r>
          </a:p>
          <a:p>
            <a:r>
              <a:rPr lang="en-US" dirty="0"/>
              <a:t>    insertEnd(&amp;head, 10);</a:t>
            </a:r>
          </a:p>
          <a:p>
            <a:r>
              <a:rPr lang="en-US" dirty="0"/>
              <a:t>    display(head);</a:t>
            </a:r>
          </a:p>
          <a:p>
            <a:r>
              <a:rPr lang="en-US" dirty="0"/>
              <a:t>    removeNum(&amp;head, 10);</a:t>
            </a:r>
          </a:p>
          <a:p>
            <a:r>
              <a:rPr lang="en-US" dirty="0"/>
              <a:t>    display(head);</a:t>
            </a:r>
          </a:p>
          <a:p>
            <a:r>
              <a:rPr lang="en-US" dirty="0"/>
              <a:t>    insertEnd(&amp;head, 20);</a:t>
            </a:r>
          </a:p>
          <a:p>
            <a:r>
              <a:rPr lang="en-US" dirty="0"/>
              <a:t>    display(head);</a:t>
            </a:r>
          </a:p>
          <a:p>
            <a:r>
              <a:rPr lang="en-US" dirty="0"/>
              <a:t>    insertEnd(&amp;head, 30);</a:t>
            </a:r>
          </a:p>
          <a:p>
            <a:r>
              <a:rPr lang="en-US" dirty="0"/>
              <a:t>    insertEnd(&amp;head, 40);</a:t>
            </a:r>
          </a:p>
          <a:p>
            <a:r>
              <a:rPr lang="en-US" dirty="0"/>
              <a:t>    removeNum(&amp;head, 30);</a:t>
            </a:r>
          </a:p>
          <a:p>
            <a:r>
              <a:rPr lang="en-US" dirty="0"/>
              <a:t>    display(head);</a:t>
            </a:r>
          </a:p>
          <a:p>
            <a:r>
              <a:rPr lang="en-US" dirty="0"/>
              <a:t>    removeNum(&amp;head, 35);</a:t>
            </a:r>
          </a:p>
          <a:p>
            <a:r>
              <a:rPr lang="en-US" dirty="0"/>
              <a:t>    display(head);</a:t>
            </a:r>
          </a:p>
          <a:p>
            <a:endParaRPr lang="en-US" dirty="0"/>
          </a:p>
          <a:p>
            <a:r>
              <a:rPr lang="en-US" dirty="0"/>
              <a:t>    return 0;</a:t>
            </a:r>
          </a:p>
          <a:p>
            <a:r>
              <a:rPr lang="en-US" dirty="0"/>
              <a:t>}</a:t>
            </a:r>
          </a:p>
        </p:txBody>
      </p:sp>
      <p:pic>
        <p:nvPicPr>
          <p:cNvPr id="8" name="Picture 7" descr="A black and white screen with white text&#10;&#10;Description automatically generated">
            <a:extLst>
              <a:ext uri="{FF2B5EF4-FFF2-40B4-BE49-F238E27FC236}">
                <a16:creationId xmlns:a16="http://schemas.microsoft.com/office/drawing/2014/main" id="{B204055D-44E5-B30E-A97B-9EEC66FABF2E}"/>
              </a:ext>
            </a:extLst>
          </p:cNvPr>
          <p:cNvPicPr>
            <a:picLocks noChangeAspect="1"/>
          </p:cNvPicPr>
          <p:nvPr/>
        </p:nvPicPr>
        <p:blipFill>
          <a:blip r:embed="rId3"/>
          <a:stretch>
            <a:fillRect/>
          </a:stretch>
        </p:blipFill>
        <p:spPr>
          <a:xfrm>
            <a:off x="4468923" y="1903544"/>
            <a:ext cx="7682430" cy="3965627"/>
          </a:xfrm>
          <a:prstGeom prst="rect">
            <a:avLst/>
          </a:prstGeom>
        </p:spPr>
      </p:pic>
    </p:spTree>
    <p:extLst>
      <p:ext uri="{BB962C8B-B14F-4D97-AF65-F5344CB8AC3E}">
        <p14:creationId xmlns:p14="http://schemas.microsoft.com/office/powerpoint/2010/main" val="3771295869"/>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791575F-4C21-47C4-8D13-EB9BE66B536F}">
  <ds:schemaRefs>
    <ds:schemaRef ds:uri="http://schemas.microsoft.com/sharepoint/v3"/>
    <ds:schemaRef ds:uri="230e9df3-be65-4c73-a93b-d1236ebd677e"/>
    <ds:schemaRef ds:uri="http://purl.org/dc/terms/"/>
    <ds:schemaRef ds:uri="http://schemas.openxmlformats.org/package/2006/metadata/core-properties"/>
    <ds:schemaRef ds:uri="16c05727-aa75-4e4a-9b5f-8a80a1165891"/>
    <ds:schemaRef ds:uri="http://purl.org/dc/dcmitype/"/>
    <ds:schemaRef ds:uri="http://schemas.microsoft.com/office/infopath/2007/PartnerControls"/>
    <ds:schemaRef ds:uri="71af3243-3dd4-4a8d-8c0d-dd76da1f02a5"/>
    <ds:schemaRef ds:uri="http://schemas.microsoft.com/office/2006/documentManagement/types"/>
    <ds:schemaRef ds:uri="http://schemas.microsoft.com/office/2006/metadata/properties"/>
    <ds:schemaRef ds:uri="http://www.w3.org/XML/1998/namespace"/>
    <ds:schemaRef ds:uri="http://purl.org/dc/elements/1.1/"/>
  </ds:schemaRefs>
</ds:datastoreItem>
</file>

<file path=customXml/itemProps3.xml><?xml version="1.0" encoding="utf-8"?>
<ds:datastoreItem xmlns:ds="http://schemas.openxmlformats.org/officeDocument/2006/customXml" ds:itemID="{342D3C2F-55A5-48C0-9D5A-95C7FF0389D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Custom</Template>
  <TotalTime>12503</TotalTime>
  <Words>4558</Words>
  <Application>Microsoft Office PowerPoint</Application>
  <PresentationFormat>Widescreen</PresentationFormat>
  <Paragraphs>1091</Paragraphs>
  <Slides>34</Slides>
  <Notes>34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Gill Sans MT</vt:lpstr>
      <vt:lpstr>Times New Roman</vt:lpstr>
      <vt:lpstr>-webkit-standard</vt:lpstr>
      <vt:lpstr>Wingdings</vt:lpstr>
      <vt:lpstr>Wingdings 2</vt:lpstr>
      <vt:lpstr>Custom</vt:lpstr>
      <vt:lpstr>linked list-based data structures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Circular Lists</vt:lpstr>
      <vt:lpstr>Circular Lists – Special Cases</vt:lpstr>
      <vt:lpstr>Headed Lists A.K.A. Lists With Sentinels</vt:lpstr>
      <vt:lpstr>Headed Lists A.k.a. Lists With Sentinels</vt:lpstr>
      <vt:lpstr>Which Data Structure Could We Use?</vt:lpstr>
      <vt:lpstr>Which Data Structure Could We Use?</vt:lpstr>
      <vt:lpstr>Which Data Structure Could We Use?</vt:lpstr>
      <vt:lpstr>Sparse Matrix</vt:lpstr>
      <vt:lpstr>Sparse Matrix</vt:lpstr>
      <vt:lpstr>A Multi-Linked Structures Example: Orthogonal Lists For Sparse Matrices</vt:lpstr>
      <vt:lpstr>Sparse Matrices</vt:lpstr>
      <vt:lpstr>Sparse Matrices</vt:lpstr>
      <vt:lpstr>Sparse Matrices</vt:lpstr>
      <vt:lpstr>PowerPoint Presentation</vt:lpstr>
      <vt:lpstr>PowerPoint Presentation</vt:lpstr>
      <vt:lpstr>PowerPoint Presentation</vt:lpstr>
      <vt:lpstr>PowerPoint Presentation</vt:lpstr>
      <vt:lpstr>Questions?</vt:lpstr>
      <vt:lpstr>In Class Exercise</vt:lpstr>
      <vt:lpstr>In Class Exercise CHALLENGE </vt:lpstr>
      <vt:lpstr>In Class Exercise CHALLENGE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CS399 Run Time Analysis</dc:title>
  <dc:creator>Marriott, Heather H</dc:creator>
  <cp:lastModifiedBy>Marriott, Heather H</cp:lastModifiedBy>
  <cp:revision>50</cp:revision>
  <dcterms:created xsi:type="dcterms:W3CDTF">2024-05-27T01:44:40Z</dcterms:created>
  <dcterms:modified xsi:type="dcterms:W3CDTF">2026-09-09T18:48:27Z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