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7"/>
  </p:notesMasterIdLst>
  <p:handoutMasterIdLst>
    <p:handoutMasterId r:id="rId28"/>
  </p:handoutMasterIdLst>
  <p:sldIdLst>
    <p:sldId id="256" r:id="rId5"/>
    <p:sldId id="596" r:id="rId6"/>
    <p:sldId id="597" r:id="rId7"/>
    <p:sldId id="598" r:id="rId8"/>
    <p:sldId id="599" r:id="rId9"/>
    <p:sldId id="600" r:id="rId10"/>
    <p:sldId id="575" r:id="rId11"/>
    <p:sldId id="576" r:id="rId12"/>
    <p:sldId id="295" r:id="rId13"/>
    <p:sldId id="286" r:id="rId14"/>
    <p:sldId id="287" r:id="rId15"/>
    <p:sldId id="288" r:id="rId16"/>
    <p:sldId id="585" r:id="rId17"/>
    <p:sldId id="587" r:id="rId18"/>
    <p:sldId id="588" r:id="rId19"/>
    <p:sldId id="591" r:id="rId20"/>
    <p:sldId id="592" r:id="rId21"/>
    <p:sldId id="589" r:id="rId22"/>
    <p:sldId id="593" r:id="rId23"/>
    <p:sldId id="594" r:id="rId24"/>
    <p:sldId id="260" r:id="rId25"/>
    <p:sldId id="56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CBE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46" autoAdjust="0"/>
    <p:restoredTop sz="60809" autoAdjust="0"/>
  </p:normalViewPr>
  <p:slideViewPr>
    <p:cSldViewPr snapToGrid="0">
      <p:cViewPr varScale="1">
        <p:scale>
          <a:sx n="59" d="100"/>
          <a:sy n="59" d="100"/>
        </p:scale>
        <p:origin x="1296"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9/2/2026</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9/2/2026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ADT = Abstract Data Type (ex. queue, stack)</a:t>
            </a:r>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2912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9065-ABCE-F36C-2F38-5DE84EC60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8B100-10C9-AD57-DB0C-F4E5715C8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35549-8261-406D-D844-57D5AF77C53F}"/>
              </a:ext>
            </a:extLst>
          </p:cNvPr>
          <p:cNvSpPr>
            <a:spLocks noGrp="1"/>
          </p:cNvSpPr>
          <p:nvPr>
            <p:ph type="body" idx="1"/>
          </p:nvPr>
        </p:nvSpPr>
        <p:spPr/>
        <p:txBody>
          <a:bodyPr/>
          <a:lstStyle/>
          <a:p>
            <a:r>
              <a:rPr lang="en-US" dirty="0"/>
              <a:t>Symbol	What happens	Stack</a:t>
            </a:r>
          </a:p>
          <a:p>
            <a:r>
              <a:rPr lang="en-US" dirty="0"/>
              <a:t>3	Push	3</a:t>
            </a:r>
          </a:p>
          <a:p>
            <a:r>
              <a:rPr lang="en-US" dirty="0"/>
              <a:t>2	Push	3, 2</a:t>
            </a:r>
          </a:p>
          <a:p>
            <a:r>
              <a:rPr lang="en-US" dirty="0"/>
              <a:t>+	3 + 2 = 5	5</a:t>
            </a:r>
          </a:p>
          <a:p>
            <a:r>
              <a:rPr lang="en-US" dirty="0"/>
              <a:t>6	Push	5, 6</a:t>
            </a:r>
          </a:p>
          <a:p>
            <a:r>
              <a:rPr lang="en-US" dirty="0"/>
              <a:t>3	Push	5, 6, 3</a:t>
            </a:r>
          </a:p>
          <a:p>
            <a:r>
              <a:rPr lang="en-US" dirty="0"/>
              <a:t>-	6 - 3 = 3	5, 3</a:t>
            </a:r>
          </a:p>
          <a:p>
            <a:r>
              <a:rPr lang="en-US" dirty="0"/>
              <a:t>*	5 × 3 = 15	15</a:t>
            </a:r>
          </a:p>
          <a:p>
            <a:endParaRPr lang="en-US" dirty="0"/>
          </a:p>
          <a:p>
            <a:r>
              <a:rPr lang="en-US" dirty="0"/>
              <a:t>final answer 15</a:t>
            </a:r>
          </a:p>
        </p:txBody>
      </p:sp>
    </p:spTree>
    <p:extLst>
      <p:ext uri="{BB962C8B-B14F-4D97-AF65-F5344CB8AC3E}">
        <p14:creationId xmlns:p14="http://schemas.microsoft.com/office/powerpoint/2010/main" val="1701774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A4528-9A7E-0C7F-2274-9809060AB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68D69-5E94-AF74-AFB3-1391F1AF0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5FC30-CB63-6C51-200B-2478899EA6F1}"/>
              </a:ext>
            </a:extLst>
          </p:cNvPr>
          <p:cNvSpPr>
            <a:spLocks noGrp="1"/>
          </p:cNvSpPr>
          <p:nvPr>
            <p:ph type="body" idx="1"/>
          </p:nvPr>
        </p:nvSpPr>
        <p:spPr/>
        <p:txBody>
          <a:bodyPr/>
          <a:lstStyle/>
          <a:p>
            <a:r>
              <a:rPr lang="en-US" dirty="0"/>
              <a:t>O^2</a:t>
            </a:r>
          </a:p>
        </p:txBody>
      </p:sp>
    </p:spTree>
    <p:extLst>
      <p:ext uri="{BB962C8B-B14F-4D97-AF65-F5344CB8AC3E}">
        <p14:creationId xmlns:p14="http://schemas.microsoft.com/office/powerpoint/2010/main" val="1083122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B8B9A-5AD0-7D7B-EABF-63DAA4BFD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BE560-1257-9B1D-C8D5-89DB84AD2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47F01-3901-E777-75C1-F4127E6E0539}"/>
              </a:ext>
            </a:extLst>
          </p:cNvPr>
          <p:cNvSpPr>
            <a:spLocks noGrp="1"/>
          </p:cNvSpPr>
          <p:nvPr>
            <p:ph type="body" idx="1"/>
          </p:nvPr>
        </p:nvSpPr>
        <p:spPr/>
        <p:txBody>
          <a:bodyPr/>
          <a:lstStyle/>
          <a:p>
            <a:r>
              <a:rPr lang="en-US" dirty="0"/>
              <a:t>O(log n)</a:t>
            </a:r>
          </a:p>
        </p:txBody>
      </p:sp>
    </p:spTree>
    <p:extLst>
      <p:ext uri="{BB962C8B-B14F-4D97-AF65-F5344CB8AC3E}">
        <p14:creationId xmlns:p14="http://schemas.microsoft.com/office/powerpoint/2010/main" val="1176837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1B9DF-9049-1955-DBBC-AFDF3BBA3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6F566-EB43-48D8-CF07-8217B4A4E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816FB-3F0E-7903-7B07-799D3A9BE548}"/>
              </a:ext>
            </a:extLst>
          </p:cNvPr>
          <p:cNvSpPr>
            <a:spLocks noGrp="1"/>
          </p:cNvSpPr>
          <p:nvPr>
            <p:ph type="body" idx="1"/>
          </p:nvPr>
        </p:nvSpPr>
        <p:spPr/>
        <p:txBody>
          <a:bodyPr/>
          <a:lstStyle/>
          <a:p>
            <a:r>
              <a:rPr lang="en-US" dirty="0"/>
              <a:t>O(n^2)</a:t>
            </a:r>
          </a:p>
        </p:txBody>
      </p:sp>
    </p:spTree>
    <p:extLst>
      <p:ext uri="{BB962C8B-B14F-4D97-AF65-F5344CB8AC3E}">
        <p14:creationId xmlns:p14="http://schemas.microsoft.com/office/powerpoint/2010/main" val="2071321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3C301C3C-9357-41F5-8850-5FE414D4AF38}" type="slidenum">
              <a:rPr lang="en-US" altLang="en-US" sz="1200">
                <a:solidFill>
                  <a:schemeClr val="tx1"/>
                </a:solidFill>
              </a:rPr>
              <a:pPr eaLnBrk="1" hangingPunct="1"/>
              <a:t>7</a:t>
            </a:fld>
            <a:endParaRPr lang="en-US" altLang="en-US" sz="1200" dirty="0">
              <a:solidFill>
                <a:schemeClr val="tx1"/>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02270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3C301C3C-9357-41F5-8850-5FE414D4AF38}" type="slidenum">
              <a:rPr lang="en-US" altLang="en-US" sz="1200">
                <a:solidFill>
                  <a:schemeClr val="tx1"/>
                </a:solidFill>
              </a:rPr>
              <a:pPr eaLnBrk="1" hangingPunct="1"/>
              <a:t>8</a:t>
            </a:fld>
            <a:endParaRPr lang="en-US" altLang="en-US" sz="1200" dirty="0">
              <a:solidFill>
                <a:schemeClr val="tx1"/>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780180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1" name="Rectangle 1"/>
          <p:cNvSpPr>
            <a:spLocks noGrp="1" noRot="1" noChangeAspect="1" noChangeArrowheads="1" noTextEdit="1"/>
          </p:cNvSpPr>
          <p:nvPr>
            <p:ph type="sldImg"/>
          </p:nvPr>
        </p:nvSpPr>
        <p:spPr>
          <a:xfrm>
            <a:off x="381000" y="685800"/>
            <a:ext cx="6096000" cy="3429000"/>
          </a:xfrm>
          <a:ln/>
        </p:spPr>
      </p:sp>
      <p:sp>
        <p:nvSpPr>
          <p:cNvPr id="48132" name="Rectangle 2"/>
          <p:cNvSpPr>
            <a:spLocks noGrp="1" noChangeArrowheads="1"/>
          </p:cNvSpPr>
          <p:nvPr>
            <p:ph type="body" idx="1"/>
          </p:nvPr>
        </p:nvSpPr>
        <p:spPr>
          <a:xfrm>
            <a:off x="685800" y="4343400"/>
            <a:ext cx="5486400" cy="4208463"/>
          </a:xfrm>
          <a:noFill/>
          <a:ln/>
        </p:spPr>
        <p:txBody>
          <a:bodyPr wrap="none" anchor="ctr"/>
          <a:lstStyle/>
          <a:p>
            <a:endParaRPr lang="en-US" dirty="0"/>
          </a:p>
        </p:txBody>
      </p:sp>
    </p:spTree>
    <p:extLst>
      <p:ext uri="{BB962C8B-B14F-4D97-AF65-F5344CB8AC3E}">
        <p14:creationId xmlns:p14="http://schemas.microsoft.com/office/powerpoint/2010/main" val="4131256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1" name="Rectangle 1"/>
          <p:cNvSpPr>
            <a:spLocks noGrp="1" noRot="1" noChangeAspect="1" noChangeArrowheads="1" noTextEdit="1"/>
          </p:cNvSpPr>
          <p:nvPr>
            <p:ph type="sldImg"/>
          </p:nvPr>
        </p:nvSpPr>
        <p:spPr>
          <a:xfrm>
            <a:off x="381000" y="685800"/>
            <a:ext cx="6096000" cy="3429000"/>
          </a:xfrm>
          <a:ln/>
        </p:spPr>
      </p:sp>
      <p:sp>
        <p:nvSpPr>
          <p:cNvPr id="48132" name="Rectangle 2"/>
          <p:cNvSpPr>
            <a:spLocks noGrp="1" noChangeArrowheads="1"/>
          </p:cNvSpPr>
          <p:nvPr>
            <p:ph type="body" idx="1"/>
          </p:nvPr>
        </p:nvSpPr>
        <p:spPr>
          <a:xfrm>
            <a:off x="685800" y="4343400"/>
            <a:ext cx="5486400" cy="4208463"/>
          </a:xfrm>
          <a:noFill/>
          <a:ln/>
        </p:spPr>
        <p:txBody>
          <a:bodyPr wrap="none" anchor="ctr"/>
          <a:lstStyle/>
          <a:p>
            <a:endParaRPr lang="en-US" dirty="0"/>
          </a:p>
        </p:txBody>
      </p:sp>
    </p:spTree>
    <p:extLst>
      <p:ext uri="{BB962C8B-B14F-4D97-AF65-F5344CB8AC3E}">
        <p14:creationId xmlns:p14="http://schemas.microsoft.com/office/powerpoint/2010/main" val="41665682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1" name="Rectangle 1"/>
          <p:cNvSpPr>
            <a:spLocks noGrp="1" noRot="1" noChangeAspect="1" noChangeArrowheads="1" noTextEdit="1"/>
          </p:cNvSpPr>
          <p:nvPr>
            <p:ph type="sldImg"/>
          </p:nvPr>
        </p:nvSpPr>
        <p:spPr>
          <a:xfrm>
            <a:off x="381000" y="685800"/>
            <a:ext cx="6096000" cy="3429000"/>
          </a:xfrm>
          <a:ln/>
        </p:spPr>
      </p:sp>
      <p:sp>
        <p:nvSpPr>
          <p:cNvPr id="48132" name="Rectangle 2"/>
          <p:cNvSpPr>
            <a:spLocks noGrp="1" noChangeArrowheads="1"/>
          </p:cNvSpPr>
          <p:nvPr>
            <p:ph type="body" idx="1"/>
          </p:nvPr>
        </p:nvSpPr>
        <p:spPr>
          <a:xfrm>
            <a:off x="685800" y="4343400"/>
            <a:ext cx="5486400" cy="4208463"/>
          </a:xfrm>
          <a:noFill/>
          <a:ln/>
        </p:spPr>
        <p:txBody>
          <a:bodyPr wrap="none" anchor="ctr"/>
          <a:lstStyle/>
          <a:p>
            <a:r>
              <a:rPr lang="en-US" dirty="0"/>
              <a:t>Answer: Stack can not produce CAB</a:t>
            </a:r>
          </a:p>
        </p:txBody>
      </p:sp>
    </p:spTree>
    <p:extLst>
      <p:ext uri="{BB962C8B-B14F-4D97-AF65-F5344CB8AC3E}">
        <p14:creationId xmlns:p14="http://schemas.microsoft.com/office/powerpoint/2010/main" val="2227864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3A0FA-BFA2-2180-FFA1-8CC0E3AB1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6AFDA-E69A-EEB8-6FEE-43A6D99733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0C0DA-7826-A5FC-273D-2B91AA1E7391}"/>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597140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22DB8-86AD-1251-4604-9305732E0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8B08E-1CC8-58F3-6017-9E02A71EC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BD2FF-74C6-8B69-6862-9D30E5ACC175}"/>
              </a:ext>
            </a:extLst>
          </p:cNvPr>
          <p:cNvSpPr>
            <a:spLocks noGrp="1"/>
          </p:cNvSpPr>
          <p:nvPr>
            <p:ph type="body" idx="1"/>
          </p:nvPr>
        </p:nvSpPr>
        <p:spPr/>
        <p:txBody>
          <a:bodyPr>
            <a:normAutofit/>
          </a:bodyPr>
          <a:lstStyle/>
          <a:p>
            <a:r>
              <a:rPr lang="en-US" dirty="0"/>
              <a:t>The count is not needed for all implementations. </a:t>
            </a:r>
          </a:p>
        </p:txBody>
      </p:sp>
    </p:spTree>
    <p:extLst>
      <p:ext uri="{BB962C8B-B14F-4D97-AF65-F5344CB8AC3E}">
        <p14:creationId xmlns:p14="http://schemas.microsoft.com/office/powerpoint/2010/main" val="2988661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6A3F6-FAF3-4FA5-B906-97551B8D2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9D5CF-B53E-568D-CB26-E7E42E04F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43B6B-79B3-F6EB-1872-2510774F5295}"/>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315050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DBCB1-DA80-6C50-A5B2-D2428F441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D0E89-13F0-5272-3C00-67C6993CF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C32D3-B711-A52C-898D-9A7EE42AA9AD}"/>
              </a:ext>
            </a:extLst>
          </p:cNvPr>
          <p:cNvSpPr>
            <a:spLocks noGrp="1"/>
          </p:cNvSpPr>
          <p:nvPr>
            <p:ph type="body" idx="1"/>
          </p:nvPr>
        </p:nvSpPr>
        <p:spPr/>
        <p:txBody>
          <a:bodyPr>
            <a:normAutofit/>
          </a:bodyPr>
          <a:lstStyle/>
          <a:p>
            <a:r>
              <a:rPr lang="en-US" dirty="0"/>
              <a:t>If you remove 10, shifting everything by 1 would be a O(n) operation.</a:t>
            </a:r>
          </a:p>
        </p:txBody>
      </p:sp>
    </p:spTree>
    <p:extLst>
      <p:ext uri="{BB962C8B-B14F-4D97-AF65-F5344CB8AC3E}">
        <p14:creationId xmlns:p14="http://schemas.microsoft.com/office/powerpoint/2010/main" val="54475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2A37-712D-6A6A-6F01-8BBA04083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AE3CC-CCC8-7B99-4B05-14416227B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B49500-F95E-4F98-FD82-3513026B5D74}"/>
              </a:ext>
            </a:extLst>
          </p:cNvPr>
          <p:cNvSpPr>
            <a:spLocks noGrp="1"/>
          </p:cNvSpPr>
          <p:nvPr>
            <p:ph type="body" idx="1"/>
          </p:nvPr>
        </p:nvSpPr>
        <p:spPr/>
        <p:txBody>
          <a:bodyPr>
            <a:normAutofit/>
          </a:bodyPr>
          <a:lstStyle/>
          <a:p>
            <a:r>
              <a:rPr lang="en-US" dirty="0"/>
              <a:t>If you remove 10, shifting everything by 1 would be a O(n) operation.</a:t>
            </a:r>
          </a:p>
        </p:txBody>
      </p:sp>
    </p:spTree>
    <p:extLst>
      <p:ext uri="{BB962C8B-B14F-4D97-AF65-F5344CB8AC3E}">
        <p14:creationId xmlns:p14="http://schemas.microsoft.com/office/powerpoint/2010/main" val="42877541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33B96-0359-E22A-A1D7-9B5CAB52F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396A8-3BDF-0BFA-33EB-9137E6B36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0F40F-6550-2B4D-77D9-AA08EC9294C2}"/>
              </a:ext>
            </a:extLst>
          </p:cNvPr>
          <p:cNvSpPr>
            <a:spLocks noGrp="1"/>
          </p:cNvSpPr>
          <p:nvPr>
            <p:ph type="body" idx="1"/>
          </p:nvPr>
        </p:nvSpPr>
        <p:spPr/>
        <p:txBody>
          <a:bodyPr>
            <a:normAutofit/>
          </a:bodyPr>
          <a:lstStyle/>
          <a:p>
            <a:r>
              <a:rPr lang="en-US" dirty="0"/>
              <a:t>If you remove 10, shifting everything by 1 would be a O(n) operation.</a:t>
            </a:r>
          </a:p>
        </p:txBody>
      </p:sp>
    </p:spTree>
    <p:extLst>
      <p:ext uri="{BB962C8B-B14F-4D97-AF65-F5344CB8AC3E}">
        <p14:creationId xmlns:p14="http://schemas.microsoft.com/office/powerpoint/2010/main" val="2609154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F0EE9-AC2D-B832-F0D4-0884E6783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871EF-4A9E-4E03-C475-E40C7CAE1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F702-02C8-049C-B0BE-8D364B6C888D}"/>
              </a:ext>
            </a:extLst>
          </p:cNvPr>
          <p:cNvSpPr>
            <a:spLocks noGrp="1"/>
          </p:cNvSpPr>
          <p:nvPr>
            <p:ph type="body" idx="1"/>
          </p:nvPr>
        </p:nvSpPr>
        <p:spPr/>
        <p:txBody>
          <a:bodyPr>
            <a:normAutofit/>
          </a:bodyPr>
          <a:lstStyle/>
          <a:p>
            <a:pPr marL="228600" indent="-228600">
              <a:buAutoNum type="arabicPlain" startAt="123"/>
            </a:pPr>
            <a:r>
              <a:rPr lang="en-US" dirty="0"/>
              <a:t>   2  9 4 87 1 92 11 2 45</a:t>
            </a:r>
            <a:br>
              <a:rPr lang="en-US" dirty="0"/>
            </a:br>
            <a:r>
              <a:rPr lang="en-US" dirty="0"/>
              <a:t>front: 4   </a:t>
            </a:r>
            <a:br>
              <a:rPr lang="en-US" dirty="0"/>
            </a:br>
            <a:r>
              <a:rPr lang="en-US" dirty="0"/>
              <a:t>back: 1</a:t>
            </a:r>
            <a:br>
              <a:rPr lang="en-US" dirty="0"/>
            </a:br>
            <a:r>
              <a:rPr lang="en-US" dirty="0"/>
              <a:t>count: 8</a:t>
            </a:r>
          </a:p>
        </p:txBody>
      </p:sp>
    </p:spTree>
    <p:extLst>
      <p:ext uri="{BB962C8B-B14F-4D97-AF65-F5344CB8AC3E}">
        <p14:creationId xmlns:p14="http://schemas.microsoft.com/office/powerpoint/2010/main" val="15803298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6ECD-0F75-C61E-372B-24B125704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DE7C0-CCE6-F90A-FA2F-930AAFF87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9B4A7-F497-3548-73DB-90F1C64BB8CD}"/>
              </a:ext>
            </a:extLst>
          </p:cNvPr>
          <p:cNvSpPr>
            <a:spLocks noGrp="1"/>
          </p:cNvSpPr>
          <p:nvPr>
            <p:ph type="body" idx="1"/>
          </p:nvPr>
        </p:nvSpPr>
        <p:spPr/>
        <p:txBody>
          <a:bodyPr>
            <a:normAutofit fontScale="25000" lnSpcReduction="20000"/>
          </a:bodyPr>
          <a:lstStyle/>
          <a:p>
            <a:pPr marL="0" indent="0">
              <a:buFontTx/>
              <a:buNone/>
            </a:pPr>
            <a:r>
              <a:rPr lang="en-US" dirty="0"/>
              <a:t>#include &lt;</a:t>
            </a:r>
            <a:r>
              <a:rPr lang="en-US" dirty="0" err="1"/>
              <a:t>stdio.h</a:t>
            </a:r>
            <a:r>
              <a:rPr lang="en-US" dirty="0"/>
              <a:t>&gt;</a:t>
            </a:r>
          </a:p>
          <a:p>
            <a:pPr marL="0" indent="0">
              <a:buFontTx/>
              <a:buNone/>
            </a:pPr>
            <a:endParaRPr lang="en-US" dirty="0"/>
          </a:p>
          <a:p>
            <a:pPr marL="0" indent="0">
              <a:buFontTx/>
              <a:buNone/>
            </a:pPr>
            <a:r>
              <a:rPr lang="en-US" dirty="0"/>
              <a:t>#include &lt;</a:t>
            </a:r>
            <a:r>
              <a:rPr lang="en-US" dirty="0" err="1"/>
              <a:t>stdbool.h</a:t>
            </a:r>
            <a:r>
              <a:rPr lang="en-US" dirty="0"/>
              <a:t>&gt;  //C99 and later</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#define MAXQUEUE 3 //small for testing </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typedef char </a:t>
            </a:r>
            <a:r>
              <a:rPr lang="en-US" dirty="0" err="1"/>
              <a:t>Item_type</a:t>
            </a:r>
            <a:r>
              <a:rPr lang="en-US" dirty="0"/>
              <a:t>;</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typedef struct </a:t>
            </a:r>
            <a:r>
              <a:rPr lang="en-US" dirty="0" err="1"/>
              <a:t>queue_tag</a:t>
            </a:r>
            <a:r>
              <a:rPr lang="en-US" dirty="0"/>
              <a:t> {</a:t>
            </a:r>
          </a:p>
          <a:p>
            <a:pPr marL="0" indent="0">
              <a:buFontTx/>
              <a:buNone/>
            </a:pPr>
            <a:endParaRPr lang="en-US" dirty="0"/>
          </a:p>
          <a:p>
            <a:pPr marL="0" indent="0">
              <a:buFontTx/>
              <a:buNone/>
            </a:pPr>
            <a:r>
              <a:rPr lang="en-US" dirty="0"/>
              <a:t>    int count;</a:t>
            </a:r>
          </a:p>
          <a:p>
            <a:pPr marL="0" indent="0">
              <a:buFontTx/>
              <a:buNone/>
            </a:pPr>
            <a:endParaRPr lang="en-US" dirty="0"/>
          </a:p>
          <a:p>
            <a:pPr marL="0" indent="0">
              <a:buFontTx/>
              <a:buNone/>
            </a:pPr>
            <a:r>
              <a:rPr lang="en-US" dirty="0"/>
              <a:t>    int front;</a:t>
            </a:r>
          </a:p>
          <a:p>
            <a:pPr marL="0" indent="0">
              <a:buFontTx/>
              <a:buNone/>
            </a:pPr>
            <a:endParaRPr lang="en-US" dirty="0"/>
          </a:p>
          <a:p>
            <a:pPr marL="0" indent="0">
              <a:buFontTx/>
              <a:buNone/>
            </a:pPr>
            <a:r>
              <a:rPr lang="en-US" dirty="0"/>
              <a:t>    int rear;</a:t>
            </a:r>
          </a:p>
          <a:p>
            <a:pPr marL="0" indent="0">
              <a:buFontTx/>
              <a:buNone/>
            </a:pPr>
            <a:endParaRPr lang="en-US" dirty="0"/>
          </a:p>
          <a:p>
            <a:pPr marL="0" indent="0">
              <a:buFontTx/>
              <a:buNone/>
            </a:pPr>
            <a:r>
              <a:rPr lang="en-US" dirty="0"/>
              <a:t>    </a:t>
            </a:r>
            <a:r>
              <a:rPr lang="en-US" dirty="0" err="1"/>
              <a:t>Item_type</a:t>
            </a:r>
            <a:r>
              <a:rPr lang="en-US" dirty="0"/>
              <a:t> entry[MAXQUEUE];</a:t>
            </a:r>
          </a:p>
          <a:p>
            <a:pPr marL="0" indent="0">
              <a:buFontTx/>
              <a:buNone/>
            </a:pPr>
            <a:endParaRPr lang="en-US" dirty="0"/>
          </a:p>
          <a:p>
            <a:pPr marL="0" indent="0">
              <a:buFontTx/>
              <a:buNone/>
            </a:pPr>
            <a:r>
              <a:rPr lang="en-US" dirty="0"/>
              <a:t>} </a:t>
            </a:r>
            <a:r>
              <a:rPr lang="en-US" dirty="0" err="1"/>
              <a:t>Queue_type</a:t>
            </a:r>
            <a:r>
              <a:rPr lang="en-US" dirty="0"/>
              <a:t>;</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void </a:t>
            </a:r>
            <a:r>
              <a:rPr lang="en-US" dirty="0" err="1"/>
              <a:t>AddQueue</a:t>
            </a:r>
            <a:r>
              <a:rPr lang="en-US" dirty="0"/>
              <a:t>(</a:t>
            </a:r>
            <a:r>
              <a:rPr lang="en-US" dirty="0" err="1"/>
              <a:t>Item_type</a:t>
            </a:r>
            <a:r>
              <a:rPr lang="en-US" dirty="0"/>
              <a:t>, </a:t>
            </a:r>
            <a:r>
              <a:rPr lang="en-US" dirty="0" err="1"/>
              <a:t>Queue_type</a:t>
            </a:r>
            <a:r>
              <a:rPr lang="en-US" dirty="0"/>
              <a:t>*);</a:t>
            </a:r>
          </a:p>
          <a:p>
            <a:pPr marL="0" indent="0">
              <a:buFontTx/>
              <a:buNone/>
            </a:pPr>
            <a:endParaRPr lang="en-US" dirty="0"/>
          </a:p>
          <a:p>
            <a:pPr marL="0" indent="0">
              <a:buFontTx/>
              <a:buNone/>
            </a:pPr>
            <a:r>
              <a:rPr lang="en-US" dirty="0"/>
              <a:t>void </a:t>
            </a:r>
            <a:r>
              <a:rPr lang="en-US" dirty="0" err="1"/>
              <a:t>DeleteQueue</a:t>
            </a:r>
            <a:r>
              <a:rPr lang="en-US" dirty="0"/>
              <a:t>(</a:t>
            </a:r>
            <a:r>
              <a:rPr lang="en-US" dirty="0" err="1"/>
              <a:t>Item_type</a:t>
            </a:r>
            <a:r>
              <a:rPr lang="en-US" dirty="0"/>
              <a:t> *, </a:t>
            </a:r>
            <a:r>
              <a:rPr lang="en-US" dirty="0" err="1"/>
              <a:t>Queue_type</a:t>
            </a:r>
            <a:r>
              <a:rPr lang="en-US" dirty="0"/>
              <a:t> *);</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int Size(</a:t>
            </a:r>
            <a:r>
              <a:rPr lang="en-US" dirty="0" err="1"/>
              <a:t>Queue_type</a:t>
            </a:r>
            <a:r>
              <a:rPr lang="en-US" dirty="0"/>
              <a:t> *);</a:t>
            </a:r>
          </a:p>
          <a:p>
            <a:pPr marL="0" indent="0">
              <a:buFontTx/>
              <a:buNone/>
            </a:pPr>
            <a:endParaRPr lang="en-US" dirty="0"/>
          </a:p>
          <a:p>
            <a:pPr marL="0" indent="0">
              <a:buFontTx/>
              <a:buNone/>
            </a:pPr>
            <a:r>
              <a:rPr lang="en-US" dirty="0"/>
              <a:t>bool Empty(</a:t>
            </a:r>
            <a:r>
              <a:rPr lang="en-US" dirty="0" err="1"/>
              <a:t>Queue_type</a:t>
            </a:r>
            <a:r>
              <a:rPr lang="en-US" dirty="0"/>
              <a:t> *);</a:t>
            </a:r>
          </a:p>
          <a:p>
            <a:pPr marL="0" indent="0">
              <a:buFontTx/>
              <a:buNone/>
            </a:pPr>
            <a:endParaRPr lang="en-US" dirty="0"/>
          </a:p>
          <a:p>
            <a:pPr marL="0" indent="0">
              <a:buFontTx/>
              <a:buNone/>
            </a:pPr>
            <a:r>
              <a:rPr lang="en-US" dirty="0"/>
              <a:t>bool Full(</a:t>
            </a:r>
            <a:r>
              <a:rPr lang="en-US" dirty="0" err="1"/>
              <a:t>Queue_type</a:t>
            </a:r>
            <a:r>
              <a:rPr lang="en-US" dirty="0"/>
              <a:t> *);</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void Initialize(</a:t>
            </a:r>
            <a:r>
              <a:rPr lang="en-US" dirty="0" err="1"/>
              <a:t>Queue_type</a:t>
            </a:r>
            <a:r>
              <a:rPr lang="en-US" dirty="0"/>
              <a:t> *</a:t>
            </a:r>
            <a:r>
              <a:rPr lang="en-US" dirty="0" err="1"/>
              <a:t>queue_ptr</a:t>
            </a:r>
            <a:r>
              <a:rPr lang="en-US" dirty="0"/>
              <a:t>){</a:t>
            </a:r>
          </a:p>
          <a:p>
            <a:pPr marL="0" indent="0">
              <a:buFontTx/>
              <a:buNone/>
            </a:pPr>
            <a:endParaRPr lang="en-US" dirty="0"/>
          </a:p>
          <a:p>
            <a:pPr marL="0" indent="0">
              <a:buFontTx/>
              <a:buNone/>
            </a:pPr>
            <a:r>
              <a:rPr lang="en-US" dirty="0"/>
              <a:t>    </a:t>
            </a:r>
            <a:r>
              <a:rPr lang="en-US" dirty="0" err="1"/>
              <a:t>queue_ptr</a:t>
            </a:r>
            <a:r>
              <a:rPr lang="en-US" dirty="0"/>
              <a:t>-&gt;count = 0;</a:t>
            </a:r>
          </a:p>
          <a:p>
            <a:pPr marL="0" indent="0">
              <a:buFontTx/>
              <a:buNone/>
            </a:pPr>
            <a:endParaRPr lang="en-US" dirty="0"/>
          </a:p>
          <a:p>
            <a:pPr marL="0" indent="0">
              <a:buFontTx/>
              <a:buNone/>
            </a:pPr>
            <a:r>
              <a:rPr lang="en-US" dirty="0"/>
              <a:t>    </a:t>
            </a:r>
            <a:r>
              <a:rPr lang="en-US" dirty="0" err="1"/>
              <a:t>queue_ptr</a:t>
            </a:r>
            <a:r>
              <a:rPr lang="en-US" dirty="0"/>
              <a:t>-&gt;front = 0;</a:t>
            </a:r>
          </a:p>
          <a:p>
            <a:pPr marL="0" indent="0">
              <a:buFontTx/>
              <a:buNone/>
            </a:pPr>
            <a:endParaRPr lang="en-US" dirty="0"/>
          </a:p>
          <a:p>
            <a:pPr marL="0" indent="0">
              <a:buFontTx/>
              <a:buNone/>
            </a:pPr>
            <a:r>
              <a:rPr lang="en-US" dirty="0"/>
              <a:t>    </a:t>
            </a:r>
            <a:r>
              <a:rPr lang="en-US" dirty="0" err="1"/>
              <a:t>queue_ptr</a:t>
            </a:r>
            <a:r>
              <a:rPr lang="en-US" dirty="0"/>
              <a:t>-&gt;rear = -1;</a:t>
            </a:r>
          </a:p>
          <a:p>
            <a:pPr marL="0" indent="0">
              <a:buFontTx/>
              <a:buNone/>
            </a:pPr>
            <a:endParaRPr lang="en-US" dirty="0"/>
          </a:p>
          <a:p>
            <a:pPr marL="0" indent="0">
              <a:buFontTx/>
              <a:buNone/>
            </a:pPr>
            <a:r>
              <a:rPr lang="en-US" dirty="0"/>
              <a:t>}</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void </a:t>
            </a:r>
            <a:r>
              <a:rPr lang="en-US" dirty="0" err="1"/>
              <a:t>AddQueue</a:t>
            </a:r>
            <a:r>
              <a:rPr lang="en-US" dirty="0"/>
              <a:t>(</a:t>
            </a:r>
            <a:r>
              <a:rPr lang="en-US" dirty="0" err="1"/>
              <a:t>Item_type</a:t>
            </a:r>
            <a:r>
              <a:rPr lang="en-US" dirty="0"/>
              <a:t> item, </a:t>
            </a:r>
            <a:r>
              <a:rPr lang="en-US" dirty="0" err="1"/>
              <a:t>Queue_type</a:t>
            </a:r>
            <a:r>
              <a:rPr lang="en-US" dirty="0"/>
              <a:t> *</a:t>
            </a:r>
            <a:r>
              <a:rPr lang="en-US" dirty="0" err="1"/>
              <a:t>queue_ptr</a:t>
            </a:r>
            <a:r>
              <a:rPr lang="en-US" dirty="0"/>
              <a:t>){</a:t>
            </a:r>
          </a:p>
          <a:p>
            <a:pPr marL="0" indent="0">
              <a:buFontTx/>
              <a:buNone/>
            </a:pPr>
            <a:endParaRPr lang="en-US" dirty="0"/>
          </a:p>
          <a:p>
            <a:pPr marL="0" indent="0">
              <a:buFontTx/>
              <a:buNone/>
            </a:pPr>
            <a:r>
              <a:rPr lang="en-US" dirty="0"/>
              <a:t>    if (</a:t>
            </a:r>
            <a:r>
              <a:rPr lang="en-US" dirty="0" err="1"/>
              <a:t>queue_ptr</a:t>
            </a:r>
            <a:r>
              <a:rPr lang="en-US" dirty="0"/>
              <a:t>-&gt;count &gt;= MAXQUEUE)</a:t>
            </a:r>
          </a:p>
          <a:p>
            <a:pPr marL="0" indent="0">
              <a:buFontTx/>
              <a:buNone/>
            </a:pPr>
            <a:endParaRPr lang="en-US" dirty="0"/>
          </a:p>
          <a:p>
            <a:pPr marL="0" indent="0">
              <a:buFontTx/>
              <a:buNone/>
            </a:pPr>
            <a:r>
              <a:rPr lang="en-US" dirty="0"/>
              <a:t>        </a:t>
            </a:r>
            <a:r>
              <a:rPr lang="en-US" dirty="0" err="1"/>
              <a:t>printf</a:t>
            </a:r>
            <a:r>
              <a:rPr lang="en-US" dirty="0"/>
              <a:t>("The queue is full.\n");</a:t>
            </a:r>
          </a:p>
          <a:p>
            <a:pPr marL="0" indent="0">
              <a:buFontTx/>
              <a:buNone/>
            </a:pPr>
            <a:endParaRPr lang="en-US" dirty="0"/>
          </a:p>
          <a:p>
            <a:pPr marL="0" indent="0">
              <a:buFontTx/>
              <a:buNone/>
            </a:pPr>
            <a:r>
              <a:rPr lang="en-US" dirty="0"/>
              <a:t>    else {</a:t>
            </a:r>
          </a:p>
          <a:p>
            <a:pPr marL="0" indent="0">
              <a:buFontTx/>
              <a:buNone/>
            </a:pPr>
            <a:endParaRPr lang="en-US" dirty="0"/>
          </a:p>
          <a:p>
            <a:pPr marL="0" indent="0">
              <a:buFontTx/>
              <a:buNone/>
            </a:pPr>
            <a:r>
              <a:rPr lang="en-US" dirty="0"/>
              <a:t>        </a:t>
            </a:r>
            <a:r>
              <a:rPr lang="en-US" dirty="0" err="1"/>
              <a:t>queue_ptr</a:t>
            </a:r>
            <a:r>
              <a:rPr lang="en-US" dirty="0"/>
              <a:t>-&gt;count++;</a:t>
            </a:r>
          </a:p>
          <a:p>
            <a:pPr marL="0" indent="0">
              <a:buFontTx/>
              <a:buNone/>
            </a:pPr>
            <a:endParaRPr lang="en-US" dirty="0"/>
          </a:p>
          <a:p>
            <a:pPr marL="0" indent="0">
              <a:buFontTx/>
              <a:buNone/>
            </a:pPr>
            <a:r>
              <a:rPr lang="en-US" dirty="0"/>
              <a:t>        </a:t>
            </a:r>
            <a:r>
              <a:rPr lang="en-US" dirty="0" err="1"/>
              <a:t>queue_ptr</a:t>
            </a:r>
            <a:r>
              <a:rPr lang="en-US" dirty="0"/>
              <a:t>-&gt;rear = (</a:t>
            </a:r>
            <a:r>
              <a:rPr lang="en-US" dirty="0" err="1"/>
              <a:t>queue_ptr</a:t>
            </a:r>
            <a:r>
              <a:rPr lang="en-US" dirty="0"/>
              <a:t>-&gt;rear + 1) % MAXQUEUE;</a:t>
            </a:r>
          </a:p>
          <a:p>
            <a:pPr marL="0" indent="0">
              <a:buFontTx/>
              <a:buNone/>
            </a:pPr>
            <a:endParaRPr lang="en-US" dirty="0"/>
          </a:p>
          <a:p>
            <a:pPr marL="0" indent="0">
              <a:buFontTx/>
              <a:buNone/>
            </a:pPr>
            <a:r>
              <a:rPr lang="en-US" dirty="0"/>
              <a:t>        </a:t>
            </a:r>
            <a:r>
              <a:rPr lang="en-US" dirty="0" err="1"/>
              <a:t>queue_ptr</a:t>
            </a:r>
            <a:r>
              <a:rPr lang="en-US" dirty="0"/>
              <a:t>-&gt;entry[</a:t>
            </a:r>
            <a:r>
              <a:rPr lang="en-US" dirty="0" err="1"/>
              <a:t>queue_ptr</a:t>
            </a:r>
            <a:r>
              <a:rPr lang="en-US" dirty="0"/>
              <a:t>-&gt;rear] = item;</a:t>
            </a:r>
          </a:p>
          <a:p>
            <a:pPr marL="0" indent="0">
              <a:buFontTx/>
              <a:buNone/>
            </a:pPr>
            <a:endParaRPr lang="en-US" dirty="0"/>
          </a:p>
          <a:p>
            <a:pPr marL="0" indent="0">
              <a:buFontTx/>
              <a:buNone/>
            </a:pPr>
            <a:r>
              <a:rPr lang="en-US" dirty="0"/>
              <a:t>        //not, the front is not updated</a:t>
            </a:r>
          </a:p>
          <a:p>
            <a:pPr marL="0" indent="0">
              <a:buFontTx/>
              <a:buNone/>
            </a:pPr>
            <a:endParaRPr lang="en-US" dirty="0"/>
          </a:p>
          <a:p>
            <a:pPr marL="0" indent="0">
              <a:buFontTx/>
              <a:buNone/>
            </a:pPr>
            <a:r>
              <a:rPr lang="en-US" dirty="0"/>
              <a:t>        //will only be updated if you Delete</a:t>
            </a:r>
          </a:p>
          <a:p>
            <a:pPr marL="0" indent="0">
              <a:buFontTx/>
              <a:buNone/>
            </a:pPr>
            <a:endParaRPr lang="en-US" dirty="0"/>
          </a:p>
          <a:p>
            <a:pPr marL="0" indent="0">
              <a:buFontTx/>
              <a:buNone/>
            </a:pPr>
            <a:r>
              <a:rPr lang="en-US" dirty="0"/>
              <a:t>        //then we will think of a different position as front </a:t>
            </a:r>
          </a:p>
          <a:p>
            <a:pPr marL="0" indent="0">
              <a:buFontTx/>
              <a:buNone/>
            </a:pPr>
            <a:endParaRPr lang="en-US" dirty="0"/>
          </a:p>
          <a:p>
            <a:pPr marL="0" indent="0">
              <a:buFontTx/>
              <a:buNone/>
            </a:pPr>
            <a:r>
              <a:rPr lang="en-US" dirty="0"/>
              <a:t>    }</a:t>
            </a:r>
          </a:p>
          <a:p>
            <a:pPr marL="0" indent="0">
              <a:buFontTx/>
              <a:buNone/>
            </a:pPr>
            <a:endParaRPr lang="en-US" dirty="0"/>
          </a:p>
          <a:p>
            <a:pPr marL="0" indent="0">
              <a:buFontTx/>
              <a:buNone/>
            </a:pPr>
            <a:r>
              <a:rPr lang="en-US" dirty="0"/>
              <a:t>}</a:t>
            </a:r>
          </a:p>
          <a:p>
            <a:pPr marL="0" indent="0">
              <a:buFontTx/>
              <a:buNone/>
            </a:pPr>
            <a:endParaRPr lang="en-US" dirty="0"/>
          </a:p>
          <a:p>
            <a:pPr marL="0" indent="0">
              <a:buFontTx/>
              <a:buNone/>
            </a:pPr>
            <a:r>
              <a:rPr lang="en-US" dirty="0"/>
              <a:t>void </a:t>
            </a:r>
            <a:r>
              <a:rPr lang="en-US" dirty="0" err="1"/>
              <a:t>DeleteQueue</a:t>
            </a:r>
            <a:r>
              <a:rPr lang="en-US" dirty="0"/>
              <a:t>(</a:t>
            </a:r>
            <a:r>
              <a:rPr lang="en-US" dirty="0" err="1"/>
              <a:t>Item_type</a:t>
            </a:r>
            <a:r>
              <a:rPr lang="en-US" dirty="0"/>
              <a:t> *item, </a:t>
            </a:r>
            <a:r>
              <a:rPr lang="en-US" dirty="0" err="1"/>
              <a:t>Queue_type</a:t>
            </a:r>
            <a:r>
              <a:rPr lang="en-US" dirty="0"/>
              <a:t> *</a:t>
            </a:r>
            <a:r>
              <a:rPr lang="en-US" dirty="0" err="1"/>
              <a:t>queue_ptr</a:t>
            </a:r>
            <a:r>
              <a:rPr lang="en-US" dirty="0"/>
              <a:t>){</a:t>
            </a:r>
          </a:p>
          <a:p>
            <a:pPr marL="0" indent="0">
              <a:buFontTx/>
              <a:buNone/>
            </a:pPr>
            <a:endParaRPr lang="en-US" dirty="0"/>
          </a:p>
          <a:p>
            <a:pPr marL="0" indent="0">
              <a:buFontTx/>
              <a:buNone/>
            </a:pPr>
            <a:r>
              <a:rPr lang="en-US" dirty="0"/>
              <a:t>    if (</a:t>
            </a:r>
            <a:r>
              <a:rPr lang="en-US" dirty="0" err="1"/>
              <a:t>queue_ptr</a:t>
            </a:r>
            <a:r>
              <a:rPr lang="en-US" dirty="0"/>
              <a:t>-&gt;count &lt;= 0)</a:t>
            </a:r>
          </a:p>
          <a:p>
            <a:pPr marL="0" indent="0">
              <a:buFontTx/>
              <a:buNone/>
            </a:pPr>
            <a:endParaRPr lang="en-US" dirty="0"/>
          </a:p>
          <a:p>
            <a:pPr marL="0" indent="0">
              <a:buFontTx/>
              <a:buNone/>
            </a:pPr>
            <a:r>
              <a:rPr lang="en-US" dirty="0"/>
              <a:t>        </a:t>
            </a:r>
            <a:r>
              <a:rPr lang="en-US" dirty="0" err="1"/>
              <a:t>printf</a:t>
            </a:r>
            <a:r>
              <a:rPr lang="en-US" dirty="0"/>
              <a:t>("The queue is empty.\n");</a:t>
            </a:r>
          </a:p>
          <a:p>
            <a:pPr marL="0" indent="0">
              <a:buFontTx/>
              <a:buNone/>
            </a:pPr>
            <a:endParaRPr lang="en-US" dirty="0"/>
          </a:p>
          <a:p>
            <a:pPr marL="0" indent="0">
              <a:buFontTx/>
              <a:buNone/>
            </a:pPr>
            <a:r>
              <a:rPr lang="en-US" dirty="0"/>
              <a:t>    else {</a:t>
            </a:r>
          </a:p>
          <a:p>
            <a:pPr marL="0" indent="0">
              <a:buFontTx/>
              <a:buNone/>
            </a:pPr>
            <a:endParaRPr lang="en-US" dirty="0"/>
          </a:p>
          <a:p>
            <a:pPr marL="0" indent="0">
              <a:buFontTx/>
              <a:buNone/>
            </a:pPr>
            <a:r>
              <a:rPr lang="en-US" dirty="0"/>
              <a:t>        </a:t>
            </a:r>
            <a:r>
              <a:rPr lang="en-US" dirty="0" err="1"/>
              <a:t>queue_ptr</a:t>
            </a:r>
            <a:r>
              <a:rPr lang="en-US" dirty="0"/>
              <a:t>-&gt;count--;</a:t>
            </a:r>
          </a:p>
          <a:p>
            <a:pPr marL="0" indent="0">
              <a:buFontTx/>
              <a:buNone/>
            </a:pPr>
            <a:endParaRPr lang="en-US" dirty="0"/>
          </a:p>
          <a:p>
            <a:pPr marL="0" indent="0">
              <a:buFontTx/>
              <a:buNone/>
            </a:pPr>
            <a:r>
              <a:rPr lang="en-US" dirty="0"/>
              <a:t>        *item = </a:t>
            </a:r>
            <a:r>
              <a:rPr lang="en-US" dirty="0" err="1"/>
              <a:t>queue_ptr</a:t>
            </a:r>
            <a:r>
              <a:rPr lang="en-US" dirty="0"/>
              <a:t>-&gt;entry[</a:t>
            </a:r>
            <a:r>
              <a:rPr lang="en-US" dirty="0" err="1"/>
              <a:t>queue_ptr</a:t>
            </a:r>
            <a:r>
              <a:rPr lang="en-US" dirty="0"/>
              <a:t>-&gt;front];</a:t>
            </a:r>
          </a:p>
          <a:p>
            <a:pPr marL="0" indent="0">
              <a:buFontTx/>
              <a:buNone/>
            </a:pPr>
            <a:endParaRPr lang="en-US" dirty="0"/>
          </a:p>
          <a:p>
            <a:pPr marL="0" indent="0">
              <a:buFontTx/>
              <a:buNone/>
            </a:pPr>
            <a:r>
              <a:rPr lang="en-US" dirty="0"/>
              <a:t>        </a:t>
            </a:r>
            <a:r>
              <a:rPr lang="en-US" dirty="0" err="1"/>
              <a:t>queue_ptr</a:t>
            </a:r>
            <a:r>
              <a:rPr lang="en-US" dirty="0"/>
              <a:t>-&gt;front = (</a:t>
            </a:r>
            <a:r>
              <a:rPr lang="en-US" dirty="0" err="1"/>
              <a:t>queue_ptr</a:t>
            </a:r>
            <a:r>
              <a:rPr lang="en-US" dirty="0"/>
              <a:t>-&gt;front + 1)%MAXQUEUE;</a:t>
            </a:r>
          </a:p>
          <a:p>
            <a:pPr marL="0" indent="0">
              <a:buFontTx/>
              <a:buNone/>
            </a:pPr>
            <a:endParaRPr lang="en-US" dirty="0"/>
          </a:p>
          <a:p>
            <a:pPr marL="0" indent="0">
              <a:buFontTx/>
              <a:buNone/>
            </a:pPr>
            <a:r>
              <a:rPr lang="en-US" dirty="0"/>
              <a:t>    }</a:t>
            </a:r>
          </a:p>
          <a:p>
            <a:pPr marL="0" indent="0">
              <a:buFontTx/>
              <a:buNone/>
            </a:pPr>
            <a:endParaRPr lang="en-US" dirty="0"/>
          </a:p>
          <a:p>
            <a:pPr marL="0" indent="0">
              <a:buFontTx/>
              <a:buNone/>
            </a:pPr>
            <a:r>
              <a:rPr lang="en-US" dirty="0"/>
              <a:t>}</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int main(){</a:t>
            </a:r>
          </a:p>
          <a:p>
            <a:pPr marL="0" indent="0">
              <a:buFontTx/>
              <a:buNone/>
            </a:pPr>
            <a:endParaRPr lang="en-US" dirty="0"/>
          </a:p>
          <a:p>
            <a:pPr marL="0" indent="0">
              <a:buFontTx/>
              <a:buNone/>
            </a:pPr>
            <a:r>
              <a:rPr lang="en-US" dirty="0"/>
              <a:t>    </a:t>
            </a:r>
            <a:r>
              <a:rPr lang="en-US" dirty="0" err="1"/>
              <a:t>Item_type</a:t>
            </a:r>
            <a:r>
              <a:rPr lang="en-US" dirty="0"/>
              <a:t> item;</a:t>
            </a:r>
          </a:p>
          <a:p>
            <a:pPr marL="0" indent="0">
              <a:buFontTx/>
              <a:buNone/>
            </a:pPr>
            <a:endParaRPr lang="en-US" dirty="0"/>
          </a:p>
          <a:p>
            <a:pPr marL="0" indent="0">
              <a:buFontTx/>
              <a:buNone/>
            </a:pPr>
            <a:r>
              <a:rPr lang="en-US" dirty="0"/>
              <a:t>    </a:t>
            </a:r>
            <a:r>
              <a:rPr lang="en-US" dirty="0" err="1"/>
              <a:t>Queue_type</a:t>
            </a:r>
            <a:r>
              <a:rPr lang="en-US" dirty="0"/>
              <a:t> queue;</a:t>
            </a:r>
          </a:p>
          <a:p>
            <a:pPr marL="0" indent="0">
              <a:buFontTx/>
              <a:buNone/>
            </a:pPr>
            <a:endParaRPr lang="en-US" dirty="0"/>
          </a:p>
          <a:p>
            <a:pPr marL="0" indent="0">
              <a:buFontTx/>
              <a:buNone/>
            </a:pPr>
            <a:r>
              <a:rPr lang="en-US" dirty="0"/>
              <a:t>    </a:t>
            </a:r>
          </a:p>
          <a:p>
            <a:pPr marL="0" indent="0">
              <a:buFontTx/>
              <a:buNone/>
            </a:pPr>
            <a:endParaRPr lang="en-US" dirty="0"/>
          </a:p>
          <a:p>
            <a:pPr marL="0" indent="0">
              <a:buFontTx/>
              <a:buNone/>
            </a:pPr>
            <a:r>
              <a:rPr lang="en-US" dirty="0"/>
              <a:t>    Initialize(&amp;queue);</a:t>
            </a:r>
          </a:p>
          <a:p>
            <a:pPr marL="0" indent="0">
              <a:buFontTx/>
              <a:buNone/>
            </a:pPr>
            <a:endParaRPr lang="en-US" dirty="0"/>
          </a:p>
          <a:p>
            <a:pPr marL="0" indent="0">
              <a:buFontTx/>
              <a:buNone/>
            </a:pPr>
            <a:r>
              <a:rPr lang="en-US" dirty="0"/>
              <a:t>    </a:t>
            </a:r>
            <a:r>
              <a:rPr lang="en-US" dirty="0" err="1"/>
              <a:t>AddQueue</a:t>
            </a:r>
            <a:r>
              <a:rPr lang="en-US" dirty="0"/>
              <a:t>('A', &amp;queue);</a:t>
            </a:r>
          </a:p>
          <a:p>
            <a:pPr marL="0" indent="0">
              <a:buFontTx/>
              <a:buNone/>
            </a:pPr>
            <a:endParaRPr lang="en-US" dirty="0"/>
          </a:p>
          <a:p>
            <a:pPr marL="0" indent="0">
              <a:buFontTx/>
              <a:buNone/>
            </a:pPr>
            <a:r>
              <a:rPr lang="en-US" dirty="0"/>
              <a:t>    </a:t>
            </a:r>
            <a:r>
              <a:rPr lang="en-US" dirty="0" err="1"/>
              <a:t>AddQueue</a:t>
            </a:r>
            <a:r>
              <a:rPr lang="en-US" dirty="0"/>
              <a:t>('C', &amp;queue);</a:t>
            </a:r>
          </a:p>
          <a:p>
            <a:pPr marL="0" indent="0">
              <a:buFontTx/>
              <a:buNone/>
            </a:pPr>
            <a:endParaRPr lang="en-US" dirty="0"/>
          </a:p>
          <a:p>
            <a:pPr marL="0" indent="0">
              <a:buFontTx/>
              <a:buNone/>
            </a:pPr>
            <a:r>
              <a:rPr lang="en-US" dirty="0"/>
              <a:t>    </a:t>
            </a:r>
            <a:r>
              <a:rPr lang="en-US" dirty="0" err="1"/>
              <a:t>AddQueue</a:t>
            </a:r>
            <a:r>
              <a:rPr lang="en-US" dirty="0"/>
              <a:t>('T', &amp;queue);</a:t>
            </a:r>
          </a:p>
          <a:p>
            <a:pPr marL="0" indent="0">
              <a:buFontTx/>
              <a:buNone/>
            </a:pPr>
            <a:endParaRPr lang="en-US" dirty="0"/>
          </a:p>
          <a:p>
            <a:pPr marL="0" indent="0">
              <a:buFontTx/>
              <a:buNone/>
            </a:pPr>
            <a:r>
              <a:rPr lang="en-US" dirty="0"/>
              <a:t>    </a:t>
            </a:r>
            <a:r>
              <a:rPr lang="en-US" dirty="0" err="1"/>
              <a:t>AddQueue</a:t>
            </a:r>
            <a:r>
              <a:rPr lang="en-US" dirty="0"/>
              <a:t>('Z', &amp;queue); //queue will be full</a:t>
            </a:r>
          </a:p>
          <a:p>
            <a:pPr marL="0" indent="0">
              <a:buFontTx/>
              <a:buNone/>
            </a:pPr>
            <a:endParaRPr lang="en-US" dirty="0"/>
          </a:p>
          <a:p>
            <a:pPr marL="0" indent="0">
              <a:buFontTx/>
              <a:buNone/>
            </a:pPr>
            <a:r>
              <a:rPr lang="en-US" dirty="0"/>
              <a:t>    </a:t>
            </a:r>
          </a:p>
          <a:p>
            <a:pPr marL="0" indent="0">
              <a:buFontTx/>
              <a:buNone/>
            </a:pPr>
            <a:endParaRPr lang="en-US" dirty="0"/>
          </a:p>
          <a:p>
            <a:pPr marL="0" indent="0">
              <a:buFontTx/>
              <a:buNone/>
            </a:pPr>
            <a:r>
              <a:rPr lang="en-US" dirty="0"/>
              <a:t>    </a:t>
            </a:r>
            <a:r>
              <a:rPr lang="en-US" dirty="0" err="1"/>
              <a:t>DeleteQueue</a:t>
            </a:r>
            <a:r>
              <a:rPr lang="en-US" dirty="0"/>
              <a:t>(&amp;item, &amp;queue);</a:t>
            </a:r>
          </a:p>
          <a:p>
            <a:pPr marL="0" indent="0">
              <a:buFontTx/>
              <a:buNone/>
            </a:pPr>
            <a:endParaRPr lang="en-US" dirty="0"/>
          </a:p>
          <a:p>
            <a:pPr marL="0" indent="0">
              <a:buFontTx/>
              <a:buNone/>
            </a:pPr>
            <a:r>
              <a:rPr lang="en-US" dirty="0"/>
              <a:t>    </a:t>
            </a:r>
            <a:r>
              <a:rPr lang="en-US" dirty="0" err="1"/>
              <a:t>printf</a:t>
            </a:r>
            <a:r>
              <a:rPr lang="en-US" dirty="0"/>
              <a:t>("remove %c from queue.\n", item);</a:t>
            </a:r>
          </a:p>
          <a:p>
            <a:pPr marL="0" indent="0">
              <a:buFontTx/>
              <a:buNone/>
            </a:pPr>
            <a:endParaRPr lang="en-US" dirty="0"/>
          </a:p>
          <a:p>
            <a:pPr marL="0" indent="0">
              <a:buFontTx/>
              <a:buNone/>
            </a:pPr>
            <a:r>
              <a:rPr lang="en-US" dirty="0"/>
              <a:t>    </a:t>
            </a:r>
            <a:r>
              <a:rPr lang="en-US" dirty="0" err="1"/>
              <a:t>AddQueue</a:t>
            </a:r>
            <a:r>
              <a:rPr lang="en-US" dirty="0"/>
              <a:t>('Q', &amp;queue);</a:t>
            </a:r>
          </a:p>
          <a:p>
            <a:pPr marL="0" indent="0">
              <a:buFontTx/>
              <a:buNone/>
            </a:pPr>
            <a:endParaRPr lang="en-US" dirty="0"/>
          </a:p>
          <a:p>
            <a:pPr marL="0" indent="0">
              <a:buFontTx/>
              <a:buNone/>
            </a:pPr>
            <a:r>
              <a:rPr lang="en-US" dirty="0"/>
              <a:t>    </a:t>
            </a:r>
            <a:r>
              <a:rPr lang="en-US" dirty="0" err="1"/>
              <a:t>DeleteQueue</a:t>
            </a:r>
            <a:r>
              <a:rPr lang="en-US" dirty="0"/>
              <a:t>(&amp;item, &amp;queue);</a:t>
            </a:r>
          </a:p>
          <a:p>
            <a:pPr marL="0" indent="0">
              <a:buFontTx/>
              <a:buNone/>
            </a:pPr>
            <a:endParaRPr lang="en-US" dirty="0"/>
          </a:p>
          <a:p>
            <a:pPr marL="0" indent="0">
              <a:buFontTx/>
              <a:buNone/>
            </a:pPr>
            <a:r>
              <a:rPr lang="en-US" dirty="0"/>
              <a:t>    </a:t>
            </a:r>
            <a:r>
              <a:rPr lang="en-US" dirty="0" err="1"/>
              <a:t>printf</a:t>
            </a:r>
            <a:r>
              <a:rPr lang="en-US" dirty="0"/>
              <a:t>("remove %c from queue.\n", item);</a:t>
            </a:r>
          </a:p>
          <a:p>
            <a:pPr marL="0" indent="0">
              <a:buFontTx/>
              <a:buNone/>
            </a:pPr>
            <a:endParaRPr lang="en-US" dirty="0"/>
          </a:p>
          <a:p>
            <a:pPr marL="0" indent="0">
              <a:buFontTx/>
              <a:buNone/>
            </a:pPr>
            <a:r>
              <a:rPr lang="en-US" dirty="0"/>
              <a:t>    </a:t>
            </a:r>
            <a:r>
              <a:rPr lang="en-US" dirty="0" err="1"/>
              <a:t>DeleteQueue</a:t>
            </a:r>
            <a:r>
              <a:rPr lang="en-US" dirty="0"/>
              <a:t>(&amp;item, &amp;queue);</a:t>
            </a:r>
          </a:p>
          <a:p>
            <a:pPr marL="0" indent="0">
              <a:buFontTx/>
              <a:buNone/>
            </a:pPr>
            <a:endParaRPr lang="en-US" dirty="0"/>
          </a:p>
          <a:p>
            <a:pPr marL="0" indent="0">
              <a:buFontTx/>
              <a:buNone/>
            </a:pPr>
            <a:r>
              <a:rPr lang="en-US" dirty="0"/>
              <a:t>    </a:t>
            </a:r>
            <a:r>
              <a:rPr lang="en-US" dirty="0" err="1"/>
              <a:t>printf</a:t>
            </a:r>
            <a:r>
              <a:rPr lang="en-US" dirty="0"/>
              <a:t>("remove %c from queue.\n", item);</a:t>
            </a:r>
          </a:p>
          <a:p>
            <a:pPr marL="0" indent="0">
              <a:buFontTx/>
              <a:buNone/>
            </a:pPr>
            <a:endParaRPr lang="en-US" dirty="0"/>
          </a:p>
          <a:p>
            <a:pPr marL="0" indent="0">
              <a:buFontTx/>
              <a:buNone/>
            </a:pPr>
            <a:r>
              <a:rPr lang="en-US" dirty="0"/>
              <a:t>    </a:t>
            </a:r>
            <a:r>
              <a:rPr lang="en-US" dirty="0" err="1"/>
              <a:t>DeleteQueue</a:t>
            </a:r>
            <a:r>
              <a:rPr lang="en-US" dirty="0"/>
              <a:t>(&amp;item, &amp;queue);</a:t>
            </a:r>
          </a:p>
          <a:p>
            <a:pPr marL="0" indent="0">
              <a:buFontTx/>
              <a:buNone/>
            </a:pPr>
            <a:endParaRPr lang="en-US" dirty="0"/>
          </a:p>
          <a:p>
            <a:pPr marL="0" indent="0">
              <a:buFontTx/>
              <a:buNone/>
            </a:pPr>
            <a:r>
              <a:rPr lang="en-US" dirty="0"/>
              <a:t>    </a:t>
            </a:r>
            <a:r>
              <a:rPr lang="en-US" dirty="0" err="1"/>
              <a:t>printf</a:t>
            </a:r>
            <a:r>
              <a:rPr lang="en-US" dirty="0"/>
              <a:t>("remove %c from queue.\n", item);</a:t>
            </a:r>
          </a:p>
          <a:p>
            <a:pPr marL="0" indent="0">
              <a:buFontTx/>
              <a:buNone/>
            </a:pPr>
            <a:endParaRPr lang="en-US" dirty="0"/>
          </a:p>
          <a:p>
            <a:pPr marL="0" indent="0">
              <a:buFontTx/>
              <a:buNone/>
            </a:pPr>
            <a:r>
              <a:rPr lang="en-US" dirty="0"/>
              <a:t>    return 0;</a:t>
            </a:r>
          </a:p>
          <a:p>
            <a:pPr marL="0" indent="0">
              <a:buFontTx/>
              <a:buNone/>
            </a:pPr>
            <a:endParaRPr lang="en-US" dirty="0"/>
          </a:p>
          <a:p>
            <a:pPr marL="0" indent="0">
              <a:buFontTx/>
              <a:buNone/>
            </a:pPr>
            <a:r>
              <a:rPr lang="en-US" dirty="0"/>
              <a:t>}</a:t>
            </a:r>
          </a:p>
        </p:txBody>
      </p:sp>
    </p:spTree>
    <p:extLst>
      <p:ext uri="{BB962C8B-B14F-4D97-AF65-F5344CB8AC3E}">
        <p14:creationId xmlns:p14="http://schemas.microsoft.com/office/powerpoint/2010/main" val="698327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21</a:t>
            </a:fld>
            <a:endParaRPr lang="en-US"/>
          </a:p>
        </p:txBody>
      </p:sp>
    </p:spTree>
    <p:extLst>
      <p:ext uri="{BB962C8B-B14F-4D97-AF65-F5344CB8AC3E}">
        <p14:creationId xmlns:p14="http://schemas.microsoft.com/office/powerpoint/2010/main" val="1046714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2F366094-956C-4EAE-8D5D-57B1B6CC2130}" type="slidenum">
              <a:rPr lang="en-US" altLang="en-US" sz="1200">
                <a:solidFill>
                  <a:schemeClr val="tx1"/>
                </a:solidFill>
              </a:rPr>
              <a:pPr eaLnBrk="1" hangingPunct="1"/>
              <a:t>22</a:t>
            </a:fld>
            <a:endParaRPr lang="en-US" altLang="en-US" sz="1200">
              <a:solidFill>
                <a:schemeClr val="tx1"/>
              </a:solidFill>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dirty="0"/>
              <a:t>}</a:t>
            </a:r>
          </a:p>
          <a:p>
            <a:pPr eaLnBrk="1" hangingPunct="1"/>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9/2/2026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9/2/2026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82602" y="4455816"/>
            <a:ext cx="11260666" cy="1627101"/>
          </a:xfrm>
        </p:spPr>
        <p:txBody>
          <a:bodyPr>
            <a:noAutofit/>
          </a:bodyPr>
          <a:lstStyle/>
          <a:p>
            <a:r>
              <a:rPr lang="en-US" sz="5000" dirty="0">
                <a:solidFill>
                  <a:schemeClr val="bg1"/>
                </a:solidFill>
              </a:rPr>
              <a:t>Queues</a:t>
            </a:r>
            <a:br>
              <a:rPr lang="en-US" sz="5000" dirty="0">
                <a:solidFill>
                  <a:schemeClr val="bg1"/>
                </a:solidFill>
              </a:rPr>
            </a:br>
            <a:endParaRPr lang="en-US" sz="5000" dirty="0">
              <a:solidFill>
                <a:schemeClr val="bg1"/>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489" y="2378181"/>
            <a:ext cx="7556526" cy="2461777"/>
          </a:xfrm>
        </p:spPr>
        <p:txBody>
          <a:bodyPr anchor="t" anchorCtr="0">
            <a:noAutofit/>
          </a:bodyPr>
          <a:lstStyle/>
          <a:p>
            <a:pPr>
              <a:lnSpc>
                <a:spcPct val="95000"/>
              </a:lnSpc>
              <a:spcAft>
                <a:spcPts val="450"/>
              </a:spcAft>
              <a:buFont typeface="Wingdings" pitchFamily="2" charset="2"/>
              <a:buChar char="Ø"/>
            </a:pPr>
            <a:r>
              <a:rPr lang="en-US" sz="3200" dirty="0"/>
              <a:t>Discuss Quiz 1 </a:t>
            </a:r>
          </a:p>
        </p:txBody>
      </p:sp>
      <p:sp>
        <p:nvSpPr>
          <p:cNvPr id="2" name="TextBox 1"/>
          <p:cNvSpPr txBox="1"/>
          <p:nvPr/>
        </p:nvSpPr>
        <p:spPr>
          <a:xfrm>
            <a:off x="509489"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Tree>
    <p:extLst>
      <p:ext uri="{BB962C8B-B14F-4D97-AF65-F5344CB8AC3E}">
        <p14:creationId xmlns:p14="http://schemas.microsoft.com/office/powerpoint/2010/main" val="20441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BDCC9-9958-BDD2-0D92-1B9392280F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B978B-4378-E2B3-951D-915D66EB4462}"/>
              </a:ext>
            </a:extLst>
          </p:cNvPr>
          <p:cNvSpPr>
            <a:spLocks noGrp="1"/>
          </p:cNvSpPr>
          <p:nvPr>
            <p:ph idx="1"/>
          </p:nvPr>
        </p:nvSpPr>
        <p:spPr>
          <a:xfrm>
            <a:off x="509488" y="2383971"/>
            <a:ext cx="10528625" cy="2455987"/>
          </a:xfrm>
        </p:spPr>
        <p:txBody>
          <a:bodyPr anchor="t" anchorCtr="0">
            <a:noAutofit/>
          </a:bodyPr>
          <a:lstStyle/>
          <a:p>
            <a:pPr>
              <a:lnSpc>
                <a:spcPct val="95000"/>
              </a:lnSpc>
              <a:spcAft>
                <a:spcPts val="450"/>
              </a:spcAft>
              <a:buFont typeface="Wingdings" pitchFamily="2" charset="2"/>
              <a:buChar char="Ø"/>
            </a:pPr>
            <a:r>
              <a:rPr lang="en-US" sz="3200" dirty="0"/>
              <a:t>Convert this postfix to infix notation and solve:</a:t>
            </a:r>
          </a:p>
          <a:p>
            <a:pPr marL="0" indent="0">
              <a:lnSpc>
                <a:spcPct val="95000"/>
              </a:lnSpc>
              <a:spcAft>
                <a:spcPts val="450"/>
              </a:spcAft>
              <a:buNone/>
            </a:pPr>
            <a:endParaRPr lang="en-US" sz="3200" dirty="0"/>
          </a:p>
        </p:txBody>
      </p:sp>
      <p:sp>
        <p:nvSpPr>
          <p:cNvPr id="2" name="TextBox 1">
            <a:extLst>
              <a:ext uri="{FF2B5EF4-FFF2-40B4-BE49-F238E27FC236}">
                <a16:creationId xmlns:a16="http://schemas.microsoft.com/office/drawing/2014/main" id="{29A6318E-FFA4-B53F-2237-BFCF675E3796}"/>
              </a:ext>
            </a:extLst>
          </p:cNvPr>
          <p:cNvSpPr txBox="1"/>
          <p:nvPr/>
        </p:nvSpPr>
        <p:spPr>
          <a:xfrm>
            <a:off x="509489"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graphicFrame>
        <p:nvGraphicFramePr>
          <p:cNvPr id="4" name="Table 3">
            <a:extLst>
              <a:ext uri="{FF2B5EF4-FFF2-40B4-BE49-F238E27FC236}">
                <a16:creationId xmlns:a16="http://schemas.microsoft.com/office/drawing/2014/main" id="{71F147E3-095D-D1DC-4F8A-857ADD4BBEF6}"/>
              </a:ext>
            </a:extLst>
          </p:cNvPr>
          <p:cNvGraphicFramePr>
            <a:graphicFrameLocks noGrp="1"/>
          </p:cNvGraphicFramePr>
          <p:nvPr>
            <p:extLst>
              <p:ext uri="{D42A27DB-BD31-4B8C-83A1-F6EECF244321}">
                <p14:modId xmlns:p14="http://schemas.microsoft.com/office/powerpoint/2010/main" val="3013012066"/>
              </p:ext>
            </p:extLst>
          </p:nvPr>
        </p:nvGraphicFramePr>
        <p:xfrm>
          <a:off x="1770743" y="3243580"/>
          <a:ext cx="8128001" cy="5791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898929912"/>
                    </a:ext>
                  </a:extLst>
                </a:gridCol>
                <a:gridCol w="1161143">
                  <a:extLst>
                    <a:ext uri="{9D8B030D-6E8A-4147-A177-3AD203B41FA5}">
                      <a16:colId xmlns:a16="http://schemas.microsoft.com/office/drawing/2014/main" val="2727373227"/>
                    </a:ext>
                  </a:extLst>
                </a:gridCol>
                <a:gridCol w="1161143">
                  <a:extLst>
                    <a:ext uri="{9D8B030D-6E8A-4147-A177-3AD203B41FA5}">
                      <a16:colId xmlns:a16="http://schemas.microsoft.com/office/drawing/2014/main" val="1197046167"/>
                    </a:ext>
                  </a:extLst>
                </a:gridCol>
                <a:gridCol w="1161143">
                  <a:extLst>
                    <a:ext uri="{9D8B030D-6E8A-4147-A177-3AD203B41FA5}">
                      <a16:colId xmlns:a16="http://schemas.microsoft.com/office/drawing/2014/main" val="2545827961"/>
                    </a:ext>
                  </a:extLst>
                </a:gridCol>
                <a:gridCol w="1161143">
                  <a:extLst>
                    <a:ext uri="{9D8B030D-6E8A-4147-A177-3AD203B41FA5}">
                      <a16:colId xmlns:a16="http://schemas.microsoft.com/office/drawing/2014/main" val="40141479"/>
                    </a:ext>
                  </a:extLst>
                </a:gridCol>
                <a:gridCol w="1161143">
                  <a:extLst>
                    <a:ext uri="{9D8B030D-6E8A-4147-A177-3AD203B41FA5}">
                      <a16:colId xmlns:a16="http://schemas.microsoft.com/office/drawing/2014/main" val="1577411946"/>
                    </a:ext>
                  </a:extLst>
                </a:gridCol>
                <a:gridCol w="1161143">
                  <a:extLst>
                    <a:ext uri="{9D8B030D-6E8A-4147-A177-3AD203B41FA5}">
                      <a16:colId xmlns:a16="http://schemas.microsoft.com/office/drawing/2014/main" val="2184207342"/>
                    </a:ext>
                  </a:extLst>
                </a:gridCol>
              </a:tblGrid>
              <a:tr h="370840">
                <a:tc>
                  <a:txBody>
                    <a:bodyPr/>
                    <a:lstStyle/>
                    <a:p>
                      <a:r>
                        <a:rPr lang="en-US" sz="3200" dirty="0"/>
                        <a:t>3</a:t>
                      </a:r>
                    </a:p>
                  </a:txBody>
                  <a:tcPr/>
                </a:tc>
                <a:tc>
                  <a:txBody>
                    <a:bodyPr/>
                    <a:lstStyle/>
                    <a:p>
                      <a:r>
                        <a:rPr lang="en-US" sz="3200" dirty="0"/>
                        <a:t>2</a:t>
                      </a:r>
                    </a:p>
                  </a:txBody>
                  <a:tcPr/>
                </a:tc>
                <a:tc>
                  <a:txBody>
                    <a:bodyPr/>
                    <a:lstStyle/>
                    <a:p>
                      <a:r>
                        <a:rPr lang="en-US" sz="3200" dirty="0"/>
                        <a:t>+</a:t>
                      </a:r>
                    </a:p>
                  </a:txBody>
                  <a:tcPr/>
                </a:tc>
                <a:tc>
                  <a:txBody>
                    <a:bodyPr/>
                    <a:lstStyle/>
                    <a:p>
                      <a:r>
                        <a:rPr lang="en-US" sz="3200" dirty="0"/>
                        <a:t>6</a:t>
                      </a:r>
                    </a:p>
                  </a:txBody>
                  <a:tcPr/>
                </a:tc>
                <a:tc>
                  <a:txBody>
                    <a:bodyPr/>
                    <a:lstStyle/>
                    <a:p>
                      <a:r>
                        <a:rPr lang="en-US" sz="3200" dirty="0"/>
                        <a:t>3</a:t>
                      </a:r>
                    </a:p>
                  </a:txBody>
                  <a:tcPr/>
                </a:tc>
                <a:tc>
                  <a:txBody>
                    <a:bodyPr/>
                    <a:lstStyle/>
                    <a:p>
                      <a:r>
                        <a:rPr lang="en-US" sz="3200" dirty="0"/>
                        <a:t>-</a:t>
                      </a:r>
                    </a:p>
                  </a:txBody>
                  <a:tcPr/>
                </a:tc>
                <a:tc>
                  <a:txBody>
                    <a:bodyPr/>
                    <a:lstStyle/>
                    <a:p>
                      <a:r>
                        <a:rPr lang="en-US" sz="3200" dirty="0"/>
                        <a:t>*</a:t>
                      </a:r>
                    </a:p>
                  </a:txBody>
                  <a:tcPr/>
                </a:tc>
                <a:extLst>
                  <a:ext uri="{0D108BD9-81ED-4DB2-BD59-A6C34878D82A}">
                    <a16:rowId xmlns:a16="http://schemas.microsoft.com/office/drawing/2014/main" val="2095012125"/>
                  </a:ext>
                </a:extLst>
              </a:tr>
            </a:tbl>
          </a:graphicData>
        </a:graphic>
      </p:graphicFrame>
    </p:spTree>
    <p:extLst>
      <p:ext uri="{BB962C8B-B14F-4D97-AF65-F5344CB8AC3E}">
        <p14:creationId xmlns:p14="http://schemas.microsoft.com/office/powerpoint/2010/main" val="642180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F6603-4F01-1926-1ECD-D52959D4CC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B55E8C-4D3F-939D-ACA3-209BC0453569}"/>
              </a:ext>
            </a:extLst>
          </p:cNvPr>
          <p:cNvSpPr>
            <a:spLocks noGrp="1"/>
          </p:cNvSpPr>
          <p:nvPr>
            <p:ph idx="1"/>
          </p:nvPr>
        </p:nvSpPr>
        <p:spPr>
          <a:xfrm>
            <a:off x="509489" y="2024742"/>
            <a:ext cx="10528625" cy="2455987"/>
          </a:xfrm>
        </p:spPr>
        <p:txBody>
          <a:bodyPr anchor="t" anchorCtr="0">
            <a:noAutofit/>
          </a:bodyPr>
          <a:lstStyle/>
          <a:p>
            <a:pPr>
              <a:lnSpc>
                <a:spcPct val="95000"/>
              </a:lnSpc>
              <a:spcAft>
                <a:spcPts val="450"/>
              </a:spcAft>
              <a:buFont typeface="Wingdings" pitchFamily="2" charset="2"/>
              <a:buChar char="Ø"/>
            </a:pPr>
            <a:r>
              <a:rPr lang="en-US" sz="3200" dirty="0"/>
              <a:t>What is the Big O time complexity for this function ?</a:t>
            </a:r>
          </a:p>
          <a:p>
            <a:pPr marL="0" indent="0">
              <a:lnSpc>
                <a:spcPct val="95000"/>
              </a:lnSpc>
              <a:spcAft>
                <a:spcPts val="450"/>
              </a:spcAft>
              <a:buNone/>
            </a:pPr>
            <a:endParaRPr lang="en-US" sz="3200" dirty="0"/>
          </a:p>
        </p:txBody>
      </p:sp>
      <p:sp>
        <p:nvSpPr>
          <p:cNvPr id="2" name="TextBox 1">
            <a:extLst>
              <a:ext uri="{FF2B5EF4-FFF2-40B4-BE49-F238E27FC236}">
                <a16:creationId xmlns:a16="http://schemas.microsoft.com/office/drawing/2014/main" id="{5E0C2F6E-2B99-2B0A-7E00-EF00EEA3CFF4}"/>
              </a:ext>
            </a:extLst>
          </p:cNvPr>
          <p:cNvSpPr txBox="1"/>
          <p:nvPr/>
        </p:nvSpPr>
        <p:spPr>
          <a:xfrm>
            <a:off x="509489"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
        <p:nvSpPr>
          <p:cNvPr id="6" name="TextBox 5">
            <a:extLst>
              <a:ext uri="{FF2B5EF4-FFF2-40B4-BE49-F238E27FC236}">
                <a16:creationId xmlns:a16="http://schemas.microsoft.com/office/drawing/2014/main" id="{42855AFC-7068-3361-39AA-CFD78C2CE264}"/>
              </a:ext>
            </a:extLst>
          </p:cNvPr>
          <p:cNvSpPr txBox="1"/>
          <p:nvPr/>
        </p:nvSpPr>
        <p:spPr>
          <a:xfrm>
            <a:off x="3046640" y="2711014"/>
            <a:ext cx="6098720" cy="3539430"/>
          </a:xfrm>
          <a:prstGeom prst="rect">
            <a:avLst/>
          </a:prstGeom>
          <a:noFill/>
        </p:spPr>
        <p:txBody>
          <a:bodyPr wrap="square">
            <a:spAutoFit/>
          </a:bodyPr>
          <a:lstStyle/>
          <a:p>
            <a:r>
              <a:rPr lang="en-US" sz="3200" dirty="0">
                <a:solidFill>
                  <a:schemeClr val="tx2"/>
                </a:solidFill>
                <a:latin typeface="Times New Roman" panose="02020603050405020304" pitchFamily="18" charset="0"/>
              </a:rPr>
              <a:t>void problem1(int n) {</a:t>
            </a:r>
          </a:p>
          <a:p>
            <a:r>
              <a:rPr lang="en-US" sz="3200" dirty="0">
                <a:solidFill>
                  <a:schemeClr val="tx2"/>
                </a:solidFill>
                <a:latin typeface="Times New Roman" panose="02020603050405020304" pitchFamily="18" charset="0"/>
              </a:rPr>
              <a:t>    for (int </a:t>
            </a:r>
            <a:r>
              <a:rPr lang="en-US" sz="3200" dirty="0" err="1">
                <a:solidFill>
                  <a:schemeClr val="tx2"/>
                </a:solidFill>
                <a:latin typeface="Times New Roman" panose="02020603050405020304" pitchFamily="18" charset="0"/>
              </a:rPr>
              <a:t>i</a:t>
            </a:r>
            <a:r>
              <a:rPr lang="en-US" sz="3200" dirty="0">
                <a:solidFill>
                  <a:schemeClr val="tx2"/>
                </a:solidFill>
                <a:latin typeface="Times New Roman" panose="02020603050405020304" pitchFamily="18" charset="0"/>
              </a:rPr>
              <a:t> = 0; </a:t>
            </a:r>
            <a:r>
              <a:rPr lang="en-US" sz="3200" dirty="0" err="1">
                <a:solidFill>
                  <a:schemeClr val="tx2"/>
                </a:solidFill>
                <a:latin typeface="Times New Roman" panose="02020603050405020304" pitchFamily="18" charset="0"/>
              </a:rPr>
              <a:t>i</a:t>
            </a:r>
            <a:r>
              <a:rPr lang="en-US" sz="3200" dirty="0">
                <a:solidFill>
                  <a:schemeClr val="tx2"/>
                </a:solidFill>
                <a:latin typeface="Times New Roman" panose="02020603050405020304" pitchFamily="18" charset="0"/>
              </a:rPr>
              <a:t> &lt; n; </a:t>
            </a:r>
            <a:r>
              <a:rPr lang="en-US" sz="3200" dirty="0" err="1">
                <a:solidFill>
                  <a:schemeClr val="tx2"/>
                </a:solidFill>
                <a:latin typeface="Times New Roman" panose="02020603050405020304" pitchFamily="18" charset="0"/>
              </a:rPr>
              <a:t>i</a:t>
            </a:r>
            <a:r>
              <a:rPr lang="en-US" sz="3200" dirty="0">
                <a:solidFill>
                  <a:schemeClr val="tx2"/>
                </a:solidFill>
                <a:latin typeface="Times New Roman" panose="02020603050405020304" pitchFamily="18" charset="0"/>
              </a:rPr>
              <a:t>++) {</a:t>
            </a:r>
          </a:p>
          <a:p>
            <a:r>
              <a:rPr lang="en-US" sz="3200" dirty="0">
                <a:solidFill>
                  <a:schemeClr val="tx2"/>
                </a:solidFill>
                <a:latin typeface="Times New Roman" panose="02020603050405020304" pitchFamily="18" charset="0"/>
              </a:rPr>
              <a:t>        for (int j = 0; j &lt; n; </a:t>
            </a:r>
            <a:r>
              <a:rPr lang="en-US" sz="3200" dirty="0" err="1">
                <a:solidFill>
                  <a:schemeClr val="tx2"/>
                </a:solidFill>
                <a:latin typeface="Times New Roman" panose="02020603050405020304" pitchFamily="18" charset="0"/>
              </a:rPr>
              <a:t>j++</a:t>
            </a:r>
            <a:r>
              <a:rPr lang="en-US" sz="3200" dirty="0">
                <a:solidFill>
                  <a:schemeClr val="tx2"/>
                </a:solidFill>
                <a:latin typeface="Times New Roman" panose="02020603050405020304" pitchFamily="18" charset="0"/>
              </a:rPr>
              <a:t>) {</a:t>
            </a:r>
          </a:p>
          <a:p>
            <a:r>
              <a:rPr lang="en-US" sz="3200" dirty="0">
                <a:solidFill>
                  <a:schemeClr val="tx2"/>
                </a:solidFill>
                <a:latin typeface="Times New Roman" panose="02020603050405020304" pitchFamily="18" charset="0"/>
              </a:rPr>
              <a:t>            </a:t>
            </a:r>
            <a:r>
              <a:rPr lang="en-US" sz="3200" dirty="0" err="1">
                <a:solidFill>
                  <a:schemeClr val="tx2"/>
                </a:solidFill>
                <a:latin typeface="Times New Roman" panose="02020603050405020304" pitchFamily="18" charset="0"/>
              </a:rPr>
              <a:t>printf</a:t>
            </a:r>
            <a:r>
              <a:rPr lang="en-US" sz="3200" dirty="0">
                <a:solidFill>
                  <a:schemeClr val="tx2"/>
                </a:solidFill>
                <a:latin typeface="Times New Roman" panose="02020603050405020304" pitchFamily="18" charset="0"/>
              </a:rPr>
              <a:t>("%d %d\n", </a:t>
            </a:r>
            <a:r>
              <a:rPr lang="en-US" sz="3200" dirty="0" err="1">
                <a:solidFill>
                  <a:schemeClr val="tx2"/>
                </a:solidFill>
                <a:latin typeface="Times New Roman" panose="02020603050405020304" pitchFamily="18" charset="0"/>
              </a:rPr>
              <a:t>i</a:t>
            </a:r>
            <a:r>
              <a:rPr lang="en-US" sz="3200" dirty="0">
                <a:solidFill>
                  <a:schemeClr val="tx2"/>
                </a:solidFill>
                <a:latin typeface="Times New Roman" panose="02020603050405020304" pitchFamily="18" charset="0"/>
              </a:rPr>
              <a:t>, j);</a:t>
            </a:r>
          </a:p>
          <a:p>
            <a:r>
              <a:rPr lang="en-US" sz="3200" dirty="0">
                <a:solidFill>
                  <a:schemeClr val="tx2"/>
                </a:solidFill>
                <a:latin typeface="Times New Roman" panose="02020603050405020304" pitchFamily="18" charset="0"/>
              </a:rPr>
              <a:t>        }</a:t>
            </a:r>
          </a:p>
          <a:p>
            <a:r>
              <a:rPr lang="en-US" sz="3200" dirty="0">
                <a:solidFill>
                  <a:schemeClr val="tx2"/>
                </a:solidFill>
                <a:latin typeface="Times New Roman" panose="02020603050405020304" pitchFamily="18" charset="0"/>
              </a:rPr>
              <a:t>    }</a:t>
            </a:r>
          </a:p>
          <a:p>
            <a:r>
              <a:rPr lang="en-US" sz="3200" dirty="0">
                <a:solidFill>
                  <a:schemeClr val="tx2"/>
                </a:solidFill>
                <a:latin typeface="Times New Roman" panose="02020603050405020304" pitchFamily="18" charset="0"/>
              </a:rPr>
              <a:t>}</a:t>
            </a:r>
          </a:p>
        </p:txBody>
      </p:sp>
    </p:spTree>
    <p:extLst>
      <p:ext uri="{BB962C8B-B14F-4D97-AF65-F5344CB8AC3E}">
        <p14:creationId xmlns:p14="http://schemas.microsoft.com/office/powerpoint/2010/main" val="3953630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850F-3165-5064-FFED-C8C7FB709B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A60D9-962C-18C9-D8B4-7FA2DF7424A5}"/>
              </a:ext>
            </a:extLst>
          </p:cNvPr>
          <p:cNvSpPr>
            <a:spLocks noGrp="1"/>
          </p:cNvSpPr>
          <p:nvPr>
            <p:ph idx="1"/>
          </p:nvPr>
        </p:nvSpPr>
        <p:spPr>
          <a:xfrm>
            <a:off x="509489" y="2024742"/>
            <a:ext cx="10528625" cy="2455987"/>
          </a:xfrm>
        </p:spPr>
        <p:txBody>
          <a:bodyPr anchor="t" anchorCtr="0">
            <a:noAutofit/>
          </a:bodyPr>
          <a:lstStyle/>
          <a:p>
            <a:pPr>
              <a:lnSpc>
                <a:spcPct val="95000"/>
              </a:lnSpc>
              <a:spcAft>
                <a:spcPts val="450"/>
              </a:spcAft>
              <a:buFont typeface="Wingdings" pitchFamily="2" charset="2"/>
              <a:buChar char="Ø"/>
            </a:pPr>
            <a:r>
              <a:rPr lang="en-US" sz="3200" dirty="0"/>
              <a:t>What is the Big O time complexity for this function ?</a:t>
            </a:r>
          </a:p>
          <a:p>
            <a:pPr marL="0" indent="0">
              <a:lnSpc>
                <a:spcPct val="95000"/>
              </a:lnSpc>
              <a:spcAft>
                <a:spcPts val="450"/>
              </a:spcAft>
              <a:buNone/>
            </a:pPr>
            <a:endParaRPr lang="en-US" sz="3200" dirty="0"/>
          </a:p>
        </p:txBody>
      </p:sp>
      <p:sp>
        <p:nvSpPr>
          <p:cNvPr id="2" name="TextBox 1">
            <a:extLst>
              <a:ext uri="{FF2B5EF4-FFF2-40B4-BE49-F238E27FC236}">
                <a16:creationId xmlns:a16="http://schemas.microsoft.com/office/drawing/2014/main" id="{9039FEC7-7543-AFB8-CF15-053D2583BEFD}"/>
              </a:ext>
            </a:extLst>
          </p:cNvPr>
          <p:cNvSpPr txBox="1"/>
          <p:nvPr/>
        </p:nvSpPr>
        <p:spPr>
          <a:xfrm>
            <a:off x="509489"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
        <p:nvSpPr>
          <p:cNvPr id="6" name="TextBox 5">
            <a:extLst>
              <a:ext uri="{FF2B5EF4-FFF2-40B4-BE49-F238E27FC236}">
                <a16:creationId xmlns:a16="http://schemas.microsoft.com/office/drawing/2014/main" id="{65F3F90E-66AB-C8FB-8334-7E6D46FCF8FC}"/>
              </a:ext>
            </a:extLst>
          </p:cNvPr>
          <p:cNvSpPr txBox="1"/>
          <p:nvPr/>
        </p:nvSpPr>
        <p:spPr>
          <a:xfrm>
            <a:off x="3046640" y="2711014"/>
            <a:ext cx="6098720" cy="4031873"/>
          </a:xfrm>
          <a:prstGeom prst="rect">
            <a:avLst/>
          </a:prstGeom>
          <a:noFill/>
        </p:spPr>
        <p:txBody>
          <a:bodyPr wrap="square">
            <a:spAutoFit/>
          </a:bodyPr>
          <a:lstStyle/>
          <a:p>
            <a:r>
              <a:rPr lang="nn-NO" sz="3200" dirty="0">
                <a:solidFill>
                  <a:schemeClr val="tx2"/>
                </a:solidFill>
                <a:latin typeface="Times New Roman" panose="02020603050405020304" pitchFamily="18" charset="0"/>
              </a:rPr>
              <a:t>void problem2(int n) {</a:t>
            </a:r>
          </a:p>
          <a:p>
            <a:r>
              <a:rPr lang="nn-NO" sz="3200" dirty="0">
                <a:solidFill>
                  <a:schemeClr val="tx2"/>
                </a:solidFill>
                <a:latin typeface="Times New Roman" panose="02020603050405020304" pitchFamily="18" charset="0"/>
              </a:rPr>
              <a:t>    int i = 1;</a:t>
            </a:r>
          </a:p>
          <a:p>
            <a:endParaRPr lang="nn-NO" sz="3200" dirty="0">
              <a:solidFill>
                <a:schemeClr val="tx2"/>
              </a:solidFill>
              <a:latin typeface="Times New Roman" panose="02020603050405020304" pitchFamily="18" charset="0"/>
            </a:endParaRPr>
          </a:p>
          <a:p>
            <a:r>
              <a:rPr lang="nn-NO" sz="3200" dirty="0">
                <a:solidFill>
                  <a:schemeClr val="tx2"/>
                </a:solidFill>
                <a:latin typeface="Times New Roman" panose="02020603050405020304" pitchFamily="18" charset="0"/>
              </a:rPr>
              <a:t>    while (i &lt; n) {</a:t>
            </a:r>
          </a:p>
          <a:p>
            <a:r>
              <a:rPr lang="nn-NO" sz="3200" dirty="0">
                <a:solidFill>
                  <a:schemeClr val="tx2"/>
                </a:solidFill>
                <a:latin typeface="Times New Roman" panose="02020603050405020304" pitchFamily="18" charset="0"/>
              </a:rPr>
              <a:t>        printf("%d\n", i);</a:t>
            </a:r>
          </a:p>
          <a:p>
            <a:r>
              <a:rPr lang="nn-NO" sz="3200" dirty="0">
                <a:solidFill>
                  <a:schemeClr val="tx2"/>
                </a:solidFill>
                <a:latin typeface="Times New Roman" panose="02020603050405020304" pitchFamily="18" charset="0"/>
              </a:rPr>
              <a:t>        i = i * 2;</a:t>
            </a:r>
          </a:p>
          <a:p>
            <a:r>
              <a:rPr lang="nn-NO" sz="3200" dirty="0">
                <a:solidFill>
                  <a:schemeClr val="tx2"/>
                </a:solidFill>
                <a:latin typeface="Times New Roman" panose="02020603050405020304" pitchFamily="18" charset="0"/>
              </a:rPr>
              <a:t>    }</a:t>
            </a:r>
          </a:p>
          <a:p>
            <a:r>
              <a:rPr lang="nn-NO" sz="3200" dirty="0">
                <a:solidFill>
                  <a:schemeClr val="tx2"/>
                </a:solidFill>
                <a:latin typeface="Times New Roman" panose="02020603050405020304" pitchFamily="18" charset="0"/>
              </a:rPr>
              <a:t>}</a:t>
            </a:r>
          </a:p>
        </p:txBody>
      </p:sp>
    </p:spTree>
    <p:extLst>
      <p:ext uri="{BB962C8B-B14F-4D97-AF65-F5344CB8AC3E}">
        <p14:creationId xmlns:p14="http://schemas.microsoft.com/office/powerpoint/2010/main" val="133010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D3BB-2FBF-14EB-94DF-2E3213321C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0E30F0-BD69-7ED9-1525-920578DFA949}"/>
              </a:ext>
            </a:extLst>
          </p:cNvPr>
          <p:cNvSpPr>
            <a:spLocks noGrp="1"/>
          </p:cNvSpPr>
          <p:nvPr>
            <p:ph idx="1"/>
          </p:nvPr>
        </p:nvSpPr>
        <p:spPr>
          <a:xfrm>
            <a:off x="346203" y="1763485"/>
            <a:ext cx="10528625" cy="2455987"/>
          </a:xfrm>
        </p:spPr>
        <p:txBody>
          <a:bodyPr anchor="t" anchorCtr="0">
            <a:noAutofit/>
          </a:bodyPr>
          <a:lstStyle/>
          <a:p>
            <a:pPr>
              <a:lnSpc>
                <a:spcPct val="95000"/>
              </a:lnSpc>
              <a:spcAft>
                <a:spcPts val="450"/>
              </a:spcAft>
              <a:buFont typeface="Wingdings" pitchFamily="2" charset="2"/>
              <a:buChar char="Ø"/>
            </a:pPr>
            <a:r>
              <a:rPr lang="en-US" sz="3200" dirty="0"/>
              <a:t>What is the Big O time complexity for this function ?</a:t>
            </a:r>
          </a:p>
          <a:p>
            <a:pPr marL="0" indent="0">
              <a:lnSpc>
                <a:spcPct val="95000"/>
              </a:lnSpc>
              <a:spcAft>
                <a:spcPts val="450"/>
              </a:spcAft>
              <a:buNone/>
            </a:pPr>
            <a:endParaRPr lang="en-US" sz="3200" dirty="0"/>
          </a:p>
        </p:txBody>
      </p:sp>
      <p:sp>
        <p:nvSpPr>
          <p:cNvPr id="2" name="TextBox 1">
            <a:extLst>
              <a:ext uri="{FF2B5EF4-FFF2-40B4-BE49-F238E27FC236}">
                <a16:creationId xmlns:a16="http://schemas.microsoft.com/office/drawing/2014/main" id="{1E7700AA-518B-03B2-F612-683888D69EAF}"/>
              </a:ext>
            </a:extLst>
          </p:cNvPr>
          <p:cNvSpPr txBox="1"/>
          <p:nvPr/>
        </p:nvSpPr>
        <p:spPr>
          <a:xfrm>
            <a:off x="509489" y="886949"/>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
        <p:nvSpPr>
          <p:cNvPr id="6" name="TextBox 5">
            <a:extLst>
              <a:ext uri="{FF2B5EF4-FFF2-40B4-BE49-F238E27FC236}">
                <a16:creationId xmlns:a16="http://schemas.microsoft.com/office/drawing/2014/main" id="{CE978469-E5E8-CD7F-E00B-4A29F58F2E15}"/>
              </a:ext>
            </a:extLst>
          </p:cNvPr>
          <p:cNvSpPr txBox="1"/>
          <p:nvPr/>
        </p:nvSpPr>
        <p:spPr>
          <a:xfrm>
            <a:off x="2360840" y="2333685"/>
            <a:ext cx="6098720" cy="4524315"/>
          </a:xfrm>
          <a:prstGeom prst="rect">
            <a:avLst/>
          </a:prstGeom>
          <a:noFill/>
        </p:spPr>
        <p:txBody>
          <a:bodyPr wrap="square">
            <a:spAutoFit/>
          </a:bodyPr>
          <a:lstStyle/>
          <a:p>
            <a:r>
              <a:rPr lang="nn-NO" sz="2400" dirty="0">
                <a:solidFill>
                  <a:schemeClr val="tx2"/>
                </a:solidFill>
                <a:latin typeface="Times New Roman" panose="02020603050405020304" pitchFamily="18" charset="0"/>
              </a:rPr>
              <a:t>void problem3(int n) {</a:t>
            </a:r>
          </a:p>
          <a:p>
            <a:r>
              <a:rPr lang="nn-NO" sz="2400" dirty="0">
                <a:solidFill>
                  <a:schemeClr val="tx2"/>
                </a:solidFill>
                <a:latin typeface="Times New Roman" panose="02020603050405020304" pitchFamily="18" charset="0"/>
              </a:rPr>
              <a:t>    for (int i = 0; i &lt; n; i++) {</a:t>
            </a:r>
          </a:p>
          <a:p>
            <a:r>
              <a:rPr lang="nn-NO" sz="2400" dirty="0">
                <a:solidFill>
                  <a:schemeClr val="tx2"/>
                </a:solidFill>
                <a:latin typeface="Times New Roman" panose="02020603050405020304" pitchFamily="18" charset="0"/>
              </a:rPr>
              <a:t>        printf("%d\n", i);</a:t>
            </a:r>
          </a:p>
          <a:p>
            <a:r>
              <a:rPr lang="nn-NO" sz="2400" dirty="0">
                <a:solidFill>
                  <a:schemeClr val="tx2"/>
                </a:solidFill>
                <a:latin typeface="Times New Roman" panose="02020603050405020304" pitchFamily="18" charset="0"/>
              </a:rPr>
              <a:t>    }</a:t>
            </a:r>
          </a:p>
          <a:p>
            <a:endParaRPr lang="nn-NO" sz="2400" dirty="0">
              <a:solidFill>
                <a:schemeClr val="tx2"/>
              </a:solidFill>
              <a:latin typeface="Times New Roman" panose="02020603050405020304" pitchFamily="18" charset="0"/>
            </a:endParaRPr>
          </a:p>
          <a:p>
            <a:r>
              <a:rPr lang="nn-NO" sz="2400" dirty="0">
                <a:solidFill>
                  <a:schemeClr val="tx2"/>
                </a:solidFill>
                <a:latin typeface="Times New Roman" panose="02020603050405020304" pitchFamily="18" charset="0"/>
              </a:rPr>
              <a:t>    for (int i = 0; i &lt; n; i++) {</a:t>
            </a:r>
          </a:p>
          <a:p>
            <a:r>
              <a:rPr lang="nn-NO" sz="2400" dirty="0">
                <a:solidFill>
                  <a:schemeClr val="tx2"/>
                </a:solidFill>
                <a:latin typeface="Times New Roman" panose="02020603050405020304" pitchFamily="18" charset="0"/>
              </a:rPr>
              <a:t>        for (int j = 0; j &lt; n; j++) {</a:t>
            </a:r>
          </a:p>
          <a:p>
            <a:r>
              <a:rPr lang="nn-NO" sz="2400" dirty="0">
                <a:solidFill>
                  <a:schemeClr val="tx2"/>
                </a:solidFill>
                <a:latin typeface="Times New Roman" panose="02020603050405020304" pitchFamily="18" charset="0"/>
              </a:rPr>
              <a:t>            printf("%d %d\n", i, j);</a:t>
            </a:r>
          </a:p>
          <a:p>
            <a:r>
              <a:rPr lang="nn-NO" sz="2400" dirty="0">
                <a:solidFill>
                  <a:schemeClr val="tx2"/>
                </a:solidFill>
                <a:latin typeface="Times New Roman" panose="02020603050405020304" pitchFamily="18" charset="0"/>
              </a:rPr>
              <a:t>        }</a:t>
            </a:r>
          </a:p>
          <a:p>
            <a:r>
              <a:rPr lang="nn-NO" sz="2400" dirty="0">
                <a:solidFill>
                  <a:schemeClr val="tx2"/>
                </a:solidFill>
                <a:latin typeface="Times New Roman" panose="02020603050405020304" pitchFamily="18" charset="0"/>
              </a:rPr>
              <a:t>    }</a:t>
            </a:r>
          </a:p>
          <a:p>
            <a:r>
              <a:rPr lang="nn-NO" sz="2400" dirty="0">
                <a:solidFill>
                  <a:schemeClr val="tx2"/>
                </a:solidFill>
                <a:latin typeface="Times New Roman" panose="02020603050405020304" pitchFamily="18" charset="0"/>
              </a:rPr>
              <a:t>}</a:t>
            </a:r>
          </a:p>
          <a:p>
            <a:endParaRPr lang="nn-NO" sz="2400" dirty="0"/>
          </a:p>
        </p:txBody>
      </p:sp>
    </p:spTree>
    <p:extLst>
      <p:ext uri="{BB962C8B-B14F-4D97-AF65-F5344CB8AC3E}">
        <p14:creationId xmlns:p14="http://schemas.microsoft.com/office/powerpoint/2010/main" val="1147441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normAutofit/>
          </a:bodyPr>
          <a:lstStyle/>
          <a:p>
            <a:pPr eaLnBrk="1" hangingPunct="1"/>
            <a:r>
              <a:rPr lang="en-US" altLang="en-US" sz="5400" dirty="0">
                <a:solidFill>
                  <a:srgbClr val="FFFFFF"/>
                </a:solidFill>
              </a:rPr>
              <a:t>Queues</a:t>
            </a:r>
          </a:p>
        </p:txBody>
      </p:sp>
      <p:sp>
        <p:nvSpPr>
          <p:cNvPr id="3" name="Text Box 17"/>
          <p:cNvSpPr txBox="1">
            <a:spLocks noChangeArrowheads="1"/>
          </p:cNvSpPr>
          <p:nvPr/>
        </p:nvSpPr>
        <p:spPr bwMode="auto">
          <a:xfrm>
            <a:off x="581192" y="1968512"/>
            <a:ext cx="850412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r>
              <a:rPr lang="en-US" altLang="en-US" sz="3200" dirty="0">
                <a:solidFill>
                  <a:schemeClr val="tx1"/>
                </a:solidFill>
              </a:rPr>
              <a:t>A queue is a list where the insertions and deletions occur at opposite ends.  Just like when people stand in line at a store.  Customers are served in the order they arrived.</a:t>
            </a:r>
          </a:p>
        </p:txBody>
      </p:sp>
      <p:sp>
        <p:nvSpPr>
          <p:cNvPr id="5" name="Text Box 19"/>
          <p:cNvSpPr txBox="1">
            <a:spLocks noChangeArrowheads="1"/>
          </p:cNvSpPr>
          <p:nvPr/>
        </p:nvSpPr>
        <p:spPr bwMode="auto">
          <a:xfrm>
            <a:off x="581192" y="5226280"/>
            <a:ext cx="5181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r>
              <a:rPr lang="en-US" altLang="en-US" sz="3200" dirty="0">
                <a:solidFill>
                  <a:schemeClr val="tx1"/>
                </a:solidFill>
              </a:rPr>
              <a:t>A queue exhibits </a:t>
            </a:r>
            <a:r>
              <a:rPr lang="en-US" altLang="en-US" sz="3200" dirty="0">
                <a:solidFill>
                  <a:srgbClr val="0070C0"/>
                </a:solidFill>
              </a:rPr>
              <a:t>FIFO </a:t>
            </a:r>
            <a:r>
              <a:rPr lang="en-US" altLang="en-US" sz="3200" dirty="0">
                <a:solidFill>
                  <a:schemeClr val="tx1"/>
                </a:solidFill>
              </a:rPr>
              <a:t>behavior- </a:t>
            </a:r>
            <a:r>
              <a:rPr lang="en-US" altLang="en-US" sz="3200" dirty="0">
                <a:solidFill>
                  <a:srgbClr val="0070C0"/>
                </a:solidFill>
              </a:rPr>
              <a:t>F</a:t>
            </a:r>
            <a:r>
              <a:rPr lang="en-US" altLang="en-US" sz="3200" dirty="0">
                <a:solidFill>
                  <a:schemeClr val="tx1"/>
                </a:solidFill>
              </a:rPr>
              <a:t>irst </a:t>
            </a:r>
            <a:r>
              <a:rPr lang="en-US" altLang="en-US" sz="3200" dirty="0">
                <a:solidFill>
                  <a:srgbClr val="0070C0"/>
                </a:solidFill>
              </a:rPr>
              <a:t>I</a:t>
            </a:r>
            <a:r>
              <a:rPr lang="en-US" altLang="en-US" sz="3200" dirty="0">
                <a:solidFill>
                  <a:schemeClr val="tx1"/>
                </a:solidFill>
              </a:rPr>
              <a:t>n, </a:t>
            </a:r>
            <a:r>
              <a:rPr lang="en-US" altLang="en-US" sz="3200" dirty="0">
                <a:solidFill>
                  <a:srgbClr val="0070C0"/>
                </a:solidFill>
              </a:rPr>
              <a:t>F</a:t>
            </a:r>
            <a:r>
              <a:rPr lang="en-US" altLang="en-US" sz="3200" dirty="0">
                <a:solidFill>
                  <a:schemeClr val="tx1"/>
                </a:solidFill>
              </a:rPr>
              <a:t>irst </a:t>
            </a:r>
            <a:r>
              <a:rPr lang="en-US" altLang="en-US" sz="3200" dirty="0">
                <a:solidFill>
                  <a:srgbClr val="0070C0"/>
                </a:solidFill>
              </a:rPr>
              <a:t>O</a:t>
            </a:r>
            <a:r>
              <a:rPr lang="en-US" altLang="en-US" sz="3200" dirty="0">
                <a:solidFill>
                  <a:schemeClr val="tx1"/>
                </a:solidFill>
              </a:rPr>
              <a:t>ut.</a:t>
            </a:r>
          </a:p>
        </p:txBody>
      </p:sp>
      <p:pic>
        <p:nvPicPr>
          <p:cNvPr id="7" name="Picture 6">
            <a:extLst>
              <a:ext uri="{FF2B5EF4-FFF2-40B4-BE49-F238E27FC236}">
                <a16:creationId xmlns:a16="http://schemas.microsoft.com/office/drawing/2014/main" id="{14E58D54-BC19-BA07-89B9-5DB408DAD2C5}"/>
              </a:ext>
            </a:extLst>
          </p:cNvPr>
          <p:cNvPicPr>
            <a:picLocks noChangeAspect="1"/>
          </p:cNvPicPr>
          <p:nvPr/>
        </p:nvPicPr>
        <p:blipFill>
          <a:blip r:embed="rId3"/>
          <a:stretch>
            <a:fillRect/>
          </a:stretch>
        </p:blipFill>
        <p:spPr>
          <a:xfrm>
            <a:off x="6781246" y="3499340"/>
            <a:ext cx="4892490" cy="3272532"/>
          </a:xfrm>
          <a:prstGeom prst="rect">
            <a:avLst/>
          </a:prstGeom>
        </p:spPr>
      </p:pic>
    </p:spTree>
    <p:extLst>
      <p:ext uri="{BB962C8B-B14F-4D97-AF65-F5344CB8AC3E}">
        <p14:creationId xmlns:p14="http://schemas.microsoft.com/office/powerpoint/2010/main" val="832246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normAutofit/>
          </a:bodyPr>
          <a:lstStyle/>
          <a:p>
            <a:pPr eaLnBrk="1" hangingPunct="1"/>
            <a:r>
              <a:rPr lang="en-US" altLang="en-US" sz="5400" dirty="0">
                <a:solidFill>
                  <a:srgbClr val="FFFFFF"/>
                </a:solidFill>
              </a:rPr>
              <a:t>Queues</a:t>
            </a:r>
          </a:p>
        </p:txBody>
      </p:sp>
      <p:sp>
        <p:nvSpPr>
          <p:cNvPr id="4" name="Text Box 17"/>
          <p:cNvSpPr txBox="1">
            <a:spLocks noChangeArrowheads="1"/>
          </p:cNvSpPr>
          <p:nvPr/>
        </p:nvSpPr>
        <p:spPr bwMode="auto">
          <a:xfrm>
            <a:off x="749628" y="1870544"/>
            <a:ext cx="6410451"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endParaRPr lang="en-US" altLang="en-US" sz="2400" dirty="0">
              <a:solidFill>
                <a:schemeClr val="tx1"/>
              </a:solidFill>
            </a:endParaRPr>
          </a:p>
          <a:p>
            <a:pPr eaLnBrk="1" hangingPunct="1"/>
            <a:r>
              <a:rPr lang="en-US" altLang="en-US" sz="3200" dirty="0">
                <a:solidFill>
                  <a:schemeClr val="tx1"/>
                </a:solidFill>
              </a:rPr>
              <a:t>Queues operation allow you to:</a:t>
            </a:r>
          </a:p>
          <a:p>
            <a:pPr marL="457200" indent="-457200" eaLnBrk="1" hangingPunct="1">
              <a:buFont typeface="Wingdings" pitchFamily="2" charset="2"/>
              <a:buChar char="Ø"/>
            </a:pPr>
            <a:r>
              <a:rPr lang="en-US" altLang="en-US" sz="3200" dirty="0">
                <a:solidFill>
                  <a:schemeClr val="tx1"/>
                </a:solidFill>
              </a:rPr>
              <a:t> construct a queue</a:t>
            </a:r>
          </a:p>
          <a:p>
            <a:pPr marL="457200" indent="-457200" eaLnBrk="1" hangingPunct="1">
              <a:buFont typeface="Wingdings" pitchFamily="2" charset="2"/>
              <a:buChar char="Ø"/>
            </a:pPr>
            <a:r>
              <a:rPr lang="en-US" altLang="en-US" sz="3200" dirty="0">
                <a:solidFill>
                  <a:schemeClr val="tx1"/>
                </a:solidFill>
              </a:rPr>
              <a:t> </a:t>
            </a:r>
            <a:r>
              <a:rPr lang="en-US" altLang="en-US" sz="3200" dirty="0">
                <a:solidFill>
                  <a:srgbClr val="0070C0"/>
                </a:solidFill>
              </a:rPr>
              <a:t>enqueue</a:t>
            </a:r>
            <a:r>
              <a:rPr lang="en-US" altLang="en-US" sz="3200" dirty="0">
                <a:solidFill>
                  <a:schemeClr val="tx1"/>
                </a:solidFill>
              </a:rPr>
              <a:t> items on the queue</a:t>
            </a:r>
          </a:p>
          <a:p>
            <a:pPr marL="457200" indent="-457200" eaLnBrk="1" hangingPunct="1">
              <a:buFont typeface="Wingdings" pitchFamily="2" charset="2"/>
              <a:buChar char="Ø"/>
            </a:pPr>
            <a:r>
              <a:rPr lang="en-US" altLang="en-US" sz="3200" dirty="0">
                <a:solidFill>
                  <a:schemeClr val="tx1"/>
                </a:solidFill>
              </a:rPr>
              <a:t> </a:t>
            </a:r>
            <a:r>
              <a:rPr lang="en-US" altLang="en-US" sz="3200" dirty="0">
                <a:solidFill>
                  <a:srgbClr val="0070C0"/>
                </a:solidFill>
              </a:rPr>
              <a:t>dequeue</a:t>
            </a:r>
            <a:r>
              <a:rPr lang="en-US" altLang="en-US" sz="3200" dirty="0">
                <a:solidFill>
                  <a:schemeClr val="tx1"/>
                </a:solidFill>
              </a:rPr>
              <a:t> items off the queue</a:t>
            </a:r>
          </a:p>
          <a:p>
            <a:pPr marL="457200" indent="-457200" eaLnBrk="1" hangingPunct="1">
              <a:buFont typeface="Wingdings" pitchFamily="2" charset="2"/>
              <a:buChar char="Ø"/>
            </a:pPr>
            <a:r>
              <a:rPr lang="en-US" altLang="en-US" sz="3200" dirty="0">
                <a:solidFill>
                  <a:schemeClr val="tx1"/>
                </a:solidFill>
              </a:rPr>
              <a:t> check to see if the queue is </a:t>
            </a:r>
            <a:r>
              <a:rPr lang="en-US" altLang="en-US" sz="3200" dirty="0">
                <a:solidFill>
                  <a:srgbClr val="0070C0"/>
                </a:solidFill>
              </a:rPr>
              <a:t>empty</a:t>
            </a:r>
          </a:p>
          <a:p>
            <a:pPr marL="457200" indent="-457200" eaLnBrk="1" hangingPunct="1">
              <a:buFont typeface="Wingdings" pitchFamily="2" charset="2"/>
              <a:buChar char="Ø"/>
            </a:pPr>
            <a:r>
              <a:rPr lang="en-US" altLang="en-US" sz="3200" dirty="0">
                <a:solidFill>
                  <a:schemeClr val="tx1"/>
                </a:solidFill>
              </a:rPr>
              <a:t> find out the size of the queue etc.</a:t>
            </a:r>
          </a:p>
          <a:p>
            <a:pPr eaLnBrk="1" hangingPunct="1"/>
            <a:endParaRPr lang="en-US" altLang="en-US" sz="2400" dirty="0">
              <a:solidFill>
                <a:schemeClr val="tx1"/>
              </a:solidFill>
            </a:endParaRPr>
          </a:p>
        </p:txBody>
      </p:sp>
      <p:pic>
        <p:nvPicPr>
          <p:cNvPr id="5" name="Picture 18" descr="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6719" y="3002394"/>
            <a:ext cx="3713871" cy="3713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714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CA04-6BBA-47A7-B455-BFB720B4B14C}"/>
              </a:ext>
            </a:extLst>
          </p:cNvPr>
          <p:cNvSpPr>
            <a:spLocks noGrp="1"/>
          </p:cNvSpPr>
          <p:nvPr>
            <p:ph type="title"/>
          </p:nvPr>
        </p:nvSpPr>
        <p:spPr>
          <a:xfrm>
            <a:off x="606918" y="1401618"/>
            <a:ext cx="6819872" cy="457200"/>
          </a:xfrm>
        </p:spPr>
        <p:txBody>
          <a:bodyPr>
            <a:noAutofit/>
          </a:bodyPr>
          <a:lstStyle/>
          <a:p>
            <a:r>
              <a:rPr lang="en-US" sz="4400" dirty="0"/>
              <a:t>Stacks and Queues</a:t>
            </a:r>
          </a:p>
        </p:txBody>
      </p:sp>
      <p:sp>
        <p:nvSpPr>
          <p:cNvPr id="14" name="stack text">
            <a:extLst>
              <a:ext uri="{FF2B5EF4-FFF2-40B4-BE49-F238E27FC236}">
                <a16:creationId xmlns:a16="http://schemas.microsoft.com/office/drawing/2014/main" id="{DE93BED9-6777-4715-B613-036EBF3372E8}"/>
              </a:ext>
            </a:extLst>
          </p:cNvPr>
          <p:cNvSpPr txBox="1"/>
          <p:nvPr/>
        </p:nvSpPr>
        <p:spPr>
          <a:xfrm>
            <a:off x="607808" y="1974840"/>
            <a:ext cx="4947460" cy="2677656"/>
          </a:xfrm>
          <a:prstGeom prst="rect">
            <a:avLst/>
          </a:prstGeom>
          <a:noFill/>
        </p:spPr>
        <p:txBody>
          <a:bodyPr wrap="square" rtlCol="0">
            <a:spAutoFit/>
          </a:bodyPr>
          <a:lstStyle/>
          <a:p>
            <a:pPr marL="457200" indent="-457200">
              <a:buFont typeface="Wingdings" pitchFamily="2" charset="2"/>
              <a:buChar char="Ø"/>
            </a:pPr>
            <a:r>
              <a:rPr lang="en-US" sz="2800" dirty="0">
                <a:latin typeface="Times New Roman" panose="02020603050405020304" pitchFamily="18" charset="0"/>
              </a:rPr>
              <a:t>A </a:t>
            </a:r>
            <a:r>
              <a:rPr lang="en-US" sz="2800" b="1" dirty="0">
                <a:latin typeface="Times New Roman" panose="02020603050405020304" pitchFamily="18" charset="0"/>
              </a:rPr>
              <a:t>stack</a:t>
            </a:r>
            <a:r>
              <a:rPr lang="en-US" sz="2800" dirty="0">
                <a:latin typeface="Times New Roman" panose="02020603050405020304" pitchFamily="18" charset="0"/>
              </a:rPr>
              <a:t> is an abstract linear structure with operations, called push (insert) and pop (remove), which must both be performed from the same end, called the top</a:t>
            </a:r>
          </a:p>
        </p:txBody>
      </p:sp>
      <p:grpSp>
        <p:nvGrpSpPr>
          <p:cNvPr id="8" name="stack">
            <a:extLst>
              <a:ext uri="{FF2B5EF4-FFF2-40B4-BE49-F238E27FC236}">
                <a16:creationId xmlns:a16="http://schemas.microsoft.com/office/drawing/2014/main" id="{0D20AA6E-89C1-48FE-995D-87972DE47F3F}"/>
              </a:ext>
            </a:extLst>
          </p:cNvPr>
          <p:cNvGrpSpPr/>
          <p:nvPr/>
        </p:nvGrpSpPr>
        <p:grpSpPr>
          <a:xfrm>
            <a:off x="8677430" y="851489"/>
            <a:ext cx="521853" cy="1692468"/>
            <a:chOff x="4562392" y="2892071"/>
            <a:chExt cx="521853" cy="1950783"/>
          </a:xfrm>
        </p:grpSpPr>
        <p:grpSp>
          <p:nvGrpSpPr>
            <p:cNvPr id="9" name="Group 8">
              <a:extLst>
                <a:ext uri="{FF2B5EF4-FFF2-40B4-BE49-F238E27FC236}">
                  <a16:creationId xmlns:a16="http://schemas.microsoft.com/office/drawing/2014/main" id="{CD487F24-44D6-4848-A2E9-CCCC2C250FFB}"/>
                </a:ext>
              </a:extLst>
            </p:cNvPr>
            <p:cNvGrpSpPr/>
            <p:nvPr/>
          </p:nvGrpSpPr>
          <p:grpSpPr>
            <a:xfrm>
              <a:off x="4562392" y="3249143"/>
              <a:ext cx="521853" cy="1593711"/>
              <a:chOff x="2209427" y="3251778"/>
              <a:chExt cx="521853" cy="1593711"/>
            </a:xfrm>
          </p:grpSpPr>
          <p:cxnSp>
            <p:nvCxnSpPr>
              <p:cNvPr id="11" name="Straight Connector 10">
                <a:extLst>
                  <a:ext uri="{FF2B5EF4-FFF2-40B4-BE49-F238E27FC236}">
                    <a16:creationId xmlns:a16="http://schemas.microsoft.com/office/drawing/2014/main" id="{2D4AC748-D317-4444-933A-54A9372E3141}"/>
                  </a:ext>
                </a:extLst>
              </p:cNvPr>
              <p:cNvCxnSpPr>
                <a:cxnSpLocks/>
              </p:cNvCxnSpPr>
              <p:nvPr/>
            </p:nvCxnSpPr>
            <p:spPr bwMode="auto">
              <a:xfrm>
                <a:off x="2226013" y="3251778"/>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4C2643F0-8512-43C0-A7C3-9A5FAFFD9A32}"/>
                  </a:ext>
                </a:extLst>
              </p:cNvPr>
              <p:cNvCxnSpPr>
                <a:cxnSpLocks/>
              </p:cNvCxnSpPr>
              <p:nvPr/>
            </p:nvCxnSpPr>
            <p:spPr bwMode="auto">
              <a:xfrm>
                <a:off x="2731280" y="3266071"/>
                <a:ext cx="0" cy="1579418"/>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01DEBB4A-16B6-4439-B726-6B63018BD049}"/>
                  </a:ext>
                </a:extLst>
              </p:cNvPr>
              <p:cNvCxnSpPr>
                <a:cxnSpLocks/>
              </p:cNvCxnSpPr>
              <p:nvPr/>
            </p:nvCxnSpPr>
            <p:spPr bwMode="auto">
              <a:xfrm>
                <a:off x="2209427" y="4831198"/>
                <a:ext cx="521853"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0" name="TextBox 9">
              <a:extLst>
                <a:ext uri="{FF2B5EF4-FFF2-40B4-BE49-F238E27FC236}">
                  <a16:creationId xmlns:a16="http://schemas.microsoft.com/office/drawing/2014/main" id="{EC966A9B-BE3D-4AB5-AB26-1004A7A1F95F}"/>
                </a:ext>
              </a:extLst>
            </p:cNvPr>
            <p:cNvSpPr txBox="1"/>
            <p:nvPr/>
          </p:nvSpPr>
          <p:spPr>
            <a:xfrm>
              <a:off x="4562392" y="2892071"/>
              <a:ext cx="479618" cy="425702"/>
            </a:xfrm>
            <a:prstGeom prst="rect">
              <a:avLst/>
            </a:prstGeom>
            <a:noFill/>
          </p:spPr>
          <p:txBody>
            <a:bodyPr wrap="none" rtlCol="0">
              <a:spAutoFit/>
            </a:bodyPr>
            <a:lstStyle/>
            <a:p>
              <a:r>
                <a:rPr lang="en-US" dirty="0">
                  <a:latin typeface="Times New Roman" panose="02020603050405020304" pitchFamily="18" charset="0"/>
                </a:rPr>
                <a:t>top</a:t>
              </a:r>
            </a:p>
          </p:txBody>
        </p:sp>
      </p:grpSp>
      <p:sp>
        <p:nvSpPr>
          <p:cNvPr id="19" name="gold C">
            <a:extLst>
              <a:ext uri="{FF2B5EF4-FFF2-40B4-BE49-F238E27FC236}">
                <a16:creationId xmlns:a16="http://schemas.microsoft.com/office/drawing/2014/main" id="{83D103A1-F0F6-457B-BC13-D337312FD92C}"/>
              </a:ext>
            </a:extLst>
          </p:cNvPr>
          <p:cNvSpPr/>
          <p:nvPr/>
        </p:nvSpPr>
        <p:spPr bwMode="auto">
          <a:xfrm>
            <a:off x="7935415" y="796891"/>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21" name="queue text">
            <a:extLst>
              <a:ext uri="{FF2B5EF4-FFF2-40B4-BE49-F238E27FC236}">
                <a16:creationId xmlns:a16="http://schemas.microsoft.com/office/drawing/2014/main" id="{EF9E4A57-497D-4510-AA98-C42DC40A74E8}"/>
              </a:ext>
            </a:extLst>
          </p:cNvPr>
          <p:cNvSpPr txBox="1"/>
          <p:nvPr/>
        </p:nvSpPr>
        <p:spPr>
          <a:xfrm>
            <a:off x="607808" y="4788677"/>
            <a:ext cx="8591475" cy="1384995"/>
          </a:xfrm>
          <a:prstGeom prst="rect">
            <a:avLst/>
          </a:prstGeom>
          <a:noFill/>
        </p:spPr>
        <p:txBody>
          <a:bodyPr wrap="square" rtlCol="0">
            <a:spAutoFit/>
          </a:bodyPr>
          <a:lstStyle/>
          <a:p>
            <a:pPr marL="457200" indent="-457200">
              <a:buFont typeface="Wingdings" pitchFamily="2" charset="2"/>
              <a:buChar char="Ø"/>
            </a:pPr>
            <a:r>
              <a:rPr lang="en-US" sz="2800" dirty="0">
                <a:latin typeface="Times New Roman" panose="02020603050405020304" pitchFamily="18" charset="0"/>
              </a:rPr>
              <a:t>A </a:t>
            </a:r>
            <a:r>
              <a:rPr lang="en-US" sz="2800" b="1" dirty="0">
                <a:latin typeface="Times New Roman" panose="02020603050405020304" pitchFamily="18" charset="0"/>
              </a:rPr>
              <a:t>queue</a:t>
            </a:r>
            <a:r>
              <a:rPr lang="en-US" sz="2800" dirty="0">
                <a:latin typeface="Times New Roman" panose="02020603050405020304" pitchFamily="18" charset="0"/>
              </a:rPr>
              <a:t> is an abstract linear structure with operations called insert and remove, which must be performed from opposite ends</a:t>
            </a:r>
          </a:p>
        </p:txBody>
      </p:sp>
      <p:sp>
        <p:nvSpPr>
          <p:cNvPr id="20" name="green C">
            <a:extLst>
              <a:ext uri="{FF2B5EF4-FFF2-40B4-BE49-F238E27FC236}">
                <a16:creationId xmlns:a16="http://schemas.microsoft.com/office/drawing/2014/main" id="{492AF109-1726-4CF2-8B31-33E037266765}"/>
              </a:ext>
            </a:extLst>
          </p:cNvPr>
          <p:cNvSpPr/>
          <p:nvPr/>
        </p:nvSpPr>
        <p:spPr bwMode="auto">
          <a:xfrm>
            <a:off x="7528808" y="2598152"/>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grpSp>
        <p:nvGrpSpPr>
          <p:cNvPr id="46" name="queue art">
            <a:extLst>
              <a:ext uri="{FF2B5EF4-FFF2-40B4-BE49-F238E27FC236}">
                <a16:creationId xmlns:a16="http://schemas.microsoft.com/office/drawing/2014/main" id="{F4475831-F81E-4C61-A7C8-15F8D83A2C94}"/>
              </a:ext>
            </a:extLst>
          </p:cNvPr>
          <p:cNvGrpSpPr/>
          <p:nvPr/>
        </p:nvGrpSpPr>
        <p:grpSpPr>
          <a:xfrm>
            <a:off x="7935926" y="3129018"/>
            <a:ext cx="1564582" cy="805383"/>
            <a:chOff x="6411926" y="3313732"/>
            <a:chExt cx="1564582" cy="805383"/>
          </a:xfrm>
        </p:grpSpPr>
        <p:grpSp>
          <p:nvGrpSpPr>
            <p:cNvPr id="4" name="Group 3">
              <a:extLst>
                <a:ext uri="{FF2B5EF4-FFF2-40B4-BE49-F238E27FC236}">
                  <a16:creationId xmlns:a16="http://schemas.microsoft.com/office/drawing/2014/main" id="{9DE18A2B-D0D6-4D5C-8405-F0D7989FAA74}"/>
                </a:ext>
              </a:extLst>
            </p:cNvPr>
            <p:cNvGrpSpPr/>
            <p:nvPr/>
          </p:nvGrpSpPr>
          <p:grpSpPr>
            <a:xfrm>
              <a:off x="6472476" y="3654776"/>
              <a:ext cx="1373244" cy="464339"/>
              <a:chOff x="3574472" y="5306287"/>
              <a:chExt cx="2115128" cy="374077"/>
            </a:xfrm>
          </p:grpSpPr>
          <p:cxnSp>
            <p:nvCxnSpPr>
              <p:cNvPr id="6" name="Straight Connector 5">
                <a:extLst>
                  <a:ext uri="{FF2B5EF4-FFF2-40B4-BE49-F238E27FC236}">
                    <a16:creationId xmlns:a16="http://schemas.microsoft.com/office/drawing/2014/main" id="{E1F6CF55-32EF-4F29-AFB5-D66D295AAA2C}"/>
                  </a:ext>
                </a:extLst>
              </p:cNvPr>
              <p:cNvCxnSpPr>
                <a:cxnSpLocks/>
              </p:cNvCxnSpPr>
              <p:nvPr/>
            </p:nvCxnSpPr>
            <p:spPr bwMode="auto">
              <a:xfrm>
                <a:off x="3574472" y="5306287"/>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1B60B3CF-38D0-4BFA-B72C-0179CA6143C2}"/>
                  </a:ext>
                </a:extLst>
              </p:cNvPr>
              <p:cNvCxnSpPr>
                <a:cxnSpLocks/>
              </p:cNvCxnSpPr>
              <p:nvPr/>
            </p:nvCxnSpPr>
            <p:spPr bwMode="auto">
              <a:xfrm>
                <a:off x="3574472" y="5680364"/>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28" name="TextBox 27">
              <a:extLst>
                <a:ext uri="{FF2B5EF4-FFF2-40B4-BE49-F238E27FC236}">
                  <a16:creationId xmlns:a16="http://schemas.microsoft.com/office/drawing/2014/main" id="{F2F3268A-2E8D-4811-B497-95DD173BA458}"/>
                </a:ext>
              </a:extLst>
            </p:cNvPr>
            <p:cNvSpPr txBox="1"/>
            <p:nvPr/>
          </p:nvSpPr>
          <p:spPr>
            <a:xfrm>
              <a:off x="6411926" y="3313732"/>
              <a:ext cx="1564582" cy="369301"/>
            </a:xfrm>
            <a:prstGeom prst="rect">
              <a:avLst/>
            </a:prstGeom>
            <a:noFill/>
          </p:spPr>
          <p:txBody>
            <a:bodyPr wrap="square" rtlCol="0">
              <a:spAutoFit/>
            </a:bodyPr>
            <a:lstStyle/>
            <a:p>
              <a:r>
                <a:rPr lang="en-US" dirty="0">
                  <a:latin typeface="Times New Roman" panose="02020603050405020304" pitchFamily="18" charset="0"/>
                </a:rPr>
                <a:t>rear       front   </a:t>
              </a:r>
            </a:p>
          </p:txBody>
        </p:sp>
      </p:grpSp>
      <p:sp>
        <p:nvSpPr>
          <p:cNvPr id="53" name="gold B">
            <a:extLst>
              <a:ext uri="{FF2B5EF4-FFF2-40B4-BE49-F238E27FC236}">
                <a16:creationId xmlns:a16="http://schemas.microsoft.com/office/drawing/2014/main" id="{894E4F5A-50B7-4D4B-BBD2-7136F2F1CCC4}"/>
              </a:ext>
            </a:extLst>
          </p:cNvPr>
          <p:cNvSpPr/>
          <p:nvPr/>
        </p:nvSpPr>
        <p:spPr bwMode="auto">
          <a:xfrm>
            <a:off x="7636409" y="796891"/>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54" name="gold A">
            <a:extLst>
              <a:ext uri="{FF2B5EF4-FFF2-40B4-BE49-F238E27FC236}">
                <a16:creationId xmlns:a16="http://schemas.microsoft.com/office/drawing/2014/main" id="{A1BD7163-65CB-44C9-8628-685ECFA213DA}"/>
              </a:ext>
            </a:extLst>
          </p:cNvPr>
          <p:cNvSpPr/>
          <p:nvPr/>
        </p:nvSpPr>
        <p:spPr bwMode="auto">
          <a:xfrm>
            <a:off x="7337403" y="796891"/>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59" name="green B">
            <a:extLst>
              <a:ext uri="{FF2B5EF4-FFF2-40B4-BE49-F238E27FC236}">
                <a16:creationId xmlns:a16="http://schemas.microsoft.com/office/drawing/2014/main" id="{03921DA0-7D00-461C-BF35-C914AF9ED1F9}"/>
              </a:ext>
            </a:extLst>
          </p:cNvPr>
          <p:cNvSpPr/>
          <p:nvPr/>
        </p:nvSpPr>
        <p:spPr bwMode="auto">
          <a:xfrm>
            <a:off x="7187532" y="2598152"/>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60" name="green A">
            <a:extLst>
              <a:ext uri="{FF2B5EF4-FFF2-40B4-BE49-F238E27FC236}">
                <a16:creationId xmlns:a16="http://schemas.microsoft.com/office/drawing/2014/main" id="{692D5421-C560-470E-ABB7-93D90B70A930}"/>
              </a:ext>
            </a:extLst>
          </p:cNvPr>
          <p:cNvSpPr/>
          <p:nvPr/>
        </p:nvSpPr>
        <p:spPr bwMode="auto">
          <a:xfrm>
            <a:off x="6855378" y="2602060"/>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Tree>
    <p:extLst>
      <p:ext uri="{BB962C8B-B14F-4D97-AF65-F5344CB8AC3E}">
        <p14:creationId xmlns:p14="http://schemas.microsoft.com/office/powerpoint/2010/main" val="240870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2"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2" nodeType="with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500"/>
                                        <p:tgtEl>
                                          <p:spTgt spid="53"/>
                                        </p:tgtEl>
                                      </p:cBhvr>
                                    </p:animEffect>
                                  </p:childTnLst>
                                </p:cTn>
                              </p:par>
                              <p:par>
                                <p:cTn id="16" presetID="10" presetClass="entr" presetSubtype="0" fill="hold" grpId="2"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childTnLst>
                          </p:cTn>
                        </p:par>
                        <p:par>
                          <p:cTn id="19" fill="hold">
                            <p:stCondLst>
                              <p:cond delay="500"/>
                            </p:stCondLst>
                            <p:childTnLst>
                              <p:par>
                                <p:cTn id="20" presetID="37" presetClass="path" presetSubtype="0" accel="50000" decel="50000" fill="hold" grpId="1" nodeType="afterEffect">
                                  <p:stCondLst>
                                    <p:cond delay="0"/>
                                  </p:stCondLst>
                                  <p:childTnLst>
                                    <p:animMotion origin="layout" path="M 3.88889E-6 -0.00023 C 0.03784 0.00116 0.03802 -0.00486 0.05989 0.00788 C 0.0717 0.04144 0.06892 0.15487 0.06979 0.20625 " pathEditMode="relative" rAng="0" ptsTypes="AAA">
                                      <p:cBhvr>
                                        <p:cTn id="21" dur="500" fill="hold"/>
                                        <p:tgtEl>
                                          <p:spTgt spid="19"/>
                                        </p:tgtEl>
                                        <p:attrNameLst>
                                          <p:attrName>ppt_x</p:attrName>
                                          <p:attrName>ppt_y</p:attrName>
                                        </p:attrNameLst>
                                      </p:cBhvr>
                                      <p:rCtr x="3490" y="10301"/>
                                    </p:animMotion>
                                  </p:childTnLst>
                                </p:cTn>
                              </p:par>
                            </p:childTnLst>
                          </p:cTn>
                        </p:par>
                        <p:par>
                          <p:cTn id="22" fill="hold">
                            <p:stCondLst>
                              <p:cond delay="1000"/>
                            </p:stCondLst>
                            <p:childTnLst>
                              <p:par>
                                <p:cTn id="23" presetID="37" presetClass="path" presetSubtype="0" accel="50000" decel="50000" fill="hold" grpId="1" nodeType="afterEffect">
                                  <p:stCondLst>
                                    <p:cond delay="0"/>
                                  </p:stCondLst>
                                  <p:childTnLst>
                                    <p:animMotion origin="layout" path="M -3.61111E-6 -4.81481E-6 C 0.05591 0.00116 0.05608 -0.00324 0.0882 0.00625 C 0.10556 0.03149 0.10157 0.11713 0.10243 0.15556 " pathEditMode="relative" rAng="0" ptsTypes="AAA">
                                      <p:cBhvr>
                                        <p:cTn id="24" dur="500" fill="hold"/>
                                        <p:tgtEl>
                                          <p:spTgt spid="53"/>
                                        </p:tgtEl>
                                        <p:attrNameLst>
                                          <p:attrName>ppt_x</p:attrName>
                                          <p:attrName>ppt_y</p:attrName>
                                        </p:attrNameLst>
                                      </p:cBhvr>
                                      <p:rCtr x="5122" y="7755"/>
                                    </p:animMotion>
                                  </p:childTnLst>
                                </p:cTn>
                              </p:par>
                            </p:childTnLst>
                          </p:cTn>
                        </p:par>
                        <p:par>
                          <p:cTn id="25" fill="hold">
                            <p:stCondLst>
                              <p:cond delay="1500"/>
                            </p:stCondLst>
                            <p:childTnLst>
                              <p:par>
                                <p:cTn id="26" presetID="0" presetClass="path" presetSubtype="0" accel="50000" decel="50000" fill="hold" grpId="0" nodeType="afterEffect">
                                  <p:stCondLst>
                                    <p:cond delay="0"/>
                                  </p:stCondLst>
                                  <p:childTnLst>
                                    <p:animMotion origin="layout" path="M 0.10247 0.15556 C 0.10221 0.10996 0.08763 0.03473 0.11771 0.00857 C 0.14948 -0.0074 0.2043 -0.00208 0.2849 0.00023 " pathEditMode="relative" rAng="0" ptsTypes="AAA">
                                      <p:cBhvr>
                                        <p:cTn id="27" dur="500" fill="hold"/>
                                        <p:tgtEl>
                                          <p:spTgt spid="53"/>
                                        </p:tgtEl>
                                        <p:attrNameLst>
                                          <p:attrName>ppt_x</p:attrName>
                                          <p:attrName>ppt_y</p:attrName>
                                        </p:attrNameLst>
                                      </p:cBhvr>
                                      <p:rCtr x="8932" y="-7917"/>
                                    </p:animMotion>
                                  </p:childTnLst>
                                </p:cTn>
                              </p:par>
                            </p:childTnLst>
                          </p:cTn>
                        </p:par>
                        <p:par>
                          <p:cTn id="28" fill="hold">
                            <p:stCondLst>
                              <p:cond delay="2000"/>
                            </p:stCondLst>
                            <p:childTnLst>
                              <p:par>
                                <p:cTn id="29" presetID="37" presetClass="path" presetSubtype="0" accel="50000" decel="50000" fill="hold" grpId="1" nodeType="afterEffect">
                                  <p:stCondLst>
                                    <p:cond delay="0"/>
                                  </p:stCondLst>
                                  <p:childTnLst>
                                    <p:animMotion origin="layout" path="M 0.00087 0.00024 C 0.07344 0.00116 0.07379 -0.00324 0.11546 0.00625 C 0.13785 0.03195 0.13299 0.11783 0.13403 0.15672 " pathEditMode="relative" rAng="0" ptsTypes="AAA">
                                      <p:cBhvr>
                                        <p:cTn id="30" dur="500" fill="hold"/>
                                        <p:tgtEl>
                                          <p:spTgt spid="54"/>
                                        </p:tgtEl>
                                        <p:attrNameLst>
                                          <p:attrName>ppt_x</p:attrName>
                                          <p:attrName>ppt_y</p:attrName>
                                        </p:attrNameLst>
                                      </p:cBhvr>
                                      <p:rCtr x="6649" y="7801"/>
                                    </p:animMotion>
                                  </p:childTnLst>
                                </p:cTn>
                              </p:par>
                            </p:childTnLst>
                          </p:cTn>
                        </p:par>
                        <p:par>
                          <p:cTn id="31" fill="hold">
                            <p:stCondLst>
                              <p:cond delay="2500"/>
                            </p:stCondLst>
                            <p:childTnLst>
                              <p:par>
                                <p:cTn id="32" presetID="0" presetClass="path" presetSubtype="0" accel="50000" decel="50000" fill="hold" grpId="0" nodeType="afterEffect">
                                  <p:stCondLst>
                                    <p:cond delay="0"/>
                                  </p:stCondLst>
                                  <p:childTnLst>
                                    <p:animMotion origin="layout" path="M 0.12695 0.15555 C 0.12695 0.10995 0.11692 0.03518 0.13737 0.00949 C 0.1595 -0.00649 0.22304 -0.00116 0.27474 -0.00116 " pathEditMode="relative" rAng="0" ptsTypes="AAA">
                                      <p:cBhvr>
                                        <p:cTn id="33" dur="500" fill="hold"/>
                                        <p:tgtEl>
                                          <p:spTgt spid="54"/>
                                        </p:tgtEl>
                                        <p:attrNameLst>
                                          <p:attrName>ppt_x</p:attrName>
                                          <p:attrName>ppt_y</p:attrName>
                                        </p:attrNameLst>
                                      </p:cBhvr>
                                      <p:rCtr x="7266" y="-7894"/>
                                    </p:animMotion>
                                  </p:childTnLst>
                                </p:cTn>
                              </p:par>
                            </p:childTnLst>
                          </p:cTn>
                        </p:par>
                        <p:par>
                          <p:cTn id="34" fill="hold">
                            <p:stCondLst>
                              <p:cond delay="3000"/>
                            </p:stCondLst>
                            <p:childTnLst>
                              <p:par>
                                <p:cTn id="35" presetID="0" presetClass="path" presetSubtype="0" accel="50000" decel="50000" fill="hold" grpId="0" nodeType="afterEffect">
                                  <p:stCondLst>
                                    <p:cond delay="0"/>
                                  </p:stCondLst>
                                  <p:childTnLst>
                                    <p:animMotion origin="layout" path="M 0.06979 0.2088 C 0.06961 0.14769 0.06267 0.04746 0.07691 0.0125 C 0.09218 -0.00902 0.1427 -0.00138 0.18107 -0.00138 " pathEditMode="relative" rAng="0" ptsTypes="AAA">
                                      <p:cBhvr>
                                        <p:cTn id="36" dur="500" fill="hold"/>
                                        <p:tgtEl>
                                          <p:spTgt spid="19"/>
                                        </p:tgtEl>
                                        <p:attrNameLst>
                                          <p:attrName>ppt_x</p:attrName>
                                          <p:attrName>ppt_y</p:attrName>
                                        </p:attrNameLst>
                                      </p:cBhvr>
                                      <p:rCtr x="5469" y="-10579"/>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2"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2"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500"/>
                                        <p:tgtEl>
                                          <p:spTgt spid="59"/>
                                        </p:tgtEl>
                                      </p:cBhvr>
                                    </p:animEffect>
                                  </p:childTnLst>
                                </p:cTn>
                              </p:par>
                              <p:par>
                                <p:cTn id="53" presetID="10" presetClass="entr" presetSubtype="0" fill="hold" grpId="2" nodeType="with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fade">
                                      <p:cBhvr>
                                        <p:cTn id="55" dur="500"/>
                                        <p:tgtEl>
                                          <p:spTgt spid="60"/>
                                        </p:tgtEl>
                                      </p:cBhvr>
                                    </p:animEffect>
                                  </p:childTnLst>
                                </p:cTn>
                              </p:par>
                            </p:childTnLst>
                          </p:cTn>
                        </p:par>
                        <p:par>
                          <p:cTn id="56" fill="hold">
                            <p:stCondLst>
                              <p:cond delay="500"/>
                            </p:stCondLst>
                            <p:childTnLst>
                              <p:par>
                                <p:cTn id="57" presetID="0" presetClass="path" presetSubtype="0" accel="50000" decel="50000" fill="hold" grpId="0" nodeType="afterEffect">
                                  <p:stCondLst>
                                    <p:cond delay="0"/>
                                  </p:stCondLst>
                                  <p:childTnLst>
                                    <p:animMotion origin="layout" path="M -0.00035 0.00023 C 0.00347 0.05416 0.00868 0.10717 0.03334 0.13101 C 0.04931 0.14629 0.08577 0.1449 0.14792 0.14351 " pathEditMode="relative" rAng="0" ptsTypes="AAA">
                                      <p:cBhvr>
                                        <p:cTn id="58" dur="500" fill="hold"/>
                                        <p:tgtEl>
                                          <p:spTgt spid="20"/>
                                        </p:tgtEl>
                                        <p:attrNameLst>
                                          <p:attrName>ppt_x</p:attrName>
                                          <p:attrName>ppt_y</p:attrName>
                                        </p:attrNameLst>
                                      </p:cBhvr>
                                      <p:rCtr x="7413" y="7199"/>
                                    </p:animMotion>
                                  </p:childTnLst>
                                </p:cTn>
                              </p:par>
                            </p:childTnLst>
                          </p:cTn>
                        </p:par>
                        <p:par>
                          <p:cTn id="59" fill="hold">
                            <p:stCondLst>
                              <p:cond delay="1000"/>
                            </p:stCondLst>
                            <p:childTnLst>
                              <p:par>
                                <p:cTn id="60" presetID="0" presetClass="path" presetSubtype="0" accel="50000" decel="50000" fill="hold" grpId="0" nodeType="afterEffect">
                                  <p:stCondLst>
                                    <p:cond delay="0"/>
                                  </p:stCondLst>
                                  <p:childTnLst>
                                    <p:animMotion origin="layout" path="M -0.00035 0.00023 C 0.00347 0.05416 0.00868 0.10717 0.03333 0.13101 C 0.0493 0.14629 0.08576 0.1449 0.14791 0.14351 " pathEditMode="relative" rAng="0" ptsTypes="AAA">
                                      <p:cBhvr>
                                        <p:cTn id="61" dur="500" fill="hold"/>
                                        <p:tgtEl>
                                          <p:spTgt spid="59"/>
                                        </p:tgtEl>
                                        <p:attrNameLst>
                                          <p:attrName>ppt_x</p:attrName>
                                          <p:attrName>ppt_y</p:attrName>
                                        </p:attrNameLst>
                                      </p:cBhvr>
                                      <p:rCtr x="7413" y="7199"/>
                                    </p:animMotion>
                                  </p:childTnLst>
                                </p:cTn>
                              </p:par>
                            </p:childTnLst>
                          </p:cTn>
                        </p:par>
                        <p:par>
                          <p:cTn id="62" fill="hold">
                            <p:stCondLst>
                              <p:cond delay="1500"/>
                            </p:stCondLst>
                            <p:childTnLst>
                              <p:par>
                                <p:cTn id="63" presetID="37" presetClass="path" presetSubtype="0" accel="50000" decel="50000" fill="hold" grpId="1" nodeType="afterEffect">
                                  <p:stCondLst>
                                    <p:cond delay="0"/>
                                  </p:stCondLst>
                                  <p:childTnLst>
                                    <p:animMotion origin="layout" path="M 0.14792 0.14351 C 0.16945 0.14537 0.17795 0.15208 0.20261 0.13541 C 0.21702 0.11944 0.20087 0.0706 0.21649 0.05555 C 0.23143 0.04074 0.275 0.04051 0.29688 0.04051 " pathEditMode="relative" rAng="0" ptsTypes="AAAA">
                                      <p:cBhvr>
                                        <p:cTn id="64" dur="500" fill="hold"/>
                                        <p:tgtEl>
                                          <p:spTgt spid="20"/>
                                        </p:tgtEl>
                                        <p:attrNameLst>
                                          <p:attrName>ppt_x</p:attrName>
                                          <p:attrName>ppt_y</p:attrName>
                                        </p:attrNameLst>
                                      </p:cBhvr>
                                      <p:rCtr x="7448" y="-5023"/>
                                    </p:animMotion>
                                  </p:childTnLst>
                                </p:cTn>
                              </p:par>
                            </p:childTnLst>
                          </p:cTn>
                        </p:par>
                        <p:par>
                          <p:cTn id="65" fill="hold">
                            <p:stCondLst>
                              <p:cond delay="2000"/>
                            </p:stCondLst>
                            <p:childTnLst>
                              <p:par>
                                <p:cTn id="66" presetID="0" presetClass="path" presetSubtype="0" accel="50000" decel="50000" fill="hold" grpId="0" nodeType="afterEffect">
                                  <p:stCondLst>
                                    <p:cond delay="0"/>
                                  </p:stCondLst>
                                  <p:childTnLst>
                                    <p:animMotion origin="layout" path="M -0.00035 0.00023 C 0.00347 0.05417 0.00868 0.10718 0.03333 0.13102 C 0.0493 0.1463 0.08576 0.14491 0.14791 0.14352 " pathEditMode="relative" rAng="0" ptsTypes="AAA">
                                      <p:cBhvr>
                                        <p:cTn id="67" dur="500" fill="hold"/>
                                        <p:tgtEl>
                                          <p:spTgt spid="60"/>
                                        </p:tgtEl>
                                        <p:attrNameLst>
                                          <p:attrName>ppt_x</p:attrName>
                                          <p:attrName>ppt_y</p:attrName>
                                        </p:attrNameLst>
                                      </p:cBhvr>
                                      <p:rCtr x="7413" y="7199"/>
                                    </p:animMotion>
                                  </p:childTnLst>
                                </p:cTn>
                              </p:par>
                            </p:childTnLst>
                          </p:cTn>
                        </p:par>
                        <p:par>
                          <p:cTn id="68" fill="hold">
                            <p:stCondLst>
                              <p:cond delay="2500"/>
                            </p:stCondLst>
                            <p:childTnLst>
                              <p:par>
                                <p:cTn id="69" presetID="37" presetClass="path" presetSubtype="0" accel="50000" decel="50000" fill="hold" grpId="1" nodeType="afterEffect">
                                  <p:stCondLst>
                                    <p:cond delay="0"/>
                                  </p:stCondLst>
                                  <p:childTnLst>
                                    <p:animMotion origin="layout" path="M 0.14791 0.14444 C 0.17274 0.14375 0.21527 0.14652 0.24027 0.12963 C 0.25538 0.11458 0.221 0.06597 0.23697 0.05092 C 0.25243 0.03657 0.27691 0.04074 0.2993 0.04074 " pathEditMode="relative" rAng="0" ptsTypes="AAAA">
                                      <p:cBhvr>
                                        <p:cTn id="70" dur="500" fill="hold"/>
                                        <p:tgtEl>
                                          <p:spTgt spid="59"/>
                                        </p:tgtEl>
                                        <p:attrNameLst>
                                          <p:attrName>ppt_x</p:attrName>
                                          <p:attrName>ppt_y</p:attrName>
                                        </p:attrNameLst>
                                      </p:cBhvr>
                                      <p:rCtr x="7569" y="-5231"/>
                                    </p:animMotion>
                                  </p:childTnLst>
                                </p:cTn>
                              </p:par>
                            </p:childTnLst>
                          </p:cTn>
                        </p:par>
                        <p:par>
                          <p:cTn id="71" fill="hold">
                            <p:stCondLst>
                              <p:cond delay="3000"/>
                            </p:stCondLst>
                            <p:childTnLst>
                              <p:par>
                                <p:cTn id="72" presetID="37" presetClass="path" presetSubtype="0" accel="50000" decel="50000" fill="hold" grpId="1" nodeType="afterEffect">
                                  <p:stCondLst>
                                    <p:cond delay="0"/>
                                  </p:stCondLst>
                                  <p:childTnLst>
                                    <p:animMotion origin="layout" path="M 0.14791 0.14352 C 0.17239 0.14305 0.25 0.14305 0.27534 0.12616 C 0.28993 0.11088 0.25521 0.07245 0.26614 0.05972 C 0.27257 0.05069 0.28472 0.04028 0.29965 0.04028 " pathEditMode="relative" rAng="0" ptsTypes="AAAA">
                                      <p:cBhvr>
                                        <p:cTn id="73" dur="500" fill="hold"/>
                                        <p:tgtEl>
                                          <p:spTgt spid="60"/>
                                        </p:tgtEl>
                                        <p:attrNameLst>
                                          <p:attrName>ppt_x</p:attrName>
                                          <p:attrName>ppt_y</p:attrName>
                                        </p:attrNameLst>
                                      </p:cBhvr>
                                      <p:rCtr x="7587" y="-5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animBg="1"/>
      <p:bldP spid="19" grpId="1" animBg="1"/>
      <p:bldP spid="19" grpId="2" animBg="1"/>
      <p:bldP spid="21" grpId="0"/>
      <p:bldP spid="20" grpId="0" animBg="1"/>
      <p:bldP spid="20" grpId="1" animBg="1"/>
      <p:bldP spid="20" grpId="2" animBg="1"/>
      <p:bldP spid="53" grpId="0" animBg="1"/>
      <p:bldP spid="53" grpId="1" animBg="1"/>
      <p:bldP spid="53" grpId="2" animBg="1"/>
      <p:bldP spid="54" grpId="0" animBg="1"/>
      <p:bldP spid="54" grpId="1" animBg="1"/>
      <p:bldP spid="54" grpId="2" animBg="1"/>
      <p:bldP spid="59" grpId="0" animBg="1"/>
      <p:bldP spid="59" grpId="1" animBg="1"/>
      <p:bldP spid="59" grpId="2" animBg="1"/>
      <p:bldP spid="60" grpId="0" animBg="1"/>
      <p:bldP spid="60" grpId="1" animBg="1"/>
      <p:bldP spid="60" grpId="2"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tep 5">
            <a:extLst>
              <a:ext uri="{FF2B5EF4-FFF2-40B4-BE49-F238E27FC236}">
                <a16:creationId xmlns:a16="http://schemas.microsoft.com/office/drawing/2014/main" id="{5CC1F0A0-9814-4D10-90B6-523AADBE03B7}"/>
              </a:ext>
            </a:extLst>
          </p:cNvPr>
          <p:cNvSpPr/>
          <p:nvPr/>
        </p:nvSpPr>
        <p:spPr bwMode="auto">
          <a:xfrm>
            <a:off x="1724632" y="3775601"/>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5" name="step 4">
            <a:extLst>
              <a:ext uri="{FF2B5EF4-FFF2-40B4-BE49-F238E27FC236}">
                <a16:creationId xmlns:a16="http://schemas.microsoft.com/office/drawing/2014/main" id="{71384842-5F23-4A09-B6BE-51A76673D744}"/>
              </a:ext>
            </a:extLst>
          </p:cNvPr>
          <p:cNvSpPr/>
          <p:nvPr/>
        </p:nvSpPr>
        <p:spPr bwMode="auto">
          <a:xfrm>
            <a:off x="1724632" y="3509357"/>
            <a:ext cx="919342" cy="250930"/>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6" name="step 2">
            <a:extLst>
              <a:ext uri="{FF2B5EF4-FFF2-40B4-BE49-F238E27FC236}">
                <a16:creationId xmlns:a16="http://schemas.microsoft.com/office/drawing/2014/main" id="{675B3AB4-CC79-4BBB-9923-8322F61F0D04}"/>
              </a:ext>
            </a:extLst>
          </p:cNvPr>
          <p:cNvSpPr/>
          <p:nvPr/>
        </p:nvSpPr>
        <p:spPr bwMode="auto">
          <a:xfrm>
            <a:off x="1724632" y="2947239"/>
            <a:ext cx="919342" cy="264061"/>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7" name="step 1">
            <a:extLst>
              <a:ext uri="{FF2B5EF4-FFF2-40B4-BE49-F238E27FC236}">
                <a16:creationId xmlns:a16="http://schemas.microsoft.com/office/drawing/2014/main" id="{7B79EF0E-E68C-467E-A38E-152359FB9465}"/>
              </a:ext>
            </a:extLst>
          </p:cNvPr>
          <p:cNvSpPr/>
          <p:nvPr/>
        </p:nvSpPr>
        <p:spPr bwMode="auto">
          <a:xfrm>
            <a:off x="1724632" y="2654558"/>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8" name="step 6">
            <a:extLst>
              <a:ext uri="{FF2B5EF4-FFF2-40B4-BE49-F238E27FC236}">
                <a16:creationId xmlns:a16="http://schemas.microsoft.com/office/drawing/2014/main" id="{92596900-658E-4A65-BFDB-2BFDF5C60BBA}"/>
              </a:ext>
            </a:extLst>
          </p:cNvPr>
          <p:cNvSpPr/>
          <p:nvPr/>
        </p:nvSpPr>
        <p:spPr bwMode="auto">
          <a:xfrm>
            <a:off x="1724632" y="4068509"/>
            <a:ext cx="919342" cy="224771"/>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9" name="step 3">
            <a:extLst>
              <a:ext uri="{FF2B5EF4-FFF2-40B4-BE49-F238E27FC236}">
                <a16:creationId xmlns:a16="http://schemas.microsoft.com/office/drawing/2014/main" id="{A36F3E69-4F81-4AF1-AF05-F2B7D9B44562}"/>
              </a:ext>
            </a:extLst>
          </p:cNvPr>
          <p:cNvSpPr/>
          <p:nvPr/>
        </p:nvSpPr>
        <p:spPr bwMode="auto">
          <a:xfrm>
            <a:off x="1724632" y="3219740"/>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grpSp>
        <p:nvGrpSpPr>
          <p:cNvPr id="18" name="queue">
            <a:extLst>
              <a:ext uri="{FF2B5EF4-FFF2-40B4-BE49-F238E27FC236}">
                <a16:creationId xmlns:a16="http://schemas.microsoft.com/office/drawing/2014/main" id="{08005A08-6802-4DC2-A725-CE85B69D1D96}"/>
              </a:ext>
            </a:extLst>
          </p:cNvPr>
          <p:cNvGrpSpPr/>
          <p:nvPr/>
        </p:nvGrpSpPr>
        <p:grpSpPr>
          <a:xfrm>
            <a:off x="5237967" y="5213635"/>
            <a:ext cx="1716066" cy="833672"/>
            <a:chOff x="3574472" y="4936954"/>
            <a:chExt cx="1716066" cy="833672"/>
          </a:xfrm>
        </p:grpSpPr>
        <p:grpSp>
          <p:nvGrpSpPr>
            <p:cNvPr id="14" name="Group 13">
              <a:extLst>
                <a:ext uri="{FF2B5EF4-FFF2-40B4-BE49-F238E27FC236}">
                  <a16:creationId xmlns:a16="http://schemas.microsoft.com/office/drawing/2014/main" id="{A2B06178-4E87-49E9-BC05-4C53979D3564}"/>
                </a:ext>
              </a:extLst>
            </p:cNvPr>
            <p:cNvGrpSpPr/>
            <p:nvPr/>
          </p:nvGrpSpPr>
          <p:grpSpPr>
            <a:xfrm>
              <a:off x="3574472" y="5306287"/>
              <a:ext cx="1716066" cy="464339"/>
              <a:chOff x="3574472" y="5306287"/>
              <a:chExt cx="2115128" cy="374077"/>
            </a:xfrm>
          </p:grpSpPr>
          <p:cxnSp>
            <p:nvCxnSpPr>
              <p:cNvPr id="13" name="Straight Connector 12">
                <a:extLst>
                  <a:ext uri="{FF2B5EF4-FFF2-40B4-BE49-F238E27FC236}">
                    <a16:creationId xmlns:a16="http://schemas.microsoft.com/office/drawing/2014/main" id="{86AF3DC2-F3F9-46F0-BD26-A74013461DCB}"/>
                  </a:ext>
                </a:extLst>
              </p:cNvPr>
              <p:cNvCxnSpPr>
                <a:cxnSpLocks/>
              </p:cNvCxnSpPr>
              <p:nvPr/>
            </p:nvCxnSpPr>
            <p:spPr bwMode="auto">
              <a:xfrm>
                <a:off x="3574472" y="5306287"/>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3297F330-3E49-45AE-84A7-488FB902A585}"/>
                  </a:ext>
                </a:extLst>
              </p:cNvPr>
              <p:cNvCxnSpPr>
                <a:cxnSpLocks/>
              </p:cNvCxnSpPr>
              <p:nvPr/>
            </p:nvCxnSpPr>
            <p:spPr bwMode="auto">
              <a:xfrm>
                <a:off x="3574472" y="5680364"/>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7" name="TextBox 16">
              <a:extLst>
                <a:ext uri="{FF2B5EF4-FFF2-40B4-BE49-F238E27FC236}">
                  <a16:creationId xmlns:a16="http://schemas.microsoft.com/office/drawing/2014/main" id="{19178185-0F2D-4378-BCD7-03B5C66E63AA}"/>
                </a:ext>
              </a:extLst>
            </p:cNvPr>
            <p:cNvSpPr txBox="1"/>
            <p:nvPr/>
          </p:nvSpPr>
          <p:spPr>
            <a:xfrm>
              <a:off x="3574472" y="4936954"/>
              <a:ext cx="1716066" cy="369332"/>
            </a:xfrm>
            <a:prstGeom prst="rect">
              <a:avLst/>
            </a:prstGeom>
            <a:noFill/>
          </p:spPr>
          <p:txBody>
            <a:bodyPr wrap="square" rtlCol="0">
              <a:spAutoFit/>
            </a:bodyPr>
            <a:lstStyle/>
            <a:p>
              <a:r>
                <a:rPr lang="en-US" dirty="0">
                  <a:latin typeface="Times New Roman" panose="02020603050405020304" pitchFamily="18" charset="0"/>
                </a:rPr>
                <a:t>rear         front   </a:t>
              </a:r>
            </a:p>
          </p:txBody>
        </p:sp>
      </p:grpSp>
      <p:sp>
        <p:nvSpPr>
          <p:cNvPr id="20" name="TextBox 19">
            <a:extLst>
              <a:ext uri="{FF2B5EF4-FFF2-40B4-BE49-F238E27FC236}">
                <a16:creationId xmlns:a16="http://schemas.microsoft.com/office/drawing/2014/main" id="{53081340-8698-49C5-BE67-4D18CF66E037}"/>
              </a:ext>
            </a:extLst>
          </p:cNvPr>
          <p:cNvSpPr txBox="1"/>
          <p:nvPr/>
        </p:nvSpPr>
        <p:spPr>
          <a:xfrm>
            <a:off x="8367992" y="2350166"/>
            <a:ext cx="1615044" cy="461665"/>
          </a:xfrm>
          <a:prstGeom prst="rect">
            <a:avLst/>
          </a:prstGeom>
          <a:noFill/>
        </p:spPr>
        <p:txBody>
          <a:bodyPr wrap="square" rtlCol="0">
            <a:spAutoFit/>
          </a:bodyPr>
          <a:lstStyle/>
          <a:p>
            <a:pPr algn="ctr"/>
            <a:r>
              <a:rPr lang="en-US" sz="2400" dirty="0">
                <a:latin typeface="Times New Roman" panose="02020603050405020304" pitchFamily="18" charset="0"/>
              </a:rPr>
              <a:t>Results</a:t>
            </a:r>
          </a:p>
        </p:txBody>
      </p:sp>
      <p:grpSp>
        <p:nvGrpSpPr>
          <p:cNvPr id="10" name="seq1 results">
            <a:extLst>
              <a:ext uri="{FF2B5EF4-FFF2-40B4-BE49-F238E27FC236}">
                <a16:creationId xmlns:a16="http://schemas.microsoft.com/office/drawing/2014/main" id="{8550A710-851B-438A-89E3-8676BC4D074D}"/>
              </a:ext>
            </a:extLst>
          </p:cNvPr>
          <p:cNvGrpSpPr/>
          <p:nvPr/>
        </p:nvGrpSpPr>
        <p:grpSpPr>
          <a:xfrm>
            <a:off x="7631687" y="2822716"/>
            <a:ext cx="2919275" cy="684803"/>
            <a:chOff x="6120805" y="2822715"/>
            <a:chExt cx="2919275" cy="684803"/>
          </a:xfrm>
        </p:grpSpPr>
        <p:sp>
          <p:nvSpPr>
            <p:cNvPr id="69" name="TextBox 68">
              <a:extLst>
                <a:ext uri="{FF2B5EF4-FFF2-40B4-BE49-F238E27FC236}">
                  <a16:creationId xmlns:a16="http://schemas.microsoft.com/office/drawing/2014/main" id="{9DE8DB4D-B54B-4737-937A-1F3A20B17609}"/>
                </a:ext>
              </a:extLst>
            </p:cNvPr>
            <p:cNvSpPr txBox="1"/>
            <p:nvPr/>
          </p:nvSpPr>
          <p:spPr>
            <a:xfrm>
              <a:off x="8098448" y="2822715"/>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70" name="TextBox 69">
              <a:extLst>
                <a:ext uri="{FF2B5EF4-FFF2-40B4-BE49-F238E27FC236}">
                  <a16:creationId xmlns:a16="http://schemas.microsoft.com/office/drawing/2014/main" id="{B00FF8C2-7FB0-4928-BE2E-41B9A0041123}"/>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#1</a:t>
              </a:r>
            </a:p>
          </p:txBody>
        </p:sp>
      </p:grpSp>
      <p:sp>
        <p:nvSpPr>
          <p:cNvPr id="74" name="Input order">
            <a:extLst>
              <a:ext uri="{FF2B5EF4-FFF2-40B4-BE49-F238E27FC236}">
                <a16:creationId xmlns:a16="http://schemas.microsoft.com/office/drawing/2014/main" id="{016DDF85-FF06-432F-9D8E-0E8FD7CD61FB}"/>
              </a:ext>
            </a:extLst>
          </p:cNvPr>
          <p:cNvSpPr txBox="1"/>
          <p:nvPr/>
        </p:nvSpPr>
        <p:spPr>
          <a:xfrm>
            <a:off x="1668508" y="4549130"/>
            <a:ext cx="3216999" cy="461665"/>
          </a:xfrm>
          <a:prstGeom prst="rect">
            <a:avLst/>
          </a:prstGeom>
          <a:noFill/>
        </p:spPr>
        <p:txBody>
          <a:bodyPr wrap="square" rtlCol="0">
            <a:spAutoFit/>
          </a:bodyPr>
          <a:lstStyle/>
          <a:p>
            <a:r>
              <a:rPr lang="en-US" sz="2400" dirty="0">
                <a:latin typeface="Times New Roman" panose="02020603050405020304" pitchFamily="18" charset="0"/>
              </a:rPr>
              <a:t>Input order:  A, B, C</a:t>
            </a:r>
          </a:p>
        </p:txBody>
      </p:sp>
      <p:grpSp>
        <p:nvGrpSpPr>
          <p:cNvPr id="34" name="stack">
            <a:extLst>
              <a:ext uri="{FF2B5EF4-FFF2-40B4-BE49-F238E27FC236}">
                <a16:creationId xmlns:a16="http://schemas.microsoft.com/office/drawing/2014/main" id="{D890F2F8-0207-41E1-A933-9439BC8F6DC9}"/>
              </a:ext>
            </a:extLst>
          </p:cNvPr>
          <p:cNvGrpSpPr/>
          <p:nvPr/>
        </p:nvGrpSpPr>
        <p:grpSpPr>
          <a:xfrm>
            <a:off x="7058935" y="2965062"/>
            <a:ext cx="521853" cy="1924939"/>
            <a:chOff x="4311074" y="2912281"/>
            <a:chExt cx="521853" cy="1924939"/>
          </a:xfrm>
        </p:grpSpPr>
        <p:grpSp>
          <p:nvGrpSpPr>
            <p:cNvPr id="35" name="Group 34">
              <a:extLst>
                <a:ext uri="{FF2B5EF4-FFF2-40B4-BE49-F238E27FC236}">
                  <a16:creationId xmlns:a16="http://schemas.microsoft.com/office/drawing/2014/main" id="{18E9785E-B809-482C-8841-C1B8169F2BF9}"/>
                </a:ext>
              </a:extLst>
            </p:cNvPr>
            <p:cNvGrpSpPr/>
            <p:nvPr/>
          </p:nvGrpSpPr>
          <p:grpSpPr>
            <a:xfrm>
              <a:off x="4311074" y="3257801"/>
              <a:ext cx="521853" cy="1579419"/>
              <a:chOff x="1958109" y="3260436"/>
              <a:chExt cx="521853" cy="1579419"/>
            </a:xfrm>
          </p:grpSpPr>
          <p:cxnSp>
            <p:nvCxnSpPr>
              <p:cNvPr id="37" name="Straight Connector 36">
                <a:extLst>
                  <a:ext uri="{FF2B5EF4-FFF2-40B4-BE49-F238E27FC236}">
                    <a16:creationId xmlns:a16="http://schemas.microsoft.com/office/drawing/2014/main" id="{681E788E-5BA9-410A-8121-6A094506CA6E}"/>
                  </a:ext>
                </a:extLst>
              </p:cNvPr>
              <p:cNvCxnSpPr>
                <a:cxnSpLocks/>
              </p:cNvCxnSpPr>
              <p:nvPr/>
            </p:nvCxnSpPr>
            <p:spPr bwMode="auto">
              <a:xfrm>
                <a:off x="1958109"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27B40FF7-773C-4A0F-895B-73444CDBF8F3}"/>
                  </a:ext>
                </a:extLst>
              </p:cNvPr>
              <p:cNvCxnSpPr>
                <a:cxnSpLocks/>
              </p:cNvCxnSpPr>
              <p:nvPr/>
            </p:nvCxnSpPr>
            <p:spPr bwMode="auto">
              <a:xfrm>
                <a:off x="2479962"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9" name="Straight Connector 38">
                <a:extLst>
                  <a:ext uri="{FF2B5EF4-FFF2-40B4-BE49-F238E27FC236}">
                    <a16:creationId xmlns:a16="http://schemas.microsoft.com/office/drawing/2014/main" id="{E4E6377A-59FF-459D-83BB-8A8A31A839A6}"/>
                  </a:ext>
                </a:extLst>
              </p:cNvPr>
              <p:cNvCxnSpPr>
                <a:cxnSpLocks/>
              </p:cNvCxnSpPr>
              <p:nvPr/>
            </p:nvCxnSpPr>
            <p:spPr bwMode="auto">
              <a:xfrm>
                <a:off x="1958109" y="4825563"/>
                <a:ext cx="521853"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36" name="TextBox 35">
              <a:extLst>
                <a:ext uri="{FF2B5EF4-FFF2-40B4-BE49-F238E27FC236}">
                  <a16:creationId xmlns:a16="http://schemas.microsoft.com/office/drawing/2014/main" id="{FF530064-D897-4386-81FF-7F835F046767}"/>
                </a:ext>
              </a:extLst>
            </p:cNvPr>
            <p:cNvSpPr txBox="1"/>
            <p:nvPr/>
          </p:nvSpPr>
          <p:spPr>
            <a:xfrm>
              <a:off x="4351897" y="2912281"/>
              <a:ext cx="479618" cy="369332"/>
            </a:xfrm>
            <a:prstGeom prst="rect">
              <a:avLst/>
            </a:prstGeom>
            <a:noFill/>
          </p:spPr>
          <p:txBody>
            <a:bodyPr wrap="none" rtlCol="0">
              <a:spAutoFit/>
            </a:bodyPr>
            <a:lstStyle/>
            <a:p>
              <a:r>
                <a:rPr lang="en-US" dirty="0">
                  <a:latin typeface="Times New Roman" panose="02020603050405020304" pitchFamily="18" charset="0"/>
                </a:rPr>
                <a:t>top</a:t>
              </a:r>
            </a:p>
          </p:txBody>
        </p:sp>
      </p:grpSp>
      <p:grpSp>
        <p:nvGrpSpPr>
          <p:cNvPr id="23" name="sequence 1">
            <a:extLst>
              <a:ext uri="{FF2B5EF4-FFF2-40B4-BE49-F238E27FC236}">
                <a16:creationId xmlns:a16="http://schemas.microsoft.com/office/drawing/2014/main" id="{4713D9B4-0E3D-48CA-9447-638418CECA99}"/>
              </a:ext>
            </a:extLst>
          </p:cNvPr>
          <p:cNvGrpSpPr/>
          <p:nvPr/>
        </p:nvGrpSpPr>
        <p:grpSpPr>
          <a:xfrm>
            <a:off x="1668508" y="2211511"/>
            <a:ext cx="1180881" cy="2149904"/>
            <a:chOff x="144507" y="2211511"/>
            <a:chExt cx="1180881" cy="2149904"/>
          </a:xfrm>
        </p:grpSpPr>
        <p:sp>
          <p:nvSpPr>
            <p:cNvPr id="2" name="TextBox 1">
              <a:extLst>
                <a:ext uri="{FF2B5EF4-FFF2-40B4-BE49-F238E27FC236}">
                  <a16:creationId xmlns:a16="http://schemas.microsoft.com/office/drawing/2014/main" id="{09C9EA19-BF8B-48A0-9F13-FF7779057ADF}"/>
                </a:ext>
              </a:extLst>
            </p:cNvPr>
            <p:cNvSpPr txBox="1"/>
            <p:nvPr/>
          </p:nvSpPr>
          <p:spPr>
            <a:xfrm>
              <a:off x="144507" y="2607089"/>
              <a:ext cx="1180881"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remove</a:t>
              </a:r>
            </a:p>
            <a:p>
              <a:r>
                <a:rPr lang="en-US" dirty="0">
                  <a:latin typeface="Times New Roman" panose="02020603050405020304" pitchFamily="18" charset="0"/>
                </a:rPr>
                <a:t>insert(B)</a:t>
              </a:r>
            </a:p>
            <a:p>
              <a:r>
                <a:rPr lang="en-US" dirty="0">
                  <a:latin typeface="Times New Roman" panose="02020603050405020304" pitchFamily="18" charset="0"/>
                </a:rPr>
                <a:t>remove</a:t>
              </a:r>
            </a:p>
            <a:p>
              <a:r>
                <a:rPr lang="en-US" dirty="0">
                  <a:latin typeface="Times New Roman" panose="02020603050405020304" pitchFamily="18" charset="0"/>
                </a:rPr>
                <a:t>insert(C)</a:t>
              </a:r>
            </a:p>
            <a:p>
              <a:r>
                <a:rPr lang="en-US" dirty="0">
                  <a:latin typeface="Times New Roman" panose="02020603050405020304" pitchFamily="18" charset="0"/>
                </a:rPr>
                <a:t>remove</a:t>
              </a:r>
            </a:p>
          </p:txBody>
        </p:sp>
        <p:sp>
          <p:nvSpPr>
            <p:cNvPr id="21" name="TextBox 20">
              <a:extLst>
                <a:ext uri="{FF2B5EF4-FFF2-40B4-BE49-F238E27FC236}">
                  <a16:creationId xmlns:a16="http://schemas.microsoft.com/office/drawing/2014/main" id="{C7EFE8C8-0FD7-4B97-BC56-C3FE1F0DE003}"/>
                </a:ext>
              </a:extLst>
            </p:cNvPr>
            <p:cNvSpPr txBox="1"/>
            <p:nvPr/>
          </p:nvSpPr>
          <p:spPr>
            <a:xfrm>
              <a:off x="144562" y="2211511"/>
              <a:ext cx="1062255" cy="400110"/>
            </a:xfrm>
            <a:prstGeom prst="rect">
              <a:avLst/>
            </a:prstGeom>
            <a:noFill/>
          </p:spPr>
          <p:txBody>
            <a:bodyPr wrap="square" rtlCol="0">
              <a:spAutoFit/>
            </a:bodyPr>
            <a:lstStyle/>
            <a:p>
              <a:r>
                <a:rPr lang="en-US" sz="2000" dirty="0">
                  <a:latin typeface="Times New Roman" panose="02020603050405020304" pitchFamily="18" charset="0"/>
                </a:rPr>
                <a:t>Seq. #1  </a:t>
              </a:r>
            </a:p>
          </p:txBody>
        </p:sp>
      </p:grpSp>
      <p:sp>
        <p:nvSpPr>
          <p:cNvPr id="29" name="s i A 1">
            <a:extLst>
              <a:ext uri="{FF2B5EF4-FFF2-40B4-BE49-F238E27FC236}">
                <a16:creationId xmlns:a16="http://schemas.microsoft.com/office/drawing/2014/main" id="{2C526841-C137-435A-ADF6-4E53BF60E42A}"/>
              </a:ext>
            </a:extLst>
          </p:cNvPr>
          <p:cNvSpPr/>
          <p:nvPr/>
        </p:nvSpPr>
        <p:spPr bwMode="auto">
          <a:xfrm>
            <a:off x="2353191" y="2692198"/>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73" name="q i A 1">
            <a:extLst>
              <a:ext uri="{FF2B5EF4-FFF2-40B4-BE49-F238E27FC236}">
                <a16:creationId xmlns:a16="http://schemas.microsoft.com/office/drawing/2014/main" id="{BB475938-6766-47A3-B436-4E594F3EE284}"/>
              </a:ext>
            </a:extLst>
          </p:cNvPr>
          <p:cNvSpPr/>
          <p:nvPr/>
        </p:nvSpPr>
        <p:spPr bwMode="auto">
          <a:xfrm>
            <a:off x="2353191" y="2692198"/>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65" name="s i B 1">
            <a:extLst>
              <a:ext uri="{FF2B5EF4-FFF2-40B4-BE49-F238E27FC236}">
                <a16:creationId xmlns:a16="http://schemas.microsoft.com/office/drawing/2014/main" id="{7B42C3EA-F5B8-48B1-B7DE-CEEC9A122862}"/>
              </a:ext>
            </a:extLst>
          </p:cNvPr>
          <p:cNvSpPr/>
          <p:nvPr/>
        </p:nvSpPr>
        <p:spPr bwMode="auto">
          <a:xfrm>
            <a:off x="2352725" y="3237925"/>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66" name="q i B 1">
            <a:extLst>
              <a:ext uri="{FF2B5EF4-FFF2-40B4-BE49-F238E27FC236}">
                <a16:creationId xmlns:a16="http://schemas.microsoft.com/office/drawing/2014/main" id="{84EBACE0-1FDA-4904-9394-16AC3112E6FF}"/>
              </a:ext>
            </a:extLst>
          </p:cNvPr>
          <p:cNvSpPr/>
          <p:nvPr/>
        </p:nvSpPr>
        <p:spPr bwMode="auto">
          <a:xfrm>
            <a:off x="2352725" y="3237925"/>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93" name="s i C 1">
            <a:extLst>
              <a:ext uri="{FF2B5EF4-FFF2-40B4-BE49-F238E27FC236}">
                <a16:creationId xmlns:a16="http://schemas.microsoft.com/office/drawing/2014/main" id="{192E2096-3630-480F-80C6-CB7E74C6BDD3}"/>
              </a:ext>
            </a:extLst>
          </p:cNvPr>
          <p:cNvSpPr/>
          <p:nvPr/>
        </p:nvSpPr>
        <p:spPr bwMode="auto">
          <a:xfrm>
            <a:off x="2359579" y="3799060"/>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72" name="q i C 1">
            <a:extLst>
              <a:ext uri="{FF2B5EF4-FFF2-40B4-BE49-F238E27FC236}">
                <a16:creationId xmlns:a16="http://schemas.microsoft.com/office/drawing/2014/main" id="{7C2AB792-8AA8-4B9D-B0F0-D9427A6ED6C4}"/>
              </a:ext>
            </a:extLst>
          </p:cNvPr>
          <p:cNvSpPr/>
          <p:nvPr/>
        </p:nvSpPr>
        <p:spPr bwMode="auto">
          <a:xfrm>
            <a:off x="2359579" y="3799060"/>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5" name="TextBox 4">
            <a:extLst>
              <a:ext uri="{FF2B5EF4-FFF2-40B4-BE49-F238E27FC236}">
                <a16:creationId xmlns:a16="http://schemas.microsoft.com/office/drawing/2014/main" id="{0EFF3453-A0BF-845C-167F-9ACF73E66F53}"/>
              </a:ext>
            </a:extLst>
          </p:cNvPr>
          <p:cNvSpPr txBox="1"/>
          <p:nvPr/>
        </p:nvSpPr>
        <p:spPr>
          <a:xfrm>
            <a:off x="906395" y="875282"/>
            <a:ext cx="6725292" cy="715581"/>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Order of Input and Output</a:t>
            </a:r>
          </a:p>
        </p:txBody>
      </p:sp>
    </p:spTree>
    <p:extLst>
      <p:ext uri="{BB962C8B-B14F-4D97-AF65-F5344CB8AC3E}">
        <p14:creationId xmlns:p14="http://schemas.microsoft.com/office/powerpoint/2010/main" val="347889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3"/>
                                        </p:tgtEl>
                                        <p:attrNameLst>
                                          <p:attrName>style.visibility</p:attrName>
                                        </p:attrNameLst>
                                      </p:cBhvr>
                                      <p:to>
                                        <p:strVal val="visible"/>
                                      </p:to>
                                    </p:set>
                                  </p:childTnLst>
                                </p:cTn>
                              </p:par>
                            </p:childTnLst>
                          </p:cTn>
                        </p:par>
                        <p:par>
                          <p:cTn id="14" fill="hold">
                            <p:stCondLst>
                              <p:cond delay="0"/>
                            </p:stCondLst>
                            <p:childTnLst>
                              <p:par>
                                <p:cTn id="15" presetID="37" presetClass="path" presetSubtype="0" accel="50000" decel="50000" fill="hold" grpId="1" nodeType="afterEffect">
                                  <p:stCondLst>
                                    <p:cond delay="0"/>
                                  </p:stCondLst>
                                  <p:childTnLst>
                                    <p:animMotion origin="layout" path="M -0.00018 -0.00208 C 0.05329 -0.00301 0.05763 -0.12893 0.29704 -0.13217 C 0.40295 -0.13171 0.39513 -0.02245 0.39461 0.27037 " pathEditMode="relative" rAng="0" ptsTypes="AAA">
                                      <p:cBhvr>
                                        <p:cTn id="16" dur="2000" fill="hold"/>
                                        <p:tgtEl>
                                          <p:spTgt spid="29"/>
                                        </p:tgtEl>
                                        <p:attrNameLst>
                                          <p:attrName>ppt_x</p:attrName>
                                          <p:attrName>ppt_y</p:attrName>
                                        </p:attrNameLst>
                                      </p:cBhvr>
                                      <p:rCtr x="19740" y="7106"/>
                                    </p:animMotion>
                                  </p:childTnLst>
                                </p:cTn>
                              </p:par>
                              <p:par>
                                <p:cTn id="17" presetID="37" presetClass="path" presetSubtype="0" accel="50000" decel="50000" fill="hold" grpId="1" nodeType="withEffect">
                                  <p:stCondLst>
                                    <p:cond delay="0"/>
                                  </p:stCondLst>
                                  <p:childTnLst>
                                    <p:animMotion origin="layout" path="M -0.00018 -0.00139 C 0.08732 -0.00046 0.06701 0.23936 0.11493 0.32269 C 0.20833 0.4463 0.1842 0.44236 0.34843 0.43797 " pathEditMode="relative" rAng="0" ptsTypes="AAA">
                                      <p:cBhvr>
                                        <p:cTn id="18" dur="2000" fill="hold"/>
                                        <p:tgtEl>
                                          <p:spTgt spid="73"/>
                                        </p:tgtEl>
                                        <p:attrNameLst>
                                          <p:attrName>ppt_x</p:attrName>
                                          <p:attrName>ppt_y</p:attrName>
                                        </p:attrNameLst>
                                      </p:cBhvr>
                                      <p:rCtr x="17431" y="22037"/>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97"/>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500"/>
                                        <p:tgtEl>
                                          <p:spTgt spid="96"/>
                                        </p:tgtEl>
                                      </p:cBhvr>
                                    </p:animEffect>
                                  </p:childTnLst>
                                </p:cTn>
                              </p:par>
                            </p:childTnLst>
                          </p:cTn>
                        </p:par>
                        <p:par>
                          <p:cTn id="26" fill="hold">
                            <p:stCondLst>
                              <p:cond delay="500"/>
                            </p:stCondLst>
                            <p:childTnLst>
                              <p:par>
                                <p:cTn id="27" presetID="37" presetClass="path" presetSubtype="0" accel="50000" decel="50000" fill="hold" grpId="2" nodeType="afterEffect">
                                  <p:stCondLst>
                                    <p:cond delay="0"/>
                                  </p:stCondLst>
                                  <p:childTnLst>
                                    <p:animMotion origin="layout" path="M 0.39479 0.27061 C 0.39479 0.18334 0.4184 0.06227 0.42743 -0.00578 C 0.43871 -0.05717 0.46979 -0.0949 0.5052 -0.05139 C 0.53593 -0.02777 0.55034 0.02176 0.6934 0.03218 " pathEditMode="relative" rAng="0" ptsTypes="AAAA">
                                      <p:cBhvr>
                                        <p:cTn id="28" dur="2000" fill="hold"/>
                                        <p:tgtEl>
                                          <p:spTgt spid="29"/>
                                        </p:tgtEl>
                                        <p:attrNameLst>
                                          <p:attrName>ppt_x</p:attrName>
                                          <p:attrName>ppt_y</p:attrName>
                                        </p:attrNameLst>
                                      </p:cBhvr>
                                      <p:rCtr x="14931" y="-17060"/>
                                    </p:animMotion>
                                  </p:childTnLst>
                                </p:cTn>
                              </p:par>
                              <p:par>
                                <p:cTn id="29" presetID="37" presetClass="path" presetSubtype="0" accel="50000" decel="50000" fill="hold" grpId="2" nodeType="withEffect">
                                  <p:stCondLst>
                                    <p:cond delay="0"/>
                                  </p:stCondLst>
                                  <p:childTnLst>
                                    <p:animMotion origin="layout" path="M 0.34895 0.43889 C 0.45937 0.43889 0.48454 0.44422 0.4934 0.41551 C 0.51562 0.33311 0.46753 0.07408 0.6927 0.07871 " pathEditMode="relative" rAng="0" ptsTypes="AAA">
                                      <p:cBhvr>
                                        <p:cTn id="30" dur="2000" fill="hold"/>
                                        <p:tgtEl>
                                          <p:spTgt spid="73"/>
                                        </p:tgtEl>
                                        <p:attrNameLst>
                                          <p:attrName>ppt_x</p:attrName>
                                          <p:attrName>ppt_y</p:attrName>
                                        </p:attrNameLst>
                                      </p:cBhvr>
                                      <p:rCtr x="17188" y="-18009"/>
                                    </p:animMotion>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6"/>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99"/>
                                        </p:tgtEl>
                                        <p:attrNameLst>
                                          <p:attrName>style.visibility</p:attrName>
                                        </p:attrNameLst>
                                      </p:cBhvr>
                                      <p:to>
                                        <p:strVal val="visible"/>
                                      </p:to>
                                    </p:set>
                                    <p:animEffect transition="in" filter="fade">
                                      <p:cBhvr>
                                        <p:cTn id="37" dur="500"/>
                                        <p:tgtEl>
                                          <p:spTgt spid="99"/>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6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childTnLst>
                                </p:cTn>
                              </p:par>
                            </p:childTnLst>
                          </p:cTn>
                        </p:par>
                        <p:par>
                          <p:cTn id="42" fill="hold">
                            <p:stCondLst>
                              <p:cond delay="500"/>
                            </p:stCondLst>
                            <p:childTnLst>
                              <p:par>
                                <p:cTn id="43" presetID="37" presetClass="path" presetSubtype="0" accel="50000" decel="50000" fill="hold" grpId="1" nodeType="afterEffect">
                                  <p:stCondLst>
                                    <p:cond delay="0"/>
                                  </p:stCondLst>
                                  <p:childTnLst>
                                    <p:animMotion origin="layout" path="M 0.00035 0.00046 C 0.05261 -0.00046 0.05799 -0.12593 0.29688 -0.12778 C 0.40313 -0.12778 0.39445 -0.10278 0.39393 0.19144 " pathEditMode="relative" rAng="0" ptsTypes="AAA">
                                      <p:cBhvr>
                                        <p:cTn id="44" dur="2000" fill="hold"/>
                                        <p:tgtEl>
                                          <p:spTgt spid="65"/>
                                        </p:tgtEl>
                                        <p:attrNameLst>
                                          <p:attrName>ppt_x</p:attrName>
                                          <p:attrName>ppt_y</p:attrName>
                                        </p:attrNameLst>
                                      </p:cBhvr>
                                      <p:rCtr x="19705" y="3125"/>
                                    </p:animMotion>
                                  </p:childTnLst>
                                </p:cTn>
                              </p:par>
                              <p:par>
                                <p:cTn id="45" presetID="37" presetClass="path" presetSubtype="0" accel="50000" decel="50000" fill="hold" grpId="1" nodeType="withEffect">
                                  <p:stCondLst>
                                    <p:cond delay="0"/>
                                  </p:stCondLst>
                                  <p:childTnLst>
                                    <p:animMotion origin="layout" path="M 0.00086 -0.00046 C 0.08819 0.00047 0.06823 0.23936 0.11579 0.32269 C 0.20937 0.4463 0.18385 0.36297 0.34843 0.35857 " pathEditMode="relative" rAng="0" ptsTypes="AAA">
                                      <p:cBhvr>
                                        <p:cTn id="46" dur="2000" fill="hold"/>
                                        <p:tgtEl>
                                          <p:spTgt spid="66"/>
                                        </p:tgtEl>
                                        <p:attrNameLst>
                                          <p:attrName>ppt_x</p:attrName>
                                          <p:attrName>ppt_y</p:attrName>
                                        </p:attrNameLst>
                                      </p:cBhvr>
                                      <p:rCtr x="17378" y="19514"/>
                                    </p:animMotion>
                                  </p:childTnLst>
                                </p:cTn>
                              </p:par>
                            </p:childTnLst>
                          </p:cTn>
                        </p:par>
                        <p:par>
                          <p:cTn id="47" fill="hold">
                            <p:stCondLst>
                              <p:cond delay="2500"/>
                            </p:stCondLst>
                            <p:childTnLst>
                              <p:par>
                                <p:cTn id="48" presetID="1" presetClass="exit" presetSubtype="0" fill="hold" grpId="1" nodeType="afterEffect">
                                  <p:stCondLst>
                                    <p:cond delay="0"/>
                                  </p:stCondLst>
                                  <p:childTnLst>
                                    <p:set>
                                      <p:cBhvr>
                                        <p:cTn id="49" dur="1" fill="hold">
                                          <p:stCondLst>
                                            <p:cond delay="0"/>
                                          </p:stCondLst>
                                        </p:cTn>
                                        <p:tgtEl>
                                          <p:spTgt spid="99"/>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95"/>
                                        </p:tgtEl>
                                        <p:attrNameLst>
                                          <p:attrName>style.visibility</p:attrName>
                                        </p:attrNameLst>
                                      </p:cBhvr>
                                      <p:to>
                                        <p:strVal val="visible"/>
                                      </p:to>
                                    </p:set>
                                    <p:animEffect transition="in" filter="fade">
                                      <p:cBhvr>
                                        <p:cTn id="52" dur="500"/>
                                        <p:tgtEl>
                                          <p:spTgt spid="95"/>
                                        </p:tgtEl>
                                      </p:cBhvr>
                                    </p:animEffect>
                                  </p:childTnLst>
                                </p:cTn>
                              </p:par>
                            </p:childTnLst>
                          </p:cTn>
                        </p:par>
                        <p:par>
                          <p:cTn id="53" fill="hold">
                            <p:stCondLst>
                              <p:cond delay="3000"/>
                            </p:stCondLst>
                            <p:childTnLst>
                              <p:par>
                                <p:cTn id="54" presetID="37" presetClass="path" presetSubtype="0" accel="50000" decel="50000" fill="hold" grpId="2" nodeType="afterEffect">
                                  <p:stCondLst>
                                    <p:cond delay="0"/>
                                  </p:stCondLst>
                                  <p:childTnLst>
                                    <p:animMotion origin="layout" path="M 0.39393 0.19144 C 0.39393 0.09815 0.38646 0.08032 0.39636 0.01065 C 0.40903 -0.0419 0.44306 -0.08056 0.48195 -0.03588 C 0.51528 -0.01181 0.57205 -0.05741 0.72952 -0.04676 " pathEditMode="relative" rAng="0" ptsTypes="AAAA">
                                      <p:cBhvr>
                                        <p:cTn id="55" dur="2000" fill="hold"/>
                                        <p:tgtEl>
                                          <p:spTgt spid="65"/>
                                        </p:tgtEl>
                                        <p:attrNameLst>
                                          <p:attrName>ppt_x</p:attrName>
                                          <p:attrName>ppt_y</p:attrName>
                                        </p:attrNameLst>
                                      </p:cBhvr>
                                      <p:rCtr x="16649" y="-12338"/>
                                    </p:animMotion>
                                  </p:childTnLst>
                                </p:cTn>
                              </p:par>
                              <p:par>
                                <p:cTn id="56" presetID="37" presetClass="path" presetSubtype="0" accel="50000" decel="50000" fill="hold" grpId="2" nodeType="withEffect">
                                  <p:stCondLst>
                                    <p:cond delay="0"/>
                                  </p:stCondLst>
                                  <p:childTnLst>
                                    <p:animMotion origin="layout" path="M 0.34843 0.35834 C 0.47031 0.35834 0.49965 0.37986 0.5092 0.35509 C 0.53402 0.28449 0.48073 -0.00555 0.73003 -0.00116 " pathEditMode="relative" rAng="0" ptsTypes="AAA">
                                      <p:cBhvr>
                                        <p:cTn id="57" dur="2000" fill="hold"/>
                                        <p:tgtEl>
                                          <p:spTgt spid="66"/>
                                        </p:tgtEl>
                                        <p:attrNameLst>
                                          <p:attrName>ppt_x</p:attrName>
                                          <p:attrName>ppt_y</p:attrName>
                                        </p:attrNameLst>
                                      </p:cBhvr>
                                      <p:rCtr x="19080" y="-17546"/>
                                    </p:animMotion>
                                  </p:childTnLst>
                                </p:cTn>
                              </p:par>
                            </p:childTnLst>
                          </p:cTn>
                        </p:par>
                        <p:par>
                          <p:cTn id="58" fill="hold">
                            <p:stCondLst>
                              <p:cond delay="5000"/>
                            </p:stCondLst>
                            <p:childTnLst>
                              <p:par>
                                <p:cTn id="59" presetID="1" presetClass="exit" presetSubtype="0" fill="hold" grpId="1" nodeType="afterEffect">
                                  <p:stCondLst>
                                    <p:cond delay="0"/>
                                  </p:stCondLst>
                                  <p:childTnLst>
                                    <p:set>
                                      <p:cBhvr>
                                        <p:cTn id="60" dur="1" fill="hold">
                                          <p:stCondLst>
                                            <p:cond delay="0"/>
                                          </p:stCondLst>
                                        </p:cTn>
                                        <p:tgtEl>
                                          <p:spTgt spid="95"/>
                                        </p:tgtEl>
                                        <p:attrNameLst>
                                          <p:attrName>style.visibility</p:attrName>
                                        </p:attrNameLst>
                                      </p:cBhvr>
                                      <p:to>
                                        <p:strVal val="hidden"/>
                                      </p:to>
                                    </p:set>
                                  </p:childTnLst>
                                </p:cTn>
                              </p:par>
                              <p:par>
                                <p:cTn id="61" presetID="10" presetClass="entr" presetSubtype="0" fill="hold" grpId="0" nodeType="with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par>
                          <p:cTn id="64" fill="hold">
                            <p:stCondLst>
                              <p:cond delay="5500"/>
                            </p:stCondLst>
                            <p:childTnLst>
                              <p:par>
                                <p:cTn id="65" presetID="1" presetClass="entr" presetSubtype="0" fill="hold" grpId="0" nodeType="after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childTnLst>
                          </p:cTn>
                        </p:par>
                        <p:par>
                          <p:cTn id="69" fill="hold">
                            <p:stCondLst>
                              <p:cond delay="5500"/>
                            </p:stCondLst>
                            <p:childTnLst>
                              <p:par>
                                <p:cTn id="70" presetID="37" presetClass="path" presetSubtype="0" accel="50000" decel="50000" fill="hold" grpId="1" nodeType="afterEffect">
                                  <p:stCondLst>
                                    <p:cond delay="0"/>
                                  </p:stCondLst>
                                  <p:childTnLst>
                                    <p:animMotion origin="layout" path="M 0.00034 -0.00185 C 0.10937 -0.00046 0.05225 -0.2706 0.29149 -0.27083 C 0.39791 -0.27083 0.39409 -0.1044 0.39357 0.11019 " pathEditMode="relative" rAng="0" ptsTypes="AAA">
                                      <p:cBhvr>
                                        <p:cTn id="71" dur="2000" fill="hold"/>
                                        <p:tgtEl>
                                          <p:spTgt spid="93"/>
                                        </p:tgtEl>
                                        <p:attrNameLst>
                                          <p:attrName>ppt_x</p:attrName>
                                          <p:attrName>ppt_y</p:attrName>
                                        </p:attrNameLst>
                                      </p:cBhvr>
                                      <p:rCtr x="19653" y="-7847"/>
                                    </p:animMotion>
                                  </p:childTnLst>
                                </p:cTn>
                              </p:par>
                              <p:par>
                                <p:cTn id="72" presetID="37" presetClass="path" presetSubtype="0" accel="50000" decel="50000" fill="hold" grpId="1" nodeType="withEffect">
                                  <p:stCondLst>
                                    <p:cond delay="0"/>
                                  </p:stCondLst>
                                  <p:childTnLst>
                                    <p:animMotion origin="layout" path="M 0.00087 -0.00069 C 0.08802 -0.00069 0.04028 0.2 0.10156 0.24954 C 0.21841 0.30116 0.18351 0.28195 0.34827 0.27755 " pathEditMode="relative" rAng="0" ptsTypes="AAA">
                                      <p:cBhvr>
                                        <p:cTn id="73" dur="2000" fill="hold"/>
                                        <p:tgtEl>
                                          <p:spTgt spid="72"/>
                                        </p:tgtEl>
                                        <p:attrNameLst>
                                          <p:attrName>ppt_x</p:attrName>
                                          <p:attrName>ppt_y</p:attrName>
                                        </p:attrNameLst>
                                      </p:cBhvr>
                                      <p:rCtr x="17361" y="14259"/>
                                    </p:animMotion>
                                  </p:childTnLst>
                                </p:cTn>
                              </p:par>
                            </p:childTnLst>
                          </p:cTn>
                        </p:par>
                        <p:par>
                          <p:cTn id="74" fill="hold">
                            <p:stCondLst>
                              <p:cond delay="7500"/>
                            </p:stCondLst>
                            <p:childTnLst>
                              <p:par>
                                <p:cTn id="75" presetID="1" presetClass="exit" presetSubtype="0" fill="hold" grpId="1" nodeType="afterEffect">
                                  <p:stCondLst>
                                    <p:cond delay="0"/>
                                  </p:stCondLst>
                                  <p:childTnLst>
                                    <p:set>
                                      <p:cBhvr>
                                        <p:cTn id="76" dur="1" fill="hold">
                                          <p:stCondLst>
                                            <p:cond delay="0"/>
                                          </p:stCondLst>
                                        </p:cTn>
                                        <p:tgtEl>
                                          <p:spTgt spid="3"/>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98"/>
                                        </p:tgtEl>
                                        <p:attrNameLst>
                                          <p:attrName>style.visibility</p:attrName>
                                        </p:attrNameLst>
                                      </p:cBhvr>
                                      <p:to>
                                        <p:strVal val="visible"/>
                                      </p:to>
                                    </p:set>
                                    <p:animEffect transition="in" filter="fade">
                                      <p:cBhvr>
                                        <p:cTn id="79" dur="500"/>
                                        <p:tgtEl>
                                          <p:spTgt spid="98"/>
                                        </p:tgtEl>
                                      </p:cBhvr>
                                    </p:animEffect>
                                  </p:childTnLst>
                                </p:cTn>
                              </p:par>
                            </p:childTnLst>
                          </p:cTn>
                        </p:par>
                        <p:par>
                          <p:cTn id="80" fill="hold">
                            <p:stCondLst>
                              <p:cond delay="8000"/>
                            </p:stCondLst>
                            <p:childTnLst>
                              <p:par>
                                <p:cTn id="81" presetID="37" presetClass="path" presetSubtype="0" accel="50000" decel="50000" fill="hold" grpId="2" nodeType="afterEffect">
                                  <p:stCondLst>
                                    <p:cond delay="0"/>
                                  </p:stCondLst>
                                  <p:childTnLst>
                                    <p:animMotion origin="layout" path="M 0.3934 0.10995 C 0.3934 0.02222 0.38194 -0.00857 0.39271 -0.07524 C 0.40677 -0.12547 0.44462 -0.1625 0.48785 -0.11968 C 0.52535 -0.09676 0.58958 -0.13843 0.76528 -0.12824 " pathEditMode="relative" rAng="0" ptsTypes="AAAA">
                                      <p:cBhvr>
                                        <p:cTn id="82" dur="2000" fill="hold"/>
                                        <p:tgtEl>
                                          <p:spTgt spid="93"/>
                                        </p:tgtEl>
                                        <p:attrNameLst>
                                          <p:attrName>ppt_x</p:attrName>
                                          <p:attrName>ppt_y</p:attrName>
                                        </p:attrNameLst>
                                      </p:cBhvr>
                                      <p:rCtr x="18316" y="-12431"/>
                                    </p:animMotion>
                                  </p:childTnLst>
                                </p:cTn>
                              </p:par>
                              <p:par>
                                <p:cTn id="83" presetID="37" presetClass="path" presetSubtype="0" accel="50000" decel="50000" fill="hold" grpId="2" nodeType="withEffect">
                                  <p:stCondLst>
                                    <p:cond delay="0"/>
                                  </p:stCondLst>
                                  <p:childTnLst>
                                    <p:animMotion origin="layout" path="M 0.34774 0.27663 C 0.4691 0.27663 0.50399 0.28311 0.51354 0.25834 C 0.53837 0.18774 0.51597 -0.0868 0.76563 -0.0824 " pathEditMode="relative" rAng="0" ptsTypes="AAA">
                                      <p:cBhvr>
                                        <p:cTn id="84" dur="2000" fill="hold"/>
                                        <p:tgtEl>
                                          <p:spTgt spid="72"/>
                                        </p:tgtEl>
                                        <p:attrNameLst>
                                          <p:attrName>ppt_x</p:attrName>
                                          <p:attrName>ppt_y</p:attrName>
                                        </p:attrNameLst>
                                      </p:cBhvr>
                                      <p:rCtr x="20885" y="-17917"/>
                                    </p:animMotion>
                                  </p:childTnLst>
                                </p:cTn>
                              </p:par>
                            </p:childTnLst>
                          </p:cTn>
                        </p:par>
                        <p:par>
                          <p:cTn id="85" fill="hold">
                            <p:stCondLst>
                              <p:cond delay="10000"/>
                            </p:stCondLst>
                            <p:childTnLst>
                              <p:par>
                                <p:cTn id="86" presetID="1" presetClass="exit" presetSubtype="0" fill="hold" grpId="1" nodeType="afterEffect">
                                  <p:stCondLst>
                                    <p:cond delay="0"/>
                                  </p:stCondLst>
                                  <p:childTnLst>
                                    <p:set>
                                      <p:cBhvr>
                                        <p:cTn id="87" dur="1" fill="hold">
                                          <p:stCondLst>
                                            <p:cond delay="0"/>
                                          </p:stCondLst>
                                        </p:cTn>
                                        <p:tgtEl>
                                          <p:spTgt spid="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29" grpId="0" animBg="1"/>
      <p:bldP spid="29" grpId="1" animBg="1"/>
      <p:bldP spid="29" grpId="2" animBg="1"/>
      <p:bldP spid="73" grpId="0" animBg="1"/>
      <p:bldP spid="73" grpId="1" animBg="1"/>
      <p:bldP spid="73" grpId="2" animBg="1"/>
      <p:bldP spid="65" grpId="0" animBg="1"/>
      <p:bldP spid="65" grpId="1" animBg="1"/>
      <p:bldP spid="65" grpId="2" animBg="1"/>
      <p:bldP spid="66" grpId="0" animBg="1"/>
      <p:bldP spid="66" grpId="1" animBg="1"/>
      <p:bldP spid="66" grpId="2" animBg="1"/>
      <p:bldP spid="93" grpId="0" animBg="1"/>
      <p:bldP spid="93" grpId="1" animBg="1"/>
      <p:bldP spid="93" grpId="2" animBg="1"/>
      <p:bldP spid="72" grpId="0" animBg="1"/>
      <p:bldP spid="72" grpId="1" animBg="1"/>
      <p:bldP spid="72"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tep 5">
            <a:extLst>
              <a:ext uri="{FF2B5EF4-FFF2-40B4-BE49-F238E27FC236}">
                <a16:creationId xmlns:a16="http://schemas.microsoft.com/office/drawing/2014/main" id="{5CC1F0A0-9814-4D10-90B6-523AADBE03B7}"/>
              </a:ext>
            </a:extLst>
          </p:cNvPr>
          <p:cNvSpPr/>
          <p:nvPr/>
        </p:nvSpPr>
        <p:spPr bwMode="auto">
          <a:xfrm>
            <a:off x="2990000" y="3775601"/>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5" name="step 4">
            <a:extLst>
              <a:ext uri="{FF2B5EF4-FFF2-40B4-BE49-F238E27FC236}">
                <a16:creationId xmlns:a16="http://schemas.microsoft.com/office/drawing/2014/main" id="{71384842-5F23-4A09-B6BE-51A76673D744}"/>
              </a:ext>
            </a:extLst>
          </p:cNvPr>
          <p:cNvSpPr/>
          <p:nvPr/>
        </p:nvSpPr>
        <p:spPr bwMode="auto">
          <a:xfrm>
            <a:off x="2990000" y="3509357"/>
            <a:ext cx="919342" cy="250930"/>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6" name="step 2">
            <a:extLst>
              <a:ext uri="{FF2B5EF4-FFF2-40B4-BE49-F238E27FC236}">
                <a16:creationId xmlns:a16="http://schemas.microsoft.com/office/drawing/2014/main" id="{675B3AB4-CC79-4BBB-9923-8322F61F0D04}"/>
              </a:ext>
            </a:extLst>
          </p:cNvPr>
          <p:cNvSpPr/>
          <p:nvPr/>
        </p:nvSpPr>
        <p:spPr bwMode="auto">
          <a:xfrm>
            <a:off x="2990000" y="2947239"/>
            <a:ext cx="919342" cy="264061"/>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7" name="step 1">
            <a:extLst>
              <a:ext uri="{FF2B5EF4-FFF2-40B4-BE49-F238E27FC236}">
                <a16:creationId xmlns:a16="http://schemas.microsoft.com/office/drawing/2014/main" id="{7B79EF0E-E68C-467E-A38E-152359FB9465}"/>
              </a:ext>
            </a:extLst>
          </p:cNvPr>
          <p:cNvSpPr/>
          <p:nvPr/>
        </p:nvSpPr>
        <p:spPr bwMode="auto">
          <a:xfrm>
            <a:off x="2990000" y="2654558"/>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8" name="step 6">
            <a:extLst>
              <a:ext uri="{FF2B5EF4-FFF2-40B4-BE49-F238E27FC236}">
                <a16:creationId xmlns:a16="http://schemas.microsoft.com/office/drawing/2014/main" id="{92596900-658E-4A65-BFDB-2BFDF5C60BBA}"/>
              </a:ext>
            </a:extLst>
          </p:cNvPr>
          <p:cNvSpPr/>
          <p:nvPr/>
        </p:nvSpPr>
        <p:spPr bwMode="auto">
          <a:xfrm>
            <a:off x="2990000" y="4068509"/>
            <a:ext cx="919342" cy="224771"/>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sp>
        <p:nvSpPr>
          <p:cNvPr id="99" name="step 3">
            <a:extLst>
              <a:ext uri="{FF2B5EF4-FFF2-40B4-BE49-F238E27FC236}">
                <a16:creationId xmlns:a16="http://schemas.microsoft.com/office/drawing/2014/main" id="{A36F3E69-4F81-4AF1-AF05-F2B7D9B44562}"/>
              </a:ext>
            </a:extLst>
          </p:cNvPr>
          <p:cNvSpPr/>
          <p:nvPr/>
        </p:nvSpPr>
        <p:spPr bwMode="auto">
          <a:xfrm>
            <a:off x="2990000" y="3219740"/>
            <a:ext cx="919342" cy="285086"/>
          </a:xfrm>
          <a:prstGeom prst="rect">
            <a:avLst/>
          </a:prstGeom>
          <a:solidFill>
            <a:srgbClr val="993300"/>
          </a:solidFill>
          <a:ln w="12700"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1400" dirty="0">
              <a:latin typeface="Times New Roman" panose="02020603050405020304" pitchFamily="18" charset="0"/>
            </a:endParaRPr>
          </a:p>
        </p:txBody>
      </p:sp>
      <p:grpSp>
        <p:nvGrpSpPr>
          <p:cNvPr id="18" name="queue">
            <a:extLst>
              <a:ext uri="{FF2B5EF4-FFF2-40B4-BE49-F238E27FC236}">
                <a16:creationId xmlns:a16="http://schemas.microsoft.com/office/drawing/2014/main" id="{08005A08-6802-4DC2-A725-CE85B69D1D96}"/>
              </a:ext>
            </a:extLst>
          </p:cNvPr>
          <p:cNvGrpSpPr/>
          <p:nvPr/>
        </p:nvGrpSpPr>
        <p:grpSpPr>
          <a:xfrm>
            <a:off x="5753103" y="5229571"/>
            <a:ext cx="1898287" cy="833671"/>
            <a:chOff x="3574472" y="4936955"/>
            <a:chExt cx="1898287" cy="833671"/>
          </a:xfrm>
        </p:grpSpPr>
        <p:grpSp>
          <p:nvGrpSpPr>
            <p:cNvPr id="14" name="Group 13">
              <a:extLst>
                <a:ext uri="{FF2B5EF4-FFF2-40B4-BE49-F238E27FC236}">
                  <a16:creationId xmlns:a16="http://schemas.microsoft.com/office/drawing/2014/main" id="{A2B06178-4E87-49E9-BC05-4C53979D3564}"/>
                </a:ext>
              </a:extLst>
            </p:cNvPr>
            <p:cNvGrpSpPr/>
            <p:nvPr/>
          </p:nvGrpSpPr>
          <p:grpSpPr>
            <a:xfrm>
              <a:off x="3574472" y="5306287"/>
              <a:ext cx="1716066" cy="464339"/>
              <a:chOff x="3574472" y="5306287"/>
              <a:chExt cx="2115128" cy="374077"/>
            </a:xfrm>
          </p:grpSpPr>
          <p:cxnSp>
            <p:nvCxnSpPr>
              <p:cNvPr id="13" name="Straight Connector 12">
                <a:extLst>
                  <a:ext uri="{FF2B5EF4-FFF2-40B4-BE49-F238E27FC236}">
                    <a16:creationId xmlns:a16="http://schemas.microsoft.com/office/drawing/2014/main" id="{86AF3DC2-F3F9-46F0-BD26-A74013461DCB}"/>
                  </a:ext>
                </a:extLst>
              </p:cNvPr>
              <p:cNvCxnSpPr>
                <a:cxnSpLocks/>
              </p:cNvCxnSpPr>
              <p:nvPr/>
            </p:nvCxnSpPr>
            <p:spPr bwMode="auto">
              <a:xfrm>
                <a:off x="3574472" y="5306287"/>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3297F330-3E49-45AE-84A7-488FB902A585}"/>
                  </a:ext>
                </a:extLst>
              </p:cNvPr>
              <p:cNvCxnSpPr>
                <a:cxnSpLocks/>
              </p:cNvCxnSpPr>
              <p:nvPr/>
            </p:nvCxnSpPr>
            <p:spPr bwMode="auto">
              <a:xfrm>
                <a:off x="3574472" y="5680364"/>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7" name="TextBox 16">
              <a:extLst>
                <a:ext uri="{FF2B5EF4-FFF2-40B4-BE49-F238E27FC236}">
                  <a16:creationId xmlns:a16="http://schemas.microsoft.com/office/drawing/2014/main" id="{19178185-0F2D-4378-BCD7-03B5C66E63AA}"/>
                </a:ext>
              </a:extLst>
            </p:cNvPr>
            <p:cNvSpPr txBox="1"/>
            <p:nvPr/>
          </p:nvSpPr>
          <p:spPr>
            <a:xfrm>
              <a:off x="3756693" y="4936955"/>
              <a:ext cx="1716066" cy="369332"/>
            </a:xfrm>
            <a:prstGeom prst="rect">
              <a:avLst/>
            </a:prstGeom>
            <a:noFill/>
          </p:spPr>
          <p:txBody>
            <a:bodyPr wrap="square" rtlCol="0">
              <a:spAutoFit/>
            </a:bodyPr>
            <a:lstStyle/>
            <a:p>
              <a:r>
                <a:rPr lang="en-US" dirty="0">
                  <a:latin typeface="Times New Roman" panose="02020603050405020304" pitchFamily="18" charset="0"/>
                </a:rPr>
                <a:t>rear         front   </a:t>
              </a:r>
            </a:p>
          </p:txBody>
        </p:sp>
      </p:grpSp>
      <p:grpSp>
        <p:nvGrpSpPr>
          <p:cNvPr id="10" name="seq1 results">
            <a:extLst>
              <a:ext uri="{FF2B5EF4-FFF2-40B4-BE49-F238E27FC236}">
                <a16:creationId xmlns:a16="http://schemas.microsoft.com/office/drawing/2014/main" id="{8550A710-851B-438A-89E3-8676BC4D074D}"/>
              </a:ext>
            </a:extLst>
          </p:cNvPr>
          <p:cNvGrpSpPr/>
          <p:nvPr/>
        </p:nvGrpSpPr>
        <p:grpSpPr>
          <a:xfrm>
            <a:off x="7631687" y="2822716"/>
            <a:ext cx="2919275" cy="684803"/>
            <a:chOff x="6120805" y="2822715"/>
            <a:chExt cx="2919275" cy="684803"/>
          </a:xfrm>
        </p:grpSpPr>
        <p:sp>
          <p:nvSpPr>
            <p:cNvPr id="69" name="TextBox 68">
              <a:extLst>
                <a:ext uri="{FF2B5EF4-FFF2-40B4-BE49-F238E27FC236}">
                  <a16:creationId xmlns:a16="http://schemas.microsoft.com/office/drawing/2014/main" id="{9DE8DB4D-B54B-4737-937A-1F3A20B17609}"/>
                </a:ext>
              </a:extLst>
            </p:cNvPr>
            <p:cNvSpPr txBox="1"/>
            <p:nvPr/>
          </p:nvSpPr>
          <p:spPr>
            <a:xfrm>
              <a:off x="8098448" y="2822715"/>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70" name="TextBox 69">
              <a:extLst>
                <a:ext uri="{FF2B5EF4-FFF2-40B4-BE49-F238E27FC236}">
                  <a16:creationId xmlns:a16="http://schemas.microsoft.com/office/drawing/2014/main" id="{B00FF8C2-7FB0-4928-BE2E-41B9A0041123}"/>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#1</a:t>
              </a:r>
            </a:p>
          </p:txBody>
        </p:sp>
      </p:grpSp>
      <p:grpSp>
        <p:nvGrpSpPr>
          <p:cNvPr id="23" name="sequence 1">
            <a:extLst>
              <a:ext uri="{FF2B5EF4-FFF2-40B4-BE49-F238E27FC236}">
                <a16:creationId xmlns:a16="http://schemas.microsoft.com/office/drawing/2014/main" id="{4713D9B4-0E3D-48CA-9447-638418CECA99}"/>
              </a:ext>
            </a:extLst>
          </p:cNvPr>
          <p:cNvGrpSpPr/>
          <p:nvPr/>
        </p:nvGrpSpPr>
        <p:grpSpPr>
          <a:xfrm>
            <a:off x="1668508" y="2211511"/>
            <a:ext cx="1180881" cy="2149904"/>
            <a:chOff x="144507" y="2211511"/>
            <a:chExt cx="1180881" cy="2149904"/>
          </a:xfrm>
        </p:grpSpPr>
        <p:sp>
          <p:nvSpPr>
            <p:cNvPr id="2" name="TextBox 1">
              <a:extLst>
                <a:ext uri="{FF2B5EF4-FFF2-40B4-BE49-F238E27FC236}">
                  <a16:creationId xmlns:a16="http://schemas.microsoft.com/office/drawing/2014/main" id="{09C9EA19-BF8B-48A0-9F13-FF7779057ADF}"/>
                </a:ext>
              </a:extLst>
            </p:cNvPr>
            <p:cNvSpPr txBox="1"/>
            <p:nvPr/>
          </p:nvSpPr>
          <p:spPr>
            <a:xfrm>
              <a:off x="144507" y="2607089"/>
              <a:ext cx="1180881"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remove</a:t>
              </a:r>
            </a:p>
            <a:p>
              <a:r>
                <a:rPr lang="en-US" dirty="0">
                  <a:latin typeface="Times New Roman" panose="02020603050405020304" pitchFamily="18" charset="0"/>
                </a:rPr>
                <a:t>insert(B)</a:t>
              </a:r>
            </a:p>
            <a:p>
              <a:r>
                <a:rPr lang="en-US" dirty="0">
                  <a:latin typeface="Times New Roman" panose="02020603050405020304" pitchFamily="18" charset="0"/>
                </a:rPr>
                <a:t>remove</a:t>
              </a:r>
            </a:p>
            <a:p>
              <a:r>
                <a:rPr lang="en-US" dirty="0">
                  <a:latin typeface="Times New Roman" panose="02020603050405020304" pitchFamily="18" charset="0"/>
                </a:rPr>
                <a:t>insert(C)</a:t>
              </a:r>
            </a:p>
            <a:p>
              <a:r>
                <a:rPr lang="en-US" dirty="0">
                  <a:latin typeface="Times New Roman" panose="02020603050405020304" pitchFamily="18" charset="0"/>
                </a:rPr>
                <a:t>remove</a:t>
              </a:r>
            </a:p>
          </p:txBody>
        </p:sp>
        <p:sp>
          <p:nvSpPr>
            <p:cNvPr id="21" name="TextBox 20">
              <a:extLst>
                <a:ext uri="{FF2B5EF4-FFF2-40B4-BE49-F238E27FC236}">
                  <a16:creationId xmlns:a16="http://schemas.microsoft.com/office/drawing/2014/main" id="{C7EFE8C8-0FD7-4B97-BC56-C3FE1F0DE003}"/>
                </a:ext>
              </a:extLst>
            </p:cNvPr>
            <p:cNvSpPr txBox="1"/>
            <p:nvPr/>
          </p:nvSpPr>
          <p:spPr>
            <a:xfrm>
              <a:off x="144562" y="2211511"/>
              <a:ext cx="1062255" cy="400110"/>
            </a:xfrm>
            <a:prstGeom prst="rect">
              <a:avLst/>
            </a:prstGeom>
            <a:noFill/>
          </p:spPr>
          <p:txBody>
            <a:bodyPr wrap="square" rtlCol="0">
              <a:spAutoFit/>
            </a:bodyPr>
            <a:lstStyle/>
            <a:p>
              <a:r>
                <a:rPr lang="en-US" sz="2000" dirty="0">
                  <a:latin typeface="Times New Roman" panose="02020603050405020304" pitchFamily="18" charset="0"/>
                </a:rPr>
                <a:t>Seq. #1  </a:t>
              </a:r>
            </a:p>
          </p:txBody>
        </p:sp>
      </p:grpSp>
      <p:grpSp>
        <p:nvGrpSpPr>
          <p:cNvPr id="27" name="sequence 2">
            <a:extLst>
              <a:ext uri="{FF2B5EF4-FFF2-40B4-BE49-F238E27FC236}">
                <a16:creationId xmlns:a16="http://schemas.microsoft.com/office/drawing/2014/main" id="{56AFA59C-0864-46E7-88EB-5761804288CD}"/>
              </a:ext>
            </a:extLst>
          </p:cNvPr>
          <p:cNvGrpSpPr/>
          <p:nvPr/>
        </p:nvGrpSpPr>
        <p:grpSpPr>
          <a:xfrm>
            <a:off x="2940096" y="2211511"/>
            <a:ext cx="1091114" cy="2142588"/>
            <a:chOff x="1416096" y="2211511"/>
            <a:chExt cx="1091114" cy="2142588"/>
          </a:xfrm>
        </p:grpSpPr>
        <p:sp>
          <p:nvSpPr>
            <p:cNvPr id="32" name="TextBox 31">
              <a:extLst>
                <a:ext uri="{FF2B5EF4-FFF2-40B4-BE49-F238E27FC236}">
                  <a16:creationId xmlns:a16="http://schemas.microsoft.com/office/drawing/2014/main" id="{07EAE1F3-ECCE-4F0C-A30A-158A51A5AA76}"/>
                </a:ext>
              </a:extLst>
            </p:cNvPr>
            <p:cNvSpPr txBox="1"/>
            <p:nvPr/>
          </p:nvSpPr>
          <p:spPr>
            <a:xfrm>
              <a:off x="1416096" y="2599773"/>
              <a:ext cx="1085248"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insert(B)</a:t>
              </a:r>
            </a:p>
            <a:p>
              <a:r>
                <a:rPr lang="en-US" dirty="0">
                  <a:latin typeface="Times New Roman" panose="02020603050405020304" pitchFamily="18" charset="0"/>
                </a:rPr>
                <a:t>insert(C)</a:t>
              </a:r>
            </a:p>
            <a:p>
              <a:r>
                <a:rPr lang="en-US" dirty="0">
                  <a:latin typeface="Times New Roman" panose="02020603050405020304" pitchFamily="18" charset="0"/>
                </a:rPr>
                <a:t>remove</a:t>
              </a:r>
            </a:p>
            <a:p>
              <a:r>
                <a:rPr lang="en-US" dirty="0">
                  <a:latin typeface="Times New Roman" panose="02020603050405020304" pitchFamily="18" charset="0"/>
                </a:rPr>
                <a:t>remove</a:t>
              </a:r>
            </a:p>
            <a:p>
              <a:r>
                <a:rPr lang="en-US" dirty="0">
                  <a:latin typeface="Times New Roman" panose="02020603050405020304" pitchFamily="18" charset="0"/>
                </a:rPr>
                <a:t>remove</a:t>
              </a:r>
            </a:p>
          </p:txBody>
        </p:sp>
        <p:sp>
          <p:nvSpPr>
            <p:cNvPr id="24" name="TextBox 23">
              <a:extLst>
                <a:ext uri="{FF2B5EF4-FFF2-40B4-BE49-F238E27FC236}">
                  <a16:creationId xmlns:a16="http://schemas.microsoft.com/office/drawing/2014/main" id="{2CB48C58-0CDE-4601-A594-594FC070DEBC}"/>
                </a:ext>
              </a:extLst>
            </p:cNvPr>
            <p:cNvSpPr txBox="1"/>
            <p:nvPr/>
          </p:nvSpPr>
          <p:spPr>
            <a:xfrm>
              <a:off x="1421962" y="2211511"/>
              <a:ext cx="1085248" cy="400110"/>
            </a:xfrm>
            <a:prstGeom prst="rect">
              <a:avLst/>
            </a:prstGeom>
            <a:noFill/>
          </p:spPr>
          <p:txBody>
            <a:bodyPr wrap="square" rtlCol="0">
              <a:spAutoFit/>
            </a:bodyPr>
            <a:lstStyle/>
            <a:p>
              <a:r>
                <a:rPr lang="en-US" sz="2000" dirty="0">
                  <a:latin typeface="Times New Roman" panose="02020603050405020304" pitchFamily="18" charset="0"/>
                </a:rPr>
                <a:t>Seq. #2</a:t>
              </a:r>
            </a:p>
          </p:txBody>
        </p:sp>
      </p:grpSp>
      <p:sp>
        <p:nvSpPr>
          <p:cNvPr id="50" name="Input order">
            <a:extLst>
              <a:ext uri="{FF2B5EF4-FFF2-40B4-BE49-F238E27FC236}">
                <a16:creationId xmlns:a16="http://schemas.microsoft.com/office/drawing/2014/main" id="{B78AC931-05A3-4D98-AD51-74CD3D36849E}"/>
              </a:ext>
            </a:extLst>
          </p:cNvPr>
          <p:cNvSpPr txBox="1"/>
          <p:nvPr/>
        </p:nvSpPr>
        <p:spPr>
          <a:xfrm>
            <a:off x="1668508" y="4549130"/>
            <a:ext cx="3216999" cy="461665"/>
          </a:xfrm>
          <a:prstGeom prst="rect">
            <a:avLst/>
          </a:prstGeom>
          <a:noFill/>
        </p:spPr>
        <p:txBody>
          <a:bodyPr wrap="square" rtlCol="0">
            <a:spAutoFit/>
          </a:bodyPr>
          <a:lstStyle/>
          <a:p>
            <a:r>
              <a:rPr lang="en-US" sz="2400" dirty="0">
                <a:latin typeface="Times New Roman" panose="02020603050405020304" pitchFamily="18" charset="0"/>
              </a:rPr>
              <a:t>Input order:  A, B, C</a:t>
            </a:r>
          </a:p>
        </p:txBody>
      </p:sp>
      <p:sp>
        <p:nvSpPr>
          <p:cNvPr id="29" name="s i A 1">
            <a:extLst>
              <a:ext uri="{FF2B5EF4-FFF2-40B4-BE49-F238E27FC236}">
                <a16:creationId xmlns:a16="http://schemas.microsoft.com/office/drawing/2014/main" id="{2C526841-C137-435A-ADF6-4E53BF60E42A}"/>
              </a:ext>
            </a:extLst>
          </p:cNvPr>
          <p:cNvSpPr/>
          <p:nvPr/>
        </p:nvSpPr>
        <p:spPr bwMode="auto">
          <a:xfrm>
            <a:off x="3622299" y="2692198"/>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73" name="q i A 1">
            <a:extLst>
              <a:ext uri="{FF2B5EF4-FFF2-40B4-BE49-F238E27FC236}">
                <a16:creationId xmlns:a16="http://schemas.microsoft.com/office/drawing/2014/main" id="{BB475938-6766-47A3-B436-4E594F3EE284}"/>
              </a:ext>
            </a:extLst>
          </p:cNvPr>
          <p:cNvSpPr/>
          <p:nvPr/>
        </p:nvSpPr>
        <p:spPr bwMode="auto">
          <a:xfrm>
            <a:off x="3626039" y="2688458"/>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65" name="s i B 1">
            <a:extLst>
              <a:ext uri="{FF2B5EF4-FFF2-40B4-BE49-F238E27FC236}">
                <a16:creationId xmlns:a16="http://schemas.microsoft.com/office/drawing/2014/main" id="{7B42C3EA-F5B8-48B1-B7DE-CEEC9A122862}"/>
              </a:ext>
            </a:extLst>
          </p:cNvPr>
          <p:cNvSpPr/>
          <p:nvPr/>
        </p:nvSpPr>
        <p:spPr bwMode="auto">
          <a:xfrm>
            <a:off x="3625231" y="2960959"/>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66" name="q i B 1">
            <a:extLst>
              <a:ext uri="{FF2B5EF4-FFF2-40B4-BE49-F238E27FC236}">
                <a16:creationId xmlns:a16="http://schemas.microsoft.com/office/drawing/2014/main" id="{84EBACE0-1FDA-4904-9394-16AC3112E6FF}"/>
              </a:ext>
            </a:extLst>
          </p:cNvPr>
          <p:cNvSpPr/>
          <p:nvPr/>
        </p:nvSpPr>
        <p:spPr bwMode="auto">
          <a:xfrm>
            <a:off x="3624468" y="2957220"/>
            <a:ext cx="239263"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93" name="s i C 1">
            <a:extLst>
              <a:ext uri="{FF2B5EF4-FFF2-40B4-BE49-F238E27FC236}">
                <a16:creationId xmlns:a16="http://schemas.microsoft.com/office/drawing/2014/main" id="{192E2096-3630-480F-80C6-CB7E74C6BDD3}"/>
              </a:ext>
            </a:extLst>
          </p:cNvPr>
          <p:cNvSpPr/>
          <p:nvPr/>
        </p:nvSpPr>
        <p:spPr bwMode="auto">
          <a:xfrm>
            <a:off x="3634297" y="3240918"/>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72" name="q i C1">
            <a:extLst>
              <a:ext uri="{FF2B5EF4-FFF2-40B4-BE49-F238E27FC236}">
                <a16:creationId xmlns:a16="http://schemas.microsoft.com/office/drawing/2014/main" id="{7C2AB792-8AA8-4B9D-B0F0-D9427A6ED6C4}"/>
              </a:ext>
            </a:extLst>
          </p:cNvPr>
          <p:cNvSpPr/>
          <p:nvPr/>
        </p:nvSpPr>
        <p:spPr bwMode="auto">
          <a:xfrm>
            <a:off x="3634297" y="3239056"/>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grpSp>
        <p:nvGrpSpPr>
          <p:cNvPr id="51" name="stack">
            <a:extLst>
              <a:ext uri="{FF2B5EF4-FFF2-40B4-BE49-F238E27FC236}">
                <a16:creationId xmlns:a16="http://schemas.microsoft.com/office/drawing/2014/main" id="{95A4C65A-0EEC-4A21-87A6-A86AB9539385}"/>
              </a:ext>
            </a:extLst>
          </p:cNvPr>
          <p:cNvGrpSpPr/>
          <p:nvPr/>
        </p:nvGrpSpPr>
        <p:grpSpPr>
          <a:xfrm>
            <a:off x="6604420" y="2995289"/>
            <a:ext cx="521853" cy="1924939"/>
            <a:chOff x="4311074" y="2912281"/>
            <a:chExt cx="521853" cy="1924939"/>
          </a:xfrm>
        </p:grpSpPr>
        <p:grpSp>
          <p:nvGrpSpPr>
            <p:cNvPr id="52" name="Group 51">
              <a:extLst>
                <a:ext uri="{FF2B5EF4-FFF2-40B4-BE49-F238E27FC236}">
                  <a16:creationId xmlns:a16="http://schemas.microsoft.com/office/drawing/2014/main" id="{49195C2B-F85E-4259-9CB1-BF20581D9A8B}"/>
                </a:ext>
              </a:extLst>
            </p:cNvPr>
            <p:cNvGrpSpPr/>
            <p:nvPr/>
          </p:nvGrpSpPr>
          <p:grpSpPr>
            <a:xfrm>
              <a:off x="4311074" y="3257801"/>
              <a:ext cx="521853" cy="1579419"/>
              <a:chOff x="1958109" y="3260436"/>
              <a:chExt cx="521853" cy="1579419"/>
            </a:xfrm>
          </p:grpSpPr>
          <p:cxnSp>
            <p:nvCxnSpPr>
              <p:cNvPr id="54" name="Straight Connector 53">
                <a:extLst>
                  <a:ext uri="{FF2B5EF4-FFF2-40B4-BE49-F238E27FC236}">
                    <a16:creationId xmlns:a16="http://schemas.microsoft.com/office/drawing/2014/main" id="{D8ACD408-21EF-4E65-887C-B84FCD060088}"/>
                  </a:ext>
                </a:extLst>
              </p:cNvPr>
              <p:cNvCxnSpPr>
                <a:cxnSpLocks/>
              </p:cNvCxnSpPr>
              <p:nvPr/>
            </p:nvCxnSpPr>
            <p:spPr bwMode="auto">
              <a:xfrm>
                <a:off x="1958109"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5" name="Straight Connector 54">
                <a:extLst>
                  <a:ext uri="{FF2B5EF4-FFF2-40B4-BE49-F238E27FC236}">
                    <a16:creationId xmlns:a16="http://schemas.microsoft.com/office/drawing/2014/main" id="{2799C4E7-5485-48AD-B81E-B25E983C0D88}"/>
                  </a:ext>
                </a:extLst>
              </p:cNvPr>
              <p:cNvCxnSpPr>
                <a:cxnSpLocks/>
              </p:cNvCxnSpPr>
              <p:nvPr/>
            </p:nvCxnSpPr>
            <p:spPr bwMode="auto">
              <a:xfrm>
                <a:off x="2479962"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6" name="Straight Connector 55">
                <a:extLst>
                  <a:ext uri="{FF2B5EF4-FFF2-40B4-BE49-F238E27FC236}">
                    <a16:creationId xmlns:a16="http://schemas.microsoft.com/office/drawing/2014/main" id="{2AF2E3BB-D600-4242-9F34-FC656ECAF742}"/>
                  </a:ext>
                </a:extLst>
              </p:cNvPr>
              <p:cNvCxnSpPr>
                <a:cxnSpLocks/>
              </p:cNvCxnSpPr>
              <p:nvPr/>
            </p:nvCxnSpPr>
            <p:spPr bwMode="auto">
              <a:xfrm>
                <a:off x="1958109" y="4825563"/>
                <a:ext cx="521853"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53" name="TextBox 52">
              <a:extLst>
                <a:ext uri="{FF2B5EF4-FFF2-40B4-BE49-F238E27FC236}">
                  <a16:creationId xmlns:a16="http://schemas.microsoft.com/office/drawing/2014/main" id="{18BDDB4C-C728-4846-969F-FD5111DE52A5}"/>
                </a:ext>
              </a:extLst>
            </p:cNvPr>
            <p:cNvSpPr txBox="1"/>
            <p:nvPr/>
          </p:nvSpPr>
          <p:spPr>
            <a:xfrm>
              <a:off x="4351897" y="2912281"/>
              <a:ext cx="479618" cy="369332"/>
            </a:xfrm>
            <a:prstGeom prst="rect">
              <a:avLst/>
            </a:prstGeom>
            <a:noFill/>
          </p:spPr>
          <p:txBody>
            <a:bodyPr wrap="none" rtlCol="0">
              <a:spAutoFit/>
            </a:bodyPr>
            <a:lstStyle/>
            <a:p>
              <a:r>
                <a:rPr lang="en-US" dirty="0">
                  <a:latin typeface="Times New Roman" panose="02020603050405020304" pitchFamily="18" charset="0"/>
                </a:rPr>
                <a:t>top</a:t>
              </a:r>
            </a:p>
          </p:txBody>
        </p:sp>
      </p:grpSp>
      <p:sp>
        <p:nvSpPr>
          <p:cNvPr id="57" name="TextBox 56">
            <a:extLst>
              <a:ext uri="{FF2B5EF4-FFF2-40B4-BE49-F238E27FC236}">
                <a16:creationId xmlns:a16="http://schemas.microsoft.com/office/drawing/2014/main" id="{50723328-95BA-4F8F-A6F2-280A1B2A5424}"/>
              </a:ext>
            </a:extLst>
          </p:cNvPr>
          <p:cNvSpPr txBox="1"/>
          <p:nvPr/>
        </p:nvSpPr>
        <p:spPr>
          <a:xfrm>
            <a:off x="8367992" y="2350166"/>
            <a:ext cx="1615044" cy="461665"/>
          </a:xfrm>
          <a:prstGeom prst="rect">
            <a:avLst/>
          </a:prstGeom>
          <a:noFill/>
        </p:spPr>
        <p:txBody>
          <a:bodyPr wrap="square" rtlCol="0">
            <a:spAutoFit/>
          </a:bodyPr>
          <a:lstStyle/>
          <a:p>
            <a:pPr algn="ctr"/>
            <a:r>
              <a:rPr lang="en-US" sz="2400" dirty="0">
                <a:latin typeface="Times New Roman" panose="02020603050405020304" pitchFamily="18" charset="0"/>
              </a:rPr>
              <a:t>Results</a:t>
            </a:r>
          </a:p>
        </p:txBody>
      </p:sp>
      <p:sp>
        <p:nvSpPr>
          <p:cNvPr id="62" name="title">
            <a:extLst>
              <a:ext uri="{FF2B5EF4-FFF2-40B4-BE49-F238E27FC236}">
                <a16:creationId xmlns:a16="http://schemas.microsoft.com/office/drawing/2014/main" id="{AA312D08-7757-4C16-B2A8-6C49FEDF24E6}"/>
              </a:ext>
            </a:extLst>
          </p:cNvPr>
          <p:cNvSpPr txBox="1">
            <a:spLocks noChangeArrowheads="1"/>
          </p:cNvSpPr>
          <p:nvPr/>
        </p:nvSpPr>
        <p:spPr bwMode="auto">
          <a:xfrm>
            <a:off x="639845" y="794758"/>
            <a:ext cx="8229600" cy="762000"/>
          </a:xfrm>
          <a:prstGeom prst="rect">
            <a:avLst/>
          </a:prstGeom>
          <a:noFill/>
          <a:ln w="12700">
            <a:noFill/>
            <a:miter lim="800000"/>
            <a:headEnd/>
            <a:tailEnd/>
          </a:ln>
          <a:effectLst/>
        </p:spPr>
        <p:txBody>
          <a:bodyPr vert="horz" wrap="square" lIns="0" tIns="0" rIns="0" bIns="0" numCol="1" anchor="ctr" anchorCtr="0" compatLnSpc="1">
            <a:prstTxWarp prst="textNoShape">
              <a:avLst/>
            </a:prstTxWarp>
          </a:bodyPr>
          <a:lstStyle>
            <a:lvl1pPr algn="ctr" rtl="0" eaLnBrk="1" fontAlgn="base" hangingPunct="1">
              <a:lnSpc>
                <a:spcPts val="3600"/>
              </a:lnSpc>
              <a:spcBef>
                <a:spcPct val="0"/>
              </a:spcBef>
              <a:spcAft>
                <a:spcPct val="0"/>
              </a:spcAft>
              <a:defRPr sz="3600" b="1">
                <a:solidFill>
                  <a:srgbClr val="004800"/>
                </a:solidFill>
                <a:effectLst>
                  <a:outerShdw blurRad="38100" dist="38100" dir="2700000" algn="tl">
                    <a:srgbClr val="000000">
                      <a:alpha val="43137"/>
                    </a:srgbClr>
                  </a:outerShdw>
                </a:effectLst>
                <a:latin typeface="+mj-lt"/>
                <a:ea typeface="+mj-ea"/>
                <a:cs typeface="+mj-cs"/>
              </a:defRPr>
            </a:lvl1pPr>
            <a:lvl2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2pPr>
            <a:lvl3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3pPr>
            <a:lvl4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4pPr>
            <a:lvl5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5pPr>
            <a:lvl6pPr marL="4572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6pPr>
            <a:lvl7pPr marL="9144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7pPr>
            <a:lvl8pPr marL="13716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8pPr>
            <a:lvl9pPr marL="18288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200" kern="0" dirty="0">
                <a:solidFill>
                  <a:schemeClr val="bg1"/>
                </a:solidFill>
                <a:latin typeface="Times New Roman" panose="02020603050405020304" pitchFamily="18" charset="0"/>
              </a:rPr>
              <a:t>An Interesting Abstract Property:  Permutations of Inputs</a:t>
            </a:r>
          </a:p>
        </p:txBody>
      </p:sp>
      <p:grpSp>
        <p:nvGrpSpPr>
          <p:cNvPr id="102" name="seq2 results">
            <a:extLst>
              <a:ext uri="{FF2B5EF4-FFF2-40B4-BE49-F238E27FC236}">
                <a16:creationId xmlns:a16="http://schemas.microsoft.com/office/drawing/2014/main" id="{5551AEB2-309A-45A3-A6EE-8744FDE87AC4}"/>
              </a:ext>
            </a:extLst>
          </p:cNvPr>
          <p:cNvGrpSpPr/>
          <p:nvPr/>
        </p:nvGrpSpPr>
        <p:grpSpPr>
          <a:xfrm>
            <a:off x="7631687" y="3712372"/>
            <a:ext cx="2919275" cy="684803"/>
            <a:chOff x="6120805" y="2822715"/>
            <a:chExt cx="2919275" cy="684803"/>
          </a:xfrm>
        </p:grpSpPr>
        <p:sp>
          <p:nvSpPr>
            <p:cNvPr id="112" name="TextBox 111">
              <a:extLst>
                <a:ext uri="{FF2B5EF4-FFF2-40B4-BE49-F238E27FC236}">
                  <a16:creationId xmlns:a16="http://schemas.microsoft.com/office/drawing/2014/main" id="{4F23D519-903D-4BAF-ABAA-13D2EA097DB0}"/>
                </a:ext>
              </a:extLst>
            </p:cNvPr>
            <p:cNvSpPr txBox="1"/>
            <p:nvPr/>
          </p:nvSpPr>
          <p:spPr>
            <a:xfrm>
              <a:off x="8098448" y="2822715"/>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113" name="TextBox 112">
              <a:extLst>
                <a:ext uri="{FF2B5EF4-FFF2-40B4-BE49-F238E27FC236}">
                  <a16:creationId xmlns:a16="http://schemas.microsoft.com/office/drawing/2014/main" id="{0F5E73EF-6281-48B7-9C7A-C50C9A2613F8}"/>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#2</a:t>
              </a:r>
            </a:p>
          </p:txBody>
        </p:sp>
      </p:grpSp>
      <p:sp>
        <p:nvSpPr>
          <p:cNvPr id="149" name="s i A 1">
            <a:extLst>
              <a:ext uri="{FF2B5EF4-FFF2-40B4-BE49-F238E27FC236}">
                <a16:creationId xmlns:a16="http://schemas.microsoft.com/office/drawing/2014/main" id="{70BB17A7-EB45-4D02-A8F9-8602C5DD285B}"/>
              </a:ext>
            </a:extLst>
          </p:cNvPr>
          <p:cNvSpPr/>
          <p:nvPr/>
        </p:nvSpPr>
        <p:spPr bwMode="auto">
          <a:xfrm>
            <a:off x="8687623" y="2915770"/>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150" name="q i A 1">
            <a:extLst>
              <a:ext uri="{FF2B5EF4-FFF2-40B4-BE49-F238E27FC236}">
                <a16:creationId xmlns:a16="http://schemas.microsoft.com/office/drawing/2014/main" id="{9A7D7250-CBB4-4322-9BDD-838EA2165956}"/>
              </a:ext>
            </a:extLst>
          </p:cNvPr>
          <p:cNvSpPr/>
          <p:nvPr/>
        </p:nvSpPr>
        <p:spPr bwMode="auto">
          <a:xfrm>
            <a:off x="8687521" y="3233024"/>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151" name="s i B 1">
            <a:extLst>
              <a:ext uri="{FF2B5EF4-FFF2-40B4-BE49-F238E27FC236}">
                <a16:creationId xmlns:a16="http://schemas.microsoft.com/office/drawing/2014/main" id="{2080C0D8-62BD-461E-AA22-246AC15DD354}"/>
              </a:ext>
            </a:extLst>
          </p:cNvPr>
          <p:cNvSpPr/>
          <p:nvPr/>
        </p:nvSpPr>
        <p:spPr bwMode="auto">
          <a:xfrm>
            <a:off x="9028774" y="2914972"/>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152" name="q i B 1">
            <a:extLst>
              <a:ext uri="{FF2B5EF4-FFF2-40B4-BE49-F238E27FC236}">
                <a16:creationId xmlns:a16="http://schemas.microsoft.com/office/drawing/2014/main" id="{090FF46D-6597-41AE-AB7B-940A8587EF7F}"/>
              </a:ext>
            </a:extLst>
          </p:cNvPr>
          <p:cNvSpPr/>
          <p:nvPr/>
        </p:nvSpPr>
        <p:spPr bwMode="auto">
          <a:xfrm>
            <a:off x="9028730" y="3232480"/>
            <a:ext cx="239263"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153" name="s i C 1">
            <a:extLst>
              <a:ext uri="{FF2B5EF4-FFF2-40B4-BE49-F238E27FC236}">
                <a16:creationId xmlns:a16="http://schemas.microsoft.com/office/drawing/2014/main" id="{999B097A-6B8D-4BCA-A91C-13AF9536E455}"/>
              </a:ext>
            </a:extLst>
          </p:cNvPr>
          <p:cNvSpPr/>
          <p:nvPr/>
        </p:nvSpPr>
        <p:spPr bwMode="auto">
          <a:xfrm>
            <a:off x="9360805" y="2914985"/>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154" name="q i C1">
            <a:extLst>
              <a:ext uri="{FF2B5EF4-FFF2-40B4-BE49-F238E27FC236}">
                <a16:creationId xmlns:a16="http://schemas.microsoft.com/office/drawing/2014/main" id="{78CAD690-7386-4A36-B673-01FBA62F1603}"/>
              </a:ext>
            </a:extLst>
          </p:cNvPr>
          <p:cNvSpPr/>
          <p:nvPr/>
        </p:nvSpPr>
        <p:spPr bwMode="auto">
          <a:xfrm>
            <a:off x="9361027" y="3231936"/>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Tree>
    <p:extLst>
      <p:ext uri="{BB962C8B-B14F-4D97-AF65-F5344CB8AC3E}">
        <p14:creationId xmlns:p14="http://schemas.microsoft.com/office/powerpoint/2010/main" val="188533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fade">
                                      <p:cBhvr>
                                        <p:cTn id="11" dur="500"/>
                                        <p:tgtEl>
                                          <p:spTgt spid="10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fade">
                                      <p:cBhvr>
                                        <p:cTn id="16" dur="500"/>
                                        <p:tgtEl>
                                          <p:spTgt spid="97"/>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3"/>
                                        </p:tgtEl>
                                        <p:attrNameLst>
                                          <p:attrName>style.visibility</p:attrName>
                                        </p:attrNameLst>
                                      </p:cBhvr>
                                      <p:to>
                                        <p:strVal val="visible"/>
                                      </p:to>
                                    </p:set>
                                  </p:childTnLst>
                                </p:cTn>
                              </p:par>
                            </p:childTnLst>
                          </p:cTn>
                        </p:par>
                        <p:par>
                          <p:cTn id="22" fill="hold">
                            <p:stCondLst>
                              <p:cond delay="500"/>
                            </p:stCondLst>
                            <p:childTnLst>
                              <p:par>
                                <p:cTn id="23" presetID="37" presetClass="path" presetSubtype="0" accel="50000" decel="50000" fill="hold" grpId="1" nodeType="afterEffect">
                                  <p:stCondLst>
                                    <p:cond delay="0"/>
                                  </p:stCondLst>
                                  <p:childTnLst>
                                    <p:animMotion origin="layout" path="M -0.00209 -0.00139 C 0.03264 -0.00208 0.03698 -0.12662 0.19375 -0.12917 C 0.26285 -0.12917 0.25781 -0.02222 0.25764 0.26528 " pathEditMode="relative" rAng="0" ptsTypes="AAA">
                                      <p:cBhvr>
                                        <p:cTn id="24" dur="2000" fill="hold"/>
                                        <p:tgtEl>
                                          <p:spTgt spid="29"/>
                                        </p:tgtEl>
                                        <p:attrNameLst>
                                          <p:attrName>ppt_x</p:attrName>
                                          <p:attrName>ppt_y</p:attrName>
                                        </p:attrNameLst>
                                      </p:cBhvr>
                                      <p:rCtr x="12986" y="6944"/>
                                    </p:animMotion>
                                  </p:childTnLst>
                                </p:cTn>
                              </p:par>
                              <p:par>
                                <p:cTn id="25" presetID="37" presetClass="path" presetSubtype="0" accel="50000" decel="50000" fill="hold" grpId="1" nodeType="withEffect">
                                  <p:stCondLst>
                                    <p:cond delay="0"/>
                                  </p:stCondLst>
                                  <p:childTnLst>
                                    <p:animMotion origin="layout" path="M 0.00017 -3.7037E-6 C 0.07309 0.0007 0.05625 0.23982 0.09618 0.32315 C 0.1743 0.44653 0.15104 0.44005 0.28871 0.43588 " pathEditMode="relative" rAng="0" ptsTypes="AAA">
                                      <p:cBhvr>
                                        <p:cTn id="26" dur="2000" fill="hold"/>
                                        <p:tgtEl>
                                          <p:spTgt spid="73"/>
                                        </p:tgtEl>
                                        <p:attrNameLst>
                                          <p:attrName>ppt_x</p:attrName>
                                          <p:attrName>ppt_y</p:attrName>
                                        </p:attrNameLst>
                                      </p:cBhvr>
                                      <p:rCtr x="14427" y="21875"/>
                                    </p:animMotion>
                                  </p:childTnLst>
                                </p:cTn>
                              </p:par>
                            </p:childTnLst>
                          </p:cTn>
                        </p:par>
                        <p:par>
                          <p:cTn id="27" fill="hold">
                            <p:stCondLst>
                              <p:cond delay="2500"/>
                            </p:stCondLst>
                            <p:childTnLst>
                              <p:par>
                                <p:cTn id="28" presetID="1" presetClass="exit" presetSubtype="0" fill="hold" grpId="1" nodeType="afterEffect">
                                  <p:stCondLst>
                                    <p:cond delay="0"/>
                                  </p:stCondLst>
                                  <p:childTnLst>
                                    <p:set>
                                      <p:cBhvr>
                                        <p:cTn id="29" dur="1" fill="hold">
                                          <p:stCondLst>
                                            <p:cond delay="0"/>
                                          </p:stCondLst>
                                        </p:cTn>
                                        <p:tgtEl>
                                          <p:spTgt spid="97"/>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fade">
                                      <p:cBhvr>
                                        <p:cTn id="32" dur="500"/>
                                        <p:tgtEl>
                                          <p:spTgt spid="96"/>
                                        </p:tgtEl>
                                      </p:cBhvr>
                                    </p:animEffect>
                                  </p:childTnLst>
                                </p:cTn>
                              </p:par>
                            </p:childTnLst>
                          </p:cTn>
                        </p:par>
                        <p:par>
                          <p:cTn id="33" fill="hold">
                            <p:stCondLst>
                              <p:cond delay="3000"/>
                            </p:stCondLst>
                            <p:childTnLst>
                              <p:par>
                                <p:cTn id="34" presetID="1" presetClass="entr" presetSubtype="0" fill="hold" grpId="0" nodeType="afterEffect">
                                  <p:stCondLst>
                                    <p:cond delay="0"/>
                                  </p:stCondLst>
                                  <p:childTnLst>
                                    <p:set>
                                      <p:cBhvr>
                                        <p:cTn id="35" dur="1" fill="hold">
                                          <p:stCondLst>
                                            <p:cond delay="0"/>
                                          </p:stCondLst>
                                        </p:cTn>
                                        <p:tgtEl>
                                          <p:spTgt spid="6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6"/>
                                        </p:tgtEl>
                                        <p:attrNameLst>
                                          <p:attrName>style.visibility</p:attrName>
                                        </p:attrNameLst>
                                      </p:cBhvr>
                                      <p:to>
                                        <p:strVal val="visible"/>
                                      </p:to>
                                    </p:set>
                                  </p:childTnLst>
                                </p:cTn>
                              </p:par>
                            </p:childTnLst>
                          </p:cTn>
                        </p:par>
                        <p:par>
                          <p:cTn id="38" fill="hold">
                            <p:stCondLst>
                              <p:cond delay="3000"/>
                            </p:stCondLst>
                            <p:childTnLst>
                              <p:par>
                                <p:cTn id="39" presetID="37" presetClass="path" presetSubtype="0" accel="50000" decel="50000" fill="hold" grpId="1" nodeType="afterEffect">
                                  <p:stCondLst>
                                    <p:cond delay="0"/>
                                  </p:stCondLst>
                                  <p:childTnLst>
                                    <p:animMotion origin="layout" path="M -0.00052 0.00092 C 0.05729 -0.00023 0.03559 -0.11088 0.19288 -0.11273 C 0.22882 -0.11551 0.25764 -0.08079 0.25747 0.18379 " pathEditMode="relative" rAng="0" ptsTypes="AAA">
                                      <p:cBhvr>
                                        <p:cTn id="40" dur="2000" fill="hold"/>
                                        <p:tgtEl>
                                          <p:spTgt spid="65"/>
                                        </p:tgtEl>
                                        <p:attrNameLst>
                                          <p:attrName>ppt_x</p:attrName>
                                          <p:attrName>ppt_y</p:attrName>
                                        </p:attrNameLst>
                                      </p:cBhvr>
                                      <p:rCtr x="12899" y="3449"/>
                                    </p:animMotion>
                                  </p:childTnLst>
                                </p:cTn>
                              </p:par>
                              <p:par>
                                <p:cTn id="41" presetID="37" presetClass="path" presetSubtype="0" accel="50000" decel="50000" fill="hold" grpId="1" nodeType="withEffect">
                                  <p:stCondLst>
                                    <p:cond delay="0"/>
                                  </p:stCondLst>
                                  <p:childTnLst>
                                    <p:animMotion origin="layout" path="M 0.00035 -1.11111E-6 C 0.08542 -1.11111E-6 0.09097 0.21574 0.10313 0.31088 C 0.11632 0.40301 0.21146 0.40116 0.25313 0.39676 " pathEditMode="relative" rAng="0" ptsTypes="AAA">
                                      <p:cBhvr>
                                        <p:cTn id="42" dur="2000" fill="hold"/>
                                        <p:tgtEl>
                                          <p:spTgt spid="66"/>
                                        </p:tgtEl>
                                        <p:attrNameLst>
                                          <p:attrName>ppt_x</p:attrName>
                                          <p:attrName>ppt_y</p:attrName>
                                        </p:attrNameLst>
                                      </p:cBhvr>
                                      <p:rCtr x="12639" y="19907"/>
                                    </p:animMotion>
                                  </p:childTnLst>
                                </p:cTn>
                              </p:par>
                            </p:childTnLst>
                          </p:cTn>
                        </p:par>
                        <p:par>
                          <p:cTn id="43" fill="hold">
                            <p:stCondLst>
                              <p:cond delay="5000"/>
                            </p:stCondLst>
                            <p:childTnLst>
                              <p:par>
                                <p:cTn id="44" presetID="1" presetClass="exit" presetSubtype="0" fill="hold" grpId="1" nodeType="afterEffect">
                                  <p:stCondLst>
                                    <p:cond delay="0"/>
                                  </p:stCondLst>
                                  <p:childTnLst>
                                    <p:set>
                                      <p:cBhvr>
                                        <p:cTn id="45" dur="1" fill="hold">
                                          <p:stCondLst>
                                            <p:cond delay="0"/>
                                          </p:stCondLst>
                                        </p:cTn>
                                        <p:tgtEl>
                                          <p:spTgt spid="96"/>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99"/>
                                        </p:tgtEl>
                                        <p:attrNameLst>
                                          <p:attrName>style.visibility</p:attrName>
                                        </p:attrNameLst>
                                      </p:cBhvr>
                                      <p:to>
                                        <p:strVal val="visible"/>
                                      </p:to>
                                    </p:set>
                                    <p:animEffect transition="in" filter="fade">
                                      <p:cBhvr>
                                        <p:cTn id="48" dur="500"/>
                                        <p:tgtEl>
                                          <p:spTgt spid="99"/>
                                        </p:tgtEl>
                                      </p:cBhvr>
                                    </p:animEffect>
                                  </p:childTnLst>
                                </p:cTn>
                              </p:par>
                            </p:childTnLst>
                          </p:cTn>
                        </p:par>
                        <p:par>
                          <p:cTn id="49" fill="hold">
                            <p:stCondLst>
                              <p:cond delay="5500"/>
                            </p:stCondLst>
                            <p:childTnLst>
                              <p:par>
                                <p:cTn id="50" presetID="1" presetClass="entr" presetSubtype="0"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93"/>
                                        </p:tgtEl>
                                        <p:attrNameLst>
                                          <p:attrName>style.visibility</p:attrName>
                                        </p:attrNameLst>
                                      </p:cBhvr>
                                      <p:to>
                                        <p:strVal val="visible"/>
                                      </p:to>
                                    </p:set>
                                  </p:childTnLst>
                                </p:cTn>
                              </p:par>
                            </p:childTnLst>
                          </p:cTn>
                        </p:par>
                        <p:par>
                          <p:cTn id="54" fill="hold">
                            <p:stCondLst>
                              <p:cond delay="5500"/>
                            </p:stCondLst>
                            <p:childTnLst>
                              <p:par>
                                <p:cTn id="55" presetID="37" presetClass="path" presetSubtype="0" accel="50000" decel="50000" fill="hold" grpId="1" nodeType="afterEffect">
                                  <p:stCondLst>
                                    <p:cond delay="0"/>
                                  </p:stCondLst>
                                  <p:childTnLst>
                                    <p:animMotion origin="layout" path="M 3.61111E-6 2.22222E-6 C 0.07187 0.00162 0.03472 -0.2669 0.19323 -0.2669 C 0.26389 -0.2669 0.25694 -0.11366 0.25677 0.10185 " pathEditMode="relative" rAng="0" ptsTypes="AAA">
                                      <p:cBhvr>
                                        <p:cTn id="56" dur="2000" fill="hold"/>
                                        <p:tgtEl>
                                          <p:spTgt spid="93"/>
                                        </p:tgtEl>
                                        <p:attrNameLst>
                                          <p:attrName>ppt_x</p:attrName>
                                          <p:attrName>ppt_y</p:attrName>
                                        </p:attrNameLst>
                                      </p:cBhvr>
                                      <p:rCtr x="12847" y="-8264"/>
                                    </p:animMotion>
                                  </p:childTnLst>
                                </p:cTn>
                              </p:par>
                              <p:par>
                                <p:cTn id="57" presetID="37" presetClass="path" presetSubtype="0" accel="50000" decel="50000" fill="hold" grpId="1" nodeType="withEffect">
                                  <p:stCondLst>
                                    <p:cond delay="0"/>
                                  </p:stCondLst>
                                  <p:childTnLst>
                                    <p:animMotion origin="layout" path="M 0.00017 -0.00116 C 0.05434 -0.00116 0.02465 0.25833 0.06267 0.32245 C 0.13541 0.38935 0.11145 0.36088 0.21562 0.35509 " pathEditMode="relative" rAng="0" ptsTypes="AAA">
                                      <p:cBhvr>
                                        <p:cTn id="58" dur="2000" fill="hold"/>
                                        <p:tgtEl>
                                          <p:spTgt spid="72"/>
                                        </p:tgtEl>
                                        <p:attrNameLst>
                                          <p:attrName>ppt_x</p:attrName>
                                          <p:attrName>ppt_y</p:attrName>
                                        </p:attrNameLst>
                                      </p:cBhvr>
                                      <p:rCtr x="10764" y="18356"/>
                                    </p:animMotion>
                                  </p:childTnLst>
                                </p:cTn>
                              </p:par>
                            </p:childTnLst>
                          </p:cTn>
                        </p:par>
                        <p:par>
                          <p:cTn id="59" fill="hold">
                            <p:stCondLst>
                              <p:cond delay="7500"/>
                            </p:stCondLst>
                            <p:childTnLst>
                              <p:par>
                                <p:cTn id="60" presetID="1" presetClass="exit" presetSubtype="0" fill="hold" grpId="1" nodeType="afterEffect">
                                  <p:stCondLst>
                                    <p:cond delay="0"/>
                                  </p:stCondLst>
                                  <p:childTnLst>
                                    <p:set>
                                      <p:cBhvr>
                                        <p:cTn id="61" dur="1" fill="hold">
                                          <p:stCondLst>
                                            <p:cond delay="0"/>
                                          </p:stCondLst>
                                        </p:cTn>
                                        <p:tgtEl>
                                          <p:spTgt spid="99"/>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500"/>
                                        <p:tgtEl>
                                          <p:spTgt spid="95"/>
                                        </p:tgtEl>
                                      </p:cBhvr>
                                    </p:animEffect>
                                  </p:childTnLst>
                                </p:cTn>
                              </p:par>
                            </p:childTnLst>
                          </p:cTn>
                        </p:par>
                        <p:par>
                          <p:cTn id="65" fill="hold">
                            <p:stCondLst>
                              <p:cond delay="8000"/>
                            </p:stCondLst>
                            <p:childTnLst>
                              <p:par>
                                <p:cTn id="66" presetID="37" presetClass="path" presetSubtype="0" accel="50000" decel="50000" fill="hold" grpId="2" nodeType="afterEffect">
                                  <p:stCondLst>
                                    <p:cond delay="0"/>
                                  </p:stCondLst>
                                  <p:childTnLst>
                                    <p:animMotion origin="layout" path="M 0.25677 0.10277 C 0.25677 0.01365 0.24757 -0.01783 0.25642 -0.08519 C 0.26788 -0.13611 0.29896 -0.17315 0.33403 -0.12986 C 0.36476 -0.10672 0.40833 0.07106 0.5526 0.08125 " pathEditMode="relative" rAng="0" ptsTypes="AAAA">
                                      <p:cBhvr>
                                        <p:cTn id="67" dur="2000" fill="hold"/>
                                        <p:tgtEl>
                                          <p:spTgt spid="93"/>
                                        </p:tgtEl>
                                        <p:attrNameLst>
                                          <p:attrName>ppt_x</p:attrName>
                                          <p:attrName>ppt_y</p:attrName>
                                        </p:attrNameLst>
                                      </p:cBhvr>
                                      <p:rCtr x="14566" y="-12593"/>
                                    </p:animMotion>
                                  </p:childTnLst>
                                </p:cTn>
                              </p:par>
                              <p:par>
                                <p:cTn id="68" presetID="37" presetClass="path" presetSubtype="0" accel="50000" decel="50000" fill="hold" grpId="2" nodeType="withEffect">
                                  <p:stCondLst>
                                    <p:cond delay="0"/>
                                  </p:stCondLst>
                                  <p:childTnLst>
                                    <p:animMotion origin="layout" path="M 0.28837 0.43565 C 0.37309 0.43565 0.39948 0.3831 0.4059 0.36366 C 0.42327 0.30741 0.37969 0.20532 0.55347 0.2081 " pathEditMode="relative" rAng="0" ptsTypes="AAA">
                                      <p:cBhvr>
                                        <p:cTn id="69" dur="2000" fill="hold"/>
                                        <p:tgtEl>
                                          <p:spTgt spid="73"/>
                                        </p:tgtEl>
                                        <p:attrNameLst>
                                          <p:attrName>ppt_x</p:attrName>
                                          <p:attrName>ppt_y</p:attrName>
                                        </p:attrNameLst>
                                      </p:cBhvr>
                                      <p:rCtr x="13247" y="-11389"/>
                                    </p:animMotion>
                                  </p:childTnLst>
                                </p:cTn>
                              </p:par>
                            </p:childTnLst>
                          </p:cTn>
                        </p:par>
                        <p:par>
                          <p:cTn id="70" fill="hold">
                            <p:stCondLst>
                              <p:cond delay="10000"/>
                            </p:stCondLst>
                            <p:childTnLst>
                              <p:par>
                                <p:cTn id="71" presetID="1" presetClass="exit" presetSubtype="0" fill="hold" grpId="1" nodeType="afterEffect">
                                  <p:stCondLst>
                                    <p:cond delay="0"/>
                                  </p:stCondLst>
                                  <p:childTnLst>
                                    <p:set>
                                      <p:cBhvr>
                                        <p:cTn id="72" dur="1" fill="hold">
                                          <p:stCondLst>
                                            <p:cond delay="0"/>
                                          </p:stCondLst>
                                        </p:cTn>
                                        <p:tgtEl>
                                          <p:spTgt spid="95"/>
                                        </p:tgtEl>
                                        <p:attrNameLst>
                                          <p:attrName>style.visibility</p:attrName>
                                        </p:attrNameLst>
                                      </p:cBhvr>
                                      <p:to>
                                        <p:strVal val="hidden"/>
                                      </p:to>
                                    </p:set>
                                  </p:childTnLst>
                                </p:cTn>
                              </p:par>
                              <p:par>
                                <p:cTn id="73" presetID="10" presetClass="entr" presetSubtype="0" fill="hold" grpId="0" nodeType="with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fade">
                                      <p:cBhvr>
                                        <p:cTn id="75" dur="500"/>
                                        <p:tgtEl>
                                          <p:spTgt spid="3"/>
                                        </p:tgtEl>
                                      </p:cBhvr>
                                    </p:animEffect>
                                  </p:childTnLst>
                                </p:cTn>
                              </p:par>
                            </p:childTnLst>
                          </p:cTn>
                        </p:par>
                        <p:par>
                          <p:cTn id="76" fill="hold">
                            <p:stCondLst>
                              <p:cond delay="10500"/>
                            </p:stCondLst>
                            <p:childTnLst>
                              <p:par>
                                <p:cTn id="77" presetID="37" presetClass="path" presetSubtype="0" accel="50000" decel="50000" fill="hold" grpId="2" nodeType="afterEffect">
                                  <p:stCondLst>
                                    <p:cond delay="0"/>
                                  </p:stCondLst>
                                  <p:childTnLst>
                                    <p:animMotion origin="layout" path="M 0.25695 0.18426 C 0.25695 0.09051 0.25156 0.04514 0.26146 -0.02453 C 0.27413 -0.07708 0.30816 -0.11574 0.34688 -0.07106 C 0.38056 -0.04699 0.43299 0.11158 0.5908 0.12223 " pathEditMode="relative" rAng="0" ptsTypes="AAAA">
                                      <p:cBhvr>
                                        <p:cTn id="78" dur="2000" fill="hold"/>
                                        <p:tgtEl>
                                          <p:spTgt spid="65"/>
                                        </p:tgtEl>
                                        <p:attrNameLst>
                                          <p:attrName>ppt_x</p:attrName>
                                          <p:attrName>ppt_y</p:attrName>
                                        </p:attrNameLst>
                                      </p:cBhvr>
                                      <p:rCtr x="16615" y="-13750"/>
                                    </p:animMotion>
                                  </p:childTnLst>
                                </p:cTn>
                              </p:par>
                              <p:par>
                                <p:cTn id="79" presetID="37" presetClass="path" presetSubtype="0" accel="50000" decel="50000" fill="hold" grpId="2" nodeType="withEffect">
                                  <p:stCondLst>
                                    <p:cond delay="0"/>
                                  </p:stCondLst>
                                  <p:childTnLst>
                                    <p:animMotion origin="layout" path="M 0.25312 0.39676 C 0.36094 0.39676 0.39444 0.36505 0.40278 0.34815 C 0.42482 0.30093 0.36944 0.16574 0.59097 0.16875 " pathEditMode="relative" rAng="0" ptsTypes="AAA">
                                      <p:cBhvr>
                                        <p:cTn id="80" dur="2000" fill="hold"/>
                                        <p:tgtEl>
                                          <p:spTgt spid="66"/>
                                        </p:tgtEl>
                                        <p:attrNameLst>
                                          <p:attrName>ppt_x</p:attrName>
                                          <p:attrName>ppt_y</p:attrName>
                                        </p:attrNameLst>
                                      </p:cBhvr>
                                      <p:rCtr x="16892" y="-11412"/>
                                    </p:animMotion>
                                  </p:childTnLst>
                                </p:cTn>
                              </p:par>
                            </p:childTnLst>
                          </p:cTn>
                        </p:par>
                        <p:par>
                          <p:cTn id="81" fill="hold">
                            <p:stCondLst>
                              <p:cond delay="12500"/>
                            </p:stCondLst>
                            <p:childTnLst>
                              <p:par>
                                <p:cTn id="82" presetID="1" presetClass="exit" presetSubtype="0" fill="hold" grpId="1" nodeType="afterEffect">
                                  <p:stCondLst>
                                    <p:cond delay="0"/>
                                  </p:stCondLst>
                                  <p:childTnLst>
                                    <p:set>
                                      <p:cBhvr>
                                        <p:cTn id="83" dur="1" fill="hold">
                                          <p:stCondLst>
                                            <p:cond delay="0"/>
                                          </p:stCondLst>
                                        </p:cTn>
                                        <p:tgtEl>
                                          <p:spTgt spid="3"/>
                                        </p:tgtEl>
                                        <p:attrNameLst>
                                          <p:attrName>style.visibility</p:attrName>
                                        </p:attrNameLst>
                                      </p:cBhvr>
                                      <p:to>
                                        <p:strVal val="hidden"/>
                                      </p:to>
                                    </p:set>
                                  </p:childTnLst>
                                </p:cTn>
                              </p:par>
                              <p:par>
                                <p:cTn id="84" presetID="10" presetClass="entr" presetSubtype="0" fill="hold" grpId="0" nodeType="with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fade">
                                      <p:cBhvr>
                                        <p:cTn id="86" dur="500"/>
                                        <p:tgtEl>
                                          <p:spTgt spid="98"/>
                                        </p:tgtEl>
                                      </p:cBhvr>
                                    </p:animEffect>
                                  </p:childTnLst>
                                </p:cTn>
                              </p:par>
                            </p:childTnLst>
                          </p:cTn>
                        </p:par>
                        <p:par>
                          <p:cTn id="87" fill="hold">
                            <p:stCondLst>
                              <p:cond delay="13000"/>
                            </p:stCondLst>
                            <p:childTnLst>
                              <p:par>
                                <p:cTn id="88" presetID="37" presetClass="path" presetSubtype="0" accel="50000" decel="50000" fill="hold" grpId="2" nodeType="afterEffect">
                                  <p:stCondLst>
                                    <p:cond delay="0"/>
                                  </p:stCondLst>
                                  <p:childTnLst>
                                    <p:animMotion origin="layout" path="M 0.25712 0.26505 C 0.25712 0.18287 0.254 0.08588 0.26494 0.02223 C 0.28507 -0.0574 0.35608 -0.07639 0.39289 -0.02268 C 0.42674 0.02361 0.38091 0.15324 0.62778 0.16135 " pathEditMode="relative" rAng="0" ptsTypes="AAAA">
                                      <p:cBhvr>
                                        <p:cTn id="89" dur="2000" fill="hold"/>
                                        <p:tgtEl>
                                          <p:spTgt spid="29"/>
                                        </p:tgtEl>
                                        <p:attrNameLst>
                                          <p:attrName>ppt_x</p:attrName>
                                          <p:attrName>ppt_y</p:attrName>
                                        </p:attrNameLst>
                                      </p:cBhvr>
                                      <p:rCtr x="18507" y="-15926"/>
                                    </p:animMotion>
                                  </p:childTnLst>
                                </p:cTn>
                              </p:par>
                              <p:par>
                                <p:cTn id="90" presetID="37" presetClass="path" presetSubtype="0" accel="50000" decel="50000" fill="hold" grpId="2" nodeType="withEffect">
                                  <p:stCondLst>
                                    <p:cond delay="0"/>
                                  </p:stCondLst>
                                  <p:childTnLst>
                                    <p:animMotion origin="layout" path="M 0.2158 0.35463 C 0.3349 0.35463 0.36944 0.35857 0.37865 0.34213 C 0.40295 0.29445 0.38056 0.125 0.62639 0.12778 " pathEditMode="relative" rAng="0" ptsTypes="AAA">
                                      <p:cBhvr>
                                        <p:cTn id="91" dur="2000" fill="hold"/>
                                        <p:tgtEl>
                                          <p:spTgt spid="72"/>
                                        </p:tgtEl>
                                        <p:attrNameLst>
                                          <p:attrName>ppt_x</p:attrName>
                                          <p:attrName>ppt_y</p:attrName>
                                        </p:attrNameLst>
                                      </p:cBhvr>
                                      <p:rCtr x="20521" y="-11343"/>
                                    </p:animMotion>
                                  </p:childTnLst>
                                </p:cTn>
                              </p:par>
                            </p:childTnLst>
                          </p:cTn>
                        </p:par>
                        <p:par>
                          <p:cTn id="92" fill="hold">
                            <p:stCondLst>
                              <p:cond delay="15000"/>
                            </p:stCondLst>
                            <p:childTnLst>
                              <p:par>
                                <p:cTn id="93" presetID="1" presetClass="exit" presetSubtype="0" fill="hold" grpId="1" nodeType="afterEffect">
                                  <p:stCondLst>
                                    <p:cond delay="0"/>
                                  </p:stCondLst>
                                  <p:childTnLst>
                                    <p:set>
                                      <p:cBhvr>
                                        <p:cTn id="94" dur="1" fill="hold">
                                          <p:stCondLst>
                                            <p:cond delay="0"/>
                                          </p:stCondLst>
                                        </p:cTn>
                                        <p:tgtEl>
                                          <p:spTgt spid="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29" grpId="0" animBg="1"/>
      <p:bldP spid="29" grpId="1" animBg="1"/>
      <p:bldP spid="29" grpId="2" animBg="1"/>
      <p:bldP spid="73" grpId="0" animBg="1"/>
      <p:bldP spid="73" grpId="1" animBg="1"/>
      <p:bldP spid="73" grpId="2" animBg="1"/>
      <p:bldP spid="65" grpId="0" animBg="1"/>
      <p:bldP spid="65" grpId="1" animBg="1"/>
      <p:bldP spid="65" grpId="2" animBg="1"/>
      <p:bldP spid="66" grpId="0" animBg="1"/>
      <p:bldP spid="66" grpId="1" animBg="1"/>
      <p:bldP spid="66" grpId="2" animBg="1"/>
      <p:bldP spid="93" grpId="0" animBg="1"/>
      <p:bldP spid="93" grpId="1" animBg="1"/>
      <p:bldP spid="93" grpId="2" animBg="1"/>
      <p:bldP spid="72" grpId="0" animBg="1"/>
      <p:bldP spid="72" grpId="1" animBg="1"/>
      <p:bldP spid="72" grpId="2"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queue">
            <a:extLst>
              <a:ext uri="{FF2B5EF4-FFF2-40B4-BE49-F238E27FC236}">
                <a16:creationId xmlns:a16="http://schemas.microsoft.com/office/drawing/2014/main" id="{08005A08-6802-4DC2-A725-CE85B69D1D96}"/>
              </a:ext>
            </a:extLst>
          </p:cNvPr>
          <p:cNvGrpSpPr/>
          <p:nvPr/>
        </p:nvGrpSpPr>
        <p:grpSpPr>
          <a:xfrm>
            <a:off x="5237967" y="5213635"/>
            <a:ext cx="1716066" cy="833672"/>
            <a:chOff x="3574472" y="4936954"/>
            <a:chExt cx="1716066" cy="833672"/>
          </a:xfrm>
        </p:grpSpPr>
        <p:grpSp>
          <p:nvGrpSpPr>
            <p:cNvPr id="14" name="Group 13">
              <a:extLst>
                <a:ext uri="{FF2B5EF4-FFF2-40B4-BE49-F238E27FC236}">
                  <a16:creationId xmlns:a16="http://schemas.microsoft.com/office/drawing/2014/main" id="{A2B06178-4E87-49E9-BC05-4C53979D3564}"/>
                </a:ext>
              </a:extLst>
            </p:cNvPr>
            <p:cNvGrpSpPr/>
            <p:nvPr/>
          </p:nvGrpSpPr>
          <p:grpSpPr>
            <a:xfrm>
              <a:off x="3574472" y="5306287"/>
              <a:ext cx="1716066" cy="464339"/>
              <a:chOff x="3574472" y="5306287"/>
              <a:chExt cx="2115128" cy="374077"/>
            </a:xfrm>
          </p:grpSpPr>
          <p:cxnSp>
            <p:nvCxnSpPr>
              <p:cNvPr id="13" name="Straight Connector 12">
                <a:extLst>
                  <a:ext uri="{FF2B5EF4-FFF2-40B4-BE49-F238E27FC236}">
                    <a16:creationId xmlns:a16="http://schemas.microsoft.com/office/drawing/2014/main" id="{86AF3DC2-F3F9-46F0-BD26-A74013461DCB}"/>
                  </a:ext>
                </a:extLst>
              </p:cNvPr>
              <p:cNvCxnSpPr>
                <a:cxnSpLocks/>
              </p:cNvCxnSpPr>
              <p:nvPr/>
            </p:nvCxnSpPr>
            <p:spPr bwMode="auto">
              <a:xfrm>
                <a:off x="3574472" y="5306287"/>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3297F330-3E49-45AE-84A7-488FB902A585}"/>
                  </a:ext>
                </a:extLst>
              </p:cNvPr>
              <p:cNvCxnSpPr>
                <a:cxnSpLocks/>
              </p:cNvCxnSpPr>
              <p:nvPr/>
            </p:nvCxnSpPr>
            <p:spPr bwMode="auto">
              <a:xfrm>
                <a:off x="3574472" y="5680364"/>
                <a:ext cx="2115128"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7" name="TextBox 16">
              <a:extLst>
                <a:ext uri="{FF2B5EF4-FFF2-40B4-BE49-F238E27FC236}">
                  <a16:creationId xmlns:a16="http://schemas.microsoft.com/office/drawing/2014/main" id="{19178185-0F2D-4378-BCD7-03B5C66E63AA}"/>
                </a:ext>
              </a:extLst>
            </p:cNvPr>
            <p:cNvSpPr txBox="1"/>
            <p:nvPr/>
          </p:nvSpPr>
          <p:spPr>
            <a:xfrm>
              <a:off x="3574472" y="4936954"/>
              <a:ext cx="1716066" cy="369332"/>
            </a:xfrm>
            <a:prstGeom prst="rect">
              <a:avLst/>
            </a:prstGeom>
            <a:noFill/>
          </p:spPr>
          <p:txBody>
            <a:bodyPr wrap="square" rtlCol="0">
              <a:spAutoFit/>
            </a:bodyPr>
            <a:lstStyle/>
            <a:p>
              <a:r>
                <a:rPr lang="en-US" dirty="0">
                  <a:latin typeface="Times New Roman" panose="02020603050405020304" pitchFamily="18" charset="0"/>
                </a:rPr>
                <a:t>rear         front   </a:t>
              </a:r>
            </a:p>
          </p:txBody>
        </p:sp>
      </p:grpSp>
      <p:grpSp>
        <p:nvGrpSpPr>
          <p:cNvPr id="23" name="sequence 1">
            <a:extLst>
              <a:ext uri="{FF2B5EF4-FFF2-40B4-BE49-F238E27FC236}">
                <a16:creationId xmlns:a16="http://schemas.microsoft.com/office/drawing/2014/main" id="{4713D9B4-0E3D-48CA-9447-638418CECA99}"/>
              </a:ext>
            </a:extLst>
          </p:cNvPr>
          <p:cNvGrpSpPr/>
          <p:nvPr/>
        </p:nvGrpSpPr>
        <p:grpSpPr>
          <a:xfrm>
            <a:off x="1668508" y="2211511"/>
            <a:ext cx="1180881" cy="2149904"/>
            <a:chOff x="144507" y="2211511"/>
            <a:chExt cx="1180881" cy="2149904"/>
          </a:xfrm>
        </p:grpSpPr>
        <p:sp>
          <p:nvSpPr>
            <p:cNvPr id="2" name="TextBox 1">
              <a:extLst>
                <a:ext uri="{FF2B5EF4-FFF2-40B4-BE49-F238E27FC236}">
                  <a16:creationId xmlns:a16="http://schemas.microsoft.com/office/drawing/2014/main" id="{09C9EA19-BF8B-48A0-9F13-FF7779057ADF}"/>
                </a:ext>
              </a:extLst>
            </p:cNvPr>
            <p:cNvSpPr txBox="1"/>
            <p:nvPr/>
          </p:nvSpPr>
          <p:spPr>
            <a:xfrm>
              <a:off x="144507" y="2607089"/>
              <a:ext cx="1180881"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remove</a:t>
              </a:r>
            </a:p>
            <a:p>
              <a:r>
                <a:rPr lang="en-US" dirty="0">
                  <a:latin typeface="Times New Roman" panose="02020603050405020304" pitchFamily="18" charset="0"/>
                </a:rPr>
                <a:t>insert(B)</a:t>
              </a:r>
            </a:p>
            <a:p>
              <a:r>
                <a:rPr lang="en-US" dirty="0">
                  <a:latin typeface="Times New Roman" panose="02020603050405020304" pitchFamily="18" charset="0"/>
                </a:rPr>
                <a:t>remove</a:t>
              </a:r>
            </a:p>
            <a:p>
              <a:r>
                <a:rPr lang="en-US" dirty="0">
                  <a:latin typeface="Times New Roman" panose="02020603050405020304" pitchFamily="18" charset="0"/>
                </a:rPr>
                <a:t>insert(C)</a:t>
              </a:r>
            </a:p>
            <a:p>
              <a:r>
                <a:rPr lang="en-US" dirty="0">
                  <a:latin typeface="Times New Roman" panose="02020603050405020304" pitchFamily="18" charset="0"/>
                </a:rPr>
                <a:t>remove</a:t>
              </a:r>
            </a:p>
          </p:txBody>
        </p:sp>
        <p:sp>
          <p:nvSpPr>
            <p:cNvPr id="21" name="TextBox 20">
              <a:extLst>
                <a:ext uri="{FF2B5EF4-FFF2-40B4-BE49-F238E27FC236}">
                  <a16:creationId xmlns:a16="http://schemas.microsoft.com/office/drawing/2014/main" id="{C7EFE8C8-0FD7-4B97-BC56-C3FE1F0DE003}"/>
                </a:ext>
              </a:extLst>
            </p:cNvPr>
            <p:cNvSpPr txBox="1"/>
            <p:nvPr/>
          </p:nvSpPr>
          <p:spPr>
            <a:xfrm>
              <a:off x="144562" y="2211511"/>
              <a:ext cx="1062255" cy="400110"/>
            </a:xfrm>
            <a:prstGeom prst="rect">
              <a:avLst/>
            </a:prstGeom>
            <a:noFill/>
          </p:spPr>
          <p:txBody>
            <a:bodyPr wrap="square" rtlCol="0">
              <a:spAutoFit/>
            </a:bodyPr>
            <a:lstStyle/>
            <a:p>
              <a:r>
                <a:rPr lang="en-US" sz="2000" dirty="0">
                  <a:latin typeface="Times New Roman" panose="02020603050405020304" pitchFamily="18" charset="0"/>
                </a:rPr>
                <a:t>Seq. #1  </a:t>
              </a:r>
            </a:p>
          </p:txBody>
        </p:sp>
      </p:grpSp>
      <p:grpSp>
        <p:nvGrpSpPr>
          <p:cNvPr id="27" name="sequence 2">
            <a:extLst>
              <a:ext uri="{FF2B5EF4-FFF2-40B4-BE49-F238E27FC236}">
                <a16:creationId xmlns:a16="http://schemas.microsoft.com/office/drawing/2014/main" id="{56AFA59C-0864-46E7-88EB-5761804288CD}"/>
              </a:ext>
            </a:extLst>
          </p:cNvPr>
          <p:cNvGrpSpPr/>
          <p:nvPr/>
        </p:nvGrpSpPr>
        <p:grpSpPr>
          <a:xfrm>
            <a:off x="2940096" y="2211511"/>
            <a:ext cx="1091114" cy="2142588"/>
            <a:chOff x="1416096" y="2211511"/>
            <a:chExt cx="1091114" cy="2142588"/>
          </a:xfrm>
        </p:grpSpPr>
        <p:sp>
          <p:nvSpPr>
            <p:cNvPr id="32" name="TextBox 31">
              <a:extLst>
                <a:ext uri="{FF2B5EF4-FFF2-40B4-BE49-F238E27FC236}">
                  <a16:creationId xmlns:a16="http://schemas.microsoft.com/office/drawing/2014/main" id="{07EAE1F3-ECCE-4F0C-A30A-158A51A5AA76}"/>
                </a:ext>
              </a:extLst>
            </p:cNvPr>
            <p:cNvSpPr txBox="1"/>
            <p:nvPr/>
          </p:nvSpPr>
          <p:spPr>
            <a:xfrm>
              <a:off x="1416096" y="2599773"/>
              <a:ext cx="1085248"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insert(B)</a:t>
              </a:r>
            </a:p>
            <a:p>
              <a:r>
                <a:rPr lang="en-US" dirty="0">
                  <a:latin typeface="Times New Roman" panose="02020603050405020304" pitchFamily="18" charset="0"/>
                </a:rPr>
                <a:t>insert(C)</a:t>
              </a:r>
            </a:p>
            <a:p>
              <a:r>
                <a:rPr lang="en-US" dirty="0">
                  <a:latin typeface="Times New Roman" panose="02020603050405020304" pitchFamily="18" charset="0"/>
                </a:rPr>
                <a:t>remove</a:t>
              </a:r>
            </a:p>
            <a:p>
              <a:r>
                <a:rPr lang="en-US" dirty="0">
                  <a:latin typeface="Times New Roman" panose="02020603050405020304" pitchFamily="18" charset="0"/>
                </a:rPr>
                <a:t>remove</a:t>
              </a:r>
            </a:p>
            <a:p>
              <a:r>
                <a:rPr lang="en-US" dirty="0">
                  <a:latin typeface="Times New Roman" panose="02020603050405020304" pitchFamily="18" charset="0"/>
                </a:rPr>
                <a:t>remove</a:t>
              </a:r>
            </a:p>
          </p:txBody>
        </p:sp>
        <p:sp>
          <p:nvSpPr>
            <p:cNvPr id="24" name="TextBox 23">
              <a:extLst>
                <a:ext uri="{FF2B5EF4-FFF2-40B4-BE49-F238E27FC236}">
                  <a16:creationId xmlns:a16="http://schemas.microsoft.com/office/drawing/2014/main" id="{2CB48C58-0CDE-4601-A594-594FC070DEBC}"/>
                </a:ext>
              </a:extLst>
            </p:cNvPr>
            <p:cNvSpPr txBox="1"/>
            <p:nvPr/>
          </p:nvSpPr>
          <p:spPr>
            <a:xfrm>
              <a:off x="1421962" y="2211511"/>
              <a:ext cx="1085248" cy="400110"/>
            </a:xfrm>
            <a:prstGeom prst="rect">
              <a:avLst/>
            </a:prstGeom>
            <a:noFill/>
          </p:spPr>
          <p:txBody>
            <a:bodyPr wrap="square" rtlCol="0">
              <a:spAutoFit/>
            </a:bodyPr>
            <a:lstStyle/>
            <a:p>
              <a:r>
                <a:rPr lang="en-US" sz="2000" dirty="0">
                  <a:latin typeface="Times New Roman" panose="02020603050405020304" pitchFamily="18" charset="0"/>
                </a:rPr>
                <a:t>Seq. #2</a:t>
              </a:r>
            </a:p>
          </p:txBody>
        </p:sp>
      </p:grpSp>
      <p:sp>
        <p:nvSpPr>
          <p:cNvPr id="50" name="Input order">
            <a:extLst>
              <a:ext uri="{FF2B5EF4-FFF2-40B4-BE49-F238E27FC236}">
                <a16:creationId xmlns:a16="http://schemas.microsoft.com/office/drawing/2014/main" id="{B78AC931-05A3-4D98-AD51-74CD3D36849E}"/>
              </a:ext>
            </a:extLst>
          </p:cNvPr>
          <p:cNvSpPr txBox="1"/>
          <p:nvPr/>
        </p:nvSpPr>
        <p:spPr>
          <a:xfrm>
            <a:off x="1668508" y="4549130"/>
            <a:ext cx="3216999" cy="461665"/>
          </a:xfrm>
          <a:prstGeom prst="rect">
            <a:avLst/>
          </a:prstGeom>
          <a:noFill/>
        </p:spPr>
        <p:txBody>
          <a:bodyPr wrap="square" rtlCol="0">
            <a:spAutoFit/>
          </a:bodyPr>
          <a:lstStyle/>
          <a:p>
            <a:r>
              <a:rPr lang="en-US" sz="2400" dirty="0">
                <a:latin typeface="Times New Roman" panose="02020603050405020304" pitchFamily="18" charset="0"/>
              </a:rPr>
              <a:t>Input order:  A, B, C</a:t>
            </a:r>
          </a:p>
        </p:txBody>
      </p:sp>
      <p:grpSp>
        <p:nvGrpSpPr>
          <p:cNvPr id="22" name="stack">
            <a:extLst>
              <a:ext uri="{FF2B5EF4-FFF2-40B4-BE49-F238E27FC236}">
                <a16:creationId xmlns:a16="http://schemas.microsoft.com/office/drawing/2014/main" id="{0415A1C1-69F4-4C93-B94D-B979F98E2F26}"/>
              </a:ext>
            </a:extLst>
          </p:cNvPr>
          <p:cNvGrpSpPr/>
          <p:nvPr/>
        </p:nvGrpSpPr>
        <p:grpSpPr>
          <a:xfrm>
            <a:off x="6250950" y="2942671"/>
            <a:ext cx="521853" cy="1924939"/>
            <a:chOff x="4311074" y="2912281"/>
            <a:chExt cx="521853" cy="1924939"/>
          </a:xfrm>
        </p:grpSpPr>
        <p:grpSp>
          <p:nvGrpSpPr>
            <p:cNvPr id="9" name="Group 8">
              <a:extLst>
                <a:ext uri="{FF2B5EF4-FFF2-40B4-BE49-F238E27FC236}">
                  <a16:creationId xmlns:a16="http://schemas.microsoft.com/office/drawing/2014/main" id="{BEAD9D2E-A800-4158-B619-135DF147D1A9}"/>
                </a:ext>
              </a:extLst>
            </p:cNvPr>
            <p:cNvGrpSpPr/>
            <p:nvPr/>
          </p:nvGrpSpPr>
          <p:grpSpPr>
            <a:xfrm>
              <a:off x="4311074" y="3257801"/>
              <a:ext cx="521853" cy="1579419"/>
              <a:chOff x="1958109" y="3260436"/>
              <a:chExt cx="521853" cy="1579419"/>
            </a:xfrm>
          </p:grpSpPr>
          <p:cxnSp>
            <p:nvCxnSpPr>
              <p:cNvPr id="5" name="Straight Connector 4">
                <a:extLst>
                  <a:ext uri="{FF2B5EF4-FFF2-40B4-BE49-F238E27FC236}">
                    <a16:creationId xmlns:a16="http://schemas.microsoft.com/office/drawing/2014/main" id="{FDBC22A8-43B6-45BD-BDCA-82480643C339}"/>
                  </a:ext>
                </a:extLst>
              </p:cNvPr>
              <p:cNvCxnSpPr>
                <a:cxnSpLocks/>
              </p:cNvCxnSpPr>
              <p:nvPr/>
            </p:nvCxnSpPr>
            <p:spPr bwMode="auto">
              <a:xfrm>
                <a:off x="1958109"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0D6A4AB7-7007-4DB7-97A2-5795759ACB0A}"/>
                  </a:ext>
                </a:extLst>
              </p:cNvPr>
              <p:cNvCxnSpPr>
                <a:cxnSpLocks/>
              </p:cNvCxnSpPr>
              <p:nvPr/>
            </p:nvCxnSpPr>
            <p:spPr bwMode="auto">
              <a:xfrm>
                <a:off x="2479962" y="3260436"/>
                <a:ext cx="0" cy="1579419"/>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C8C3E7A7-BB7A-4057-8511-653FBE24D9AC}"/>
                  </a:ext>
                </a:extLst>
              </p:cNvPr>
              <p:cNvCxnSpPr>
                <a:cxnSpLocks/>
              </p:cNvCxnSpPr>
              <p:nvPr/>
            </p:nvCxnSpPr>
            <p:spPr bwMode="auto">
              <a:xfrm>
                <a:off x="1958109" y="4825563"/>
                <a:ext cx="521853"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15" name="TextBox 14">
              <a:extLst>
                <a:ext uri="{FF2B5EF4-FFF2-40B4-BE49-F238E27FC236}">
                  <a16:creationId xmlns:a16="http://schemas.microsoft.com/office/drawing/2014/main" id="{FC8F762F-B46A-4883-84F1-AD37E74F210A}"/>
                </a:ext>
              </a:extLst>
            </p:cNvPr>
            <p:cNvSpPr txBox="1"/>
            <p:nvPr/>
          </p:nvSpPr>
          <p:spPr>
            <a:xfrm>
              <a:off x="4351897" y="2912281"/>
              <a:ext cx="479618" cy="369332"/>
            </a:xfrm>
            <a:prstGeom prst="rect">
              <a:avLst/>
            </a:prstGeom>
            <a:noFill/>
          </p:spPr>
          <p:txBody>
            <a:bodyPr wrap="none" rtlCol="0">
              <a:spAutoFit/>
            </a:bodyPr>
            <a:lstStyle/>
            <a:p>
              <a:r>
                <a:rPr lang="en-US" dirty="0">
                  <a:latin typeface="Times New Roman" panose="02020603050405020304" pitchFamily="18" charset="0"/>
                </a:rPr>
                <a:t>top</a:t>
              </a:r>
            </a:p>
          </p:txBody>
        </p:sp>
      </p:grpSp>
      <p:sp>
        <p:nvSpPr>
          <p:cNvPr id="103" name="s i A 1">
            <a:extLst>
              <a:ext uri="{FF2B5EF4-FFF2-40B4-BE49-F238E27FC236}">
                <a16:creationId xmlns:a16="http://schemas.microsoft.com/office/drawing/2014/main" id="{B201BDB5-3A98-4D41-8598-696320564107}"/>
              </a:ext>
            </a:extLst>
          </p:cNvPr>
          <p:cNvSpPr/>
          <p:nvPr/>
        </p:nvSpPr>
        <p:spPr bwMode="auto">
          <a:xfrm>
            <a:off x="8687623" y="2915770"/>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104" name="q i A 1">
            <a:extLst>
              <a:ext uri="{FF2B5EF4-FFF2-40B4-BE49-F238E27FC236}">
                <a16:creationId xmlns:a16="http://schemas.microsoft.com/office/drawing/2014/main" id="{8BFBEE60-F635-4797-9DF4-E8781BA14ED7}"/>
              </a:ext>
            </a:extLst>
          </p:cNvPr>
          <p:cNvSpPr/>
          <p:nvPr/>
        </p:nvSpPr>
        <p:spPr bwMode="auto">
          <a:xfrm>
            <a:off x="8687521" y="3233024"/>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105" name="s i B 1">
            <a:extLst>
              <a:ext uri="{FF2B5EF4-FFF2-40B4-BE49-F238E27FC236}">
                <a16:creationId xmlns:a16="http://schemas.microsoft.com/office/drawing/2014/main" id="{0669DAAC-41CE-4923-8A10-177AEBAA741A}"/>
              </a:ext>
            </a:extLst>
          </p:cNvPr>
          <p:cNvSpPr/>
          <p:nvPr/>
        </p:nvSpPr>
        <p:spPr bwMode="auto">
          <a:xfrm>
            <a:off x="9028774" y="2914972"/>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106" name="q i B 1">
            <a:extLst>
              <a:ext uri="{FF2B5EF4-FFF2-40B4-BE49-F238E27FC236}">
                <a16:creationId xmlns:a16="http://schemas.microsoft.com/office/drawing/2014/main" id="{612961EE-7FFE-41FF-99AC-7743136E628F}"/>
              </a:ext>
            </a:extLst>
          </p:cNvPr>
          <p:cNvSpPr/>
          <p:nvPr/>
        </p:nvSpPr>
        <p:spPr bwMode="auto">
          <a:xfrm>
            <a:off x="9028730" y="3232480"/>
            <a:ext cx="239263"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107" name="s i C 1">
            <a:extLst>
              <a:ext uri="{FF2B5EF4-FFF2-40B4-BE49-F238E27FC236}">
                <a16:creationId xmlns:a16="http://schemas.microsoft.com/office/drawing/2014/main" id="{042062CD-B868-4E01-8596-C1BE641DEE10}"/>
              </a:ext>
            </a:extLst>
          </p:cNvPr>
          <p:cNvSpPr/>
          <p:nvPr/>
        </p:nvSpPr>
        <p:spPr bwMode="auto">
          <a:xfrm>
            <a:off x="9360805" y="2914985"/>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108" name="q i C1">
            <a:extLst>
              <a:ext uri="{FF2B5EF4-FFF2-40B4-BE49-F238E27FC236}">
                <a16:creationId xmlns:a16="http://schemas.microsoft.com/office/drawing/2014/main" id="{5869218D-3542-4CAB-AA6F-EF60285F77C5}"/>
              </a:ext>
            </a:extLst>
          </p:cNvPr>
          <p:cNvSpPr/>
          <p:nvPr/>
        </p:nvSpPr>
        <p:spPr bwMode="auto">
          <a:xfrm>
            <a:off x="9361027" y="3231936"/>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51" name="s i A 1">
            <a:extLst>
              <a:ext uri="{FF2B5EF4-FFF2-40B4-BE49-F238E27FC236}">
                <a16:creationId xmlns:a16="http://schemas.microsoft.com/office/drawing/2014/main" id="{1D6B8FB0-E902-43B7-9944-3438FEB543D2}"/>
              </a:ext>
            </a:extLst>
          </p:cNvPr>
          <p:cNvSpPr/>
          <p:nvPr/>
        </p:nvSpPr>
        <p:spPr bwMode="auto">
          <a:xfrm>
            <a:off x="8685730" y="3797772"/>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sp>
        <p:nvSpPr>
          <p:cNvPr id="52" name="q i A 1">
            <a:extLst>
              <a:ext uri="{FF2B5EF4-FFF2-40B4-BE49-F238E27FC236}">
                <a16:creationId xmlns:a16="http://schemas.microsoft.com/office/drawing/2014/main" id="{E0E005BC-7F02-4692-A6F6-0C82CE4435AB}"/>
              </a:ext>
            </a:extLst>
          </p:cNvPr>
          <p:cNvSpPr/>
          <p:nvPr/>
        </p:nvSpPr>
        <p:spPr bwMode="auto">
          <a:xfrm>
            <a:off x="8687351" y="4115309"/>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53" name="s i B 1">
            <a:extLst>
              <a:ext uri="{FF2B5EF4-FFF2-40B4-BE49-F238E27FC236}">
                <a16:creationId xmlns:a16="http://schemas.microsoft.com/office/drawing/2014/main" id="{06E1DAFA-E9D3-42E9-8341-D4CC1F8A2060}"/>
              </a:ext>
            </a:extLst>
          </p:cNvPr>
          <p:cNvSpPr/>
          <p:nvPr/>
        </p:nvSpPr>
        <p:spPr bwMode="auto">
          <a:xfrm>
            <a:off x="9028121" y="3806421"/>
            <a:ext cx="239263" cy="223016"/>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54" name="q i B 1">
            <a:extLst>
              <a:ext uri="{FF2B5EF4-FFF2-40B4-BE49-F238E27FC236}">
                <a16:creationId xmlns:a16="http://schemas.microsoft.com/office/drawing/2014/main" id="{B772E0F3-0E1B-437D-8DAB-3A4FF4140732}"/>
              </a:ext>
            </a:extLst>
          </p:cNvPr>
          <p:cNvSpPr/>
          <p:nvPr/>
        </p:nvSpPr>
        <p:spPr bwMode="auto">
          <a:xfrm>
            <a:off x="9027109" y="4115034"/>
            <a:ext cx="239263"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B</a:t>
            </a:r>
          </a:p>
        </p:txBody>
      </p:sp>
      <p:sp>
        <p:nvSpPr>
          <p:cNvPr id="55" name="s i C 1">
            <a:extLst>
              <a:ext uri="{FF2B5EF4-FFF2-40B4-BE49-F238E27FC236}">
                <a16:creationId xmlns:a16="http://schemas.microsoft.com/office/drawing/2014/main" id="{4678F720-08A6-4489-9003-0388E3197415}"/>
              </a:ext>
            </a:extLst>
          </p:cNvPr>
          <p:cNvSpPr/>
          <p:nvPr/>
        </p:nvSpPr>
        <p:spPr bwMode="auto">
          <a:xfrm>
            <a:off x="9360805" y="3798846"/>
            <a:ext cx="239264" cy="239264"/>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9144"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A</a:t>
            </a:r>
          </a:p>
        </p:txBody>
      </p:sp>
      <p:sp>
        <p:nvSpPr>
          <p:cNvPr id="56" name="q i C1">
            <a:extLst>
              <a:ext uri="{FF2B5EF4-FFF2-40B4-BE49-F238E27FC236}">
                <a16:creationId xmlns:a16="http://schemas.microsoft.com/office/drawing/2014/main" id="{5D839B49-1B45-4DF7-B91F-DFCF9E596DA0}"/>
              </a:ext>
            </a:extLst>
          </p:cNvPr>
          <p:cNvSpPr/>
          <p:nvPr/>
        </p:nvSpPr>
        <p:spPr bwMode="auto">
          <a:xfrm>
            <a:off x="9361299" y="4115032"/>
            <a:ext cx="239264" cy="239264"/>
          </a:xfrm>
          <a:prstGeom prst="ellipse">
            <a:avLst/>
          </a:prstGeom>
          <a:solidFill>
            <a:srgbClr val="92D050"/>
          </a:solidFill>
          <a:ln w="12700" cap="flat" cmpd="sng" algn="ctr">
            <a:noFill/>
            <a:prstDash val="solid"/>
            <a:round/>
            <a:headEnd type="none" w="med" len="med"/>
            <a:tailEnd type="none" w="med" len="med"/>
          </a:ln>
          <a:effectLst/>
          <a:scene3d>
            <a:camera prst="orthographicFront"/>
            <a:lightRig rig="threePt" dir="t"/>
          </a:scene3d>
          <a:sp3d>
            <a:bevelT/>
          </a:sp3d>
        </p:spPr>
        <p:txBody>
          <a:bodyPr vert="horz" wrap="none" lIns="18288" tIns="0" rIns="0" bIns="27432" numCol="1" rtlCol="0" anchor="ctr" anchorCtr="0" compatLnSpc="1">
            <a:prstTxWarp prst="textNoShape">
              <a:avLst/>
            </a:prstTxWarp>
          </a:bodyPr>
          <a:lstStyle/>
          <a:p>
            <a:pPr defTabSz="914400" eaLnBrk="0" fontAlgn="base" hangingPunct="0">
              <a:spcBef>
                <a:spcPct val="0"/>
              </a:spcBef>
              <a:spcAft>
                <a:spcPct val="0"/>
              </a:spcAft>
            </a:pPr>
            <a:r>
              <a:rPr lang="en-US" sz="1400" b="1" dirty="0">
                <a:solidFill>
                  <a:srgbClr val="51361B"/>
                </a:solidFill>
                <a:latin typeface="Times New Roman" panose="02020603050405020304" pitchFamily="18" charset="0"/>
              </a:rPr>
              <a:t>C</a:t>
            </a:r>
          </a:p>
        </p:txBody>
      </p:sp>
      <p:grpSp>
        <p:nvGrpSpPr>
          <p:cNvPr id="58" name="seq3 results">
            <a:extLst>
              <a:ext uri="{FF2B5EF4-FFF2-40B4-BE49-F238E27FC236}">
                <a16:creationId xmlns:a16="http://schemas.microsoft.com/office/drawing/2014/main" id="{1BCD4920-CEAB-41C0-98D5-1FA9FDC49377}"/>
              </a:ext>
            </a:extLst>
          </p:cNvPr>
          <p:cNvGrpSpPr/>
          <p:nvPr/>
        </p:nvGrpSpPr>
        <p:grpSpPr>
          <a:xfrm>
            <a:off x="7616394" y="4474097"/>
            <a:ext cx="3010158" cy="684803"/>
            <a:chOff x="6120805" y="2822714"/>
            <a:chExt cx="3010158" cy="684803"/>
          </a:xfrm>
        </p:grpSpPr>
        <p:sp>
          <p:nvSpPr>
            <p:cNvPr id="62" name="TextBox 61">
              <a:extLst>
                <a:ext uri="{FF2B5EF4-FFF2-40B4-BE49-F238E27FC236}">
                  <a16:creationId xmlns:a16="http://schemas.microsoft.com/office/drawing/2014/main" id="{080074C3-5540-47DA-9DE7-B9A3D072347E}"/>
                </a:ext>
              </a:extLst>
            </p:cNvPr>
            <p:cNvSpPr txBox="1"/>
            <p:nvPr/>
          </p:nvSpPr>
          <p:spPr>
            <a:xfrm>
              <a:off x="8189331" y="2822714"/>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63" name="TextBox 62">
              <a:extLst>
                <a:ext uri="{FF2B5EF4-FFF2-40B4-BE49-F238E27FC236}">
                  <a16:creationId xmlns:a16="http://schemas.microsoft.com/office/drawing/2014/main" id="{9E2D9523-C41E-4F38-B75B-956AA57F6C7E}"/>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#3</a:t>
              </a:r>
            </a:p>
          </p:txBody>
        </p:sp>
      </p:grpSp>
      <p:grpSp>
        <p:nvGrpSpPr>
          <p:cNvPr id="64" name="sequence 3">
            <a:extLst>
              <a:ext uri="{FF2B5EF4-FFF2-40B4-BE49-F238E27FC236}">
                <a16:creationId xmlns:a16="http://schemas.microsoft.com/office/drawing/2014/main" id="{F12AA1C2-8D8B-4E6B-BFEC-FF3BC99916CC}"/>
              </a:ext>
            </a:extLst>
          </p:cNvPr>
          <p:cNvGrpSpPr/>
          <p:nvPr/>
        </p:nvGrpSpPr>
        <p:grpSpPr>
          <a:xfrm>
            <a:off x="4246354" y="2242739"/>
            <a:ext cx="1096853" cy="2154436"/>
            <a:chOff x="3229998" y="2355560"/>
            <a:chExt cx="1096853" cy="2154436"/>
          </a:xfrm>
        </p:grpSpPr>
        <p:sp>
          <p:nvSpPr>
            <p:cNvPr id="67" name="TextBox 66">
              <a:extLst>
                <a:ext uri="{FF2B5EF4-FFF2-40B4-BE49-F238E27FC236}">
                  <a16:creationId xmlns:a16="http://schemas.microsoft.com/office/drawing/2014/main" id="{1F24AB67-DCC8-45AB-BC7F-236359F97C14}"/>
                </a:ext>
              </a:extLst>
            </p:cNvPr>
            <p:cNvSpPr txBox="1"/>
            <p:nvPr/>
          </p:nvSpPr>
          <p:spPr>
            <a:xfrm>
              <a:off x="3241603" y="2755670"/>
              <a:ext cx="1085248" cy="1754326"/>
            </a:xfrm>
            <a:prstGeom prst="rect">
              <a:avLst/>
            </a:prstGeom>
            <a:noFill/>
          </p:spPr>
          <p:txBody>
            <a:bodyPr wrap="square" rtlCol="0">
              <a:spAutoFit/>
            </a:bodyPr>
            <a:lstStyle/>
            <a:p>
              <a:r>
                <a:rPr lang="en-US" dirty="0">
                  <a:latin typeface="Times New Roman" panose="02020603050405020304" pitchFamily="18" charset="0"/>
                </a:rPr>
                <a:t>insert(A)</a:t>
              </a:r>
            </a:p>
            <a:p>
              <a:r>
                <a:rPr lang="en-US" dirty="0">
                  <a:latin typeface="Times New Roman" panose="02020603050405020304" pitchFamily="18" charset="0"/>
                </a:rPr>
                <a:t>insert(B)</a:t>
              </a:r>
            </a:p>
            <a:p>
              <a:r>
                <a:rPr lang="en-US" dirty="0">
                  <a:latin typeface="Times New Roman" panose="02020603050405020304" pitchFamily="18" charset="0"/>
                </a:rPr>
                <a:t>remove</a:t>
              </a:r>
            </a:p>
            <a:p>
              <a:r>
                <a:rPr lang="en-US" dirty="0">
                  <a:latin typeface="Times New Roman" panose="02020603050405020304" pitchFamily="18" charset="0"/>
                </a:rPr>
                <a:t>insert(C)</a:t>
              </a:r>
            </a:p>
            <a:p>
              <a:r>
                <a:rPr lang="en-US" dirty="0">
                  <a:latin typeface="Times New Roman" panose="02020603050405020304" pitchFamily="18" charset="0"/>
                </a:rPr>
                <a:t>remove</a:t>
              </a:r>
            </a:p>
            <a:p>
              <a:r>
                <a:rPr lang="en-US" dirty="0">
                  <a:latin typeface="Times New Roman" panose="02020603050405020304" pitchFamily="18" charset="0"/>
                </a:rPr>
                <a:t>remove</a:t>
              </a:r>
            </a:p>
          </p:txBody>
        </p:sp>
        <p:sp>
          <p:nvSpPr>
            <p:cNvPr id="68" name="TextBox 67">
              <a:extLst>
                <a:ext uri="{FF2B5EF4-FFF2-40B4-BE49-F238E27FC236}">
                  <a16:creationId xmlns:a16="http://schemas.microsoft.com/office/drawing/2014/main" id="{8D719274-5F4A-421D-A571-F00231FCE22B}"/>
                </a:ext>
              </a:extLst>
            </p:cNvPr>
            <p:cNvSpPr txBox="1"/>
            <p:nvPr/>
          </p:nvSpPr>
          <p:spPr>
            <a:xfrm>
              <a:off x="3229998" y="2355560"/>
              <a:ext cx="1085248" cy="400110"/>
            </a:xfrm>
            <a:prstGeom prst="rect">
              <a:avLst/>
            </a:prstGeom>
            <a:noFill/>
          </p:spPr>
          <p:txBody>
            <a:bodyPr wrap="square" rtlCol="0">
              <a:spAutoFit/>
            </a:bodyPr>
            <a:lstStyle/>
            <a:p>
              <a:r>
                <a:rPr lang="en-US" sz="2000" dirty="0">
                  <a:latin typeface="Times New Roman" panose="02020603050405020304" pitchFamily="18" charset="0"/>
                </a:rPr>
                <a:t>Seq. #3</a:t>
              </a:r>
            </a:p>
          </p:txBody>
        </p:sp>
      </p:grpSp>
      <p:sp>
        <p:nvSpPr>
          <p:cNvPr id="83" name="TextBox 82">
            <a:extLst>
              <a:ext uri="{FF2B5EF4-FFF2-40B4-BE49-F238E27FC236}">
                <a16:creationId xmlns:a16="http://schemas.microsoft.com/office/drawing/2014/main" id="{777B322A-4FC2-4C1B-9BD0-D2D5CA2228D5}"/>
              </a:ext>
            </a:extLst>
          </p:cNvPr>
          <p:cNvSpPr txBox="1"/>
          <p:nvPr/>
        </p:nvSpPr>
        <p:spPr>
          <a:xfrm>
            <a:off x="8367992" y="2350166"/>
            <a:ext cx="1615044" cy="461665"/>
          </a:xfrm>
          <a:prstGeom prst="rect">
            <a:avLst/>
          </a:prstGeom>
          <a:noFill/>
        </p:spPr>
        <p:txBody>
          <a:bodyPr wrap="square" rtlCol="0">
            <a:spAutoFit/>
          </a:bodyPr>
          <a:lstStyle/>
          <a:p>
            <a:pPr algn="ctr"/>
            <a:r>
              <a:rPr lang="en-US" sz="2400" dirty="0">
                <a:latin typeface="Times New Roman" panose="02020603050405020304" pitchFamily="18" charset="0"/>
              </a:rPr>
              <a:t>Results</a:t>
            </a:r>
          </a:p>
        </p:txBody>
      </p:sp>
      <p:sp>
        <p:nvSpPr>
          <p:cNvPr id="84" name="The easy question">
            <a:extLst>
              <a:ext uri="{FF2B5EF4-FFF2-40B4-BE49-F238E27FC236}">
                <a16:creationId xmlns:a16="http://schemas.microsoft.com/office/drawing/2014/main" id="{2518A656-51B7-4DC1-B3E6-3BDD14926CC7}"/>
              </a:ext>
            </a:extLst>
          </p:cNvPr>
          <p:cNvSpPr/>
          <p:nvPr/>
        </p:nvSpPr>
        <p:spPr bwMode="auto">
          <a:xfrm>
            <a:off x="8188296" y="527847"/>
            <a:ext cx="3589480" cy="1642684"/>
          </a:xfrm>
          <a:prstGeom prst="roundRect">
            <a:avLst/>
          </a:prstGeom>
          <a:solidFill>
            <a:srgbClr val="00B0F0"/>
          </a:solidFill>
          <a:ln w="1270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a:scene3d>
            <a:camera prst="orthographicFront"/>
            <a:lightRig rig="threePt" dir="t"/>
          </a:scene3d>
          <a:sp3d>
            <a:bevelT/>
          </a:sp3d>
        </p:spPr>
        <p:txBody>
          <a:bodyPr vert="horz" wrap="square" lIns="91440" tIns="45720" rIns="91440" bIns="45720" numCol="1" rtlCol="0" anchor="ctr" anchorCtr="0" compatLnSpc="1">
            <a:prstTxWarp prst="textNoShape">
              <a:avLst/>
            </a:prstTxWarp>
          </a:bodyPr>
          <a:lstStyle/>
          <a:p>
            <a:pPr defTabSz="914400" eaLnBrk="0" fontAlgn="base" hangingPunct="0">
              <a:spcBef>
                <a:spcPct val="0"/>
              </a:spcBef>
              <a:spcAft>
                <a:spcPct val="0"/>
              </a:spcAft>
            </a:pPr>
            <a:r>
              <a:rPr lang="en-US" dirty="0">
                <a:latin typeface="Times New Roman" panose="02020603050405020304" pitchFamily="18" charset="0"/>
              </a:rPr>
              <a:t>The question:  Is there a permutation of these three ordered inputs (A , then B, then C) that a stack </a:t>
            </a:r>
            <a:r>
              <a:rPr lang="en-US" i="1" dirty="0">
                <a:latin typeface="Times New Roman" panose="02020603050405020304" pitchFamily="18" charset="0"/>
              </a:rPr>
              <a:t>can’t </a:t>
            </a:r>
            <a:r>
              <a:rPr lang="en-US" dirty="0">
                <a:latin typeface="Times New Roman" panose="02020603050405020304" pitchFamily="18" charset="0"/>
              </a:rPr>
              <a:t>produce?</a:t>
            </a:r>
          </a:p>
        </p:txBody>
      </p:sp>
      <p:sp>
        <p:nvSpPr>
          <p:cNvPr id="71" name="title">
            <a:extLst>
              <a:ext uri="{FF2B5EF4-FFF2-40B4-BE49-F238E27FC236}">
                <a16:creationId xmlns:a16="http://schemas.microsoft.com/office/drawing/2014/main" id="{0DB68477-E56B-48F4-80B8-3B509C878F7E}"/>
              </a:ext>
            </a:extLst>
          </p:cNvPr>
          <p:cNvSpPr txBox="1">
            <a:spLocks noChangeArrowheads="1"/>
          </p:cNvSpPr>
          <p:nvPr/>
        </p:nvSpPr>
        <p:spPr bwMode="auto">
          <a:xfrm>
            <a:off x="-89456" y="713491"/>
            <a:ext cx="8229600" cy="762000"/>
          </a:xfrm>
          <a:prstGeom prst="rect">
            <a:avLst/>
          </a:prstGeom>
          <a:noFill/>
          <a:ln w="12700">
            <a:noFill/>
            <a:miter lim="800000"/>
            <a:headEnd/>
            <a:tailEnd/>
          </a:ln>
          <a:effectLst/>
        </p:spPr>
        <p:txBody>
          <a:bodyPr vert="horz" wrap="square" lIns="0" tIns="0" rIns="0" bIns="0" numCol="1" anchor="ctr" anchorCtr="0" compatLnSpc="1">
            <a:prstTxWarp prst="textNoShape">
              <a:avLst/>
            </a:prstTxWarp>
          </a:bodyPr>
          <a:lstStyle>
            <a:lvl1pPr algn="ctr" rtl="0" eaLnBrk="1" fontAlgn="base" hangingPunct="1">
              <a:lnSpc>
                <a:spcPts val="3600"/>
              </a:lnSpc>
              <a:spcBef>
                <a:spcPct val="0"/>
              </a:spcBef>
              <a:spcAft>
                <a:spcPct val="0"/>
              </a:spcAft>
              <a:defRPr sz="3600" b="1">
                <a:solidFill>
                  <a:srgbClr val="004800"/>
                </a:solidFill>
                <a:effectLst>
                  <a:outerShdw blurRad="38100" dist="38100" dir="2700000" algn="tl">
                    <a:srgbClr val="000000">
                      <a:alpha val="43137"/>
                    </a:srgbClr>
                  </a:outerShdw>
                </a:effectLst>
                <a:latin typeface="+mj-lt"/>
                <a:ea typeface="+mj-ea"/>
                <a:cs typeface="+mj-cs"/>
              </a:defRPr>
            </a:lvl1pPr>
            <a:lvl2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2pPr>
            <a:lvl3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3pPr>
            <a:lvl4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4pPr>
            <a:lvl5pPr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5pPr>
            <a:lvl6pPr marL="4572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6pPr>
            <a:lvl7pPr marL="9144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7pPr>
            <a:lvl8pPr marL="13716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8pPr>
            <a:lvl9pPr marL="1828800" algn="ctr" rtl="0" eaLnBrk="1" fontAlgn="base" hangingPunct="1">
              <a:spcBef>
                <a:spcPct val="0"/>
              </a:spcBef>
              <a:spcAft>
                <a:spcPct val="0"/>
              </a:spcAft>
              <a:defRPr sz="3600" b="1">
                <a:solidFill>
                  <a:srgbClr val="006600"/>
                </a:solidFill>
                <a:effectLst>
                  <a:outerShdw blurRad="38100" dist="38100" dir="2700000" algn="tl">
                    <a:srgbClr val="000000"/>
                  </a:outerShdw>
                </a:effectLst>
                <a:latin typeface="Arial" charset="0"/>
              </a:defRPr>
            </a:lvl9p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sz="3200" kern="0" dirty="0">
                <a:solidFill>
                  <a:schemeClr val="bg1"/>
                </a:solidFill>
                <a:latin typeface="Times New Roman" panose="02020603050405020304" pitchFamily="18" charset="0"/>
              </a:rPr>
              <a:t>An Interesting Abstract Property:  Permutations of Inputs</a:t>
            </a:r>
          </a:p>
        </p:txBody>
      </p:sp>
      <p:grpSp>
        <p:nvGrpSpPr>
          <p:cNvPr id="75" name="seq1 results">
            <a:extLst>
              <a:ext uri="{FF2B5EF4-FFF2-40B4-BE49-F238E27FC236}">
                <a16:creationId xmlns:a16="http://schemas.microsoft.com/office/drawing/2014/main" id="{5A3DBEC0-C808-4A84-8B4D-D926C6750658}"/>
              </a:ext>
            </a:extLst>
          </p:cNvPr>
          <p:cNvGrpSpPr/>
          <p:nvPr/>
        </p:nvGrpSpPr>
        <p:grpSpPr>
          <a:xfrm>
            <a:off x="7631687" y="2822716"/>
            <a:ext cx="2919275" cy="684803"/>
            <a:chOff x="6120805" y="2822715"/>
            <a:chExt cx="2919275" cy="684803"/>
          </a:xfrm>
        </p:grpSpPr>
        <p:sp>
          <p:nvSpPr>
            <p:cNvPr id="76" name="TextBox 75">
              <a:extLst>
                <a:ext uri="{FF2B5EF4-FFF2-40B4-BE49-F238E27FC236}">
                  <a16:creationId xmlns:a16="http://schemas.microsoft.com/office/drawing/2014/main" id="{A1B2AD58-8394-4BCD-A9A0-78CBF4FF2732}"/>
                </a:ext>
              </a:extLst>
            </p:cNvPr>
            <p:cNvSpPr txBox="1"/>
            <p:nvPr/>
          </p:nvSpPr>
          <p:spPr>
            <a:xfrm>
              <a:off x="8098448" y="2822715"/>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77" name="TextBox 76">
              <a:extLst>
                <a:ext uri="{FF2B5EF4-FFF2-40B4-BE49-F238E27FC236}">
                  <a16:creationId xmlns:a16="http://schemas.microsoft.com/office/drawing/2014/main" id="{E20AB1C6-1EBD-4076-94C5-F44C08279B47}"/>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#1</a:t>
              </a:r>
            </a:p>
          </p:txBody>
        </p:sp>
      </p:grpSp>
      <p:grpSp>
        <p:nvGrpSpPr>
          <p:cNvPr id="78" name="seq2 results">
            <a:extLst>
              <a:ext uri="{FF2B5EF4-FFF2-40B4-BE49-F238E27FC236}">
                <a16:creationId xmlns:a16="http://schemas.microsoft.com/office/drawing/2014/main" id="{B1BA0ABF-6414-474F-9326-83A56DBE725D}"/>
              </a:ext>
            </a:extLst>
          </p:cNvPr>
          <p:cNvGrpSpPr/>
          <p:nvPr/>
        </p:nvGrpSpPr>
        <p:grpSpPr>
          <a:xfrm>
            <a:off x="7631687" y="3712372"/>
            <a:ext cx="2919275" cy="684803"/>
            <a:chOff x="6120805" y="2822715"/>
            <a:chExt cx="2919275" cy="684803"/>
          </a:xfrm>
        </p:grpSpPr>
        <p:sp>
          <p:nvSpPr>
            <p:cNvPr id="86" name="TextBox 85">
              <a:extLst>
                <a:ext uri="{FF2B5EF4-FFF2-40B4-BE49-F238E27FC236}">
                  <a16:creationId xmlns:a16="http://schemas.microsoft.com/office/drawing/2014/main" id="{7DFE27DB-3FC4-4DA5-B3A4-0BE9C16E6262}"/>
                </a:ext>
              </a:extLst>
            </p:cNvPr>
            <p:cNvSpPr txBox="1"/>
            <p:nvPr/>
          </p:nvSpPr>
          <p:spPr>
            <a:xfrm>
              <a:off x="8098448" y="2822715"/>
              <a:ext cx="941632" cy="684803"/>
            </a:xfrm>
            <a:prstGeom prst="rect">
              <a:avLst/>
            </a:prstGeom>
            <a:noFill/>
          </p:spPr>
          <p:txBody>
            <a:bodyPr wrap="square" rtlCol="0">
              <a:spAutoFit/>
            </a:bodyPr>
            <a:lstStyle/>
            <a:p>
              <a:r>
                <a:rPr lang="en-US" dirty="0">
                  <a:latin typeface="Times New Roman" panose="02020603050405020304" pitchFamily="18" charset="0"/>
                </a:rPr>
                <a:t>stack</a:t>
              </a:r>
            </a:p>
            <a:p>
              <a:pPr>
                <a:spcBef>
                  <a:spcPts val="300"/>
                </a:spcBef>
              </a:pPr>
              <a:r>
                <a:rPr lang="en-US" dirty="0">
                  <a:latin typeface="Times New Roman" panose="02020603050405020304" pitchFamily="18" charset="0"/>
                </a:rPr>
                <a:t>queue</a:t>
              </a:r>
            </a:p>
          </p:txBody>
        </p:sp>
        <p:sp>
          <p:nvSpPr>
            <p:cNvPr id="87" name="TextBox 86">
              <a:extLst>
                <a:ext uri="{FF2B5EF4-FFF2-40B4-BE49-F238E27FC236}">
                  <a16:creationId xmlns:a16="http://schemas.microsoft.com/office/drawing/2014/main" id="{6415789E-C588-403F-9C55-A02783106068}"/>
                </a:ext>
              </a:extLst>
            </p:cNvPr>
            <p:cNvSpPr txBox="1"/>
            <p:nvPr/>
          </p:nvSpPr>
          <p:spPr>
            <a:xfrm>
              <a:off x="6120805" y="2965061"/>
              <a:ext cx="1058872" cy="400110"/>
            </a:xfrm>
            <a:prstGeom prst="rect">
              <a:avLst/>
            </a:prstGeom>
            <a:noFill/>
          </p:spPr>
          <p:txBody>
            <a:bodyPr wrap="square" rtlCol="0">
              <a:spAutoFit/>
            </a:bodyPr>
            <a:lstStyle/>
            <a:p>
              <a:r>
                <a:rPr lang="en-US" sz="2000" dirty="0">
                  <a:latin typeface="Times New Roman" panose="02020603050405020304" pitchFamily="18" charset="0"/>
                </a:rPr>
                <a:t>Seq. #2</a:t>
              </a:r>
            </a:p>
          </p:txBody>
        </p:sp>
      </p:grpSp>
    </p:spTree>
    <p:extLst>
      <p:ext uri="{BB962C8B-B14F-4D97-AF65-F5344CB8AC3E}">
        <p14:creationId xmlns:p14="http://schemas.microsoft.com/office/powerpoint/2010/main" val="4259856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CEB25-34B2-97C3-9128-574E916629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41B3F-2FBC-778B-4E36-61E9968B3BDD}"/>
              </a:ext>
            </a:extLst>
          </p:cNvPr>
          <p:cNvSpPr>
            <a:spLocks noGrp="1"/>
          </p:cNvSpPr>
          <p:nvPr>
            <p:ph idx="1"/>
          </p:nvPr>
        </p:nvSpPr>
        <p:spPr>
          <a:xfrm>
            <a:off x="504622" y="1914714"/>
            <a:ext cx="8246920" cy="4765964"/>
          </a:xfrm>
        </p:spPr>
        <p:txBody>
          <a:bodyPr anchor="t" anchorCtr="0">
            <a:normAutofit/>
          </a:bodyPr>
          <a:lstStyle/>
          <a:p>
            <a:pPr marL="0" indent="0">
              <a:buNone/>
            </a:pPr>
            <a:r>
              <a:rPr lang="en-US" sz="3600" dirty="0"/>
              <a:t>#include &lt;</a:t>
            </a:r>
            <a:r>
              <a:rPr lang="en-US" sz="3600" dirty="0" err="1"/>
              <a:t>stdio.h</a:t>
            </a:r>
            <a:r>
              <a:rPr lang="en-US" sz="3600" dirty="0"/>
              <a:t>&gt;</a:t>
            </a:r>
          </a:p>
          <a:p>
            <a:pPr marL="0" indent="0">
              <a:buNone/>
            </a:pPr>
            <a:r>
              <a:rPr lang="en-US" sz="3600" dirty="0"/>
              <a:t>struct stack{</a:t>
            </a:r>
          </a:p>
          <a:p>
            <a:pPr marL="0" indent="0">
              <a:buNone/>
            </a:pPr>
            <a:r>
              <a:rPr lang="en-US" sz="3600" dirty="0"/>
              <a:t>   int num[100];</a:t>
            </a:r>
          </a:p>
          <a:p>
            <a:pPr marL="0" indent="0">
              <a:buNone/>
            </a:pPr>
            <a:r>
              <a:rPr lang="en-US" sz="3600" dirty="0"/>
              <a:t>   int top;</a:t>
            </a:r>
          </a:p>
          <a:p>
            <a:pPr marL="0" indent="0">
              <a:buNone/>
            </a:pPr>
            <a:r>
              <a:rPr lang="en-US" sz="3600" dirty="0"/>
              <a:t>};</a:t>
            </a:r>
          </a:p>
          <a:p>
            <a:pPr marL="0" indent="0">
              <a:buNone/>
            </a:pPr>
            <a:endParaRPr lang="en-US" dirty="0"/>
          </a:p>
        </p:txBody>
      </p:sp>
      <p:sp>
        <p:nvSpPr>
          <p:cNvPr id="5" name="TextBox 4">
            <a:extLst>
              <a:ext uri="{FF2B5EF4-FFF2-40B4-BE49-F238E27FC236}">
                <a16:creationId xmlns:a16="http://schemas.microsoft.com/office/drawing/2014/main" id="{293998F1-673C-83D6-C621-0322139B3CBF}"/>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2" name="Rectangle 1">
            <a:extLst>
              <a:ext uri="{FF2B5EF4-FFF2-40B4-BE49-F238E27FC236}">
                <a16:creationId xmlns:a16="http://schemas.microsoft.com/office/drawing/2014/main" id="{B2DFFE04-493C-9D43-FF34-D265F28D9D21}"/>
              </a:ext>
            </a:extLst>
          </p:cNvPr>
          <p:cNvSpPr/>
          <p:nvPr/>
        </p:nvSpPr>
        <p:spPr>
          <a:xfrm>
            <a:off x="4470400" y="1914714"/>
            <a:ext cx="3251200" cy="2501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How can we change our implementation to behave like a queue?</a:t>
            </a:r>
          </a:p>
        </p:txBody>
      </p:sp>
    </p:spTree>
    <p:extLst>
      <p:ext uri="{BB962C8B-B14F-4D97-AF65-F5344CB8AC3E}">
        <p14:creationId xmlns:p14="http://schemas.microsoft.com/office/powerpoint/2010/main" val="1826577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C5514-D4E0-BB84-67B0-66ACB7CDB3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F845DC-CFDC-3DFB-B19C-E49FD57EA9C1}"/>
              </a:ext>
            </a:extLst>
          </p:cNvPr>
          <p:cNvSpPr>
            <a:spLocks noGrp="1"/>
          </p:cNvSpPr>
          <p:nvPr>
            <p:ph idx="1"/>
          </p:nvPr>
        </p:nvSpPr>
        <p:spPr>
          <a:xfrm>
            <a:off x="479222" y="1863914"/>
            <a:ext cx="8246920" cy="4765964"/>
          </a:xfrm>
        </p:spPr>
        <p:txBody>
          <a:bodyPr anchor="t" anchorCtr="0">
            <a:normAutofit/>
          </a:bodyPr>
          <a:lstStyle/>
          <a:p>
            <a:pPr marL="0" indent="0">
              <a:buNone/>
            </a:pPr>
            <a:r>
              <a:rPr lang="en-US" sz="3600" dirty="0"/>
              <a:t>#include &lt;</a:t>
            </a:r>
            <a:r>
              <a:rPr lang="en-US" sz="3600" dirty="0" err="1"/>
              <a:t>stdio.h</a:t>
            </a:r>
            <a:r>
              <a:rPr lang="en-US" sz="3600" dirty="0"/>
              <a:t>&gt;</a:t>
            </a:r>
          </a:p>
          <a:p>
            <a:pPr marL="0" indent="0">
              <a:buNone/>
            </a:pPr>
            <a:r>
              <a:rPr lang="en-US" sz="3600" dirty="0"/>
              <a:t>struct queue{</a:t>
            </a:r>
          </a:p>
          <a:p>
            <a:pPr marL="0" indent="0">
              <a:buNone/>
            </a:pPr>
            <a:r>
              <a:rPr lang="en-US" sz="3600" dirty="0"/>
              <a:t>   int num[100];</a:t>
            </a:r>
            <a:br>
              <a:rPr lang="en-US" sz="3600" dirty="0"/>
            </a:br>
            <a:r>
              <a:rPr lang="en-US" sz="3600" dirty="0"/>
              <a:t>   </a:t>
            </a:r>
            <a:r>
              <a:rPr lang="en-US" sz="3600" dirty="0">
                <a:solidFill>
                  <a:srgbClr val="0070C0"/>
                </a:solidFill>
              </a:rPr>
              <a:t>int front;</a:t>
            </a:r>
            <a:br>
              <a:rPr lang="en-US" sz="3600" dirty="0">
                <a:solidFill>
                  <a:srgbClr val="0070C0"/>
                </a:solidFill>
              </a:rPr>
            </a:br>
            <a:r>
              <a:rPr lang="en-US" sz="3600" dirty="0">
                <a:solidFill>
                  <a:srgbClr val="0070C0"/>
                </a:solidFill>
              </a:rPr>
              <a:t>   int back;</a:t>
            </a:r>
            <a:br>
              <a:rPr lang="en-US" sz="3600" dirty="0">
                <a:solidFill>
                  <a:srgbClr val="0070C0"/>
                </a:solidFill>
              </a:rPr>
            </a:br>
            <a:r>
              <a:rPr lang="en-US" sz="3600" dirty="0">
                <a:solidFill>
                  <a:srgbClr val="0070C0"/>
                </a:solidFill>
              </a:rPr>
              <a:t>   int count;</a:t>
            </a:r>
          </a:p>
          <a:p>
            <a:pPr marL="0" indent="0">
              <a:buNone/>
            </a:pPr>
            <a:r>
              <a:rPr lang="en-US" sz="3600" dirty="0"/>
              <a:t>};</a:t>
            </a:r>
          </a:p>
          <a:p>
            <a:pPr marL="0" indent="0">
              <a:buNone/>
            </a:pPr>
            <a:endParaRPr lang="en-US" dirty="0"/>
          </a:p>
        </p:txBody>
      </p:sp>
      <p:sp>
        <p:nvSpPr>
          <p:cNvPr id="5" name="TextBox 4">
            <a:extLst>
              <a:ext uri="{FF2B5EF4-FFF2-40B4-BE49-F238E27FC236}">
                <a16:creationId xmlns:a16="http://schemas.microsoft.com/office/drawing/2014/main" id="{5A2D7775-4CD1-F825-A70D-99675BD068F2}"/>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2" name="Rectangle 1">
            <a:extLst>
              <a:ext uri="{FF2B5EF4-FFF2-40B4-BE49-F238E27FC236}">
                <a16:creationId xmlns:a16="http://schemas.microsoft.com/office/drawing/2014/main" id="{84553155-473E-D36E-BF95-6749257F2797}"/>
              </a:ext>
            </a:extLst>
          </p:cNvPr>
          <p:cNvSpPr/>
          <p:nvPr/>
        </p:nvSpPr>
        <p:spPr>
          <a:xfrm>
            <a:off x="4724400" y="2130614"/>
            <a:ext cx="6502400" cy="38510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One possible implementation is to keep track of the front and back of the queue.  Instead of removing something from the queue and re-positioning everything, just update indices.</a:t>
            </a:r>
          </a:p>
        </p:txBody>
      </p:sp>
    </p:spTree>
    <p:extLst>
      <p:ext uri="{BB962C8B-B14F-4D97-AF65-F5344CB8AC3E}">
        <p14:creationId xmlns:p14="http://schemas.microsoft.com/office/powerpoint/2010/main" val="2086453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A8BF-4E18-BE70-1AA5-AF59B263FF9B}"/>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5DB61FA-3EF6-7F31-408E-18144B577D27}"/>
              </a:ext>
            </a:extLst>
          </p:cNvPr>
          <p:cNvGraphicFramePr>
            <a:graphicFrameLocks noGrp="1"/>
          </p:cNvGraphicFramePr>
          <p:nvPr>
            <p:ph idx="1"/>
            <p:extLst>
              <p:ext uri="{D42A27DB-BD31-4B8C-83A1-F6EECF244321}">
                <p14:modId xmlns:p14="http://schemas.microsoft.com/office/powerpoint/2010/main" val="461879891"/>
              </p:ext>
            </p:extLst>
          </p:nvPr>
        </p:nvGraphicFramePr>
        <p:xfrm>
          <a:off x="620232" y="1990725"/>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7268686"/>
                  </a:ext>
                </a:extLst>
              </a:tr>
            </a:tbl>
          </a:graphicData>
        </a:graphic>
      </p:graphicFrame>
      <p:sp>
        <p:nvSpPr>
          <p:cNvPr id="5" name="TextBox 4">
            <a:extLst>
              <a:ext uri="{FF2B5EF4-FFF2-40B4-BE49-F238E27FC236}">
                <a16:creationId xmlns:a16="http://schemas.microsoft.com/office/drawing/2014/main" id="{4EE7D1E2-7755-E069-CFD5-5EBD4E8A9219}"/>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6" name="TextBox 5">
            <a:extLst>
              <a:ext uri="{FF2B5EF4-FFF2-40B4-BE49-F238E27FC236}">
                <a16:creationId xmlns:a16="http://schemas.microsoft.com/office/drawing/2014/main" id="{A76116AC-DA3D-2203-9E0F-2786F7DCAB02}"/>
              </a:ext>
            </a:extLst>
          </p:cNvPr>
          <p:cNvSpPr txBox="1"/>
          <p:nvPr/>
        </p:nvSpPr>
        <p:spPr>
          <a:xfrm>
            <a:off x="620232" y="2397867"/>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a:t>
            </a:r>
            <a:r>
              <a:rPr lang="en-US">
                <a:latin typeface="Times New Roman" panose="02020603050405020304" pitchFamily="18" charset="0"/>
                <a:cs typeface="Times New Roman" panose="02020603050405020304" pitchFamily="18" charset="0"/>
              </a:rPr>
              <a:t>: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-1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0 </a:t>
            </a:r>
          </a:p>
        </p:txBody>
      </p:sp>
      <p:sp>
        <p:nvSpPr>
          <p:cNvPr id="7" name="TextBox 6">
            <a:extLst>
              <a:ext uri="{FF2B5EF4-FFF2-40B4-BE49-F238E27FC236}">
                <a16:creationId xmlns:a16="http://schemas.microsoft.com/office/drawing/2014/main" id="{2312B103-7B1D-F644-36FF-AF616039A238}"/>
              </a:ext>
            </a:extLst>
          </p:cNvPr>
          <p:cNvSpPr txBox="1"/>
          <p:nvPr/>
        </p:nvSpPr>
        <p:spPr>
          <a:xfrm>
            <a:off x="2423633" y="2554518"/>
            <a:ext cx="1803401" cy="523220"/>
          </a:xfrm>
          <a:prstGeom prst="rect">
            <a:avLst/>
          </a:prstGeom>
          <a:noFill/>
        </p:spPr>
        <p:txBody>
          <a:bodyPr wrap="square" rtlCol="0">
            <a:spAutoFit/>
          </a:bodyPr>
          <a:lstStyle/>
          <a:p>
            <a:r>
              <a:rPr lang="en-US" sz="2800" dirty="0">
                <a:solidFill>
                  <a:srgbClr val="0070C0"/>
                </a:solidFill>
                <a:latin typeface="Times New Roman" panose="02020603050405020304" pitchFamily="18" charset="0"/>
                <a:cs typeface="Times New Roman" panose="02020603050405020304" pitchFamily="18" charset="0"/>
              </a:rPr>
              <a:t>Insert 10</a:t>
            </a:r>
          </a:p>
        </p:txBody>
      </p:sp>
      <p:graphicFrame>
        <p:nvGraphicFramePr>
          <p:cNvPr id="8" name="Content Placeholder 3">
            <a:extLst>
              <a:ext uri="{FF2B5EF4-FFF2-40B4-BE49-F238E27FC236}">
                <a16:creationId xmlns:a16="http://schemas.microsoft.com/office/drawing/2014/main" id="{837E5D6F-02EE-C379-71CA-38DF2C05E520}"/>
              </a:ext>
            </a:extLst>
          </p:cNvPr>
          <p:cNvGraphicFramePr>
            <a:graphicFrameLocks/>
          </p:cNvGraphicFramePr>
          <p:nvPr>
            <p:extLst>
              <p:ext uri="{D42A27DB-BD31-4B8C-83A1-F6EECF244321}">
                <p14:modId xmlns:p14="http://schemas.microsoft.com/office/powerpoint/2010/main" val="1044645955"/>
              </p:ext>
            </p:extLst>
          </p:nvPr>
        </p:nvGraphicFramePr>
        <p:xfrm>
          <a:off x="592765" y="3351384"/>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latin typeface="Times New Roman" panose="02020603050405020304" pitchFamily="18" charset="0"/>
                          <a:cs typeface="Times New Roman" panose="02020603050405020304" pitchFamily="18" charset="0"/>
                        </a:rPr>
                        <a:t>10</a:t>
                      </a: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7268686"/>
                  </a:ext>
                </a:extLst>
              </a:tr>
            </a:tbl>
          </a:graphicData>
        </a:graphic>
      </p:graphicFrame>
      <p:sp>
        <p:nvSpPr>
          <p:cNvPr id="9" name="TextBox 8">
            <a:extLst>
              <a:ext uri="{FF2B5EF4-FFF2-40B4-BE49-F238E27FC236}">
                <a16:creationId xmlns:a16="http://schemas.microsoft.com/office/drawing/2014/main" id="{2EE9349A-FD95-63AA-74F4-B5C115844EBD}"/>
              </a:ext>
            </a:extLst>
          </p:cNvPr>
          <p:cNvSpPr txBox="1"/>
          <p:nvPr/>
        </p:nvSpPr>
        <p:spPr>
          <a:xfrm>
            <a:off x="592765" y="3758526"/>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1</a:t>
            </a:r>
          </a:p>
        </p:txBody>
      </p:sp>
      <p:sp>
        <p:nvSpPr>
          <p:cNvPr id="10" name="TextBox 9">
            <a:extLst>
              <a:ext uri="{FF2B5EF4-FFF2-40B4-BE49-F238E27FC236}">
                <a16:creationId xmlns:a16="http://schemas.microsoft.com/office/drawing/2014/main" id="{96DEC273-95ED-5727-89DF-80AABCDD153E}"/>
              </a:ext>
            </a:extLst>
          </p:cNvPr>
          <p:cNvSpPr txBox="1"/>
          <p:nvPr/>
        </p:nvSpPr>
        <p:spPr>
          <a:xfrm>
            <a:off x="2281863" y="3820081"/>
            <a:ext cx="1803401" cy="523220"/>
          </a:xfrm>
          <a:prstGeom prst="rect">
            <a:avLst/>
          </a:prstGeom>
          <a:noFill/>
        </p:spPr>
        <p:txBody>
          <a:bodyPr wrap="square" rtlCol="0">
            <a:spAutoFit/>
          </a:bodyPr>
          <a:lstStyle/>
          <a:p>
            <a:r>
              <a:rPr lang="en-US" sz="2800" dirty="0">
                <a:solidFill>
                  <a:srgbClr val="0070C0"/>
                </a:solidFill>
                <a:latin typeface="Times New Roman" panose="02020603050405020304" pitchFamily="18" charset="0"/>
                <a:cs typeface="Times New Roman" panose="02020603050405020304" pitchFamily="18" charset="0"/>
              </a:rPr>
              <a:t>Insert 20</a:t>
            </a:r>
          </a:p>
        </p:txBody>
      </p:sp>
      <p:graphicFrame>
        <p:nvGraphicFramePr>
          <p:cNvPr id="11" name="Content Placeholder 3">
            <a:extLst>
              <a:ext uri="{FF2B5EF4-FFF2-40B4-BE49-F238E27FC236}">
                <a16:creationId xmlns:a16="http://schemas.microsoft.com/office/drawing/2014/main" id="{8CF6AC04-D771-FC6D-3C9B-42C9C6FF30F1}"/>
              </a:ext>
            </a:extLst>
          </p:cNvPr>
          <p:cNvGraphicFramePr>
            <a:graphicFrameLocks/>
          </p:cNvGraphicFramePr>
          <p:nvPr>
            <p:extLst>
              <p:ext uri="{D42A27DB-BD31-4B8C-83A1-F6EECF244321}">
                <p14:modId xmlns:p14="http://schemas.microsoft.com/office/powerpoint/2010/main" val="2566939373"/>
              </p:ext>
            </p:extLst>
          </p:nvPr>
        </p:nvGraphicFramePr>
        <p:xfrm>
          <a:off x="592765" y="4623779"/>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7268686"/>
                  </a:ext>
                </a:extLst>
              </a:tr>
            </a:tbl>
          </a:graphicData>
        </a:graphic>
      </p:graphicFrame>
      <p:sp>
        <p:nvSpPr>
          <p:cNvPr id="12" name="TextBox 11">
            <a:extLst>
              <a:ext uri="{FF2B5EF4-FFF2-40B4-BE49-F238E27FC236}">
                <a16:creationId xmlns:a16="http://schemas.microsoft.com/office/drawing/2014/main" id="{EDD603FB-9A2C-FCAC-27BB-F5ED6FC92AB9}"/>
              </a:ext>
            </a:extLst>
          </p:cNvPr>
          <p:cNvSpPr txBox="1"/>
          <p:nvPr/>
        </p:nvSpPr>
        <p:spPr>
          <a:xfrm>
            <a:off x="592765" y="5030921"/>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2</a:t>
            </a:r>
          </a:p>
        </p:txBody>
      </p:sp>
      <p:sp>
        <p:nvSpPr>
          <p:cNvPr id="13" name="TextBox 12">
            <a:extLst>
              <a:ext uri="{FF2B5EF4-FFF2-40B4-BE49-F238E27FC236}">
                <a16:creationId xmlns:a16="http://schemas.microsoft.com/office/drawing/2014/main" id="{5DEDEB8F-79B8-BEF7-088D-4F26FA5D2695}"/>
              </a:ext>
            </a:extLst>
          </p:cNvPr>
          <p:cNvSpPr txBox="1"/>
          <p:nvPr/>
        </p:nvSpPr>
        <p:spPr>
          <a:xfrm>
            <a:off x="2281863" y="4994619"/>
            <a:ext cx="1803401" cy="523220"/>
          </a:xfrm>
          <a:prstGeom prst="rect">
            <a:avLst/>
          </a:prstGeom>
          <a:noFill/>
        </p:spPr>
        <p:txBody>
          <a:bodyPr wrap="square" rtlCol="0">
            <a:spAutoFit/>
          </a:bodyPr>
          <a:lstStyle/>
          <a:p>
            <a:r>
              <a:rPr lang="en-US" sz="2800" dirty="0">
                <a:solidFill>
                  <a:srgbClr val="0070C0"/>
                </a:solidFill>
                <a:latin typeface="Times New Roman" panose="02020603050405020304" pitchFamily="18" charset="0"/>
                <a:cs typeface="Times New Roman" panose="02020603050405020304" pitchFamily="18" charset="0"/>
              </a:rPr>
              <a:t>Insert 9</a:t>
            </a:r>
          </a:p>
        </p:txBody>
      </p:sp>
      <p:graphicFrame>
        <p:nvGraphicFramePr>
          <p:cNvPr id="14" name="Content Placeholder 3">
            <a:extLst>
              <a:ext uri="{FF2B5EF4-FFF2-40B4-BE49-F238E27FC236}">
                <a16:creationId xmlns:a16="http://schemas.microsoft.com/office/drawing/2014/main" id="{2B686441-2DFB-D949-E7C4-590CDF3C45B5}"/>
              </a:ext>
            </a:extLst>
          </p:cNvPr>
          <p:cNvGraphicFramePr>
            <a:graphicFrameLocks/>
          </p:cNvGraphicFramePr>
          <p:nvPr>
            <p:extLst>
              <p:ext uri="{D42A27DB-BD31-4B8C-83A1-F6EECF244321}">
                <p14:modId xmlns:p14="http://schemas.microsoft.com/office/powerpoint/2010/main" val="924717432"/>
              </p:ext>
            </p:extLst>
          </p:nvPr>
        </p:nvGraphicFramePr>
        <p:xfrm>
          <a:off x="6523665" y="2027027"/>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07268686"/>
                  </a:ext>
                </a:extLst>
              </a:tr>
            </a:tbl>
          </a:graphicData>
        </a:graphic>
      </p:graphicFrame>
      <p:sp>
        <p:nvSpPr>
          <p:cNvPr id="15" name="TextBox 14">
            <a:extLst>
              <a:ext uri="{FF2B5EF4-FFF2-40B4-BE49-F238E27FC236}">
                <a16:creationId xmlns:a16="http://schemas.microsoft.com/office/drawing/2014/main" id="{D3877955-485A-C9B5-9334-3196A10DEE5A}"/>
              </a:ext>
            </a:extLst>
          </p:cNvPr>
          <p:cNvSpPr txBox="1"/>
          <p:nvPr/>
        </p:nvSpPr>
        <p:spPr>
          <a:xfrm>
            <a:off x="6523665" y="2434169"/>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3</a:t>
            </a:r>
          </a:p>
        </p:txBody>
      </p:sp>
    </p:spTree>
    <p:extLst>
      <p:ext uri="{BB962C8B-B14F-4D97-AF65-F5344CB8AC3E}">
        <p14:creationId xmlns:p14="http://schemas.microsoft.com/office/powerpoint/2010/main" val="412172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3"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3240B-F1D7-1F2A-C531-E1A77424655C}"/>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2184D19-0DD8-ABB3-C8D5-6C200D584ABC}"/>
              </a:ext>
            </a:extLst>
          </p:cNvPr>
          <p:cNvGraphicFramePr>
            <a:graphicFrameLocks noGrp="1"/>
          </p:cNvGraphicFramePr>
          <p:nvPr>
            <p:ph idx="1"/>
          </p:nvPr>
        </p:nvGraphicFramePr>
        <p:xfrm>
          <a:off x="620232" y="1990725"/>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5" name="TextBox 4">
            <a:extLst>
              <a:ext uri="{FF2B5EF4-FFF2-40B4-BE49-F238E27FC236}">
                <a16:creationId xmlns:a16="http://schemas.microsoft.com/office/drawing/2014/main" id="{A1C95E4B-88EA-3289-69B0-0D86DDCBA75C}"/>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6" name="TextBox 5">
            <a:extLst>
              <a:ext uri="{FF2B5EF4-FFF2-40B4-BE49-F238E27FC236}">
                <a16:creationId xmlns:a16="http://schemas.microsoft.com/office/drawing/2014/main" id="{06097ACD-DEB8-36B1-5F85-7DC3DAD4833C}"/>
              </a:ext>
            </a:extLst>
          </p:cNvPr>
          <p:cNvSpPr txBox="1"/>
          <p:nvPr/>
        </p:nvSpPr>
        <p:spPr>
          <a:xfrm>
            <a:off x="620232" y="2397867"/>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9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10</a:t>
            </a:r>
          </a:p>
        </p:txBody>
      </p:sp>
      <p:sp>
        <p:nvSpPr>
          <p:cNvPr id="7" name="TextBox 6">
            <a:extLst>
              <a:ext uri="{FF2B5EF4-FFF2-40B4-BE49-F238E27FC236}">
                <a16:creationId xmlns:a16="http://schemas.microsoft.com/office/drawing/2014/main" id="{204E92CB-E69B-9EAE-CB6D-296FCD1E9DE6}"/>
              </a:ext>
            </a:extLst>
          </p:cNvPr>
          <p:cNvSpPr txBox="1"/>
          <p:nvPr/>
        </p:nvSpPr>
        <p:spPr>
          <a:xfrm>
            <a:off x="1089524" y="3888018"/>
            <a:ext cx="10645276" cy="1077218"/>
          </a:xfrm>
          <a:prstGeom prst="rect">
            <a:avLst/>
          </a:prstGeom>
          <a:noFill/>
        </p:spPr>
        <p:txBody>
          <a:bodyPr wrap="square" rtlCol="0">
            <a:spAutoFit/>
          </a:bodyPr>
          <a:lstStyle/>
          <a:p>
            <a:r>
              <a:rPr lang="en-US" sz="3200" dirty="0">
                <a:solidFill>
                  <a:srgbClr val="0070C0"/>
                </a:solidFill>
                <a:latin typeface="Times New Roman" panose="02020603050405020304" pitchFamily="18" charset="0"/>
                <a:cs typeface="Times New Roman" panose="02020603050405020304" pitchFamily="18" charset="0"/>
              </a:rPr>
              <a:t>What will happen to the array when you Remove the item at the front of the Queue (the 10)?</a:t>
            </a:r>
          </a:p>
        </p:txBody>
      </p:sp>
    </p:spTree>
    <p:extLst>
      <p:ext uri="{BB962C8B-B14F-4D97-AF65-F5344CB8AC3E}">
        <p14:creationId xmlns:p14="http://schemas.microsoft.com/office/powerpoint/2010/main" val="1237113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CA693-3EBE-3C5D-851E-F72D2B6C24F6}"/>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F9D74AA-6036-F2D1-6A06-BAB906D92B4C}"/>
              </a:ext>
            </a:extLst>
          </p:cNvPr>
          <p:cNvGraphicFramePr>
            <a:graphicFrameLocks noGrp="1"/>
          </p:cNvGraphicFramePr>
          <p:nvPr>
            <p:ph idx="1"/>
            <p:extLst>
              <p:ext uri="{D42A27DB-BD31-4B8C-83A1-F6EECF244321}">
                <p14:modId xmlns:p14="http://schemas.microsoft.com/office/powerpoint/2010/main" val="1221264157"/>
              </p:ext>
            </p:extLst>
          </p:nvPr>
        </p:nvGraphicFramePr>
        <p:xfrm>
          <a:off x="620232" y="1990725"/>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solidFill>
                            <a:srgbClr val="FFC000"/>
                          </a:solidFill>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5" name="TextBox 4">
            <a:extLst>
              <a:ext uri="{FF2B5EF4-FFF2-40B4-BE49-F238E27FC236}">
                <a16:creationId xmlns:a16="http://schemas.microsoft.com/office/drawing/2014/main" id="{202B2E85-A855-F392-9EDD-7EF218A49200}"/>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6" name="TextBox 5">
            <a:extLst>
              <a:ext uri="{FF2B5EF4-FFF2-40B4-BE49-F238E27FC236}">
                <a16:creationId xmlns:a16="http://schemas.microsoft.com/office/drawing/2014/main" id="{33C3EE04-C6BA-B02D-09DF-EB7E6CC3EEF9}"/>
              </a:ext>
            </a:extLst>
          </p:cNvPr>
          <p:cNvSpPr txBox="1"/>
          <p:nvPr/>
        </p:nvSpPr>
        <p:spPr>
          <a:xfrm>
            <a:off x="620232" y="2397867"/>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9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9</a:t>
            </a:r>
          </a:p>
        </p:txBody>
      </p:sp>
      <p:sp>
        <p:nvSpPr>
          <p:cNvPr id="7" name="TextBox 6">
            <a:extLst>
              <a:ext uri="{FF2B5EF4-FFF2-40B4-BE49-F238E27FC236}">
                <a16:creationId xmlns:a16="http://schemas.microsoft.com/office/drawing/2014/main" id="{ABF63CD7-3FF1-3DB6-39F6-ED278A5349CF}"/>
              </a:ext>
            </a:extLst>
          </p:cNvPr>
          <p:cNvSpPr txBox="1"/>
          <p:nvPr/>
        </p:nvSpPr>
        <p:spPr>
          <a:xfrm>
            <a:off x="1089524" y="3888018"/>
            <a:ext cx="10645276" cy="2062103"/>
          </a:xfrm>
          <a:prstGeom prst="rect">
            <a:avLst/>
          </a:prstGeom>
          <a:noFill/>
        </p:spPr>
        <p:txBody>
          <a:bodyPr wrap="square" rtlCol="0">
            <a:spAutoFit/>
          </a:bodyPr>
          <a:lstStyle/>
          <a:p>
            <a:r>
              <a:rPr lang="en-US" sz="3200" dirty="0">
                <a:solidFill>
                  <a:srgbClr val="0070C0"/>
                </a:solidFill>
                <a:latin typeface="Times New Roman" panose="02020603050405020304" pitchFamily="18" charset="0"/>
                <a:cs typeface="Times New Roman" panose="02020603050405020304" pitchFamily="18" charset="0"/>
              </a:rPr>
              <a:t>Instead of taking the cost penalty of moving every element over, O(n).  We can just change the front variable(and count).  The 10 can still physically be there, but it’s not longer a valid part of the array.</a:t>
            </a:r>
          </a:p>
        </p:txBody>
      </p:sp>
    </p:spTree>
    <p:extLst>
      <p:ext uri="{BB962C8B-B14F-4D97-AF65-F5344CB8AC3E}">
        <p14:creationId xmlns:p14="http://schemas.microsoft.com/office/powerpoint/2010/main" val="1938025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54CC-B7E8-D6C3-2EF6-0848F70AEBEE}"/>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147DECC-898F-C7AD-9B42-45FDF716B6C0}"/>
              </a:ext>
            </a:extLst>
          </p:cNvPr>
          <p:cNvGraphicFramePr>
            <a:graphicFrameLocks noGrp="1"/>
          </p:cNvGraphicFramePr>
          <p:nvPr>
            <p:ph idx="1"/>
            <p:extLst>
              <p:ext uri="{D42A27DB-BD31-4B8C-83A1-F6EECF244321}">
                <p14:modId xmlns:p14="http://schemas.microsoft.com/office/powerpoint/2010/main" val="712960458"/>
              </p:ext>
            </p:extLst>
          </p:nvPr>
        </p:nvGraphicFramePr>
        <p:xfrm>
          <a:off x="620232" y="1990725"/>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solidFill>
                            <a:srgbClr val="FFC000"/>
                          </a:solidFill>
                          <a:latin typeface="Times New Roman" panose="02020603050405020304" pitchFamily="18" charset="0"/>
                          <a:cs typeface="Times New Roman" panose="02020603050405020304" pitchFamily="18" charset="0"/>
                        </a:rPr>
                        <a:t>10</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5" name="TextBox 4">
            <a:extLst>
              <a:ext uri="{FF2B5EF4-FFF2-40B4-BE49-F238E27FC236}">
                <a16:creationId xmlns:a16="http://schemas.microsoft.com/office/drawing/2014/main" id="{8ECFF318-576B-2164-C865-8B9CFD395A74}"/>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6" name="TextBox 5">
            <a:extLst>
              <a:ext uri="{FF2B5EF4-FFF2-40B4-BE49-F238E27FC236}">
                <a16:creationId xmlns:a16="http://schemas.microsoft.com/office/drawing/2014/main" id="{60660CE0-C373-5C64-BC51-D589E5AC9AFA}"/>
              </a:ext>
            </a:extLst>
          </p:cNvPr>
          <p:cNvSpPr txBox="1"/>
          <p:nvPr/>
        </p:nvSpPr>
        <p:spPr>
          <a:xfrm>
            <a:off x="620232" y="2397867"/>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9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9</a:t>
            </a:r>
          </a:p>
        </p:txBody>
      </p:sp>
      <p:sp>
        <p:nvSpPr>
          <p:cNvPr id="7" name="TextBox 6">
            <a:extLst>
              <a:ext uri="{FF2B5EF4-FFF2-40B4-BE49-F238E27FC236}">
                <a16:creationId xmlns:a16="http://schemas.microsoft.com/office/drawing/2014/main" id="{4FFBEC92-8B08-96CA-1F30-8CCDBAD4A08F}"/>
              </a:ext>
            </a:extLst>
          </p:cNvPr>
          <p:cNvSpPr txBox="1"/>
          <p:nvPr/>
        </p:nvSpPr>
        <p:spPr>
          <a:xfrm>
            <a:off x="1089524" y="3888018"/>
            <a:ext cx="10645276" cy="107721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Think of the array as a circle.  If someone want to add a new item, we can write it into the next open position.</a:t>
            </a:r>
          </a:p>
        </p:txBody>
      </p:sp>
      <p:sp>
        <p:nvSpPr>
          <p:cNvPr id="2" name="TextBox 1">
            <a:extLst>
              <a:ext uri="{FF2B5EF4-FFF2-40B4-BE49-F238E27FC236}">
                <a16:creationId xmlns:a16="http://schemas.microsoft.com/office/drawing/2014/main" id="{36AB564D-F84D-C763-54CE-ACB5D75C184E}"/>
              </a:ext>
            </a:extLst>
          </p:cNvPr>
          <p:cNvSpPr txBox="1"/>
          <p:nvPr/>
        </p:nvSpPr>
        <p:spPr>
          <a:xfrm>
            <a:off x="2106133" y="5134777"/>
            <a:ext cx="1803401" cy="523220"/>
          </a:xfrm>
          <a:prstGeom prst="rect">
            <a:avLst/>
          </a:prstGeom>
          <a:noFill/>
        </p:spPr>
        <p:txBody>
          <a:bodyPr wrap="square" rtlCol="0">
            <a:spAutoFit/>
          </a:bodyPr>
          <a:lstStyle/>
          <a:p>
            <a:r>
              <a:rPr lang="en-US" sz="2800" dirty="0">
                <a:solidFill>
                  <a:srgbClr val="0070C0"/>
                </a:solidFill>
                <a:latin typeface="Times New Roman" panose="02020603050405020304" pitchFamily="18" charset="0"/>
                <a:cs typeface="Times New Roman" panose="02020603050405020304" pitchFamily="18" charset="0"/>
              </a:rPr>
              <a:t>Insert 123</a:t>
            </a:r>
          </a:p>
        </p:txBody>
      </p:sp>
      <p:graphicFrame>
        <p:nvGraphicFramePr>
          <p:cNvPr id="3" name="Content Placeholder 3">
            <a:extLst>
              <a:ext uri="{FF2B5EF4-FFF2-40B4-BE49-F238E27FC236}">
                <a16:creationId xmlns:a16="http://schemas.microsoft.com/office/drawing/2014/main" id="{F1EAA496-90D1-DF26-038D-DB4E03BDE553}"/>
              </a:ext>
            </a:extLst>
          </p:cNvPr>
          <p:cNvGraphicFramePr>
            <a:graphicFrameLocks/>
          </p:cNvGraphicFramePr>
          <p:nvPr>
            <p:extLst>
              <p:ext uri="{D42A27DB-BD31-4B8C-83A1-F6EECF244321}">
                <p14:modId xmlns:p14="http://schemas.microsoft.com/office/powerpoint/2010/main" val="1241209673"/>
              </p:ext>
            </p:extLst>
          </p:nvPr>
        </p:nvGraphicFramePr>
        <p:xfrm>
          <a:off x="4303232" y="5191062"/>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solidFill>
                            <a:schemeClr val="bg1"/>
                          </a:solidFill>
                          <a:latin typeface="Times New Roman" panose="02020603050405020304" pitchFamily="18" charset="0"/>
                          <a:cs typeface="Times New Roman" panose="02020603050405020304" pitchFamily="18" charset="0"/>
                        </a:rPr>
                        <a:t>123</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16" name="TextBox 15">
            <a:extLst>
              <a:ext uri="{FF2B5EF4-FFF2-40B4-BE49-F238E27FC236}">
                <a16:creationId xmlns:a16="http://schemas.microsoft.com/office/drawing/2014/main" id="{A1B44D5A-27D4-8A36-6E61-FC7C2A1BBD58}"/>
              </a:ext>
            </a:extLst>
          </p:cNvPr>
          <p:cNvSpPr txBox="1"/>
          <p:nvPr/>
        </p:nvSpPr>
        <p:spPr>
          <a:xfrm>
            <a:off x="4303232" y="5598204"/>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0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10 </a:t>
            </a:r>
          </a:p>
        </p:txBody>
      </p:sp>
      <p:sp>
        <p:nvSpPr>
          <p:cNvPr id="18" name="TextBox 17">
            <a:extLst>
              <a:ext uri="{FF2B5EF4-FFF2-40B4-BE49-F238E27FC236}">
                <a16:creationId xmlns:a16="http://schemas.microsoft.com/office/drawing/2014/main" id="{D63C8D67-1D15-9844-3A0D-5CF32F154838}"/>
              </a:ext>
            </a:extLst>
          </p:cNvPr>
          <p:cNvSpPr txBox="1"/>
          <p:nvPr/>
        </p:nvSpPr>
        <p:spPr>
          <a:xfrm>
            <a:off x="8572500" y="1907866"/>
            <a:ext cx="2463800" cy="1754326"/>
          </a:xfrm>
          <a:prstGeom prst="rect">
            <a:avLst/>
          </a:prstGeom>
          <a:noFill/>
        </p:spPr>
        <p:txBody>
          <a:bodyPr wrap="square">
            <a:spAutoFit/>
          </a:bodyPr>
          <a:lstStyle/>
          <a:p>
            <a:r>
              <a:rPr lang="en-US" dirty="0"/>
              <a:t>            [2]</a:t>
            </a:r>
          </a:p>
          <a:p>
            <a:r>
              <a:rPr lang="en-US" dirty="0"/>
              <a:t>       [1]     [3]</a:t>
            </a:r>
          </a:p>
          <a:p>
            <a:r>
              <a:rPr lang="en-US" dirty="0"/>
              <a:t>     [0]         [4]</a:t>
            </a:r>
          </a:p>
          <a:p>
            <a:r>
              <a:rPr lang="en-US" dirty="0"/>
              <a:t>     [9]         [5]</a:t>
            </a:r>
          </a:p>
          <a:p>
            <a:r>
              <a:rPr lang="en-US" dirty="0"/>
              <a:t>       [8]     [6]</a:t>
            </a:r>
          </a:p>
          <a:p>
            <a:r>
              <a:rPr lang="en-US" dirty="0"/>
              <a:t>           [7]</a:t>
            </a:r>
          </a:p>
        </p:txBody>
      </p:sp>
    </p:spTree>
    <p:extLst>
      <p:ext uri="{BB962C8B-B14F-4D97-AF65-F5344CB8AC3E}">
        <p14:creationId xmlns:p14="http://schemas.microsoft.com/office/powerpoint/2010/main" val="3674930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E3BDB-28E8-FA04-CD15-E979F0AE1B4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A0CAB2-61EF-F5F8-5DF0-B837D9F50219}"/>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7" name="TextBox 6">
            <a:extLst>
              <a:ext uri="{FF2B5EF4-FFF2-40B4-BE49-F238E27FC236}">
                <a16:creationId xmlns:a16="http://schemas.microsoft.com/office/drawing/2014/main" id="{A8FED9F9-BD8B-41B1-C7B6-993F85D22606}"/>
              </a:ext>
            </a:extLst>
          </p:cNvPr>
          <p:cNvSpPr txBox="1"/>
          <p:nvPr/>
        </p:nvSpPr>
        <p:spPr>
          <a:xfrm>
            <a:off x="2057400" y="3625045"/>
            <a:ext cx="10645276"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What will the array look like after these 4 commands?</a:t>
            </a:r>
          </a:p>
        </p:txBody>
      </p:sp>
      <p:sp>
        <p:nvSpPr>
          <p:cNvPr id="2" name="TextBox 1">
            <a:extLst>
              <a:ext uri="{FF2B5EF4-FFF2-40B4-BE49-F238E27FC236}">
                <a16:creationId xmlns:a16="http://schemas.microsoft.com/office/drawing/2014/main" id="{73E1136F-EBDE-EE15-6E47-CF6F9B735EC8}"/>
              </a:ext>
            </a:extLst>
          </p:cNvPr>
          <p:cNvSpPr txBox="1"/>
          <p:nvPr/>
        </p:nvSpPr>
        <p:spPr>
          <a:xfrm>
            <a:off x="4292599" y="4209820"/>
            <a:ext cx="1803401" cy="1815882"/>
          </a:xfrm>
          <a:prstGeom prst="rect">
            <a:avLst/>
          </a:prstGeom>
          <a:noFill/>
        </p:spPr>
        <p:txBody>
          <a:bodyPr wrap="square" rtlCol="0">
            <a:spAutoFit/>
          </a:bodyPr>
          <a:lstStyle/>
          <a:p>
            <a:r>
              <a:rPr lang="en-US" sz="2800" dirty="0">
                <a:solidFill>
                  <a:srgbClr val="0070C0"/>
                </a:solidFill>
                <a:latin typeface="Times New Roman" panose="02020603050405020304" pitchFamily="18" charset="0"/>
                <a:cs typeface="Times New Roman" panose="02020603050405020304" pitchFamily="18" charset="0"/>
              </a:rPr>
              <a:t>Remove</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rgbClr val="0070C0"/>
                </a:solidFill>
                <a:latin typeface="Times New Roman" panose="02020603050405020304" pitchFamily="18" charset="0"/>
                <a:cs typeface="Times New Roman" panose="02020603050405020304" pitchFamily="18" charset="0"/>
              </a:rPr>
              <a:t>Remove</a:t>
            </a:r>
            <a:br>
              <a:rPr lang="en-US" sz="2800" dirty="0">
                <a:solidFill>
                  <a:srgbClr val="0070C0"/>
                </a:solidFill>
                <a:latin typeface="Times New Roman" panose="02020603050405020304" pitchFamily="18" charset="0"/>
                <a:cs typeface="Times New Roman" panose="02020603050405020304" pitchFamily="18" charset="0"/>
              </a:rPr>
            </a:br>
            <a:r>
              <a:rPr lang="en-US" sz="2800" dirty="0">
                <a:solidFill>
                  <a:srgbClr val="0070C0"/>
                </a:solidFill>
                <a:latin typeface="Times New Roman" panose="02020603050405020304" pitchFamily="18" charset="0"/>
                <a:cs typeface="Times New Roman" panose="02020603050405020304" pitchFamily="18" charset="0"/>
              </a:rPr>
              <a:t>Remove</a:t>
            </a:r>
          </a:p>
          <a:p>
            <a:r>
              <a:rPr lang="en-US" sz="2800" dirty="0">
                <a:solidFill>
                  <a:srgbClr val="0070C0"/>
                </a:solidFill>
                <a:latin typeface="Times New Roman" panose="02020603050405020304" pitchFamily="18" charset="0"/>
                <a:cs typeface="Times New Roman" panose="02020603050405020304" pitchFamily="18" charset="0"/>
              </a:rPr>
              <a:t>Insert 2</a:t>
            </a:r>
          </a:p>
        </p:txBody>
      </p:sp>
      <p:graphicFrame>
        <p:nvGraphicFramePr>
          <p:cNvPr id="3" name="Content Placeholder 3">
            <a:extLst>
              <a:ext uri="{FF2B5EF4-FFF2-40B4-BE49-F238E27FC236}">
                <a16:creationId xmlns:a16="http://schemas.microsoft.com/office/drawing/2014/main" id="{CE6A7D06-7F1C-A1D6-A44E-C75FC3C34B3A}"/>
              </a:ext>
            </a:extLst>
          </p:cNvPr>
          <p:cNvGraphicFramePr>
            <a:graphicFrameLocks/>
          </p:cNvGraphicFramePr>
          <p:nvPr>
            <p:extLst>
              <p:ext uri="{D42A27DB-BD31-4B8C-83A1-F6EECF244321}">
                <p14:modId xmlns:p14="http://schemas.microsoft.com/office/powerpoint/2010/main" val="3770218893"/>
              </p:ext>
            </p:extLst>
          </p:nvPr>
        </p:nvGraphicFramePr>
        <p:xfrm>
          <a:off x="620232" y="2009918"/>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solidFill>
                            <a:schemeClr val="bg1"/>
                          </a:solidFill>
                          <a:latin typeface="Times New Roman" panose="02020603050405020304" pitchFamily="18" charset="0"/>
                          <a:cs typeface="Times New Roman" panose="02020603050405020304" pitchFamily="18" charset="0"/>
                        </a:rPr>
                        <a:t>123</a:t>
                      </a:r>
                    </a:p>
                  </a:txBody>
                  <a:tcPr/>
                </a:tc>
                <a:tc>
                  <a:txBody>
                    <a:bodyPr/>
                    <a:lstStyle/>
                    <a:p>
                      <a:r>
                        <a:rPr lang="en-US" dirty="0">
                          <a:latin typeface="Times New Roman" panose="02020603050405020304" pitchFamily="18" charset="0"/>
                          <a:cs typeface="Times New Roman" panose="02020603050405020304" pitchFamily="18" charset="0"/>
                        </a:rPr>
                        <a:t>20</a:t>
                      </a:r>
                    </a:p>
                  </a:txBody>
                  <a:tcPr/>
                </a:tc>
                <a:tc>
                  <a:txBody>
                    <a:bodyPr/>
                    <a:lstStyle/>
                    <a:p>
                      <a:r>
                        <a:rPr lang="en-US" dirty="0">
                          <a:latin typeface="Times New Roman" panose="02020603050405020304" pitchFamily="18" charset="0"/>
                          <a:cs typeface="Times New Roman" panose="02020603050405020304" pitchFamily="18" charset="0"/>
                        </a:rPr>
                        <a:t>9</a:t>
                      </a:r>
                    </a:p>
                  </a:txBody>
                  <a:tcPr/>
                </a:tc>
                <a:tc>
                  <a:txBody>
                    <a:bodyPr/>
                    <a:lstStyle/>
                    <a:p>
                      <a:r>
                        <a:rPr lang="en-US" dirty="0">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16" name="TextBox 15">
            <a:extLst>
              <a:ext uri="{FF2B5EF4-FFF2-40B4-BE49-F238E27FC236}">
                <a16:creationId xmlns:a16="http://schemas.microsoft.com/office/drawing/2014/main" id="{7A44BB36-E3F2-55A4-757A-A7C3EB2CC2FE}"/>
              </a:ext>
            </a:extLst>
          </p:cNvPr>
          <p:cNvSpPr txBox="1"/>
          <p:nvPr/>
        </p:nvSpPr>
        <p:spPr>
          <a:xfrm>
            <a:off x="620232" y="2417060"/>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0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10 </a:t>
            </a:r>
          </a:p>
        </p:txBody>
      </p:sp>
      <p:sp>
        <p:nvSpPr>
          <p:cNvPr id="18" name="TextBox 17">
            <a:extLst>
              <a:ext uri="{FF2B5EF4-FFF2-40B4-BE49-F238E27FC236}">
                <a16:creationId xmlns:a16="http://schemas.microsoft.com/office/drawing/2014/main" id="{DF70E1BB-3ED2-4A93-B49A-76E3EE6B2817}"/>
              </a:ext>
            </a:extLst>
          </p:cNvPr>
          <p:cNvSpPr txBox="1"/>
          <p:nvPr/>
        </p:nvSpPr>
        <p:spPr>
          <a:xfrm>
            <a:off x="8572500" y="1907866"/>
            <a:ext cx="2463800" cy="1754326"/>
          </a:xfrm>
          <a:prstGeom prst="rect">
            <a:avLst/>
          </a:prstGeom>
          <a:noFill/>
        </p:spPr>
        <p:txBody>
          <a:bodyPr wrap="square">
            <a:spAutoFit/>
          </a:bodyPr>
          <a:lstStyle/>
          <a:p>
            <a:r>
              <a:rPr lang="en-US" dirty="0"/>
              <a:t>            [2]</a:t>
            </a:r>
          </a:p>
          <a:p>
            <a:r>
              <a:rPr lang="en-US" dirty="0"/>
              <a:t>       [1]     [3]</a:t>
            </a:r>
          </a:p>
          <a:p>
            <a:r>
              <a:rPr lang="en-US" dirty="0"/>
              <a:t>     [0]         [4]</a:t>
            </a:r>
          </a:p>
          <a:p>
            <a:r>
              <a:rPr lang="en-US" dirty="0"/>
              <a:t>     [9]         [5]</a:t>
            </a:r>
          </a:p>
          <a:p>
            <a:r>
              <a:rPr lang="en-US" dirty="0"/>
              <a:t>       [8]     [6]</a:t>
            </a:r>
          </a:p>
          <a:p>
            <a:r>
              <a:rPr lang="en-US" dirty="0"/>
              <a:t>           [7]</a:t>
            </a:r>
          </a:p>
        </p:txBody>
      </p:sp>
    </p:spTree>
    <p:extLst>
      <p:ext uri="{BB962C8B-B14F-4D97-AF65-F5344CB8AC3E}">
        <p14:creationId xmlns:p14="http://schemas.microsoft.com/office/powerpoint/2010/main" val="654901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48BB9-6837-2A63-F76B-4607554A79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E01B56-A0C2-AC66-A66C-230F7C420E1B}"/>
              </a:ext>
            </a:extLst>
          </p:cNvPr>
          <p:cNvSpPr txBox="1"/>
          <p:nvPr/>
        </p:nvSpPr>
        <p:spPr>
          <a:xfrm>
            <a:off x="1089524" y="750211"/>
            <a:ext cx="6046419" cy="712079"/>
          </a:xfrm>
          <a:prstGeom prst="rect">
            <a:avLst/>
          </a:prstGeom>
          <a:noFill/>
        </p:spPr>
        <p:txBody>
          <a:bodyPr wrap="square" rtlCol="0">
            <a:spAutoFit/>
          </a:bodyPr>
          <a:lstStyle/>
          <a:p>
            <a:r>
              <a:rPr lang="en-US" sz="405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Array Based Queue</a:t>
            </a:r>
          </a:p>
        </p:txBody>
      </p:sp>
      <p:sp>
        <p:nvSpPr>
          <p:cNvPr id="7" name="TextBox 6">
            <a:extLst>
              <a:ext uri="{FF2B5EF4-FFF2-40B4-BE49-F238E27FC236}">
                <a16:creationId xmlns:a16="http://schemas.microsoft.com/office/drawing/2014/main" id="{3D238796-C85B-C4FA-8B61-7077561FD3D7}"/>
              </a:ext>
            </a:extLst>
          </p:cNvPr>
          <p:cNvSpPr txBox="1"/>
          <p:nvPr/>
        </p:nvSpPr>
        <p:spPr>
          <a:xfrm>
            <a:off x="1257300" y="4209820"/>
            <a:ext cx="10645276" cy="107721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When selecting the position to add an item, you can use the formula  (</a:t>
            </a:r>
            <a:r>
              <a:rPr lang="en-US" sz="3200" dirty="0" err="1">
                <a:latin typeface="Times New Roman" panose="02020603050405020304" pitchFamily="18" charset="0"/>
                <a:cs typeface="Times New Roman" panose="02020603050405020304" pitchFamily="18" charset="0"/>
              </a:rPr>
              <a:t>queue_ptr</a:t>
            </a:r>
            <a:r>
              <a:rPr lang="en-US" sz="3200" dirty="0">
                <a:latin typeface="Times New Roman" panose="02020603050405020304" pitchFamily="18" charset="0"/>
                <a:cs typeface="Times New Roman" panose="02020603050405020304" pitchFamily="18" charset="0"/>
              </a:rPr>
              <a:t>-&gt;back + 1) % QUEUE_SIZE</a:t>
            </a:r>
          </a:p>
        </p:txBody>
      </p:sp>
      <p:graphicFrame>
        <p:nvGraphicFramePr>
          <p:cNvPr id="3" name="Content Placeholder 3">
            <a:extLst>
              <a:ext uri="{FF2B5EF4-FFF2-40B4-BE49-F238E27FC236}">
                <a16:creationId xmlns:a16="http://schemas.microsoft.com/office/drawing/2014/main" id="{85D540A4-A517-D212-E2A5-4FBE23933E52}"/>
              </a:ext>
            </a:extLst>
          </p:cNvPr>
          <p:cNvGraphicFramePr>
            <a:graphicFrameLocks/>
          </p:cNvGraphicFramePr>
          <p:nvPr>
            <p:extLst>
              <p:ext uri="{D42A27DB-BD31-4B8C-83A1-F6EECF244321}">
                <p14:modId xmlns:p14="http://schemas.microsoft.com/office/powerpoint/2010/main" val="1719489404"/>
              </p:ext>
            </p:extLst>
          </p:nvPr>
        </p:nvGraphicFramePr>
        <p:xfrm>
          <a:off x="620232" y="2009918"/>
          <a:ext cx="5181599" cy="370840"/>
        </p:xfrm>
        <a:graphic>
          <a:graphicData uri="http://schemas.openxmlformats.org/drawingml/2006/table">
            <a:tbl>
              <a:tblPr firstRow="1" bandRow="1">
                <a:tableStyleId>{5C22544A-7EE6-4342-B048-85BDC9FD1C3A}</a:tableStyleId>
              </a:tblPr>
              <a:tblGrid>
                <a:gridCol w="571501">
                  <a:extLst>
                    <a:ext uri="{9D8B030D-6E8A-4147-A177-3AD203B41FA5}">
                      <a16:colId xmlns:a16="http://schemas.microsoft.com/office/drawing/2014/main" val="1480683141"/>
                    </a:ext>
                  </a:extLst>
                </a:gridCol>
                <a:gridCol w="546100">
                  <a:extLst>
                    <a:ext uri="{9D8B030D-6E8A-4147-A177-3AD203B41FA5}">
                      <a16:colId xmlns:a16="http://schemas.microsoft.com/office/drawing/2014/main" val="31456617"/>
                    </a:ext>
                  </a:extLst>
                </a:gridCol>
                <a:gridCol w="419100">
                  <a:extLst>
                    <a:ext uri="{9D8B030D-6E8A-4147-A177-3AD203B41FA5}">
                      <a16:colId xmlns:a16="http://schemas.microsoft.com/office/drawing/2014/main" val="1750220395"/>
                    </a:ext>
                  </a:extLst>
                </a:gridCol>
                <a:gridCol w="546100">
                  <a:extLst>
                    <a:ext uri="{9D8B030D-6E8A-4147-A177-3AD203B41FA5}">
                      <a16:colId xmlns:a16="http://schemas.microsoft.com/office/drawing/2014/main" val="931134170"/>
                    </a:ext>
                  </a:extLst>
                </a:gridCol>
                <a:gridCol w="533400">
                  <a:extLst>
                    <a:ext uri="{9D8B030D-6E8A-4147-A177-3AD203B41FA5}">
                      <a16:colId xmlns:a16="http://schemas.microsoft.com/office/drawing/2014/main" val="4072086020"/>
                    </a:ext>
                  </a:extLst>
                </a:gridCol>
                <a:gridCol w="431800">
                  <a:extLst>
                    <a:ext uri="{9D8B030D-6E8A-4147-A177-3AD203B41FA5}">
                      <a16:colId xmlns:a16="http://schemas.microsoft.com/office/drawing/2014/main" val="1421521514"/>
                    </a:ext>
                  </a:extLst>
                </a:gridCol>
                <a:gridCol w="520700">
                  <a:extLst>
                    <a:ext uri="{9D8B030D-6E8A-4147-A177-3AD203B41FA5}">
                      <a16:colId xmlns:a16="http://schemas.microsoft.com/office/drawing/2014/main" val="522964563"/>
                    </a:ext>
                  </a:extLst>
                </a:gridCol>
                <a:gridCol w="520700">
                  <a:extLst>
                    <a:ext uri="{9D8B030D-6E8A-4147-A177-3AD203B41FA5}">
                      <a16:colId xmlns:a16="http://schemas.microsoft.com/office/drawing/2014/main" val="2293952896"/>
                    </a:ext>
                  </a:extLst>
                </a:gridCol>
                <a:gridCol w="419100">
                  <a:extLst>
                    <a:ext uri="{9D8B030D-6E8A-4147-A177-3AD203B41FA5}">
                      <a16:colId xmlns:a16="http://schemas.microsoft.com/office/drawing/2014/main" val="1212155545"/>
                    </a:ext>
                  </a:extLst>
                </a:gridCol>
                <a:gridCol w="673098">
                  <a:extLst>
                    <a:ext uri="{9D8B030D-6E8A-4147-A177-3AD203B41FA5}">
                      <a16:colId xmlns:a16="http://schemas.microsoft.com/office/drawing/2014/main" val="2295303446"/>
                    </a:ext>
                  </a:extLst>
                </a:gridCol>
              </a:tblGrid>
              <a:tr h="370840">
                <a:tc>
                  <a:txBody>
                    <a:bodyPr/>
                    <a:lstStyle/>
                    <a:p>
                      <a:r>
                        <a:rPr lang="en-US" dirty="0">
                          <a:solidFill>
                            <a:schemeClr val="bg1"/>
                          </a:solidFill>
                          <a:latin typeface="Times New Roman" panose="02020603050405020304" pitchFamily="18" charset="0"/>
                          <a:cs typeface="Times New Roman" panose="02020603050405020304" pitchFamily="18" charset="0"/>
                        </a:rPr>
                        <a:t>123</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solidFill>
                            <a:srgbClr val="FFC000"/>
                          </a:solidFill>
                          <a:latin typeface="Times New Roman" panose="02020603050405020304" pitchFamily="18" charset="0"/>
                          <a:cs typeface="Times New Roman" panose="02020603050405020304" pitchFamily="18" charset="0"/>
                        </a:rPr>
                        <a:t>9</a:t>
                      </a:r>
                    </a:p>
                  </a:txBody>
                  <a:tcPr/>
                </a:tc>
                <a:tc>
                  <a:txBody>
                    <a:bodyPr/>
                    <a:lstStyle/>
                    <a:p>
                      <a:r>
                        <a:rPr lang="en-US" dirty="0">
                          <a:solidFill>
                            <a:srgbClr val="FFC000"/>
                          </a:solidFill>
                          <a:latin typeface="Times New Roman" panose="02020603050405020304" pitchFamily="18" charset="0"/>
                          <a:cs typeface="Times New Roman" panose="02020603050405020304" pitchFamily="18" charset="0"/>
                        </a:rPr>
                        <a:t>4</a:t>
                      </a:r>
                    </a:p>
                  </a:txBody>
                  <a:tcPr/>
                </a:tc>
                <a:tc>
                  <a:txBody>
                    <a:bodyPr/>
                    <a:lstStyle/>
                    <a:p>
                      <a:r>
                        <a:rPr lang="en-US" dirty="0">
                          <a:latin typeface="Times New Roman" panose="02020603050405020304" pitchFamily="18" charset="0"/>
                          <a:cs typeface="Times New Roman" panose="02020603050405020304" pitchFamily="18" charset="0"/>
                        </a:rPr>
                        <a:t>87</a:t>
                      </a:r>
                    </a:p>
                  </a:txBody>
                  <a:tcPr/>
                </a:tc>
                <a:tc>
                  <a:txBody>
                    <a:bodyPr/>
                    <a:lstStyle/>
                    <a:p>
                      <a:r>
                        <a:rPr lang="en-US" dirty="0">
                          <a:latin typeface="Times New Roman" panose="02020603050405020304" pitchFamily="18" charset="0"/>
                          <a:cs typeface="Times New Roman" panose="02020603050405020304" pitchFamily="18" charset="0"/>
                        </a:rPr>
                        <a:t>1</a:t>
                      </a:r>
                    </a:p>
                  </a:txBody>
                  <a:tcPr/>
                </a:tc>
                <a:tc>
                  <a:txBody>
                    <a:bodyPr/>
                    <a:lstStyle/>
                    <a:p>
                      <a:r>
                        <a:rPr lang="en-US" dirty="0">
                          <a:latin typeface="Times New Roman" panose="02020603050405020304" pitchFamily="18" charset="0"/>
                          <a:cs typeface="Times New Roman" panose="02020603050405020304" pitchFamily="18" charset="0"/>
                        </a:rPr>
                        <a:t>92</a:t>
                      </a:r>
                    </a:p>
                  </a:txBody>
                  <a:tcPr/>
                </a:tc>
                <a:tc>
                  <a:txBody>
                    <a:bodyPr/>
                    <a:lstStyle/>
                    <a:p>
                      <a:r>
                        <a:rPr lang="en-US" dirty="0">
                          <a:latin typeface="Times New Roman" panose="02020603050405020304" pitchFamily="18" charset="0"/>
                          <a:cs typeface="Times New Roman" panose="02020603050405020304" pitchFamily="18" charset="0"/>
                        </a:rPr>
                        <a:t>11</a:t>
                      </a:r>
                    </a:p>
                  </a:txBody>
                  <a:tcPr/>
                </a:tc>
                <a:tc>
                  <a:txBody>
                    <a:bodyPr/>
                    <a:lstStyle/>
                    <a:p>
                      <a:r>
                        <a:rPr lang="en-US" dirty="0">
                          <a:latin typeface="Times New Roman" panose="02020603050405020304" pitchFamily="18" charset="0"/>
                          <a:cs typeface="Times New Roman" panose="02020603050405020304" pitchFamily="18" charset="0"/>
                        </a:rPr>
                        <a:t>2</a:t>
                      </a:r>
                    </a:p>
                  </a:txBody>
                  <a:tcPr/>
                </a:tc>
                <a:tc>
                  <a:txBody>
                    <a:bodyPr/>
                    <a:lstStyle/>
                    <a:p>
                      <a:r>
                        <a:rPr lang="en-US" dirty="0">
                          <a:latin typeface="Times New Roman" panose="02020603050405020304" pitchFamily="18" charset="0"/>
                          <a:cs typeface="Times New Roman" panose="02020603050405020304" pitchFamily="18" charset="0"/>
                        </a:rPr>
                        <a:t>45</a:t>
                      </a:r>
                    </a:p>
                  </a:txBody>
                  <a:tcPr/>
                </a:tc>
                <a:extLst>
                  <a:ext uri="{0D108BD9-81ED-4DB2-BD59-A6C34878D82A}">
                    <a16:rowId xmlns:a16="http://schemas.microsoft.com/office/drawing/2014/main" val="507268686"/>
                  </a:ext>
                </a:extLst>
              </a:tr>
            </a:tbl>
          </a:graphicData>
        </a:graphic>
      </p:graphicFrame>
      <p:sp>
        <p:nvSpPr>
          <p:cNvPr id="16" name="TextBox 15">
            <a:extLst>
              <a:ext uri="{FF2B5EF4-FFF2-40B4-BE49-F238E27FC236}">
                <a16:creationId xmlns:a16="http://schemas.microsoft.com/office/drawing/2014/main" id="{072B3911-B40A-D046-D1C5-E39A64D3D7E1}"/>
              </a:ext>
            </a:extLst>
          </p:cNvPr>
          <p:cNvSpPr txBox="1"/>
          <p:nvPr/>
        </p:nvSpPr>
        <p:spPr>
          <a:xfrm>
            <a:off x="620232" y="2417060"/>
            <a:ext cx="1803401"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front: 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 1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 8 </a:t>
            </a:r>
          </a:p>
        </p:txBody>
      </p:sp>
      <p:sp>
        <p:nvSpPr>
          <p:cNvPr id="18" name="TextBox 17">
            <a:extLst>
              <a:ext uri="{FF2B5EF4-FFF2-40B4-BE49-F238E27FC236}">
                <a16:creationId xmlns:a16="http://schemas.microsoft.com/office/drawing/2014/main" id="{7D6D35B3-F27A-2EF9-557D-2F11658BCE4E}"/>
              </a:ext>
            </a:extLst>
          </p:cNvPr>
          <p:cNvSpPr txBox="1"/>
          <p:nvPr/>
        </p:nvSpPr>
        <p:spPr>
          <a:xfrm>
            <a:off x="8572500" y="1907866"/>
            <a:ext cx="2463800" cy="1754326"/>
          </a:xfrm>
          <a:prstGeom prst="rect">
            <a:avLst/>
          </a:prstGeom>
          <a:noFill/>
        </p:spPr>
        <p:txBody>
          <a:bodyPr wrap="square">
            <a:spAutoFit/>
          </a:bodyPr>
          <a:lstStyle/>
          <a:p>
            <a:r>
              <a:rPr lang="en-US" dirty="0"/>
              <a:t>            [2]</a:t>
            </a:r>
          </a:p>
          <a:p>
            <a:r>
              <a:rPr lang="en-US" dirty="0"/>
              <a:t>       [1]     [3]</a:t>
            </a:r>
          </a:p>
          <a:p>
            <a:r>
              <a:rPr lang="en-US" dirty="0"/>
              <a:t>     [0]         [4]</a:t>
            </a:r>
          </a:p>
          <a:p>
            <a:r>
              <a:rPr lang="en-US" dirty="0"/>
              <a:t>     [9]         [5]</a:t>
            </a:r>
          </a:p>
          <a:p>
            <a:r>
              <a:rPr lang="en-US" dirty="0"/>
              <a:t>       [8]     [6]</a:t>
            </a:r>
          </a:p>
          <a:p>
            <a:r>
              <a:rPr lang="en-US" dirty="0"/>
              <a:t>           [7]</a:t>
            </a:r>
          </a:p>
        </p:txBody>
      </p:sp>
    </p:spTree>
    <p:extLst>
      <p:ext uri="{BB962C8B-B14F-4D97-AF65-F5344CB8AC3E}">
        <p14:creationId xmlns:p14="http://schemas.microsoft.com/office/powerpoint/2010/main" val="4018181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ndParaRPr>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latin typeface="Times New Roman" panose="02020603050405020304" pitchFamily="18" charset="0"/>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latin typeface="Times New Roman" panose="02020603050405020304" pitchFamily="18" charset="0"/>
              </a:endParaRPr>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latin typeface="Times New Roman" panose="02020603050405020304" pitchFamily="18" charset="0"/>
              </a:endParaRPr>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latin typeface="Times New Roman" panose="02020603050405020304" pitchFamily="18" charset="0"/>
              </a:endParaRPr>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3" name="Rectangle 2">
            <a:extLst>
              <a:ext uri="{FF2B5EF4-FFF2-40B4-BE49-F238E27FC236}">
                <a16:creationId xmlns:a16="http://schemas.microsoft.com/office/drawing/2014/main" id="{C981FF5C-7156-F045-3772-808E8CC6AA95}"/>
              </a:ext>
            </a:extLst>
          </p:cNvPr>
          <p:cNvSpPr/>
          <p:nvPr/>
        </p:nvSpPr>
        <p:spPr>
          <a:xfrm>
            <a:off x="1113224" y="4143690"/>
            <a:ext cx="9960531" cy="1310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Tree>
    <p:extLst>
      <p:ext uri="{BB962C8B-B14F-4D97-AF65-F5344CB8AC3E}">
        <p14:creationId xmlns:p14="http://schemas.microsoft.com/office/powerpoint/2010/main" val="3501347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a:xfrm>
            <a:off x="420858" y="2039814"/>
            <a:ext cx="11189950" cy="3614225"/>
          </a:xfrm>
        </p:spPr>
        <p:txBody>
          <a:bodyPr anchor="t" anchorCtr="0">
            <a:normAutofit/>
          </a:bodyPr>
          <a:lstStyle/>
          <a:p>
            <a:pPr marL="0" indent="0">
              <a:buNone/>
            </a:pPr>
            <a:r>
              <a:rPr lang="en-US" sz="3600" dirty="0"/>
              <a:t>No in class exercise submission today.</a:t>
            </a:r>
          </a:p>
          <a:p>
            <a:pPr marL="0" indent="0">
              <a:buNone/>
            </a:pPr>
            <a:endParaRPr lang="en-US" sz="3600" dirty="0"/>
          </a:p>
          <a:p>
            <a:pPr marL="0" indent="0">
              <a:buNone/>
            </a:pPr>
            <a:r>
              <a:rPr lang="en-US" sz="3600" dirty="0"/>
              <a:t>Start Homework 1</a:t>
            </a:r>
          </a:p>
          <a:p>
            <a:pPr marL="0" indent="0">
              <a:lnSpc>
                <a:spcPct val="90000"/>
              </a:lnSpc>
              <a:buNone/>
            </a:pPr>
            <a:endParaRPr lang="en-US" altLang="en-US" sz="3200" dirty="0">
              <a:solidFill>
                <a:schemeClr val="tx1"/>
              </a:solidFill>
            </a:endParaRPr>
          </a:p>
        </p:txBody>
      </p:sp>
    </p:spTree>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CS315_01AlgorithmsSortingLatest-1(1)" id="{EA72822C-0D32-644F-9E7E-515D66319756}" vid="{B1174AC2-1EA3-B94B-B837-16E14B4594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5665</TotalTime>
  <Words>1910</Words>
  <Application>Microsoft Office PowerPoint</Application>
  <PresentationFormat>Widescreen</PresentationFormat>
  <Paragraphs>465</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Gill Sans MT</vt:lpstr>
      <vt:lpstr>Times New Roman</vt:lpstr>
      <vt:lpstr>Wingdings</vt:lpstr>
      <vt:lpstr>Wingdings 2</vt:lpstr>
      <vt:lpstr>Custom</vt:lpstr>
      <vt:lpstr>Queues </vt:lpstr>
      <vt:lpstr>PowerPoint Presentation</vt:lpstr>
      <vt:lpstr>PowerPoint Presentation</vt:lpstr>
      <vt:lpstr>PowerPoint Presentation</vt:lpstr>
      <vt:lpstr>PowerPoint Presentation</vt:lpstr>
      <vt:lpstr>PowerPoint Presentation</vt:lpstr>
      <vt:lpstr>Queues</vt:lpstr>
      <vt:lpstr>Queues</vt:lpstr>
      <vt:lpstr>Stacks and Queues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dc:title>
  <dc:creator>Marriott, Heather H</dc:creator>
  <cp:lastModifiedBy>Marriott, Heather H</cp:lastModifiedBy>
  <cp:revision>49</cp:revision>
  <dcterms:created xsi:type="dcterms:W3CDTF">2024-05-27T01:44:40Z</dcterms:created>
  <dcterms:modified xsi:type="dcterms:W3CDTF">2026-09-02T18:50:28Z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