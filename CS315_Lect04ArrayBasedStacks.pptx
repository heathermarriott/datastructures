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4"/>
  </p:sldMasterIdLst>
  <p:notesMasterIdLst>
    <p:notesMasterId r:id="rId21"/>
  </p:notesMasterIdLst>
  <p:handoutMasterIdLst>
    <p:handoutMasterId r:id="rId22"/>
  </p:handoutMasterIdLst>
  <p:sldIdLst>
    <p:sldId id="256" r:id="rId5"/>
    <p:sldId id="596" r:id="rId6"/>
    <p:sldId id="597" r:id="rId7"/>
    <p:sldId id="573" r:id="rId8"/>
    <p:sldId id="574" r:id="rId9"/>
    <p:sldId id="291" r:id="rId10"/>
    <p:sldId id="577" r:id="rId11"/>
    <p:sldId id="578" r:id="rId12"/>
    <p:sldId id="579" r:id="rId13"/>
    <p:sldId id="580" r:id="rId14"/>
    <p:sldId id="313" r:id="rId15"/>
    <p:sldId id="583" r:id="rId16"/>
    <p:sldId id="581" r:id="rId17"/>
    <p:sldId id="582" r:id="rId18"/>
    <p:sldId id="260" r:id="rId19"/>
    <p:sldId id="562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CB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46" autoAdjust="0"/>
    <p:restoredTop sz="60809" autoAdjust="0"/>
  </p:normalViewPr>
  <p:slideViewPr>
    <p:cSldViewPr snapToGrid="0">
      <p:cViewPr varScale="1">
        <p:scale>
          <a:sx n="67" d="100"/>
          <a:sy n="67" d="100"/>
        </p:scale>
        <p:origin x="19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69721-F543-4A6C-BF9D-65D7CC540427}" type="datetimeFigureOut">
              <a:rPr lang="en-US" smtClean="0">
                <a:latin typeface="Times New Roman" panose="02020603050405020304" pitchFamily="18" charset="0"/>
              </a:rPr>
              <a:t>8/31/2026</a:t>
            </a:fld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0168E-626C-4E60-93C0-A00D25609468}" type="slidenum">
              <a:rPr lang="en-US" smtClean="0">
                <a:latin typeface="Times New Roman" panose="02020603050405020304" pitchFamily="18" charset="0"/>
              </a:rPr>
              <a:t>‹#›</a:t>
            </a:fld>
            <a:endParaRPr 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Times New Roman" panose="02020603050405020304" pitchFamily="18" charset="0"/>
              </a:defRPr>
            </a:lvl1pPr>
          </a:lstStyle>
          <a:p>
            <a:fld id="{C732326A-4C88-4AFB-AA5B-5919D81DFF5B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Times New Roman" panose="02020603050405020304" pitchFamily="18" charset="0"/>
              </a:defRPr>
            </a:lvl1pPr>
          </a:lstStyle>
          <a:p>
            <a:fld id="{C6B3AB32-59DF-41F1-9618-EDFBF50496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ADT = Abstract Data Type (ex. queue, stack)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9120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A1F87-DC39-2C93-F51E-BB03937D5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0646D0-8C79-E445-068D-228AA1D0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683285-372F-BD3E-03BD-A25B3F90F1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7182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C301C3C-9357-41F5-8850-5FE414D4AF38}" type="slidenum">
              <a:rPr lang="en-US" altLang="en-US" sz="1200">
                <a:solidFill>
                  <a:schemeClr val="tx1"/>
                </a:solidFill>
              </a:rPr>
              <a:pPr eaLnBrk="1" hangingPunct="1"/>
              <a:t>4</a:t>
            </a:fld>
            <a:endParaRPr lang="en-US" altLang="en-US" sz="1200" dirty="0">
              <a:solidFill>
                <a:schemeClr val="tx1"/>
              </a:solidFill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138479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C301C3C-9357-41F5-8850-5FE414D4AF38}" type="slidenum">
              <a:rPr lang="en-US" altLang="en-US" sz="1200">
                <a:solidFill>
                  <a:schemeClr val="tx1"/>
                </a:solidFill>
              </a:rPr>
              <a:pPr eaLnBrk="1" hangingPunct="1"/>
              <a:t>5</a:t>
            </a:fld>
            <a:endParaRPr lang="en-US" altLang="en-US" sz="1200" dirty="0">
              <a:solidFill>
                <a:schemeClr val="tx1"/>
              </a:solidFill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33246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Step by step: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Push 6 → [6]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Push 2 → [6, 2]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Push 3 → [6, 2, 3]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+ → Pop 3 and 2 → 2 + 3 = 5 → push → [6, 5]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- → Pop 5 and 6 → 6 - 5 = 1 → push → [1]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Push 3 → [1, 3]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Push 8 → [1, 3, 8]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Push 2 → [1, 3, 8, 2]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/ → Pop 2 and 8 → 8 / 2 = 4 → push → [1, 3, 4]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+ → Pop 4 and 3 → 3 + 4 = 7 → push → [1, 7]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* → Pop 7 and 1 → 1 * 7 = 7 → push → [7]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✅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Final result: 7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4166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8EDB5-26C2-EDFD-2D1B-42682CC83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861172-7677-98FE-ABC6-EF2D9462B6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0F6184-EA97-FC1B-B72B-559324C052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endParaRPr lang="en-US" dirty="0"/>
          </a:p>
          <a:p>
            <a:r>
              <a:rPr lang="en-US" dirty="0"/>
              <a:t>struct stack{</a:t>
            </a:r>
          </a:p>
          <a:p>
            <a:r>
              <a:rPr lang="en-US" dirty="0"/>
              <a:t>   int num[100];</a:t>
            </a:r>
          </a:p>
          <a:p>
            <a:r>
              <a:rPr lang="en-US" dirty="0"/>
              <a:t>   int head;</a:t>
            </a:r>
          </a:p>
          <a:p>
            <a:r>
              <a:rPr lang="en-US" dirty="0"/>
              <a:t>};</a:t>
            </a:r>
          </a:p>
          <a:p>
            <a:r>
              <a:rPr lang="en-US" dirty="0"/>
              <a:t>void push(struct stack* s, int x){</a:t>
            </a:r>
          </a:p>
          <a:p>
            <a:r>
              <a:rPr lang="en-US" dirty="0"/>
              <a:t>    //TO-DO</a:t>
            </a:r>
          </a:p>
          <a:p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("pushing %d to stack\n", x);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int pop(struct stack* s){</a:t>
            </a:r>
          </a:p>
          <a:p>
            <a:r>
              <a:rPr lang="en-US" dirty="0"/>
              <a:t>    //TO-DO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int main(){</a:t>
            </a:r>
          </a:p>
          <a:p>
            <a:r>
              <a:rPr lang="en-US" dirty="0"/>
              <a:t>    struct stack s;</a:t>
            </a:r>
          </a:p>
          <a:p>
            <a:r>
              <a:rPr lang="en-US" dirty="0"/>
              <a:t>    </a:t>
            </a:r>
            <a:r>
              <a:rPr lang="en-US" dirty="0" err="1"/>
              <a:t>s.head</a:t>
            </a:r>
            <a:r>
              <a:rPr lang="en-US" dirty="0"/>
              <a:t>=-1;</a:t>
            </a:r>
          </a:p>
          <a:p>
            <a:r>
              <a:rPr lang="en-US" dirty="0"/>
              <a:t>    push(&amp;s, 5);</a:t>
            </a:r>
          </a:p>
          <a:p>
            <a:r>
              <a:rPr lang="en-US" dirty="0"/>
              <a:t>    push(&amp;s, 6);</a:t>
            </a:r>
          </a:p>
          <a:p>
            <a:r>
              <a:rPr lang="en-US" dirty="0"/>
              <a:t>    push(&amp;s, 7);</a:t>
            </a:r>
          </a:p>
          <a:p>
            <a:r>
              <a:rPr lang="en-US" dirty="0"/>
              <a:t>    pop(&amp;s);</a:t>
            </a:r>
          </a:p>
          <a:p>
            <a:r>
              <a:rPr lang="en-US" dirty="0"/>
              <a:t>    pop(&amp;s);</a:t>
            </a:r>
          </a:p>
          <a:p>
            <a:r>
              <a:rPr lang="en-US" dirty="0"/>
              <a:t>    pop(&amp;s);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859886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position.  Otherwise every time you add a value, you need to move everything over.</a:t>
            </a:r>
          </a:p>
          <a:p>
            <a:r>
              <a:rPr lang="en-US" dirty="0"/>
              <a:t>Would be less efficient.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2637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6E9E6-8A87-45F2-0BE1-6071E21BC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1BFF02-3926-4004-96D5-F87A79EFCA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1D6ACD-A6FC-6944-473D-91AF438BC1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endParaRPr lang="en-US" dirty="0"/>
          </a:p>
          <a:p>
            <a:r>
              <a:rPr lang="en-US" dirty="0"/>
              <a:t>struct stack{</a:t>
            </a:r>
          </a:p>
          <a:p>
            <a:r>
              <a:rPr lang="en-US" dirty="0"/>
              <a:t>   int num[100];</a:t>
            </a:r>
          </a:p>
          <a:p>
            <a:r>
              <a:rPr lang="en-US" dirty="0"/>
              <a:t>   int top;</a:t>
            </a:r>
          </a:p>
          <a:p>
            <a:r>
              <a:rPr lang="en-US" dirty="0"/>
              <a:t>};</a:t>
            </a:r>
          </a:p>
          <a:p>
            <a:r>
              <a:rPr lang="en-US" dirty="0"/>
              <a:t>void push(struct stack* s, int x){</a:t>
            </a:r>
          </a:p>
          <a:p>
            <a:r>
              <a:rPr lang="en-US" dirty="0"/>
              <a:t>    //TO-DO</a:t>
            </a:r>
          </a:p>
          <a:p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("pushing %d to stack\n", x);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int pop(struct stack* s){</a:t>
            </a:r>
          </a:p>
          <a:p>
            <a:r>
              <a:rPr lang="en-US" dirty="0"/>
              <a:t>    //TO-DO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int main(){</a:t>
            </a:r>
          </a:p>
          <a:p>
            <a:r>
              <a:rPr lang="en-US" dirty="0"/>
              <a:t>    struct stack s;</a:t>
            </a:r>
          </a:p>
          <a:p>
            <a:r>
              <a:rPr lang="en-US" dirty="0"/>
              <a:t>    </a:t>
            </a:r>
            <a:r>
              <a:rPr lang="en-US" dirty="0" err="1"/>
              <a:t>s.top</a:t>
            </a:r>
            <a:r>
              <a:rPr lang="en-US" dirty="0"/>
              <a:t>=-1;</a:t>
            </a:r>
          </a:p>
          <a:p>
            <a:r>
              <a:rPr lang="en-US" dirty="0"/>
              <a:t>    push(&amp;s, 5);</a:t>
            </a:r>
          </a:p>
          <a:p>
            <a:r>
              <a:rPr lang="en-US" dirty="0"/>
              <a:t>    push(&amp;s, 6);</a:t>
            </a:r>
          </a:p>
          <a:p>
            <a:r>
              <a:rPr lang="en-US" dirty="0"/>
              <a:t>    push(&amp;s, 7);</a:t>
            </a:r>
          </a:p>
          <a:p>
            <a:r>
              <a:rPr lang="en-US" dirty="0"/>
              <a:t>    pop(&amp;s);</a:t>
            </a:r>
          </a:p>
          <a:p>
            <a:r>
              <a:rPr lang="en-US" dirty="0"/>
              <a:t>    pop(&amp;s);</a:t>
            </a:r>
          </a:p>
          <a:p>
            <a:r>
              <a:rPr lang="en-US" dirty="0"/>
              <a:t>    pop(&amp;s);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873401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30552-D82C-807B-134C-E647444E2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D4E4F8-F323-2C19-39CA-290859B2C6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76105F-D8DE-BB02-BDF0-99D136B017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endParaRPr lang="en-US" dirty="0"/>
          </a:p>
          <a:p>
            <a:r>
              <a:rPr lang="en-US" dirty="0"/>
              <a:t>struct stack{</a:t>
            </a:r>
          </a:p>
          <a:p>
            <a:r>
              <a:rPr lang="en-US" dirty="0"/>
              <a:t>   int num[100];</a:t>
            </a:r>
          </a:p>
          <a:p>
            <a:r>
              <a:rPr lang="en-US" dirty="0"/>
              <a:t>   int top;</a:t>
            </a:r>
          </a:p>
          <a:p>
            <a:r>
              <a:rPr lang="en-US" dirty="0"/>
              <a:t>};</a:t>
            </a:r>
          </a:p>
          <a:p>
            <a:r>
              <a:rPr lang="en-US" dirty="0"/>
              <a:t>void push(struct stack* s, int x){</a:t>
            </a:r>
          </a:p>
          <a:p>
            <a:r>
              <a:rPr lang="en-US" dirty="0"/>
              <a:t>    //TO-DO</a:t>
            </a:r>
          </a:p>
          <a:p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("pushing %d to stack\n", x);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int pop(struct stack* s){</a:t>
            </a:r>
          </a:p>
          <a:p>
            <a:r>
              <a:rPr lang="en-US" dirty="0"/>
              <a:t>    //TO-DO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int empty(struct stack* s){</a:t>
            </a:r>
          </a:p>
          <a:p>
            <a:r>
              <a:rPr lang="en-US" dirty="0"/>
              <a:t>    if (s-&gt;top == -1){</a:t>
            </a:r>
          </a:p>
          <a:p>
            <a:r>
              <a:rPr lang="en-US" dirty="0"/>
              <a:t>        return 1; //true, empty stack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return 0;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int main(){</a:t>
            </a:r>
          </a:p>
          <a:p>
            <a:r>
              <a:rPr lang="en-US" dirty="0"/>
              <a:t>    struct stack s;</a:t>
            </a:r>
          </a:p>
          <a:p>
            <a:r>
              <a:rPr lang="en-US" dirty="0"/>
              <a:t>    </a:t>
            </a:r>
            <a:r>
              <a:rPr lang="en-US" dirty="0" err="1"/>
              <a:t>s.top</a:t>
            </a:r>
            <a:r>
              <a:rPr lang="en-US" dirty="0"/>
              <a:t>=-1;</a:t>
            </a:r>
          </a:p>
          <a:p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("Is empty: %d\n", empty(&amp;s));</a:t>
            </a:r>
          </a:p>
          <a:p>
            <a:r>
              <a:rPr lang="en-US" dirty="0"/>
              <a:t>    push(&amp;s, 5);</a:t>
            </a:r>
          </a:p>
          <a:p>
            <a:r>
              <a:rPr lang="en-US" dirty="0"/>
              <a:t>    push(&amp;s, 6);</a:t>
            </a:r>
          </a:p>
          <a:p>
            <a:r>
              <a:rPr lang="en-US" dirty="0"/>
              <a:t>    push(&amp;s, 7);</a:t>
            </a:r>
          </a:p>
          <a:p>
            <a:r>
              <a:rPr lang="en-US" dirty="0"/>
              <a:t>    pop(&amp;s);</a:t>
            </a:r>
          </a:p>
          <a:p>
            <a:r>
              <a:rPr lang="en-US" dirty="0"/>
              <a:t>    pop(&amp;s);</a:t>
            </a:r>
          </a:p>
          <a:p>
            <a:r>
              <a:rPr lang="en-US" dirty="0"/>
              <a:t>    pop(&amp;s);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918338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8AA0F-42D9-01C4-08DF-709A256BC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412D17-F1F4-9B3F-E441-7453EE24C7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3674F2-10D3-C3EA-1068-B8B1E2A6BA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2905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2F366094-956C-4EAE-8D5D-57B1B6CC2130}" type="slidenum">
              <a:rPr lang="en-US" altLang="en-US" sz="1200">
                <a:solidFill>
                  <a:schemeClr val="tx1"/>
                </a:solidFill>
              </a:rPr>
              <a:pPr eaLnBrk="1" hangingPunct="1"/>
              <a:t>16</a:t>
            </a:fld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en-US" altLang="en-US" dirty="0"/>
              <a:t>#include &lt;</a:t>
            </a:r>
            <a:r>
              <a:rPr lang="en-US" altLang="en-US" dirty="0" err="1"/>
              <a:t>stdio.h</a:t>
            </a:r>
            <a:r>
              <a:rPr lang="en-US" altLang="en-US" dirty="0"/>
              <a:t>&gt;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struct stack{</a:t>
            </a:r>
          </a:p>
          <a:p>
            <a:pPr eaLnBrk="1" hangingPunct="1"/>
            <a:r>
              <a:rPr lang="en-US" altLang="en-US" dirty="0"/>
              <a:t>   int num[100];</a:t>
            </a:r>
          </a:p>
          <a:p>
            <a:pPr eaLnBrk="1" hangingPunct="1"/>
            <a:r>
              <a:rPr lang="en-US" altLang="en-US" dirty="0"/>
              <a:t>   int head;</a:t>
            </a:r>
          </a:p>
          <a:p>
            <a:pPr eaLnBrk="1" hangingPunct="1"/>
            <a:r>
              <a:rPr lang="en-US" altLang="en-US" dirty="0"/>
              <a:t>};</a:t>
            </a:r>
          </a:p>
          <a:p>
            <a:pPr eaLnBrk="1" hangingPunct="1"/>
            <a:r>
              <a:rPr lang="en-US" altLang="en-US" dirty="0"/>
              <a:t>void push(struct stack* s, int x){</a:t>
            </a:r>
          </a:p>
          <a:p>
            <a:pPr eaLnBrk="1" hangingPunct="1"/>
            <a:r>
              <a:rPr lang="en-US" altLang="en-US" dirty="0"/>
              <a:t>    //TO-DO</a:t>
            </a:r>
          </a:p>
          <a:p>
            <a:pPr eaLnBrk="1" hangingPunct="1"/>
            <a:r>
              <a:rPr lang="en-US" altLang="en-US" dirty="0"/>
              <a:t>    </a:t>
            </a:r>
            <a:r>
              <a:rPr lang="en-US" altLang="en-US" dirty="0" err="1"/>
              <a:t>printf</a:t>
            </a:r>
            <a:r>
              <a:rPr lang="en-US" altLang="en-US" dirty="0"/>
              <a:t>("pushing %d to stack\n", x);</a:t>
            </a:r>
          </a:p>
          <a:p>
            <a:pPr eaLnBrk="1" hangingPunct="1"/>
            <a:r>
              <a:rPr lang="en-US" altLang="en-US" dirty="0"/>
              <a:t>}</a:t>
            </a:r>
          </a:p>
          <a:p>
            <a:pPr eaLnBrk="1" hangingPunct="1"/>
            <a:r>
              <a:rPr lang="en-US" altLang="en-US" dirty="0"/>
              <a:t>int pop(struct stack* s){</a:t>
            </a:r>
          </a:p>
          <a:p>
            <a:pPr eaLnBrk="1" hangingPunct="1"/>
            <a:r>
              <a:rPr lang="en-US" altLang="en-US" dirty="0"/>
              <a:t>    //TO-DO</a:t>
            </a:r>
          </a:p>
          <a:p>
            <a:pPr eaLnBrk="1" hangingPunct="1"/>
            <a:r>
              <a:rPr lang="en-US" altLang="en-US" dirty="0"/>
              <a:t>}</a:t>
            </a:r>
          </a:p>
          <a:p>
            <a:pPr eaLnBrk="1" hangingPunct="1"/>
            <a:r>
              <a:rPr lang="en-US" altLang="en-US" dirty="0"/>
              <a:t>int empty(struct stack* s){</a:t>
            </a:r>
          </a:p>
          <a:p>
            <a:pPr eaLnBrk="1" hangingPunct="1"/>
            <a:r>
              <a:rPr lang="en-US" altLang="en-US" dirty="0"/>
              <a:t>    if (s-&gt;head == -1){</a:t>
            </a:r>
          </a:p>
          <a:p>
            <a:pPr eaLnBrk="1" hangingPunct="1"/>
            <a:r>
              <a:rPr lang="en-US" altLang="en-US" dirty="0"/>
              <a:t>        return 1; //true, empty stack</a:t>
            </a:r>
          </a:p>
          <a:p>
            <a:pPr eaLnBrk="1" hangingPunct="1"/>
            <a:r>
              <a:rPr lang="en-US" altLang="en-US" dirty="0"/>
              <a:t>    }</a:t>
            </a:r>
          </a:p>
          <a:p>
            <a:pPr eaLnBrk="1" hangingPunct="1"/>
            <a:r>
              <a:rPr lang="en-US" altLang="en-US" dirty="0"/>
              <a:t>    return 0;</a:t>
            </a:r>
          </a:p>
          <a:p>
            <a:pPr eaLnBrk="1" hangingPunct="1"/>
            <a:r>
              <a:rPr lang="en-US" altLang="en-US" dirty="0"/>
              <a:t>}</a:t>
            </a:r>
          </a:p>
          <a:p>
            <a:pPr eaLnBrk="1" hangingPunct="1"/>
            <a:r>
              <a:rPr lang="en-US" altLang="en-US" dirty="0"/>
              <a:t>int full(struct stack* s){</a:t>
            </a:r>
          </a:p>
          <a:p>
            <a:pPr eaLnBrk="1" hangingPunct="1"/>
            <a:r>
              <a:rPr lang="en-US" altLang="en-US" dirty="0"/>
              <a:t>    if (s-&gt;head == 99){</a:t>
            </a:r>
          </a:p>
          <a:p>
            <a:pPr eaLnBrk="1" hangingPunct="1"/>
            <a:r>
              <a:rPr lang="en-US" altLang="en-US" dirty="0"/>
              <a:t>        return 1; //true, empty stack</a:t>
            </a:r>
          </a:p>
          <a:p>
            <a:pPr eaLnBrk="1" hangingPunct="1"/>
            <a:r>
              <a:rPr lang="en-US" altLang="en-US" dirty="0"/>
              <a:t>    }</a:t>
            </a:r>
          </a:p>
          <a:p>
            <a:pPr eaLnBrk="1" hangingPunct="1"/>
            <a:r>
              <a:rPr lang="en-US" altLang="en-US" dirty="0"/>
              <a:t>    return 0;</a:t>
            </a:r>
          </a:p>
          <a:p>
            <a:pPr eaLnBrk="1" hangingPunct="1"/>
            <a:r>
              <a:rPr lang="en-US" altLang="en-US" dirty="0"/>
              <a:t>}</a:t>
            </a:r>
          </a:p>
          <a:p>
            <a:pPr eaLnBrk="1" hangingPunct="1"/>
            <a:r>
              <a:rPr lang="en-US" altLang="en-US" dirty="0"/>
              <a:t>int main(){</a:t>
            </a:r>
          </a:p>
          <a:p>
            <a:pPr eaLnBrk="1" hangingPunct="1"/>
            <a:r>
              <a:rPr lang="en-US" altLang="en-US" dirty="0"/>
              <a:t>    struct stack s;</a:t>
            </a:r>
          </a:p>
          <a:p>
            <a:pPr eaLnBrk="1" hangingPunct="1"/>
            <a:r>
              <a:rPr lang="en-US" altLang="en-US" dirty="0"/>
              <a:t>    </a:t>
            </a:r>
            <a:r>
              <a:rPr lang="en-US" altLang="en-US" dirty="0" err="1"/>
              <a:t>s.head</a:t>
            </a:r>
            <a:r>
              <a:rPr lang="en-US" altLang="en-US" dirty="0"/>
              <a:t>=-1;</a:t>
            </a:r>
          </a:p>
          <a:p>
            <a:pPr eaLnBrk="1" hangingPunct="1"/>
            <a:r>
              <a:rPr lang="en-US" altLang="en-US" dirty="0"/>
              <a:t>    </a:t>
            </a:r>
            <a:r>
              <a:rPr lang="en-US" altLang="en-US" dirty="0" err="1"/>
              <a:t>printf</a:t>
            </a:r>
            <a:r>
              <a:rPr lang="en-US" altLang="en-US" dirty="0"/>
              <a:t>("Is empty: %d\n", empty(&amp;s));</a:t>
            </a:r>
          </a:p>
          <a:p>
            <a:pPr eaLnBrk="1" hangingPunct="1"/>
            <a:r>
              <a:rPr lang="en-US" altLang="en-US" dirty="0"/>
              <a:t>    push(&amp;s, 5);</a:t>
            </a:r>
          </a:p>
          <a:p>
            <a:pPr eaLnBrk="1" hangingPunct="1"/>
            <a:r>
              <a:rPr lang="en-US" altLang="en-US" dirty="0"/>
              <a:t>    push(&amp;s, 6);</a:t>
            </a:r>
          </a:p>
          <a:p>
            <a:pPr eaLnBrk="1" hangingPunct="1"/>
            <a:r>
              <a:rPr lang="en-US" altLang="en-US" dirty="0"/>
              <a:t>    push(&amp;s, 7);</a:t>
            </a:r>
          </a:p>
          <a:p>
            <a:pPr eaLnBrk="1" hangingPunct="1"/>
            <a:r>
              <a:rPr lang="en-US" altLang="en-US" dirty="0"/>
              <a:t>    pop(&amp;s);</a:t>
            </a:r>
          </a:p>
          <a:p>
            <a:pPr eaLnBrk="1" hangingPunct="1"/>
            <a:r>
              <a:rPr lang="en-US" altLang="en-US" dirty="0"/>
              <a:t>    pop(&amp;s);</a:t>
            </a:r>
          </a:p>
          <a:p>
            <a:pPr eaLnBrk="1" hangingPunct="1"/>
            <a:r>
              <a:rPr lang="en-US" altLang="en-US" dirty="0"/>
              <a:t>    pop(&amp;s);</a:t>
            </a:r>
          </a:p>
          <a:p>
            <a:pPr eaLnBrk="1" hangingPunct="1"/>
            <a:r>
              <a:rPr lang="en-US" altLang="en-US" dirty="0"/>
              <a:t>}</a:t>
            </a:r>
          </a:p>
          <a:p>
            <a:pPr eaLnBrk="1" hangingPunct="1"/>
            <a:endParaRPr lang="en-US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</a:lstStyle>
          <a:p>
            <a:fld id="{B61BEF0D-F0BB-DE4B-95CE-6DB70DBA9567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i="0" cap="all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i="0" kern="1200" cap="all">
          <a:solidFill>
            <a:schemeClr val="bg1"/>
          </a:solidFill>
          <a:latin typeface="Times New Roman" panose="02020603050405020304" pitchFamily="18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b="0" i="0" kern="1200">
          <a:solidFill>
            <a:schemeClr val="tx2"/>
          </a:solidFill>
          <a:latin typeface="Times New Roman" panose="02020603050405020304" pitchFamily="18" charset="0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b="0" i="0" kern="1200">
          <a:solidFill>
            <a:schemeClr val="tx2"/>
          </a:solidFill>
          <a:latin typeface="Times New Roman" panose="02020603050405020304" pitchFamily="18" charset="0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b="0" i="0" kern="1200">
          <a:solidFill>
            <a:schemeClr val="tx2"/>
          </a:solidFill>
          <a:latin typeface="Times New Roman" panose="02020603050405020304" pitchFamily="18" charset="0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b="0" i="0" kern="1200">
          <a:solidFill>
            <a:schemeClr val="tx2"/>
          </a:solidFill>
          <a:latin typeface="Times New Roman" panose="02020603050405020304" pitchFamily="18" charset="0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b="0" i="0" kern="1200">
          <a:solidFill>
            <a:schemeClr val="tx2"/>
          </a:solidFill>
          <a:latin typeface="Times New Roman" panose="02020603050405020304" pitchFamily="18" charset="0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  <p:pic>
        <p:nvPicPr>
          <p:cNvPr id="7" name="Picture 6" descr="Digital Connection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602" y="4455816"/>
            <a:ext cx="11260666" cy="1627101"/>
          </a:xfrm>
        </p:spPr>
        <p:txBody>
          <a:bodyPr>
            <a:noAutofit/>
          </a:bodyPr>
          <a:lstStyle/>
          <a:p>
            <a:r>
              <a:rPr lang="en-US" sz="5000" dirty="0">
                <a:solidFill>
                  <a:schemeClr val="bg1"/>
                </a:solidFill>
              </a:rPr>
              <a:t>Stacks</a:t>
            </a:r>
            <a:br>
              <a:rPr lang="en-US" sz="5000" dirty="0">
                <a:solidFill>
                  <a:schemeClr val="bg1"/>
                </a:solidFill>
              </a:rPr>
            </a:br>
            <a:endParaRPr lang="en-US" sz="5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9489" y="2378181"/>
            <a:ext cx="7556526" cy="2461777"/>
          </a:xfrm>
        </p:spPr>
        <p:txBody>
          <a:bodyPr anchor="t" anchorCtr="0">
            <a:noAutofit/>
          </a:bodyPr>
          <a:lstStyle/>
          <a:p>
            <a:pPr marL="0" indent="0">
              <a:lnSpc>
                <a:spcPct val="95000"/>
              </a:lnSpc>
              <a:spcAft>
                <a:spcPts val="450"/>
              </a:spcAft>
              <a:buNone/>
            </a:pPr>
            <a:r>
              <a:rPr lang="en-US" sz="3200" dirty="0"/>
              <a:t>Finish Nearpod from last Class.</a:t>
            </a:r>
          </a:p>
        </p:txBody>
      </p:sp>
    </p:spTree>
    <p:extLst>
      <p:ext uri="{BB962C8B-B14F-4D97-AF65-F5344CB8AC3E}">
        <p14:creationId xmlns:p14="http://schemas.microsoft.com/office/powerpoint/2010/main" val="20441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93F22-17F6-F27D-F477-D8BD3AF14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5439C-5FAF-A6AB-BA6B-185194FB1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489" y="2378181"/>
            <a:ext cx="7556526" cy="2461777"/>
          </a:xfrm>
        </p:spPr>
        <p:txBody>
          <a:bodyPr anchor="t" anchorCtr="0">
            <a:noAutofit/>
          </a:bodyPr>
          <a:lstStyle/>
          <a:p>
            <a:pPr>
              <a:lnSpc>
                <a:spcPct val="95000"/>
              </a:lnSpc>
              <a:spcAft>
                <a:spcPts val="450"/>
              </a:spcAft>
              <a:buFont typeface="Wingdings" pitchFamily="2" charset="2"/>
              <a:buChar char="Ø"/>
            </a:pPr>
            <a:r>
              <a:rPr lang="en-US" sz="3200" dirty="0"/>
              <a:t>What is Big-O Notation?</a:t>
            </a:r>
          </a:p>
          <a:p>
            <a:pPr>
              <a:lnSpc>
                <a:spcPct val="95000"/>
              </a:lnSpc>
              <a:spcAft>
                <a:spcPts val="450"/>
              </a:spcAft>
              <a:buFont typeface="Wingdings" pitchFamily="2" charset="2"/>
              <a:buChar char="Ø"/>
            </a:pPr>
            <a:endParaRPr lang="en-US" sz="3200" dirty="0"/>
          </a:p>
          <a:p>
            <a:pPr>
              <a:lnSpc>
                <a:spcPct val="95000"/>
              </a:lnSpc>
              <a:spcAft>
                <a:spcPts val="450"/>
              </a:spcAft>
              <a:buFont typeface="Wingdings" pitchFamily="2" charset="2"/>
              <a:buChar char="Ø"/>
            </a:pPr>
            <a:r>
              <a:rPr lang="en-US" sz="3200" dirty="0"/>
              <a:t>Give a code example that is O(n</a:t>
            </a:r>
            <a:r>
              <a:rPr lang="en-US" sz="3200" baseline="30000" dirty="0"/>
              <a:t>2</a:t>
            </a:r>
            <a:r>
              <a:rPr lang="en-US" sz="3200" dirty="0"/>
              <a:t>)?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FD71CA-2B61-78FE-88B3-5868E6E0E59B}"/>
              </a:ext>
            </a:extLst>
          </p:cNvPr>
          <p:cNvSpPr txBox="1"/>
          <p:nvPr/>
        </p:nvSpPr>
        <p:spPr>
          <a:xfrm>
            <a:off x="509489" y="886949"/>
            <a:ext cx="6046419" cy="712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5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3977619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5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Stacks</a:t>
            </a:r>
          </a:p>
        </p:txBody>
      </p:sp>
      <p:pic>
        <p:nvPicPr>
          <p:cNvPr id="6" name="Picture 16" descr="StackOfBowl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7018" y="2071743"/>
            <a:ext cx="3073790" cy="4593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17"/>
          <p:cNvSpPr txBox="1">
            <a:spLocks noChangeArrowheads="1"/>
          </p:cNvSpPr>
          <p:nvPr/>
        </p:nvSpPr>
        <p:spPr bwMode="auto">
          <a:xfrm>
            <a:off x="436100" y="1916100"/>
            <a:ext cx="8100918" cy="492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2900" dirty="0">
                <a:solidFill>
                  <a:schemeClr val="tx1"/>
                </a:solidFill>
              </a:rPr>
              <a:t>A </a:t>
            </a:r>
            <a:r>
              <a:rPr lang="en-US" altLang="en-US" sz="2900" b="1" dirty="0">
                <a:solidFill>
                  <a:schemeClr val="tx1"/>
                </a:solidFill>
              </a:rPr>
              <a:t>stack</a:t>
            </a:r>
            <a:r>
              <a:rPr lang="en-US" altLang="en-US" sz="2900" dirty="0">
                <a:solidFill>
                  <a:schemeClr val="tx1"/>
                </a:solidFill>
              </a:rPr>
              <a:t> is a data structure where the insertions and deletions occur at the same end of the stack, the top.  </a:t>
            </a:r>
          </a:p>
          <a:p>
            <a:pPr eaLnBrk="1" hangingPunct="1"/>
            <a:endParaRPr lang="en-US" altLang="en-US" sz="2900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en-US" sz="2900" dirty="0">
                <a:solidFill>
                  <a:schemeClr val="tx1"/>
                </a:solidFill>
              </a:rPr>
              <a:t>When you unload a dishwasher, you make a stack of dishes.  The last bowl you put in a stack will be the first one that you take off the stack when you need a clean bowl.</a:t>
            </a:r>
          </a:p>
          <a:p>
            <a:pPr eaLnBrk="1" hangingPunct="1"/>
            <a:endParaRPr lang="en-US" altLang="en-US" sz="2900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en-US" sz="2900" dirty="0">
                <a:solidFill>
                  <a:schemeClr val="tx1"/>
                </a:solidFill>
              </a:rPr>
              <a:t>The behavior of a stack is </a:t>
            </a:r>
            <a:r>
              <a:rPr lang="en-US" altLang="en-US" sz="2900" b="1" dirty="0">
                <a:solidFill>
                  <a:schemeClr val="tx1"/>
                </a:solidFill>
              </a:rPr>
              <a:t>LIFO</a:t>
            </a:r>
          </a:p>
          <a:p>
            <a:pPr eaLnBrk="1" hangingPunct="1"/>
            <a:r>
              <a:rPr lang="en-US" altLang="en-US" sz="2900" b="1" dirty="0">
                <a:solidFill>
                  <a:srgbClr val="0070C0"/>
                </a:solidFill>
              </a:rPr>
              <a:t>LIFO</a:t>
            </a:r>
            <a:r>
              <a:rPr lang="en-US" altLang="en-US" sz="2900" b="1" dirty="0">
                <a:solidFill>
                  <a:schemeClr val="tx1"/>
                </a:solidFill>
              </a:rPr>
              <a:t> </a:t>
            </a:r>
            <a:r>
              <a:rPr lang="en-US" altLang="en-US" sz="2900" dirty="0">
                <a:solidFill>
                  <a:schemeClr val="tx1"/>
                </a:solidFill>
              </a:rPr>
              <a:t>- </a:t>
            </a:r>
            <a:r>
              <a:rPr lang="en-US" altLang="en-US" sz="2900" dirty="0">
                <a:solidFill>
                  <a:srgbClr val="0070C0"/>
                </a:solidFill>
              </a:rPr>
              <a:t>L</a:t>
            </a:r>
            <a:r>
              <a:rPr lang="en-US" altLang="en-US" sz="2900" dirty="0">
                <a:solidFill>
                  <a:schemeClr val="tx1"/>
                </a:solidFill>
              </a:rPr>
              <a:t>ast-</a:t>
            </a:r>
            <a:r>
              <a:rPr lang="en-US" altLang="en-US" sz="2900" dirty="0">
                <a:solidFill>
                  <a:srgbClr val="0070C0"/>
                </a:solidFill>
              </a:rPr>
              <a:t>I</a:t>
            </a:r>
            <a:r>
              <a:rPr lang="en-US" altLang="en-US" sz="2900" dirty="0">
                <a:solidFill>
                  <a:schemeClr val="tx1"/>
                </a:solidFill>
              </a:rPr>
              <a:t>n, </a:t>
            </a:r>
            <a:r>
              <a:rPr lang="en-US" altLang="en-US" sz="2900" dirty="0">
                <a:solidFill>
                  <a:srgbClr val="0070C0"/>
                </a:solidFill>
              </a:rPr>
              <a:t>F</a:t>
            </a:r>
            <a:r>
              <a:rPr lang="en-US" altLang="en-US" sz="2900" dirty="0">
                <a:solidFill>
                  <a:schemeClr val="tx1"/>
                </a:solidFill>
              </a:rPr>
              <a:t>irst-</a:t>
            </a:r>
            <a:r>
              <a:rPr lang="en-US" altLang="en-US" sz="2900" dirty="0">
                <a:solidFill>
                  <a:srgbClr val="0070C0"/>
                </a:solidFill>
              </a:rPr>
              <a:t>O</a:t>
            </a:r>
            <a:r>
              <a:rPr lang="en-US" altLang="en-US" sz="2900" dirty="0">
                <a:solidFill>
                  <a:schemeClr val="tx1"/>
                </a:solidFill>
              </a:rPr>
              <a:t>ut </a:t>
            </a:r>
          </a:p>
          <a:p>
            <a:pPr eaLnBrk="1" hangingPunct="1"/>
            <a:endParaRPr lang="en-US" alt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625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5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Stacks</a:t>
            </a:r>
            <a:endParaRPr lang="en-US" altLang="en-US" sz="5400" dirty="0">
              <a:solidFill>
                <a:srgbClr val="FFFFFF"/>
              </a:solidFill>
            </a:endParaRPr>
          </a:p>
        </p:txBody>
      </p:sp>
      <p:pic>
        <p:nvPicPr>
          <p:cNvPr id="4" name="Picture 16" descr="StackOfBowl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2349" y="1994619"/>
            <a:ext cx="3254174" cy="4863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445477" y="1745588"/>
            <a:ext cx="8046872" cy="5539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2900" dirty="0">
                <a:solidFill>
                  <a:schemeClr val="tx1"/>
                </a:solidFill>
              </a:rPr>
              <a:t>When you put an item on the stack, it’s called a </a:t>
            </a:r>
            <a:r>
              <a:rPr lang="en-US" altLang="en-US" sz="2900" b="1" dirty="0">
                <a:solidFill>
                  <a:srgbClr val="0070C0"/>
                </a:solidFill>
              </a:rPr>
              <a:t>push</a:t>
            </a:r>
            <a:r>
              <a:rPr lang="en-US" altLang="en-US" sz="2900" dirty="0">
                <a:solidFill>
                  <a:schemeClr val="tx1"/>
                </a:solidFill>
              </a:rPr>
              <a:t>.</a:t>
            </a:r>
          </a:p>
          <a:p>
            <a:pPr eaLnBrk="1" hangingPunct="1"/>
            <a:endParaRPr lang="en-US" altLang="en-US" sz="2900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en-US" sz="2900" dirty="0">
                <a:solidFill>
                  <a:schemeClr val="tx1"/>
                </a:solidFill>
              </a:rPr>
              <a:t>When you take an item off the stack, it’s called a </a:t>
            </a:r>
            <a:r>
              <a:rPr lang="en-US" altLang="en-US" sz="2900" b="1" dirty="0">
                <a:solidFill>
                  <a:srgbClr val="0070C0"/>
                </a:solidFill>
              </a:rPr>
              <a:t>pop</a:t>
            </a:r>
            <a:r>
              <a:rPr lang="en-US" altLang="en-US" sz="2900" dirty="0">
                <a:solidFill>
                  <a:schemeClr val="tx1"/>
                </a:solidFill>
              </a:rPr>
              <a:t>.</a:t>
            </a:r>
          </a:p>
          <a:p>
            <a:pPr eaLnBrk="1" hangingPunct="1"/>
            <a:endParaRPr lang="en-US" altLang="en-US" sz="2900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en-US" sz="2900" dirty="0">
                <a:solidFill>
                  <a:schemeClr val="tx1"/>
                </a:solidFill>
              </a:rPr>
              <a:t>You will need to have a way to determine if the stack is empty, find out the size of the stack etc.</a:t>
            </a:r>
          </a:p>
          <a:p>
            <a:pPr eaLnBrk="1" hangingPunct="1"/>
            <a:endParaRPr lang="en-US" altLang="en-US" sz="2900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en-US" sz="2900" dirty="0">
                <a:solidFill>
                  <a:schemeClr val="tx1"/>
                </a:solidFill>
              </a:rPr>
              <a:t>Examples uses: Un-Do Button, Calling Functions (return address put on stack)</a:t>
            </a:r>
          </a:p>
          <a:p>
            <a:pPr eaLnBrk="1" hangingPunct="1"/>
            <a:endParaRPr lang="en-US" alt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4620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47869C-ADBD-45B1-ADD0-7AD34558D7BD}"/>
              </a:ext>
            </a:extLst>
          </p:cNvPr>
          <p:cNvSpPr txBox="1"/>
          <p:nvPr/>
        </p:nvSpPr>
        <p:spPr>
          <a:xfrm>
            <a:off x="460235" y="2068324"/>
            <a:ext cx="8583498" cy="4527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1775" indent="-231775">
              <a:lnSpc>
                <a:spcPct val="9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</a:rPr>
              <a:t>Postfix Expression</a:t>
            </a:r>
          </a:p>
          <a:p>
            <a:pPr marL="231775" indent="-231775">
              <a:lnSpc>
                <a:spcPct val="9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</a:rPr>
              <a:t>Page-visited history in a Web browser</a:t>
            </a:r>
          </a:p>
          <a:p>
            <a:pPr marL="231775" indent="-231775">
              <a:lnSpc>
                <a:spcPct val="9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</a:rPr>
              <a:t>Undo button</a:t>
            </a:r>
          </a:p>
          <a:p>
            <a:pPr marL="231775" indent="-231775">
              <a:lnSpc>
                <a:spcPct val="9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</a:rPr>
              <a:t>Memory addresses when function called</a:t>
            </a:r>
          </a:p>
          <a:p>
            <a:pPr marL="231775" indent="-231775">
              <a:lnSpc>
                <a:spcPct val="9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</a:rPr>
              <a:t>HTML tag matching</a:t>
            </a:r>
          </a:p>
          <a:p>
            <a:pPr marL="231775" indent="-231775">
              <a:lnSpc>
                <a:spcPct val="9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</a:rPr>
              <a:t>Compilers use stacks to parse programs and produce code</a:t>
            </a:r>
          </a:p>
          <a:p>
            <a:pPr marL="231775" indent="-231775">
              <a:lnSpc>
                <a:spcPct val="9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</a:rPr>
              <a:t>Used in other data structures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A1BB8D-AE7B-7158-F90D-37C75082234B}"/>
              </a:ext>
            </a:extLst>
          </p:cNvPr>
          <p:cNvSpPr txBox="1"/>
          <p:nvPr/>
        </p:nvSpPr>
        <p:spPr>
          <a:xfrm>
            <a:off x="660140" y="901400"/>
            <a:ext cx="8383593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5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Real World Application of Stack</a:t>
            </a:r>
          </a:p>
        </p:txBody>
      </p:sp>
    </p:spTree>
    <p:extLst>
      <p:ext uri="{BB962C8B-B14F-4D97-AF65-F5344CB8AC3E}">
        <p14:creationId xmlns:p14="http://schemas.microsoft.com/office/powerpoint/2010/main" val="2769949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4A76A-0443-80C2-717D-23918D942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5729A36-36C9-FFD6-2527-B0CFEE10469C}"/>
              </a:ext>
            </a:extLst>
          </p:cNvPr>
          <p:cNvSpPr txBox="1"/>
          <p:nvPr/>
        </p:nvSpPr>
        <p:spPr>
          <a:xfrm>
            <a:off x="551089" y="905416"/>
            <a:ext cx="8383593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5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Postfix Expression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38C095B-2E97-3DBB-9D42-7A9392FE92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631348"/>
              </p:ext>
            </p:extLst>
          </p:nvPr>
        </p:nvGraphicFramePr>
        <p:xfrm>
          <a:off x="1673411" y="3263723"/>
          <a:ext cx="8128000" cy="20726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53680263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573803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infix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postfix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2057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3 + 5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3 5 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154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5 * (6 + 2)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5  6  2 + *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889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(8 - 3) / (2 + 1)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8 3 - 2 1 + 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818572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14DF8DD-323C-6A24-A232-62F8143091F9}"/>
              </a:ext>
            </a:extLst>
          </p:cNvPr>
          <p:cNvSpPr txBox="1"/>
          <p:nvPr/>
        </p:nvSpPr>
        <p:spPr>
          <a:xfrm>
            <a:off x="551089" y="1970570"/>
            <a:ext cx="10780940" cy="1027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900"/>
              </a:spcAft>
            </a:pPr>
            <a:r>
              <a:rPr lang="en-US" sz="3200" dirty="0">
                <a:latin typeface="Times New Roman" panose="02020603050405020304" pitchFamily="18" charset="0"/>
              </a:rPr>
              <a:t>Postfix Expression - Reverse Polish Notation (RPN), the operators are shown after the operands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CEB6D0-9792-6420-C0BD-D190560680AD}"/>
              </a:ext>
            </a:extLst>
          </p:cNvPr>
          <p:cNvSpPr txBox="1"/>
          <p:nvPr/>
        </p:nvSpPr>
        <p:spPr>
          <a:xfrm>
            <a:off x="551089" y="5568415"/>
            <a:ext cx="10780940" cy="1027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900"/>
              </a:spcAft>
            </a:pPr>
            <a:r>
              <a:rPr lang="en-US" sz="3200" dirty="0">
                <a:latin typeface="Times New Roman" panose="02020603050405020304" pitchFamily="18" charset="0"/>
              </a:rPr>
              <a:t>Parentheses are not needed.  Easier for computers to evaluate using a stack.</a:t>
            </a:r>
          </a:p>
        </p:txBody>
      </p:sp>
    </p:spTree>
    <p:extLst>
      <p:ext uri="{BB962C8B-B14F-4D97-AF65-F5344CB8AC3E}">
        <p14:creationId xmlns:p14="http://schemas.microsoft.com/office/powerpoint/2010/main" val="764240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3C0F7-6199-8C4E-2C2D-3C1EE9C9D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C1CA009-2584-79CF-4309-1CD58326A3FE}"/>
              </a:ext>
            </a:extLst>
          </p:cNvPr>
          <p:cNvSpPr txBox="1"/>
          <p:nvPr/>
        </p:nvSpPr>
        <p:spPr>
          <a:xfrm>
            <a:off x="676469" y="828571"/>
            <a:ext cx="8383593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5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Postfix Expression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020503A-0C06-2C5F-396A-860226A0DD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276712"/>
              </p:ext>
            </p:extLst>
          </p:nvPr>
        </p:nvGraphicFramePr>
        <p:xfrm>
          <a:off x="6562350" y="1741363"/>
          <a:ext cx="5425168" cy="20726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490375">
                  <a:extLst>
                    <a:ext uri="{9D8B030D-6E8A-4147-A177-3AD203B41FA5}">
                      <a16:colId xmlns:a16="http://schemas.microsoft.com/office/drawing/2014/main" val="1536802638"/>
                    </a:ext>
                  </a:extLst>
                </a:gridCol>
                <a:gridCol w="2934793">
                  <a:extLst>
                    <a:ext uri="{9D8B030D-6E8A-4147-A177-3AD203B41FA5}">
                      <a16:colId xmlns:a16="http://schemas.microsoft.com/office/drawing/2014/main" val="29573803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infix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postfix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2057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3 + 5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3 5 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154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5 * (6 + 2)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5  6  2 + *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889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(8 - 3) / (2 + 1)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8 3 - 2 1 + 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818572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0988AE8-DEB6-56CD-1B60-775AB61C5B0F}"/>
              </a:ext>
            </a:extLst>
          </p:cNvPr>
          <p:cNvSpPr txBox="1"/>
          <p:nvPr/>
        </p:nvSpPr>
        <p:spPr>
          <a:xfrm>
            <a:off x="379914" y="2524472"/>
            <a:ext cx="10780940" cy="336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900"/>
              </a:spcAft>
            </a:pPr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</a:rPr>
              <a:t>HOW TO DECODE POSTFIX</a:t>
            </a:r>
          </a:p>
          <a:p>
            <a:pPr marL="514350" indent="-514350">
              <a:lnSpc>
                <a:spcPct val="95000"/>
              </a:lnSpc>
              <a:spcAft>
                <a:spcPts val="900"/>
              </a:spcAft>
              <a:buAutoNum type="arabicPeriod"/>
            </a:pPr>
            <a:r>
              <a:rPr lang="en-US" sz="3200" dirty="0">
                <a:latin typeface="Times New Roman" panose="02020603050405020304" pitchFamily="18" charset="0"/>
              </a:rPr>
              <a:t>Read from left to right</a:t>
            </a:r>
          </a:p>
          <a:p>
            <a:pPr marL="514350" indent="-514350">
              <a:lnSpc>
                <a:spcPct val="95000"/>
              </a:lnSpc>
              <a:spcAft>
                <a:spcPts val="900"/>
              </a:spcAft>
              <a:buAutoNum type="arabicPeriod"/>
            </a:pPr>
            <a:r>
              <a:rPr lang="en-US" sz="3200" dirty="0">
                <a:latin typeface="Times New Roman" panose="02020603050405020304" pitchFamily="18" charset="0"/>
              </a:rPr>
              <a:t>If it’s a number, push to the stack.</a:t>
            </a:r>
          </a:p>
          <a:p>
            <a:pPr marL="514350" indent="-514350">
              <a:lnSpc>
                <a:spcPct val="95000"/>
              </a:lnSpc>
              <a:spcAft>
                <a:spcPts val="900"/>
              </a:spcAft>
              <a:buAutoNum type="arabicPeriod"/>
            </a:pPr>
            <a:r>
              <a:rPr lang="en-US" sz="3200" dirty="0">
                <a:latin typeface="Times New Roman" panose="02020603050405020304" pitchFamily="18" charset="0"/>
              </a:rPr>
              <a:t>If it’s an operator (+, -, *, /), Pop the 2 values off stack and apply operation,  push result back to stack.</a:t>
            </a:r>
          </a:p>
          <a:p>
            <a:pPr marL="514350" indent="-514350">
              <a:lnSpc>
                <a:spcPct val="95000"/>
              </a:lnSpc>
              <a:spcAft>
                <a:spcPts val="900"/>
              </a:spcAft>
              <a:buAutoNum type="arabicPeriod"/>
            </a:pPr>
            <a:r>
              <a:rPr lang="en-US" sz="3200" dirty="0">
                <a:latin typeface="Times New Roman" panose="02020603050405020304" pitchFamily="18" charset="0"/>
              </a:rPr>
              <a:t>At the end stack contains 1 value, the result.</a:t>
            </a:r>
          </a:p>
        </p:txBody>
      </p:sp>
    </p:spTree>
    <p:extLst>
      <p:ext uri="{BB962C8B-B14F-4D97-AF65-F5344CB8AC3E}">
        <p14:creationId xmlns:p14="http://schemas.microsoft.com/office/powerpoint/2010/main" val="36406091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99B7C-6A65-AE90-71F5-D9A9B13AB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24EE86A-7B67-6EDE-7BBA-627A1A0D3986}"/>
              </a:ext>
            </a:extLst>
          </p:cNvPr>
          <p:cNvSpPr txBox="1"/>
          <p:nvPr/>
        </p:nvSpPr>
        <p:spPr>
          <a:xfrm>
            <a:off x="611154" y="934058"/>
            <a:ext cx="8383593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5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Postfix Expression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986F59-7392-D69C-2246-277BD25620BA}"/>
              </a:ext>
            </a:extLst>
          </p:cNvPr>
          <p:cNvSpPr txBox="1"/>
          <p:nvPr/>
        </p:nvSpPr>
        <p:spPr>
          <a:xfrm>
            <a:off x="467405" y="2316831"/>
            <a:ext cx="10780940" cy="794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900"/>
              </a:spcAft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Evaluate:      6 2 3 + - 3 8 2 / + *</a:t>
            </a:r>
          </a:p>
        </p:txBody>
      </p:sp>
    </p:spTree>
    <p:extLst>
      <p:ext uri="{BB962C8B-B14F-4D97-AF65-F5344CB8AC3E}">
        <p14:creationId xmlns:p14="http://schemas.microsoft.com/office/powerpoint/2010/main" val="2906668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A7D9A-8BBC-DB75-98C6-0C77659B9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8B83930-4E91-FE15-F1F2-CA6A6458C1BE}"/>
              </a:ext>
            </a:extLst>
          </p:cNvPr>
          <p:cNvSpPr txBox="1"/>
          <p:nvPr/>
        </p:nvSpPr>
        <p:spPr>
          <a:xfrm>
            <a:off x="779281" y="815525"/>
            <a:ext cx="6046419" cy="712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5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HTML Tag Matching</a:t>
            </a:r>
          </a:p>
        </p:txBody>
      </p:sp>
      <p:sp>
        <p:nvSpPr>
          <p:cNvPr id="2" name="TextShape 4">
            <a:extLst>
              <a:ext uri="{FF2B5EF4-FFF2-40B4-BE49-F238E27FC236}">
                <a16:creationId xmlns:a16="http://schemas.microsoft.com/office/drawing/2014/main" id="{A883CBFE-F1E8-E195-3039-75A33C7F3D96}"/>
              </a:ext>
            </a:extLst>
          </p:cNvPr>
          <p:cNvSpPr txBox="1"/>
          <p:nvPr/>
        </p:nvSpPr>
        <p:spPr>
          <a:xfrm>
            <a:off x="598595" y="2510862"/>
            <a:ext cx="7772040" cy="411444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43080" indent="-342720">
              <a:lnSpc>
                <a:spcPct val="80000"/>
              </a:lnSpc>
              <a:spcBef>
                <a:spcPts val="281"/>
              </a:spcBef>
            </a:pPr>
            <a:endParaRPr lang="en-US" sz="3200" spc="-1" dirty="0">
              <a:solidFill>
                <a:srgbClr val="40458C"/>
              </a:solidFill>
              <a:latin typeface="Times New Roman" panose="02020603050405020304" pitchFamily="18" charset="0"/>
            </a:endParaRPr>
          </a:p>
          <a:p>
            <a:pPr marL="343080" indent="-342720">
              <a:lnSpc>
                <a:spcPct val="80000"/>
              </a:lnSpc>
              <a:spcBef>
                <a:spcPts val="281"/>
              </a:spcBef>
            </a:pPr>
            <a:r>
              <a:rPr lang="en-US" sz="1400" spc="-1" dirty="0">
                <a:solidFill>
                  <a:srgbClr val="C00000"/>
                </a:solidFill>
                <a:latin typeface="Times New Roman" panose="02020603050405020304" pitchFamily="18" charset="0"/>
                <a:ea typeface="ＭＳ Ｐゴシック"/>
              </a:rPr>
              <a:t>&lt;body&gt;</a:t>
            </a:r>
            <a:endParaRPr lang="en-US" sz="1400" spc="-1" dirty="0">
              <a:solidFill>
                <a:srgbClr val="40458C"/>
              </a:solidFill>
              <a:latin typeface="Times New Roman" panose="02020603050405020304" pitchFamily="18" charset="0"/>
            </a:endParaRPr>
          </a:p>
          <a:p>
            <a:pPr marL="343080" indent="-342720">
              <a:lnSpc>
                <a:spcPct val="80000"/>
              </a:lnSpc>
              <a:spcBef>
                <a:spcPts val="281"/>
              </a:spcBef>
            </a:pPr>
            <a:r>
              <a:rPr lang="en-US" sz="1400" spc="-1" dirty="0">
                <a:solidFill>
                  <a:srgbClr val="C00000"/>
                </a:solidFill>
                <a:latin typeface="Times New Roman" panose="02020603050405020304" pitchFamily="18" charset="0"/>
                <a:ea typeface="ＭＳ Ｐゴシック"/>
              </a:rPr>
              <a:t>&lt;center&gt;</a:t>
            </a:r>
            <a:endParaRPr lang="en-US" sz="1400" spc="-1" dirty="0">
              <a:solidFill>
                <a:srgbClr val="40458C"/>
              </a:solidFill>
              <a:latin typeface="Times New Roman" panose="02020603050405020304" pitchFamily="18" charset="0"/>
            </a:endParaRPr>
          </a:p>
          <a:p>
            <a:pPr marL="343080" indent="-342720">
              <a:lnSpc>
                <a:spcPct val="80000"/>
              </a:lnSpc>
              <a:spcBef>
                <a:spcPts val="281"/>
              </a:spcBef>
            </a:pPr>
            <a:r>
              <a:rPr lang="en-US" sz="1400" spc="-1" dirty="0">
                <a:solidFill>
                  <a:srgbClr val="C00000"/>
                </a:solidFill>
                <a:latin typeface="Times New Roman" panose="02020603050405020304" pitchFamily="18" charset="0"/>
                <a:ea typeface="ＭＳ Ｐゴシック"/>
              </a:rPr>
              <a:t>&lt;h1&gt;</a:t>
            </a:r>
            <a:r>
              <a:rPr lang="en-US" sz="1400" spc="-1" dirty="0">
                <a:solidFill>
                  <a:srgbClr val="40458C"/>
                </a:solidFill>
                <a:latin typeface="Times New Roman" panose="02020603050405020304" pitchFamily="18" charset="0"/>
                <a:ea typeface="ＭＳ Ｐゴシック"/>
              </a:rPr>
              <a:t> The Little Boat </a:t>
            </a:r>
            <a:r>
              <a:rPr lang="en-US" sz="1400" spc="-1" dirty="0">
                <a:solidFill>
                  <a:srgbClr val="C00000"/>
                </a:solidFill>
                <a:latin typeface="Times New Roman" panose="02020603050405020304" pitchFamily="18" charset="0"/>
                <a:ea typeface="ＭＳ Ｐゴシック"/>
              </a:rPr>
              <a:t>&lt;/h1&gt;</a:t>
            </a:r>
            <a:endParaRPr lang="en-US" sz="1400" spc="-1" dirty="0">
              <a:solidFill>
                <a:srgbClr val="40458C"/>
              </a:solidFill>
              <a:latin typeface="Times New Roman" panose="02020603050405020304" pitchFamily="18" charset="0"/>
            </a:endParaRPr>
          </a:p>
          <a:p>
            <a:pPr marL="343080" indent="-342720">
              <a:lnSpc>
                <a:spcPct val="80000"/>
              </a:lnSpc>
              <a:spcBef>
                <a:spcPts val="281"/>
              </a:spcBef>
            </a:pPr>
            <a:r>
              <a:rPr lang="en-US" sz="1400" spc="-1" dirty="0">
                <a:solidFill>
                  <a:srgbClr val="C00000"/>
                </a:solidFill>
                <a:latin typeface="Times New Roman" panose="02020603050405020304" pitchFamily="18" charset="0"/>
                <a:ea typeface="ＭＳ Ｐゴシック"/>
              </a:rPr>
              <a:t>&lt;/center&gt;</a:t>
            </a:r>
            <a:endParaRPr lang="en-US" sz="1400" spc="-1" dirty="0">
              <a:solidFill>
                <a:srgbClr val="40458C"/>
              </a:solidFill>
              <a:latin typeface="Times New Roman" panose="02020603050405020304" pitchFamily="18" charset="0"/>
            </a:endParaRPr>
          </a:p>
          <a:p>
            <a:pPr marL="343080" indent="-342720">
              <a:lnSpc>
                <a:spcPct val="80000"/>
              </a:lnSpc>
              <a:spcBef>
                <a:spcPts val="281"/>
              </a:spcBef>
            </a:pPr>
            <a:r>
              <a:rPr lang="en-US" sz="1400" spc="-1" dirty="0">
                <a:solidFill>
                  <a:srgbClr val="C00000"/>
                </a:solidFill>
                <a:latin typeface="Times New Roman" panose="02020603050405020304" pitchFamily="18" charset="0"/>
                <a:ea typeface="ＭＳ Ｐゴシック"/>
              </a:rPr>
              <a:t>&lt;p&gt; </a:t>
            </a:r>
            <a:r>
              <a:rPr lang="en-US" sz="1400" spc="-1" dirty="0">
                <a:solidFill>
                  <a:srgbClr val="40458C"/>
                </a:solidFill>
                <a:latin typeface="Times New Roman" panose="02020603050405020304" pitchFamily="18" charset="0"/>
                <a:ea typeface="ＭＳ Ｐゴシック"/>
              </a:rPr>
              <a:t>The storm tossed the little</a:t>
            </a:r>
            <a:endParaRPr lang="en-US" sz="1400" spc="-1" dirty="0">
              <a:solidFill>
                <a:srgbClr val="40458C"/>
              </a:solidFill>
              <a:latin typeface="Times New Roman" panose="02020603050405020304" pitchFamily="18" charset="0"/>
            </a:endParaRPr>
          </a:p>
          <a:p>
            <a:pPr marL="343080" indent="-342720">
              <a:lnSpc>
                <a:spcPct val="80000"/>
              </a:lnSpc>
              <a:spcBef>
                <a:spcPts val="281"/>
              </a:spcBef>
            </a:pPr>
            <a:r>
              <a:rPr lang="en-US" sz="1400" spc="-1" dirty="0">
                <a:solidFill>
                  <a:srgbClr val="40458C"/>
                </a:solidFill>
                <a:latin typeface="Times New Roman" panose="02020603050405020304" pitchFamily="18" charset="0"/>
                <a:ea typeface="ＭＳ Ｐゴシック"/>
              </a:rPr>
              <a:t>boat like a cheap sneaker in an</a:t>
            </a:r>
            <a:endParaRPr lang="en-US" sz="1400" spc="-1" dirty="0">
              <a:solidFill>
                <a:srgbClr val="40458C"/>
              </a:solidFill>
              <a:latin typeface="Times New Roman" panose="02020603050405020304" pitchFamily="18" charset="0"/>
            </a:endParaRPr>
          </a:p>
          <a:p>
            <a:pPr marL="343080" indent="-342720">
              <a:lnSpc>
                <a:spcPct val="80000"/>
              </a:lnSpc>
              <a:spcBef>
                <a:spcPts val="281"/>
              </a:spcBef>
            </a:pPr>
            <a:r>
              <a:rPr lang="en-US" sz="1400" spc="-1" dirty="0">
                <a:solidFill>
                  <a:srgbClr val="40458C"/>
                </a:solidFill>
                <a:latin typeface="Times New Roman" panose="02020603050405020304" pitchFamily="18" charset="0"/>
                <a:ea typeface="ＭＳ Ｐゴシック"/>
              </a:rPr>
              <a:t>old washing machine. The three</a:t>
            </a:r>
            <a:endParaRPr lang="en-US" sz="1400" spc="-1" dirty="0">
              <a:solidFill>
                <a:srgbClr val="40458C"/>
              </a:solidFill>
              <a:latin typeface="Times New Roman" panose="02020603050405020304" pitchFamily="18" charset="0"/>
            </a:endParaRPr>
          </a:p>
          <a:p>
            <a:pPr marL="343080" indent="-342720">
              <a:lnSpc>
                <a:spcPct val="80000"/>
              </a:lnSpc>
              <a:spcBef>
                <a:spcPts val="281"/>
              </a:spcBef>
            </a:pPr>
            <a:r>
              <a:rPr lang="en-US" sz="1400" spc="-1" dirty="0">
                <a:solidFill>
                  <a:srgbClr val="40458C"/>
                </a:solidFill>
                <a:latin typeface="Times New Roman" panose="02020603050405020304" pitchFamily="18" charset="0"/>
                <a:ea typeface="ＭＳ Ｐゴシック"/>
              </a:rPr>
              <a:t>drunken fishermen were used to</a:t>
            </a:r>
            <a:endParaRPr lang="en-US" sz="1400" spc="-1" dirty="0">
              <a:solidFill>
                <a:srgbClr val="40458C"/>
              </a:solidFill>
              <a:latin typeface="Times New Roman" panose="02020603050405020304" pitchFamily="18" charset="0"/>
            </a:endParaRPr>
          </a:p>
          <a:p>
            <a:pPr marL="343080" indent="-342720">
              <a:lnSpc>
                <a:spcPct val="80000"/>
              </a:lnSpc>
              <a:spcBef>
                <a:spcPts val="281"/>
              </a:spcBef>
            </a:pPr>
            <a:r>
              <a:rPr lang="en-US" sz="1400" spc="-1" dirty="0">
                <a:solidFill>
                  <a:srgbClr val="40458C"/>
                </a:solidFill>
                <a:latin typeface="Times New Roman" panose="02020603050405020304" pitchFamily="18" charset="0"/>
                <a:ea typeface="ＭＳ Ｐゴシック"/>
              </a:rPr>
              <a:t>such treatment, of course, but</a:t>
            </a:r>
            <a:endParaRPr lang="en-US" sz="1400" spc="-1" dirty="0">
              <a:solidFill>
                <a:srgbClr val="40458C"/>
              </a:solidFill>
              <a:latin typeface="Times New Roman" panose="02020603050405020304" pitchFamily="18" charset="0"/>
            </a:endParaRPr>
          </a:p>
          <a:p>
            <a:pPr marL="343080" indent="-342720">
              <a:lnSpc>
                <a:spcPct val="80000"/>
              </a:lnSpc>
              <a:spcBef>
                <a:spcPts val="281"/>
              </a:spcBef>
            </a:pPr>
            <a:r>
              <a:rPr lang="en-US" sz="1400" spc="-1" dirty="0">
                <a:solidFill>
                  <a:srgbClr val="40458C"/>
                </a:solidFill>
                <a:latin typeface="Times New Roman" panose="02020603050405020304" pitchFamily="18" charset="0"/>
                <a:ea typeface="ＭＳ Ｐゴシック"/>
              </a:rPr>
              <a:t>not the tree salesman, who even as</a:t>
            </a:r>
            <a:endParaRPr lang="en-US" sz="1400" spc="-1" dirty="0">
              <a:solidFill>
                <a:srgbClr val="40458C"/>
              </a:solidFill>
              <a:latin typeface="Times New Roman" panose="02020603050405020304" pitchFamily="18" charset="0"/>
            </a:endParaRPr>
          </a:p>
          <a:p>
            <a:pPr marL="343080" indent="-342720">
              <a:lnSpc>
                <a:spcPct val="80000"/>
              </a:lnSpc>
              <a:spcBef>
                <a:spcPts val="281"/>
              </a:spcBef>
            </a:pPr>
            <a:r>
              <a:rPr lang="en-US" sz="1400" spc="-1" dirty="0">
                <a:solidFill>
                  <a:srgbClr val="40458C"/>
                </a:solidFill>
                <a:latin typeface="Times New Roman" panose="02020603050405020304" pitchFamily="18" charset="0"/>
                <a:ea typeface="ＭＳ Ｐゴシック"/>
              </a:rPr>
              <a:t>a stowaway now felt that he</a:t>
            </a:r>
            <a:endParaRPr lang="en-US" sz="1400" spc="-1" dirty="0">
              <a:solidFill>
                <a:srgbClr val="40458C"/>
              </a:solidFill>
              <a:latin typeface="Times New Roman" panose="02020603050405020304" pitchFamily="18" charset="0"/>
            </a:endParaRPr>
          </a:p>
          <a:p>
            <a:pPr marL="343080" indent="-342720">
              <a:lnSpc>
                <a:spcPct val="80000"/>
              </a:lnSpc>
              <a:spcBef>
                <a:spcPts val="281"/>
              </a:spcBef>
            </a:pPr>
            <a:r>
              <a:rPr lang="en-US" sz="1400" spc="-1" dirty="0">
                <a:solidFill>
                  <a:srgbClr val="40458C"/>
                </a:solidFill>
                <a:latin typeface="Times New Roman" panose="02020603050405020304" pitchFamily="18" charset="0"/>
                <a:ea typeface="ＭＳ Ｐゴシック"/>
              </a:rPr>
              <a:t>had overpaid for the voyage. </a:t>
            </a:r>
            <a:r>
              <a:rPr lang="en-US" sz="1400" spc="-1" dirty="0">
                <a:solidFill>
                  <a:srgbClr val="C00000"/>
                </a:solidFill>
                <a:latin typeface="Times New Roman" panose="02020603050405020304" pitchFamily="18" charset="0"/>
                <a:ea typeface="ＭＳ Ｐゴシック"/>
              </a:rPr>
              <a:t>&lt;/p&gt;</a:t>
            </a:r>
            <a:endParaRPr lang="en-US" sz="1400" spc="-1" dirty="0">
              <a:solidFill>
                <a:srgbClr val="40458C"/>
              </a:solidFill>
              <a:latin typeface="Times New Roman" panose="02020603050405020304" pitchFamily="18" charset="0"/>
            </a:endParaRPr>
          </a:p>
          <a:p>
            <a:pPr marL="343080" indent="-342720">
              <a:lnSpc>
                <a:spcPct val="80000"/>
              </a:lnSpc>
              <a:spcBef>
                <a:spcPts val="281"/>
              </a:spcBef>
            </a:pPr>
            <a:r>
              <a:rPr lang="en-US" sz="1400" spc="-1" dirty="0">
                <a:solidFill>
                  <a:srgbClr val="C00000"/>
                </a:solidFill>
                <a:latin typeface="Times New Roman" panose="02020603050405020304" pitchFamily="18" charset="0"/>
                <a:ea typeface="ＭＳ Ｐゴシック"/>
              </a:rPr>
              <a:t>&lt;</a:t>
            </a:r>
            <a:r>
              <a:rPr lang="en-US" sz="1400" spc="-1" dirty="0" err="1">
                <a:solidFill>
                  <a:srgbClr val="C00000"/>
                </a:solidFill>
                <a:latin typeface="Times New Roman" panose="02020603050405020304" pitchFamily="18" charset="0"/>
                <a:ea typeface="ＭＳ Ｐゴシック"/>
              </a:rPr>
              <a:t>ol</a:t>
            </a:r>
            <a:r>
              <a:rPr lang="en-US" sz="1400" spc="-1" dirty="0">
                <a:solidFill>
                  <a:srgbClr val="C00000"/>
                </a:solidFill>
                <a:latin typeface="Times New Roman" panose="02020603050405020304" pitchFamily="18" charset="0"/>
                <a:ea typeface="ＭＳ Ｐゴシック"/>
              </a:rPr>
              <a:t>&gt;</a:t>
            </a:r>
            <a:endParaRPr lang="en-US" sz="1400" spc="-1" dirty="0">
              <a:solidFill>
                <a:srgbClr val="40458C"/>
              </a:solidFill>
              <a:latin typeface="Times New Roman" panose="02020603050405020304" pitchFamily="18" charset="0"/>
            </a:endParaRPr>
          </a:p>
          <a:p>
            <a:pPr marL="343080" indent="-342720">
              <a:lnSpc>
                <a:spcPct val="80000"/>
              </a:lnSpc>
              <a:spcBef>
                <a:spcPts val="281"/>
              </a:spcBef>
            </a:pPr>
            <a:r>
              <a:rPr lang="en-US" sz="1400" spc="-1" dirty="0">
                <a:solidFill>
                  <a:srgbClr val="C00000"/>
                </a:solidFill>
                <a:latin typeface="Times New Roman" panose="02020603050405020304" pitchFamily="18" charset="0"/>
                <a:ea typeface="ＭＳ Ｐゴシック"/>
              </a:rPr>
              <a:t>&lt;li&gt;</a:t>
            </a:r>
            <a:r>
              <a:rPr lang="en-US" sz="1400" spc="-1" dirty="0">
                <a:solidFill>
                  <a:srgbClr val="40458C"/>
                </a:solidFill>
                <a:latin typeface="Times New Roman" panose="02020603050405020304" pitchFamily="18" charset="0"/>
                <a:ea typeface="ＭＳ Ｐゴシック"/>
              </a:rPr>
              <a:t> Will the salesman die? </a:t>
            </a:r>
            <a:r>
              <a:rPr lang="en-US" sz="1400" spc="-1" dirty="0">
                <a:solidFill>
                  <a:srgbClr val="C00000"/>
                </a:solidFill>
                <a:latin typeface="Times New Roman" panose="02020603050405020304" pitchFamily="18" charset="0"/>
                <a:ea typeface="ＭＳ Ｐゴシック"/>
              </a:rPr>
              <a:t>&lt;/li&gt;</a:t>
            </a:r>
            <a:endParaRPr lang="en-US" sz="1400" spc="-1" dirty="0">
              <a:solidFill>
                <a:srgbClr val="40458C"/>
              </a:solidFill>
              <a:latin typeface="Times New Roman" panose="02020603050405020304" pitchFamily="18" charset="0"/>
            </a:endParaRPr>
          </a:p>
          <a:p>
            <a:pPr marL="343080" indent="-342720">
              <a:lnSpc>
                <a:spcPct val="80000"/>
              </a:lnSpc>
              <a:spcBef>
                <a:spcPts val="281"/>
              </a:spcBef>
            </a:pPr>
            <a:r>
              <a:rPr lang="en-US" sz="1400" spc="-1" dirty="0">
                <a:solidFill>
                  <a:srgbClr val="C00000"/>
                </a:solidFill>
                <a:latin typeface="Times New Roman" panose="02020603050405020304" pitchFamily="18" charset="0"/>
                <a:ea typeface="ＭＳ Ｐゴシック"/>
              </a:rPr>
              <a:t>&lt;li&gt;</a:t>
            </a:r>
            <a:r>
              <a:rPr lang="en-US" sz="1400" spc="-1" dirty="0">
                <a:solidFill>
                  <a:srgbClr val="40458C"/>
                </a:solidFill>
                <a:latin typeface="Times New Roman" panose="02020603050405020304" pitchFamily="18" charset="0"/>
                <a:ea typeface="ＭＳ Ｐゴシック"/>
              </a:rPr>
              <a:t> What color is the boat? </a:t>
            </a:r>
            <a:r>
              <a:rPr lang="en-US" sz="1400" spc="-1" dirty="0">
                <a:solidFill>
                  <a:srgbClr val="C00000"/>
                </a:solidFill>
                <a:latin typeface="Times New Roman" panose="02020603050405020304" pitchFamily="18" charset="0"/>
                <a:ea typeface="ＭＳ Ｐゴシック"/>
              </a:rPr>
              <a:t>&lt;/li&gt;</a:t>
            </a:r>
            <a:endParaRPr lang="en-US" sz="1400" spc="-1" dirty="0">
              <a:solidFill>
                <a:srgbClr val="40458C"/>
              </a:solidFill>
              <a:latin typeface="Times New Roman" panose="02020603050405020304" pitchFamily="18" charset="0"/>
            </a:endParaRPr>
          </a:p>
          <a:p>
            <a:pPr marL="343080" indent="-342720">
              <a:lnSpc>
                <a:spcPct val="80000"/>
              </a:lnSpc>
              <a:spcBef>
                <a:spcPts val="281"/>
              </a:spcBef>
            </a:pPr>
            <a:r>
              <a:rPr lang="en-US" sz="1400" spc="-1" dirty="0">
                <a:solidFill>
                  <a:srgbClr val="C00000"/>
                </a:solidFill>
                <a:latin typeface="Times New Roman" panose="02020603050405020304" pitchFamily="18" charset="0"/>
                <a:ea typeface="ＭＳ Ｐゴシック"/>
              </a:rPr>
              <a:t>&lt;li&gt;</a:t>
            </a:r>
            <a:r>
              <a:rPr lang="en-US" sz="1400" spc="-1" dirty="0">
                <a:solidFill>
                  <a:srgbClr val="40458C"/>
                </a:solidFill>
                <a:latin typeface="Times New Roman" panose="02020603050405020304" pitchFamily="18" charset="0"/>
                <a:ea typeface="ＭＳ Ｐゴシック"/>
              </a:rPr>
              <a:t> And what about Naomi? </a:t>
            </a:r>
            <a:r>
              <a:rPr lang="en-US" sz="1400" spc="-1" dirty="0">
                <a:solidFill>
                  <a:srgbClr val="C00000"/>
                </a:solidFill>
                <a:latin typeface="Times New Roman" panose="02020603050405020304" pitchFamily="18" charset="0"/>
                <a:ea typeface="ＭＳ Ｐゴシック"/>
              </a:rPr>
              <a:t>&lt;/li&gt;</a:t>
            </a:r>
            <a:endParaRPr lang="en-US" sz="1400" spc="-1" dirty="0">
              <a:solidFill>
                <a:srgbClr val="40458C"/>
              </a:solidFill>
              <a:latin typeface="Times New Roman" panose="02020603050405020304" pitchFamily="18" charset="0"/>
            </a:endParaRPr>
          </a:p>
          <a:p>
            <a:pPr marL="343080" indent="-342720">
              <a:lnSpc>
                <a:spcPct val="80000"/>
              </a:lnSpc>
              <a:spcBef>
                <a:spcPts val="281"/>
              </a:spcBef>
            </a:pPr>
            <a:r>
              <a:rPr lang="en-US" sz="1400" spc="-1" dirty="0">
                <a:solidFill>
                  <a:srgbClr val="C00000"/>
                </a:solidFill>
                <a:latin typeface="Times New Roman" panose="02020603050405020304" pitchFamily="18" charset="0"/>
                <a:ea typeface="ＭＳ Ｐゴシック"/>
              </a:rPr>
              <a:t>&lt;/</a:t>
            </a:r>
            <a:r>
              <a:rPr lang="en-US" sz="1400" spc="-1" dirty="0" err="1">
                <a:solidFill>
                  <a:srgbClr val="C00000"/>
                </a:solidFill>
                <a:latin typeface="Times New Roman" panose="02020603050405020304" pitchFamily="18" charset="0"/>
                <a:ea typeface="ＭＳ Ｐゴシック"/>
              </a:rPr>
              <a:t>ol</a:t>
            </a:r>
            <a:r>
              <a:rPr lang="en-US" sz="1400" spc="-1" dirty="0">
                <a:solidFill>
                  <a:srgbClr val="C00000"/>
                </a:solidFill>
                <a:latin typeface="Times New Roman" panose="02020603050405020304" pitchFamily="18" charset="0"/>
                <a:ea typeface="ＭＳ Ｐゴシック"/>
              </a:rPr>
              <a:t>&gt;</a:t>
            </a:r>
            <a:endParaRPr lang="en-US" sz="1400" spc="-1" dirty="0">
              <a:solidFill>
                <a:srgbClr val="40458C"/>
              </a:solidFill>
              <a:latin typeface="Times New Roman" panose="02020603050405020304" pitchFamily="18" charset="0"/>
            </a:endParaRPr>
          </a:p>
          <a:p>
            <a:pPr marL="343080" indent="-342720">
              <a:lnSpc>
                <a:spcPct val="80000"/>
              </a:lnSpc>
              <a:spcBef>
                <a:spcPts val="281"/>
              </a:spcBef>
            </a:pPr>
            <a:r>
              <a:rPr lang="en-US" sz="1400" spc="-1" dirty="0">
                <a:solidFill>
                  <a:srgbClr val="C00000"/>
                </a:solidFill>
                <a:latin typeface="Times New Roman" panose="02020603050405020304" pitchFamily="18" charset="0"/>
                <a:ea typeface="ＭＳ Ｐゴシック"/>
              </a:rPr>
              <a:t>&lt;/body&gt;</a:t>
            </a:r>
            <a:endParaRPr lang="en-US" sz="1400" spc="-1" dirty="0">
              <a:solidFill>
                <a:srgbClr val="40458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CustomShape 6">
            <a:extLst>
              <a:ext uri="{FF2B5EF4-FFF2-40B4-BE49-F238E27FC236}">
                <a16:creationId xmlns:a16="http://schemas.microsoft.com/office/drawing/2014/main" id="{B45C9858-59AA-D58F-6A41-FDE3F5C0862B}"/>
              </a:ext>
            </a:extLst>
          </p:cNvPr>
          <p:cNvSpPr/>
          <p:nvPr/>
        </p:nvSpPr>
        <p:spPr>
          <a:xfrm>
            <a:off x="768395" y="2130342"/>
            <a:ext cx="8305560" cy="380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3080" indent="-342720">
              <a:spcBef>
                <a:spcPts val="360"/>
              </a:spcBef>
              <a:buClr>
                <a:srgbClr val="40458C"/>
              </a:buClr>
              <a:buSzPct val="110000"/>
              <a:buFont typeface="Wingdings" charset="2"/>
              <a:buChar char=""/>
            </a:pPr>
            <a:r>
              <a:rPr lang="en-US" spc="-1" dirty="0">
                <a:solidFill>
                  <a:srgbClr val="40458C"/>
                </a:solidFill>
                <a:latin typeface="Times New Roman" panose="02020603050405020304" pitchFamily="18" charset="0"/>
                <a:ea typeface="ＭＳ Ｐゴシック"/>
              </a:rPr>
              <a:t>For fully-correct HTML, each </a:t>
            </a:r>
            <a:r>
              <a:rPr lang="en-US" spc="-1" dirty="0">
                <a:solidFill>
                  <a:srgbClr val="C00000"/>
                </a:solidFill>
                <a:latin typeface="Times New Roman" panose="02020603050405020304" pitchFamily="18" charset="0"/>
                <a:ea typeface="ＭＳ Ｐゴシック"/>
              </a:rPr>
              <a:t>&lt;name&gt;</a:t>
            </a:r>
            <a:r>
              <a:rPr lang="en-US" spc="-1" dirty="0">
                <a:solidFill>
                  <a:srgbClr val="40458C"/>
                </a:solidFill>
                <a:latin typeface="Times New Roman" panose="02020603050405020304" pitchFamily="18" charset="0"/>
                <a:ea typeface="ＭＳ Ｐゴシック"/>
              </a:rPr>
              <a:t> should pair with a matching </a:t>
            </a:r>
            <a:r>
              <a:rPr lang="en-US" spc="-1" dirty="0">
                <a:solidFill>
                  <a:srgbClr val="C00000"/>
                </a:solidFill>
                <a:latin typeface="Times New Roman" panose="02020603050405020304" pitchFamily="18" charset="0"/>
                <a:ea typeface="ＭＳ Ｐゴシック"/>
              </a:rPr>
              <a:t>&lt;/name&gt;</a:t>
            </a:r>
            <a:endParaRPr lang="en-US" spc="-1" dirty="0">
              <a:latin typeface="Times New Roman" panose="02020603050405020304" pitchFamily="18" charset="0"/>
            </a:endParaRPr>
          </a:p>
          <a:p>
            <a:pPr marL="343080" indent="-342720">
              <a:spcBef>
                <a:spcPts val="360"/>
              </a:spcBef>
            </a:pPr>
            <a:endParaRPr lang="en-US" spc="-1" dirty="0">
              <a:latin typeface="Times New Roman" panose="02020603050405020304" pitchFamily="18" charset="0"/>
            </a:endParaRPr>
          </a:p>
        </p:txBody>
      </p:sp>
      <p:sp>
        <p:nvSpPr>
          <p:cNvPr id="6" name="TextShape 7">
            <a:extLst>
              <a:ext uri="{FF2B5EF4-FFF2-40B4-BE49-F238E27FC236}">
                <a16:creationId xmlns:a16="http://schemas.microsoft.com/office/drawing/2014/main" id="{E9C7C1AA-A79B-6B8F-DEC5-6D566B6F5AD0}"/>
              </a:ext>
            </a:extLst>
          </p:cNvPr>
          <p:cNvSpPr txBox="1"/>
          <p:nvPr/>
        </p:nvSpPr>
        <p:spPr>
          <a:xfrm>
            <a:off x="8166145" y="6393878"/>
            <a:ext cx="5126302" cy="456840"/>
          </a:xfrm>
          <a:prstGeom prst="rect">
            <a:avLst/>
          </a:prstGeom>
          <a:noFill/>
          <a:ln w="9360">
            <a:noFill/>
          </a:ln>
        </p:spPr>
        <p:txBody>
          <a:bodyPr anchor="b"/>
          <a:lstStyle/>
          <a:p>
            <a:pPr>
              <a:lnSpc>
                <a:spcPct val="100000"/>
              </a:lnSpc>
            </a:pPr>
            <a:r>
              <a:rPr lang="en-US" sz="1400" spc="-1" dirty="0">
                <a:solidFill>
                  <a:srgbClr val="40458C"/>
                </a:solidFill>
                <a:latin typeface="Times New Roman" panose="02020603050405020304" pitchFamily="18" charset="0"/>
                <a:ea typeface="ＭＳ Ｐゴシック"/>
              </a:rPr>
              <a:t>Based on 2014 Goodrich, </a:t>
            </a:r>
            <a:r>
              <a:rPr lang="en-US" sz="1400" spc="-1" dirty="0" err="1">
                <a:solidFill>
                  <a:srgbClr val="40458C"/>
                </a:solidFill>
                <a:latin typeface="Times New Roman" panose="02020603050405020304" pitchFamily="18" charset="0"/>
                <a:ea typeface="ＭＳ Ｐゴシック"/>
              </a:rPr>
              <a:t>Tamassia</a:t>
            </a:r>
            <a:r>
              <a:rPr lang="en-US" sz="1400" spc="-1" dirty="0">
                <a:solidFill>
                  <a:srgbClr val="40458C"/>
                </a:solidFill>
                <a:latin typeface="Times New Roman" panose="02020603050405020304" pitchFamily="18" charset="0"/>
                <a:ea typeface="ＭＳ Ｐゴシック"/>
              </a:rPr>
              <a:t>, Goldwasser</a:t>
            </a:r>
            <a:endParaRPr lang="en-US" sz="1400" spc="-1" dirty="0">
              <a:latin typeface="Times New Roman"/>
            </a:endParaRPr>
          </a:p>
        </p:txBody>
      </p:sp>
      <p:sp>
        <p:nvSpPr>
          <p:cNvPr id="12" name="TextShape 5">
            <a:extLst>
              <a:ext uri="{FF2B5EF4-FFF2-40B4-BE49-F238E27FC236}">
                <a16:creationId xmlns:a16="http://schemas.microsoft.com/office/drawing/2014/main" id="{699CF331-2F59-1BA2-892D-F9AD482537DD}"/>
              </a:ext>
            </a:extLst>
          </p:cNvPr>
          <p:cNvSpPr txBox="1"/>
          <p:nvPr/>
        </p:nvSpPr>
        <p:spPr>
          <a:xfrm>
            <a:off x="8370635" y="2054022"/>
            <a:ext cx="3809520" cy="411444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43080" indent="-342720" algn="ctr">
              <a:lnSpc>
                <a:spcPct val="80000"/>
              </a:lnSpc>
              <a:spcBef>
                <a:spcPts val="479"/>
              </a:spcBef>
            </a:pPr>
            <a:endParaRPr lang="en-US" sz="3200" spc="-1" dirty="0">
              <a:solidFill>
                <a:srgbClr val="40458C"/>
              </a:solidFill>
              <a:latin typeface="Times New Roman" panose="02020603050405020304" pitchFamily="18" charset="0"/>
            </a:endParaRPr>
          </a:p>
          <a:p>
            <a:pPr marL="343080" indent="-342720" algn="ctr">
              <a:lnSpc>
                <a:spcPct val="80000"/>
              </a:lnSpc>
              <a:spcBef>
                <a:spcPts val="479"/>
              </a:spcBef>
            </a:pPr>
            <a:r>
              <a:rPr lang="en-US" sz="2400" spc="-1" dirty="0">
                <a:solidFill>
                  <a:srgbClr val="000000"/>
                </a:solidFill>
                <a:latin typeface="Times New Roman"/>
                <a:ea typeface="ＭＳ Ｐゴシック"/>
              </a:rPr>
              <a:t>The Little Boat</a:t>
            </a:r>
            <a:endParaRPr lang="en-US" sz="2400" spc="-1" dirty="0">
              <a:solidFill>
                <a:srgbClr val="40458C"/>
              </a:solidFill>
              <a:latin typeface="Times New Roman" panose="02020603050405020304" pitchFamily="18" charset="0"/>
            </a:endParaRPr>
          </a:p>
          <a:p>
            <a:pPr marL="343080" indent="-342720">
              <a:lnSpc>
                <a:spcPct val="80000"/>
              </a:lnSpc>
              <a:spcBef>
                <a:spcPts val="281"/>
              </a:spcBef>
            </a:pPr>
            <a:endParaRPr lang="en-US" sz="2400" spc="-1" dirty="0">
              <a:solidFill>
                <a:srgbClr val="40458C"/>
              </a:solidFill>
              <a:latin typeface="Times New Roman" panose="02020603050405020304" pitchFamily="18" charset="0"/>
            </a:endParaRPr>
          </a:p>
          <a:p>
            <a:pPr marL="343080" indent="-342720">
              <a:lnSpc>
                <a:spcPct val="80000"/>
              </a:lnSpc>
              <a:spcBef>
                <a:spcPts val="320"/>
              </a:spcBef>
            </a:pPr>
            <a:r>
              <a:rPr lang="en-US" sz="1600" spc="-1" dirty="0">
                <a:solidFill>
                  <a:srgbClr val="000000"/>
                </a:solidFill>
                <a:latin typeface="Times New Roman"/>
                <a:ea typeface="ＭＳ Ｐゴシック"/>
              </a:rPr>
              <a:t>The storm tossed the little boat</a:t>
            </a:r>
            <a:endParaRPr lang="en-US" sz="1600" spc="-1" dirty="0">
              <a:solidFill>
                <a:srgbClr val="40458C"/>
              </a:solidFill>
              <a:latin typeface="Times New Roman" panose="02020603050405020304" pitchFamily="18" charset="0"/>
            </a:endParaRPr>
          </a:p>
          <a:p>
            <a:pPr marL="343080" indent="-342720">
              <a:lnSpc>
                <a:spcPct val="80000"/>
              </a:lnSpc>
              <a:spcBef>
                <a:spcPts val="320"/>
              </a:spcBef>
            </a:pPr>
            <a:r>
              <a:rPr lang="en-US" sz="1600" spc="-1" dirty="0">
                <a:solidFill>
                  <a:srgbClr val="000000"/>
                </a:solidFill>
                <a:latin typeface="Times New Roman"/>
                <a:ea typeface="ＭＳ Ｐゴシック"/>
              </a:rPr>
              <a:t>like a cheap sneaker in an old</a:t>
            </a:r>
            <a:endParaRPr lang="en-US" sz="1600" spc="-1" dirty="0">
              <a:solidFill>
                <a:srgbClr val="40458C"/>
              </a:solidFill>
              <a:latin typeface="Times New Roman" panose="02020603050405020304" pitchFamily="18" charset="0"/>
            </a:endParaRPr>
          </a:p>
          <a:p>
            <a:pPr marL="343080" indent="-342720">
              <a:lnSpc>
                <a:spcPct val="80000"/>
              </a:lnSpc>
              <a:spcBef>
                <a:spcPts val="320"/>
              </a:spcBef>
            </a:pPr>
            <a:r>
              <a:rPr lang="en-US" sz="1600" spc="-1" dirty="0">
                <a:solidFill>
                  <a:srgbClr val="000000"/>
                </a:solidFill>
                <a:latin typeface="Times New Roman"/>
                <a:ea typeface="ＭＳ Ｐゴシック"/>
              </a:rPr>
              <a:t>washing machine. The three</a:t>
            </a:r>
            <a:endParaRPr lang="en-US" sz="1600" spc="-1" dirty="0">
              <a:solidFill>
                <a:srgbClr val="40458C"/>
              </a:solidFill>
              <a:latin typeface="Times New Roman" panose="02020603050405020304" pitchFamily="18" charset="0"/>
            </a:endParaRPr>
          </a:p>
          <a:p>
            <a:pPr marL="343080" indent="-342720">
              <a:lnSpc>
                <a:spcPct val="80000"/>
              </a:lnSpc>
              <a:spcBef>
                <a:spcPts val="320"/>
              </a:spcBef>
            </a:pPr>
            <a:r>
              <a:rPr lang="en-US" sz="1600" spc="-1" dirty="0">
                <a:solidFill>
                  <a:srgbClr val="000000"/>
                </a:solidFill>
                <a:latin typeface="Times New Roman"/>
                <a:ea typeface="ＭＳ Ｐゴシック"/>
              </a:rPr>
              <a:t>drunken fishermen were used to</a:t>
            </a:r>
            <a:endParaRPr lang="en-US" sz="1600" spc="-1" dirty="0">
              <a:solidFill>
                <a:srgbClr val="40458C"/>
              </a:solidFill>
              <a:latin typeface="Times New Roman" panose="02020603050405020304" pitchFamily="18" charset="0"/>
            </a:endParaRPr>
          </a:p>
          <a:p>
            <a:pPr marL="343080" indent="-342720">
              <a:lnSpc>
                <a:spcPct val="80000"/>
              </a:lnSpc>
              <a:spcBef>
                <a:spcPts val="320"/>
              </a:spcBef>
            </a:pPr>
            <a:r>
              <a:rPr lang="en-US" sz="1600" spc="-1" dirty="0">
                <a:solidFill>
                  <a:srgbClr val="000000"/>
                </a:solidFill>
                <a:latin typeface="Times New Roman"/>
                <a:ea typeface="ＭＳ Ｐゴシック"/>
              </a:rPr>
              <a:t>such treatment, of course, but not</a:t>
            </a:r>
            <a:endParaRPr lang="en-US" sz="1600" spc="-1" dirty="0">
              <a:solidFill>
                <a:srgbClr val="40458C"/>
              </a:solidFill>
              <a:latin typeface="Times New Roman" panose="02020603050405020304" pitchFamily="18" charset="0"/>
            </a:endParaRPr>
          </a:p>
          <a:p>
            <a:pPr marL="343080" indent="-342720">
              <a:lnSpc>
                <a:spcPct val="80000"/>
              </a:lnSpc>
              <a:spcBef>
                <a:spcPts val="320"/>
              </a:spcBef>
            </a:pPr>
            <a:r>
              <a:rPr lang="en-US" sz="1600" spc="-1" dirty="0">
                <a:solidFill>
                  <a:srgbClr val="000000"/>
                </a:solidFill>
                <a:latin typeface="Times New Roman"/>
                <a:ea typeface="ＭＳ Ｐゴシック"/>
              </a:rPr>
              <a:t>the tree salesman, who even as</a:t>
            </a:r>
            <a:endParaRPr lang="en-US" sz="1600" spc="-1" dirty="0">
              <a:solidFill>
                <a:srgbClr val="40458C"/>
              </a:solidFill>
              <a:latin typeface="Times New Roman" panose="02020603050405020304" pitchFamily="18" charset="0"/>
            </a:endParaRPr>
          </a:p>
          <a:p>
            <a:pPr marL="343080" indent="-342720">
              <a:lnSpc>
                <a:spcPct val="80000"/>
              </a:lnSpc>
              <a:spcBef>
                <a:spcPts val="320"/>
              </a:spcBef>
            </a:pPr>
            <a:r>
              <a:rPr lang="en-US" sz="1600" spc="-1" dirty="0">
                <a:solidFill>
                  <a:srgbClr val="000000"/>
                </a:solidFill>
                <a:latin typeface="Times New Roman"/>
                <a:ea typeface="ＭＳ Ｐゴシック"/>
              </a:rPr>
              <a:t>a stowaway now felt that he had</a:t>
            </a:r>
            <a:endParaRPr lang="en-US" sz="1600" spc="-1" dirty="0">
              <a:solidFill>
                <a:srgbClr val="40458C"/>
              </a:solidFill>
              <a:latin typeface="Times New Roman" panose="02020603050405020304" pitchFamily="18" charset="0"/>
            </a:endParaRPr>
          </a:p>
          <a:p>
            <a:pPr marL="343080" indent="-342720">
              <a:lnSpc>
                <a:spcPct val="80000"/>
              </a:lnSpc>
              <a:spcBef>
                <a:spcPts val="320"/>
              </a:spcBef>
            </a:pPr>
            <a:r>
              <a:rPr lang="en-US" sz="1600" spc="-1" dirty="0">
                <a:solidFill>
                  <a:srgbClr val="000000"/>
                </a:solidFill>
                <a:latin typeface="Times New Roman"/>
                <a:ea typeface="ＭＳ Ｐゴシック"/>
              </a:rPr>
              <a:t>overpaid for the voyage.</a:t>
            </a:r>
            <a:endParaRPr lang="en-US" sz="1600" spc="-1" dirty="0">
              <a:solidFill>
                <a:srgbClr val="40458C"/>
              </a:solidFill>
              <a:latin typeface="Times New Roman" panose="02020603050405020304" pitchFamily="18" charset="0"/>
            </a:endParaRPr>
          </a:p>
          <a:p>
            <a:pPr marL="343080" indent="-342720">
              <a:lnSpc>
                <a:spcPct val="80000"/>
              </a:lnSpc>
              <a:spcBef>
                <a:spcPts val="320"/>
              </a:spcBef>
            </a:pPr>
            <a:endParaRPr lang="en-US" sz="1600" spc="-1" dirty="0">
              <a:solidFill>
                <a:srgbClr val="40458C"/>
              </a:solidFill>
              <a:latin typeface="Times New Roman" panose="02020603050405020304" pitchFamily="18" charset="0"/>
            </a:endParaRPr>
          </a:p>
          <a:p>
            <a:pPr marL="343080" indent="-342720">
              <a:lnSpc>
                <a:spcPct val="80000"/>
              </a:lnSpc>
              <a:spcBef>
                <a:spcPts val="320"/>
              </a:spcBef>
            </a:pPr>
            <a:r>
              <a:rPr lang="en-US" sz="1600" spc="-1" dirty="0">
                <a:solidFill>
                  <a:srgbClr val="000000"/>
                </a:solidFill>
                <a:latin typeface="Times New Roman"/>
                <a:ea typeface="ＭＳ Ｐゴシック"/>
              </a:rPr>
              <a:t>1. Will the salesman die?</a:t>
            </a:r>
            <a:endParaRPr lang="en-US" sz="1600" spc="-1" dirty="0">
              <a:solidFill>
                <a:srgbClr val="40458C"/>
              </a:solidFill>
              <a:latin typeface="Times New Roman" panose="02020603050405020304" pitchFamily="18" charset="0"/>
            </a:endParaRPr>
          </a:p>
          <a:p>
            <a:pPr marL="343080" indent="-342720">
              <a:lnSpc>
                <a:spcPct val="80000"/>
              </a:lnSpc>
              <a:spcBef>
                <a:spcPts val="320"/>
              </a:spcBef>
            </a:pPr>
            <a:r>
              <a:rPr lang="en-US" sz="1600" spc="-1" dirty="0">
                <a:solidFill>
                  <a:srgbClr val="000000"/>
                </a:solidFill>
                <a:latin typeface="Times New Roman"/>
                <a:ea typeface="ＭＳ Ｐゴシック"/>
              </a:rPr>
              <a:t>2. What color is the boat?</a:t>
            </a:r>
            <a:endParaRPr lang="en-US" sz="1600" spc="-1" dirty="0">
              <a:solidFill>
                <a:srgbClr val="40458C"/>
              </a:solidFill>
              <a:latin typeface="Times New Roman" panose="02020603050405020304" pitchFamily="18" charset="0"/>
            </a:endParaRPr>
          </a:p>
          <a:p>
            <a:pPr marL="343080" indent="-342720">
              <a:lnSpc>
                <a:spcPct val="80000"/>
              </a:lnSpc>
              <a:spcBef>
                <a:spcPts val="320"/>
              </a:spcBef>
            </a:pPr>
            <a:r>
              <a:rPr lang="en-US" sz="1600" spc="-1" dirty="0">
                <a:solidFill>
                  <a:srgbClr val="000000"/>
                </a:solidFill>
                <a:latin typeface="Times New Roman"/>
                <a:ea typeface="ＭＳ Ｐゴシック"/>
              </a:rPr>
              <a:t>3. And what about Naomi?</a:t>
            </a:r>
            <a:endParaRPr lang="en-US" sz="1600" spc="-1" dirty="0">
              <a:solidFill>
                <a:srgbClr val="40458C"/>
              </a:solidFill>
              <a:latin typeface="Times New Roman" panose="02020603050405020304" pitchFamily="18" charset="0"/>
            </a:endParaRPr>
          </a:p>
          <a:p>
            <a:pPr marL="343080" indent="-342720">
              <a:lnSpc>
                <a:spcPct val="80000"/>
              </a:lnSpc>
              <a:spcBef>
                <a:spcPts val="320"/>
              </a:spcBef>
            </a:pPr>
            <a:endParaRPr lang="en-US" sz="1600" spc="-1" dirty="0">
              <a:solidFill>
                <a:srgbClr val="40458C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7734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E793DC3-E3CC-442E-4205-6A1414CF8B73}"/>
              </a:ext>
            </a:extLst>
          </p:cNvPr>
          <p:cNvSpPr txBox="1"/>
          <p:nvPr/>
        </p:nvSpPr>
        <p:spPr>
          <a:xfrm>
            <a:off x="534352" y="2090172"/>
            <a:ext cx="10597854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Which position in the array should correspond to the TOP of the stack?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B2B2D4-E626-57B8-6BF6-1B19FC54A48A}"/>
              </a:ext>
            </a:extLst>
          </p:cNvPr>
          <p:cNvSpPr txBox="1"/>
          <p:nvPr/>
        </p:nvSpPr>
        <p:spPr>
          <a:xfrm>
            <a:off x="958896" y="880840"/>
            <a:ext cx="6046419" cy="712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5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Array Based Stack</a:t>
            </a:r>
            <a:endParaRPr lang="en-US" sz="405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16" descr="StackOfBowls">
            <a:extLst>
              <a:ext uri="{FF2B5EF4-FFF2-40B4-BE49-F238E27FC236}">
                <a16:creationId xmlns:a16="http://schemas.microsoft.com/office/drawing/2014/main" id="{48D9FD03-1C08-979C-1D4F-C88E5C0E3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1708" y="3020291"/>
            <a:ext cx="2439100" cy="3645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6B72179-6783-25AE-21E0-2C8412F464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9514358"/>
              </p:ext>
            </p:extLst>
          </p:nvPr>
        </p:nvGraphicFramePr>
        <p:xfrm>
          <a:off x="1404257" y="5339444"/>
          <a:ext cx="5959930" cy="63771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91986">
                  <a:extLst>
                    <a:ext uri="{9D8B030D-6E8A-4147-A177-3AD203B41FA5}">
                      <a16:colId xmlns:a16="http://schemas.microsoft.com/office/drawing/2014/main" val="2576642763"/>
                    </a:ext>
                  </a:extLst>
                </a:gridCol>
                <a:gridCol w="1191986">
                  <a:extLst>
                    <a:ext uri="{9D8B030D-6E8A-4147-A177-3AD203B41FA5}">
                      <a16:colId xmlns:a16="http://schemas.microsoft.com/office/drawing/2014/main" val="4105391178"/>
                    </a:ext>
                  </a:extLst>
                </a:gridCol>
                <a:gridCol w="1191986">
                  <a:extLst>
                    <a:ext uri="{9D8B030D-6E8A-4147-A177-3AD203B41FA5}">
                      <a16:colId xmlns:a16="http://schemas.microsoft.com/office/drawing/2014/main" val="1754504955"/>
                    </a:ext>
                  </a:extLst>
                </a:gridCol>
                <a:gridCol w="1191986">
                  <a:extLst>
                    <a:ext uri="{9D8B030D-6E8A-4147-A177-3AD203B41FA5}">
                      <a16:colId xmlns:a16="http://schemas.microsoft.com/office/drawing/2014/main" val="3343506682"/>
                    </a:ext>
                  </a:extLst>
                </a:gridCol>
                <a:gridCol w="1191986">
                  <a:extLst>
                    <a:ext uri="{9D8B030D-6E8A-4147-A177-3AD203B41FA5}">
                      <a16:colId xmlns:a16="http://schemas.microsoft.com/office/drawing/2014/main" val="4015105894"/>
                    </a:ext>
                  </a:extLst>
                </a:gridCol>
              </a:tblGrid>
              <a:tr h="63771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779682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EB0A1B4-2CCA-4A69-C883-B03E587417DA}"/>
              </a:ext>
            </a:extLst>
          </p:cNvPr>
          <p:cNvSpPr txBox="1"/>
          <p:nvPr/>
        </p:nvSpPr>
        <p:spPr>
          <a:xfrm>
            <a:off x="1404257" y="5912746"/>
            <a:ext cx="6384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0              1               2             3              4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1404CE-C7B7-5668-F9FA-473AE01F82AE}"/>
              </a:ext>
            </a:extLst>
          </p:cNvPr>
          <p:cNvSpPr txBox="1"/>
          <p:nvPr/>
        </p:nvSpPr>
        <p:spPr>
          <a:xfrm>
            <a:off x="1404256" y="3811757"/>
            <a:ext cx="4506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Try adding: 5,  10, 15</a:t>
            </a:r>
          </a:p>
        </p:txBody>
      </p:sp>
    </p:spTree>
    <p:extLst>
      <p:ext uri="{BB962C8B-B14F-4D97-AF65-F5344CB8AC3E}">
        <p14:creationId xmlns:p14="http://schemas.microsoft.com/office/powerpoint/2010/main" val="1534186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2F2E9-E4FD-33D2-909E-E9A21E6E1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DB271-D87F-E0F0-AEAC-5A4CDD89B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622" y="1914714"/>
            <a:ext cx="8246920" cy="4765964"/>
          </a:xfrm>
        </p:spPr>
        <p:txBody>
          <a:bodyPr anchor="t" anchorCtr="0">
            <a:normAutofit fontScale="55000" lnSpcReduction="20000"/>
          </a:bodyPr>
          <a:lstStyle/>
          <a:p>
            <a:pPr marL="0" indent="0">
              <a:buNone/>
            </a:pPr>
            <a:r>
              <a:rPr lang="en-US" sz="3600" dirty="0"/>
              <a:t>#include &lt;</a:t>
            </a:r>
            <a:r>
              <a:rPr lang="en-US" sz="3600" dirty="0" err="1"/>
              <a:t>stdio.h</a:t>
            </a:r>
            <a:r>
              <a:rPr lang="en-US" sz="3600" dirty="0"/>
              <a:t>&gt;</a:t>
            </a:r>
          </a:p>
          <a:p>
            <a:pPr marL="0" indent="0">
              <a:buNone/>
            </a:pPr>
            <a:r>
              <a:rPr lang="en-US" sz="3600" dirty="0"/>
              <a:t>struct stack{</a:t>
            </a:r>
          </a:p>
          <a:p>
            <a:pPr marL="0" indent="0">
              <a:buNone/>
            </a:pPr>
            <a:r>
              <a:rPr lang="en-US" sz="3600" dirty="0"/>
              <a:t>   int num[100];</a:t>
            </a:r>
          </a:p>
          <a:p>
            <a:pPr marL="0" indent="0">
              <a:buNone/>
            </a:pPr>
            <a:r>
              <a:rPr lang="en-US" sz="3600" dirty="0"/>
              <a:t>   int top;</a:t>
            </a:r>
          </a:p>
          <a:p>
            <a:pPr marL="0" indent="0">
              <a:buNone/>
            </a:pPr>
            <a:r>
              <a:rPr lang="en-US" sz="3600" dirty="0"/>
              <a:t>};</a:t>
            </a:r>
          </a:p>
          <a:p>
            <a:pPr marL="0" indent="0">
              <a:buNone/>
            </a:pPr>
            <a:r>
              <a:rPr lang="en-US" sz="3600" dirty="0"/>
              <a:t>void push(struct stack* s, int x){</a:t>
            </a:r>
          </a:p>
          <a:p>
            <a:pPr marL="0" indent="0">
              <a:buNone/>
            </a:pPr>
            <a:r>
              <a:rPr lang="en-US" sz="3600" dirty="0"/>
              <a:t>    //TO-DO for in class exercise</a:t>
            </a:r>
          </a:p>
          <a:p>
            <a:pPr marL="0" indent="0">
              <a:buNone/>
            </a:pPr>
            <a:r>
              <a:rPr lang="en-US" sz="3600" dirty="0"/>
              <a:t>    </a:t>
            </a:r>
            <a:r>
              <a:rPr lang="en-US" sz="3600" dirty="0" err="1"/>
              <a:t>printf</a:t>
            </a:r>
            <a:r>
              <a:rPr lang="en-US" sz="3600" dirty="0"/>
              <a:t>("pushing %d to stack\n", x);</a:t>
            </a:r>
          </a:p>
          <a:p>
            <a:pPr marL="0" indent="0">
              <a:buNone/>
            </a:pPr>
            <a:r>
              <a:rPr lang="en-US" sz="3600" dirty="0"/>
              <a:t>}</a:t>
            </a:r>
          </a:p>
          <a:p>
            <a:pPr marL="0" indent="0">
              <a:buNone/>
            </a:pPr>
            <a:r>
              <a:rPr lang="en-US" sz="3600" dirty="0"/>
              <a:t>int pop(struct stack* s){</a:t>
            </a:r>
          </a:p>
          <a:p>
            <a:pPr marL="0" indent="0">
              <a:buNone/>
            </a:pPr>
            <a:r>
              <a:rPr lang="en-US" sz="3600" dirty="0"/>
              <a:t>     //TO-DO for in class exercise</a:t>
            </a:r>
          </a:p>
          <a:p>
            <a:pPr marL="0" indent="0">
              <a:buNone/>
            </a:pPr>
            <a:r>
              <a:rPr lang="en-US" sz="3600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A22EBC-C4D1-8411-B037-B6674DAC72A3}"/>
              </a:ext>
            </a:extLst>
          </p:cNvPr>
          <p:cNvSpPr txBox="1"/>
          <p:nvPr/>
        </p:nvSpPr>
        <p:spPr>
          <a:xfrm>
            <a:off x="1089524" y="750211"/>
            <a:ext cx="6046419" cy="712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5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Array Based Stack</a:t>
            </a:r>
          </a:p>
        </p:txBody>
      </p:sp>
    </p:spTree>
    <p:extLst>
      <p:ext uri="{BB962C8B-B14F-4D97-AF65-F5344CB8AC3E}">
        <p14:creationId xmlns:p14="http://schemas.microsoft.com/office/powerpoint/2010/main" val="12377753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35D4E-8509-912C-8FA5-FBB266074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9AAA5-EE5D-2911-D0B3-E9468B4BE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622" y="1914714"/>
            <a:ext cx="8246920" cy="4765964"/>
          </a:xfrm>
        </p:spPr>
        <p:txBody>
          <a:bodyPr anchor="t" anchorCtr="0">
            <a:normAutofit/>
          </a:bodyPr>
          <a:lstStyle/>
          <a:p>
            <a:pPr marL="0" indent="0">
              <a:buNone/>
            </a:pPr>
            <a:r>
              <a:rPr lang="en-US" sz="3600" dirty="0"/>
              <a:t>#include &lt;</a:t>
            </a:r>
            <a:r>
              <a:rPr lang="en-US" sz="3600" dirty="0" err="1"/>
              <a:t>stdio.h</a:t>
            </a:r>
            <a:r>
              <a:rPr lang="en-US" sz="3600" dirty="0"/>
              <a:t>&gt;</a:t>
            </a:r>
          </a:p>
          <a:p>
            <a:pPr marL="0" indent="0">
              <a:buNone/>
            </a:pPr>
            <a:r>
              <a:rPr lang="en-US" sz="3600" dirty="0"/>
              <a:t>struct stack{</a:t>
            </a:r>
          </a:p>
          <a:p>
            <a:pPr marL="0" indent="0">
              <a:buNone/>
            </a:pPr>
            <a:r>
              <a:rPr lang="en-US" sz="3600" dirty="0"/>
              <a:t>   int num[100];</a:t>
            </a:r>
          </a:p>
          <a:p>
            <a:pPr marL="0" indent="0">
              <a:buNone/>
            </a:pPr>
            <a:r>
              <a:rPr lang="en-US" sz="3600" dirty="0"/>
              <a:t>   int head;</a:t>
            </a:r>
          </a:p>
          <a:p>
            <a:pPr marL="0" indent="0">
              <a:buNone/>
            </a:pPr>
            <a:r>
              <a:rPr lang="en-US" sz="3600" dirty="0"/>
              <a:t>};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9ECB06-7348-C4DA-6347-40EF08356DC0}"/>
              </a:ext>
            </a:extLst>
          </p:cNvPr>
          <p:cNvSpPr txBox="1"/>
          <p:nvPr/>
        </p:nvSpPr>
        <p:spPr>
          <a:xfrm>
            <a:off x="528755" y="750211"/>
            <a:ext cx="11158623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5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Write the Code to see if Empty Stack</a:t>
            </a:r>
          </a:p>
        </p:txBody>
      </p:sp>
    </p:spTree>
    <p:extLst>
      <p:ext uri="{BB962C8B-B14F-4D97-AF65-F5344CB8AC3E}">
        <p14:creationId xmlns:p14="http://schemas.microsoft.com/office/powerpoint/2010/main" val="28106193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CDB80-CFEA-C1D7-6739-EAE861376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86AFC-DA11-E413-BEA6-D02AA031A5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622" y="1914714"/>
            <a:ext cx="8246920" cy="4765964"/>
          </a:xfrm>
        </p:spPr>
        <p:txBody>
          <a:bodyPr anchor="t" anchorCtr="0">
            <a:normAutofit/>
          </a:bodyPr>
          <a:lstStyle/>
          <a:p>
            <a:pPr marL="0" indent="0">
              <a:buNone/>
            </a:pPr>
            <a:r>
              <a:rPr lang="en-US" sz="3600" dirty="0"/>
              <a:t>#include &lt;</a:t>
            </a:r>
            <a:r>
              <a:rPr lang="en-US" sz="3600" dirty="0" err="1"/>
              <a:t>stdio.h</a:t>
            </a:r>
            <a:r>
              <a:rPr lang="en-US" sz="3600" dirty="0"/>
              <a:t>&gt;</a:t>
            </a:r>
          </a:p>
          <a:p>
            <a:pPr marL="0" indent="0">
              <a:buNone/>
            </a:pPr>
            <a:r>
              <a:rPr lang="en-US" sz="3600" dirty="0"/>
              <a:t>struct stack{</a:t>
            </a:r>
          </a:p>
          <a:p>
            <a:pPr marL="0" indent="0">
              <a:buNone/>
            </a:pPr>
            <a:r>
              <a:rPr lang="en-US" sz="3600" dirty="0"/>
              <a:t>   int num[100];</a:t>
            </a:r>
          </a:p>
          <a:p>
            <a:pPr marL="0" indent="0">
              <a:buNone/>
            </a:pPr>
            <a:r>
              <a:rPr lang="en-US" sz="3600" dirty="0"/>
              <a:t>   int head;</a:t>
            </a:r>
          </a:p>
          <a:p>
            <a:pPr marL="0" indent="0">
              <a:buNone/>
            </a:pPr>
            <a:r>
              <a:rPr lang="en-US" sz="3600" dirty="0"/>
              <a:t>};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219BFA-17D3-8FF8-249E-2BEC6A14ABB7}"/>
              </a:ext>
            </a:extLst>
          </p:cNvPr>
          <p:cNvSpPr txBox="1"/>
          <p:nvPr/>
        </p:nvSpPr>
        <p:spPr>
          <a:xfrm>
            <a:off x="528755" y="750211"/>
            <a:ext cx="11158623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5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Write the Code to see if Stack Full</a:t>
            </a:r>
          </a:p>
        </p:txBody>
      </p:sp>
    </p:spTree>
    <p:extLst>
      <p:ext uri="{BB962C8B-B14F-4D97-AF65-F5344CB8AC3E}">
        <p14:creationId xmlns:p14="http://schemas.microsoft.com/office/powerpoint/2010/main" val="24340218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>
              <a:latin typeface="Times New Roman" panose="02020603050405020304" pitchFamily="18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>
                <a:latin typeface="Times New Roman" panose="02020603050405020304" pitchFamily="18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>
                <a:latin typeface="Times New Roman" panose="02020603050405020304" pitchFamily="18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Questions?</a:t>
            </a:r>
          </a:p>
        </p:txBody>
      </p:sp>
      <p:pic>
        <p:nvPicPr>
          <p:cNvPr id="5" name="Picture 4" descr="Digital Number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981FF5C-7156-F045-3772-808E8CC6AA95}"/>
              </a:ext>
            </a:extLst>
          </p:cNvPr>
          <p:cNvSpPr/>
          <p:nvPr/>
        </p:nvSpPr>
        <p:spPr>
          <a:xfrm>
            <a:off x="1113224" y="4143690"/>
            <a:ext cx="9960531" cy="1310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5400" dirty="0">
                <a:solidFill>
                  <a:srgbClr val="FFFFFF"/>
                </a:solidFill>
              </a:rPr>
              <a:t>In Class Assignment</a:t>
            </a:r>
          </a:p>
        </p:txBody>
      </p:sp>
      <p:sp>
        <p:nvSpPr>
          <p:cNvPr id="26629" name="Rectangle 3"/>
          <p:cNvSpPr>
            <a:spLocks noGrp="1" noChangeArrowheads="1"/>
          </p:cNvSpPr>
          <p:nvPr>
            <p:ph idx="1"/>
          </p:nvPr>
        </p:nvSpPr>
        <p:spPr>
          <a:xfrm>
            <a:off x="420858" y="2039814"/>
            <a:ext cx="11189950" cy="3614225"/>
          </a:xfrm>
        </p:spPr>
        <p:txBody>
          <a:bodyPr anchor="t" anchorCtr="0">
            <a:normAutofit/>
          </a:bodyPr>
          <a:lstStyle/>
          <a:p>
            <a:pPr marL="0" indent="0">
              <a:buNone/>
            </a:pPr>
            <a:r>
              <a:rPr lang="en-US" sz="3200" dirty="0"/>
              <a:t>Finish the Array Based Stack code and write code to:</a:t>
            </a:r>
          </a:p>
          <a:p>
            <a:pPr marL="0" indent="0">
              <a:buNone/>
            </a:pPr>
            <a:endParaRPr lang="en-US" sz="3200" dirty="0"/>
          </a:p>
          <a:p>
            <a:pPr marL="742950" indent="-742950">
              <a:buAutoNum type="arabicParenR"/>
            </a:pPr>
            <a:r>
              <a:rPr lang="en-US" sz="3200" dirty="0"/>
              <a:t>Push an int onto the stack</a:t>
            </a:r>
          </a:p>
          <a:p>
            <a:pPr marL="742950" indent="-742950">
              <a:buAutoNum type="arabicParenR"/>
            </a:pPr>
            <a:r>
              <a:rPr lang="en-US" sz="3200" dirty="0"/>
              <a:t>Pop an int off the stack. </a:t>
            </a:r>
          </a:p>
          <a:p>
            <a:pPr marL="742950" indent="-742950">
              <a:buAutoNum type="arabicParenR"/>
            </a:pPr>
            <a:r>
              <a:rPr lang="en-US" sz="3200" dirty="0"/>
              <a:t>Display the contents of the stack.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sz="3200" dirty="0">
              <a:solidFill>
                <a:schemeClr val="tx1"/>
              </a:solidFill>
            </a:endParaRPr>
          </a:p>
        </p:txBody>
      </p:sp>
      <p:pic>
        <p:nvPicPr>
          <p:cNvPr id="3" name="Picture 2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951A4A4C-57BA-2BE2-FC22-419B7481EA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4400" y="4044950"/>
            <a:ext cx="4038600" cy="2628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S315_01AlgorithmsSortingLatest-1(1)" id="{EA72822C-0D32-644F-9E7E-515D66319756}" vid="{B1174AC2-1EA3-B94B-B837-16E14B4594C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42D3C2F-55A5-48C0-9D5A-95C7FF0389D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791575F-4C21-47C4-8D13-EB9BE66B536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792209EB-3212-4116-B574-D1F56C7C49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5641</TotalTime>
  <Words>1585</Words>
  <Application>Microsoft Office PowerPoint</Application>
  <PresentationFormat>Widescreen</PresentationFormat>
  <Paragraphs>266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Gill Sans MT</vt:lpstr>
      <vt:lpstr>Times New Roman</vt:lpstr>
      <vt:lpstr>Wingdings</vt:lpstr>
      <vt:lpstr>Wingdings 2</vt:lpstr>
      <vt:lpstr>Custom</vt:lpstr>
      <vt:lpstr>Stacks </vt:lpstr>
      <vt:lpstr>PowerPoint Presentation</vt:lpstr>
      <vt:lpstr>PowerPoint Presentation</vt:lpstr>
      <vt:lpstr>Stacks</vt:lpstr>
      <vt:lpstr>Stacks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Questions?</vt:lpstr>
      <vt:lpstr>In Class Assignment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CS399 Run Time Analysis</dc:title>
  <dc:creator>Marriott, Heather H</dc:creator>
  <cp:lastModifiedBy>Marriott, Heather H</cp:lastModifiedBy>
  <cp:revision>47</cp:revision>
  <dcterms:created xsi:type="dcterms:W3CDTF">2024-05-27T01:44:40Z</dcterms:created>
  <dcterms:modified xsi:type="dcterms:W3CDTF">2026-08-31T20:59:44Z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