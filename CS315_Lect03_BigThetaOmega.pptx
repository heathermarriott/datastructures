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38"/>
  </p:notesMasterIdLst>
  <p:handoutMasterIdLst>
    <p:handoutMasterId r:id="rId39"/>
  </p:handoutMasterIdLst>
  <p:sldIdLst>
    <p:sldId id="256" r:id="rId5"/>
    <p:sldId id="503" r:id="rId6"/>
    <p:sldId id="616" r:id="rId7"/>
    <p:sldId id="617" r:id="rId8"/>
    <p:sldId id="600" r:id="rId9"/>
    <p:sldId id="606" r:id="rId10"/>
    <p:sldId id="607" r:id="rId11"/>
    <p:sldId id="608" r:id="rId12"/>
    <p:sldId id="609" r:id="rId13"/>
    <p:sldId id="610" r:id="rId14"/>
    <p:sldId id="601" r:id="rId15"/>
    <p:sldId id="602" r:id="rId16"/>
    <p:sldId id="611" r:id="rId17"/>
    <p:sldId id="614" r:id="rId18"/>
    <p:sldId id="603" r:id="rId19"/>
    <p:sldId id="604" r:id="rId20"/>
    <p:sldId id="605" r:id="rId21"/>
    <p:sldId id="587" r:id="rId22"/>
    <p:sldId id="612" r:id="rId23"/>
    <p:sldId id="613" r:id="rId24"/>
    <p:sldId id="574" r:id="rId25"/>
    <p:sldId id="319" r:id="rId26"/>
    <p:sldId id="313" r:id="rId27"/>
    <p:sldId id="268" r:id="rId28"/>
    <p:sldId id="292" r:id="rId29"/>
    <p:sldId id="355" r:id="rId30"/>
    <p:sldId id="584" r:id="rId31"/>
    <p:sldId id="357" r:id="rId32"/>
    <p:sldId id="585" r:id="rId33"/>
    <p:sldId id="586" r:id="rId34"/>
    <p:sldId id="260" r:id="rId35"/>
    <p:sldId id="583" r:id="rId36"/>
    <p:sldId id="615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69596" autoAdjust="0"/>
  </p:normalViewPr>
  <p:slideViewPr>
    <p:cSldViewPr snapToGrid="0">
      <p:cViewPr varScale="1">
        <p:scale>
          <a:sx n="70" d="100"/>
          <a:sy n="70" d="100"/>
        </p:scale>
        <p:origin x="9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>
                <a:latin typeface="Times New Roman" panose="02020603050405020304" pitchFamily="18" charset="0"/>
              </a:rPr>
              <a:t>8/28/26</a:t>
            </a:fld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>
                <a:latin typeface="Times New Roman" panose="02020603050405020304" pitchFamily="18" charset="0"/>
              </a:rPr>
              <a:t>‹#›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C732326A-4C88-4AFB-AA5B-5919D81DFF5B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C6B3AB32-59DF-41F1-9618-EDFBF50496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F366094-956C-4EAE-8D5D-57B1B6CC2130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19604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11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819DF-F5C5-C13A-5CE7-BB0CA48DC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4C4A8-2335-F85C-6A87-8B1748FDE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0E335-E3C3-597A-D72E-AF25BA5D3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O(n)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BE090-9C33-322F-49B4-7604E5A3E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309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113CA-C5D4-264D-F7DE-1439AD8D2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96245-D544-3841-E0F7-A30E3FA30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0BC47-23BA-EE69-C725-B3A6919FC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O(1)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88CE6-C075-8EB8-94F1-13F8C655A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316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0ED8C-E623-BD99-9FBB-5B31E74FD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DDD2C3-0FEE-9A7E-AE81-85F489FEE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BDCEA-1B41-DF65-AACB-ADCB51CCB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O(N^2)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38AE4-328F-2424-7648-7924B529D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509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B6DC7-E71F-3541-1C35-22492A8CA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59BEF-B6CC-1F3C-2456-61D10A7BA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340BC-C34E-F54B-9AB6-463C15496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O(N^2)  ***note the outer loop only executes 10 times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761C8-590F-0B72-2612-62B473F9B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50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DD850-D1AD-F985-45F9-42D8BCFD5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AD4AB-6966-3ECA-920E-32B86BA48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7F8E5A-7518-8B41-4815-EB5BC9FEF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22CAA-AE02-E46D-3D1B-182EB6530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961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p= 3</a:t>
            </a:r>
          </a:p>
          <a:p>
            <a:endParaRPr lang="en-US" dirty="0"/>
          </a:p>
          <a:p>
            <a:r>
              <a:rPr lang="en-US" dirty="0"/>
              <a:t>p=12   https://</a:t>
            </a:r>
            <a:r>
              <a:rPr lang="en-US" dirty="0" err="1"/>
              <a:t>www.calculator.net</a:t>
            </a:r>
            <a:r>
              <a:rPr lang="en-US" dirty="0"/>
              <a:t>/log-</a:t>
            </a:r>
            <a:r>
              <a:rPr lang="en-US" dirty="0" err="1"/>
              <a:t>calculator.html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059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8 4 2 </a:t>
            </a:r>
          </a:p>
          <a:p>
            <a:endParaRPr lang="en-US" dirty="0"/>
          </a:p>
          <a:p>
            <a:r>
              <a:rPr lang="en-US" dirty="0"/>
              <a:t>(remember log base 2 of 8 is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73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68AB8-7CB4-3C4C-F0BA-6CE33AA33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41FC5-406F-D98C-9D63-C1EFA03E5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901FE-7562-3962-5DA8-9611B6AEF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n=4, 2, 1   O(log(n))  // log base 2</a:t>
            </a:r>
          </a:p>
          <a:p>
            <a:endParaRPr lang="en-US" dirty="0"/>
          </a:p>
          <a:p>
            <a:r>
              <a:rPr lang="en-US" dirty="0"/>
              <a:t>O(log(n))  // log base 3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O(log(n))  // log base 10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4B8F7-82D4-FB87-240A-079691184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252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68AB8-7CB4-3C4C-F0BA-6CE33AA33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41FC5-406F-D98C-9D63-C1EFA03E5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901FE-7562-3962-5DA8-9611B6AEF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n=4, 2, 1   O(log(n))  // log base 2</a:t>
            </a:r>
          </a:p>
          <a:p>
            <a:endParaRPr lang="en-US" dirty="0"/>
          </a:p>
          <a:p>
            <a:r>
              <a:rPr lang="en-US" dirty="0"/>
              <a:t>O(log(n))  // log base 3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O(log(n))  // log base 10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4B8F7-82D4-FB87-240A-079691184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272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Common Logarithm (base 10):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Notation: log⁡(x)log(x) or log⁡10(x)log10​(x)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Definition: The power to which the base 10 must be raised to obtain the number xx.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Example: log⁡10(100)=2log10​(100)=2 because 102=100102=100.</a:t>
            </a:r>
          </a:p>
          <a:p>
            <a:endParaRPr lang="en-US" dirty="0"/>
          </a:p>
          <a:p>
            <a:r>
              <a:rPr lang="en-US" b="1" dirty="0"/>
              <a:t>Natural Logarithm (base </a:t>
            </a:r>
            <a:r>
              <a:rPr lang="en-US" b="1" dirty="0" err="1"/>
              <a:t>ee</a:t>
            </a:r>
            <a:r>
              <a:rPr lang="en-US" b="1" dirty="0"/>
              <a:t>):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Notation: ln⁡(x)ln(x)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Definition: The power to which the base </a:t>
            </a:r>
            <a:r>
              <a:rPr lang="en-US" dirty="0" err="1"/>
              <a:t>ee</a:t>
            </a:r>
            <a:r>
              <a:rPr lang="en-US" dirty="0"/>
              <a:t> (where e≈2.71828e≈2.71828) must be raised to obtain the number xx.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 ln⁡(e3)=3ln(e3)=3 because e3=e3e3=e3.</a:t>
            </a:r>
          </a:p>
          <a:p>
            <a:endParaRPr lang="en-US" b="1" dirty="0"/>
          </a:p>
          <a:p>
            <a:r>
              <a:rPr lang="en-US" b="1" dirty="0"/>
              <a:t>Logarithm with Other Bases: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Notation: </a:t>
            </a:r>
            <a:r>
              <a:rPr lang="en-US" dirty="0" err="1"/>
              <a:t>log⁡b</a:t>
            </a:r>
            <a:r>
              <a:rPr lang="en-US" dirty="0"/>
              <a:t>(x)</a:t>
            </a:r>
            <a:r>
              <a:rPr lang="en-US" dirty="0" err="1"/>
              <a:t>logb</a:t>
            </a:r>
            <a:r>
              <a:rPr lang="en-US" dirty="0"/>
              <a:t>​(x)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Definition: The power to which the base bb must be raised to obtain the number xx.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 log⁡2(8)=3log2​(8)=3 because 23=823=8.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075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log8 64 =&gt;  log 2(64)/log 2 (8)    = 6/3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648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www.desmos.com</a:t>
            </a:r>
            <a:r>
              <a:rPr lang="en-US" dirty="0"/>
              <a:t>/calculator/iuc4aiabt6</a:t>
            </a:r>
          </a:p>
          <a:p>
            <a:endParaRPr lang="en-US" dirty="0"/>
          </a:p>
          <a:p>
            <a:r>
              <a:rPr lang="en-US" dirty="0"/>
              <a:t>note, as log base gets bigger, growth rate slower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6763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2 1 = 0     2 to the power of 0 is 1</a:t>
            </a:r>
          </a:p>
          <a:p>
            <a:r>
              <a:rPr lang="en-US" dirty="0"/>
              <a:t>log 2 2 = 1    2 to the power 1 is 2</a:t>
            </a:r>
          </a:p>
          <a:p>
            <a:r>
              <a:rPr lang="en-US" dirty="0"/>
              <a:t>log 2 8 = 3   2 to the power 3 is 8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5394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r>
              <a:rPr lang="en-US" dirty="0"/>
              <a:t>#include 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n, x = 0,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r>
              <a:rPr lang="en-US" dirty="0"/>
              <a:t>    int* array;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("Enter n: ");</a:t>
            </a:r>
          </a:p>
          <a:p>
            <a:r>
              <a:rPr lang="en-US" dirty="0"/>
              <a:t>    </a:t>
            </a:r>
            <a:r>
              <a:rPr lang="en-US" dirty="0" err="1"/>
              <a:t>scanf</a:t>
            </a:r>
            <a:r>
              <a:rPr lang="en-US" dirty="0"/>
              <a:t>("%d", &amp;n);</a:t>
            </a:r>
          </a:p>
          <a:p>
            <a:r>
              <a:rPr lang="en-US" dirty="0"/>
              <a:t>    array = (int*) malloc(</a:t>
            </a:r>
            <a:r>
              <a:rPr lang="en-US" dirty="0" err="1"/>
              <a:t>sizeof</a:t>
            </a:r>
            <a:r>
              <a:rPr lang="en-US" dirty="0"/>
              <a:t>(int) * n);</a:t>
            </a:r>
          </a:p>
          <a:p>
            <a:r>
              <a:rPr lang="en-US" dirty="0"/>
              <a:t>    while (x &lt; n) { //initialize array to 0s</a:t>
            </a:r>
          </a:p>
          <a:p>
            <a:r>
              <a:rPr lang="en-US" dirty="0"/>
              <a:t>        array[x] = 0;</a:t>
            </a:r>
          </a:p>
          <a:p>
            <a:r>
              <a:rPr lang="en-US" dirty="0"/>
              <a:t>        x = x + 1;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while (array[n-1] != n){</a:t>
            </a:r>
          </a:p>
          <a:p>
            <a:r>
              <a:rPr lang="en-US" dirty="0"/>
              <a:t>        x = 0;</a:t>
            </a:r>
          </a:p>
          <a:p>
            <a:r>
              <a:rPr lang="en-US" dirty="0"/>
              <a:t>        array[x]++;</a:t>
            </a:r>
          </a:p>
          <a:p>
            <a:r>
              <a:rPr lang="en-US" dirty="0"/>
              <a:t>        while (array[x] &gt; n){</a:t>
            </a:r>
          </a:p>
          <a:p>
            <a:r>
              <a:rPr lang="en-US" dirty="0"/>
              <a:t>            array[x] = 0;</a:t>
            </a:r>
          </a:p>
          <a:p>
            <a:r>
              <a:rPr lang="en-US" dirty="0"/>
              <a:t>            x++;</a:t>
            </a:r>
          </a:p>
          <a:p>
            <a:r>
              <a:rPr lang="en-US" dirty="0"/>
              <a:t>            array[x]++;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r>
              <a:rPr lang="en-US" dirty="0"/>
              <a:t>    free(array);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234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C7DE2-8C55-BEEE-6821-CD109AB8F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E71DD-ED92-C76A-2EA3-FCC0711D9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D5B24-3E76-BB42-BAA1-13AFA6B6F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// THIS IS N^N   for N=10 it’s 10 billion</a:t>
            </a:r>
          </a:p>
          <a:p>
            <a:endParaRPr lang="en-US" dirty="0"/>
          </a:p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r>
              <a:rPr lang="en-US" dirty="0"/>
              <a:t>#include 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void </a:t>
            </a:r>
            <a:r>
              <a:rPr lang="en-US" dirty="0" err="1"/>
              <a:t>printArray</a:t>
            </a:r>
            <a:r>
              <a:rPr lang="en-US" dirty="0"/>
              <a:t>(int a[], int size){</a:t>
            </a:r>
          </a:p>
          <a:p>
            <a:r>
              <a:rPr lang="en-US" dirty="0"/>
              <a:t>    int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r>
              <a:rPr lang="en-US" dirty="0"/>
              <a:t>    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 size;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("%d ", a[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n, x = 0,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r>
              <a:rPr lang="en-US" dirty="0"/>
              <a:t>    int* array;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("Enter n: ");</a:t>
            </a:r>
          </a:p>
          <a:p>
            <a:r>
              <a:rPr lang="en-US" dirty="0"/>
              <a:t>    </a:t>
            </a:r>
            <a:r>
              <a:rPr lang="en-US" dirty="0" err="1"/>
              <a:t>scanf</a:t>
            </a:r>
            <a:r>
              <a:rPr lang="en-US" dirty="0"/>
              <a:t>("%d", &amp;n);</a:t>
            </a:r>
          </a:p>
          <a:p>
            <a:r>
              <a:rPr lang="en-US" dirty="0"/>
              <a:t>    array = (int*) malloc(</a:t>
            </a:r>
            <a:r>
              <a:rPr lang="en-US" dirty="0" err="1"/>
              <a:t>sizeof</a:t>
            </a:r>
            <a:r>
              <a:rPr lang="en-US" dirty="0"/>
              <a:t>(int) * n);</a:t>
            </a:r>
          </a:p>
          <a:p>
            <a:r>
              <a:rPr lang="en-US" dirty="0"/>
              <a:t>    while (x &lt; n) { //initialize array to 0s</a:t>
            </a:r>
          </a:p>
          <a:p>
            <a:r>
              <a:rPr lang="en-US" dirty="0"/>
              <a:t>        array[x] = 0;</a:t>
            </a:r>
          </a:p>
          <a:p>
            <a:r>
              <a:rPr lang="en-US" dirty="0"/>
              <a:t>        x = x + 1;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printArray</a:t>
            </a:r>
            <a:r>
              <a:rPr lang="en-US" dirty="0"/>
              <a:t>(array, n);</a:t>
            </a:r>
          </a:p>
          <a:p>
            <a:r>
              <a:rPr lang="en-US" dirty="0"/>
              <a:t>    while (array[n-1] != n){</a:t>
            </a:r>
          </a:p>
          <a:p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("Outer while\n");</a:t>
            </a:r>
          </a:p>
          <a:p>
            <a:r>
              <a:rPr lang="en-US" dirty="0"/>
              <a:t>        x = 0;</a:t>
            </a:r>
          </a:p>
          <a:p>
            <a:r>
              <a:rPr lang="en-US" dirty="0"/>
              <a:t>        array[x]++;</a:t>
            </a:r>
          </a:p>
          <a:p>
            <a:r>
              <a:rPr lang="en-US" dirty="0"/>
              <a:t>        </a:t>
            </a:r>
            <a:r>
              <a:rPr lang="en-US" dirty="0" err="1"/>
              <a:t>printArray</a:t>
            </a:r>
            <a:r>
              <a:rPr lang="en-US" dirty="0"/>
              <a:t>(array, n);</a:t>
            </a:r>
          </a:p>
          <a:p>
            <a:r>
              <a:rPr lang="en-US" dirty="0"/>
              <a:t>        while (array[x] &gt; n){</a:t>
            </a:r>
          </a:p>
          <a:p>
            <a:r>
              <a:rPr lang="en-US" dirty="0"/>
              <a:t>            array[x] = 0;</a:t>
            </a:r>
          </a:p>
          <a:p>
            <a:r>
              <a:rPr lang="en-US" dirty="0"/>
              <a:t>            </a:t>
            </a:r>
            <a:r>
              <a:rPr lang="en-US" dirty="0" err="1"/>
              <a:t>printf</a:t>
            </a:r>
            <a:r>
              <a:rPr lang="en-US" dirty="0"/>
              <a:t>("Inner while\n");</a:t>
            </a:r>
          </a:p>
          <a:p>
            <a:r>
              <a:rPr lang="en-US" dirty="0"/>
              <a:t>            </a:t>
            </a:r>
            <a:r>
              <a:rPr lang="en-US" dirty="0" err="1"/>
              <a:t>printArray</a:t>
            </a:r>
            <a:r>
              <a:rPr lang="en-US" dirty="0"/>
              <a:t>(array, n);</a:t>
            </a:r>
          </a:p>
          <a:p>
            <a:r>
              <a:rPr lang="en-US" dirty="0"/>
              <a:t>            x++;</a:t>
            </a:r>
          </a:p>
          <a:p>
            <a:r>
              <a:rPr lang="en-US" dirty="0"/>
              <a:t>            array[x]++;</a:t>
            </a:r>
          </a:p>
          <a:p>
            <a:r>
              <a:rPr lang="en-US" dirty="0"/>
              <a:t>            </a:t>
            </a:r>
            <a:r>
              <a:rPr lang="en-US" dirty="0" err="1"/>
              <a:t>printArray</a:t>
            </a:r>
            <a:r>
              <a:rPr lang="en-US" dirty="0"/>
              <a:t>(array, n);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printArray</a:t>
            </a:r>
            <a:r>
              <a:rPr lang="en-US" dirty="0"/>
              <a:t>(array, n);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r>
              <a:rPr lang="en-US" dirty="0"/>
              <a:t>    free(array);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DF23C-E736-0371-87C9-373F79BF2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2596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lower bound is not unique, there will be multiple functions that can bound</a:t>
            </a:r>
          </a:p>
          <a:p>
            <a:endParaRPr lang="en-US" dirty="0"/>
          </a:p>
          <a:p>
            <a:r>
              <a:rPr lang="en-US" dirty="0"/>
              <a:t>You can say Big Omega or more commonly just Omega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0278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1331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8448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5126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7132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8525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A326C-1E39-607F-DA26-13B82DC76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DEC5A1-41BB-BCC5-3DB9-81CD6D4EC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A72A9E-2AC4-176E-CD25-C03CF272A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18261-432D-A1D5-FD96-D400D7DB1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714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 cap="all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i="0" kern="1200" cap="all">
          <a:solidFill>
            <a:schemeClr val="bg1"/>
          </a:solidFill>
          <a:latin typeface="Times New Roman" panose="02020603050405020304" pitchFamily="18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b="0" i="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b="0" i="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b="0" i="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b="0" i="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b="0" i="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7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2" y="4455816"/>
            <a:ext cx="11260666" cy="1627101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RUNTIME ANALYSIS Cont.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6215" y="5828807"/>
            <a:ext cx="4183184" cy="48482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O, </a:t>
            </a:r>
            <a:r>
              <a:rPr lang="el-GR" sz="3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3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sz="3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θ</a:t>
            </a:r>
            <a:r>
              <a:rPr lang="en-US" sz="3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00B0F0"/>
                </a:solidFill>
              </a:rPr>
              <a:t> </a:t>
            </a:r>
            <a:r>
              <a:rPr lang="en-US" sz="3200" dirty="0">
                <a:solidFill>
                  <a:srgbClr val="7CEBFF"/>
                </a:solidFill>
              </a:rPr>
              <a:t>NOTATION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>
          <a:xfrm>
            <a:off x="436098" y="2405574"/>
            <a:ext cx="9619733" cy="3614225"/>
          </a:xfrm>
        </p:spPr>
        <p:txBody>
          <a:bodyPr anchor="t" anchorCtr="0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4000" dirty="0">
                <a:solidFill>
                  <a:schemeClr val="tx1"/>
                </a:solidFill>
              </a:rPr>
              <a:t>Join the Nearpod Lecture: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4000" u="none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</a:rPr>
              <a:t>                  </a:t>
            </a:r>
            <a:r>
              <a:rPr lang="en-US" sz="4000" u="none" strike="noStrike" dirty="0" err="1">
                <a:solidFill>
                  <a:srgbClr val="5B6D79"/>
                </a:solidFill>
                <a:effectLst/>
                <a:highlight>
                  <a:srgbClr val="FFFFFF"/>
                </a:highlight>
              </a:rPr>
              <a:t>join.nearpod.com</a:t>
            </a:r>
            <a:r>
              <a:rPr lang="en-US" sz="4000" u="none" strike="noStrike" dirty="0">
                <a:solidFill>
                  <a:srgbClr val="5B6D79"/>
                </a:solidFill>
                <a:effectLst/>
                <a:highlight>
                  <a:srgbClr val="FFFFFF"/>
                </a:highlight>
              </a:rPr>
              <a:t> </a:t>
            </a:r>
            <a:endParaRPr lang="en-US" alt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59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21396-D012-7EDD-91D3-F1B8907D4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 in the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3AEEA4-7902-9672-BEEC-49D7E74E1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72" y="1918290"/>
            <a:ext cx="11730456" cy="489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91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69707-4FE8-A699-7041-B07C27D06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0820-E41C-F66B-3C95-1ABA073F7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 in the Values -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1A1BF4-168E-20F8-A7BC-6203063C7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95" y="1971407"/>
            <a:ext cx="11129913" cy="45267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9C4DE3-D65B-EE39-6103-4C5F56EEEC49}"/>
              </a:ext>
            </a:extLst>
          </p:cNvPr>
          <p:cNvSpPr txBox="1"/>
          <p:nvPr/>
        </p:nvSpPr>
        <p:spPr>
          <a:xfrm>
            <a:off x="6309360" y="702156"/>
            <a:ext cx="5577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>
                <a:solidFill>
                  <a:srgbClr val="FFFF00"/>
                </a:solidFill>
                <a:effectLst/>
              </a:rPr>
              <a:t>When we say 2^n is SLOWER THAN N^2 or N^3 it's not for every value of n, just as n gets past a certain point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63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490" y="1838291"/>
            <a:ext cx="11451020" cy="4387560"/>
          </a:xfrm>
        </p:spPr>
        <p:txBody>
          <a:bodyPr anchor="t" anchorCtr="0">
            <a:noAutofit/>
          </a:bodyPr>
          <a:lstStyle/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0070C0"/>
                </a:solidFill>
              </a:rPr>
              <a:t>When we say an algorithm has a big O time complexity of O(n)</a:t>
            </a:r>
            <a:endParaRPr lang="en-US" sz="3200" b="1" dirty="0"/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endParaRPr lang="en-US" sz="3200" dirty="0"/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As 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n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grows, the dominant factor in the algorithm's runtime (whether it involves a for loop, while loop, do-while loop, or recursive calls) in the worst-case scenario will be </a:t>
            </a:r>
            <a:r>
              <a:rPr lang="en-US" sz="3200" b="1" i="0" u="none" strike="noStrike" dirty="0">
                <a:solidFill>
                  <a:srgbClr val="FF0000"/>
                </a:solidFill>
                <a:effectLst/>
              </a:rPr>
              <a:t>n</a:t>
            </a:r>
            <a:r>
              <a:rPr lang="en-US" sz="3200" b="1" i="0" u="none" strike="noStrike" dirty="0">
                <a:solidFill>
                  <a:srgbClr val="FF0000"/>
                </a:solidFill>
                <a:effectLst/>
                <a:latin typeface="-webkit-standard"/>
              </a:rPr>
              <a:t> operations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disregarding constant factors.</a:t>
            </a:r>
            <a:endParaRPr lang="en-US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414416-1724-F62A-461E-60E899F06161}"/>
              </a:ext>
            </a:extLst>
          </p:cNvPr>
          <p:cNvSpPr txBox="1"/>
          <p:nvPr/>
        </p:nvSpPr>
        <p:spPr>
          <a:xfrm>
            <a:off x="370490" y="5660229"/>
            <a:ext cx="46735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u="none" strike="noStrike" dirty="0">
                <a:solidFill>
                  <a:srgbClr val="00B050"/>
                </a:solidFill>
                <a:effectLst/>
              </a:rPr>
              <a:t>for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  <a:latin typeface="-webkit-standard"/>
              </a:rPr>
              <a:t> (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</a:rPr>
              <a:t>int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  <a:latin typeface="-webkit-standard"/>
              </a:rPr>
              <a:t> </a:t>
            </a:r>
            <a:r>
              <a:rPr lang="en-US" sz="2400" b="0" i="0" u="none" strike="noStrike" dirty="0" err="1">
                <a:solidFill>
                  <a:srgbClr val="00B050"/>
                </a:solidFill>
                <a:effectLst/>
                <a:latin typeface="-webkit-standard"/>
              </a:rPr>
              <a:t>i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  <a:latin typeface="-webkit-standard"/>
              </a:rPr>
              <a:t> = 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</a:rPr>
              <a:t>0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  <a:latin typeface="-webkit-standard"/>
              </a:rPr>
              <a:t>; </a:t>
            </a:r>
            <a:r>
              <a:rPr lang="en-US" sz="2400" b="0" i="0" u="none" strike="noStrike" dirty="0" err="1">
                <a:solidFill>
                  <a:srgbClr val="00B050"/>
                </a:solidFill>
                <a:effectLst/>
                <a:latin typeface="-webkit-standard"/>
              </a:rPr>
              <a:t>i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  <a:latin typeface="-webkit-standard"/>
              </a:rPr>
              <a:t> &lt; </a:t>
            </a:r>
            <a:r>
              <a:rPr lang="en-US" sz="2400" dirty="0">
                <a:solidFill>
                  <a:srgbClr val="00B050"/>
                </a:solidFill>
                <a:latin typeface="-webkit-standard"/>
              </a:rPr>
              <a:t>n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  <a:latin typeface="-webkit-standard"/>
              </a:rPr>
              <a:t>; </a:t>
            </a:r>
            <a:r>
              <a:rPr lang="en-US" sz="2400" b="0" i="0" u="none" strike="noStrike" dirty="0" err="1">
                <a:solidFill>
                  <a:srgbClr val="00B050"/>
                </a:solidFill>
                <a:effectLst/>
                <a:latin typeface="-webkit-standard"/>
              </a:rPr>
              <a:t>i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  <a:latin typeface="-webkit-standard"/>
              </a:rPr>
              <a:t>++) { </a:t>
            </a:r>
          </a:p>
          <a:p>
            <a:r>
              <a:rPr lang="en-US" sz="2400" b="0" i="0" u="none" strike="noStrike" dirty="0">
                <a:solidFill>
                  <a:srgbClr val="00B050"/>
                </a:solidFill>
                <a:effectLst/>
                <a:latin typeface="-webkit-standard"/>
              </a:rPr>
              <a:t>}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E81B2-BE0D-00E7-1DDB-8B9B29E2A3D4}"/>
              </a:ext>
            </a:extLst>
          </p:cNvPr>
          <p:cNvSpPr txBox="1"/>
          <p:nvPr/>
        </p:nvSpPr>
        <p:spPr>
          <a:xfrm>
            <a:off x="4448504" y="5527541"/>
            <a:ext cx="19838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u="none" strike="noStrike" dirty="0">
                <a:solidFill>
                  <a:srgbClr val="7030A0"/>
                </a:solidFill>
                <a:effectLst/>
              </a:rPr>
              <a:t>while</a:t>
            </a:r>
            <a:r>
              <a:rPr lang="en-US" sz="2400" b="0" i="0" u="none" strike="noStrike" dirty="0">
                <a:solidFill>
                  <a:srgbClr val="7030A0"/>
                </a:solidFill>
                <a:effectLst/>
                <a:latin typeface="-webkit-standard"/>
              </a:rPr>
              <a:t> (</a:t>
            </a:r>
            <a:r>
              <a:rPr lang="en-US" sz="2400" b="0" i="0" u="none" strike="noStrike" dirty="0" err="1">
                <a:solidFill>
                  <a:srgbClr val="7030A0"/>
                </a:solidFill>
                <a:effectLst/>
                <a:latin typeface="-webkit-standard"/>
              </a:rPr>
              <a:t>i</a:t>
            </a:r>
            <a:r>
              <a:rPr lang="en-US" sz="2400" b="0" i="0" u="none" strike="noStrike" dirty="0">
                <a:solidFill>
                  <a:srgbClr val="7030A0"/>
                </a:solidFill>
                <a:effectLst/>
                <a:latin typeface="-webkit-standard"/>
              </a:rPr>
              <a:t> &lt; </a:t>
            </a:r>
            <a:r>
              <a:rPr lang="en-US" sz="2400" dirty="0">
                <a:solidFill>
                  <a:srgbClr val="7030A0"/>
                </a:solidFill>
                <a:latin typeface="-webkit-standard"/>
              </a:rPr>
              <a:t>n</a:t>
            </a:r>
            <a:r>
              <a:rPr lang="en-US" sz="2400" b="0" i="0" u="none" strike="noStrike" dirty="0">
                <a:solidFill>
                  <a:srgbClr val="7030A0"/>
                </a:solidFill>
                <a:effectLst/>
                <a:latin typeface="-webkit-standard"/>
              </a:rPr>
              <a:t>) { </a:t>
            </a:r>
          </a:p>
          <a:p>
            <a:r>
              <a:rPr lang="en-US" sz="2400" b="0" i="0" u="none" strike="noStrike" dirty="0">
                <a:solidFill>
                  <a:srgbClr val="7030A0"/>
                </a:solidFill>
                <a:effectLst/>
                <a:latin typeface="-webkit-standard"/>
              </a:rPr>
              <a:t>}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2AED77-7A1E-233D-A8CB-DA85D8556BC4}"/>
              </a:ext>
            </a:extLst>
          </p:cNvPr>
          <p:cNvSpPr txBox="1"/>
          <p:nvPr/>
        </p:nvSpPr>
        <p:spPr>
          <a:xfrm>
            <a:off x="8526518" y="5234153"/>
            <a:ext cx="32949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u="none" strike="noStrike" dirty="0">
                <a:solidFill>
                  <a:srgbClr val="FFC000"/>
                </a:solidFill>
                <a:effectLst/>
              </a:rPr>
              <a:t>do</a:t>
            </a:r>
            <a:r>
              <a:rPr lang="en-US" sz="2400" b="0" i="0" u="none" strike="noStrike" dirty="0">
                <a:solidFill>
                  <a:srgbClr val="FFC000"/>
                </a:solidFill>
                <a:effectLst/>
                <a:latin typeface="-webkit-standard"/>
              </a:rPr>
              <a:t> { </a:t>
            </a:r>
          </a:p>
          <a:p>
            <a:r>
              <a:rPr lang="en-US" sz="2400" dirty="0">
                <a:solidFill>
                  <a:srgbClr val="FFC000"/>
                </a:solidFill>
                <a:latin typeface="-webkit-standard"/>
              </a:rPr>
              <a:t>    </a:t>
            </a:r>
            <a:r>
              <a:rPr lang="en-US" sz="2400" b="0" i="0" u="none" strike="noStrike" dirty="0" err="1">
                <a:solidFill>
                  <a:srgbClr val="FFC000"/>
                </a:solidFill>
                <a:effectLst/>
              </a:rPr>
              <a:t>printf</a:t>
            </a:r>
            <a:r>
              <a:rPr lang="en-US" sz="2400" b="0" i="0" u="none" strike="noStrike" dirty="0">
                <a:solidFill>
                  <a:srgbClr val="FFC000"/>
                </a:solidFill>
                <a:effectLst/>
                <a:latin typeface="-webkit-standard"/>
              </a:rPr>
              <a:t>(</a:t>
            </a:r>
            <a:r>
              <a:rPr lang="en-US" sz="2400" b="0" i="0" u="none" strike="noStrike" dirty="0">
                <a:solidFill>
                  <a:srgbClr val="FFC000"/>
                </a:solidFill>
                <a:effectLst/>
              </a:rPr>
              <a:t>"%d\n"</a:t>
            </a:r>
            <a:r>
              <a:rPr lang="en-US" sz="2400" b="0" i="0" u="none" strike="noStrike" dirty="0">
                <a:solidFill>
                  <a:srgbClr val="FFC000"/>
                </a:solidFill>
                <a:effectLst/>
                <a:latin typeface="-webkit-standard"/>
              </a:rPr>
              <a:t>, </a:t>
            </a:r>
            <a:r>
              <a:rPr lang="en-US" sz="2400" b="0" i="0" u="none" strike="noStrike" dirty="0" err="1">
                <a:solidFill>
                  <a:srgbClr val="FFC000"/>
                </a:solidFill>
                <a:effectLst/>
                <a:latin typeface="-webkit-standard"/>
              </a:rPr>
              <a:t>i</a:t>
            </a:r>
            <a:r>
              <a:rPr lang="en-US" sz="2400" b="0" i="0" u="none" strike="noStrike" dirty="0">
                <a:solidFill>
                  <a:srgbClr val="FFC000"/>
                </a:solidFill>
                <a:effectLst/>
                <a:latin typeface="-webkit-standard"/>
              </a:rPr>
              <a:t>);</a:t>
            </a:r>
          </a:p>
          <a:p>
            <a:r>
              <a:rPr lang="en-US" sz="2400" dirty="0">
                <a:solidFill>
                  <a:srgbClr val="FFC000"/>
                </a:solidFill>
                <a:latin typeface="-webkit-standard"/>
              </a:rPr>
              <a:t>    </a:t>
            </a:r>
            <a:r>
              <a:rPr lang="en-US" sz="2400" b="0" i="0" u="none" strike="noStrike" dirty="0">
                <a:solidFill>
                  <a:srgbClr val="FFC000"/>
                </a:solidFill>
                <a:effectLst/>
                <a:latin typeface="-webkit-standard"/>
              </a:rPr>
              <a:t> </a:t>
            </a:r>
            <a:r>
              <a:rPr lang="en-US" sz="2400" b="0" i="0" u="none" strike="noStrike" dirty="0" err="1">
                <a:solidFill>
                  <a:srgbClr val="FFC000"/>
                </a:solidFill>
                <a:effectLst/>
                <a:latin typeface="-webkit-standard"/>
              </a:rPr>
              <a:t>i</a:t>
            </a:r>
            <a:r>
              <a:rPr lang="en-US" sz="2400" b="0" i="0" u="none" strike="noStrike" dirty="0">
                <a:solidFill>
                  <a:srgbClr val="FFC000"/>
                </a:solidFill>
                <a:effectLst/>
                <a:latin typeface="-webkit-standard"/>
              </a:rPr>
              <a:t>++; </a:t>
            </a:r>
          </a:p>
          <a:p>
            <a:r>
              <a:rPr lang="en-US" sz="2400" b="0" i="0" u="none" strike="noStrike" dirty="0">
                <a:solidFill>
                  <a:srgbClr val="FFC000"/>
                </a:solidFill>
                <a:effectLst/>
                <a:latin typeface="-webkit-standard"/>
              </a:rPr>
              <a:t>} </a:t>
            </a:r>
            <a:r>
              <a:rPr lang="en-US" sz="2400" b="0" i="0" u="none" strike="noStrike" dirty="0">
                <a:solidFill>
                  <a:srgbClr val="FFC000"/>
                </a:solidFill>
                <a:effectLst/>
              </a:rPr>
              <a:t>while</a:t>
            </a:r>
            <a:r>
              <a:rPr lang="en-US" sz="2400" b="0" i="0" u="none" strike="noStrike" dirty="0">
                <a:solidFill>
                  <a:srgbClr val="FFC000"/>
                </a:solidFill>
                <a:effectLst/>
                <a:latin typeface="-webkit-standard"/>
              </a:rPr>
              <a:t> (</a:t>
            </a:r>
            <a:r>
              <a:rPr lang="en-US" sz="2400" b="0" i="0" u="none" strike="noStrike" dirty="0" err="1">
                <a:solidFill>
                  <a:srgbClr val="FFC000"/>
                </a:solidFill>
                <a:effectLst/>
                <a:latin typeface="-webkit-standard"/>
              </a:rPr>
              <a:t>i</a:t>
            </a:r>
            <a:r>
              <a:rPr lang="en-US" sz="2400" b="0" i="0" u="none" strike="noStrike" dirty="0">
                <a:solidFill>
                  <a:srgbClr val="FFC000"/>
                </a:solidFill>
                <a:effectLst/>
                <a:latin typeface="-webkit-standard"/>
              </a:rPr>
              <a:t> &lt; </a:t>
            </a:r>
            <a:r>
              <a:rPr lang="en-US" sz="2400" dirty="0">
                <a:solidFill>
                  <a:srgbClr val="FFC000"/>
                </a:solidFill>
                <a:latin typeface="-webkit-standard"/>
              </a:rPr>
              <a:t>n</a:t>
            </a:r>
            <a:r>
              <a:rPr lang="en-US" sz="2400" b="0" i="0" u="none" strike="noStrike" dirty="0">
                <a:solidFill>
                  <a:srgbClr val="FFC000"/>
                </a:solidFill>
                <a:effectLst/>
                <a:latin typeface="-webkit-standard"/>
              </a:rPr>
              <a:t>);</a:t>
            </a:r>
            <a:endParaRPr lang="en-US"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2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3152B-65A9-E249-D6DD-413CBCDE1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A3C8F-2E98-DA24-49F8-1ED8AE46D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90" y="1705602"/>
            <a:ext cx="11451020" cy="4163647"/>
          </a:xfrm>
        </p:spPr>
        <p:txBody>
          <a:bodyPr anchor="t" anchorCtr="0">
            <a:noAutofit/>
          </a:bodyPr>
          <a:lstStyle/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070C0"/>
                </a:solidFill>
              </a:rPr>
              <a:t>What is the Big O time complexity for this algorithm? </a:t>
            </a:r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2400" b="0" i="0" u="none" strike="noStrike" dirty="0">
                <a:solidFill>
                  <a:srgbClr val="236FA1"/>
                </a:solidFill>
                <a:effectLst/>
              </a:rPr>
              <a:t>#include &lt;</a:t>
            </a:r>
            <a:r>
              <a:rPr lang="en-US" sz="2400" b="0" i="0" u="none" strike="noStrike" dirty="0" err="1">
                <a:solidFill>
                  <a:srgbClr val="236FA1"/>
                </a:solidFill>
                <a:effectLst/>
              </a:rPr>
              <a:t>stdio.h</a:t>
            </a:r>
            <a:r>
              <a:rPr lang="en-US" sz="2400" b="0" i="0" u="none" strike="noStrike" dirty="0">
                <a:solidFill>
                  <a:srgbClr val="236FA1"/>
                </a:solidFill>
                <a:effectLst/>
              </a:rPr>
              <a:t>&gt;</a:t>
            </a:r>
            <a:br>
              <a:rPr lang="en-US" sz="2400" dirty="0">
                <a:solidFill>
                  <a:srgbClr val="000000"/>
                </a:solidFill>
              </a:rPr>
            </a:br>
            <a:r>
              <a:rPr lang="en-US" sz="2400" b="0" i="0" u="none" strike="noStrike" dirty="0">
                <a:solidFill>
                  <a:srgbClr val="236FA1"/>
                </a:solidFill>
                <a:effectLst/>
              </a:rPr>
              <a:t>int main(){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236FA1"/>
                </a:solidFill>
                <a:effectLst/>
              </a:rPr>
              <a:t>    int n;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236FA1"/>
                </a:solidFill>
                <a:effectLst/>
              </a:rPr>
              <a:t>    </a:t>
            </a:r>
            <a:r>
              <a:rPr lang="en-US" sz="2400" b="0" i="0" u="none" strike="noStrike" dirty="0" err="1">
                <a:solidFill>
                  <a:srgbClr val="236FA1"/>
                </a:solidFill>
                <a:effectLst/>
              </a:rPr>
              <a:t>printf</a:t>
            </a:r>
            <a:r>
              <a:rPr lang="en-US" sz="2400" b="0" i="0" u="none" strike="noStrike" dirty="0">
                <a:solidFill>
                  <a:srgbClr val="236FA1"/>
                </a:solidFill>
                <a:effectLst/>
              </a:rPr>
              <a:t>("Enter n: ");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236FA1"/>
                </a:solidFill>
                <a:effectLst/>
              </a:rPr>
              <a:t>    </a:t>
            </a:r>
            <a:r>
              <a:rPr lang="en-US" sz="2400" b="0" i="0" u="none" strike="noStrike" dirty="0" err="1">
                <a:solidFill>
                  <a:srgbClr val="236FA1"/>
                </a:solidFill>
                <a:effectLst/>
              </a:rPr>
              <a:t>scanf</a:t>
            </a:r>
            <a:r>
              <a:rPr lang="en-US" sz="2400" b="0" i="0" u="none" strike="noStrike" dirty="0">
                <a:solidFill>
                  <a:srgbClr val="236FA1"/>
                </a:solidFill>
                <a:effectLst/>
              </a:rPr>
              <a:t>("%d", &amp;n);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236FA1"/>
                </a:solidFill>
                <a:effectLst/>
              </a:rPr>
              <a:t>    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236FA1"/>
                </a:solidFill>
                <a:effectLst/>
              </a:rPr>
              <a:t>    do{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236FA1"/>
                </a:solidFill>
                <a:effectLst/>
              </a:rPr>
              <a:t>        </a:t>
            </a:r>
            <a:r>
              <a:rPr lang="en-US" sz="2400" b="0" i="0" u="none" strike="noStrike" dirty="0" err="1">
                <a:solidFill>
                  <a:srgbClr val="236FA1"/>
                </a:solidFill>
                <a:effectLst/>
              </a:rPr>
              <a:t>printf</a:t>
            </a:r>
            <a:r>
              <a:rPr lang="en-US" sz="2400" b="0" i="0" u="none" strike="noStrike" dirty="0">
                <a:solidFill>
                  <a:srgbClr val="236FA1"/>
                </a:solidFill>
                <a:effectLst/>
              </a:rPr>
              <a:t>("n=%d\n", n);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236FA1"/>
                </a:solidFill>
                <a:effectLst/>
              </a:rPr>
              <a:t>        n=n-1;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236FA1"/>
                </a:solidFill>
                <a:effectLst/>
              </a:rPr>
              <a:t>    } while (n&gt;0);</a:t>
            </a:r>
            <a:endParaRPr lang="en-US" sz="24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US" sz="2400" b="0" i="0" u="none" strike="noStrike" dirty="0">
                <a:solidFill>
                  <a:srgbClr val="236FA1"/>
                </a:solidFill>
                <a:effectLst/>
              </a:rPr>
              <a:t>    return 0;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236FA1"/>
                </a:solidFill>
                <a:effectLst/>
              </a:rPr>
              <a:t>}</a:t>
            </a:r>
            <a:endParaRPr lang="en-US" sz="24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F3D9C4-B6F7-13BD-506A-8D2C6DCC0D58}"/>
              </a:ext>
            </a:extLst>
          </p:cNvPr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757781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9BB61-7628-74F7-CCAF-E210873D9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EA73A-7A38-E16A-BE06-CDA772A36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90" y="1705602"/>
            <a:ext cx="11451020" cy="4163647"/>
          </a:xfrm>
        </p:spPr>
        <p:txBody>
          <a:bodyPr anchor="t" anchorCtr="0">
            <a:no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0070C0"/>
                </a:solidFill>
              </a:rPr>
              <a:t>What is the Big O time complexity for this algorithm? (careful, this might be a trick)</a:t>
            </a:r>
            <a:endParaRPr lang="en-US" sz="2400" b="1" dirty="0"/>
          </a:p>
          <a:p>
            <a:pPr marL="0" indent="0" algn="l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#include &lt;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</a:rPr>
              <a:t>stdio.h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&gt;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int main(){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   int n;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  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</a:rPr>
              <a:t>printf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("Enter n: ");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  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</a:rPr>
              <a:t>scanf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("%d", &amp;n);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   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   do{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      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</a:rPr>
              <a:t>printf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("n=%d\n", n);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       n=0;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   } while (n&gt;0);</a:t>
            </a:r>
          </a:p>
          <a:p>
            <a:pPr marL="0" indent="0" algn="l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   return 0;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}</a:t>
            </a:r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610D75-47CC-F3E5-EE35-AB5FC114A667}"/>
              </a:ext>
            </a:extLst>
          </p:cNvPr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774917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261E2-8FAF-A062-1086-CCB1776F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BABB3-30DE-20F2-3B4D-E8ACAD425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90" y="1705602"/>
            <a:ext cx="11451020" cy="4163647"/>
          </a:xfrm>
        </p:spPr>
        <p:txBody>
          <a:bodyPr anchor="t" anchorCtr="0">
            <a:noAutofit/>
          </a:bodyPr>
          <a:lstStyle/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endParaRPr lang="en-US" sz="4800" dirty="0"/>
          </a:p>
          <a:p>
            <a:pPr marL="0" indent="0" algn="l">
              <a:buNone/>
            </a:pPr>
            <a:r>
              <a:rPr lang="en-US" sz="4800" b="0" i="0" u="none" strike="noStrike" dirty="0">
                <a:solidFill>
                  <a:srgbClr val="000000"/>
                </a:solidFill>
                <a:effectLst/>
              </a:rPr>
              <a:t>Find an upper bound (Big-O) for:</a:t>
            </a:r>
          </a:p>
          <a:p>
            <a:pPr marL="0" indent="0" algn="l">
              <a:buNone/>
            </a:pPr>
            <a:r>
              <a:rPr lang="en-US" sz="4800" b="0" i="0" u="none" strike="noStrike" dirty="0">
                <a:solidFill>
                  <a:srgbClr val="000000"/>
                </a:solidFill>
                <a:effectLst/>
              </a:rPr>
              <a:t>f(n) = n</a:t>
            </a:r>
            <a:r>
              <a:rPr lang="en-US" sz="4800" b="0" i="0" u="none" strike="noStrike" baseline="30000" dirty="0">
                <a:solidFill>
                  <a:srgbClr val="000000"/>
                </a:solidFill>
                <a:effectLst/>
              </a:rPr>
              <a:t>2</a:t>
            </a:r>
            <a:r>
              <a:rPr lang="en-US" sz="4800" b="0" i="0" u="none" strike="noStrike" dirty="0">
                <a:solidFill>
                  <a:srgbClr val="000000"/>
                </a:solidFill>
                <a:effectLst/>
              </a:rPr>
              <a:t> + 5n + 1</a:t>
            </a:r>
          </a:p>
          <a:p>
            <a:pPr marL="0" indent="0" algn="l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</a:t>
            </a:r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45B43E-E0BE-C551-1118-4BC6EA5C608C}"/>
              </a:ext>
            </a:extLst>
          </p:cNvPr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475942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39E4A-AE31-2477-4177-192CB02FD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E4BD3-99E7-2778-539D-4289A4EF2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90" y="1705602"/>
            <a:ext cx="11451020" cy="4163647"/>
          </a:xfrm>
        </p:spPr>
        <p:txBody>
          <a:bodyPr anchor="t" anchorCtr="0">
            <a:noAutofit/>
          </a:bodyPr>
          <a:lstStyle/>
          <a:p>
            <a:pPr marL="0" indent="0" algn="l">
              <a:buNone/>
            </a:pPr>
            <a:r>
              <a:rPr lang="en-US" sz="2800" b="0" i="0" u="none" strike="noStrike" dirty="0">
                <a:solidFill>
                  <a:srgbClr val="0070C0"/>
                </a:solidFill>
                <a:effectLst/>
              </a:rPr>
              <a:t>What is the Big O time complexity:</a:t>
            </a:r>
          </a:p>
          <a:p>
            <a:pPr marL="0" indent="0" algn="l">
              <a:buNone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for (k=N-5; k&lt;N+5; k++){</a:t>
            </a:r>
            <a:br>
              <a:rPr lang="en-US" sz="3200" dirty="0"/>
            </a:b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   for (j=0; j&lt;N;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j++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){</a:t>
            </a:r>
            <a:br>
              <a:rPr lang="en-US" sz="3200" dirty="0"/>
            </a:b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           for (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=0;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&lt;N;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++){</a:t>
            </a:r>
            <a:br>
              <a:rPr lang="en-US" sz="3200" dirty="0"/>
            </a:b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                 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abc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= 3;</a:t>
            </a:r>
            <a:br>
              <a:rPr lang="en-US" sz="3200" dirty="0"/>
            </a:b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           }</a:t>
            </a:r>
            <a:br>
              <a:rPr lang="en-US" sz="3200" dirty="0"/>
            </a:b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    }</a:t>
            </a:r>
            <a:br>
              <a:rPr lang="en-US" sz="3200" dirty="0"/>
            </a:b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}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 </a:t>
            </a:r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2B411C-F5AD-5DED-BA41-A3DFD38FB63A}"/>
              </a:ext>
            </a:extLst>
          </p:cNvPr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031242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6E0C1-7634-DD0D-AB87-0BC0B975B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6562B-67B7-9EF2-6DD0-B3D76566B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431" y="2793424"/>
            <a:ext cx="9494783" cy="2866397"/>
          </a:xfrm>
        </p:spPr>
        <p:txBody>
          <a:bodyPr anchor="t" anchorCtr="0">
            <a:noAutofit/>
          </a:bodyPr>
          <a:lstStyle/>
          <a:p>
            <a:pPr marL="0" indent="0" algn="l">
              <a:buNone/>
            </a:pPr>
            <a:r>
              <a:rPr lang="en-US" sz="6600" b="0" i="0" u="none" strike="noStrike" dirty="0">
                <a:solidFill>
                  <a:srgbClr val="0070C0"/>
                </a:solidFill>
                <a:effectLst/>
              </a:rPr>
              <a:t>What is </a:t>
            </a:r>
            <a:r>
              <a:rPr lang="en-US" sz="6600" b="0" i="0" u="none" strike="noStrike" dirty="0">
                <a:solidFill>
                  <a:srgbClr val="7030A0"/>
                </a:solidFill>
                <a:effectLst/>
              </a:rPr>
              <a:t>log</a:t>
            </a:r>
            <a:r>
              <a:rPr lang="en-US" sz="6600" b="0" i="0" u="none" strike="noStrike" baseline="-25000" dirty="0">
                <a:solidFill>
                  <a:srgbClr val="7030A0"/>
                </a:solidFill>
                <a:effectLst/>
              </a:rPr>
              <a:t>2</a:t>
            </a:r>
            <a:r>
              <a:rPr lang="en-US" sz="6600" b="0" i="0" u="none" strike="noStrike" dirty="0">
                <a:solidFill>
                  <a:srgbClr val="7030A0"/>
                </a:solidFill>
                <a:effectLst/>
              </a:rPr>
              <a:t> 64 </a:t>
            </a:r>
            <a:r>
              <a:rPr lang="en-US" sz="6600" b="0" i="0" u="none" strike="noStrike" dirty="0">
                <a:solidFill>
                  <a:srgbClr val="0070C0"/>
                </a:solidFill>
                <a:effectLst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645AAB-A4B6-B425-C77F-91BDED8F66A0}"/>
              </a:ext>
            </a:extLst>
          </p:cNvPr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Test Log Understanding</a:t>
            </a:r>
          </a:p>
        </p:txBody>
      </p:sp>
    </p:spTree>
    <p:extLst>
      <p:ext uri="{BB962C8B-B14F-4D97-AF65-F5344CB8AC3E}">
        <p14:creationId xmlns:p14="http://schemas.microsoft.com/office/powerpoint/2010/main" val="682652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490" y="2018051"/>
            <a:ext cx="11451020" cy="1410949"/>
          </a:xfrm>
        </p:spPr>
        <p:txBody>
          <a:bodyPr anchor="t" anchorCtr="0">
            <a:noAutofit/>
          </a:bodyPr>
          <a:lstStyle/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//solve for p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2</a:t>
            </a:r>
            <a:r>
              <a:rPr lang="en-US" sz="3200" baseline="30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sz="3200" baseline="30000" dirty="0">
                <a:cs typeface="Times New Roman" panose="02020603050405020304" pitchFamily="18" charset="0"/>
              </a:rPr>
              <a:t>  </a:t>
            </a:r>
            <a:r>
              <a:rPr lang="en-US" sz="3200" dirty="0">
                <a:cs typeface="Times New Roman" panose="02020603050405020304" pitchFamily="18" charset="0"/>
              </a:rPr>
              <a:t>= 8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Review of Logs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DE0F36-334C-237D-A025-75F69CFD0608}"/>
              </a:ext>
            </a:extLst>
          </p:cNvPr>
          <p:cNvSpPr txBox="1">
            <a:spLocks/>
          </p:cNvSpPr>
          <p:nvPr/>
        </p:nvSpPr>
        <p:spPr>
          <a:xfrm>
            <a:off x="370490" y="3750974"/>
            <a:ext cx="2803016" cy="14109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sz="3200" dirty="0">
                <a:cs typeface="Times New Roman" panose="02020603050405020304" pitchFamily="18" charset="0"/>
              </a:rPr>
              <a:t>//solve for p</a:t>
            </a:r>
          </a:p>
          <a:p>
            <a:pPr marL="0" indent="0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sz="3200" dirty="0">
                <a:cs typeface="Times New Roman" panose="02020603050405020304" pitchFamily="18" charset="0"/>
              </a:rPr>
              <a:t>2</a:t>
            </a:r>
            <a:r>
              <a:rPr lang="en-US" sz="3200" baseline="30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sz="3200" baseline="30000" dirty="0">
                <a:cs typeface="Times New Roman" panose="02020603050405020304" pitchFamily="18" charset="0"/>
              </a:rPr>
              <a:t>  </a:t>
            </a:r>
            <a:r>
              <a:rPr lang="en-US" sz="3200" dirty="0">
                <a:cs typeface="Times New Roman" panose="02020603050405020304" pitchFamily="18" charset="0"/>
              </a:rPr>
              <a:t>= 4096</a:t>
            </a:r>
          </a:p>
          <a:p>
            <a:pPr marL="0" indent="0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sz="3200" dirty="0"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EE172DB-12CC-B00D-60FE-5A84E633D802}"/>
              </a:ext>
            </a:extLst>
          </p:cNvPr>
          <p:cNvSpPr txBox="1">
            <a:spLocks/>
          </p:cNvSpPr>
          <p:nvPr/>
        </p:nvSpPr>
        <p:spPr>
          <a:xfrm>
            <a:off x="370490" y="5161923"/>
            <a:ext cx="11451020" cy="14109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sz="3200" dirty="0">
                <a:cs typeface="Times New Roman" panose="02020603050405020304" pitchFamily="18" charset="0"/>
              </a:rPr>
              <a:t>log</a:t>
            </a:r>
            <a:r>
              <a:rPr lang="en-US" sz="3200" baseline="-25000" dirty="0">
                <a:cs typeface="Times New Roman" panose="02020603050405020304" pitchFamily="18" charset="0"/>
              </a:rPr>
              <a:t>2</a:t>
            </a:r>
            <a:r>
              <a:rPr lang="en-US" sz="3200" dirty="0">
                <a:cs typeface="Times New Roman" panose="02020603050405020304" pitchFamily="18" charset="0"/>
              </a:rPr>
              <a:t> 4096 = p</a:t>
            </a:r>
          </a:p>
          <a:p>
            <a:pPr marL="0" indent="0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sz="32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425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490" y="2018051"/>
            <a:ext cx="11451020" cy="1410949"/>
          </a:xfrm>
        </p:spPr>
        <p:txBody>
          <a:bodyPr anchor="t" anchorCtr="0">
            <a:noAutofit/>
          </a:bodyPr>
          <a:lstStyle/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n=8;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while ( n &gt; 1 ){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	  </a:t>
            </a:r>
            <a:r>
              <a:rPr lang="en-US" sz="3200" dirty="0" err="1">
                <a:cs typeface="Times New Roman" panose="02020603050405020304" pitchFamily="18" charset="0"/>
              </a:rPr>
              <a:t>printf</a:t>
            </a:r>
            <a:r>
              <a:rPr lang="en-US" sz="3200" dirty="0">
                <a:cs typeface="Times New Roman" panose="02020603050405020304" pitchFamily="18" charset="0"/>
              </a:rPr>
              <a:t>(“%d\n”, n);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      n= n/2;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}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will print?</a:t>
            </a:r>
          </a:p>
        </p:txBody>
      </p:sp>
    </p:spTree>
    <p:extLst>
      <p:ext uri="{BB962C8B-B14F-4D97-AF65-F5344CB8AC3E}">
        <p14:creationId xmlns:p14="http://schemas.microsoft.com/office/powerpoint/2010/main" val="772795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AB41B-FAA7-D505-69DF-2F1EBA13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39061-0639-5DC0-7AB4-0F89DB47F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90" y="2018051"/>
            <a:ext cx="11451020" cy="1410949"/>
          </a:xfrm>
        </p:spPr>
        <p:txBody>
          <a:bodyPr anchor="t" anchorCtr="0">
            <a:noAutofit/>
          </a:bodyPr>
          <a:lstStyle/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//What is Big O of this loop?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while ( n &gt; 1 ){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      n= n/2;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}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06FDF2-238D-1AC8-4141-43B64191C481}"/>
              </a:ext>
            </a:extLst>
          </p:cNvPr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Why Talk About Logs in CS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01CC62-4704-5661-07B2-461366634D9D}"/>
              </a:ext>
            </a:extLst>
          </p:cNvPr>
          <p:cNvSpPr txBox="1">
            <a:spLocks/>
          </p:cNvSpPr>
          <p:nvPr/>
        </p:nvSpPr>
        <p:spPr>
          <a:xfrm>
            <a:off x="2200275" y="3891973"/>
            <a:ext cx="6406547" cy="14109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solidFill>
                  <a:srgbClr val="0070C0"/>
                </a:solidFill>
                <a:cs typeface="Times New Roman" panose="02020603050405020304" pitchFamily="18" charset="0"/>
              </a:rPr>
              <a:t>//What is Big O of this loop?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solidFill>
                  <a:srgbClr val="0070C0"/>
                </a:solidFill>
                <a:cs typeface="Times New Roman" panose="02020603050405020304" pitchFamily="18" charset="0"/>
              </a:rPr>
              <a:t>while ( n &gt; 1 ){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solidFill>
                  <a:srgbClr val="0070C0"/>
                </a:solidFill>
                <a:cs typeface="Times New Roman" panose="02020603050405020304" pitchFamily="18" charset="0"/>
              </a:rPr>
              <a:t>      n= n/3;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solidFill>
                  <a:srgbClr val="0070C0"/>
                </a:solidFill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sz="3200" dirty="0"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73D9FF3-5BCF-77DD-75DF-AE2A717B89C7}"/>
              </a:ext>
            </a:extLst>
          </p:cNvPr>
          <p:cNvSpPr txBox="1">
            <a:spLocks/>
          </p:cNvSpPr>
          <p:nvPr/>
        </p:nvSpPr>
        <p:spPr>
          <a:xfrm>
            <a:off x="7167562" y="4354946"/>
            <a:ext cx="6406547" cy="14109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solidFill>
                  <a:srgbClr val="7030A0"/>
                </a:solidFill>
                <a:cs typeface="Times New Roman" panose="02020603050405020304" pitchFamily="18" charset="0"/>
              </a:rPr>
              <a:t>//What is Big O of this loop?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solidFill>
                  <a:srgbClr val="7030A0"/>
                </a:solidFill>
                <a:cs typeface="Times New Roman" panose="02020603050405020304" pitchFamily="18" charset="0"/>
              </a:rPr>
              <a:t>while ( n &gt; 1 ){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solidFill>
                  <a:srgbClr val="7030A0"/>
                </a:solidFill>
                <a:cs typeface="Times New Roman" panose="02020603050405020304" pitchFamily="18" charset="0"/>
              </a:rPr>
              <a:t>      n= n/10;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solidFill>
                  <a:srgbClr val="7030A0"/>
                </a:solidFill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sz="3200" dirty="0">
              <a:solidFill>
                <a:srgbClr val="7030A0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sz="32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8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AB41B-FAA7-D505-69DF-2F1EBA13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39061-0639-5DC0-7AB4-0F89DB47F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90" y="2018051"/>
            <a:ext cx="11451020" cy="1410949"/>
          </a:xfrm>
        </p:spPr>
        <p:txBody>
          <a:bodyPr anchor="t" anchorCtr="0">
            <a:noAutofit/>
          </a:bodyPr>
          <a:lstStyle/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//What is Big O of this loop?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while ( n &gt; 1 ){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      n= n/2;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}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06FDF2-238D-1AC8-4141-43B64191C481}"/>
              </a:ext>
            </a:extLst>
          </p:cNvPr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Why Talk About Logs in CS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01CC62-4704-5661-07B2-461366634D9D}"/>
              </a:ext>
            </a:extLst>
          </p:cNvPr>
          <p:cNvSpPr txBox="1">
            <a:spLocks/>
          </p:cNvSpPr>
          <p:nvPr/>
        </p:nvSpPr>
        <p:spPr>
          <a:xfrm>
            <a:off x="2200275" y="3891973"/>
            <a:ext cx="6406547" cy="14109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solidFill>
                  <a:srgbClr val="0070C0"/>
                </a:solidFill>
                <a:cs typeface="Times New Roman" panose="02020603050405020304" pitchFamily="18" charset="0"/>
              </a:rPr>
              <a:t>//What is Big O of this loop?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solidFill>
                  <a:srgbClr val="0070C0"/>
                </a:solidFill>
                <a:cs typeface="Times New Roman" panose="02020603050405020304" pitchFamily="18" charset="0"/>
              </a:rPr>
              <a:t>while ( n &gt; 1 ){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solidFill>
                  <a:srgbClr val="0070C0"/>
                </a:solidFill>
                <a:cs typeface="Times New Roman" panose="02020603050405020304" pitchFamily="18" charset="0"/>
              </a:rPr>
              <a:t>      n= n/3;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solidFill>
                  <a:srgbClr val="0070C0"/>
                </a:solidFill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sz="3200" dirty="0"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73D9FF3-5BCF-77DD-75DF-AE2A717B89C7}"/>
              </a:ext>
            </a:extLst>
          </p:cNvPr>
          <p:cNvSpPr txBox="1">
            <a:spLocks/>
          </p:cNvSpPr>
          <p:nvPr/>
        </p:nvSpPr>
        <p:spPr>
          <a:xfrm>
            <a:off x="7167562" y="4354946"/>
            <a:ext cx="6406547" cy="14109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solidFill>
                  <a:srgbClr val="7030A0"/>
                </a:solidFill>
                <a:cs typeface="Times New Roman" panose="02020603050405020304" pitchFamily="18" charset="0"/>
              </a:rPr>
              <a:t>//What is Big O of this loop?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solidFill>
                  <a:srgbClr val="7030A0"/>
                </a:solidFill>
                <a:cs typeface="Times New Roman" panose="02020603050405020304" pitchFamily="18" charset="0"/>
              </a:rPr>
              <a:t>while ( n &gt; 1 ){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solidFill>
                  <a:srgbClr val="7030A0"/>
                </a:solidFill>
                <a:cs typeface="Times New Roman" panose="02020603050405020304" pitchFamily="18" charset="0"/>
              </a:rPr>
              <a:t>      n= n/10;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solidFill>
                  <a:srgbClr val="7030A0"/>
                </a:solidFill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sz="3200" dirty="0">
              <a:solidFill>
                <a:srgbClr val="7030A0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sz="3200" dirty="0"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17342" y="3108558"/>
            <a:ext cx="1829785" cy="67425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(n))</a:t>
            </a:r>
          </a:p>
        </p:txBody>
      </p:sp>
      <p:sp>
        <p:nvSpPr>
          <p:cNvPr id="8" name="Rectangle 7"/>
          <p:cNvSpPr/>
          <p:nvPr/>
        </p:nvSpPr>
        <p:spPr>
          <a:xfrm>
            <a:off x="3981707" y="5682216"/>
            <a:ext cx="1829785" cy="67425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(n))</a:t>
            </a:r>
          </a:p>
        </p:txBody>
      </p:sp>
      <p:sp>
        <p:nvSpPr>
          <p:cNvPr id="9" name="Rectangle 8"/>
          <p:cNvSpPr/>
          <p:nvPr/>
        </p:nvSpPr>
        <p:spPr>
          <a:xfrm>
            <a:off x="9455942" y="5682216"/>
            <a:ext cx="2365568" cy="6738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(n))</a:t>
            </a:r>
          </a:p>
        </p:txBody>
      </p:sp>
    </p:spTree>
    <p:extLst>
      <p:ext uri="{BB962C8B-B14F-4D97-AF65-F5344CB8AC3E}">
        <p14:creationId xmlns:p14="http://schemas.microsoft.com/office/powerpoint/2010/main" val="300655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5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490" y="2018051"/>
            <a:ext cx="11451020" cy="1410949"/>
          </a:xfrm>
        </p:spPr>
        <p:txBody>
          <a:bodyPr anchor="t" anchorCtr="0">
            <a:noAutofit/>
          </a:bodyPr>
          <a:lstStyle/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In math class </a:t>
            </a:r>
            <a:r>
              <a:rPr lang="en-US" sz="3200" dirty="0">
                <a:solidFill>
                  <a:srgbClr val="0070C0"/>
                </a:solidFill>
                <a:cs typeface="Times New Roman" panose="02020603050405020304" pitchFamily="18" charset="0"/>
              </a:rPr>
              <a:t>log</a:t>
            </a:r>
            <a:r>
              <a:rPr lang="en-US" sz="3200" dirty="0">
                <a:cs typeface="Times New Roman" panose="02020603050405020304" pitchFamily="18" charset="0"/>
              </a:rPr>
              <a:t> refers to </a:t>
            </a:r>
            <a:r>
              <a:rPr lang="en-US" sz="3200" dirty="0">
                <a:solidFill>
                  <a:srgbClr val="0070C0"/>
                </a:solidFill>
                <a:cs typeface="Times New Roman" panose="02020603050405020304" pitchFamily="18" charset="0"/>
              </a:rPr>
              <a:t>log</a:t>
            </a:r>
            <a:r>
              <a:rPr lang="en-US" sz="3200" baseline="-25000" dirty="0">
                <a:solidFill>
                  <a:srgbClr val="0070C0"/>
                </a:solidFill>
                <a:cs typeface="Times New Roman" panose="02020603050405020304" pitchFamily="18" charset="0"/>
              </a:rPr>
              <a:t>10</a:t>
            </a:r>
            <a:r>
              <a:rPr lang="en-US" sz="3200" dirty="0">
                <a:cs typeface="Times New Roman" panose="02020603050405020304" pitchFamily="18" charset="0"/>
              </a:rPr>
              <a:t> as a default.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And the natural log, </a:t>
            </a:r>
            <a:r>
              <a:rPr lang="en-US" sz="3200" dirty="0">
                <a:solidFill>
                  <a:srgbClr val="0070C0"/>
                </a:solidFill>
                <a:cs typeface="Times New Roman" panose="02020603050405020304" pitchFamily="18" charset="0"/>
              </a:rPr>
              <a:t>ln</a:t>
            </a:r>
            <a:r>
              <a:rPr lang="en-US" sz="3200" dirty="0">
                <a:cs typeface="Times New Roman" panose="02020603050405020304" pitchFamily="18" charset="0"/>
              </a:rPr>
              <a:t> refers to</a:t>
            </a:r>
            <a:r>
              <a:rPr lang="en-US" sz="3200" dirty="0">
                <a:solidFill>
                  <a:srgbClr val="0070C0"/>
                </a:solidFill>
                <a:cs typeface="Times New Roman" panose="02020603050405020304" pitchFamily="18" charset="0"/>
              </a:rPr>
              <a:t> log</a:t>
            </a:r>
            <a:r>
              <a:rPr lang="en-US" sz="3200" baseline="-25000" dirty="0">
                <a:solidFill>
                  <a:srgbClr val="0070C0"/>
                </a:solidFill>
                <a:cs typeface="Times New Roman" panose="02020603050405020304" pitchFamily="18" charset="0"/>
              </a:rPr>
              <a:t>e</a:t>
            </a:r>
            <a:r>
              <a:rPr lang="en-US" sz="3200" dirty="0">
                <a:cs typeface="Times New Roman" panose="02020603050405020304" pitchFamily="18" charset="0"/>
              </a:rPr>
              <a:t>.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In computer science we most often mean </a:t>
            </a:r>
            <a:r>
              <a:rPr lang="en-US" sz="3200" dirty="0">
                <a:solidFill>
                  <a:srgbClr val="0070C0"/>
                </a:solidFill>
                <a:cs typeface="Times New Roman" panose="02020603050405020304" pitchFamily="18" charset="0"/>
              </a:rPr>
              <a:t>log</a:t>
            </a:r>
            <a:r>
              <a:rPr lang="en-US" sz="3200" baseline="-25000" dirty="0">
                <a:solidFill>
                  <a:srgbClr val="0070C0"/>
                </a:solidFill>
                <a:cs typeface="Times New Roman" panose="02020603050405020304" pitchFamily="18" charset="0"/>
              </a:rPr>
              <a:t>2</a:t>
            </a:r>
            <a:r>
              <a:rPr lang="en-US" sz="3200" dirty="0">
                <a:cs typeface="Times New Roman" panose="02020603050405020304" pitchFamily="18" charset="0"/>
              </a:rPr>
              <a:t> because computers are a binary system dealing with 1s and 0s.  We will use log</a:t>
            </a:r>
            <a:r>
              <a:rPr lang="en-US" sz="3200" baseline="-25000" dirty="0">
                <a:cs typeface="Times New Roman" panose="02020603050405020304" pitchFamily="18" charset="0"/>
              </a:rPr>
              <a:t>2</a:t>
            </a:r>
            <a:r>
              <a:rPr lang="en-US" sz="3200" dirty="0">
                <a:cs typeface="Times New Roman" panose="02020603050405020304" pitchFamily="18" charset="0"/>
              </a:rPr>
              <a:t> to describe the time complexity for binary searching, heights of heap, skip lists, quick sort, merge sort, etc.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 Bases</a:t>
            </a:r>
          </a:p>
        </p:txBody>
      </p:sp>
    </p:spTree>
    <p:extLst>
      <p:ext uri="{BB962C8B-B14F-4D97-AF65-F5344CB8AC3E}">
        <p14:creationId xmlns:p14="http://schemas.microsoft.com/office/powerpoint/2010/main" val="4233454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490" y="2018051"/>
            <a:ext cx="11451020" cy="1410949"/>
          </a:xfrm>
        </p:spPr>
        <p:txBody>
          <a:bodyPr anchor="t" anchorCtr="0">
            <a:noAutofit/>
          </a:bodyPr>
          <a:lstStyle/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When discussing Big O notation, the base of the logarithm—whether it's log</a:t>
            </a:r>
            <a:r>
              <a:rPr lang="en-US" sz="3200" baseline="-25000" dirty="0">
                <a:cs typeface="Times New Roman" panose="02020603050405020304" pitchFamily="18" charset="0"/>
              </a:rPr>
              <a:t>10</a:t>
            </a:r>
            <a:r>
              <a:rPr lang="en-US" sz="3200" dirty="0">
                <a:cs typeface="Times New Roman" panose="02020603050405020304" pitchFamily="18" charset="0"/>
              </a:rPr>
              <a:t>​, log</a:t>
            </a:r>
            <a:r>
              <a:rPr lang="en-US" sz="3200" baseline="-25000" dirty="0">
                <a:cs typeface="Times New Roman" panose="02020603050405020304" pitchFamily="18" charset="0"/>
              </a:rPr>
              <a:t>2</a:t>
            </a:r>
            <a:r>
              <a:rPr lang="en-US" sz="3200" dirty="0">
                <a:cs typeface="Times New Roman" panose="02020603050405020304" pitchFamily="18" charset="0"/>
              </a:rPr>
              <a:t>​, or any other base —doesn't really matter.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 This is because of the logarithm base change rule, which allows you to convert between different bases.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solidFill>
                <a:srgbClr val="000000"/>
              </a:solidFill>
              <a:latin typeface="-webkit-standard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b="0" i="0" u="none" strike="noStrike" dirty="0">
                <a:solidFill>
                  <a:srgbClr val="0070C0"/>
                </a:solidFill>
                <a:effectLst/>
              </a:rPr>
              <a:t>					</a:t>
            </a:r>
            <a:r>
              <a:rPr lang="en-US" sz="3200" b="0" i="0" u="none" strike="noStrike" dirty="0" err="1">
                <a:solidFill>
                  <a:srgbClr val="0070C0"/>
                </a:solidFill>
                <a:effectLst/>
              </a:rPr>
              <a:t>log</a:t>
            </a:r>
            <a:r>
              <a:rPr lang="en-US" sz="3200" b="0" i="0" u="none" strike="noStrike" baseline="-25000" dirty="0" err="1">
                <a:solidFill>
                  <a:srgbClr val="0070C0"/>
                </a:solidFill>
                <a:effectLst/>
              </a:rPr>
              <a:t>b</a:t>
            </a:r>
            <a:r>
              <a:rPr lang="en-US" sz="3200" b="0" i="0" u="none" strike="noStrike" dirty="0">
                <a:solidFill>
                  <a:srgbClr val="0070C0"/>
                </a:solidFill>
                <a:effectLst/>
              </a:rPr>
              <a:t>​(x)=    </a:t>
            </a:r>
            <a:r>
              <a:rPr lang="en-US" sz="3200" b="0" i="0" u="none" strike="noStrike" dirty="0" err="1">
                <a:solidFill>
                  <a:srgbClr val="0070C0"/>
                </a:solidFill>
                <a:effectLst/>
              </a:rPr>
              <a:t>log</a:t>
            </a:r>
            <a:r>
              <a:rPr lang="en-US" sz="3200" b="0" i="0" u="none" strike="noStrike" baseline="-25000" dirty="0" err="1">
                <a:solidFill>
                  <a:srgbClr val="0070C0"/>
                </a:solidFill>
                <a:effectLst/>
              </a:rPr>
              <a:t>k</a:t>
            </a:r>
            <a:r>
              <a:rPr lang="en-US" sz="3200" b="0" i="0" u="none" strike="noStrike" dirty="0">
                <a:solidFill>
                  <a:srgbClr val="0070C0"/>
                </a:solidFill>
                <a:effectLst/>
              </a:rPr>
              <a:t>​(x)</a:t>
            </a:r>
            <a:br>
              <a:rPr lang="en-US" sz="3200" b="0" i="0" u="none" strike="noStrike" dirty="0">
                <a:solidFill>
                  <a:srgbClr val="0070C0"/>
                </a:solidFill>
                <a:effectLst/>
              </a:rPr>
            </a:br>
            <a:r>
              <a:rPr lang="en-US" sz="3200" b="0" i="0" u="none" strike="noStrike" dirty="0">
                <a:solidFill>
                  <a:srgbClr val="0070C0"/>
                </a:solidFill>
                <a:effectLst/>
              </a:rPr>
              <a:t>								------------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b="0" i="0" u="none" strike="noStrike" dirty="0">
                <a:solidFill>
                  <a:srgbClr val="0070C0"/>
                </a:solidFill>
                <a:effectLst/>
              </a:rPr>
              <a:t>               						</a:t>
            </a:r>
            <a:r>
              <a:rPr lang="en-US" sz="3200" b="0" i="0" u="none" strike="noStrike" dirty="0" err="1">
                <a:solidFill>
                  <a:srgbClr val="0070C0"/>
                </a:solidFill>
                <a:effectLst/>
              </a:rPr>
              <a:t>log</a:t>
            </a:r>
            <a:r>
              <a:rPr lang="en-US" sz="3200" b="0" i="0" u="none" strike="noStrike" baseline="-25000" dirty="0" err="1">
                <a:solidFill>
                  <a:srgbClr val="0070C0"/>
                </a:solidFill>
                <a:effectLst/>
              </a:rPr>
              <a:t>k</a:t>
            </a:r>
            <a:r>
              <a:rPr lang="en-US" sz="3200" b="0" i="0" u="none" strike="noStrike" dirty="0">
                <a:solidFill>
                  <a:srgbClr val="0070C0"/>
                </a:solidFill>
                <a:effectLst/>
              </a:rPr>
              <a:t>​(b)​</a:t>
            </a:r>
            <a:endParaRPr lang="en-US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 Bases</a:t>
            </a:r>
          </a:p>
        </p:txBody>
      </p:sp>
    </p:spTree>
    <p:extLst>
      <p:ext uri="{BB962C8B-B14F-4D97-AF65-F5344CB8AC3E}">
        <p14:creationId xmlns:p14="http://schemas.microsoft.com/office/powerpoint/2010/main" val="4009333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490" y="2018051"/>
            <a:ext cx="11451020" cy="1410949"/>
          </a:xfrm>
        </p:spPr>
        <p:txBody>
          <a:bodyPr anchor="t" anchorCtr="0">
            <a:noAutofit/>
          </a:bodyPr>
          <a:lstStyle/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200" dirty="0">
                <a:cs typeface="Times New Roman" panose="02020603050405020304" pitchFamily="18" charset="0"/>
              </a:rPr>
              <a:t>The relative rate of growth for a log of any base is much smaller than O(n). </a:t>
            </a: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 algn="l">
              <a:lnSpc>
                <a:spcPct val="90000"/>
              </a:lnSpc>
              <a:spcAft>
                <a:spcPts val="600"/>
              </a:spcAft>
              <a:buNone/>
            </a:pPr>
            <a:endParaRPr lang="en-US" sz="3200" dirty="0"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 Bases</a:t>
            </a:r>
          </a:p>
        </p:txBody>
      </p:sp>
      <p:pic>
        <p:nvPicPr>
          <p:cNvPr id="5" name="Picture 4" descr="A graph on a graph paper&#10;&#10;Description automatically generated">
            <a:extLst>
              <a:ext uri="{FF2B5EF4-FFF2-40B4-BE49-F238E27FC236}">
                <a16:creationId xmlns:a16="http://schemas.microsoft.com/office/drawing/2014/main" id="{2ADEB133-F714-E93B-D51D-32325F93D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691" y="2563098"/>
            <a:ext cx="7017023" cy="429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501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6508" y="714814"/>
            <a:ext cx="9531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Common Rates of Growth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35A708-0E90-9215-673D-DCE5A5817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285887"/>
              </p:ext>
            </p:extLst>
          </p:nvPr>
        </p:nvGraphicFramePr>
        <p:xfrm>
          <a:off x="488945" y="1928813"/>
          <a:ext cx="11455405" cy="5041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382">
                  <a:extLst>
                    <a:ext uri="{9D8B030D-6E8A-4147-A177-3AD203B41FA5}">
                      <a16:colId xmlns:a16="http://schemas.microsoft.com/office/drawing/2014/main" val="2199258677"/>
                    </a:ext>
                  </a:extLst>
                </a:gridCol>
                <a:gridCol w="2344361">
                  <a:extLst>
                    <a:ext uri="{9D8B030D-6E8A-4147-A177-3AD203B41FA5}">
                      <a16:colId xmlns:a16="http://schemas.microsoft.com/office/drawing/2014/main" val="2386104210"/>
                    </a:ext>
                  </a:extLst>
                </a:gridCol>
                <a:gridCol w="7586662">
                  <a:extLst>
                    <a:ext uri="{9D8B030D-6E8A-4147-A177-3AD203B41FA5}">
                      <a16:colId xmlns:a16="http://schemas.microsoft.com/office/drawing/2014/main" val="3315268312"/>
                    </a:ext>
                  </a:extLst>
                </a:gridCol>
              </a:tblGrid>
              <a:tr h="93962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110691"/>
                  </a:ext>
                </a:extLst>
              </a:tr>
              <a:tr h="41105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Regardless of input size, functions take a constant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935783"/>
                  </a:ext>
                </a:extLst>
              </a:tr>
              <a:tr h="70503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Logarithmic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Increases logarithmically as the input size increases, Slower than linear growth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348417"/>
                  </a:ext>
                </a:extLst>
              </a:tr>
              <a:tr h="51749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grows linearly with size of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44559"/>
                  </a:ext>
                </a:extLst>
              </a:tr>
              <a:tr h="39849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log(n)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Logarithmic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growing than linear, but slower than quadratic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21054"/>
                  </a:ext>
                </a:extLst>
              </a:tr>
              <a:tr h="51749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0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Quadratic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Polynomial function of degree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114686"/>
                  </a:ext>
                </a:extLst>
              </a:tr>
              <a:tr h="51749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0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Polynomial function of degree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606420"/>
                  </a:ext>
                </a:extLst>
              </a:tr>
              <a:tr h="51749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0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Exponential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Quickly growing function when positive number (like 2) raised to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416941"/>
                  </a:ext>
                </a:extLst>
              </a:tr>
              <a:tr h="51749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798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076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875569-C293-F9CB-00DF-56D9A7A7037F}"/>
              </a:ext>
            </a:extLst>
          </p:cNvPr>
          <p:cNvSpPr txBox="1"/>
          <p:nvPr/>
        </p:nvSpPr>
        <p:spPr>
          <a:xfrm>
            <a:off x="493776" y="604808"/>
            <a:ext cx="839876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#include &lt;</a:t>
            </a:r>
            <a:r>
              <a:rPr lang="en-US" sz="1600" dirty="0" err="1"/>
              <a:t>stdio.h</a:t>
            </a:r>
            <a:r>
              <a:rPr lang="en-US" sz="1600" dirty="0"/>
              <a:t>&gt;</a:t>
            </a:r>
          </a:p>
          <a:p>
            <a:r>
              <a:rPr lang="en-US" sz="1600" dirty="0"/>
              <a:t>#include &lt;</a:t>
            </a:r>
            <a:r>
              <a:rPr lang="en-US" sz="1600" dirty="0" err="1"/>
              <a:t>stdlib.h</a:t>
            </a:r>
            <a:r>
              <a:rPr lang="en-US" sz="1600" dirty="0"/>
              <a:t>&gt;</a:t>
            </a:r>
          </a:p>
          <a:p>
            <a:endParaRPr lang="en-US" sz="1600" dirty="0"/>
          </a:p>
          <a:p>
            <a:r>
              <a:rPr lang="en-US" sz="1600" dirty="0"/>
              <a:t>int main() {</a:t>
            </a:r>
          </a:p>
          <a:p>
            <a:r>
              <a:rPr lang="en-US" sz="1600" dirty="0"/>
              <a:t>    int n, x = 0, </a:t>
            </a:r>
            <a:r>
              <a:rPr lang="en-US" sz="1600" dirty="0" err="1"/>
              <a:t>i</a:t>
            </a:r>
            <a:r>
              <a:rPr lang="en-US" sz="1600" dirty="0"/>
              <a:t>;</a:t>
            </a:r>
          </a:p>
          <a:p>
            <a:r>
              <a:rPr lang="en-US" sz="1600" dirty="0"/>
              <a:t>    int* array;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printf</a:t>
            </a:r>
            <a:r>
              <a:rPr lang="en-US" sz="1600" dirty="0"/>
              <a:t>("Enter n: ");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scanf</a:t>
            </a:r>
            <a:r>
              <a:rPr lang="en-US" sz="1600" dirty="0"/>
              <a:t>("%d", &amp;n);</a:t>
            </a:r>
          </a:p>
          <a:p>
            <a:r>
              <a:rPr lang="en-US" sz="1600" dirty="0"/>
              <a:t>    array = (int*) malloc(</a:t>
            </a:r>
            <a:r>
              <a:rPr lang="en-US" sz="1600" dirty="0" err="1"/>
              <a:t>sizeof</a:t>
            </a:r>
            <a:r>
              <a:rPr lang="en-US" sz="1600" dirty="0"/>
              <a:t>(int) * n);</a:t>
            </a:r>
          </a:p>
          <a:p>
            <a:r>
              <a:rPr lang="en-US" sz="1600" dirty="0"/>
              <a:t>    while (x &lt; n) { //initialize array to 0s</a:t>
            </a:r>
          </a:p>
          <a:p>
            <a:r>
              <a:rPr lang="en-US" sz="1600" dirty="0"/>
              <a:t>        array[x] = 0;</a:t>
            </a:r>
          </a:p>
          <a:p>
            <a:r>
              <a:rPr lang="en-US" sz="1600" dirty="0"/>
              <a:t>        x = x + 1;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    while (array[n-1] != n){</a:t>
            </a:r>
          </a:p>
          <a:p>
            <a:r>
              <a:rPr lang="en-US" sz="1600" dirty="0"/>
              <a:t>        x = 0;</a:t>
            </a:r>
          </a:p>
          <a:p>
            <a:r>
              <a:rPr lang="en-US" sz="1600" dirty="0"/>
              <a:t>        array[x]++;</a:t>
            </a:r>
          </a:p>
          <a:p>
            <a:r>
              <a:rPr lang="en-US" sz="1600" dirty="0"/>
              <a:t>        while (array[x] &gt; n){</a:t>
            </a:r>
          </a:p>
          <a:p>
            <a:r>
              <a:rPr lang="en-US" sz="1600" dirty="0"/>
              <a:t>            array[x] = 0;</a:t>
            </a:r>
          </a:p>
          <a:p>
            <a:r>
              <a:rPr lang="en-US" sz="1600" dirty="0"/>
              <a:t>            x++;</a:t>
            </a:r>
          </a:p>
          <a:p>
            <a:r>
              <a:rPr lang="en-US" sz="1600" dirty="0"/>
              <a:t>            array[x]++;</a:t>
            </a:r>
          </a:p>
          <a:p>
            <a:r>
              <a:rPr lang="en-US" sz="1600" dirty="0"/>
              <a:t>        }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printf</a:t>
            </a:r>
            <a:r>
              <a:rPr lang="en-US" sz="1600" dirty="0"/>
              <a:t>("\n");</a:t>
            </a:r>
          </a:p>
          <a:p>
            <a:r>
              <a:rPr lang="en-US" sz="1600" dirty="0"/>
              <a:t>    free(array);</a:t>
            </a:r>
          </a:p>
          <a:p>
            <a:r>
              <a:rPr lang="en-US" sz="1600" dirty="0"/>
              <a:t>    return 0;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CCBAC9-E398-56C1-886C-E5617F001DDC}"/>
              </a:ext>
            </a:extLst>
          </p:cNvPr>
          <p:cNvSpPr/>
          <p:nvPr/>
        </p:nvSpPr>
        <p:spPr>
          <a:xfrm>
            <a:off x="7162800" y="1270000"/>
            <a:ext cx="3674533" cy="2404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the customer be happy if n= 10 ?</a:t>
            </a:r>
          </a:p>
        </p:txBody>
      </p:sp>
    </p:spTree>
    <p:extLst>
      <p:ext uri="{BB962C8B-B14F-4D97-AF65-F5344CB8AC3E}">
        <p14:creationId xmlns:p14="http://schemas.microsoft.com/office/powerpoint/2010/main" val="2692353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6D68E-4F09-7B3C-9C5C-2635C72A6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8B3728-288C-A343-9C89-F58E90F99754}"/>
              </a:ext>
            </a:extLst>
          </p:cNvPr>
          <p:cNvSpPr txBox="1"/>
          <p:nvPr/>
        </p:nvSpPr>
        <p:spPr>
          <a:xfrm>
            <a:off x="493776" y="604808"/>
            <a:ext cx="8398764" cy="10433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#include &lt;</a:t>
            </a:r>
            <a:r>
              <a:rPr lang="en-US" sz="1600" dirty="0" err="1"/>
              <a:t>stdio.h</a:t>
            </a:r>
            <a:r>
              <a:rPr lang="en-US" sz="1600" dirty="0"/>
              <a:t>&gt;</a:t>
            </a:r>
          </a:p>
          <a:p>
            <a:r>
              <a:rPr lang="en-US" sz="1600" dirty="0"/>
              <a:t>#include &lt;</a:t>
            </a:r>
            <a:r>
              <a:rPr lang="en-US" sz="1600" dirty="0" err="1"/>
              <a:t>stdlib.h</a:t>
            </a:r>
            <a:r>
              <a:rPr lang="en-US" sz="1600" dirty="0"/>
              <a:t>&gt;</a:t>
            </a:r>
          </a:p>
          <a:p>
            <a:endParaRPr lang="en-US" sz="1600" dirty="0"/>
          </a:p>
          <a:p>
            <a:r>
              <a:rPr lang="en-US" sz="1600" dirty="0"/>
              <a:t>void </a:t>
            </a:r>
            <a:r>
              <a:rPr lang="en-US" sz="1600" dirty="0" err="1"/>
              <a:t>printArray</a:t>
            </a:r>
            <a:r>
              <a:rPr lang="en-US" sz="1600" dirty="0"/>
              <a:t>(int a[], int size){</a:t>
            </a:r>
          </a:p>
          <a:p>
            <a:r>
              <a:rPr lang="en-US" sz="1600" dirty="0"/>
              <a:t>    int </a:t>
            </a:r>
            <a:r>
              <a:rPr lang="en-US" sz="1600" dirty="0" err="1"/>
              <a:t>i</a:t>
            </a:r>
            <a:r>
              <a:rPr lang="en-US" sz="1600" dirty="0"/>
              <a:t>;</a:t>
            </a:r>
          </a:p>
          <a:p>
            <a:r>
              <a:rPr lang="en-US" sz="1600" dirty="0"/>
              <a:t>    for(</a:t>
            </a:r>
            <a:r>
              <a:rPr lang="en-US" sz="1600" dirty="0" err="1"/>
              <a:t>i</a:t>
            </a:r>
            <a:r>
              <a:rPr lang="en-US" sz="1600" dirty="0"/>
              <a:t>=0; </a:t>
            </a:r>
            <a:r>
              <a:rPr lang="en-US" sz="1600" dirty="0" err="1"/>
              <a:t>i</a:t>
            </a:r>
            <a:r>
              <a:rPr lang="en-US" sz="1600" dirty="0"/>
              <a:t>&lt; size; </a:t>
            </a:r>
            <a:r>
              <a:rPr lang="en-US" sz="1600" dirty="0" err="1"/>
              <a:t>i</a:t>
            </a:r>
            <a:r>
              <a:rPr lang="en-US" sz="1600" dirty="0"/>
              <a:t>++){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printf</a:t>
            </a:r>
            <a:r>
              <a:rPr lang="en-US" sz="1600" dirty="0"/>
              <a:t>("%d ", a[</a:t>
            </a:r>
            <a:r>
              <a:rPr lang="en-US" sz="1600" dirty="0" err="1"/>
              <a:t>i</a:t>
            </a:r>
            <a:r>
              <a:rPr lang="en-US" sz="1600" dirty="0"/>
              <a:t>]);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printf</a:t>
            </a:r>
            <a:r>
              <a:rPr lang="en-US" sz="1600" dirty="0"/>
              <a:t>("\n");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int main() {</a:t>
            </a:r>
          </a:p>
          <a:p>
            <a:r>
              <a:rPr lang="en-US" sz="1600" dirty="0"/>
              <a:t>    int n, x = 0, </a:t>
            </a:r>
            <a:r>
              <a:rPr lang="en-US" sz="1600" dirty="0" err="1"/>
              <a:t>i</a:t>
            </a:r>
            <a:r>
              <a:rPr lang="en-US" sz="1600" dirty="0"/>
              <a:t>;</a:t>
            </a:r>
          </a:p>
          <a:p>
            <a:r>
              <a:rPr lang="en-US" sz="1600" dirty="0"/>
              <a:t>    int* array;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printf</a:t>
            </a:r>
            <a:r>
              <a:rPr lang="en-US" sz="1600" dirty="0"/>
              <a:t>("Enter n: ");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scanf</a:t>
            </a:r>
            <a:r>
              <a:rPr lang="en-US" sz="1600" dirty="0"/>
              <a:t>("%d", &amp;n);</a:t>
            </a:r>
          </a:p>
          <a:p>
            <a:r>
              <a:rPr lang="en-US" sz="1600" dirty="0"/>
              <a:t>    array = (int*) malloc(</a:t>
            </a:r>
            <a:r>
              <a:rPr lang="en-US" sz="1600" dirty="0" err="1"/>
              <a:t>sizeof</a:t>
            </a:r>
            <a:r>
              <a:rPr lang="en-US" sz="1600" dirty="0"/>
              <a:t>(int) * n);</a:t>
            </a:r>
          </a:p>
          <a:p>
            <a:r>
              <a:rPr lang="en-US" sz="1600" dirty="0"/>
              <a:t>    while (x &lt; n) { //initialize array to 0s</a:t>
            </a:r>
          </a:p>
          <a:p>
            <a:r>
              <a:rPr lang="en-US" sz="1600" dirty="0"/>
              <a:t>        array[x] = 0;</a:t>
            </a:r>
          </a:p>
          <a:p>
            <a:r>
              <a:rPr lang="en-US" sz="1600" dirty="0"/>
              <a:t>        x = x + 1;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printArray</a:t>
            </a:r>
            <a:r>
              <a:rPr lang="en-US" sz="1600" dirty="0"/>
              <a:t>(array, n);</a:t>
            </a:r>
          </a:p>
          <a:p>
            <a:r>
              <a:rPr lang="en-US" sz="1600" dirty="0"/>
              <a:t>    while (array[n-1] != n){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printf</a:t>
            </a:r>
            <a:r>
              <a:rPr lang="en-US" sz="1600" dirty="0"/>
              <a:t>("Outer while\n");</a:t>
            </a:r>
          </a:p>
          <a:p>
            <a:r>
              <a:rPr lang="en-US" sz="1600" dirty="0"/>
              <a:t>        x = 0;</a:t>
            </a:r>
          </a:p>
          <a:p>
            <a:r>
              <a:rPr lang="en-US" sz="1600" dirty="0"/>
              <a:t>        array[x]++;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printArray</a:t>
            </a:r>
            <a:r>
              <a:rPr lang="en-US" sz="1600" dirty="0"/>
              <a:t>(array, n);</a:t>
            </a:r>
          </a:p>
          <a:p>
            <a:r>
              <a:rPr lang="en-US" sz="1600" dirty="0"/>
              <a:t>        while (array[x] &gt; n){</a:t>
            </a:r>
          </a:p>
          <a:p>
            <a:r>
              <a:rPr lang="en-US" sz="1600" dirty="0"/>
              <a:t>            array[x] = 0;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printf</a:t>
            </a:r>
            <a:r>
              <a:rPr lang="en-US" sz="1600" dirty="0"/>
              <a:t>("Inner while\n");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printArray</a:t>
            </a:r>
            <a:r>
              <a:rPr lang="en-US" sz="1600" dirty="0"/>
              <a:t>(array, n);</a:t>
            </a:r>
          </a:p>
          <a:p>
            <a:r>
              <a:rPr lang="en-US" sz="1600" dirty="0"/>
              <a:t>            x++;</a:t>
            </a:r>
          </a:p>
          <a:p>
            <a:r>
              <a:rPr lang="en-US" sz="1600" dirty="0"/>
              <a:t>            array[x]++;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printArray</a:t>
            </a:r>
            <a:r>
              <a:rPr lang="en-US" sz="1600" dirty="0"/>
              <a:t>(array, n);</a:t>
            </a:r>
          </a:p>
          <a:p>
            <a:r>
              <a:rPr lang="en-US" sz="1600" dirty="0"/>
              <a:t>        }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printArray</a:t>
            </a:r>
            <a:r>
              <a:rPr lang="en-US" sz="1600" dirty="0"/>
              <a:t>(array, n);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printf</a:t>
            </a:r>
            <a:r>
              <a:rPr lang="en-US" sz="1600" dirty="0"/>
              <a:t>("\n");</a:t>
            </a:r>
          </a:p>
          <a:p>
            <a:r>
              <a:rPr lang="en-US" sz="1600" dirty="0"/>
              <a:t>    free(array);</a:t>
            </a:r>
          </a:p>
          <a:p>
            <a:r>
              <a:rPr lang="en-US" sz="1600" dirty="0"/>
              <a:t>    return 0;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BCA19B-B1FB-AB4D-D4D3-3CB07B9BB9B1}"/>
              </a:ext>
            </a:extLst>
          </p:cNvPr>
          <p:cNvSpPr/>
          <p:nvPr/>
        </p:nvSpPr>
        <p:spPr>
          <a:xfrm>
            <a:off x="7162800" y="1270000"/>
            <a:ext cx="3674533" cy="2404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Big O for this algorithm?</a:t>
            </a:r>
          </a:p>
        </p:txBody>
      </p:sp>
    </p:spTree>
    <p:extLst>
      <p:ext uri="{BB962C8B-B14F-4D97-AF65-F5344CB8AC3E}">
        <p14:creationId xmlns:p14="http://schemas.microsoft.com/office/powerpoint/2010/main" val="2604477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19124" y="2967335"/>
                <a:ext cx="11353751" cy="92333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Aft>
                    <a:spcPts val="600"/>
                  </a:spcAft>
                </a:pPr>
                <a:endParaRPr lang="en-US" sz="2400" dirty="0">
                  <a:solidFill>
                    <a:srgbClr val="003A00"/>
                  </a:solidFill>
                </a:endParaRPr>
              </a:p>
              <a:p>
                <a:pPr>
                  <a:lnSpc>
                    <a:spcPct val="100000"/>
                  </a:lnSpc>
                  <a:spcAft>
                    <a:spcPts val="600"/>
                  </a:spcAft>
                </a:pPr>
                <a:endParaRPr lang="en-US" sz="2400" dirty="0">
                  <a:solidFill>
                    <a:srgbClr val="003A00"/>
                  </a:solidFill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en-US" sz="3200" dirty="0">
                    <a:solidFill>
                      <a:srgbClr val="003A00"/>
                    </a:solidFill>
                  </a:rPr>
                  <a:t>A function f(n) is considered </a:t>
                </a:r>
                <a:r>
                  <a:rPr lang="el-GR" sz="32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Times New Roman" panose="02020603050405020304" pitchFamily="18" charset="0"/>
                  </a:rPr>
                  <a:t>Ω</a:t>
                </a:r>
                <a:r>
                  <a:rPr lang="en-US" sz="32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(</a:t>
                </a:r>
                <a:r>
                  <a:rPr lang="en-US" sz="3200" dirty="0">
                    <a:solidFill>
                      <a:srgbClr val="003A00"/>
                    </a:solidFill>
                    <a:ea typeface="Cambria Math" panose="02040503050406030204" pitchFamily="18" charset="0"/>
                  </a:rPr>
                  <a:t>g(</a:t>
                </a:r>
                <a14:m>
                  <m:oMath xmlns:m="http://schemas.openxmlformats.org/officeDocument/2006/math">
                    <m:r>
                      <a:rPr lang="en-US" sz="3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rgbClr val="003A00"/>
                    </a:solidFill>
                    <a:ea typeface="Cambria Math" panose="02040503050406030204" pitchFamily="18" charset="0"/>
                  </a:rPr>
                  <a:t>))</a:t>
                </a:r>
                <a:r>
                  <a:rPr lang="en-US" sz="3200" dirty="0">
                    <a:solidFill>
                      <a:srgbClr val="003A00"/>
                    </a:solidFill>
                    <a:cs typeface="Times New Roman" panose="02020603050405020304" pitchFamily="18" charset="0"/>
                  </a:rPr>
                  <a:t>  if there is some constant c and n</a:t>
                </a:r>
                <a:r>
                  <a:rPr lang="en-US" sz="3200" baseline="-25000" dirty="0">
                    <a:solidFill>
                      <a:srgbClr val="003A00"/>
                    </a:solidFill>
                    <a:cs typeface="Times New Roman" panose="02020603050405020304" pitchFamily="18" charset="0"/>
                  </a:rPr>
                  <a:t>0 </a:t>
                </a:r>
                <a:r>
                  <a:rPr lang="en-US" sz="3200" dirty="0">
                    <a:solidFill>
                      <a:srgbClr val="003A00"/>
                    </a:solidFill>
                    <a:cs typeface="Times New Roman" panose="02020603050405020304" pitchFamily="18" charset="0"/>
                  </a:rPr>
                  <a:t>such that f(n)&gt; c*g(n)  for all n &gt; n</a:t>
                </a:r>
                <a:r>
                  <a:rPr lang="en-US" sz="3200" baseline="-25000" dirty="0">
                    <a:solidFill>
                      <a:srgbClr val="003A00"/>
                    </a:solidFill>
                    <a:cs typeface="Times New Roman" panose="02020603050405020304" pitchFamily="18" charset="0"/>
                  </a:rPr>
                  <a:t>0</a:t>
                </a:r>
              </a:p>
              <a:p>
                <a:pPr>
                  <a:lnSpc>
                    <a:spcPct val="100000"/>
                  </a:lnSpc>
                  <a:spcAft>
                    <a:spcPts val="600"/>
                  </a:spcAft>
                  <a:buFont typeface="Wingdings" pitchFamily="2" charset="2"/>
                  <a:buChar char="Ø"/>
                </a:pPr>
                <a:endParaRPr lang="en-US" sz="3200" baseline="-25000" dirty="0">
                  <a:solidFill>
                    <a:srgbClr val="003A00"/>
                  </a:solidFill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Aft>
                    <a:spcPts val="600"/>
                  </a:spcAft>
                  <a:buFont typeface="Wingdings" pitchFamily="2" charset="2"/>
                  <a:buChar char="Ø"/>
                </a:pPr>
                <a:endParaRPr lang="en-US" sz="3200" baseline="-25000" dirty="0">
                  <a:solidFill>
                    <a:srgbClr val="003A00"/>
                  </a:solidFill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Aft>
                    <a:spcPts val="600"/>
                  </a:spcAft>
                  <a:buFont typeface="Wingdings" pitchFamily="2" charset="2"/>
                  <a:buChar char="Ø"/>
                </a:pPr>
                <a:r>
                  <a:rPr lang="en-US" sz="3200" dirty="0">
                    <a:solidFill>
                      <a:srgbClr val="003A00"/>
                    </a:solidFill>
                  </a:rPr>
                  <a:t>Big </a:t>
                </a:r>
                <a:r>
                  <a:rPr lang="el-GR" sz="32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Times New Roman" panose="02020603050405020304" pitchFamily="18" charset="0"/>
                  </a:rPr>
                  <a:t>Ω</a:t>
                </a:r>
                <a:r>
                  <a:rPr lang="en-US" sz="3200" dirty="0">
                    <a:solidFill>
                      <a:srgbClr val="003A00"/>
                    </a:solidFill>
                  </a:rPr>
                  <a:t> notation gives a lower bound of algorithm time relative to input size</a:t>
                </a:r>
              </a:p>
              <a:p>
                <a:pPr>
                  <a:lnSpc>
                    <a:spcPct val="100000"/>
                  </a:lnSpc>
                  <a:spcAft>
                    <a:spcPts val="600"/>
                  </a:spcAft>
                </a:pPr>
                <a:endParaRPr lang="en-US" sz="2400" dirty="0">
                  <a:solidFill>
                    <a:srgbClr val="003A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endParaRPr lang="en-US" sz="2400" dirty="0">
                  <a:solidFill>
                    <a:srgbClr val="003A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124" y="2967335"/>
                <a:ext cx="11353751" cy="923330"/>
              </a:xfrm>
              <a:blipFill>
                <a:blip r:embed="rId3"/>
                <a:stretch>
                  <a:fillRect l="-1119" t="-125676" b="-139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678166" y="803794"/>
            <a:ext cx="103584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 </a:t>
            </a:r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(Omega) -notation ‒ the Math</a:t>
            </a:r>
          </a:p>
        </p:txBody>
      </p:sp>
      <p:grpSp>
        <p:nvGrpSpPr>
          <p:cNvPr id="14" name="axes" descr=" 24">
            <a:extLst>
              <a:ext uri="{FF2B5EF4-FFF2-40B4-BE49-F238E27FC236}">
                <a16:creationId xmlns:a16="http://schemas.microsoft.com/office/drawing/2014/main" id="{F11C9E16-4F11-799F-7550-12B1BCB30872}"/>
              </a:ext>
            </a:extLst>
          </p:cNvPr>
          <p:cNvGrpSpPr/>
          <p:nvPr/>
        </p:nvGrpSpPr>
        <p:grpSpPr>
          <a:xfrm>
            <a:off x="4770392" y="5130876"/>
            <a:ext cx="2651213" cy="1557348"/>
            <a:chOff x="4453166" y="4313816"/>
            <a:chExt cx="2651213" cy="155734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96A1247-5D12-9D46-B327-403448CA3EE4}"/>
                </a:ext>
              </a:extLst>
            </p:cNvPr>
            <p:cNvCxnSpPr>
              <a:cxnSpLocks/>
            </p:cNvCxnSpPr>
            <p:nvPr/>
          </p:nvCxnSpPr>
          <p:spPr>
            <a:xfrm>
              <a:off x="4453166" y="5542070"/>
              <a:ext cx="2630252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74ABE9E-B6FC-F48D-1002-333A3D4B5589}"/>
                </a:ext>
              </a:extLst>
            </p:cNvPr>
            <p:cNvCxnSpPr/>
            <p:nvPr/>
          </p:nvCxnSpPr>
          <p:spPr>
            <a:xfrm flipV="1">
              <a:off x="4453166" y="4313816"/>
              <a:ext cx="0" cy="1238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EEA4BCD-FD8D-59C1-498D-9D599F0ECC5D}"/>
                    </a:ext>
                  </a:extLst>
                </p:cNvPr>
                <p:cNvSpPr txBox="1"/>
                <p:nvPr/>
              </p:nvSpPr>
              <p:spPr>
                <a:xfrm>
                  <a:off x="6011075" y="5478171"/>
                  <a:ext cx="1093304" cy="3929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n-US" sz="2000" i="1">
                              <a:solidFill>
                                <a:srgbClr val="003A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r>
                    <a:rPr lang="en-US" dirty="0">
                      <a:latin typeface="Times New Roman" panose="02020603050405020304" pitchFamily="18" charset="0"/>
                    </a:rPr>
                    <a:t>-axis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EEA4BCD-FD8D-59C1-498D-9D599F0ECC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1075" y="5478171"/>
                  <a:ext cx="1093304" cy="392993"/>
                </a:xfrm>
                <a:prstGeom prst="rect">
                  <a:avLst/>
                </a:prstGeom>
                <a:blipFill>
                  <a:blip r:embed="rId4"/>
                  <a:stretch>
                    <a:fillRect b="-218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3E6563-4984-CAAF-A463-58A6FA929866}"/>
                  </a:ext>
                </a:extLst>
              </p:cNvPr>
              <p:cNvSpPr txBox="1"/>
              <p:nvPr/>
            </p:nvSpPr>
            <p:spPr>
              <a:xfrm>
                <a:off x="6874953" y="4524732"/>
                <a:ext cx="9818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endPara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3E6563-4984-CAAF-A463-58A6FA929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953" y="4524732"/>
                <a:ext cx="981814" cy="400110"/>
              </a:xfrm>
              <a:prstGeom prst="rect">
                <a:avLst/>
              </a:prstGeom>
              <a:blipFill>
                <a:blip r:embed="rId5"/>
                <a:stretch>
                  <a:fillRect l="-2564" t="-937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9AAEBCA-17D6-82F9-4A6E-CB1401EB971D}"/>
                  </a:ext>
                </a:extLst>
              </p:cNvPr>
              <p:cNvSpPr txBox="1"/>
              <p:nvPr/>
            </p:nvSpPr>
            <p:spPr>
              <a:xfrm>
                <a:off x="7866838" y="4912939"/>
                <a:ext cx="9818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0808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𝐠</m:t>
                    </m:r>
                  </m:oMath>
                </a14:m>
                <a:r>
                  <a:rPr lang="en-US" sz="2000" dirty="0">
                    <a:solidFill>
                      <a:srgbClr val="0808FF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smtClean="0">
                        <a:solidFill>
                          <a:srgbClr val="0808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dirty="0">
                    <a:solidFill>
                      <a:srgbClr val="0808FF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endParaRPr lang="en-US" sz="2000" dirty="0">
                  <a:solidFill>
                    <a:srgbClr val="0808FF"/>
                  </a:solidFill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9AAEBCA-17D6-82F9-4A6E-CB1401EB9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838" y="4912939"/>
                <a:ext cx="981814" cy="400110"/>
              </a:xfrm>
              <a:prstGeom prst="rect">
                <a:avLst/>
              </a:prstGeom>
              <a:blipFill>
                <a:blip r:embed="rId6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Freeform 24">
            <a:extLst>
              <a:ext uri="{FF2B5EF4-FFF2-40B4-BE49-F238E27FC236}">
                <a16:creationId xmlns:a16="http://schemas.microsoft.com/office/drawing/2014/main" id="{5C6B6A4C-3E78-600B-BD1D-64C35E4C2B9F}"/>
              </a:ext>
            </a:extLst>
          </p:cNvPr>
          <p:cNvSpPr/>
          <p:nvPr/>
        </p:nvSpPr>
        <p:spPr>
          <a:xfrm>
            <a:off x="4814365" y="5163914"/>
            <a:ext cx="2475319" cy="1205709"/>
          </a:xfrm>
          <a:custGeom>
            <a:avLst/>
            <a:gdLst>
              <a:gd name="connsiteX0" fmla="*/ 0 w 6331226"/>
              <a:gd name="connsiteY0" fmla="*/ 3995530 h 3999539"/>
              <a:gd name="connsiteX1" fmla="*/ 2464905 w 6331226"/>
              <a:gd name="connsiteY1" fmla="*/ 3717234 h 3999539"/>
              <a:gd name="connsiteX2" fmla="*/ 4870174 w 6331226"/>
              <a:gd name="connsiteY2" fmla="*/ 2196548 h 3999539"/>
              <a:gd name="connsiteX3" fmla="*/ 6331226 w 6331226"/>
              <a:gd name="connsiteY3" fmla="*/ 0 h 3999539"/>
              <a:gd name="connsiteX0" fmla="*/ 0 w 5377069"/>
              <a:gd name="connsiteY0" fmla="*/ 2534478 h 2538487"/>
              <a:gd name="connsiteX1" fmla="*/ 2464905 w 5377069"/>
              <a:gd name="connsiteY1" fmla="*/ 2256182 h 2538487"/>
              <a:gd name="connsiteX2" fmla="*/ 4870174 w 5377069"/>
              <a:gd name="connsiteY2" fmla="*/ 735496 h 2538487"/>
              <a:gd name="connsiteX3" fmla="*/ 5377069 w 5377069"/>
              <a:gd name="connsiteY3" fmla="*/ 0 h 2538487"/>
              <a:gd name="connsiteX0" fmla="*/ 0 w 5377069"/>
              <a:gd name="connsiteY0" fmla="*/ 2534478 h 2538487"/>
              <a:gd name="connsiteX1" fmla="*/ 2464905 w 5377069"/>
              <a:gd name="connsiteY1" fmla="*/ 2256182 h 2538487"/>
              <a:gd name="connsiteX2" fmla="*/ 4870174 w 5377069"/>
              <a:gd name="connsiteY2" fmla="*/ 735496 h 2538487"/>
              <a:gd name="connsiteX3" fmla="*/ 5377069 w 5377069"/>
              <a:gd name="connsiteY3" fmla="*/ 0 h 2538487"/>
              <a:gd name="connsiteX0" fmla="*/ 0 w 5377069"/>
              <a:gd name="connsiteY0" fmla="*/ 2534478 h 2538487"/>
              <a:gd name="connsiteX1" fmla="*/ 2464905 w 5377069"/>
              <a:gd name="connsiteY1" fmla="*/ 2256182 h 2538487"/>
              <a:gd name="connsiteX2" fmla="*/ 4870174 w 5377069"/>
              <a:gd name="connsiteY2" fmla="*/ 735496 h 2538487"/>
              <a:gd name="connsiteX3" fmla="*/ 5377069 w 5377069"/>
              <a:gd name="connsiteY3" fmla="*/ 0 h 2538487"/>
              <a:gd name="connsiteX0" fmla="*/ 0 w 5377069"/>
              <a:gd name="connsiteY0" fmla="*/ 2534478 h 2534478"/>
              <a:gd name="connsiteX1" fmla="*/ 4870174 w 5377069"/>
              <a:gd name="connsiteY1" fmla="*/ 735496 h 2534478"/>
              <a:gd name="connsiteX2" fmla="*/ 5377069 w 5377069"/>
              <a:gd name="connsiteY2" fmla="*/ 0 h 2534478"/>
              <a:gd name="connsiteX0" fmla="*/ 0 w 5377069"/>
              <a:gd name="connsiteY0" fmla="*/ 2534478 h 2534478"/>
              <a:gd name="connsiteX1" fmla="*/ 5377069 w 5377069"/>
              <a:gd name="connsiteY1" fmla="*/ 0 h 2534478"/>
              <a:gd name="connsiteX0" fmla="*/ 0 w 5377069"/>
              <a:gd name="connsiteY0" fmla="*/ 2534478 h 2534478"/>
              <a:gd name="connsiteX1" fmla="*/ 5377069 w 5377069"/>
              <a:gd name="connsiteY1" fmla="*/ 0 h 2534478"/>
              <a:gd name="connsiteX0" fmla="*/ 0 w 5377069"/>
              <a:gd name="connsiteY0" fmla="*/ 2534478 h 2534478"/>
              <a:gd name="connsiteX1" fmla="*/ 5377069 w 5377069"/>
              <a:gd name="connsiteY1" fmla="*/ 0 h 2534478"/>
              <a:gd name="connsiteX0" fmla="*/ 0 w 5705060"/>
              <a:gd name="connsiteY0" fmla="*/ 3031435 h 3031435"/>
              <a:gd name="connsiteX1" fmla="*/ 5705060 w 5705060"/>
              <a:gd name="connsiteY1" fmla="*/ 0 h 3031435"/>
              <a:gd name="connsiteX0" fmla="*/ 0 w 5705060"/>
              <a:gd name="connsiteY0" fmla="*/ 3031435 h 3031435"/>
              <a:gd name="connsiteX1" fmla="*/ 5705060 w 5705060"/>
              <a:gd name="connsiteY1" fmla="*/ 0 h 303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5060" h="3031435">
                <a:moveTo>
                  <a:pt x="0" y="3031435"/>
                </a:moveTo>
                <a:cubicBezTo>
                  <a:pt x="3124198" y="2544416"/>
                  <a:pt x="4558747" y="1550504"/>
                  <a:pt x="5705060" y="0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BF483DEF-E35C-86CA-8501-0F710E2A427D}"/>
              </a:ext>
            </a:extLst>
          </p:cNvPr>
          <p:cNvSpPr/>
          <p:nvPr/>
        </p:nvSpPr>
        <p:spPr>
          <a:xfrm>
            <a:off x="4770392" y="5533716"/>
            <a:ext cx="2607240" cy="751019"/>
          </a:xfrm>
          <a:custGeom>
            <a:avLst/>
            <a:gdLst>
              <a:gd name="connsiteX0" fmla="*/ 0 w 6331226"/>
              <a:gd name="connsiteY0" fmla="*/ 3995530 h 3999539"/>
              <a:gd name="connsiteX1" fmla="*/ 2464905 w 6331226"/>
              <a:gd name="connsiteY1" fmla="*/ 3717234 h 3999539"/>
              <a:gd name="connsiteX2" fmla="*/ 4870174 w 6331226"/>
              <a:gd name="connsiteY2" fmla="*/ 2196548 h 3999539"/>
              <a:gd name="connsiteX3" fmla="*/ 6331226 w 6331226"/>
              <a:gd name="connsiteY3" fmla="*/ 0 h 3999539"/>
              <a:gd name="connsiteX0" fmla="*/ 0 w 5377069"/>
              <a:gd name="connsiteY0" fmla="*/ 2534478 h 2538487"/>
              <a:gd name="connsiteX1" fmla="*/ 2464905 w 5377069"/>
              <a:gd name="connsiteY1" fmla="*/ 2256182 h 2538487"/>
              <a:gd name="connsiteX2" fmla="*/ 4870174 w 5377069"/>
              <a:gd name="connsiteY2" fmla="*/ 735496 h 2538487"/>
              <a:gd name="connsiteX3" fmla="*/ 5377069 w 5377069"/>
              <a:gd name="connsiteY3" fmla="*/ 0 h 2538487"/>
              <a:gd name="connsiteX0" fmla="*/ 0 w 5377069"/>
              <a:gd name="connsiteY0" fmla="*/ 2534478 h 2538487"/>
              <a:gd name="connsiteX1" fmla="*/ 2464905 w 5377069"/>
              <a:gd name="connsiteY1" fmla="*/ 2256182 h 2538487"/>
              <a:gd name="connsiteX2" fmla="*/ 4870174 w 5377069"/>
              <a:gd name="connsiteY2" fmla="*/ 735496 h 2538487"/>
              <a:gd name="connsiteX3" fmla="*/ 5377069 w 5377069"/>
              <a:gd name="connsiteY3" fmla="*/ 0 h 2538487"/>
              <a:gd name="connsiteX0" fmla="*/ 0 w 5377069"/>
              <a:gd name="connsiteY0" fmla="*/ 2534478 h 2538487"/>
              <a:gd name="connsiteX1" fmla="*/ 2464905 w 5377069"/>
              <a:gd name="connsiteY1" fmla="*/ 2256182 h 2538487"/>
              <a:gd name="connsiteX2" fmla="*/ 4870174 w 5377069"/>
              <a:gd name="connsiteY2" fmla="*/ 735496 h 2538487"/>
              <a:gd name="connsiteX3" fmla="*/ 5377069 w 5377069"/>
              <a:gd name="connsiteY3" fmla="*/ 0 h 2538487"/>
              <a:gd name="connsiteX0" fmla="*/ 0 w 5377069"/>
              <a:gd name="connsiteY0" fmla="*/ 2534478 h 2534478"/>
              <a:gd name="connsiteX1" fmla="*/ 4870174 w 5377069"/>
              <a:gd name="connsiteY1" fmla="*/ 735496 h 2534478"/>
              <a:gd name="connsiteX2" fmla="*/ 5377069 w 5377069"/>
              <a:gd name="connsiteY2" fmla="*/ 0 h 2534478"/>
              <a:gd name="connsiteX0" fmla="*/ 0 w 5377069"/>
              <a:gd name="connsiteY0" fmla="*/ 2534478 h 2534478"/>
              <a:gd name="connsiteX1" fmla="*/ 5377069 w 5377069"/>
              <a:gd name="connsiteY1" fmla="*/ 0 h 2534478"/>
              <a:gd name="connsiteX0" fmla="*/ 0 w 5377069"/>
              <a:gd name="connsiteY0" fmla="*/ 2534478 h 2534478"/>
              <a:gd name="connsiteX1" fmla="*/ 5377069 w 5377069"/>
              <a:gd name="connsiteY1" fmla="*/ 0 h 2534478"/>
              <a:gd name="connsiteX0" fmla="*/ 0 w 5377069"/>
              <a:gd name="connsiteY0" fmla="*/ 2534478 h 2534478"/>
              <a:gd name="connsiteX1" fmla="*/ 5377069 w 5377069"/>
              <a:gd name="connsiteY1" fmla="*/ 0 h 2534478"/>
              <a:gd name="connsiteX0" fmla="*/ 0 w 5705060"/>
              <a:gd name="connsiteY0" fmla="*/ 3031435 h 3031435"/>
              <a:gd name="connsiteX1" fmla="*/ 5705060 w 5705060"/>
              <a:gd name="connsiteY1" fmla="*/ 0 h 3031435"/>
              <a:gd name="connsiteX0" fmla="*/ 0 w 5705060"/>
              <a:gd name="connsiteY0" fmla="*/ 3031435 h 3031435"/>
              <a:gd name="connsiteX1" fmla="*/ 5705060 w 5705060"/>
              <a:gd name="connsiteY1" fmla="*/ 0 h 303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5060" h="3031435">
                <a:moveTo>
                  <a:pt x="0" y="3031435"/>
                </a:moveTo>
                <a:cubicBezTo>
                  <a:pt x="3124198" y="2544416"/>
                  <a:pt x="4558747" y="1550504"/>
                  <a:pt x="5705060" y="0"/>
                </a:cubicBezTo>
              </a:path>
            </a:pathLst>
          </a:custGeom>
          <a:noFill/>
          <a:ln w="19050">
            <a:solidFill>
              <a:srgbClr val="0808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grpSp>
        <p:nvGrpSpPr>
          <p:cNvPr id="29" name="Group 28" descr=" 5">
            <a:extLst>
              <a:ext uri="{FF2B5EF4-FFF2-40B4-BE49-F238E27FC236}">
                <a16:creationId xmlns:a16="http://schemas.microsoft.com/office/drawing/2014/main" id="{891F4E01-785E-B904-41DB-A697EC381AA1}"/>
              </a:ext>
            </a:extLst>
          </p:cNvPr>
          <p:cNvGrpSpPr/>
          <p:nvPr/>
        </p:nvGrpSpPr>
        <p:grpSpPr>
          <a:xfrm>
            <a:off x="5625508" y="5922587"/>
            <a:ext cx="448504" cy="968468"/>
            <a:chOff x="135171" y="812438"/>
            <a:chExt cx="448504" cy="968468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EACA9F7-D72A-680C-6145-0B3D63A843E9}"/>
                </a:ext>
              </a:extLst>
            </p:cNvPr>
            <p:cNvCxnSpPr/>
            <p:nvPr/>
          </p:nvCxnSpPr>
          <p:spPr>
            <a:xfrm>
              <a:off x="359423" y="812438"/>
              <a:ext cx="0" cy="65168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2A11FBF-DA3F-93F2-C060-72C44034689F}"/>
                </a:ext>
              </a:extLst>
            </p:cNvPr>
            <p:cNvSpPr txBox="1"/>
            <p:nvPr/>
          </p:nvSpPr>
          <p:spPr>
            <a:xfrm>
              <a:off x="135171" y="1411574"/>
              <a:ext cx="448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ea typeface="Cambria Math" panose="02040503050406030204" pitchFamily="18" charset="0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5732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9554" y="1405388"/>
                <a:ext cx="11381253" cy="2434799"/>
              </a:xfrm>
            </p:spPr>
            <p:txBody>
              <a:bodyPr anchor="t" anchorCtr="0"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US" sz="32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itchFamily="2" charset="2"/>
                  <a:buChar char="Ø"/>
                </a:pPr>
                <a:r>
                  <a:rPr lang="en-US" sz="3200" dirty="0"/>
                  <a:t>For data structures and algorithms, </a:t>
                </a:r>
                <a:r>
                  <a:rPr lang="en-US" sz="3200" b="1" dirty="0"/>
                  <a:t>O</a:t>
                </a:r>
                <a:r>
                  <a:rPr lang="en-US" sz="3200" dirty="0">
                    <a:cs typeface="Times New Roman" panose="02020603050405020304" pitchFamily="18" charset="0"/>
                  </a:rPr>
                  <a:t>(</a:t>
                </a:r>
                <a:r>
                  <a:rPr lang="en-US" sz="3200" dirty="0">
                    <a:ea typeface="Cambria Math" panose="02040503050406030204" pitchFamily="18" charset="0"/>
                  </a:rPr>
                  <a:t>g(</a:t>
                </a:r>
                <a14:m>
                  <m:oMath xmlns:m="http://schemas.openxmlformats.org/officeDocument/2006/math">
                    <m:r>
                      <a:rPr lang="en-US" sz="3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sz="3200" dirty="0">
                    <a:ea typeface="Cambria Math" panose="02040503050406030204" pitchFamily="18" charset="0"/>
                  </a:rPr>
                  <a:t>)</a:t>
                </a:r>
                <a:r>
                  <a:rPr lang="en-US" sz="3200" dirty="0">
                    <a:cs typeface="Times New Roman" panose="02020603050405020304" pitchFamily="18" charset="0"/>
                  </a:rPr>
                  <a:t>) </a:t>
                </a:r>
                <a:r>
                  <a:rPr lang="en-US" sz="3200" dirty="0"/>
                  <a:t>is a measure of </a:t>
                </a:r>
                <a:r>
                  <a:rPr lang="en-US" sz="3200" i="1" dirty="0">
                    <a:solidFill>
                      <a:srgbClr val="0070C0"/>
                    </a:solidFill>
                  </a:rPr>
                  <a:t>goodness</a:t>
                </a:r>
                <a:r>
                  <a:rPr lang="en-US" sz="3200" dirty="0"/>
                  <a:t>, it tells us that an algorithm’s execution time will not exceed an upper bound.   c*g(n) &gt; f(n)</a:t>
                </a:r>
                <a:br>
                  <a:rPr lang="en-US" sz="3200" dirty="0"/>
                </a:br>
                <a:endParaRPr lang="en-US" sz="32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itchFamily="2" charset="2"/>
                  <a:buChar char="Ø"/>
                </a:pPr>
                <a:r>
                  <a:rPr lang="el-GR" sz="3200" b="1" dirty="0"/>
                  <a:t>Ω</a:t>
                </a:r>
                <a:r>
                  <a:rPr lang="en-US" sz="3200" b="1" dirty="0"/>
                  <a:t>(</a:t>
                </a:r>
                <a:r>
                  <a:rPr lang="en-US" sz="3200" dirty="0">
                    <a:ea typeface="Cambria Math" panose="02040503050406030204" pitchFamily="18" charset="0"/>
                  </a:rPr>
                  <a:t>g(</a:t>
                </a:r>
                <a14:m>
                  <m:oMath xmlns:m="http://schemas.openxmlformats.org/officeDocument/2006/math">
                    <m:r>
                      <a:rPr lang="en-US" sz="3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sz="3200" dirty="0">
                    <a:ea typeface="Cambria Math" panose="02040503050406030204" pitchFamily="18" charset="0"/>
                  </a:rPr>
                  <a:t>)</a:t>
                </a:r>
                <a:r>
                  <a:rPr lang="en-US" sz="3200" b="1" dirty="0"/>
                  <a:t>)</a:t>
                </a:r>
                <a:r>
                  <a:rPr lang="en-US" sz="3200" dirty="0"/>
                  <a:t> tells us how </a:t>
                </a:r>
                <a:r>
                  <a:rPr lang="en-US" sz="3200" i="1" dirty="0">
                    <a:solidFill>
                      <a:srgbClr val="0070C0"/>
                    </a:solidFill>
                  </a:rPr>
                  <a:t>bad</a:t>
                </a:r>
                <a:r>
                  <a:rPr lang="en-US" sz="3200" dirty="0"/>
                  <a:t> an </a:t>
                </a:r>
                <a:r>
                  <a:rPr lang="en-US" sz="3200" dirty="0">
                    <a:cs typeface="Times New Roman" panose="02020603050405020304" pitchFamily="18" charset="0"/>
                  </a:rPr>
                  <a:t>algorithm is. Its execution time will always be bigger  f(n) &gt; </a:t>
                </a:r>
                <a:r>
                  <a:rPr lang="en-US" sz="32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c</a:t>
                </a:r>
                <a:r>
                  <a:rPr lang="en-US" sz="3200" dirty="0">
                    <a:cs typeface="Times New Roman" panose="02020603050405020304" pitchFamily="18" charset="0"/>
                  </a:rPr>
                  <a:t>·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g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for some constant c.</a:t>
                </a:r>
                <a:endParaRPr lang="en-US" sz="32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  <a:tabLst>
                    <a:tab pos="4740275" algn="l"/>
                  </a:tabLst>
                </a:pPr>
                <a:endParaRPr lang="en-US" sz="28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  <a:tabLst>
                    <a:tab pos="4740275" algn="l"/>
                  </a:tabLst>
                </a:pPr>
                <a:endParaRPr lang="en-US" sz="28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  <a:tabLst>
                    <a:tab pos="4740275" algn="l"/>
                  </a:tabLst>
                </a:pPr>
                <a:r>
                  <a:rPr lang="en-US" dirty="0"/>
                  <a:t>Note:  Some textbooks and webpages use little-o instead of big-</a:t>
                </a:r>
                <a:r>
                  <a:rPr lang="el-GR" dirty="0">
                    <a:cs typeface="Times New Roman" panose="02020603050405020304" pitchFamily="18" charset="0"/>
                  </a:rPr>
                  <a:t>Ω</a:t>
                </a:r>
                <a:r>
                  <a:rPr lang="en-US" dirty="0">
                    <a:cs typeface="Times New Roman" panose="02020603050405020304" pitchFamily="18" charset="0"/>
                  </a:rPr>
                  <a:t>,  </a:t>
                </a:r>
                <a:r>
                  <a:rPr lang="en-US" dirty="0"/>
                  <a:t>i.e., </a:t>
                </a:r>
                <a:r>
                  <a:rPr lang="en-US" dirty="0">
                    <a:ea typeface="Cambria Math" panose="02040503050406030204" pitchFamily="18" charset="0"/>
                  </a:rPr>
                  <a:t>o</a:t>
                </a:r>
                <a:r>
                  <a:rPr lang="en-US" dirty="0">
                    <a:cs typeface="Times New Roman" panose="02020603050405020304" pitchFamily="18" charset="0"/>
                  </a:rPr>
                  <a:t>(g(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dirty="0">
                    <a:cs typeface="Times New Roman" panose="02020603050405020304" pitchFamily="18" charset="0"/>
                  </a:rPr>
                  <a:t>))</a:t>
                </a:r>
                <a:r>
                  <a:rPr lang="en-US" dirty="0"/>
                  <a:t> instead of </a:t>
                </a:r>
                <a:r>
                  <a:rPr lang="el-GR" dirty="0">
                    <a:cs typeface="Times New Roman" panose="02020603050405020304" pitchFamily="18" charset="0"/>
                  </a:rPr>
                  <a:t>Ω</a:t>
                </a:r>
                <a:r>
                  <a:rPr lang="en-US" dirty="0">
                    <a:cs typeface="Times New Roman" panose="02020603050405020304" pitchFamily="18" charset="0"/>
                  </a:rPr>
                  <a:t>(g(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dirty="0">
                    <a:cs typeface="Times New Roman" panose="02020603050405020304" pitchFamily="18" charset="0"/>
                  </a:rPr>
                  <a:t>))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9554" y="1405388"/>
                <a:ext cx="11381253" cy="2434799"/>
              </a:xfrm>
              <a:blipFill>
                <a:blip r:embed="rId3"/>
                <a:stretch>
                  <a:fillRect l="-1115" b="-124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726508" y="714814"/>
            <a:ext cx="72879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Big-</a:t>
            </a:r>
            <a:r>
              <a:rPr lang="el-GR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(Big Omega)</a:t>
            </a:r>
          </a:p>
        </p:txBody>
      </p:sp>
    </p:spTree>
    <p:extLst>
      <p:ext uri="{BB962C8B-B14F-4D97-AF65-F5344CB8AC3E}">
        <p14:creationId xmlns:p14="http://schemas.microsoft.com/office/powerpoint/2010/main" val="3317968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AAC128-2B78-49F4-8E0F-C96B924F63D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42008" y="979402"/>
                <a:ext cx="11649992" cy="689661"/>
              </a:xfrm>
            </p:spPr>
            <p:txBody>
              <a:bodyPr>
                <a:noAutofit/>
              </a:bodyPr>
              <a:lstStyle/>
              <a:p>
                <a:r>
                  <a:rPr lang="en-US" cap="none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rPr>
                  <a:t>Problem:  The Bound Provided By An O(</a:t>
                </a:r>
                <a:r>
                  <a:rPr lang="en-US" cap="none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g</a:t>
                </a:r>
                <a:r>
                  <a:rPr lang="en-US" sz="3200" cap="none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cap="non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3200" cap="none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)</a:t>
                </a:r>
                <a:r>
                  <a:rPr lang="en-US" cap="none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rPr>
                  <a:t>) Function Is Not Unique And Need Not Be Tight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AAC128-2B78-49F4-8E0F-C96B924F63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42008" y="979402"/>
                <a:ext cx="11649992" cy="689661"/>
              </a:xfrm>
              <a:blipFill>
                <a:blip r:embed="rId2"/>
                <a:stretch>
                  <a:fillRect l="-1088" t="-58182" b="-2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9A1A16-44D3-4001-9261-201DA001C4B8}"/>
                  </a:ext>
                </a:extLst>
              </p:cNvPr>
              <p:cNvSpPr txBox="1"/>
              <p:nvPr/>
            </p:nvSpPr>
            <p:spPr>
              <a:xfrm>
                <a:off x="325637" y="5024768"/>
                <a:ext cx="10983311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1200"/>
                  </a:spcBef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rgbClr val="004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the figure above, both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8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sz="2400" baseline="-25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004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sz="2400" baseline="-25000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004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provide Big-O upper bounds for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0808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000" i="1">
                            <a:solidFill>
                              <a:srgbClr val="0808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solidFill>
                              <a:srgbClr val="0808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000" smtClean="0">
                        <a:solidFill>
                          <a:srgbClr val="0808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solidFill>
                      <a:srgbClr val="004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Neither have a long-term growth rate like f(n)</a:t>
                </a:r>
              </a:p>
              <a:p>
                <a:pPr marL="342900" indent="-342900">
                  <a:spcBef>
                    <a:spcPts val="1200"/>
                  </a:spcBef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rgbClr val="004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We’d like a tighter bound ‒ it’s called Big-</a:t>
                </a:r>
                <a:r>
                  <a:rPr lang="en-US" sz="2400" dirty="0" err="1">
                    <a:solidFill>
                      <a:srgbClr val="004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dirty="0">
                    <a:solidFill>
                      <a:srgbClr val="004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(Theta)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9A1A16-44D3-4001-9261-201DA001C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637" y="5024768"/>
                <a:ext cx="10983311" cy="1354217"/>
              </a:xfrm>
              <a:prstGeom prst="rect">
                <a:avLst/>
              </a:prstGeom>
              <a:blipFill>
                <a:blip r:embed="rId3"/>
                <a:stretch>
                  <a:fillRect l="-693" t="-3704" b="-10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DD27C11E-839A-4BF3-9EFE-46AE9F3AC3EB}"/>
              </a:ext>
            </a:extLst>
          </p:cNvPr>
          <p:cNvGrpSpPr/>
          <p:nvPr/>
        </p:nvGrpSpPr>
        <p:grpSpPr>
          <a:xfrm>
            <a:off x="2748442" y="2019188"/>
            <a:ext cx="6480602" cy="3162523"/>
            <a:chOff x="3436878" y="1473340"/>
            <a:chExt cx="6480602" cy="31625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C722FAD-6095-401F-9D1A-BFF2C32C3C67}"/>
                </a:ext>
              </a:extLst>
            </p:cNvPr>
            <p:cNvSpPr/>
            <p:nvPr/>
          </p:nvSpPr>
          <p:spPr>
            <a:xfrm>
              <a:off x="3452648" y="1608083"/>
              <a:ext cx="5286703" cy="2522483"/>
            </a:xfrm>
            <a:custGeom>
              <a:avLst/>
              <a:gdLst>
                <a:gd name="connsiteX0" fmla="*/ 0 w 5286703"/>
                <a:gd name="connsiteY0" fmla="*/ 2522483 h 2522483"/>
                <a:gd name="connsiteX1" fmla="*/ 1996965 w 5286703"/>
                <a:gd name="connsiteY1" fmla="*/ 2385849 h 2522483"/>
                <a:gd name="connsiteX2" fmla="*/ 3804744 w 5286703"/>
                <a:gd name="connsiteY2" fmla="*/ 1723697 h 2522483"/>
                <a:gd name="connsiteX3" fmla="*/ 5286703 w 5286703"/>
                <a:gd name="connsiteY3" fmla="*/ 0 h 2522483"/>
                <a:gd name="connsiteX4" fmla="*/ 5286703 w 5286703"/>
                <a:gd name="connsiteY4" fmla="*/ 0 h 2522483"/>
                <a:gd name="connsiteX0" fmla="*/ 0 w 5286703"/>
                <a:gd name="connsiteY0" fmla="*/ 2522483 h 2522483"/>
                <a:gd name="connsiteX1" fmla="*/ 1996965 w 5286703"/>
                <a:gd name="connsiteY1" fmla="*/ 2385849 h 2522483"/>
                <a:gd name="connsiteX2" fmla="*/ 3804744 w 5286703"/>
                <a:gd name="connsiteY2" fmla="*/ 1723697 h 2522483"/>
                <a:gd name="connsiteX3" fmla="*/ 5286703 w 5286703"/>
                <a:gd name="connsiteY3" fmla="*/ 0 h 2522483"/>
                <a:gd name="connsiteX4" fmla="*/ 5286703 w 5286703"/>
                <a:gd name="connsiteY4" fmla="*/ 0 h 2522483"/>
                <a:gd name="connsiteX0" fmla="*/ 0 w 5286703"/>
                <a:gd name="connsiteY0" fmla="*/ 2522483 h 2522483"/>
                <a:gd name="connsiteX1" fmla="*/ 1996965 w 5286703"/>
                <a:gd name="connsiteY1" fmla="*/ 2385849 h 2522483"/>
                <a:gd name="connsiteX2" fmla="*/ 3804744 w 5286703"/>
                <a:gd name="connsiteY2" fmla="*/ 1723697 h 2522483"/>
                <a:gd name="connsiteX3" fmla="*/ 5286703 w 5286703"/>
                <a:gd name="connsiteY3" fmla="*/ 0 h 2522483"/>
                <a:gd name="connsiteX4" fmla="*/ 5286703 w 5286703"/>
                <a:gd name="connsiteY4" fmla="*/ 0 h 2522483"/>
                <a:gd name="connsiteX0" fmla="*/ 0 w 5286703"/>
                <a:gd name="connsiteY0" fmla="*/ 2522483 h 2522483"/>
                <a:gd name="connsiteX1" fmla="*/ 1996965 w 5286703"/>
                <a:gd name="connsiteY1" fmla="*/ 2385849 h 2522483"/>
                <a:gd name="connsiteX2" fmla="*/ 3804744 w 5286703"/>
                <a:gd name="connsiteY2" fmla="*/ 1723697 h 2522483"/>
                <a:gd name="connsiteX3" fmla="*/ 5286703 w 5286703"/>
                <a:gd name="connsiteY3" fmla="*/ 0 h 2522483"/>
                <a:gd name="connsiteX4" fmla="*/ 5286703 w 5286703"/>
                <a:gd name="connsiteY4" fmla="*/ 0 h 2522483"/>
                <a:gd name="connsiteX0" fmla="*/ 0 w 5300673"/>
                <a:gd name="connsiteY0" fmla="*/ 2522483 h 2522483"/>
                <a:gd name="connsiteX1" fmla="*/ 1996965 w 5300673"/>
                <a:gd name="connsiteY1" fmla="*/ 2385849 h 2522483"/>
                <a:gd name="connsiteX2" fmla="*/ 3804744 w 5300673"/>
                <a:gd name="connsiteY2" fmla="*/ 1723697 h 2522483"/>
                <a:gd name="connsiteX3" fmla="*/ 5286703 w 5300673"/>
                <a:gd name="connsiteY3" fmla="*/ 0 h 2522483"/>
                <a:gd name="connsiteX4" fmla="*/ 5286703 w 5300673"/>
                <a:gd name="connsiteY4" fmla="*/ 0 h 2522483"/>
                <a:gd name="connsiteX0" fmla="*/ 0 w 5286703"/>
                <a:gd name="connsiteY0" fmla="*/ 2522483 h 2522483"/>
                <a:gd name="connsiteX1" fmla="*/ 1996965 w 5286703"/>
                <a:gd name="connsiteY1" fmla="*/ 2385849 h 2522483"/>
                <a:gd name="connsiteX2" fmla="*/ 3804744 w 5286703"/>
                <a:gd name="connsiteY2" fmla="*/ 1723697 h 2522483"/>
                <a:gd name="connsiteX3" fmla="*/ 5286703 w 5286703"/>
                <a:gd name="connsiteY3" fmla="*/ 0 h 2522483"/>
                <a:gd name="connsiteX4" fmla="*/ 5286703 w 5286703"/>
                <a:gd name="connsiteY4" fmla="*/ 0 h 2522483"/>
                <a:gd name="connsiteX0" fmla="*/ 0 w 5286703"/>
                <a:gd name="connsiteY0" fmla="*/ 2522483 h 2522483"/>
                <a:gd name="connsiteX1" fmla="*/ 1996965 w 5286703"/>
                <a:gd name="connsiteY1" fmla="*/ 2385849 h 2522483"/>
                <a:gd name="connsiteX2" fmla="*/ 4172606 w 5286703"/>
                <a:gd name="connsiteY2" fmla="*/ 1629104 h 2522483"/>
                <a:gd name="connsiteX3" fmla="*/ 5286703 w 5286703"/>
                <a:gd name="connsiteY3" fmla="*/ 0 h 2522483"/>
                <a:gd name="connsiteX4" fmla="*/ 5286703 w 5286703"/>
                <a:gd name="connsiteY4" fmla="*/ 0 h 2522483"/>
                <a:gd name="connsiteX0" fmla="*/ 0 w 5286703"/>
                <a:gd name="connsiteY0" fmla="*/ 2522483 h 2522483"/>
                <a:gd name="connsiteX1" fmla="*/ 1996965 w 5286703"/>
                <a:gd name="connsiteY1" fmla="*/ 2385849 h 2522483"/>
                <a:gd name="connsiteX2" fmla="*/ 4172606 w 5286703"/>
                <a:gd name="connsiteY2" fmla="*/ 1629104 h 2522483"/>
                <a:gd name="connsiteX3" fmla="*/ 5286703 w 5286703"/>
                <a:gd name="connsiteY3" fmla="*/ 0 h 2522483"/>
                <a:gd name="connsiteX4" fmla="*/ 5286703 w 5286703"/>
                <a:gd name="connsiteY4" fmla="*/ 0 h 2522483"/>
                <a:gd name="connsiteX0" fmla="*/ 0 w 5286703"/>
                <a:gd name="connsiteY0" fmla="*/ 2522483 h 2615588"/>
                <a:gd name="connsiteX1" fmla="*/ 1996965 w 5286703"/>
                <a:gd name="connsiteY1" fmla="*/ 2385849 h 2615588"/>
                <a:gd name="connsiteX2" fmla="*/ 5286703 w 5286703"/>
                <a:gd name="connsiteY2" fmla="*/ 0 h 2615588"/>
                <a:gd name="connsiteX3" fmla="*/ 5286703 w 5286703"/>
                <a:gd name="connsiteY3" fmla="*/ 0 h 2615588"/>
                <a:gd name="connsiteX0" fmla="*/ 0 w 5286703"/>
                <a:gd name="connsiteY0" fmla="*/ 2522483 h 2522483"/>
                <a:gd name="connsiteX1" fmla="*/ 3678620 w 5286703"/>
                <a:gd name="connsiteY1" fmla="*/ 1965435 h 2522483"/>
                <a:gd name="connsiteX2" fmla="*/ 5286703 w 5286703"/>
                <a:gd name="connsiteY2" fmla="*/ 0 h 2522483"/>
                <a:gd name="connsiteX3" fmla="*/ 5286703 w 5286703"/>
                <a:gd name="connsiteY3" fmla="*/ 0 h 2522483"/>
                <a:gd name="connsiteX0" fmla="*/ 0 w 5286703"/>
                <a:gd name="connsiteY0" fmla="*/ 2522483 h 2522483"/>
                <a:gd name="connsiteX1" fmla="*/ 3678620 w 5286703"/>
                <a:gd name="connsiteY1" fmla="*/ 1965435 h 2522483"/>
                <a:gd name="connsiteX2" fmla="*/ 5286703 w 5286703"/>
                <a:gd name="connsiteY2" fmla="*/ 0 h 2522483"/>
                <a:gd name="connsiteX3" fmla="*/ 5286703 w 5286703"/>
                <a:gd name="connsiteY3" fmla="*/ 0 h 2522483"/>
                <a:gd name="connsiteX0" fmla="*/ 0 w 5286703"/>
                <a:gd name="connsiteY0" fmla="*/ 2522483 h 2522483"/>
                <a:gd name="connsiteX1" fmla="*/ 4109544 w 5286703"/>
                <a:gd name="connsiteY1" fmla="*/ 1975946 h 2522483"/>
                <a:gd name="connsiteX2" fmla="*/ 5286703 w 5286703"/>
                <a:gd name="connsiteY2" fmla="*/ 0 h 2522483"/>
                <a:gd name="connsiteX3" fmla="*/ 5286703 w 5286703"/>
                <a:gd name="connsiteY3" fmla="*/ 0 h 2522483"/>
                <a:gd name="connsiteX0" fmla="*/ 0 w 5286703"/>
                <a:gd name="connsiteY0" fmla="*/ 2522483 h 2522483"/>
                <a:gd name="connsiteX1" fmla="*/ 4109544 w 5286703"/>
                <a:gd name="connsiteY1" fmla="*/ 1975946 h 2522483"/>
                <a:gd name="connsiteX2" fmla="*/ 5286703 w 5286703"/>
                <a:gd name="connsiteY2" fmla="*/ 0 h 2522483"/>
                <a:gd name="connsiteX3" fmla="*/ 5286703 w 5286703"/>
                <a:gd name="connsiteY3" fmla="*/ 0 h 2522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86703" h="2522483">
                  <a:moveTo>
                    <a:pt x="0" y="2522483"/>
                  </a:moveTo>
                  <a:cubicBezTo>
                    <a:pt x="681420" y="2520731"/>
                    <a:pt x="3228427" y="2396360"/>
                    <a:pt x="4109544" y="1975946"/>
                  </a:cubicBezTo>
                  <a:cubicBezTo>
                    <a:pt x="4990661" y="1555532"/>
                    <a:pt x="5195614" y="360855"/>
                    <a:pt x="5286703" y="0"/>
                  </a:cubicBezTo>
                  <a:lnTo>
                    <a:pt x="5286703" y="0"/>
                  </a:lnTo>
                </a:path>
              </a:pathLst>
            </a:custGeom>
            <a:noFill/>
            <a:ln w="19050"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55B1EA8-8216-43F0-95CF-6086423D8752}"/>
                </a:ext>
              </a:extLst>
            </p:cNvPr>
            <p:cNvSpPr/>
            <p:nvPr/>
          </p:nvSpPr>
          <p:spPr>
            <a:xfrm>
              <a:off x="3452648" y="2490952"/>
              <a:ext cx="5286703" cy="1511138"/>
            </a:xfrm>
            <a:custGeom>
              <a:avLst/>
              <a:gdLst>
                <a:gd name="connsiteX0" fmla="*/ 0 w 5286703"/>
                <a:gd name="connsiteY0" fmla="*/ 2522483 h 2522483"/>
                <a:gd name="connsiteX1" fmla="*/ 1996965 w 5286703"/>
                <a:gd name="connsiteY1" fmla="*/ 2385849 h 2522483"/>
                <a:gd name="connsiteX2" fmla="*/ 3804744 w 5286703"/>
                <a:gd name="connsiteY2" fmla="*/ 1723697 h 2522483"/>
                <a:gd name="connsiteX3" fmla="*/ 5286703 w 5286703"/>
                <a:gd name="connsiteY3" fmla="*/ 0 h 2522483"/>
                <a:gd name="connsiteX4" fmla="*/ 5286703 w 5286703"/>
                <a:gd name="connsiteY4" fmla="*/ 0 h 2522483"/>
                <a:gd name="connsiteX0" fmla="*/ 0 w 5286703"/>
                <a:gd name="connsiteY0" fmla="*/ 2522483 h 2522483"/>
                <a:gd name="connsiteX1" fmla="*/ 1996965 w 5286703"/>
                <a:gd name="connsiteY1" fmla="*/ 2385849 h 2522483"/>
                <a:gd name="connsiteX2" fmla="*/ 3804744 w 5286703"/>
                <a:gd name="connsiteY2" fmla="*/ 1723697 h 2522483"/>
                <a:gd name="connsiteX3" fmla="*/ 5286703 w 5286703"/>
                <a:gd name="connsiteY3" fmla="*/ 0 h 2522483"/>
                <a:gd name="connsiteX4" fmla="*/ 5286703 w 5286703"/>
                <a:gd name="connsiteY4" fmla="*/ 0 h 2522483"/>
                <a:gd name="connsiteX0" fmla="*/ 0 w 5286703"/>
                <a:gd name="connsiteY0" fmla="*/ 2522483 h 2522483"/>
                <a:gd name="connsiteX1" fmla="*/ 1996965 w 5286703"/>
                <a:gd name="connsiteY1" fmla="*/ 2385849 h 2522483"/>
                <a:gd name="connsiteX2" fmla="*/ 3804744 w 5286703"/>
                <a:gd name="connsiteY2" fmla="*/ 1723697 h 2522483"/>
                <a:gd name="connsiteX3" fmla="*/ 5286703 w 5286703"/>
                <a:gd name="connsiteY3" fmla="*/ 0 h 2522483"/>
                <a:gd name="connsiteX4" fmla="*/ 5286703 w 5286703"/>
                <a:gd name="connsiteY4" fmla="*/ 0 h 2522483"/>
                <a:gd name="connsiteX0" fmla="*/ 0 w 5290919"/>
                <a:gd name="connsiteY0" fmla="*/ 2522483 h 2522483"/>
                <a:gd name="connsiteX1" fmla="*/ 1996965 w 5290919"/>
                <a:gd name="connsiteY1" fmla="*/ 2385849 h 2522483"/>
                <a:gd name="connsiteX2" fmla="*/ 3804744 w 5290919"/>
                <a:gd name="connsiteY2" fmla="*/ 1723697 h 2522483"/>
                <a:gd name="connsiteX3" fmla="*/ 5286703 w 5290919"/>
                <a:gd name="connsiteY3" fmla="*/ 0 h 2522483"/>
                <a:gd name="connsiteX4" fmla="*/ 5286703 w 5290919"/>
                <a:gd name="connsiteY4" fmla="*/ 0 h 2522483"/>
                <a:gd name="connsiteX0" fmla="*/ 0 w 5290919"/>
                <a:gd name="connsiteY0" fmla="*/ 2522483 h 2522483"/>
                <a:gd name="connsiteX1" fmla="*/ 3804744 w 5290919"/>
                <a:gd name="connsiteY1" fmla="*/ 1723697 h 2522483"/>
                <a:gd name="connsiteX2" fmla="*/ 5286703 w 5290919"/>
                <a:gd name="connsiteY2" fmla="*/ 0 h 2522483"/>
                <a:gd name="connsiteX3" fmla="*/ 5286703 w 5290919"/>
                <a:gd name="connsiteY3" fmla="*/ 0 h 2522483"/>
                <a:gd name="connsiteX0" fmla="*/ 0 w 5290919"/>
                <a:gd name="connsiteY0" fmla="*/ 2522483 h 2522764"/>
                <a:gd name="connsiteX1" fmla="*/ 3804744 w 5290919"/>
                <a:gd name="connsiteY1" fmla="*/ 1723697 h 2522764"/>
                <a:gd name="connsiteX2" fmla="*/ 5286703 w 5290919"/>
                <a:gd name="connsiteY2" fmla="*/ 0 h 2522764"/>
                <a:gd name="connsiteX3" fmla="*/ 5286703 w 5290919"/>
                <a:gd name="connsiteY3" fmla="*/ 0 h 2522764"/>
                <a:gd name="connsiteX0" fmla="*/ 0 w 5286703"/>
                <a:gd name="connsiteY0" fmla="*/ 2522483 h 2523010"/>
                <a:gd name="connsiteX1" fmla="*/ 3867806 w 5286703"/>
                <a:gd name="connsiteY1" fmla="*/ 1912884 h 2523010"/>
                <a:gd name="connsiteX2" fmla="*/ 5286703 w 5286703"/>
                <a:gd name="connsiteY2" fmla="*/ 0 h 2523010"/>
                <a:gd name="connsiteX3" fmla="*/ 5286703 w 5286703"/>
                <a:gd name="connsiteY3" fmla="*/ 0 h 2523010"/>
                <a:gd name="connsiteX0" fmla="*/ 0 w 5286703"/>
                <a:gd name="connsiteY0" fmla="*/ 2522483 h 2523010"/>
                <a:gd name="connsiteX1" fmla="*/ 3867806 w 5286703"/>
                <a:gd name="connsiteY1" fmla="*/ 1912884 h 2523010"/>
                <a:gd name="connsiteX2" fmla="*/ 5286703 w 5286703"/>
                <a:gd name="connsiteY2" fmla="*/ 0 h 2523010"/>
                <a:gd name="connsiteX3" fmla="*/ 5286703 w 5286703"/>
                <a:gd name="connsiteY3" fmla="*/ 0 h 2523010"/>
                <a:gd name="connsiteX0" fmla="*/ 0 w 5286703"/>
                <a:gd name="connsiteY0" fmla="*/ 2522483 h 2532731"/>
                <a:gd name="connsiteX1" fmla="*/ 3867806 w 5286703"/>
                <a:gd name="connsiteY1" fmla="*/ 1912884 h 2532731"/>
                <a:gd name="connsiteX2" fmla="*/ 5286703 w 5286703"/>
                <a:gd name="connsiteY2" fmla="*/ 0 h 2532731"/>
                <a:gd name="connsiteX3" fmla="*/ 5286703 w 5286703"/>
                <a:gd name="connsiteY3" fmla="*/ 0 h 2532731"/>
                <a:gd name="connsiteX0" fmla="*/ 0 w 5286703"/>
                <a:gd name="connsiteY0" fmla="*/ 2522483 h 2523337"/>
                <a:gd name="connsiteX1" fmla="*/ 3867806 w 5286703"/>
                <a:gd name="connsiteY1" fmla="*/ 1912884 h 2523337"/>
                <a:gd name="connsiteX2" fmla="*/ 5286703 w 5286703"/>
                <a:gd name="connsiteY2" fmla="*/ 0 h 2523337"/>
                <a:gd name="connsiteX3" fmla="*/ 5286703 w 5286703"/>
                <a:gd name="connsiteY3" fmla="*/ 0 h 2523337"/>
                <a:gd name="connsiteX0" fmla="*/ 0 w 5286703"/>
                <a:gd name="connsiteY0" fmla="*/ 2522483 h 2522753"/>
                <a:gd name="connsiteX1" fmla="*/ 4361792 w 5286703"/>
                <a:gd name="connsiteY1" fmla="*/ 1622091 h 2522753"/>
                <a:gd name="connsiteX2" fmla="*/ 5286703 w 5286703"/>
                <a:gd name="connsiteY2" fmla="*/ 0 h 2522753"/>
                <a:gd name="connsiteX3" fmla="*/ 5286703 w 5286703"/>
                <a:gd name="connsiteY3" fmla="*/ 0 h 2522753"/>
                <a:gd name="connsiteX0" fmla="*/ 0 w 5286703"/>
                <a:gd name="connsiteY0" fmla="*/ 2522483 h 2522691"/>
                <a:gd name="connsiteX1" fmla="*/ 4361792 w 5286703"/>
                <a:gd name="connsiteY1" fmla="*/ 1622091 h 2522691"/>
                <a:gd name="connsiteX2" fmla="*/ 5286703 w 5286703"/>
                <a:gd name="connsiteY2" fmla="*/ 0 h 2522691"/>
                <a:gd name="connsiteX3" fmla="*/ 5286703 w 5286703"/>
                <a:gd name="connsiteY3" fmla="*/ 0 h 2522691"/>
                <a:gd name="connsiteX0" fmla="*/ 0 w 5286703"/>
                <a:gd name="connsiteY0" fmla="*/ 2522483 h 2522691"/>
                <a:gd name="connsiteX1" fmla="*/ 4361792 w 5286703"/>
                <a:gd name="connsiteY1" fmla="*/ 1622091 h 2522691"/>
                <a:gd name="connsiteX2" fmla="*/ 5286703 w 5286703"/>
                <a:gd name="connsiteY2" fmla="*/ 0 h 2522691"/>
                <a:gd name="connsiteX3" fmla="*/ 5286703 w 5286703"/>
                <a:gd name="connsiteY3" fmla="*/ 0 h 2522691"/>
                <a:gd name="connsiteX0" fmla="*/ 0 w 5286703"/>
                <a:gd name="connsiteY0" fmla="*/ 2522483 h 2523034"/>
                <a:gd name="connsiteX1" fmla="*/ 3563005 w 5286703"/>
                <a:gd name="connsiteY1" fmla="*/ 1962983 h 2523034"/>
                <a:gd name="connsiteX2" fmla="*/ 5286703 w 5286703"/>
                <a:gd name="connsiteY2" fmla="*/ 0 h 2523034"/>
                <a:gd name="connsiteX3" fmla="*/ 5286703 w 5286703"/>
                <a:gd name="connsiteY3" fmla="*/ 0 h 2523034"/>
                <a:gd name="connsiteX0" fmla="*/ 0 w 5286703"/>
                <a:gd name="connsiteY0" fmla="*/ 2522483 h 2523393"/>
                <a:gd name="connsiteX1" fmla="*/ 3563005 w 5286703"/>
                <a:gd name="connsiteY1" fmla="*/ 1962983 h 2523393"/>
                <a:gd name="connsiteX2" fmla="*/ 5286703 w 5286703"/>
                <a:gd name="connsiteY2" fmla="*/ 0 h 2523393"/>
                <a:gd name="connsiteX3" fmla="*/ 5286703 w 5286703"/>
                <a:gd name="connsiteY3" fmla="*/ 0 h 2523393"/>
                <a:gd name="connsiteX0" fmla="*/ 0 w 5286703"/>
                <a:gd name="connsiteY0" fmla="*/ 2522483 h 2523393"/>
                <a:gd name="connsiteX1" fmla="*/ 3563005 w 5286703"/>
                <a:gd name="connsiteY1" fmla="*/ 1962983 h 2523393"/>
                <a:gd name="connsiteX2" fmla="*/ 5286703 w 5286703"/>
                <a:gd name="connsiteY2" fmla="*/ 0 h 2523393"/>
                <a:gd name="connsiteX3" fmla="*/ 5286703 w 5286703"/>
                <a:gd name="connsiteY3" fmla="*/ 0 h 2523393"/>
                <a:gd name="connsiteX0" fmla="*/ 0 w 5286703"/>
                <a:gd name="connsiteY0" fmla="*/ 2522483 h 2522483"/>
                <a:gd name="connsiteX1" fmla="*/ 3563005 w 5286703"/>
                <a:gd name="connsiteY1" fmla="*/ 1962983 h 2522483"/>
                <a:gd name="connsiteX2" fmla="*/ 5286703 w 5286703"/>
                <a:gd name="connsiteY2" fmla="*/ 0 h 2522483"/>
                <a:gd name="connsiteX3" fmla="*/ 5286703 w 5286703"/>
                <a:gd name="connsiteY3" fmla="*/ 0 h 2522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86703" h="2522483">
                  <a:moveTo>
                    <a:pt x="0" y="2522483"/>
                  </a:moveTo>
                  <a:cubicBezTo>
                    <a:pt x="1917262" y="2376845"/>
                    <a:pt x="2762467" y="2427149"/>
                    <a:pt x="3563005" y="1962983"/>
                  </a:cubicBezTo>
                  <a:cubicBezTo>
                    <a:pt x="4363543" y="1498817"/>
                    <a:pt x="4988910" y="554424"/>
                    <a:pt x="5286703" y="0"/>
                  </a:cubicBezTo>
                  <a:lnTo>
                    <a:pt x="5286703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0DF2F9F-E694-4222-9C66-2271EE1534DA}"/>
                </a:ext>
              </a:extLst>
            </p:cNvPr>
            <p:cNvSpPr/>
            <p:nvPr/>
          </p:nvSpPr>
          <p:spPr>
            <a:xfrm>
              <a:off x="3452648" y="3650880"/>
              <a:ext cx="5517931" cy="283846"/>
            </a:xfrm>
            <a:custGeom>
              <a:avLst/>
              <a:gdLst>
                <a:gd name="connsiteX0" fmla="*/ 0 w 5507421"/>
                <a:gd name="connsiteY0" fmla="*/ 210207 h 210207"/>
                <a:gd name="connsiteX1" fmla="*/ 5507421 w 5507421"/>
                <a:gd name="connsiteY1" fmla="*/ 0 h 210207"/>
                <a:gd name="connsiteX2" fmla="*/ 5507421 w 5507421"/>
                <a:gd name="connsiteY2" fmla="*/ 0 h 210207"/>
                <a:gd name="connsiteX3" fmla="*/ 5507421 w 5507421"/>
                <a:gd name="connsiteY3" fmla="*/ 0 h 210207"/>
                <a:gd name="connsiteX0" fmla="*/ 0 w 5507421"/>
                <a:gd name="connsiteY0" fmla="*/ 210207 h 210207"/>
                <a:gd name="connsiteX1" fmla="*/ 5507421 w 5507421"/>
                <a:gd name="connsiteY1" fmla="*/ 0 h 210207"/>
                <a:gd name="connsiteX2" fmla="*/ 5507421 w 5507421"/>
                <a:gd name="connsiteY2" fmla="*/ 0 h 210207"/>
                <a:gd name="connsiteX3" fmla="*/ 5507421 w 5507421"/>
                <a:gd name="connsiteY3" fmla="*/ 0 h 210207"/>
                <a:gd name="connsiteX0" fmla="*/ 0 w 5507421"/>
                <a:gd name="connsiteY0" fmla="*/ 210207 h 223359"/>
                <a:gd name="connsiteX1" fmla="*/ 5507421 w 5507421"/>
                <a:gd name="connsiteY1" fmla="*/ 0 h 223359"/>
                <a:gd name="connsiteX2" fmla="*/ 5507421 w 5507421"/>
                <a:gd name="connsiteY2" fmla="*/ 0 h 223359"/>
                <a:gd name="connsiteX3" fmla="*/ 5507421 w 5507421"/>
                <a:gd name="connsiteY3" fmla="*/ 0 h 223359"/>
                <a:gd name="connsiteX0" fmla="*/ 0 w 5507421"/>
                <a:gd name="connsiteY0" fmla="*/ 304800 h 317952"/>
                <a:gd name="connsiteX1" fmla="*/ 5507421 w 5507421"/>
                <a:gd name="connsiteY1" fmla="*/ 94593 h 317952"/>
                <a:gd name="connsiteX2" fmla="*/ 5507421 w 5507421"/>
                <a:gd name="connsiteY2" fmla="*/ 94593 h 317952"/>
                <a:gd name="connsiteX3" fmla="*/ 5412827 w 5507421"/>
                <a:gd name="connsiteY3" fmla="*/ 0 h 317952"/>
                <a:gd name="connsiteX0" fmla="*/ 0 w 5507421"/>
                <a:gd name="connsiteY0" fmla="*/ 304800 h 317952"/>
                <a:gd name="connsiteX1" fmla="*/ 5507421 w 5507421"/>
                <a:gd name="connsiteY1" fmla="*/ 94593 h 317952"/>
                <a:gd name="connsiteX2" fmla="*/ 5507421 w 5507421"/>
                <a:gd name="connsiteY2" fmla="*/ 94593 h 317952"/>
                <a:gd name="connsiteX3" fmla="*/ 5412827 w 5507421"/>
                <a:gd name="connsiteY3" fmla="*/ 0 h 317952"/>
                <a:gd name="connsiteX0" fmla="*/ 0 w 5507421"/>
                <a:gd name="connsiteY0" fmla="*/ 210207 h 223359"/>
                <a:gd name="connsiteX1" fmla="*/ 5507421 w 5507421"/>
                <a:gd name="connsiteY1" fmla="*/ 0 h 223359"/>
                <a:gd name="connsiteX2" fmla="*/ 5507421 w 5507421"/>
                <a:gd name="connsiteY2" fmla="*/ 0 h 223359"/>
                <a:gd name="connsiteX0" fmla="*/ 0 w 5507421"/>
                <a:gd name="connsiteY0" fmla="*/ 210207 h 210316"/>
                <a:gd name="connsiteX1" fmla="*/ 5507421 w 5507421"/>
                <a:gd name="connsiteY1" fmla="*/ 0 h 210316"/>
                <a:gd name="connsiteX2" fmla="*/ 5507421 w 5507421"/>
                <a:gd name="connsiteY2" fmla="*/ 0 h 210316"/>
                <a:gd name="connsiteX0" fmla="*/ 0 w 5517931"/>
                <a:gd name="connsiteY0" fmla="*/ 262759 h 262868"/>
                <a:gd name="connsiteX1" fmla="*/ 5507421 w 5517931"/>
                <a:gd name="connsiteY1" fmla="*/ 52552 h 262868"/>
                <a:gd name="connsiteX2" fmla="*/ 5517931 w 5517931"/>
                <a:gd name="connsiteY2" fmla="*/ 0 h 262868"/>
                <a:gd name="connsiteX0" fmla="*/ 0 w 5517931"/>
                <a:gd name="connsiteY0" fmla="*/ 262759 h 262868"/>
                <a:gd name="connsiteX1" fmla="*/ 5507421 w 5517931"/>
                <a:gd name="connsiteY1" fmla="*/ 52552 h 262868"/>
                <a:gd name="connsiteX2" fmla="*/ 5517931 w 5517931"/>
                <a:gd name="connsiteY2" fmla="*/ 0 h 262868"/>
                <a:gd name="connsiteX0" fmla="*/ 0 w 5507421"/>
                <a:gd name="connsiteY0" fmla="*/ 210207 h 210316"/>
                <a:gd name="connsiteX1" fmla="*/ 5507421 w 5507421"/>
                <a:gd name="connsiteY1" fmla="*/ 0 h 210316"/>
                <a:gd name="connsiteX0" fmla="*/ 0 w 5517931"/>
                <a:gd name="connsiteY0" fmla="*/ 283779 h 283837"/>
                <a:gd name="connsiteX1" fmla="*/ 5517931 w 5517931"/>
                <a:gd name="connsiteY1" fmla="*/ 0 h 283837"/>
                <a:gd name="connsiteX0" fmla="*/ 0 w 5517931"/>
                <a:gd name="connsiteY0" fmla="*/ 283779 h 283846"/>
                <a:gd name="connsiteX1" fmla="*/ 5517931 w 5517931"/>
                <a:gd name="connsiteY1" fmla="*/ 0 h 283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17931" h="283846">
                  <a:moveTo>
                    <a:pt x="0" y="283779"/>
                  </a:moveTo>
                  <a:cubicBezTo>
                    <a:pt x="2960413" y="287283"/>
                    <a:pt x="3850290" y="154152"/>
                    <a:pt x="5517931" y="0"/>
                  </a:cubicBezTo>
                </a:path>
              </a:pathLst>
            </a:custGeom>
            <a:noFill/>
            <a:ln w="19050">
              <a:solidFill>
                <a:srgbClr val="080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C6A6036-0499-4BC8-8380-4C67679BFA2E}"/>
                    </a:ext>
                  </a:extLst>
                </p:cNvPr>
                <p:cNvSpPr txBox="1"/>
                <p:nvPr/>
              </p:nvSpPr>
              <p:spPr>
                <a:xfrm>
                  <a:off x="8411897" y="1473340"/>
                  <a:ext cx="125073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mtClean="0">
                            <a:solidFill>
                              <a:srgbClr val="8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  <m:r>
                          <a:rPr lang="en-US" baseline="-25000" smtClean="0">
                            <a:solidFill>
                              <a:srgbClr val="8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8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solidFill>
                                  <a:srgbClr val="8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solidFill>
                      <a:srgbClr val="80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C6A6036-0499-4BC8-8380-4C67679BFA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1897" y="1473340"/>
                  <a:ext cx="1250731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E22AEA1-DAB7-4EC1-ADA6-7E05E0714701}"/>
                    </a:ext>
                  </a:extLst>
                </p:cNvPr>
                <p:cNvSpPr txBox="1"/>
                <p:nvPr/>
              </p:nvSpPr>
              <p:spPr>
                <a:xfrm>
                  <a:off x="8421655" y="2239085"/>
                  <a:ext cx="125073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  <m:r>
                          <a:rPr lang="en-US" baseline="-2500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oMath>
                    </m:oMathPara>
                  </a14:m>
                  <a:endParaRPr lang="en-US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E22AEA1-DAB7-4EC1-ADA6-7E05E07147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1655" y="2239085"/>
                  <a:ext cx="1250731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C1292BF-D87F-4FAB-881D-E56B7FECC4ED}"/>
                    </a:ext>
                  </a:extLst>
                </p:cNvPr>
                <p:cNvSpPr txBox="1"/>
                <p:nvPr/>
              </p:nvSpPr>
              <p:spPr>
                <a:xfrm>
                  <a:off x="8666749" y="3476048"/>
                  <a:ext cx="125073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mtClean="0">
                            <a:solidFill>
                              <a:srgbClr val="0808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808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solidFill>
                                  <a:srgbClr val="0808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solidFill>
                      <a:srgbClr val="0808FF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C1292BF-D87F-4FAB-881D-E56B7FECC4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6749" y="3476048"/>
                  <a:ext cx="1250731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E49A418-0411-465C-9CB9-6900625AEF99}"/>
                </a:ext>
              </a:extLst>
            </p:cNvPr>
            <p:cNvCxnSpPr>
              <a:cxnSpLocks/>
            </p:cNvCxnSpPr>
            <p:nvPr/>
          </p:nvCxnSpPr>
          <p:spPr>
            <a:xfrm>
              <a:off x="3436878" y="4309241"/>
              <a:ext cx="6480602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FEEC799-3171-4A58-ADB1-496EBDFCAB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6878" y="1473340"/>
              <a:ext cx="0" cy="28359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F374EE6-54A7-4BEA-BCCB-2EFD515A23CE}"/>
                    </a:ext>
                  </a:extLst>
                </p:cNvPr>
                <p:cNvSpPr txBox="1"/>
                <p:nvPr/>
              </p:nvSpPr>
              <p:spPr>
                <a:xfrm>
                  <a:off x="8666749" y="4242870"/>
                  <a:ext cx="1093304" cy="3929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n-US" sz="2000" i="1">
                              <a:solidFill>
                                <a:srgbClr val="003A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r>
                    <a:rPr lang="en-US" dirty="0">
                      <a:latin typeface="Times New Roman" panose="02020603050405020304" pitchFamily="18" charset="0"/>
                    </a:rPr>
                    <a:t>-axis</a:t>
                  </a: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F374EE6-54A7-4BEA-BCCB-2EFD515A23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6749" y="4242870"/>
                  <a:ext cx="1093304" cy="392993"/>
                </a:xfrm>
                <a:prstGeom prst="rect">
                  <a:avLst/>
                </a:prstGeom>
                <a:blipFill>
                  <a:blip r:embed="rId7"/>
                  <a:stretch>
                    <a:fillRect t="-3125"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994866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3551" y="1961203"/>
                <a:ext cx="10921383" cy="1467794"/>
              </a:xfrm>
            </p:spPr>
            <p:txBody>
              <a:bodyPr anchor="t" anchorCtr="0">
                <a:noAutofit/>
              </a:bodyPr>
              <a:lstStyle/>
              <a:p>
                <a:pPr marL="0" indent="0">
                  <a:lnSpc>
                    <a:spcPct val="95000"/>
                  </a:lnSpc>
                  <a:spcBef>
                    <a:spcPts val="1200"/>
                  </a:spcBef>
                  <a:buNone/>
                </a:pPr>
                <a:r>
                  <a:rPr lang="en-US" sz="2800" dirty="0"/>
                  <a:t>If our upper bound is O</a:t>
                </a:r>
                <a:r>
                  <a:rPr lang="en-US" sz="2800" dirty="0">
                    <a:cs typeface="Times New Roman" panose="02020603050405020304" pitchFamily="18" charset="0"/>
                  </a:rPr>
                  <a:t>(g(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cs typeface="Times New Roman" panose="02020603050405020304" pitchFamily="18" charset="0"/>
                  </a:rPr>
                  <a:t>))</a:t>
                </a:r>
                <a:r>
                  <a:rPr lang="en-US" sz="2800" dirty="0"/>
                  <a:t> and</a:t>
                </a:r>
                <a:r>
                  <a:rPr lang="en-US" sz="2800" dirty="0">
                    <a:cs typeface="Times New Roman" panose="02020603050405020304" pitchFamily="18" charset="0"/>
                  </a:rPr>
                  <a:t> our lower bound is </a:t>
                </a:r>
                <a:r>
                  <a:rPr lang="el-GR" sz="2800" dirty="0">
                    <a:cs typeface="Times New Roman" panose="02020603050405020304" pitchFamily="18" charset="0"/>
                  </a:rPr>
                  <a:t>Ω</a:t>
                </a:r>
                <a:r>
                  <a:rPr lang="en-US" sz="2800" dirty="0">
                    <a:cs typeface="Times New Roman" panose="02020603050405020304" pitchFamily="18" charset="0"/>
                  </a:rPr>
                  <a:t>(g(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cs typeface="Times New Roman" panose="02020603050405020304" pitchFamily="18" charset="0"/>
                  </a:rPr>
                  <a:t>))</a:t>
                </a:r>
                <a:r>
                  <a:rPr lang="en-US" sz="2800" dirty="0"/>
                  <a:t>, we say</a:t>
                </a:r>
                <a:r>
                  <a:rPr lang="el-GR" sz="2800" dirty="0"/>
                  <a:t> θ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cs typeface="Times New Roman" panose="02020603050405020304" pitchFamily="18" charset="0"/>
                      </a:rPr>
                      <m:t>g</m:t>
                    </m:r>
                    <m:r>
                      <m:rPr>
                        <m:nor/>
                      </m:rPr>
                      <a:rPr lang="en-US" sz="2800" dirty="0"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m:rPr>
                        <m:nor/>
                      </m:rPr>
                      <a:rPr lang="en-US" sz="2800" dirty="0"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).</a:t>
                </a:r>
              </a:p>
              <a:p>
                <a:pPr marL="0" indent="0">
                  <a:lnSpc>
                    <a:spcPct val="95000"/>
                  </a:lnSpc>
                  <a:spcBef>
                    <a:spcPts val="1200"/>
                  </a:spcBef>
                  <a:buNone/>
                </a:pPr>
                <a:r>
                  <a:rPr lang="en-US" sz="2800" dirty="0"/>
                  <a:t> The upper and lower bounds have different constants, but the same growth rate.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551" y="1961203"/>
                <a:ext cx="10921383" cy="1467794"/>
              </a:xfrm>
              <a:blipFill>
                <a:blip r:embed="rId2"/>
                <a:stretch>
                  <a:fillRect l="-1163" t="-6034" r="-1628" b="-44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533551" y="848888"/>
            <a:ext cx="5193673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Big-</a:t>
            </a:r>
            <a:r>
              <a:rPr lang="el-GR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(Theta)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5F0A64B-7B5D-46AD-A626-DD78AA7ED916}"/>
              </a:ext>
            </a:extLst>
          </p:cNvPr>
          <p:cNvGrpSpPr/>
          <p:nvPr/>
        </p:nvGrpSpPr>
        <p:grpSpPr>
          <a:xfrm>
            <a:off x="4453163" y="3739224"/>
            <a:ext cx="3943469" cy="2217137"/>
            <a:chOff x="4453166" y="4310353"/>
            <a:chExt cx="3160737" cy="1419412"/>
          </a:xfrm>
        </p:grpSpPr>
        <p:grpSp>
          <p:nvGrpSpPr>
            <p:cNvPr id="5" name="f(n)">
              <a:extLst>
                <a:ext uri="{FF2B5EF4-FFF2-40B4-BE49-F238E27FC236}">
                  <a16:creationId xmlns:a16="http://schemas.microsoft.com/office/drawing/2014/main" id="{0EFA5534-77EE-470E-8580-01EE74D499A4}"/>
                </a:ext>
              </a:extLst>
            </p:cNvPr>
            <p:cNvGrpSpPr/>
            <p:nvPr/>
          </p:nvGrpSpPr>
          <p:grpSpPr>
            <a:xfrm>
              <a:off x="4462099" y="4414302"/>
              <a:ext cx="3151804" cy="1075864"/>
              <a:chOff x="4462099" y="4414302"/>
              <a:chExt cx="3151804" cy="1075864"/>
            </a:xfrm>
          </p:grpSpPr>
          <p:sp>
            <p:nvSpPr>
              <p:cNvPr id="6" name="Freeform 7">
                <a:extLst>
                  <a:ext uri="{FF2B5EF4-FFF2-40B4-BE49-F238E27FC236}">
                    <a16:creationId xmlns:a16="http://schemas.microsoft.com/office/drawing/2014/main" id="{EBA65909-1B92-45E3-82AA-E6869890533B}"/>
                  </a:ext>
                </a:extLst>
              </p:cNvPr>
              <p:cNvSpPr/>
              <p:nvPr/>
            </p:nvSpPr>
            <p:spPr>
              <a:xfrm>
                <a:off x="4462099" y="4611255"/>
                <a:ext cx="2558461" cy="878911"/>
              </a:xfrm>
              <a:custGeom>
                <a:avLst/>
                <a:gdLst>
                  <a:gd name="connsiteX0" fmla="*/ 124557 w 5909131"/>
                  <a:gd name="connsiteY0" fmla="*/ 3528392 h 3528392"/>
                  <a:gd name="connsiteX1" fmla="*/ 442609 w 5909131"/>
                  <a:gd name="connsiteY1" fmla="*/ 3120887 h 3528392"/>
                  <a:gd name="connsiteX2" fmla="*/ 3742401 w 5909131"/>
                  <a:gd name="connsiteY2" fmla="*/ 2743200 h 3528392"/>
                  <a:gd name="connsiteX3" fmla="*/ 5909131 w 5909131"/>
                  <a:gd name="connsiteY3" fmla="*/ 0 h 3528392"/>
                  <a:gd name="connsiteX4" fmla="*/ 5909131 w 5909131"/>
                  <a:gd name="connsiteY4" fmla="*/ 0 h 3528392"/>
                  <a:gd name="connsiteX0" fmla="*/ 50508 w 5835082"/>
                  <a:gd name="connsiteY0" fmla="*/ 3528392 h 3528392"/>
                  <a:gd name="connsiteX1" fmla="*/ 368560 w 5835082"/>
                  <a:gd name="connsiteY1" fmla="*/ 3120887 h 3528392"/>
                  <a:gd name="connsiteX2" fmla="*/ 3668352 w 5835082"/>
                  <a:gd name="connsiteY2" fmla="*/ 2743200 h 3528392"/>
                  <a:gd name="connsiteX3" fmla="*/ 5835082 w 5835082"/>
                  <a:gd name="connsiteY3" fmla="*/ 0 h 3528392"/>
                  <a:gd name="connsiteX4" fmla="*/ 5835082 w 5835082"/>
                  <a:gd name="connsiteY4" fmla="*/ 0 h 3528392"/>
                  <a:gd name="connsiteX0" fmla="*/ 0 w 5784574"/>
                  <a:gd name="connsiteY0" fmla="*/ 3528392 h 3528392"/>
                  <a:gd name="connsiteX1" fmla="*/ 318052 w 5784574"/>
                  <a:gd name="connsiteY1" fmla="*/ 3120887 h 3528392"/>
                  <a:gd name="connsiteX2" fmla="*/ 3617844 w 5784574"/>
                  <a:gd name="connsiteY2" fmla="*/ 2743200 h 3528392"/>
                  <a:gd name="connsiteX3" fmla="*/ 5784574 w 5784574"/>
                  <a:gd name="connsiteY3" fmla="*/ 0 h 3528392"/>
                  <a:gd name="connsiteX4" fmla="*/ 5784574 w 5784574"/>
                  <a:gd name="connsiteY4" fmla="*/ 0 h 3528392"/>
                  <a:gd name="connsiteX0" fmla="*/ 0 w 5784574"/>
                  <a:gd name="connsiteY0" fmla="*/ 3528392 h 3528392"/>
                  <a:gd name="connsiteX1" fmla="*/ 318052 w 5784574"/>
                  <a:gd name="connsiteY1" fmla="*/ 3120887 h 3528392"/>
                  <a:gd name="connsiteX2" fmla="*/ 3617844 w 5784574"/>
                  <a:gd name="connsiteY2" fmla="*/ 2743200 h 3528392"/>
                  <a:gd name="connsiteX3" fmla="*/ 5784574 w 5784574"/>
                  <a:gd name="connsiteY3" fmla="*/ 0 h 3528392"/>
                  <a:gd name="connsiteX4" fmla="*/ 5784574 w 5784574"/>
                  <a:gd name="connsiteY4" fmla="*/ 0 h 3528392"/>
                  <a:gd name="connsiteX0" fmla="*/ 62459 w 5847033"/>
                  <a:gd name="connsiteY0" fmla="*/ 3528392 h 3528392"/>
                  <a:gd name="connsiteX1" fmla="*/ 380511 w 5847033"/>
                  <a:gd name="connsiteY1" fmla="*/ 3120887 h 3528392"/>
                  <a:gd name="connsiteX2" fmla="*/ 4137503 w 5847033"/>
                  <a:gd name="connsiteY2" fmla="*/ 2315818 h 3528392"/>
                  <a:gd name="connsiteX3" fmla="*/ 5847033 w 5847033"/>
                  <a:gd name="connsiteY3" fmla="*/ 0 h 3528392"/>
                  <a:gd name="connsiteX4" fmla="*/ 5847033 w 5847033"/>
                  <a:gd name="connsiteY4" fmla="*/ 0 h 3528392"/>
                  <a:gd name="connsiteX0" fmla="*/ 0 w 5784574"/>
                  <a:gd name="connsiteY0" fmla="*/ 3528392 h 3528392"/>
                  <a:gd name="connsiteX1" fmla="*/ 576470 w 5784574"/>
                  <a:gd name="connsiteY1" fmla="*/ 3061253 h 3528392"/>
                  <a:gd name="connsiteX2" fmla="*/ 4075044 w 5784574"/>
                  <a:gd name="connsiteY2" fmla="*/ 2315818 h 3528392"/>
                  <a:gd name="connsiteX3" fmla="*/ 5784574 w 5784574"/>
                  <a:gd name="connsiteY3" fmla="*/ 0 h 3528392"/>
                  <a:gd name="connsiteX4" fmla="*/ 5784574 w 5784574"/>
                  <a:gd name="connsiteY4" fmla="*/ 0 h 3528392"/>
                  <a:gd name="connsiteX0" fmla="*/ 0 w 5784574"/>
                  <a:gd name="connsiteY0" fmla="*/ 3528392 h 3528392"/>
                  <a:gd name="connsiteX1" fmla="*/ 576470 w 5784574"/>
                  <a:gd name="connsiteY1" fmla="*/ 3061253 h 3528392"/>
                  <a:gd name="connsiteX2" fmla="*/ 4075044 w 5784574"/>
                  <a:gd name="connsiteY2" fmla="*/ 2315818 h 3528392"/>
                  <a:gd name="connsiteX3" fmla="*/ 5784574 w 5784574"/>
                  <a:gd name="connsiteY3" fmla="*/ 0 h 3528392"/>
                  <a:gd name="connsiteX4" fmla="*/ 5784574 w 5784574"/>
                  <a:gd name="connsiteY4" fmla="*/ 0 h 3528392"/>
                  <a:gd name="connsiteX0" fmla="*/ 0 w 5784574"/>
                  <a:gd name="connsiteY0" fmla="*/ 3528392 h 3528392"/>
                  <a:gd name="connsiteX1" fmla="*/ 576470 w 5784574"/>
                  <a:gd name="connsiteY1" fmla="*/ 3061253 h 3528392"/>
                  <a:gd name="connsiteX2" fmla="*/ 4142396 w 5784574"/>
                  <a:gd name="connsiteY2" fmla="*/ 2518165 h 3528392"/>
                  <a:gd name="connsiteX3" fmla="*/ 5784574 w 5784574"/>
                  <a:gd name="connsiteY3" fmla="*/ 0 h 3528392"/>
                  <a:gd name="connsiteX4" fmla="*/ 5784574 w 5784574"/>
                  <a:gd name="connsiteY4" fmla="*/ 0 h 3528392"/>
                  <a:gd name="connsiteX0" fmla="*/ 0 w 5784574"/>
                  <a:gd name="connsiteY0" fmla="*/ 3528392 h 3528392"/>
                  <a:gd name="connsiteX1" fmla="*/ 576471 w 5784574"/>
                  <a:gd name="connsiteY1" fmla="*/ 3203646 h 3528392"/>
                  <a:gd name="connsiteX2" fmla="*/ 4142396 w 5784574"/>
                  <a:gd name="connsiteY2" fmla="*/ 2518165 h 3528392"/>
                  <a:gd name="connsiteX3" fmla="*/ 5784574 w 5784574"/>
                  <a:gd name="connsiteY3" fmla="*/ 0 h 3528392"/>
                  <a:gd name="connsiteX4" fmla="*/ 5784574 w 5784574"/>
                  <a:gd name="connsiteY4" fmla="*/ 0 h 3528392"/>
                  <a:gd name="connsiteX0" fmla="*/ 0 w 5784574"/>
                  <a:gd name="connsiteY0" fmla="*/ 3528392 h 3528392"/>
                  <a:gd name="connsiteX1" fmla="*/ 576471 w 5784574"/>
                  <a:gd name="connsiteY1" fmla="*/ 3203646 h 3528392"/>
                  <a:gd name="connsiteX2" fmla="*/ 4142396 w 5784574"/>
                  <a:gd name="connsiteY2" fmla="*/ 2518165 h 3528392"/>
                  <a:gd name="connsiteX3" fmla="*/ 5784574 w 5784574"/>
                  <a:gd name="connsiteY3" fmla="*/ 0 h 3528392"/>
                  <a:gd name="connsiteX4" fmla="*/ 5784574 w 5784574"/>
                  <a:gd name="connsiteY4" fmla="*/ 0 h 3528392"/>
                  <a:gd name="connsiteX0" fmla="*/ 0 w 5784574"/>
                  <a:gd name="connsiteY0" fmla="*/ 3663293 h 3663293"/>
                  <a:gd name="connsiteX1" fmla="*/ 576471 w 5784574"/>
                  <a:gd name="connsiteY1" fmla="*/ 3203646 h 3663293"/>
                  <a:gd name="connsiteX2" fmla="*/ 4142396 w 5784574"/>
                  <a:gd name="connsiteY2" fmla="*/ 2518165 h 3663293"/>
                  <a:gd name="connsiteX3" fmla="*/ 5784574 w 5784574"/>
                  <a:gd name="connsiteY3" fmla="*/ 0 h 3663293"/>
                  <a:gd name="connsiteX4" fmla="*/ 5784574 w 5784574"/>
                  <a:gd name="connsiteY4" fmla="*/ 0 h 3663293"/>
                  <a:gd name="connsiteX0" fmla="*/ 0 w 5784574"/>
                  <a:gd name="connsiteY0" fmla="*/ 3663293 h 3663293"/>
                  <a:gd name="connsiteX1" fmla="*/ 576471 w 5784574"/>
                  <a:gd name="connsiteY1" fmla="*/ 3203646 h 3663293"/>
                  <a:gd name="connsiteX2" fmla="*/ 4142396 w 5784574"/>
                  <a:gd name="connsiteY2" fmla="*/ 2518165 h 3663293"/>
                  <a:gd name="connsiteX3" fmla="*/ 5784574 w 5784574"/>
                  <a:gd name="connsiteY3" fmla="*/ 0 h 3663293"/>
                  <a:gd name="connsiteX4" fmla="*/ 5784574 w 5784574"/>
                  <a:gd name="connsiteY4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4142396 w 5784574"/>
                  <a:gd name="connsiteY2" fmla="*/ 2518165 h 3663293"/>
                  <a:gd name="connsiteX3" fmla="*/ 5784574 w 5784574"/>
                  <a:gd name="connsiteY3" fmla="*/ 0 h 3663293"/>
                  <a:gd name="connsiteX4" fmla="*/ 5784574 w 5784574"/>
                  <a:gd name="connsiteY4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4079533 w 5784574"/>
                  <a:gd name="connsiteY2" fmla="*/ 2300826 h 3663293"/>
                  <a:gd name="connsiteX3" fmla="*/ 5784574 w 5784574"/>
                  <a:gd name="connsiteY3" fmla="*/ 0 h 3663293"/>
                  <a:gd name="connsiteX4" fmla="*/ 5784574 w 5784574"/>
                  <a:gd name="connsiteY4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4079533 w 5784574"/>
                  <a:gd name="connsiteY2" fmla="*/ 2300826 h 3663293"/>
                  <a:gd name="connsiteX3" fmla="*/ 4925125 w 5784574"/>
                  <a:gd name="connsiteY3" fmla="*/ 1419602 h 3663293"/>
                  <a:gd name="connsiteX4" fmla="*/ 5784574 w 5784574"/>
                  <a:gd name="connsiteY4" fmla="*/ 0 h 3663293"/>
                  <a:gd name="connsiteX5" fmla="*/ 5784574 w 5784574"/>
                  <a:gd name="connsiteY5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4079533 w 5784574"/>
                  <a:gd name="connsiteY2" fmla="*/ 2300826 h 3663293"/>
                  <a:gd name="connsiteX3" fmla="*/ 4925125 w 5784574"/>
                  <a:gd name="connsiteY3" fmla="*/ 1419602 h 3663293"/>
                  <a:gd name="connsiteX4" fmla="*/ 5784574 w 5784574"/>
                  <a:gd name="connsiteY4" fmla="*/ 0 h 3663293"/>
                  <a:gd name="connsiteX5" fmla="*/ 5784574 w 5784574"/>
                  <a:gd name="connsiteY5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4079533 w 5784574"/>
                  <a:gd name="connsiteY2" fmla="*/ 2300826 h 3663293"/>
                  <a:gd name="connsiteX3" fmla="*/ 4909394 w 5784574"/>
                  <a:gd name="connsiteY3" fmla="*/ 1357833 h 3663293"/>
                  <a:gd name="connsiteX4" fmla="*/ 5784574 w 5784574"/>
                  <a:gd name="connsiteY4" fmla="*/ 0 h 3663293"/>
                  <a:gd name="connsiteX5" fmla="*/ 5784574 w 5784574"/>
                  <a:gd name="connsiteY5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4079533 w 5784574"/>
                  <a:gd name="connsiteY2" fmla="*/ 2300826 h 3663293"/>
                  <a:gd name="connsiteX3" fmla="*/ 4909394 w 5784574"/>
                  <a:gd name="connsiteY3" fmla="*/ 1357833 h 3663293"/>
                  <a:gd name="connsiteX4" fmla="*/ 5784574 w 5784574"/>
                  <a:gd name="connsiteY4" fmla="*/ 0 h 3663293"/>
                  <a:gd name="connsiteX5" fmla="*/ 5784574 w 5784574"/>
                  <a:gd name="connsiteY5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4079533 w 5784574"/>
                  <a:gd name="connsiteY2" fmla="*/ 2300826 h 3663293"/>
                  <a:gd name="connsiteX3" fmla="*/ 4909394 w 5784574"/>
                  <a:gd name="connsiteY3" fmla="*/ 1357833 h 3663293"/>
                  <a:gd name="connsiteX4" fmla="*/ 5784574 w 5784574"/>
                  <a:gd name="connsiteY4" fmla="*/ 0 h 3663293"/>
                  <a:gd name="connsiteX5" fmla="*/ 5784574 w 5784574"/>
                  <a:gd name="connsiteY5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3754414 w 5784574"/>
                  <a:gd name="connsiteY2" fmla="*/ 2478415 h 3663293"/>
                  <a:gd name="connsiteX3" fmla="*/ 4909394 w 5784574"/>
                  <a:gd name="connsiteY3" fmla="*/ 1357833 h 3663293"/>
                  <a:gd name="connsiteX4" fmla="*/ 5784574 w 5784574"/>
                  <a:gd name="connsiteY4" fmla="*/ 0 h 3663293"/>
                  <a:gd name="connsiteX5" fmla="*/ 5784574 w 5784574"/>
                  <a:gd name="connsiteY5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3754414 w 5784574"/>
                  <a:gd name="connsiteY2" fmla="*/ 2478415 h 3663293"/>
                  <a:gd name="connsiteX3" fmla="*/ 4872686 w 5784574"/>
                  <a:gd name="connsiteY3" fmla="*/ 1342391 h 3663293"/>
                  <a:gd name="connsiteX4" fmla="*/ 5784574 w 5784574"/>
                  <a:gd name="connsiteY4" fmla="*/ 0 h 3663293"/>
                  <a:gd name="connsiteX5" fmla="*/ 5784574 w 5784574"/>
                  <a:gd name="connsiteY5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3754414 w 5784574"/>
                  <a:gd name="connsiteY2" fmla="*/ 2478415 h 3663293"/>
                  <a:gd name="connsiteX3" fmla="*/ 4872686 w 5784574"/>
                  <a:gd name="connsiteY3" fmla="*/ 1342391 h 3663293"/>
                  <a:gd name="connsiteX4" fmla="*/ 5433780 w 5784574"/>
                  <a:gd name="connsiteY4" fmla="*/ 608864 h 3663293"/>
                  <a:gd name="connsiteX5" fmla="*/ 5784574 w 5784574"/>
                  <a:gd name="connsiteY5" fmla="*/ 0 h 3663293"/>
                  <a:gd name="connsiteX6" fmla="*/ 5784574 w 5784574"/>
                  <a:gd name="connsiteY6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3754414 w 5784574"/>
                  <a:gd name="connsiteY2" fmla="*/ 2478415 h 3663293"/>
                  <a:gd name="connsiteX3" fmla="*/ 4872686 w 5784574"/>
                  <a:gd name="connsiteY3" fmla="*/ 1342391 h 3663293"/>
                  <a:gd name="connsiteX4" fmla="*/ 5470486 w 5784574"/>
                  <a:gd name="connsiteY4" fmla="*/ 632028 h 3663293"/>
                  <a:gd name="connsiteX5" fmla="*/ 5784574 w 5784574"/>
                  <a:gd name="connsiteY5" fmla="*/ 0 h 3663293"/>
                  <a:gd name="connsiteX6" fmla="*/ 5784574 w 5784574"/>
                  <a:gd name="connsiteY6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3754414 w 5784574"/>
                  <a:gd name="connsiteY2" fmla="*/ 2478415 h 3663293"/>
                  <a:gd name="connsiteX3" fmla="*/ 4872686 w 5784574"/>
                  <a:gd name="connsiteY3" fmla="*/ 1342391 h 3663293"/>
                  <a:gd name="connsiteX4" fmla="*/ 5470486 w 5784574"/>
                  <a:gd name="connsiteY4" fmla="*/ 632028 h 3663293"/>
                  <a:gd name="connsiteX5" fmla="*/ 5784574 w 5784574"/>
                  <a:gd name="connsiteY5" fmla="*/ 0 h 3663293"/>
                  <a:gd name="connsiteX6" fmla="*/ 5784574 w 5784574"/>
                  <a:gd name="connsiteY6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3754414 w 5784574"/>
                  <a:gd name="connsiteY2" fmla="*/ 2478415 h 3663293"/>
                  <a:gd name="connsiteX3" fmla="*/ 4872686 w 5784574"/>
                  <a:gd name="connsiteY3" fmla="*/ 1342391 h 3663293"/>
                  <a:gd name="connsiteX4" fmla="*/ 5512261 w 5784574"/>
                  <a:gd name="connsiteY4" fmla="*/ 652532 h 3663293"/>
                  <a:gd name="connsiteX5" fmla="*/ 5784574 w 5784574"/>
                  <a:gd name="connsiteY5" fmla="*/ 0 h 3663293"/>
                  <a:gd name="connsiteX6" fmla="*/ 5784574 w 5784574"/>
                  <a:gd name="connsiteY6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3754414 w 5784574"/>
                  <a:gd name="connsiteY2" fmla="*/ 2478415 h 3663293"/>
                  <a:gd name="connsiteX3" fmla="*/ 4872686 w 5784574"/>
                  <a:gd name="connsiteY3" fmla="*/ 1342391 h 3663293"/>
                  <a:gd name="connsiteX4" fmla="*/ 5512261 w 5784574"/>
                  <a:gd name="connsiteY4" fmla="*/ 652532 h 3663293"/>
                  <a:gd name="connsiteX5" fmla="*/ 5784574 w 5784574"/>
                  <a:gd name="connsiteY5" fmla="*/ 0 h 3663293"/>
                  <a:gd name="connsiteX6" fmla="*/ 5784574 w 5784574"/>
                  <a:gd name="connsiteY6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3754414 w 5784574"/>
                  <a:gd name="connsiteY2" fmla="*/ 2478415 h 3663293"/>
                  <a:gd name="connsiteX3" fmla="*/ 4872686 w 5784574"/>
                  <a:gd name="connsiteY3" fmla="*/ 1342391 h 3663293"/>
                  <a:gd name="connsiteX4" fmla="*/ 5512261 w 5784574"/>
                  <a:gd name="connsiteY4" fmla="*/ 701493 h 3663293"/>
                  <a:gd name="connsiteX5" fmla="*/ 5784574 w 5784574"/>
                  <a:gd name="connsiteY5" fmla="*/ 0 h 3663293"/>
                  <a:gd name="connsiteX6" fmla="*/ 5784574 w 5784574"/>
                  <a:gd name="connsiteY6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3754414 w 5784574"/>
                  <a:gd name="connsiteY2" fmla="*/ 2478415 h 3663293"/>
                  <a:gd name="connsiteX3" fmla="*/ 4872686 w 5784574"/>
                  <a:gd name="connsiteY3" fmla="*/ 1342391 h 3663293"/>
                  <a:gd name="connsiteX4" fmla="*/ 5512261 w 5784574"/>
                  <a:gd name="connsiteY4" fmla="*/ 701493 h 3663293"/>
                  <a:gd name="connsiteX5" fmla="*/ 5784574 w 5784574"/>
                  <a:gd name="connsiteY5" fmla="*/ 0 h 3663293"/>
                  <a:gd name="connsiteX6" fmla="*/ 5784574 w 5784574"/>
                  <a:gd name="connsiteY6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3754414 w 5784574"/>
                  <a:gd name="connsiteY2" fmla="*/ 2478415 h 3663293"/>
                  <a:gd name="connsiteX3" fmla="*/ 4872686 w 5784574"/>
                  <a:gd name="connsiteY3" fmla="*/ 1342391 h 3663293"/>
                  <a:gd name="connsiteX4" fmla="*/ 5512261 w 5784574"/>
                  <a:gd name="connsiteY4" fmla="*/ 701493 h 3663293"/>
                  <a:gd name="connsiteX5" fmla="*/ 5784574 w 5784574"/>
                  <a:gd name="connsiteY5" fmla="*/ 0 h 3663293"/>
                  <a:gd name="connsiteX6" fmla="*/ 5784574 w 5784574"/>
                  <a:gd name="connsiteY6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3754414 w 5784574"/>
                  <a:gd name="connsiteY2" fmla="*/ 2478415 h 3663293"/>
                  <a:gd name="connsiteX3" fmla="*/ 4872686 w 5784574"/>
                  <a:gd name="connsiteY3" fmla="*/ 1342391 h 3663293"/>
                  <a:gd name="connsiteX4" fmla="*/ 5434674 w 5784574"/>
                  <a:gd name="connsiteY4" fmla="*/ 815736 h 3663293"/>
                  <a:gd name="connsiteX5" fmla="*/ 5784574 w 5784574"/>
                  <a:gd name="connsiteY5" fmla="*/ 0 h 3663293"/>
                  <a:gd name="connsiteX6" fmla="*/ 5784574 w 5784574"/>
                  <a:gd name="connsiteY6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3754414 w 5784574"/>
                  <a:gd name="connsiteY2" fmla="*/ 2478415 h 3663293"/>
                  <a:gd name="connsiteX3" fmla="*/ 4872686 w 5784574"/>
                  <a:gd name="connsiteY3" fmla="*/ 1342391 h 3663293"/>
                  <a:gd name="connsiteX4" fmla="*/ 5434674 w 5784574"/>
                  <a:gd name="connsiteY4" fmla="*/ 815736 h 3663293"/>
                  <a:gd name="connsiteX5" fmla="*/ 5784574 w 5784574"/>
                  <a:gd name="connsiteY5" fmla="*/ 0 h 3663293"/>
                  <a:gd name="connsiteX6" fmla="*/ 5784574 w 5784574"/>
                  <a:gd name="connsiteY6" fmla="*/ 0 h 3663293"/>
                  <a:gd name="connsiteX0" fmla="*/ 0 w 5784574"/>
                  <a:gd name="connsiteY0" fmla="*/ 3663293 h 3663293"/>
                  <a:gd name="connsiteX1" fmla="*/ 720156 w 5784574"/>
                  <a:gd name="connsiteY1" fmla="*/ 3271095 h 3663293"/>
                  <a:gd name="connsiteX2" fmla="*/ 3754414 w 5784574"/>
                  <a:gd name="connsiteY2" fmla="*/ 2478415 h 3663293"/>
                  <a:gd name="connsiteX3" fmla="*/ 4872686 w 5784574"/>
                  <a:gd name="connsiteY3" fmla="*/ 1342391 h 3663293"/>
                  <a:gd name="connsiteX4" fmla="*/ 5434674 w 5784574"/>
                  <a:gd name="connsiteY4" fmla="*/ 815736 h 3663293"/>
                  <a:gd name="connsiteX5" fmla="*/ 5784574 w 5784574"/>
                  <a:gd name="connsiteY5" fmla="*/ 0 h 3663293"/>
                  <a:gd name="connsiteX6" fmla="*/ 5784574 w 5784574"/>
                  <a:gd name="connsiteY6" fmla="*/ 0 h 3663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84574" h="3663293">
                    <a:moveTo>
                      <a:pt x="0" y="3663293"/>
                    </a:moveTo>
                    <a:cubicBezTo>
                      <a:pt x="96078" y="3590300"/>
                      <a:pt x="94420" y="3468575"/>
                      <a:pt x="720156" y="3271095"/>
                    </a:cubicBezTo>
                    <a:cubicBezTo>
                      <a:pt x="1345892" y="3073615"/>
                      <a:pt x="3062326" y="2799866"/>
                      <a:pt x="3754414" y="2478415"/>
                    </a:cubicBezTo>
                    <a:cubicBezTo>
                      <a:pt x="4446502" y="2156964"/>
                      <a:pt x="4592792" y="1653983"/>
                      <a:pt x="4872686" y="1342391"/>
                    </a:cubicBezTo>
                    <a:cubicBezTo>
                      <a:pt x="5152580" y="1030799"/>
                      <a:pt x="5282693" y="1039468"/>
                      <a:pt x="5434674" y="815736"/>
                    </a:cubicBezTo>
                    <a:cubicBezTo>
                      <a:pt x="5586655" y="592004"/>
                      <a:pt x="5531997" y="439376"/>
                      <a:pt x="5784574" y="0"/>
                    </a:cubicBezTo>
                    <a:lnTo>
                      <a:pt x="5784574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019C0BF8-3D35-43EF-B8DE-814E1CD49CD4}"/>
                      </a:ext>
                    </a:extLst>
                  </p:cNvPr>
                  <p:cNvSpPr txBox="1"/>
                  <p:nvPr/>
                </p:nvSpPr>
                <p:spPr>
                  <a:xfrm>
                    <a:off x="6929902" y="4414302"/>
                    <a:ext cx="684001" cy="45318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oMath>
                      </m:oMathPara>
                    </a14:m>
                    <a:endParaRPr lang="en-US" sz="2000" dirty="0">
                      <a:solidFill>
                        <a:srgbClr val="0808FF"/>
                      </a:solidFill>
                      <a:latin typeface="Times New Roman" panose="02020603050405020304" pitchFamily="18" charset="0"/>
                      <a:ea typeface="Cambria Math" panose="02040503050406030204" pitchFamily="18" charset="0"/>
                    </a:endParaRPr>
                  </a:p>
                  <a:p>
                    <a:endParaRPr lang="en-US" sz="20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019C0BF8-3D35-43EF-B8DE-814E1CD49C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29902" y="4414302"/>
                    <a:ext cx="684001" cy="45318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043277A9-527B-4764-8F05-7CE141E33361}"/>
                </a:ext>
              </a:extLst>
            </p:cNvPr>
            <p:cNvSpPr/>
            <p:nvPr/>
          </p:nvSpPr>
          <p:spPr>
            <a:xfrm>
              <a:off x="4462097" y="4742613"/>
              <a:ext cx="2563266" cy="807304"/>
            </a:xfrm>
            <a:custGeom>
              <a:avLst/>
              <a:gdLst>
                <a:gd name="connsiteX0" fmla="*/ 0 w 6331226"/>
                <a:gd name="connsiteY0" fmla="*/ 3995530 h 3999539"/>
                <a:gd name="connsiteX1" fmla="*/ 2464905 w 6331226"/>
                <a:gd name="connsiteY1" fmla="*/ 3717234 h 3999539"/>
                <a:gd name="connsiteX2" fmla="*/ 4870174 w 6331226"/>
                <a:gd name="connsiteY2" fmla="*/ 2196548 h 3999539"/>
                <a:gd name="connsiteX3" fmla="*/ 6331226 w 6331226"/>
                <a:gd name="connsiteY3" fmla="*/ 0 h 3999539"/>
                <a:gd name="connsiteX0" fmla="*/ 0 w 5377069"/>
                <a:gd name="connsiteY0" fmla="*/ 2534478 h 2538487"/>
                <a:gd name="connsiteX1" fmla="*/ 2464905 w 5377069"/>
                <a:gd name="connsiteY1" fmla="*/ 2256182 h 2538487"/>
                <a:gd name="connsiteX2" fmla="*/ 4870174 w 5377069"/>
                <a:gd name="connsiteY2" fmla="*/ 735496 h 2538487"/>
                <a:gd name="connsiteX3" fmla="*/ 5377069 w 5377069"/>
                <a:gd name="connsiteY3" fmla="*/ 0 h 2538487"/>
                <a:gd name="connsiteX0" fmla="*/ 0 w 5377069"/>
                <a:gd name="connsiteY0" fmla="*/ 2534478 h 2538487"/>
                <a:gd name="connsiteX1" fmla="*/ 2464905 w 5377069"/>
                <a:gd name="connsiteY1" fmla="*/ 2256182 h 2538487"/>
                <a:gd name="connsiteX2" fmla="*/ 4870174 w 5377069"/>
                <a:gd name="connsiteY2" fmla="*/ 735496 h 2538487"/>
                <a:gd name="connsiteX3" fmla="*/ 5377069 w 5377069"/>
                <a:gd name="connsiteY3" fmla="*/ 0 h 2538487"/>
                <a:gd name="connsiteX0" fmla="*/ 0 w 5377069"/>
                <a:gd name="connsiteY0" fmla="*/ 2534478 h 2538487"/>
                <a:gd name="connsiteX1" fmla="*/ 2464905 w 5377069"/>
                <a:gd name="connsiteY1" fmla="*/ 2256182 h 2538487"/>
                <a:gd name="connsiteX2" fmla="*/ 4870174 w 5377069"/>
                <a:gd name="connsiteY2" fmla="*/ 735496 h 2538487"/>
                <a:gd name="connsiteX3" fmla="*/ 5377069 w 5377069"/>
                <a:gd name="connsiteY3" fmla="*/ 0 h 2538487"/>
                <a:gd name="connsiteX0" fmla="*/ 0 w 5377069"/>
                <a:gd name="connsiteY0" fmla="*/ 2534478 h 2534478"/>
                <a:gd name="connsiteX1" fmla="*/ 4870174 w 5377069"/>
                <a:gd name="connsiteY1" fmla="*/ 735496 h 2534478"/>
                <a:gd name="connsiteX2" fmla="*/ 5377069 w 5377069"/>
                <a:gd name="connsiteY2" fmla="*/ 0 h 2534478"/>
                <a:gd name="connsiteX0" fmla="*/ 0 w 5377069"/>
                <a:gd name="connsiteY0" fmla="*/ 2534478 h 2534478"/>
                <a:gd name="connsiteX1" fmla="*/ 5377069 w 5377069"/>
                <a:gd name="connsiteY1" fmla="*/ 0 h 2534478"/>
                <a:gd name="connsiteX0" fmla="*/ 0 w 5377069"/>
                <a:gd name="connsiteY0" fmla="*/ 2534478 h 2534478"/>
                <a:gd name="connsiteX1" fmla="*/ 5377069 w 5377069"/>
                <a:gd name="connsiteY1" fmla="*/ 0 h 2534478"/>
                <a:gd name="connsiteX0" fmla="*/ 0 w 5377069"/>
                <a:gd name="connsiteY0" fmla="*/ 2534478 h 2534478"/>
                <a:gd name="connsiteX1" fmla="*/ 5377069 w 5377069"/>
                <a:gd name="connsiteY1" fmla="*/ 0 h 2534478"/>
                <a:gd name="connsiteX0" fmla="*/ 0 w 5705060"/>
                <a:gd name="connsiteY0" fmla="*/ 3031435 h 3031435"/>
                <a:gd name="connsiteX1" fmla="*/ 5705060 w 5705060"/>
                <a:gd name="connsiteY1" fmla="*/ 0 h 3031435"/>
                <a:gd name="connsiteX0" fmla="*/ 0 w 5705060"/>
                <a:gd name="connsiteY0" fmla="*/ 3031435 h 3031435"/>
                <a:gd name="connsiteX1" fmla="*/ 5705060 w 5705060"/>
                <a:gd name="connsiteY1" fmla="*/ 0 h 303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060" h="3031435">
                  <a:moveTo>
                    <a:pt x="0" y="3031435"/>
                  </a:moveTo>
                  <a:cubicBezTo>
                    <a:pt x="3124198" y="2544416"/>
                    <a:pt x="4558747" y="1550504"/>
                    <a:pt x="5705060" y="0"/>
                  </a:cubicBezTo>
                </a:path>
              </a:pathLst>
            </a:custGeom>
            <a:noFill/>
            <a:ln w="19050">
              <a:solidFill>
                <a:srgbClr val="080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1" name="1.2g(n)">
              <a:extLst>
                <a:ext uri="{FF2B5EF4-FFF2-40B4-BE49-F238E27FC236}">
                  <a16:creationId xmlns:a16="http://schemas.microsoft.com/office/drawing/2014/main" id="{13032C87-F3D1-482E-AD92-DD06333FCA9F}"/>
                </a:ext>
              </a:extLst>
            </p:cNvPr>
            <p:cNvGrpSpPr/>
            <p:nvPr/>
          </p:nvGrpSpPr>
          <p:grpSpPr>
            <a:xfrm>
              <a:off x="4453166" y="4310353"/>
              <a:ext cx="2970865" cy="1242211"/>
              <a:chOff x="4453166" y="4310353"/>
              <a:chExt cx="2970865" cy="1242211"/>
            </a:xfrm>
          </p:grpSpPr>
          <p:sp>
            <p:nvSpPr>
              <p:cNvPr id="12" name="Freeform 6">
                <a:extLst>
                  <a:ext uri="{FF2B5EF4-FFF2-40B4-BE49-F238E27FC236}">
                    <a16:creationId xmlns:a16="http://schemas.microsoft.com/office/drawing/2014/main" id="{58FF7696-1EF2-4C3B-9B54-671D029670F7}"/>
                  </a:ext>
                </a:extLst>
              </p:cNvPr>
              <p:cNvSpPr/>
              <p:nvPr/>
            </p:nvSpPr>
            <p:spPr>
              <a:xfrm>
                <a:off x="4453166" y="4480880"/>
                <a:ext cx="2558462" cy="1071684"/>
              </a:xfrm>
              <a:custGeom>
                <a:avLst/>
                <a:gdLst>
                  <a:gd name="connsiteX0" fmla="*/ 0 w 5416826"/>
                  <a:gd name="connsiteY0" fmla="*/ 4164495 h 4187368"/>
                  <a:gd name="connsiteX1" fmla="*/ 1659835 w 5416826"/>
                  <a:gd name="connsiteY1" fmla="*/ 3925956 h 4187368"/>
                  <a:gd name="connsiteX2" fmla="*/ 4283765 w 5416826"/>
                  <a:gd name="connsiteY2" fmla="*/ 2305878 h 4187368"/>
                  <a:gd name="connsiteX3" fmla="*/ 5416826 w 5416826"/>
                  <a:gd name="connsiteY3" fmla="*/ 0 h 4187368"/>
                  <a:gd name="connsiteX4" fmla="*/ 5416826 w 5416826"/>
                  <a:gd name="connsiteY4" fmla="*/ 0 h 4187368"/>
                  <a:gd name="connsiteX0" fmla="*/ 0 w 5416826"/>
                  <a:gd name="connsiteY0" fmla="*/ 4164495 h 4164495"/>
                  <a:gd name="connsiteX1" fmla="*/ 1659835 w 5416826"/>
                  <a:gd name="connsiteY1" fmla="*/ 3925956 h 4164495"/>
                  <a:gd name="connsiteX2" fmla="*/ 4283765 w 5416826"/>
                  <a:gd name="connsiteY2" fmla="*/ 2305878 h 4164495"/>
                  <a:gd name="connsiteX3" fmla="*/ 5416826 w 5416826"/>
                  <a:gd name="connsiteY3" fmla="*/ 0 h 4164495"/>
                  <a:gd name="connsiteX4" fmla="*/ 5416826 w 5416826"/>
                  <a:gd name="connsiteY4" fmla="*/ 0 h 4164495"/>
                  <a:gd name="connsiteX0" fmla="*/ 0 w 5416826"/>
                  <a:gd name="connsiteY0" fmla="*/ 4164495 h 4164495"/>
                  <a:gd name="connsiteX1" fmla="*/ 1659835 w 5416826"/>
                  <a:gd name="connsiteY1" fmla="*/ 3925956 h 4164495"/>
                  <a:gd name="connsiteX2" fmla="*/ 4283765 w 5416826"/>
                  <a:gd name="connsiteY2" fmla="*/ 2305878 h 4164495"/>
                  <a:gd name="connsiteX3" fmla="*/ 5416826 w 5416826"/>
                  <a:gd name="connsiteY3" fmla="*/ 0 h 4164495"/>
                  <a:gd name="connsiteX4" fmla="*/ 5416826 w 5416826"/>
                  <a:gd name="connsiteY4" fmla="*/ 0 h 4164495"/>
                  <a:gd name="connsiteX0" fmla="*/ 0 w 5416826"/>
                  <a:gd name="connsiteY0" fmla="*/ 4164495 h 4164495"/>
                  <a:gd name="connsiteX1" fmla="*/ 1659835 w 5416826"/>
                  <a:gd name="connsiteY1" fmla="*/ 3925956 h 4164495"/>
                  <a:gd name="connsiteX2" fmla="*/ 4244008 w 5416826"/>
                  <a:gd name="connsiteY2" fmla="*/ 2176670 h 4164495"/>
                  <a:gd name="connsiteX3" fmla="*/ 5416826 w 5416826"/>
                  <a:gd name="connsiteY3" fmla="*/ 0 h 4164495"/>
                  <a:gd name="connsiteX4" fmla="*/ 5416826 w 5416826"/>
                  <a:gd name="connsiteY4" fmla="*/ 0 h 4164495"/>
                  <a:gd name="connsiteX0" fmla="*/ 0 w 5416826"/>
                  <a:gd name="connsiteY0" fmla="*/ 4164495 h 4164495"/>
                  <a:gd name="connsiteX1" fmla="*/ 1659835 w 5416826"/>
                  <a:gd name="connsiteY1" fmla="*/ 3925956 h 4164495"/>
                  <a:gd name="connsiteX2" fmla="*/ 4244008 w 5416826"/>
                  <a:gd name="connsiteY2" fmla="*/ 2176670 h 4164495"/>
                  <a:gd name="connsiteX3" fmla="*/ 5416826 w 5416826"/>
                  <a:gd name="connsiteY3" fmla="*/ 0 h 4164495"/>
                  <a:gd name="connsiteX4" fmla="*/ 5416826 w 5416826"/>
                  <a:gd name="connsiteY4" fmla="*/ 0 h 4164495"/>
                  <a:gd name="connsiteX0" fmla="*/ 0 w 5416826"/>
                  <a:gd name="connsiteY0" fmla="*/ 4164495 h 4164495"/>
                  <a:gd name="connsiteX1" fmla="*/ 4244008 w 5416826"/>
                  <a:gd name="connsiteY1" fmla="*/ 2176670 h 4164495"/>
                  <a:gd name="connsiteX2" fmla="*/ 5416826 w 5416826"/>
                  <a:gd name="connsiteY2" fmla="*/ 0 h 4164495"/>
                  <a:gd name="connsiteX3" fmla="*/ 5416826 w 5416826"/>
                  <a:gd name="connsiteY3" fmla="*/ 0 h 4164495"/>
                  <a:gd name="connsiteX0" fmla="*/ 0 w 5416826"/>
                  <a:gd name="connsiteY0" fmla="*/ 4164495 h 4164495"/>
                  <a:gd name="connsiteX1" fmla="*/ 4244008 w 5416826"/>
                  <a:gd name="connsiteY1" fmla="*/ 2176670 h 4164495"/>
                  <a:gd name="connsiteX2" fmla="*/ 5416826 w 5416826"/>
                  <a:gd name="connsiteY2" fmla="*/ 0 h 4164495"/>
                  <a:gd name="connsiteX3" fmla="*/ 5416826 w 5416826"/>
                  <a:gd name="connsiteY3" fmla="*/ 0 h 4164495"/>
                  <a:gd name="connsiteX0" fmla="*/ 0 w 5416826"/>
                  <a:gd name="connsiteY0" fmla="*/ 4164495 h 4164495"/>
                  <a:gd name="connsiteX1" fmla="*/ 4244008 w 5416826"/>
                  <a:gd name="connsiteY1" fmla="*/ 2176670 h 4164495"/>
                  <a:gd name="connsiteX2" fmla="*/ 5416826 w 5416826"/>
                  <a:gd name="connsiteY2" fmla="*/ 0 h 4164495"/>
                  <a:gd name="connsiteX3" fmla="*/ 5416826 w 5416826"/>
                  <a:gd name="connsiteY3" fmla="*/ 0 h 4164495"/>
                  <a:gd name="connsiteX0" fmla="*/ 0 w 5416826"/>
                  <a:gd name="connsiteY0" fmla="*/ 4164495 h 4164495"/>
                  <a:gd name="connsiteX1" fmla="*/ 5416826 w 5416826"/>
                  <a:gd name="connsiteY1" fmla="*/ 0 h 4164495"/>
                  <a:gd name="connsiteX2" fmla="*/ 5416826 w 5416826"/>
                  <a:gd name="connsiteY2" fmla="*/ 0 h 4164495"/>
                  <a:gd name="connsiteX0" fmla="*/ 0 w 5416826"/>
                  <a:gd name="connsiteY0" fmla="*/ 4164495 h 4164495"/>
                  <a:gd name="connsiteX1" fmla="*/ 5416826 w 5416826"/>
                  <a:gd name="connsiteY1" fmla="*/ 0 h 4164495"/>
                  <a:gd name="connsiteX2" fmla="*/ 5416826 w 5416826"/>
                  <a:gd name="connsiteY2" fmla="*/ 0 h 4164495"/>
                  <a:gd name="connsiteX0" fmla="*/ 0 w 5416826"/>
                  <a:gd name="connsiteY0" fmla="*/ 4164495 h 4164495"/>
                  <a:gd name="connsiteX1" fmla="*/ 5416826 w 5416826"/>
                  <a:gd name="connsiteY1" fmla="*/ 0 h 4164495"/>
                  <a:gd name="connsiteX2" fmla="*/ 5416826 w 5416826"/>
                  <a:gd name="connsiteY2" fmla="*/ 0 h 4164495"/>
                  <a:gd name="connsiteX0" fmla="*/ 0 w 5416826"/>
                  <a:gd name="connsiteY0" fmla="*/ 4164495 h 4164495"/>
                  <a:gd name="connsiteX1" fmla="*/ 5416826 w 5416826"/>
                  <a:gd name="connsiteY1" fmla="*/ 0 h 4164495"/>
                  <a:gd name="connsiteX2" fmla="*/ 5416826 w 5416826"/>
                  <a:gd name="connsiteY2" fmla="*/ 0 h 4164495"/>
                  <a:gd name="connsiteX0" fmla="*/ 0 w 5907898"/>
                  <a:gd name="connsiteY0" fmla="*/ 4600041 h 4600041"/>
                  <a:gd name="connsiteX1" fmla="*/ 5416826 w 5907898"/>
                  <a:gd name="connsiteY1" fmla="*/ 435546 h 4600041"/>
                  <a:gd name="connsiteX2" fmla="*/ 5724939 w 5907898"/>
                  <a:gd name="connsiteY2" fmla="*/ 37981 h 4600041"/>
                  <a:gd name="connsiteX0" fmla="*/ 0 w 5724939"/>
                  <a:gd name="connsiteY0" fmla="*/ 4562060 h 4562060"/>
                  <a:gd name="connsiteX1" fmla="*/ 5724939 w 5724939"/>
                  <a:gd name="connsiteY1" fmla="*/ 0 h 4562060"/>
                  <a:gd name="connsiteX0" fmla="*/ 0 w 5724939"/>
                  <a:gd name="connsiteY0" fmla="*/ 4562060 h 4562060"/>
                  <a:gd name="connsiteX1" fmla="*/ 5724939 w 5724939"/>
                  <a:gd name="connsiteY1" fmla="*/ 0 h 4562060"/>
                  <a:gd name="connsiteX0" fmla="*/ 0 w 5724939"/>
                  <a:gd name="connsiteY0" fmla="*/ 4562060 h 4562060"/>
                  <a:gd name="connsiteX1" fmla="*/ 5724939 w 5724939"/>
                  <a:gd name="connsiteY1" fmla="*/ 0 h 4562060"/>
                  <a:gd name="connsiteX0" fmla="*/ 0 w 5724939"/>
                  <a:gd name="connsiteY0" fmla="*/ 4562060 h 4562060"/>
                  <a:gd name="connsiteX1" fmla="*/ 5724939 w 5724939"/>
                  <a:gd name="connsiteY1" fmla="*/ 0 h 4562060"/>
                  <a:gd name="connsiteX0" fmla="*/ 0 w 5786081"/>
                  <a:gd name="connsiteY0" fmla="*/ 4245227 h 4245227"/>
                  <a:gd name="connsiteX1" fmla="*/ 5786081 w 5786081"/>
                  <a:gd name="connsiteY1" fmla="*/ 0 h 4245227"/>
                  <a:gd name="connsiteX0" fmla="*/ 0 w 5694367"/>
                  <a:gd name="connsiteY0" fmla="*/ 4024185 h 4024185"/>
                  <a:gd name="connsiteX1" fmla="*/ 5694367 w 5694367"/>
                  <a:gd name="connsiteY1" fmla="*/ 0 h 4024185"/>
                  <a:gd name="connsiteX0" fmla="*/ 0 w 5694367"/>
                  <a:gd name="connsiteY0" fmla="*/ 4024185 h 4024185"/>
                  <a:gd name="connsiteX1" fmla="*/ 5694367 w 5694367"/>
                  <a:gd name="connsiteY1" fmla="*/ 0 h 4024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694367" h="4024185">
                    <a:moveTo>
                      <a:pt x="0" y="4024185"/>
                    </a:moveTo>
                    <a:cubicBezTo>
                      <a:pt x="3329608" y="2930881"/>
                      <a:pt x="4698789" y="2344974"/>
                      <a:pt x="5694367" y="0"/>
                    </a:cubicBezTo>
                  </a:path>
                </a:pathLst>
              </a:custGeom>
              <a:noFill/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4165B9C5-A530-44B2-920E-2E7A63C7091B}"/>
                      </a:ext>
                    </a:extLst>
                  </p:cNvPr>
                  <p:cNvSpPr txBox="1"/>
                  <p:nvPr/>
                </p:nvSpPr>
                <p:spPr>
                  <a:xfrm>
                    <a:off x="6143170" y="4310353"/>
                    <a:ext cx="1280861" cy="2561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dirty="0">
                        <a:solidFill>
                          <a:srgbClr val="548235"/>
                        </a:solidFill>
                        <a:latin typeface="Times New Roman" panose="02020603050405020304" pitchFamily="18" charset="0"/>
                        <a:ea typeface="Cambria Math" panose="02040503050406030204" pitchFamily="18" charset="0"/>
                      </a:rPr>
                      <a:t>1.2</a:t>
                    </a:r>
                    <a:r>
                      <a:rPr lang="en-US" sz="2000" dirty="0">
                        <a:solidFill>
                          <a:srgbClr val="548235"/>
                        </a:solidFill>
                        <a:latin typeface="Times New Roman" panose="02020603050405020304" pitchFamily="18" charset="0"/>
                        <a:ea typeface="Cambria Math" panose="02040503050406030204" pitchFamily="18" charset="0"/>
                      </a:rPr>
                      <a:t>·</a:t>
                    </a:r>
                    <a:r>
                      <a:rPr lang="en-US" sz="800" dirty="0">
                        <a:solidFill>
                          <a:srgbClr val="548235"/>
                        </a:solidFill>
                        <a:latin typeface="Times New Roman" panose="02020603050405020304" pitchFamily="18" charset="0"/>
                        <a:ea typeface="Cambria Math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20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𝐠</m:t>
                        </m:r>
                      </m:oMath>
                    </a14:m>
                    <a:r>
                      <a:rPr lang="en-US" sz="20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Cambria Math" panose="02040503050406030204" pitchFamily="18" charset="0"/>
                      </a:rPr>
                      <a:t>(</a:t>
                    </a:r>
                    <a14:m>
                      <m:oMath xmlns:m="http://schemas.openxmlformats.org/officeDocument/2006/math">
                        <m:r>
                          <a:rPr lang="en-US" sz="2000" smtClean="0">
                            <a:solidFill>
                              <a:srgbClr val="54823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oMath>
                    </a14:m>
                    <a:r>
                      <a:rPr lang="en-US" sz="20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Cambria Math" panose="02040503050406030204" pitchFamily="18" charset="0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4165B9C5-A530-44B2-920E-2E7A63C709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43170" y="4310353"/>
                    <a:ext cx="1280861" cy="25615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575" t="-9375" b="-28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axes">
              <a:extLst>
                <a:ext uri="{FF2B5EF4-FFF2-40B4-BE49-F238E27FC236}">
                  <a16:creationId xmlns:a16="http://schemas.microsoft.com/office/drawing/2014/main" id="{C32EDE73-E16E-473C-8BCE-024385DEA759}"/>
                </a:ext>
              </a:extLst>
            </p:cNvPr>
            <p:cNvGrpSpPr/>
            <p:nvPr/>
          </p:nvGrpSpPr>
          <p:grpSpPr>
            <a:xfrm>
              <a:off x="4453166" y="4313816"/>
              <a:ext cx="2651213" cy="1415949"/>
              <a:chOff x="4453166" y="4313816"/>
              <a:chExt cx="2651213" cy="1415949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483B0CB-694B-4CB6-BC6D-D16D75A2A353}"/>
                  </a:ext>
                </a:extLst>
              </p:cNvPr>
              <p:cNvCxnSpPr>
                <a:stCxn id="12" idx="0"/>
              </p:cNvCxnSpPr>
              <p:nvPr/>
            </p:nvCxnSpPr>
            <p:spPr>
              <a:xfrm>
                <a:off x="4453166" y="5552564"/>
                <a:ext cx="2630252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02E8D72-FBD0-4ED5-8C41-EA3E04DFDDD8}"/>
                  </a:ext>
                </a:extLst>
              </p:cNvPr>
              <p:cNvCxnSpPr/>
              <p:nvPr/>
            </p:nvCxnSpPr>
            <p:spPr>
              <a:xfrm flipV="1">
                <a:off x="4453166" y="4313816"/>
                <a:ext cx="0" cy="12387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D60E946-82FE-45DC-994A-565C63D079FE}"/>
                      </a:ext>
                    </a:extLst>
                  </p:cNvPr>
                  <p:cNvSpPr txBox="1"/>
                  <p:nvPr/>
                </p:nvSpPr>
                <p:spPr>
                  <a:xfrm>
                    <a:off x="6011075" y="5478171"/>
                    <a:ext cx="1093304" cy="2515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d>
                          <m:dPr>
                            <m:begChr m:val=""/>
                            <m:endChr m:val=""/>
                            <m:ctrlPr>
                              <a:rPr lang="en-US" sz="2000" i="1">
                                <a:solidFill>
                                  <a:srgbClr val="003A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n</m:t>
                            </m:r>
                          </m:e>
                        </m:d>
                      </m:oMath>
                    </a14:m>
                    <a:r>
                      <a:rPr lang="en-US" dirty="0">
                        <a:latin typeface="Times New Roman" panose="02020603050405020304" pitchFamily="18" charset="0"/>
                      </a:rPr>
                      <a:t>-axis</a:t>
                    </a: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0D60E946-82FE-45DC-994A-565C63D079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11075" y="5478171"/>
                    <a:ext cx="1093304" cy="25159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3226" b="-225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16DC509-C196-40DD-84A6-5DC58361EDAB}"/>
                  </a:ext>
                </a:extLst>
              </p:cNvPr>
              <p:cNvSpPr txBox="1"/>
              <p:nvPr/>
            </p:nvSpPr>
            <p:spPr>
              <a:xfrm>
                <a:off x="7573747" y="4236803"/>
                <a:ext cx="159805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0808FF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0.9</a:t>
                </a:r>
                <a:r>
                  <a:rPr lang="en-US" dirty="0">
                    <a:solidFill>
                      <a:srgbClr val="0808FF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·</a:t>
                </a:r>
                <a14:m>
                  <m:oMath xmlns:m="http://schemas.openxmlformats.org/officeDocument/2006/math">
                    <m:r>
                      <a:rPr lang="en-US" sz="800">
                        <a:solidFill>
                          <a:srgbClr val="0808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>
                        <a:solidFill>
                          <a:srgbClr val="0808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𝐠</m:t>
                    </m:r>
                  </m:oMath>
                </a14:m>
                <a:r>
                  <a:rPr lang="en-US" sz="2000" dirty="0">
                    <a:solidFill>
                      <a:srgbClr val="0808FF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smtClean="0">
                        <a:solidFill>
                          <a:srgbClr val="0808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dirty="0">
                    <a:solidFill>
                      <a:srgbClr val="0808FF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16DC509-C196-40DD-84A6-5DC58361E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747" y="4236803"/>
                <a:ext cx="1598057" cy="400110"/>
              </a:xfrm>
              <a:prstGeom prst="rect">
                <a:avLst/>
              </a:prstGeom>
              <a:blipFill>
                <a:blip r:embed="rId6"/>
                <a:stretch>
                  <a:fillRect l="-2362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o f(n) is O(g(n)">
                <a:extLst>
                  <a:ext uri="{FF2B5EF4-FFF2-40B4-BE49-F238E27FC236}">
                    <a16:creationId xmlns:a16="http://schemas.microsoft.com/office/drawing/2014/main" id="{9A3C0887-4544-47C4-8C86-BEB8DA520D5E}"/>
                  </a:ext>
                </a:extLst>
              </p:cNvPr>
              <p:cNvSpPr/>
              <p:nvPr/>
            </p:nvSpPr>
            <p:spPr>
              <a:xfrm>
                <a:off x="8756658" y="4322882"/>
                <a:ext cx="2106038" cy="494655"/>
              </a:xfrm>
              <a:prstGeom prst="wedgeRoundRectCallout">
                <a:avLst>
                  <a:gd name="adj1" fmla="val -74253"/>
                  <a:gd name="adj2" fmla="val -102009"/>
                  <a:gd name="adj3" fmla="val 16667"/>
                </a:avLst>
              </a:prstGeom>
              <a:solidFill>
                <a:srgbClr val="996633"/>
              </a:solidFill>
              <a:ln w="63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is</m:t>
                    </m:r>
                    <m:r>
                      <a:rPr lang="en-US" sz="24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l-GR" sz="2400" dirty="0" smtClean="0">
                        <a:solidFill>
                          <a:schemeClr val="tx1"/>
                        </a:solidFill>
                      </a:rPr>
                      <m:t>θ</m:t>
                    </m:r>
                    <m:r>
                      <m:rPr>
                        <m:nor/>
                      </m:rPr>
                      <a:rPr lang="en-US" sz="2400" dirty="0" smtClean="0">
                        <a:solidFill>
                          <a:schemeClr val="tx1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24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g</m:t>
                    </m:r>
                    <m:r>
                      <m:rPr>
                        <m:nor/>
                      </m:rPr>
                      <a:rPr lang="en-US" sz="22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m:rPr>
                        <m:nor/>
                      </m:rPr>
                      <a: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So f(n) is O(g(n)">
                <a:extLst>
                  <a:ext uri="{FF2B5EF4-FFF2-40B4-BE49-F238E27FC236}">
                    <a16:creationId xmlns:a16="http://schemas.microsoft.com/office/drawing/2014/main" id="{9A3C0887-4544-47C4-8C86-BEB8DA520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658" y="4322882"/>
                <a:ext cx="2106038" cy="494655"/>
              </a:xfrm>
              <a:prstGeom prst="wedgeRoundRectCallout">
                <a:avLst>
                  <a:gd name="adj1" fmla="val -74253"/>
                  <a:gd name="adj2" fmla="val -102009"/>
                  <a:gd name="adj3" fmla="val 16667"/>
                </a:avLst>
              </a:prstGeom>
              <a:blipFill>
                <a:blip r:embed="rId7"/>
                <a:stretch>
                  <a:fillRect/>
                </a:stretch>
              </a:blipFill>
              <a:ln w="63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0173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>
            <a:extLst>
              <a:ext uri="{FF2B5EF4-FFF2-40B4-BE49-F238E27FC236}">
                <a16:creationId xmlns:a16="http://schemas.microsoft.com/office/drawing/2014/main" id="{BB49B0BF-852B-4CF9-A9A6-4F12F84FB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862" y="876698"/>
            <a:ext cx="9693166" cy="702795"/>
          </a:xfrm>
        </p:spPr>
        <p:txBody>
          <a:bodyPr>
            <a:noAutofit/>
          </a:bodyPr>
          <a:lstStyle/>
          <a:p>
            <a:r>
              <a:rPr lang="en-US" sz="32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Note That Mathematically, Some Functions Don’t Have A Standard Big-</a:t>
            </a:r>
            <a:r>
              <a:rPr lang="el-GR" sz="32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θ</a:t>
            </a:r>
            <a:r>
              <a:rPr lang="en-US" sz="32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 Description</a:t>
            </a:r>
          </a:p>
        </p:txBody>
      </p:sp>
      <p:pic>
        <p:nvPicPr>
          <p:cNvPr id="13" name="greenNoTheta" descr=" 13">
            <a:extLst>
              <a:ext uri="{FF2B5EF4-FFF2-40B4-BE49-F238E27FC236}">
                <a16:creationId xmlns:a16="http://schemas.microsoft.com/office/drawing/2014/main" id="{72A157C0-4AA6-4E5C-857D-21B36F23F88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906" y="2190158"/>
            <a:ext cx="5613540" cy="42101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6308AA-ED2D-795E-0FA3-E5D9C611CF60}"/>
                  </a:ext>
                </a:extLst>
              </p:cNvPr>
              <p:cNvSpPr txBox="1"/>
              <p:nvPr/>
            </p:nvSpPr>
            <p:spPr>
              <a:xfrm>
                <a:off x="496019" y="2708694"/>
                <a:ext cx="526642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smtClean="0">
                        <a:solidFill>
                          <a:srgbClr val="0E654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3200" dirty="0">
                    <a:solidFill>
                      <a:srgbClr val="00523E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200" smtClean="0">
                        <a:solidFill>
                          <a:srgbClr val="28605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rgbClr val="28605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3200" baseline="300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+0.1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rgbClr val="28605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3200" baseline="300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·sin</a:t>
                </a:r>
                <a:r>
                  <a:rPr lang="en-US" sz="3200" baseline="300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(3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rgbClr val="28605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3200" baseline="30000" dirty="0">
                    <a:solidFill>
                      <a:srgbClr val="00523E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1/2</a:t>
                </a:r>
                <a:r>
                  <a:rPr lang="en-US" sz="3200" dirty="0">
                    <a:solidFill>
                      <a:srgbClr val="00523E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)</a:t>
                </a:r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6308AA-ED2D-795E-0FA3-E5D9C611C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9" y="2708694"/>
                <a:ext cx="5266426" cy="584775"/>
              </a:xfrm>
              <a:prstGeom prst="rect">
                <a:avLst/>
              </a:prstGeom>
              <a:blipFill>
                <a:blip r:embed="rId4"/>
                <a:stretch>
                  <a:fillRect l="-1683"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545272"/>
      </p:ext>
    </p:extLst>
  </p:cSld>
  <p:clrMapOvr>
    <a:masterClrMapping/>
  </p:clrMapOvr>
  <p:transition spd="med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>
            <a:extLst>
              <a:ext uri="{FF2B5EF4-FFF2-40B4-BE49-F238E27FC236}">
                <a16:creationId xmlns:a16="http://schemas.microsoft.com/office/drawing/2014/main" id="{BB49B0BF-852B-4CF9-A9A6-4F12F84FB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099" y="984208"/>
            <a:ext cx="9693166" cy="702795"/>
          </a:xfrm>
        </p:spPr>
        <p:txBody>
          <a:bodyPr>
            <a:noAutofit/>
          </a:bodyPr>
          <a:lstStyle/>
          <a:p>
            <a:r>
              <a:rPr lang="en-US" sz="32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Note That Mathematically, Some Functions Don’t Have A Standard Big-</a:t>
            </a:r>
            <a:r>
              <a:rPr lang="el-GR" sz="32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θ</a:t>
            </a:r>
            <a:r>
              <a:rPr lang="en-US" sz="32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 Description</a:t>
            </a:r>
          </a:p>
        </p:txBody>
      </p:sp>
      <p:pic>
        <p:nvPicPr>
          <p:cNvPr id="7" name="withRedUpper" descr=" 12">
            <a:extLst>
              <a:ext uri="{FF2B5EF4-FFF2-40B4-BE49-F238E27FC236}">
                <a16:creationId xmlns:a16="http://schemas.microsoft.com/office/drawing/2014/main" id="{28605E48-283F-4E6E-887A-94C4F6D6EA9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230" y="2319427"/>
            <a:ext cx="5334000" cy="4000500"/>
          </a:xfrm>
          <a:prstGeom prst="rect">
            <a:avLst/>
          </a:prstGeom>
        </p:spPr>
      </p:pic>
      <p:pic>
        <p:nvPicPr>
          <p:cNvPr id="13" name="greenNoTheta" descr=" 13">
            <a:extLst>
              <a:ext uri="{FF2B5EF4-FFF2-40B4-BE49-F238E27FC236}">
                <a16:creationId xmlns:a16="http://schemas.microsoft.com/office/drawing/2014/main" id="{72A157C0-4AA6-4E5C-857D-21B36F23F88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230" y="2319427"/>
            <a:ext cx="5334000" cy="4000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O(n3)" descr=" 7">
                <a:extLst>
                  <a:ext uri="{FF2B5EF4-FFF2-40B4-BE49-F238E27FC236}">
                    <a16:creationId xmlns:a16="http://schemas.microsoft.com/office/drawing/2014/main" id="{93CD062D-E89B-4279-9FFF-DBA5A1C7615F}"/>
                  </a:ext>
                </a:extLst>
              </p:cNvPr>
              <p:cNvSpPr/>
              <p:nvPr/>
            </p:nvSpPr>
            <p:spPr>
              <a:xfrm>
                <a:off x="517585" y="2333318"/>
                <a:ext cx="2790645" cy="2911542"/>
              </a:xfrm>
              <a:prstGeom prst="wedgeRoundRectCallout">
                <a:avLst>
                  <a:gd name="adj1" fmla="val 198770"/>
                  <a:gd name="adj2" fmla="val 724"/>
                  <a:gd name="adj3" fmla="val 16667"/>
                </a:avLst>
              </a:prstGeom>
              <a:solidFill>
                <a:srgbClr val="00B0F0"/>
              </a:solidFill>
              <a:ln w="63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Upper bound is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smtClean="0">
                        <a:solidFill>
                          <a:srgbClr val="99009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sz="2800" baseline="30000" dirty="0">
                    <a:solidFill>
                      <a:srgbClr val="99009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sz="2800" dirty="0">
                    <a:solidFill>
                      <a:srgbClr val="99009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+0.1</a:t>
                </a:r>
                <a:r>
                  <a:rPr lang="en-US" sz="2800" b="1" dirty="0">
                    <a:solidFill>
                      <a:srgbClr val="990099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99009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sz="2800" baseline="30000" dirty="0">
                    <a:solidFill>
                      <a:srgbClr val="99009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so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E654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en-US" sz="2800" dirty="0">
                    <a:solidFill>
                      <a:srgbClr val="00523E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28605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sz="28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is </a:t>
                </a:r>
                <a:r>
                  <a:rPr lang="en-US" sz="2800" dirty="0">
                    <a:solidFill>
                      <a:srgbClr val="9900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sz="2800" b="1" dirty="0">
                    <a:solidFill>
                      <a:srgbClr val="990099"/>
                    </a:solidFill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smtClean="0">
                        <a:solidFill>
                          <a:srgbClr val="99009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sz="2800" baseline="30000" dirty="0">
                    <a:solidFill>
                      <a:srgbClr val="99009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3 </a:t>
                </a:r>
                <a:r>
                  <a:rPr lang="en-US" sz="2800" b="1" dirty="0">
                    <a:solidFill>
                      <a:srgbClr val="990099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, and that’s  a tight upper bound</a:t>
                </a:r>
                <a:endParaRPr lang="en-US" sz="2800" baseline="30000" dirty="0">
                  <a:solidFill>
                    <a:srgbClr val="990099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O(n3)" descr=" 7">
                <a:extLst>
                  <a:ext uri="{FF2B5EF4-FFF2-40B4-BE49-F238E27FC236}">
                    <a16:creationId xmlns:a16="http://schemas.microsoft.com/office/drawing/2014/main" id="{93CD062D-E89B-4279-9FFF-DBA5A1C761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85" y="2333318"/>
                <a:ext cx="2790645" cy="2911542"/>
              </a:xfrm>
              <a:prstGeom prst="wedgeRoundRectCallout">
                <a:avLst>
                  <a:gd name="adj1" fmla="val 198770"/>
                  <a:gd name="adj2" fmla="val 724"/>
                  <a:gd name="adj3" fmla="val 16667"/>
                </a:avLst>
              </a:prstGeom>
              <a:blipFill>
                <a:blip r:embed="rId4"/>
                <a:stretch>
                  <a:fillRect/>
                </a:stretch>
              </a:blipFill>
              <a:ln w="63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388EAA-18A5-9296-EECD-52E233FC2B52}"/>
                  </a:ext>
                </a:extLst>
              </p:cNvPr>
              <p:cNvSpPr txBox="1"/>
              <p:nvPr/>
            </p:nvSpPr>
            <p:spPr>
              <a:xfrm>
                <a:off x="3877574" y="1897811"/>
                <a:ext cx="526642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smtClean="0">
                        <a:solidFill>
                          <a:srgbClr val="0E654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3200" dirty="0">
                    <a:solidFill>
                      <a:srgbClr val="00523E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200" smtClean="0">
                        <a:solidFill>
                          <a:srgbClr val="28605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rgbClr val="28605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3200" baseline="300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+0.1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rgbClr val="28605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3200" baseline="300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·sin</a:t>
                </a:r>
                <a:r>
                  <a:rPr lang="en-US" sz="3200" baseline="300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(3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rgbClr val="28605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3200" baseline="30000" dirty="0">
                    <a:solidFill>
                      <a:srgbClr val="00523E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1/2</a:t>
                </a:r>
                <a:r>
                  <a:rPr lang="en-US" sz="3200" dirty="0">
                    <a:solidFill>
                      <a:srgbClr val="00523E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)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388EAA-18A5-9296-EECD-52E233FC2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574" y="1897811"/>
                <a:ext cx="5266426" cy="584775"/>
              </a:xfrm>
              <a:prstGeom prst="rect">
                <a:avLst/>
              </a:prstGeom>
              <a:blipFill>
                <a:blip r:embed="rId5"/>
                <a:stretch>
                  <a:fillRect l="-1928"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7872232"/>
      </p:ext>
    </p:extLst>
  </p:cSld>
  <p:clrMapOvr>
    <a:masterClrMapping/>
  </p:clrMapOvr>
  <p:transition spd="med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>
            <a:extLst>
              <a:ext uri="{FF2B5EF4-FFF2-40B4-BE49-F238E27FC236}">
                <a16:creationId xmlns:a16="http://schemas.microsoft.com/office/drawing/2014/main" id="{BB49B0BF-852B-4CF9-A9A6-4F12F84FB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12" y="984208"/>
            <a:ext cx="9693166" cy="702795"/>
          </a:xfrm>
        </p:spPr>
        <p:txBody>
          <a:bodyPr>
            <a:noAutofit/>
          </a:bodyPr>
          <a:lstStyle/>
          <a:p>
            <a:r>
              <a:rPr lang="en-US" sz="32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Note That Mathematically, Some Functions Don’t Have A Standard Big-</a:t>
            </a:r>
            <a:r>
              <a:rPr lang="el-GR" sz="32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θ</a:t>
            </a:r>
            <a:r>
              <a:rPr lang="en-US" sz="32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 Description</a:t>
            </a:r>
          </a:p>
        </p:txBody>
      </p:sp>
      <p:pic>
        <p:nvPicPr>
          <p:cNvPr id="7" name="withRedUpper" descr=" 12">
            <a:extLst>
              <a:ext uri="{FF2B5EF4-FFF2-40B4-BE49-F238E27FC236}">
                <a16:creationId xmlns:a16="http://schemas.microsoft.com/office/drawing/2014/main" id="{28605E48-283F-4E6E-887A-94C4F6D6EA9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230" y="2319427"/>
            <a:ext cx="5334000" cy="4000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388EAA-18A5-9296-EECD-52E233FC2B52}"/>
                  </a:ext>
                </a:extLst>
              </p:cNvPr>
              <p:cNvSpPr txBox="1"/>
              <p:nvPr/>
            </p:nvSpPr>
            <p:spPr>
              <a:xfrm>
                <a:off x="3877574" y="1897811"/>
                <a:ext cx="526642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smtClean="0">
                        <a:solidFill>
                          <a:srgbClr val="0E654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3200" dirty="0">
                    <a:solidFill>
                      <a:srgbClr val="00523E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200" smtClean="0">
                        <a:solidFill>
                          <a:srgbClr val="28605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rgbClr val="28605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3200" baseline="300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+0.1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rgbClr val="28605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3200" baseline="300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·sin</a:t>
                </a:r>
                <a:r>
                  <a:rPr lang="en-US" sz="3200" baseline="300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sz="32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(3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rgbClr val="28605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3200" baseline="30000" dirty="0">
                    <a:solidFill>
                      <a:srgbClr val="00523E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1/2</a:t>
                </a:r>
                <a:r>
                  <a:rPr lang="en-US" sz="3200" dirty="0">
                    <a:solidFill>
                      <a:srgbClr val="00523E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)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388EAA-18A5-9296-EECD-52E233FC2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574" y="1897811"/>
                <a:ext cx="5266426" cy="584775"/>
              </a:xfrm>
              <a:prstGeom prst="rect">
                <a:avLst/>
              </a:prstGeom>
              <a:blipFill>
                <a:blip r:embed="rId3"/>
                <a:stretch>
                  <a:fillRect l="-1928"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withBlueLower" descr=" 10">
            <a:extLst>
              <a:ext uri="{FF2B5EF4-FFF2-40B4-BE49-F238E27FC236}">
                <a16:creationId xmlns:a16="http://schemas.microsoft.com/office/drawing/2014/main" id="{02901421-405F-027C-5C14-68FD7F1107A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230" y="2319427"/>
            <a:ext cx="5334000" cy="4000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Omega(n2)" descr=" 8">
                <a:extLst>
                  <a:ext uri="{FF2B5EF4-FFF2-40B4-BE49-F238E27FC236}">
                    <a16:creationId xmlns:a16="http://schemas.microsoft.com/office/drawing/2014/main" id="{5CCAD359-BD15-B522-8FBF-E54957D20B01}"/>
                  </a:ext>
                </a:extLst>
              </p:cNvPr>
              <p:cNvSpPr/>
              <p:nvPr/>
            </p:nvSpPr>
            <p:spPr>
              <a:xfrm>
                <a:off x="8295222" y="2482587"/>
                <a:ext cx="3040833" cy="1638476"/>
              </a:xfrm>
              <a:prstGeom prst="wedgeRoundRectCallout">
                <a:avLst>
                  <a:gd name="adj1" fmla="val -61105"/>
                  <a:gd name="adj2" fmla="val 125735"/>
                  <a:gd name="adj3" fmla="val 16667"/>
                </a:avLst>
              </a:prstGeom>
              <a:solidFill>
                <a:srgbClr val="00B0F0"/>
              </a:solidFill>
              <a:ln w="63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lower bound is </a:t>
                </a:r>
                <a14:m>
                  <m:oMath xmlns:m="http://schemas.openxmlformats.org/officeDocument/2006/math">
                    <m:r>
                      <a:rPr lang="en-US" sz="2800" smtClean="0">
                        <a:solidFill>
                          <a:srgbClr val="0D03DB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sz="2800" baseline="30000" dirty="0">
                    <a:solidFill>
                      <a:srgbClr val="0D03DB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sz="2800" baseline="30000" dirty="0">
                    <a:solidFill>
                      <a:srgbClr val="0D03DB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E654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en-US" sz="2800" dirty="0">
                    <a:solidFill>
                      <a:srgbClr val="00523E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28605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sz="28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 </a:t>
                </a:r>
                <a:r>
                  <a:rPr lang="el-GR" sz="2800" dirty="0">
                    <a:solidFill>
                      <a:srgbClr val="0D03DB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Ω</a:t>
                </a:r>
                <a:r>
                  <a:rPr lang="en-US" sz="2800" dirty="0">
                    <a:solidFill>
                      <a:srgbClr val="0D03DB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D03DB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sz="2800" baseline="30000" dirty="0">
                    <a:solidFill>
                      <a:srgbClr val="0D03DB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sz="2800" dirty="0">
                    <a:solidFill>
                      <a:srgbClr val="0D03DB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also tight</a:t>
                </a:r>
                <a:endParaRPr lang="en-US" sz="2800" baseline="30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Omega(n2)" descr=" 8">
                <a:extLst>
                  <a:ext uri="{FF2B5EF4-FFF2-40B4-BE49-F238E27FC236}">
                    <a16:creationId xmlns:a16="http://schemas.microsoft.com/office/drawing/2014/main" id="{5CCAD359-BD15-B522-8FBF-E54957D20B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222" y="2482587"/>
                <a:ext cx="3040833" cy="1638476"/>
              </a:xfrm>
              <a:prstGeom prst="wedgeRoundRectCallout">
                <a:avLst>
                  <a:gd name="adj1" fmla="val -61105"/>
                  <a:gd name="adj2" fmla="val 125735"/>
                  <a:gd name="adj3" fmla="val 16667"/>
                </a:avLst>
              </a:prstGeom>
              <a:blipFill>
                <a:blip r:embed="rId5"/>
                <a:stretch>
                  <a:fillRect/>
                </a:stretch>
              </a:blipFill>
              <a:ln w="63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2004382"/>
      </p:ext>
    </p:extLst>
  </p:cSld>
  <p:clrMapOvr>
    <a:masterClrMapping/>
  </p:clrMapOvr>
  <p:transition spd="med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>
            <a:extLst>
              <a:ext uri="{FF2B5EF4-FFF2-40B4-BE49-F238E27FC236}">
                <a16:creationId xmlns:a16="http://schemas.microsoft.com/office/drawing/2014/main" id="{BB49B0BF-852B-4CF9-A9A6-4F12F84FB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161" y="941674"/>
            <a:ext cx="9693166" cy="702795"/>
          </a:xfrm>
        </p:spPr>
        <p:txBody>
          <a:bodyPr>
            <a:noAutofit/>
          </a:bodyPr>
          <a:lstStyle/>
          <a:p>
            <a:r>
              <a:rPr lang="en-US" sz="32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Note That Mathematically, Some Functions Don’t Have A Standard Big-</a:t>
            </a:r>
            <a:r>
              <a:rPr lang="el-GR" sz="32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θ</a:t>
            </a:r>
            <a:r>
              <a:rPr lang="en-US" sz="32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 Description</a:t>
            </a:r>
          </a:p>
        </p:txBody>
      </p:sp>
      <p:pic>
        <p:nvPicPr>
          <p:cNvPr id="9" name="withBlueLower" descr=" 10">
            <a:extLst>
              <a:ext uri="{FF2B5EF4-FFF2-40B4-BE49-F238E27FC236}">
                <a16:creationId xmlns:a16="http://schemas.microsoft.com/office/drawing/2014/main" id="{F47FEBAC-EE18-4980-BA1F-91187FDB2EF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607" y="1891430"/>
            <a:ext cx="6474393" cy="48557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But f(n) has" descr=" 9">
                <a:extLst>
                  <a:ext uri="{FF2B5EF4-FFF2-40B4-BE49-F238E27FC236}">
                    <a16:creationId xmlns:a16="http://schemas.microsoft.com/office/drawing/2014/main" id="{B4C7DCE6-8F6E-4CE4-9778-275AC54A0B7F}"/>
                  </a:ext>
                </a:extLst>
              </p:cNvPr>
              <p:cNvSpPr/>
              <p:nvPr/>
            </p:nvSpPr>
            <p:spPr>
              <a:xfrm>
                <a:off x="257505" y="2151284"/>
                <a:ext cx="5460102" cy="3335116"/>
              </a:xfrm>
              <a:prstGeom prst="flowChartAlternateProcess">
                <a:avLst/>
              </a:prstGeom>
              <a:solidFill>
                <a:srgbClr val="00B0F0"/>
              </a:solidFill>
              <a:ln w="63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E654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en-US" sz="2800" dirty="0">
                    <a:solidFill>
                      <a:srgbClr val="00523E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28605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sz="28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no big-</a:t>
                </a:r>
                <a:r>
                  <a:rPr lang="el-GR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description ‒ there is no “standard” function 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g(</a:t>
                </a:r>
                <a14:m>
                  <m:oMath xmlns:m="http://schemas.openxmlformats.org/officeDocument/2006/math">
                    <m:r>
                      <a:rPr 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we can bound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E654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en-US" sz="2800" dirty="0">
                    <a:solidFill>
                      <a:srgbClr val="00523E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28605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sz="2800" dirty="0">
                    <a:solidFill>
                      <a:srgbClr val="286059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below by 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∙g(</a:t>
                </a:r>
                <a14:m>
                  <m:oMath xmlns:m="http://schemas.openxmlformats.org/officeDocument/2006/math">
                    <m:r>
                      <a:rPr 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 f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some constant 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also 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bound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it from above by 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·g(</a:t>
                </a:r>
                <a14:m>
                  <m:oMath xmlns:m="http://schemas.openxmlformats.org/officeDocument/2006/math">
                    <m:r>
                      <a:rPr 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some other constant 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br>
                  <a:rPr lang="en-US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</a:b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But f(n) has" descr=" 9">
                <a:extLst>
                  <a:ext uri="{FF2B5EF4-FFF2-40B4-BE49-F238E27FC236}">
                    <a16:creationId xmlns:a16="http://schemas.microsoft.com/office/drawing/2014/main" id="{B4C7DCE6-8F6E-4CE4-9778-275AC54A0B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2151284"/>
                <a:ext cx="5460102" cy="3335116"/>
              </a:xfrm>
              <a:prstGeom prst="flowChartAlternateProcess">
                <a:avLst/>
              </a:prstGeom>
              <a:blipFill>
                <a:blip r:embed="rId3"/>
                <a:stretch>
                  <a:fillRect/>
                </a:stretch>
              </a:blipFill>
              <a:ln w="63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5935533"/>
      </p:ext>
    </p:extLst>
  </p:cSld>
  <p:clrMapOvr>
    <a:masterClrMapping/>
  </p:clrMapOvr>
  <p:transition spd="med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54" y="1405388"/>
            <a:ext cx="11381253" cy="2434799"/>
          </a:xfrm>
        </p:spPr>
        <p:txBody>
          <a:bodyPr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3200" dirty="0"/>
          </a:p>
          <a:p>
            <a:pPr>
              <a:spcBef>
                <a:spcPts val="0"/>
              </a:spcBef>
              <a:spcAft>
                <a:spcPts val="800"/>
              </a:spcAft>
              <a:buFont typeface="Wingdings" pitchFamily="2" charset="2"/>
              <a:buChar char="Ø"/>
            </a:pPr>
            <a:r>
              <a:rPr lang="en-US" sz="3200" dirty="0"/>
              <a:t>Execution times can be influenced by hardware differences like CPU speed, RAM speed, and Disk I/O speed. They can be impacted by system load, background processes, compiler optimizations.</a:t>
            </a:r>
          </a:p>
          <a:p>
            <a:pPr>
              <a:spcBef>
                <a:spcPts val="0"/>
              </a:spcBef>
              <a:spcAft>
                <a:spcPts val="800"/>
              </a:spcAft>
              <a:buFont typeface="Wingdings" pitchFamily="2" charset="2"/>
              <a:buChar char="Ø"/>
            </a:pPr>
            <a:endParaRPr lang="en-US" sz="3200" dirty="0"/>
          </a:p>
          <a:p>
            <a:pPr>
              <a:spcBef>
                <a:spcPts val="0"/>
              </a:spcBef>
              <a:spcAft>
                <a:spcPts val="800"/>
              </a:spcAft>
              <a:buFont typeface="Wingdings" pitchFamily="2" charset="2"/>
              <a:buChar char="Ø"/>
            </a:pPr>
            <a:r>
              <a:rPr lang="en-US" sz="3200" dirty="0"/>
              <a:t>We use what is generically called O-notation to describe the complexity of our algorithms and data structures, independent of execution platform and programming language.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4740275" algn="l"/>
              </a:tabLst>
            </a:pPr>
            <a:endParaRPr lang="en-US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726508" y="714814"/>
            <a:ext cx="5193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6005880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6418" y="1433964"/>
                <a:ext cx="11610806" cy="2434799"/>
              </a:xfrm>
            </p:spPr>
            <p:txBody>
              <a:bodyPr anchor="t" anchorCtr="0"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US" sz="3200" dirty="0"/>
              </a:p>
              <a:p>
                <a:pPr marL="0" indent="0"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3200" dirty="0"/>
                  <a:t>People often say O-notation without differentiating between: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rgbClr val="0070C0"/>
                    </a:solidFill>
                  </a:rPr>
                  <a:t>O(</a:t>
                </a:r>
                <a:r>
                  <a:rPr lang="en-US" sz="240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g(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)</a:t>
                </a:r>
                <a:r>
                  <a:rPr lang="en-US" sz="2400" dirty="0">
                    <a:solidFill>
                      <a:srgbClr val="0070C0"/>
                    </a:solidFill>
                  </a:rPr>
                  <a:t>) </a:t>
                </a:r>
                <a:r>
                  <a:rPr lang="en-US" sz="2400" dirty="0"/>
                  <a:t>the algorithm and/or data structure is always better than (grows more slowly than) some constant times </a:t>
                </a:r>
                <a:r>
                  <a:rPr lang="en-US" sz="2400" dirty="0">
                    <a:ea typeface="Cambria Math" panose="02040503050406030204" pitchFamily="18" charset="0"/>
                  </a:rPr>
                  <a:t>g(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)</a:t>
                </a:r>
                <a:r>
                  <a:rPr lang="en-US" sz="2400" dirty="0"/>
                  <a:t>, where the constant will depend on the compiler and the execution hardware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rgbClr val="0070C0"/>
                    </a:solidFill>
                  </a:rPr>
                  <a:t>Ω(</a:t>
                </a:r>
                <a:r>
                  <a:rPr lang="en-US" sz="240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g(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)</a:t>
                </a:r>
                <a:r>
                  <a:rPr lang="en-US" sz="2400" dirty="0">
                    <a:solidFill>
                      <a:srgbClr val="0070C0"/>
                    </a:solidFill>
                  </a:rPr>
                  <a:t>)</a:t>
                </a:r>
                <a:r>
                  <a:rPr lang="en-US" sz="2400" dirty="0"/>
                  <a:t>, sometimes written as o(</a:t>
                </a:r>
                <a:r>
                  <a:rPr lang="en-US" sz="2400" dirty="0">
                    <a:ea typeface="Cambria Math" panose="02040503050406030204" pitchFamily="18" charset="0"/>
                  </a:rPr>
                  <a:t>g(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)</a:t>
                </a:r>
                <a:r>
                  <a:rPr lang="en-US" sz="2400" dirty="0"/>
                  <a:t>), pronounced “little-o”, meaning that our algorithm is worse than (grows more rapidly than) some constant times </a:t>
                </a:r>
                <a:r>
                  <a:rPr lang="en-US" sz="2400" dirty="0">
                    <a:ea typeface="Cambria Math" panose="02040503050406030204" pitchFamily="18" charset="0"/>
                  </a:rPr>
                  <a:t>g(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)</a:t>
                </a:r>
              </a:p>
              <a:p>
                <a:pPr>
                  <a:buFont typeface="Wingdings" pitchFamily="2" charset="2"/>
                  <a:buChar char="Ø"/>
                </a:pPr>
                <a:endParaRPr lang="en-US" sz="2400" dirty="0"/>
              </a:p>
              <a:p>
                <a:pPr>
                  <a:buFont typeface="Wingdings" pitchFamily="2" charset="2"/>
                  <a:buChar char="Ø"/>
                </a:pPr>
                <a:r>
                  <a:rPr lang="el-GR" sz="2400" dirty="0">
                    <a:solidFill>
                      <a:srgbClr val="0070C0"/>
                    </a:solidFill>
                  </a:rPr>
                  <a:t>θ</a:t>
                </a:r>
                <a:r>
                  <a:rPr lang="en-US" sz="2400" dirty="0">
                    <a:solidFill>
                      <a:srgbClr val="0070C0"/>
                    </a:solidFill>
                  </a:rPr>
                  <a:t>(</a:t>
                </a:r>
                <a:r>
                  <a:rPr lang="en-US" sz="240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g(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)</a:t>
                </a:r>
                <a:r>
                  <a:rPr lang="en-US" sz="2400" dirty="0">
                    <a:solidFill>
                      <a:srgbClr val="0070C0"/>
                    </a:solidFill>
                  </a:rPr>
                  <a:t>) </a:t>
                </a:r>
                <a:r>
                  <a:rPr lang="en-US" sz="2400" dirty="0"/>
                  <a:t>meaning that our algorithm is both big-O and big-Ω of the same function, </a:t>
                </a:r>
                <a:r>
                  <a:rPr lang="en-US" sz="2400" dirty="0">
                    <a:ea typeface="Cambria Math" panose="02040503050406030204" pitchFamily="18" charset="0"/>
                  </a:rPr>
                  <a:t>g(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)</a:t>
                </a:r>
                <a:r>
                  <a:rPr lang="en-US" sz="2400" dirty="0"/>
                  <a:t>, which means that its growth rate eventually looks very much like some function  of the </a:t>
                </a:r>
                <a:r>
                  <a:rPr lang="en-US" sz="2400" dirty="0">
                    <a:ea typeface="Cambria Math" panose="02040503050406030204" pitchFamily="18" charset="0"/>
                  </a:rPr>
                  <a:t>g(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)</a:t>
                </a:r>
                <a:r>
                  <a:rPr lang="en-US" sz="2400" dirty="0"/>
                  <a:t> family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  <a:tabLst>
                    <a:tab pos="4740275" algn="l"/>
                  </a:tabLst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6418" y="1433964"/>
                <a:ext cx="11610806" cy="2434799"/>
              </a:xfrm>
              <a:blipFill>
                <a:blip r:embed="rId3"/>
                <a:stretch>
                  <a:fillRect l="-1311" r="-765" b="-112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726508" y="714814"/>
            <a:ext cx="5193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296478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Questions?</a:t>
            </a: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B528F-C1D6-6A71-72B2-AB340AFCD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cap="none" dirty="0"/>
              <a:t>In 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5434B-7F5B-280B-2749-07313FA12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>
            <a:normAutofit/>
          </a:bodyPr>
          <a:lstStyle/>
          <a:p>
            <a:pPr marL="0" indent="0">
              <a:buNone/>
            </a:pPr>
            <a:r>
              <a:rPr lang="en-US" sz="2800" dirty="0"/>
              <a:t>Create a C program that reads an integer n (at most 25) and then reads a list of n numbers and prints the list in reverse order. </a:t>
            </a:r>
          </a:p>
          <a:p>
            <a:pPr marL="0" indent="0">
              <a:buNone/>
            </a:pPr>
            <a:r>
              <a:rPr lang="en-US" sz="2800" dirty="0"/>
              <a:t>(Do not use any dynamic memory allocation. We expand on this example to use dynamic memory allocation in Lect5.)</a:t>
            </a:r>
          </a:p>
        </p:txBody>
      </p:sp>
      <p:pic>
        <p:nvPicPr>
          <p:cNvPr id="5" name="Picture 4" descr="A black and white screen with numbers&#10;&#10;AI-generated content may be incorrect.">
            <a:extLst>
              <a:ext uri="{FF2B5EF4-FFF2-40B4-BE49-F238E27FC236}">
                <a16:creationId xmlns:a16="http://schemas.microsoft.com/office/drawing/2014/main" id="{1FC776C4-1B22-1BD3-765A-CD8EA813C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61" y="4113538"/>
            <a:ext cx="4603143" cy="2592061"/>
          </a:xfrm>
          <a:prstGeom prst="rect">
            <a:avLst/>
          </a:prstGeom>
        </p:spPr>
      </p:pic>
      <p:pic>
        <p:nvPicPr>
          <p:cNvPr id="7" name="Picture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75607980-D807-3629-5B55-72F8F7C54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738" y="3822700"/>
            <a:ext cx="39878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3746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B3C96-4442-A725-8B64-2A5955EBA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A277-D960-372E-D78B-365CBA03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cap="none" dirty="0"/>
              <a:t>In Class Exercise -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81978-62A5-33CA-7EC6-66DCBAE72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>
            <a:normAutofit/>
          </a:bodyPr>
          <a:lstStyle/>
          <a:p>
            <a:pPr marL="0" indent="0">
              <a:buNone/>
            </a:pPr>
            <a:r>
              <a:rPr lang="en-US" sz="3200" dirty="0"/>
              <a:t>Add error handling.  If the user types in a number that is &lt; 1, &gt;25, or not a number, re-prompt.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28B435-100B-D98E-F259-1BB50CF1C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021339"/>
            <a:ext cx="44704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0354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7137</TotalTime>
  <Words>3034</Words>
  <Application>Microsoft Macintosh PowerPoint</Application>
  <PresentationFormat>Widescreen</PresentationFormat>
  <Paragraphs>401</Paragraphs>
  <Slides>33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-webkit-standard</vt:lpstr>
      <vt:lpstr>Arial</vt:lpstr>
      <vt:lpstr>Cambria Math</vt:lpstr>
      <vt:lpstr>Times New Roman</vt:lpstr>
      <vt:lpstr>Wingdings</vt:lpstr>
      <vt:lpstr>Wingdings 2</vt:lpstr>
      <vt:lpstr>Custom</vt:lpstr>
      <vt:lpstr>RUNTIME ANALYSIS Cont.</vt:lpstr>
      <vt:lpstr>PowerPoint Presentation</vt:lpstr>
      <vt:lpstr>Fill in the Values</vt:lpstr>
      <vt:lpstr>Fill in the Values -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Problem:  The Bound Provided By An O(g(n)) Function Is Not Unique And Need Not Be Tight</vt:lpstr>
      <vt:lpstr>PowerPoint Presentation</vt:lpstr>
      <vt:lpstr>Note That Mathematically, Some Functions Don’t Have A Standard Big-θ Description</vt:lpstr>
      <vt:lpstr>Note That Mathematically, Some Functions Don’t Have A Standard Big-θ Description</vt:lpstr>
      <vt:lpstr>Note That Mathematically, Some Functions Don’t Have A Standard Big-θ Description</vt:lpstr>
      <vt:lpstr>Note That Mathematically, Some Functions Don’t Have A Standard Big-θ Description</vt:lpstr>
      <vt:lpstr>PowerPoint Presentation</vt:lpstr>
      <vt:lpstr>PowerPoint Presentation</vt:lpstr>
      <vt:lpstr>Questions?</vt:lpstr>
      <vt:lpstr>In Class Exercise</vt:lpstr>
      <vt:lpstr>In Class Exercise - Challenge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CS399 Run Time Analysis </dc:title>
  <dc:creator>Marriott, Heather H</dc:creator>
  <cp:lastModifiedBy>Marriott, Heather H</cp:lastModifiedBy>
  <cp:revision>51</cp:revision>
  <dcterms:created xsi:type="dcterms:W3CDTF">2024-05-27T01:44:40Z</dcterms:created>
  <dcterms:modified xsi:type="dcterms:W3CDTF">2026-08-28T17:08:02Z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