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37"/>
  </p:notesMasterIdLst>
  <p:handoutMasterIdLst>
    <p:handoutMasterId r:id="rId38"/>
  </p:handoutMasterIdLst>
  <p:sldIdLst>
    <p:sldId id="256" r:id="rId5"/>
    <p:sldId id="580" r:id="rId6"/>
    <p:sldId id="581" r:id="rId7"/>
    <p:sldId id="582" r:id="rId8"/>
    <p:sldId id="583" r:id="rId9"/>
    <p:sldId id="577" r:id="rId10"/>
    <p:sldId id="584" r:id="rId11"/>
    <p:sldId id="585" r:id="rId12"/>
    <p:sldId id="586" r:id="rId13"/>
    <p:sldId id="340" r:id="rId14"/>
    <p:sldId id="371" r:id="rId15"/>
    <p:sldId id="259" r:id="rId16"/>
    <p:sldId id="561" r:id="rId17"/>
    <p:sldId id="263" r:id="rId18"/>
    <p:sldId id="265" r:id="rId19"/>
    <p:sldId id="563" r:id="rId20"/>
    <p:sldId id="572" r:id="rId21"/>
    <p:sldId id="562" r:id="rId22"/>
    <p:sldId id="567" r:id="rId23"/>
    <p:sldId id="568" r:id="rId24"/>
    <p:sldId id="589" r:id="rId25"/>
    <p:sldId id="590" r:id="rId26"/>
    <p:sldId id="564" r:id="rId27"/>
    <p:sldId id="570" r:id="rId28"/>
    <p:sldId id="588" r:id="rId29"/>
    <p:sldId id="591" r:id="rId30"/>
    <p:sldId id="272" r:id="rId31"/>
    <p:sldId id="313" r:id="rId32"/>
    <p:sldId id="573" r:id="rId33"/>
    <p:sldId id="282" r:id="rId34"/>
    <p:sldId id="260" r:id="rId35"/>
    <p:sldId id="587"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66" autoAdjust="0"/>
    <p:restoredTop sz="92146" autoAdjust="0"/>
  </p:normalViewPr>
  <p:slideViewPr>
    <p:cSldViewPr snapToGrid="0">
      <p:cViewPr varScale="1">
        <p:scale>
          <a:sx n="97" d="100"/>
          <a:sy n="97" d="100"/>
        </p:scale>
        <p:origin x="752" y="20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Times New Roman" panose="02020603050405020304" pitchFamily="18" charset="0"/>
            </a:endParaRPr>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latin typeface="Times New Roman" panose="02020603050405020304" pitchFamily="18" charset="0"/>
              </a:rPr>
              <a:t>9/16/26</a:t>
            </a:fld>
            <a:endParaRPr lang="en-US" dirty="0">
              <a:latin typeface="Times New Roman" panose="02020603050405020304" pitchFamily="18" charset="0"/>
            </a:endParaRPr>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Times New Roman" panose="02020603050405020304" pitchFamily="18" charset="0"/>
            </a:endParaRPr>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latin typeface="Times New Roman" panose="02020603050405020304" pitchFamily="18" charset="0"/>
              </a:rPr>
              <a:t>‹#›</a:t>
            </a:fld>
            <a:endParaRPr lang="en-US" dirty="0">
              <a:latin typeface="Times New Roman" panose="02020603050405020304" pitchFamily="18" charset="0"/>
            </a:endParaRPr>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imes New Roman" panose="02020603050405020304" pitchFamily="18"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imes New Roman" panose="02020603050405020304" pitchFamily="18" charset="0"/>
              </a:defRPr>
            </a:lvl1pPr>
          </a:lstStyle>
          <a:p>
            <a:fld id="{C732326A-4C88-4AFB-AA5B-5919D81DFF5B}" type="datetimeFigureOut">
              <a:rPr lang="en-US" smtClean="0"/>
              <a:pPr/>
              <a:t>9/16/26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imes New Roman" panose="02020603050405020304" pitchFamily="18"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imes New Roman" panose="02020603050405020304" pitchFamily="18" charset="0"/>
              </a:defRPr>
            </a:lvl1pPr>
          </a:lstStyle>
          <a:p>
            <a:fld id="{C6B3AB32-59DF-41F1-9618-EDFBF5049629}" type="slidenum">
              <a:rPr lang="en-US" smtClean="0"/>
              <a:pPr/>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imes New Roman" panose="02020603050405020304" pitchFamily="18" charset="0"/>
        <a:ea typeface="+mn-ea"/>
        <a:cs typeface="+mn-cs"/>
      </a:defRPr>
    </a:lvl1pPr>
    <a:lvl2pPr marL="457200" algn="l" defTabSz="914400" rtl="0" eaLnBrk="1" latinLnBrk="0" hangingPunct="1">
      <a:defRPr sz="1200" b="0" i="0" kern="1200">
        <a:solidFill>
          <a:schemeClr val="tx1"/>
        </a:solidFill>
        <a:latin typeface="Times New Roman" panose="02020603050405020304" pitchFamily="18" charset="0"/>
        <a:ea typeface="+mn-ea"/>
        <a:cs typeface="+mn-cs"/>
      </a:defRPr>
    </a:lvl2pPr>
    <a:lvl3pPr marL="914400" algn="l" defTabSz="914400" rtl="0" eaLnBrk="1" latinLnBrk="0" hangingPunct="1">
      <a:defRPr sz="1200" b="0" i="0" kern="1200">
        <a:solidFill>
          <a:schemeClr val="tx1"/>
        </a:solidFill>
        <a:latin typeface="Times New Roman" panose="02020603050405020304" pitchFamily="18" charset="0"/>
        <a:ea typeface="+mn-ea"/>
        <a:cs typeface="+mn-cs"/>
      </a:defRPr>
    </a:lvl3pPr>
    <a:lvl4pPr marL="1371600" algn="l" defTabSz="914400" rtl="0" eaLnBrk="1" latinLnBrk="0" hangingPunct="1">
      <a:defRPr sz="1200" b="0" i="0" kern="1200">
        <a:solidFill>
          <a:schemeClr val="tx1"/>
        </a:solidFill>
        <a:latin typeface="Times New Roman" panose="02020603050405020304" pitchFamily="18" charset="0"/>
        <a:ea typeface="+mn-ea"/>
        <a:cs typeface="+mn-cs"/>
      </a:defRPr>
    </a:lvl4pPr>
    <a:lvl5pPr marL="1828800" algn="l" defTabSz="914400" rtl="0" eaLnBrk="1" latinLnBrk="0" hangingPunct="1">
      <a:defRPr sz="1200" b="0" i="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2</a:t>
            </a:fld>
            <a:endParaRPr lang="en-US"/>
          </a:p>
        </p:txBody>
      </p:sp>
    </p:spTree>
    <p:extLst>
      <p:ext uri="{BB962C8B-B14F-4D97-AF65-F5344CB8AC3E}">
        <p14:creationId xmlns:p14="http://schemas.microsoft.com/office/powerpoint/2010/main" val="3371452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3</a:t>
            </a:fld>
            <a:endParaRPr lang="en-US"/>
          </a:p>
        </p:txBody>
      </p:sp>
    </p:spTree>
    <p:extLst>
      <p:ext uri="{BB962C8B-B14F-4D97-AF65-F5344CB8AC3E}">
        <p14:creationId xmlns:p14="http://schemas.microsoft.com/office/powerpoint/2010/main" val="3964174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4</a:t>
            </a:fld>
            <a:endParaRPr lang="en-US"/>
          </a:p>
        </p:txBody>
      </p:sp>
    </p:spTree>
    <p:extLst>
      <p:ext uri="{BB962C8B-B14F-4D97-AF65-F5344CB8AC3E}">
        <p14:creationId xmlns:p14="http://schemas.microsoft.com/office/powerpoint/2010/main" val="1209887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5</a:t>
            </a:fld>
            <a:endParaRPr lang="en-US"/>
          </a:p>
        </p:txBody>
      </p:sp>
    </p:spTree>
    <p:extLst>
      <p:ext uri="{BB962C8B-B14F-4D97-AF65-F5344CB8AC3E}">
        <p14:creationId xmlns:p14="http://schemas.microsoft.com/office/powerpoint/2010/main" val="4145701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finding O(n)</a:t>
            </a:r>
          </a:p>
          <a:p>
            <a:r>
              <a:rPr lang="en-US" dirty="0"/>
              <a:t>for removing: finding what you need to remove is O(n) and the removal process is O(1)</a:t>
            </a:r>
          </a:p>
          <a:p>
            <a:r>
              <a:rPr lang="en-US" dirty="0"/>
              <a:t>adding O(1) if you need to add somewhere specific it might take longer</a:t>
            </a:r>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6</a:t>
            </a:fld>
            <a:endParaRPr lang="en-US"/>
          </a:p>
        </p:txBody>
      </p:sp>
    </p:spTree>
    <p:extLst>
      <p:ext uri="{BB962C8B-B14F-4D97-AF65-F5344CB8AC3E}">
        <p14:creationId xmlns:p14="http://schemas.microsoft.com/office/powerpoint/2010/main" val="582226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a:solidFill>
                  <a:schemeClr val="tx1"/>
                </a:solidFill>
                <a:effectLst/>
                <a:latin typeface="Times New Roman" panose="02020603050405020304" pitchFamily="18" charset="0"/>
                <a:ea typeface="+mn-ea"/>
                <a:cs typeface="+mn-cs"/>
              </a:rPr>
              <a:t>Generated with AI</a:t>
            </a:r>
            <a:r>
              <a:rPr lang="en-US" sz="1200" b="0" i="0" kern="1200" dirty="0">
                <a:solidFill>
                  <a:schemeClr val="tx1"/>
                </a:solidFill>
                <a:effectLst/>
                <a:latin typeface="Times New Roman" panose="02020603050405020304" pitchFamily="18" charset="0"/>
                <a:ea typeface="+mn-ea"/>
                <a:cs typeface="+mn-cs"/>
              </a:rPr>
              <a:t> ∙ September 16, 2024 at 1:02 PM</a:t>
            </a:r>
          </a:p>
          <a:p>
            <a:r>
              <a:rPr lang="en-US" sz="1200" b="0" i="0" kern="1200" dirty="0">
                <a:solidFill>
                  <a:schemeClr val="tx1"/>
                </a:solidFill>
                <a:effectLst/>
                <a:latin typeface="Times New Roman" panose="02020603050405020304" pitchFamily="18" charset="0"/>
                <a:ea typeface="+mn-ea"/>
                <a:cs typeface="+mn-cs"/>
              </a:rPr>
              <a:t>Bing.com/images</a:t>
            </a:r>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7</a:t>
            </a:fld>
            <a:endParaRPr lang="en-US"/>
          </a:p>
        </p:txBody>
      </p:sp>
    </p:spTree>
    <p:extLst>
      <p:ext uri="{BB962C8B-B14F-4D97-AF65-F5344CB8AC3E}">
        <p14:creationId xmlns:p14="http://schemas.microsoft.com/office/powerpoint/2010/main" val="3273063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8</a:t>
            </a:fld>
            <a:endParaRPr lang="en-US"/>
          </a:p>
        </p:txBody>
      </p:sp>
    </p:spTree>
    <p:extLst>
      <p:ext uri="{BB962C8B-B14F-4D97-AF65-F5344CB8AC3E}">
        <p14:creationId xmlns:p14="http://schemas.microsoft.com/office/powerpoint/2010/main" val="23536176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a:solidFill>
                  <a:schemeClr val="tx1"/>
                </a:solidFill>
                <a:effectLst/>
                <a:latin typeface="Times New Roman" panose="02020603050405020304" pitchFamily="18" charset="0"/>
                <a:ea typeface="+mn-ea"/>
                <a:cs typeface="+mn-cs"/>
              </a:rPr>
              <a:t>Generated with AI</a:t>
            </a:r>
            <a:r>
              <a:rPr lang="en-US" sz="1200" b="0" i="0" kern="1200" dirty="0">
                <a:solidFill>
                  <a:schemeClr val="tx1"/>
                </a:solidFill>
                <a:effectLst/>
                <a:latin typeface="Times New Roman" panose="02020603050405020304" pitchFamily="18" charset="0"/>
                <a:ea typeface="+mn-ea"/>
                <a:cs typeface="+mn-cs"/>
              </a:rPr>
              <a:t> ∙ September 16, 2024 at 1:02 PM</a:t>
            </a:r>
          </a:p>
          <a:p>
            <a:r>
              <a:rPr lang="en-US" sz="1200" b="0" i="0" kern="1200" dirty="0">
                <a:solidFill>
                  <a:schemeClr val="tx1"/>
                </a:solidFill>
                <a:effectLst/>
                <a:latin typeface="Times New Roman" panose="02020603050405020304" pitchFamily="18" charset="0"/>
                <a:ea typeface="+mn-ea"/>
                <a:cs typeface="+mn-cs"/>
              </a:rPr>
              <a:t>Bing.com/images</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9</a:t>
            </a:fld>
            <a:endParaRPr lang="en-US"/>
          </a:p>
        </p:txBody>
      </p:sp>
    </p:spTree>
    <p:extLst>
      <p:ext uri="{BB962C8B-B14F-4D97-AF65-F5344CB8AC3E}">
        <p14:creationId xmlns:p14="http://schemas.microsoft.com/office/powerpoint/2010/main" val="3904721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look for an open slot</a:t>
            </a:r>
          </a:p>
          <a:p>
            <a:r>
              <a:rPr lang="en-US" b="1" dirty="0"/>
              <a:t>Open Addressing</a:t>
            </a:r>
            <a:r>
              <a:rPr lang="en-US" dirty="0"/>
              <a:t>: In this method, if a collision occurs, the algorithm searches for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another open slot in the table using a probing sequence (e.g., linear probing, quadratic probing, double hashing).</a:t>
            </a:r>
          </a:p>
          <a:p>
            <a:r>
              <a:rPr lang="en-US" dirty="0"/>
              <a:t> </a:t>
            </a:r>
          </a:p>
        </p:txBody>
      </p:sp>
      <p:sp>
        <p:nvSpPr>
          <p:cNvPr id="4" name="Slide Number Placeholder 3"/>
          <p:cNvSpPr>
            <a:spLocks noGrp="1"/>
          </p:cNvSpPr>
          <p:nvPr>
            <p:ph type="sldNum" sz="quarter" idx="5"/>
          </p:nvPr>
        </p:nvSpPr>
        <p:spPr/>
        <p:txBody>
          <a:bodyPr/>
          <a:lstStyle/>
          <a:p>
            <a:fld id="{C6B3AB32-59DF-41F1-9618-EDFBF5049629}" type="slidenum">
              <a:rPr lang="en-US" smtClean="0"/>
              <a:pPr/>
              <a:t>15</a:t>
            </a:fld>
            <a:endParaRPr lang="en-US" dirty="0"/>
          </a:p>
        </p:txBody>
      </p:sp>
    </p:spTree>
    <p:extLst>
      <p:ext uri="{BB962C8B-B14F-4D97-AF65-F5344CB8AC3E}">
        <p14:creationId xmlns:p14="http://schemas.microsoft.com/office/powerpoint/2010/main" val="3505880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pPr/>
              <a:t>16</a:t>
            </a:fld>
            <a:endParaRPr lang="en-US" dirty="0"/>
          </a:p>
        </p:txBody>
      </p:sp>
    </p:spTree>
    <p:extLst>
      <p:ext uri="{BB962C8B-B14F-4D97-AF65-F5344CB8AC3E}">
        <p14:creationId xmlns:p14="http://schemas.microsoft.com/office/powerpoint/2010/main" val="2039870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&lt;</a:t>
            </a:r>
            <a:r>
              <a:rPr lang="en-US" dirty="0" err="1"/>
              <a:t>stdio.h</a:t>
            </a:r>
            <a:r>
              <a:rPr lang="en-US" dirty="0"/>
              <a:t>&gt;</a:t>
            </a:r>
          </a:p>
          <a:p>
            <a:endParaRPr lang="en-US" dirty="0"/>
          </a:p>
          <a:p>
            <a:r>
              <a:rPr lang="en-US" dirty="0"/>
              <a:t>#define TABLE_SIZE 10</a:t>
            </a:r>
          </a:p>
          <a:p>
            <a:endParaRPr lang="en-US" dirty="0"/>
          </a:p>
          <a:p>
            <a:r>
              <a:rPr lang="en-US" dirty="0"/>
              <a:t>// Hash function for linear probing</a:t>
            </a:r>
          </a:p>
          <a:p>
            <a:r>
              <a:rPr lang="en-US" dirty="0"/>
              <a:t>int P(int tries, int key) {</a:t>
            </a:r>
          </a:p>
          <a:p>
            <a:r>
              <a:rPr lang="en-US" dirty="0"/>
              <a:t>    int f = tries; // for linear probing f(</a:t>
            </a:r>
            <a:r>
              <a:rPr lang="en-US" dirty="0" err="1"/>
              <a:t>i</a:t>
            </a:r>
            <a:r>
              <a:rPr lang="en-US" dirty="0"/>
              <a:t>) = </a:t>
            </a:r>
            <a:r>
              <a:rPr lang="en-US" dirty="0" err="1"/>
              <a:t>i</a:t>
            </a:r>
            <a:endParaRPr lang="en-US" dirty="0"/>
          </a:p>
          <a:p>
            <a:r>
              <a:rPr lang="en-US" dirty="0"/>
              <a:t>    int h = key % TABLE_SIZE;</a:t>
            </a:r>
          </a:p>
          <a:p>
            <a:r>
              <a:rPr lang="en-US" dirty="0"/>
              <a:t>    return (f + h) % TABLE_SIZE;</a:t>
            </a:r>
          </a:p>
          <a:p>
            <a:r>
              <a:rPr lang="en-US" dirty="0"/>
              <a:t>}</a:t>
            </a:r>
          </a:p>
          <a:p>
            <a:endParaRPr lang="en-US" dirty="0"/>
          </a:p>
          <a:p>
            <a:r>
              <a:rPr lang="en-US" dirty="0"/>
              <a:t>// Function to add a key to the hash table</a:t>
            </a:r>
          </a:p>
          <a:p>
            <a:r>
              <a:rPr lang="en-US" dirty="0"/>
              <a:t>void add(int array[], int key) {</a:t>
            </a:r>
          </a:p>
          <a:p>
            <a:r>
              <a:rPr lang="en-US" dirty="0"/>
              <a:t>    int tries = 0;</a:t>
            </a:r>
          </a:p>
          <a:p>
            <a:r>
              <a:rPr lang="en-US" dirty="0"/>
              <a:t>    int position = P(tries, key);</a:t>
            </a:r>
          </a:p>
          <a:p>
            <a:r>
              <a:rPr lang="en-US" dirty="0"/>
              <a:t>    // Linear probing to find an empty slot</a:t>
            </a:r>
          </a:p>
          <a:p>
            <a:r>
              <a:rPr lang="en-US" dirty="0"/>
              <a:t>    while (array[position] != 0) {</a:t>
            </a:r>
          </a:p>
          <a:p>
            <a:r>
              <a:rPr lang="en-US" dirty="0"/>
              <a:t>        </a:t>
            </a:r>
            <a:r>
              <a:rPr lang="en-US" dirty="0" err="1"/>
              <a:t>printf</a:t>
            </a:r>
            <a:r>
              <a:rPr lang="en-US" dirty="0"/>
              <a:t>("COLLISION\n");</a:t>
            </a:r>
          </a:p>
          <a:p>
            <a:r>
              <a:rPr lang="en-US" dirty="0"/>
              <a:t>        tries++;</a:t>
            </a:r>
          </a:p>
          <a:p>
            <a:r>
              <a:rPr lang="en-US" dirty="0"/>
              <a:t>        position = P(tries, key);</a:t>
            </a:r>
          </a:p>
          <a:p>
            <a:r>
              <a:rPr lang="en-US" dirty="0"/>
              <a:t>    }</a:t>
            </a:r>
          </a:p>
          <a:p>
            <a:r>
              <a:rPr lang="en-US" dirty="0"/>
              <a:t>    array[position] = key;</a:t>
            </a:r>
          </a:p>
          <a:p>
            <a:r>
              <a:rPr lang="en-US" dirty="0"/>
              <a:t>}</a:t>
            </a:r>
          </a:p>
          <a:p>
            <a:endParaRPr lang="en-US" dirty="0"/>
          </a:p>
          <a:p>
            <a:r>
              <a:rPr lang="en-US" dirty="0"/>
              <a:t>// Main function to test the add function</a:t>
            </a:r>
          </a:p>
          <a:p>
            <a:r>
              <a:rPr lang="en-US" dirty="0"/>
              <a:t>int main() {</a:t>
            </a:r>
          </a:p>
          <a:p>
            <a:r>
              <a:rPr lang="en-US" dirty="0"/>
              <a:t>    // Initialize hash table with zeros</a:t>
            </a:r>
          </a:p>
          <a:p>
            <a:r>
              <a:rPr lang="en-US" dirty="0"/>
              <a:t>    int a[TABLE_SIZE] = {0};</a:t>
            </a:r>
          </a:p>
          <a:p>
            <a:endParaRPr lang="en-US" dirty="0"/>
          </a:p>
          <a:p>
            <a:r>
              <a:rPr lang="en-US" dirty="0"/>
              <a:t>    // Add keys and print the table</a:t>
            </a:r>
          </a:p>
          <a:p>
            <a:r>
              <a:rPr lang="en-US" dirty="0"/>
              <a:t>    add(a, 3);</a:t>
            </a:r>
          </a:p>
          <a:p>
            <a:r>
              <a:rPr lang="en-US" dirty="0"/>
              <a:t>    add(a, 13);</a:t>
            </a:r>
          </a:p>
          <a:p>
            <a:r>
              <a:rPr lang="en-US" dirty="0"/>
              <a:t>    add(a, 43);</a:t>
            </a:r>
          </a:p>
          <a:p>
            <a:r>
              <a:rPr lang="en-US" dirty="0"/>
              <a:t>    add(a, 2);</a:t>
            </a:r>
          </a:p>
          <a:p>
            <a:r>
              <a:rPr lang="en-US" dirty="0"/>
              <a:t>    add(a, 4);</a:t>
            </a:r>
          </a:p>
          <a:p>
            <a:r>
              <a:rPr lang="en-US" dirty="0"/>
              <a:t>    for (int </a:t>
            </a:r>
            <a:r>
              <a:rPr lang="en-US" dirty="0" err="1"/>
              <a:t>i</a:t>
            </a:r>
            <a:r>
              <a:rPr lang="en-US" dirty="0"/>
              <a:t> = 0; </a:t>
            </a:r>
            <a:r>
              <a:rPr lang="en-US" dirty="0" err="1"/>
              <a:t>i</a:t>
            </a:r>
            <a:r>
              <a:rPr lang="en-US" dirty="0"/>
              <a:t> &lt; TABLE_SIZE; </a:t>
            </a:r>
            <a:r>
              <a:rPr lang="en-US" dirty="0" err="1"/>
              <a:t>i</a:t>
            </a:r>
            <a:r>
              <a:rPr lang="en-US" dirty="0"/>
              <a:t>++) {</a:t>
            </a:r>
          </a:p>
          <a:p>
            <a:r>
              <a:rPr lang="en-US" dirty="0"/>
              <a:t>        </a:t>
            </a:r>
            <a:r>
              <a:rPr lang="en-US" dirty="0" err="1"/>
              <a:t>printf</a:t>
            </a:r>
            <a:r>
              <a:rPr lang="en-US" dirty="0"/>
              <a:t>("%d ", a[</a:t>
            </a:r>
            <a:r>
              <a:rPr lang="en-US" dirty="0" err="1"/>
              <a:t>i</a:t>
            </a:r>
            <a:r>
              <a:rPr lang="en-US" dirty="0"/>
              <a:t>]);</a:t>
            </a:r>
          </a:p>
          <a:p>
            <a:r>
              <a:rPr lang="en-US" dirty="0"/>
              <a:t>    }</a:t>
            </a:r>
          </a:p>
          <a:p>
            <a:r>
              <a:rPr lang="en-US" dirty="0"/>
              <a:t>    </a:t>
            </a:r>
            <a:r>
              <a:rPr lang="en-US" dirty="0" err="1"/>
              <a:t>printf</a:t>
            </a:r>
            <a:r>
              <a:rPr lang="en-US" dirty="0"/>
              <a:t>("\n");</a:t>
            </a:r>
          </a:p>
          <a:p>
            <a:endParaRPr lang="en-US" dirty="0"/>
          </a:p>
          <a:p>
            <a:r>
              <a:rPr lang="en-US" dirty="0"/>
              <a:t>    return 0;</a:t>
            </a:r>
          </a:p>
          <a:p>
            <a:r>
              <a:rPr lang="en-US" dirty="0"/>
              <a:t>}</a:t>
            </a:r>
          </a:p>
        </p:txBody>
      </p:sp>
      <p:sp>
        <p:nvSpPr>
          <p:cNvPr id="4" name="Slide Number Placeholder 3"/>
          <p:cNvSpPr>
            <a:spLocks noGrp="1"/>
          </p:cNvSpPr>
          <p:nvPr>
            <p:ph type="sldNum" sz="quarter" idx="5"/>
          </p:nvPr>
        </p:nvSpPr>
        <p:spPr/>
        <p:txBody>
          <a:bodyPr/>
          <a:lstStyle/>
          <a:p>
            <a:fld id="{C6B3AB32-59DF-41F1-9618-EDFBF5049629}" type="slidenum">
              <a:rPr lang="en-US" smtClean="0"/>
              <a:pPr/>
              <a:t>29</a:t>
            </a:fld>
            <a:endParaRPr lang="en-US" dirty="0"/>
          </a:p>
        </p:txBody>
      </p:sp>
    </p:spTree>
    <p:extLst>
      <p:ext uri="{BB962C8B-B14F-4D97-AF65-F5344CB8AC3E}">
        <p14:creationId xmlns:p14="http://schemas.microsoft.com/office/powerpoint/2010/main" val="28146641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 hashing is where you don’t want factors</a:t>
            </a:r>
          </a:p>
        </p:txBody>
      </p:sp>
      <p:sp>
        <p:nvSpPr>
          <p:cNvPr id="4" name="Slide Number Placeholder 3"/>
          <p:cNvSpPr>
            <a:spLocks noGrp="1"/>
          </p:cNvSpPr>
          <p:nvPr>
            <p:ph type="sldNum" sz="quarter" idx="5"/>
          </p:nvPr>
        </p:nvSpPr>
        <p:spPr/>
        <p:txBody>
          <a:bodyPr/>
          <a:lstStyle/>
          <a:p>
            <a:fld id="{C6B3AB32-59DF-41F1-9618-EDFBF5049629}" type="slidenum">
              <a:rPr lang="en-US" smtClean="0"/>
              <a:pPr/>
              <a:t>30</a:t>
            </a:fld>
            <a:endParaRPr lang="en-US" dirty="0"/>
          </a:p>
        </p:txBody>
      </p:sp>
    </p:spTree>
    <p:extLst>
      <p:ext uri="{BB962C8B-B14F-4D97-AF65-F5344CB8AC3E}">
        <p14:creationId xmlns:p14="http://schemas.microsoft.com/office/powerpoint/2010/main" val="2513521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31</a:t>
            </a:fld>
            <a:endParaRPr lang="en-US" dirty="0"/>
          </a:p>
        </p:txBody>
      </p:sp>
    </p:spTree>
    <p:extLst>
      <p:ext uri="{BB962C8B-B14F-4D97-AF65-F5344CB8AC3E}">
        <p14:creationId xmlns:p14="http://schemas.microsoft.com/office/powerpoint/2010/main" val="10467141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07684-C1D6-F6C7-7620-E592065707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BDAEEC-F38B-09AB-9DCC-B739A2FF9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B2DAC-47F9-263C-1B9F-B032DCFE61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43B34F-65F9-F8A2-71A2-425ED1680432}"/>
              </a:ext>
            </a:extLst>
          </p:cNvPr>
          <p:cNvSpPr>
            <a:spLocks noGrp="1"/>
          </p:cNvSpPr>
          <p:nvPr>
            <p:ph type="sldNum" sz="quarter" idx="5"/>
          </p:nvPr>
        </p:nvSpPr>
        <p:spPr/>
        <p:txBody>
          <a:bodyPr/>
          <a:lstStyle/>
          <a:p>
            <a:fld id="{C6B3AB32-59DF-41F1-9618-EDFBF5049629}" type="slidenum">
              <a:rPr lang="en-US" smtClean="0"/>
              <a:pPr/>
              <a:t>32</a:t>
            </a:fld>
            <a:endParaRPr lang="en-US" dirty="0"/>
          </a:p>
        </p:txBody>
      </p:sp>
    </p:spTree>
    <p:extLst>
      <p:ext uri="{BB962C8B-B14F-4D97-AF65-F5344CB8AC3E}">
        <p14:creationId xmlns:p14="http://schemas.microsoft.com/office/powerpoint/2010/main" val="3058599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9/16/26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9/16/26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9/16/26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9/16/26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9/16/26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b="0" i="0">
                <a:solidFill>
                  <a:schemeClr val="accent2"/>
                </a:solidFill>
                <a:latin typeface="Times New Roman" panose="02020603050405020304" pitchFamily="18" charset="0"/>
              </a:defRPr>
            </a:lvl1pPr>
          </a:lstStyle>
          <a:p>
            <a:fld id="{B61BEF0D-F0BB-DE4B-95CE-6DB70DBA9567}" type="datetimeFigureOut">
              <a:rPr lang="en-US" smtClean="0"/>
              <a:pPr/>
              <a:t>9/16/26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b="0" i="0" cap="all">
                <a:solidFill>
                  <a:schemeClr val="accent2"/>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b="0" i="0">
                <a:solidFill>
                  <a:schemeClr val="accent2"/>
                </a:solidFill>
                <a:latin typeface="Times New Roman" panose="02020603050405020304" pitchFamily="18" charset="0"/>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i="0" kern="1200" cap="all">
          <a:solidFill>
            <a:schemeClr val="bg1"/>
          </a:solidFill>
          <a:latin typeface="Times New Roman" panose="02020603050405020304" pitchFamily="18"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b="0" i="0" kern="1200">
          <a:solidFill>
            <a:schemeClr val="tx2"/>
          </a:solidFill>
          <a:latin typeface="Times New Roman" panose="02020603050405020304" pitchFamily="18" charset="0"/>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b="0" i="0" kern="1200">
          <a:solidFill>
            <a:schemeClr val="tx2"/>
          </a:solidFill>
          <a:latin typeface="Times New Roman" panose="02020603050405020304" pitchFamily="18" charset="0"/>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b="0" i="0" kern="1200">
          <a:solidFill>
            <a:schemeClr val="tx2"/>
          </a:solidFill>
          <a:latin typeface="Times New Roman" panose="02020603050405020304" pitchFamily="18" charset="0"/>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jfi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6600" dirty="0">
                <a:solidFill>
                  <a:schemeClr val="bg1"/>
                </a:solidFill>
                <a:latin typeface="Times New Roman" panose="02020603050405020304" pitchFamily="18" charset="0"/>
                <a:cs typeface="Times New Roman" panose="02020603050405020304" pitchFamily="18" charset="0"/>
              </a:rPr>
              <a:t>Hash Tables</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rPr>
              <a:t>Verbal defense hw1</a:t>
            </a:r>
            <a:endParaRPr lang="en-US" sz="4000" dirty="0"/>
          </a:p>
        </p:txBody>
      </p:sp>
      <p:sp>
        <p:nvSpPr>
          <p:cNvPr id="5" name="Rectangle 4"/>
          <p:cNvSpPr/>
          <p:nvPr/>
        </p:nvSpPr>
        <p:spPr>
          <a:xfrm>
            <a:off x="396256" y="1824389"/>
            <a:ext cx="10956687" cy="2739211"/>
          </a:xfrm>
          <a:prstGeom prst="rect">
            <a:avLst/>
          </a:prstGeom>
        </p:spPr>
        <p:txBody>
          <a:bodyPr wrap="square">
            <a:spAutoFit/>
          </a:bodyPr>
          <a:lstStyle/>
          <a:p>
            <a:pPr marL="285750" indent="-285750">
              <a:buFont typeface="Wingdings" panose="05000000000000000000" pitchFamily="2" charset="2"/>
              <a:buChar char="Ø"/>
            </a:pPr>
            <a:r>
              <a:rPr lang="en-US" sz="2800" dirty="0">
                <a:latin typeface="Times New Roman" panose="02020603050405020304" pitchFamily="18" charset="0"/>
                <a:ea typeface="Calibri" panose="020F0502020204030204" pitchFamily="34" charset="0"/>
                <a:cs typeface="Times New Roman" panose="02020603050405020304" pitchFamily="18" charset="0"/>
              </a:rPr>
              <a:t>If your last name begins with </a:t>
            </a:r>
            <a:r>
              <a:rPr lang="en-US" sz="28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A-C </a:t>
            </a:r>
            <a:r>
              <a:rPr lang="en-US" sz="2800" dirty="0">
                <a:latin typeface="Times New Roman" panose="02020603050405020304" pitchFamily="18" charset="0"/>
                <a:ea typeface="Calibri" panose="020F0502020204030204" pitchFamily="34" charset="0"/>
                <a:cs typeface="Times New Roman" panose="02020603050405020304" pitchFamily="18" charset="0"/>
              </a:rPr>
              <a:t>stick around at the end of class for your verbal defense of HW1.</a:t>
            </a:r>
          </a:p>
          <a:p>
            <a:pPr marL="285750" indent="-285750">
              <a:buFont typeface="Wingdings" panose="05000000000000000000" pitchFamily="2" charset="2"/>
              <a:buChar char="Ø"/>
            </a:pP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Ø"/>
            </a:pPr>
            <a:r>
              <a:rPr lang="en-US" sz="2800" dirty="0">
                <a:latin typeface="Times New Roman" panose="02020603050405020304" pitchFamily="18" charset="0"/>
                <a:ea typeface="Calibri" panose="020F0502020204030204" pitchFamily="34" charset="0"/>
                <a:cs typeface="Times New Roman" panose="02020603050405020304" pitchFamily="18" charset="0"/>
              </a:rPr>
              <a:t>If your last name begins with  </a:t>
            </a:r>
            <a:r>
              <a:rPr lang="en-US" sz="28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V-Z</a:t>
            </a:r>
            <a:r>
              <a:rPr lang="en-US" sz="2800" dirty="0">
                <a:latin typeface="Times New Roman" panose="02020603050405020304" pitchFamily="18" charset="0"/>
                <a:ea typeface="Calibri" panose="020F0502020204030204" pitchFamily="34" charset="0"/>
                <a:cs typeface="Times New Roman" panose="02020603050405020304" pitchFamily="18" charset="0"/>
              </a:rPr>
              <a:t> stick around at the end of class Friday for your verbal defense of HW1.</a:t>
            </a:r>
          </a:p>
          <a:p>
            <a:pPr marL="285750" indent="-285750">
              <a:buFont typeface="Wingdings" panose="05000000000000000000" pitchFamily="2" charset="2"/>
              <a:buChar char="Ø"/>
            </a:pP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17093117"/>
      </p:ext>
    </p:extLst>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rPr>
              <a:t>Most common issues with hw1</a:t>
            </a:r>
            <a:endParaRPr lang="en-US" sz="4000" dirty="0"/>
          </a:p>
        </p:txBody>
      </p:sp>
      <p:sp>
        <p:nvSpPr>
          <p:cNvPr id="5" name="Rectangle 4"/>
          <p:cNvSpPr/>
          <p:nvPr/>
        </p:nvSpPr>
        <p:spPr>
          <a:xfrm>
            <a:off x="396256" y="1824389"/>
            <a:ext cx="10956687" cy="3724096"/>
          </a:xfrm>
          <a:prstGeom prst="rect">
            <a:avLst/>
          </a:prstGeom>
        </p:spPr>
        <p:txBody>
          <a:bodyPr wrap="square">
            <a:spAutoFit/>
          </a:bodyPr>
          <a:lstStyle/>
          <a:p>
            <a:pPr marL="285750" indent="-285750">
              <a:buFont typeface="Wingdings" panose="05000000000000000000" pitchFamily="2" charset="2"/>
              <a:buChar char="Ø"/>
            </a:pPr>
            <a:r>
              <a:rPr lang="en-US" sz="2800" dirty="0">
                <a:latin typeface="Times New Roman" panose="02020603050405020304" pitchFamily="18" charset="0"/>
                <a:ea typeface="Calibri" panose="020F0502020204030204" pitchFamily="34" charset="0"/>
                <a:cs typeface="Times New Roman" panose="02020603050405020304" pitchFamily="18" charset="0"/>
              </a:rPr>
              <a:t>Hard coding the filename instead of using command line arguments:</a:t>
            </a:r>
          </a:p>
          <a:p>
            <a:pPr marL="285750" indent="-285750">
              <a:buFont typeface="Wingdings" panose="05000000000000000000" pitchFamily="2" charset="2"/>
              <a:buChar char="Ø"/>
            </a:pP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r>
              <a:rPr lang="en-US" dirty="0" err="1"/>
              <a:t>int</a:t>
            </a:r>
            <a:r>
              <a:rPr lang="en-US" dirty="0"/>
              <a:t> main</a:t>
            </a:r>
            <a:r>
              <a:rPr lang="en-US" dirty="0">
                <a:solidFill>
                  <a:srgbClr val="FF0000"/>
                </a:solidFill>
              </a:rPr>
              <a:t>( </a:t>
            </a:r>
            <a:r>
              <a:rPr lang="en-US" dirty="0" err="1">
                <a:solidFill>
                  <a:srgbClr val="FF0000"/>
                </a:solidFill>
              </a:rPr>
              <a:t>int</a:t>
            </a:r>
            <a:r>
              <a:rPr lang="en-US" dirty="0">
                <a:solidFill>
                  <a:srgbClr val="FF0000"/>
                </a:solidFill>
              </a:rPr>
              <a:t> </a:t>
            </a:r>
            <a:r>
              <a:rPr lang="en-US" dirty="0" err="1">
                <a:solidFill>
                  <a:srgbClr val="FF0000"/>
                </a:solidFill>
              </a:rPr>
              <a:t>argc</a:t>
            </a:r>
            <a:r>
              <a:rPr lang="en-US" dirty="0">
                <a:solidFill>
                  <a:srgbClr val="FF0000"/>
                </a:solidFill>
              </a:rPr>
              <a:t>, char** </a:t>
            </a:r>
            <a:r>
              <a:rPr lang="en-US" dirty="0" err="1">
                <a:solidFill>
                  <a:srgbClr val="FF0000"/>
                </a:solidFill>
              </a:rPr>
              <a:t>argv</a:t>
            </a:r>
            <a:r>
              <a:rPr lang="en-US" dirty="0"/>
              <a:t>) {</a:t>
            </a:r>
          </a:p>
          <a:p>
            <a:r>
              <a:rPr lang="en-US" dirty="0"/>
              <a:t>    Person buyer[100];</a:t>
            </a:r>
          </a:p>
          <a:p>
            <a:r>
              <a:rPr lang="en-US" dirty="0"/>
              <a:t>    Person seller[100];</a:t>
            </a:r>
          </a:p>
          <a:p>
            <a:endParaRPr lang="en-US" dirty="0"/>
          </a:p>
          <a:p>
            <a:r>
              <a:rPr lang="en-US" dirty="0"/>
              <a:t>    if (</a:t>
            </a:r>
            <a:r>
              <a:rPr lang="en-US" dirty="0" err="1"/>
              <a:t>argc</a:t>
            </a:r>
            <a:r>
              <a:rPr lang="en-US" dirty="0"/>
              <a:t> &lt; 2) {</a:t>
            </a:r>
          </a:p>
          <a:p>
            <a:r>
              <a:rPr lang="en-US" dirty="0"/>
              <a:t>        </a:t>
            </a:r>
            <a:r>
              <a:rPr lang="en-US" dirty="0" err="1"/>
              <a:t>printf</a:t>
            </a:r>
            <a:r>
              <a:rPr lang="en-US" dirty="0"/>
              <a:t>("Run as: </a:t>
            </a:r>
            <a:r>
              <a:rPr lang="en-US" dirty="0" err="1"/>
              <a:t>a.out</a:t>
            </a:r>
            <a:r>
              <a:rPr lang="en-US" dirty="0"/>
              <a:t> fileName.txt ");</a:t>
            </a:r>
          </a:p>
          <a:p>
            <a:r>
              <a:rPr lang="en-US" dirty="0"/>
              <a:t>        return -1;</a:t>
            </a:r>
          </a:p>
          <a:p>
            <a:r>
              <a:rPr lang="en-US" dirty="0"/>
              <a:t>    }</a:t>
            </a:r>
          </a:p>
          <a:p>
            <a:endParaRPr lang="en-US" dirty="0"/>
          </a:p>
          <a:p>
            <a:r>
              <a:rPr lang="en-US" dirty="0"/>
              <a:t>    FILE* f = </a:t>
            </a:r>
            <a:r>
              <a:rPr lang="en-US" dirty="0" err="1"/>
              <a:t>fopen</a:t>
            </a:r>
            <a:r>
              <a:rPr lang="en-US" dirty="0"/>
              <a:t>( </a:t>
            </a:r>
            <a:r>
              <a:rPr lang="en-US" dirty="0" err="1">
                <a:solidFill>
                  <a:srgbClr val="FF0000"/>
                </a:solidFill>
              </a:rPr>
              <a:t>argv</a:t>
            </a:r>
            <a:r>
              <a:rPr lang="en-US" dirty="0">
                <a:solidFill>
                  <a:srgbClr val="FF0000"/>
                </a:solidFill>
              </a:rPr>
              <a:t>[1]</a:t>
            </a:r>
            <a:r>
              <a:rPr lang="en-US" dirty="0"/>
              <a:t>, "r");</a:t>
            </a: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58267575"/>
      </p:ext>
    </p:extLst>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rPr>
              <a:t>Most common issues with hw1</a:t>
            </a:r>
            <a:endParaRPr lang="en-US" sz="4000" dirty="0"/>
          </a:p>
        </p:txBody>
      </p:sp>
      <p:sp>
        <p:nvSpPr>
          <p:cNvPr id="5" name="Rectangle 4"/>
          <p:cNvSpPr/>
          <p:nvPr/>
        </p:nvSpPr>
        <p:spPr>
          <a:xfrm>
            <a:off x="396256" y="1824389"/>
            <a:ext cx="10956687" cy="954107"/>
          </a:xfrm>
          <a:prstGeom prst="rect">
            <a:avLst/>
          </a:prstGeom>
        </p:spPr>
        <p:txBody>
          <a:bodyPr wrap="square">
            <a:spAutoFit/>
          </a:bodyPr>
          <a:lstStyle/>
          <a:p>
            <a:pPr marL="285750" indent="-285750">
              <a:buFont typeface="Wingdings" panose="05000000000000000000" pitchFamily="2" charset="2"/>
              <a:buChar char="Ø"/>
            </a:pPr>
            <a:r>
              <a:rPr lang="en-US" sz="2800" dirty="0">
                <a:latin typeface="Times New Roman" panose="02020603050405020304" pitchFamily="18" charset="0"/>
                <a:ea typeface="Calibri" panose="020F0502020204030204" pitchFamily="34" charset="0"/>
                <a:cs typeface="Times New Roman" panose="02020603050405020304" pitchFamily="18" charset="0"/>
              </a:rPr>
              <a:t>Creating 2 structures when 1 would work.</a:t>
            </a:r>
          </a:p>
          <a:p>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p:cNvSpPr/>
          <p:nvPr/>
        </p:nvSpPr>
        <p:spPr>
          <a:xfrm>
            <a:off x="396256" y="3236360"/>
            <a:ext cx="4397339" cy="3195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err="1">
                <a:latin typeface="Times New Roman" panose="02020603050405020304" pitchFamily="18" charset="0"/>
                <a:cs typeface="Times New Roman" panose="02020603050405020304" pitchFamily="18" charset="0"/>
              </a:rPr>
              <a:t>typedef</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buyer{</a:t>
            </a:r>
          </a:p>
          <a:p>
            <a:pPr lvl="1"/>
            <a:r>
              <a:rPr lang="en-US" sz="2000" dirty="0">
                <a:latin typeface="Times New Roman" panose="02020603050405020304" pitchFamily="18" charset="0"/>
                <a:cs typeface="Times New Roman" panose="02020603050405020304" pitchFamily="18" charset="0"/>
              </a:rPr>
              <a:t>char name[100];</a:t>
            </a:r>
          </a:p>
          <a:p>
            <a:pPr lvl="1"/>
            <a:r>
              <a:rPr lang="en-US" sz="2000" dirty="0">
                <a:latin typeface="Times New Roman" panose="02020603050405020304" pitchFamily="18" charset="0"/>
                <a:cs typeface="Times New Roman" panose="02020603050405020304" pitchFamily="18" charset="0"/>
              </a:rPr>
              <a:t>float price;</a:t>
            </a:r>
          </a:p>
          <a:p>
            <a:r>
              <a:rPr lang="en-US" sz="2000" dirty="0">
                <a:latin typeface="Times New Roman" panose="02020603050405020304" pitchFamily="18" charset="0"/>
                <a:cs typeface="Times New Roman" panose="02020603050405020304" pitchFamily="18" charset="0"/>
              </a:rPr>
              <a:t>} Buyer;</a:t>
            </a:r>
          </a:p>
          <a:p>
            <a:endParaRPr lang="en-US" sz="2000"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typedef</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seller{</a:t>
            </a:r>
          </a:p>
          <a:p>
            <a:pPr lvl="1"/>
            <a:r>
              <a:rPr lang="en-US" sz="2000" dirty="0">
                <a:latin typeface="Times New Roman" panose="02020603050405020304" pitchFamily="18" charset="0"/>
                <a:cs typeface="Times New Roman" panose="02020603050405020304" pitchFamily="18" charset="0"/>
              </a:rPr>
              <a:t>char name[100];</a:t>
            </a:r>
          </a:p>
          <a:p>
            <a:pPr lvl="1"/>
            <a:r>
              <a:rPr lang="en-US" sz="2000" dirty="0">
                <a:latin typeface="Times New Roman" panose="02020603050405020304" pitchFamily="18" charset="0"/>
                <a:cs typeface="Times New Roman" panose="02020603050405020304" pitchFamily="18" charset="0"/>
              </a:rPr>
              <a:t>float price;</a:t>
            </a:r>
          </a:p>
          <a:p>
            <a:r>
              <a:rPr lang="en-US" sz="2000" dirty="0">
                <a:latin typeface="Times New Roman" panose="02020603050405020304" pitchFamily="18" charset="0"/>
                <a:cs typeface="Times New Roman" panose="02020603050405020304" pitchFamily="18" charset="0"/>
              </a:rPr>
              <a:t>} Seller;</a:t>
            </a:r>
          </a:p>
          <a:p>
            <a:endParaRPr lang="en-US" dirty="0"/>
          </a:p>
        </p:txBody>
      </p:sp>
      <p:sp>
        <p:nvSpPr>
          <p:cNvPr id="4" name="Rectangle 3"/>
          <p:cNvSpPr/>
          <p:nvPr/>
        </p:nvSpPr>
        <p:spPr>
          <a:xfrm>
            <a:off x="5699744" y="2964248"/>
            <a:ext cx="6096000" cy="1938992"/>
          </a:xfrm>
          <a:prstGeom prst="rect">
            <a:avLst/>
          </a:prstGeom>
        </p:spPr>
        <p:txBody>
          <a:bodyPr>
            <a:spAutoFit/>
          </a:bodyPr>
          <a:lstStyle/>
          <a:p>
            <a:r>
              <a:rPr lang="en-US" sz="2400" dirty="0" err="1">
                <a:solidFill>
                  <a:srgbClr val="0000FF"/>
                </a:solidFill>
                <a:latin typeface="Times New Roman" panose="02020603050405020304" pitchFamily="18" charset="0"/>
                <a:cs typeface="Times New Roman" panose="02020603050405020304" pitchFamily="18" charset="0"/>
              </a:rPr>
              <a:t>typedef</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FF"/>
                </a:solidFill>
                <a:latin typeface="Times New Roman" panose="02020603050405020304" pitchFamily="18" charset="0"/>
                <a:cs typeface="Times New Roman" panose="02020603050405020304" pitchFamily="18" charset="0"/>
              </a:rPr>
              <a:t>struct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2B91AF"/>
                </a:solidFill>
                <a:latin typeface="Times New Roman" panose="02020603050405020304" pitchFamily="18" charset="0"/>
                <a:cs typeface="Times New Roman" panose="02020603050405020304" pitchFamily="18" charset="0"/>
              </a:rPr>
              <a:t>person</a:t>
            </a:r>
            <a:r>
              <a:rPr lang="en-US" sz="2400" dirty="0">
                <a:solidFill>
                  <a:srgbClr val="000000"/>
                </a:solidFill>
                <a:latin typeface="Times New Roman" panose="02020603050405020304" pitchFamily="18" charset="0"/>
                <a:cs typeface="Times New Roman" panose="02020603050405020304" pitchFamily="18" charset="0"/>
              </a:rPr>
              <a:t> {</a:t>
            </a:r>
          </a:p>
          <a:p>
            <a:pPr lvl="1"/>
            <a:r>
              <a:rPr lang="en-US" sz="2400" dirty="0">
                <a:solidFill>
                  <a:srgbClr val="0000FF"/>
                </a:solidFill>
                <a:latin typeface="Times New Roman" panose="02020603050405020304" pitchFamily="18" charset="0"/>
                <a:cs typeface="Times New Roman" panose="02020603050405020304" pitchFamily="18" charset="0"/>
              </a:rPr>
              <a:t>char</a:t>
            </a:r>
            <a:r>
              <a:rPr lang="en-US" sz="2400" dirty="0">
                <a:solidFill>
                  <a:srgbClr val="000000"/>
                </a:solidFill>
                <a:latin typeface="Times New Roman" panose="02020603050405020304" pitchFamily="18" charset="0"/>
                <a:cs typeface="Times New Roman" panose="02020603050405020304" pitchFamily="18" charset="0"/>
              </a:rPr>
              <a:t> name[100];</a:t>
            </a:r>
          </a:p>
          <a:p>
            <a:pPr lvl="1"/>
            <a:r>
              <a:rPr lang="en-US" sz="2400" dirty="0">
                <a:solidFill>
                  <a:srgbClr val="0000FF"/>
                </a:solidFill>
                <a:latin typeface="Times New Roman" panose="02020603050405020304" pitchFamily="18" charset="0"/>
                <a:cs typeface="Times New Roman" panose="02020603050405020304" pitchFamily="18" charset="0"/>
              </a:rPr>
              <a:t>char</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sell_buy</a:t>
            </a:r>
            <a:r>
              <a:rPr lang="en-US" sz="2400" dirty="0">
                <a:solidFill>
                  <a:srgbClr val="000000"/>
                </a:solidFill>
                <a:latin typeface="Times New Roman" panose="02020603050405020304" pitchFamily="18" charset="0"/>
                <a:cs typeface="Times New Roman" panose="02020603050405020304" pitchFamily="18" charset="0"/>
              </a:rPr>
              <a:t>[100];</a:t>
            </a:r>
          </a:p>
          <a:p>
            <a:pPr lvl="1"/>
            <a:r>
              <a:rPr lang="en-US" sz="2400" dirty="0">
                <a:solidFill>
                  <a:srgbClr val="0000FF"/>
                </a:solidFill>
                <a:latin typeface="Times New Roman" panose="02020603050405020304" pitchFamily="18" charset="0"/>
                <a:cs typeface="Times New Roman" panose="02020603050405020304" pitchFamily="18" charset="0"/>
              </a:rPr>
              <a:t>float</a:t>
            </a:r>
            <a:r>
              <a:rPr lang="en-US" sz="2400" dirty="0">
                <a:solidFill>
                  <a:srgbClr val="000000"/>
                </a:solidFill>
                <a:latin typeface="Times New Roman" panose="02020603050405020304" pitchFamily="18" charset="0"/>
                <a:cs typeface="Times New Roman" panose="02020603050405020304" pitchFamily="18" charset="0"/>
              </a:rPr>
              <a:t> price;</a:t>
            </a:r>
          </a:p>
          <a:p>
            <a:r>
              <a:rPr lang="en-US"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2B91AF"/>
                </a:solidFill>
                <a:latin typeface="Times New Roman" panose="02020603050405020304" pitchFamily="18" charset="0"/>
                <a:cs typeface="Times New Roman" panose="02020603050405020304" pitchFamily="18" charset="0"/>
              </a:rPr>
              <a:t>Person</a:t>
            </a:r>
            <a:r>
              <a:rPr lang="en-US" sz="2400" dirty="0">
                <a:solidFill>
                  <a:srgbClr val="000000"/>
                </a:solidFill>
                <a:latin typeface="Times New Roman" panose="02020603050405020304" pitchFamily="18" charset="0"/>
                <a:cs typeface="Times New Roman" panose="02020603050405020304" pitchFamily="18" charset="0"/>
              </a:rPr>
              <a:t>;</a:t>
            </a:r>
          </a:p>
        </p:txBody>
      </p:sp>
      <p:sp>
        <p:nvSpPr>
          <p:cNvPr id="6" name="Rectangle 5"/>
          <p:cNvSpPr/>
          <p:nvPr/>
        </p:nvSpPr>
        <p:spPr>
          <a:xfrm>
            <a:off x="5709006" y="5088992"/>
            <a:ext cx="6096000" cy="830997"/>
          </a:xfrm>
          <a:prstGeom prst="rect">
            <a:avLst/>
          </a:prstGeom>
        </p:spPr>
        <p:txBody>
          <a:bodyPr>
            <a:spAutoFit/>
          </a:bodyPr>
          <a:lstStyle/>
          <a:p>
            <a:r>
              <a:rPr lang="en-US" sz="2400" dirty="0">
                <a:latin typeface="Times New Roman" panose="02020603050405020304" pitchFamily="18" charset="0"/>
                <a:cs typeface="Times New Roman" panose="02020603050405020304" pitchFamily="18" charset="0"/>
              </a:rPr>
              <a:t>Person buyer[100];</a:t>
            </a:r>
          </a:p>
          <a:p>
            <a:r>
              <a:rPr lang="en-US" sz="2400" dirty="0">
                <a:latin typeface="Times New Roman" panose="02020603050405020304" pitchFamily="18" charset="0"/>
                <a:cs typeface="Times New Roman" panose="02020603050405020304" pitchFamily="18" charset="0"/>
              </a:rPr>
              <a:t>Person seller[100];</a:t>
            </a:r>
          </a:p>
        </p:txBody>
      </p:sp>
    </p:spTree>
    <p:extLst>
      <p:ext uri="{BB962C8B-B14F-4D97-AF65-F5344CB8AC3E}">
        <p14:creationId xmlns:p14="http://schemas.microsoft.com/office/powerpoint/2010/main" val="3307355847"/>
      </p:ext>
    </p:extLst>
  </p:cSld>
  <p:clrMapOvr>
    <a:masterClrMapping/>
  </p:clrMapOvr>
  <p:transition spd="slow">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rPr>
              <a:t>Most common issues with hw1</a:t>
            </a:r>
            <a:endParaRPr lang="en-US" sz="4000" dirty="0"/>
          </a:p>
        </p:txBody>
      </p:sp>
      <p:sp>
        <p:nvSpPr>
          <p:cNvPr id="5" name="Rectangle 4"/>
          <p:cNvSpPr/>
          <p:nvPr/>
        </p:nvSpPr>
        <p:spPr>
          <a:xfrm>
            <a:off x="581192" y="2183984"/>
            <a:ext cx="10956687" cy="2677656"/>
          </a:xfrm>
          <a:prstGeom prst="rect">
            <a:avLst/>
          </a:prstGeom>
        </p:spPr>
        <p:txBody>
          <a:bodyPr wrap="square">
            <a:spAutoFit/>
          </a:bodyPr>
          <a:lstStyle/>
          <a:p>
            <a:pPr marL="457200" indent="-457200">
              <a:buFont typeface="Wingdings" panose="05000000000000000000" pitchFamily="2" charset="2"/>
              <a:buChar char="Ø"/>
            </a:pPr>
            <a:r>
              <a:rPr lang="en-US" sz="2800" dirty="0">
                <a:latin typeface="Times New Roman" panose="02020603050405020304" pitchFamily="18" charset="0"/>
                <a:ea typeface="Calibri" panose="020F0502020204030204" pitchFamily="34" charset="0"/>
                <a:cs typeface="Times New Roman" panose="02020603050405020304" pitchFamily="18" charset="0"/>
              </a:rPr>
              <a:t>Sorting the buyers and sellers the same way.  Buyers should have been high price to low price.  Sellers low to high.  Secondary sort by name.</a:t>
            </a:r>
          </a:p>
          <a:p>
            <a:pPr marL="457200" indent="-457200">
              <a:buFont typeface="Wingdings" panose="05000000000000000000" pitchFamily="2" charset="2"/>
              <a:buChar char="Ø"/>
            </a:pP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ea typeface="Calibri" panose="020F0502020204030204" pitchFamily="34" charset="0"/>
                <a:cs typeface="Times New Roman" panose="02020603050405020304" pitchFamily="18" charset="0"/>
              </a:rPr>
              <a:t>Reading the entire file AND then doing the sorting and matching.  The </a:t>
            </a:r>
            <a:r>
              <a:rPr lang="en-US" sz="2800" dirty="0" err="1">
                <a:latin typeface="Times New Roman" panose="02020603050405020304" pitchFamily="18" charset="0"/>
                <a:ea typeface="Calibri" panose="020F0502020204030204" pitchFamily="34" charset="0"/>
                <a:cs typeface="Times New Roman" panose="02020603050405020304" pitchFamily="18" charset="0"/>
              </a:rPr>
              <a:t>ChatGPT</a:t>
            </a:r>
            <a:r>
              <a:rPr lang="en-US" sz="2800" dirty="0">
                <a:latin typeface="Times New Roman" panose="02020603050405020304" pitchFamily="18" charset="0"/>
                <a:ea typeface="Calibri" panose="020F0502020204030204" pitchFamily="34" charset="0"/>
                <a:cs typeface="Times New Roman" panose="02020603050405020304" pitchFamily="18" charset="0"/>
              </a:rPr>
              <a:t> solutions did it this way, resulting in a different answers for file2 and file4.</a:t>
            </a:r>
          </a:p>
        </p:txBody>
      </p:sp>
    </p:spTree>
    <p:extLst>
      <p:ext uri="{BB962C8B-B14F-4D97-AF65-F5344CB8AC3E}">
        <p14:creationId xmlns:p14="http://schemas.microsoft.com/office/powerpoint/2010/main" val="1183473355"/>
      </p:ext>
    </p:extLst>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1130" y="2013270"/>
            <a:ext cx="10608607" cy="3989040"/>
          </a:xfrm>
        </p:spPr>
        <p:txBody>
          <a:bodyPr anchor="t" anchorCtr="0">
            <a:normAutofit/>
          </a:bodyPr>
          <a:lstStyle/>
          <a:p>
            <a:pPr marL="0" indent="0">
              <a:buNone/>
            </a:pPr>
            <a:r>
              <a:rPr lang="en-US" sz="3200" dirty="0"/>
              <a:t>What is the Big-O complexity for </a:t>
            </a:r>
          </a:p>
          <a:p>
            <a:r>
              <a:rPr lang="en-US" sz="3200" dirty="0"/>
              <a:t>Finding an element in a linked list?</a:t>
            </a:r>
          </a:p>
          <a:p>
            <a:r>
              <a:rPr lang="en-US" sz="3200" dirty="0"/>
              <a:t>Removing an element from a linked list?</a:t>
            </a:r>
          </a:p>
          <a:p>
            <a:r>
              <a:rPr lang="en-US" sz="3200" dirty="0"/>
              <a:t>Adding an element to a linked list?</a:t>
            </a:r>
          </a:p>
          <a:p>
            <a:endParaRPr lang="en-US" sz="800" dirty="0"/>
          </a:p>
        </p:txBody>
      </p:sp>
      <p:sp>
        <p:nvSpPr>
          <p:cNvPr id="2" name="Title 1"/>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Review</a:t>
            </a:r>
            <a:endParaRPr lang="en-US" sz="4800" dirty="0"/>
          </a:p>
        </p:txBody>
      </p:sp>
      <p:grpSp>
        <p:nvGrpSpPr>
          <p:cNvPr id="55" name="bare structure"/>
          <p:cNvGrpSpPr>
            <a:grpSpLocks/>
          </p:cNvGrpSpPr>
          <p:nvPr/>
        </p:nvGrpSpPr>
        <p:grpSpPr bwMode="auto">
          <a:xfrm>
            <a:off x="3287689" y="5155780"/>
            <a:ext cx="806387" cy="360040"/>
            <a:chOff x="1798" y="3919"/>
            <a:chExt cx="565" cy="232"/>
          </a:xfrm>
        </p:grpSpPr>
        <p:sp>
          <p:nvSpPr>
            <p:cNvPr id="57" name="Rectangle 56"/>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a:latin typeface="Times New Roman" panose="02020603050405020304" pitchFamily="18" charset="0"/>
              </a:endParaRPr>
            </a:p>
          </p:txBody>
        </p:sp>
        <p:sp>
          <p:nvSpPr>
            <p:cNvPr id="58" name="Rectangle 57"/>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a:latin typeface="Times New Roman" panose="02020603050405020304" pitchFamily="18" charset="0"/>
              </a:endParaRPr>
            </a:p>
          </p:txBody>
        </p:sp>
      </p:grpSp>
      <p:sp>
        <p:nvSpPr>
          <p:cNvPr id="54" name="TextBox 53"/>
          <p:cNvSpPr txBox="1"/>
          <p:nvPr/>
        </p:nvSpPr>
        <p:spPr>
          <a:xfrm>
            <a:off x="3299572" y="5112347"/>
            <a:ext cx="504056" cy="400110"/>
          </a:xfrm>
          <a:prstGeom prst="rect">
            <a:avLst/>
          </a:prstGeom>
          <a:noFill/>
        </p:spPr>
        <p:txBody>
          <a:bodyPr wrap="square" rtlCol="0">
            <a:spAutoFit/>
          </a:bodyPr>
          <a:lstStyle/>
          <a:p>
            <a:pPr>
              <a:buNone/>
            </a:pPr>
            <a:r>
              <a:rPr lang="en-US" sz="2000">
                <a:solidFill>
                  <a:srgbClr val="FFC000"/>
                </a:solidFill>
                <a:latin typeface="Times New Roman" panose="02020603050405020304" pitchFamily="18" charset="0"/>
              </a:rPr>
              <a:t>-4</a:t>
            </a:r>
          </a:p>
        </p:txBody>
      </p:sp>
      <p:grpSp>
        <p:nvGrpSpPr>
          <p:cNvPr id="141" name="most of the list"/>
          <p:cNvGrpSpPr/>
          <p:nvPr/>
        </p:nvGrpSpPr>
        <p:grpSpPr>
          <a:xfrm>
            <a:off x="3967978" y="5052122"/>
            <a:ext cx="6016454" cy="704377"/>
            <a:chOff x="2443978" y="5916217"/>
            <a:chExt cx="6016454" cy="704377"/>
          </a:xfrm>
        </p:grpSpPr>
        <p:sp>
          <p:nvSpPr>
            <p:cNvPr id="56" name="Line 40"/>
            <p:cNvSpPr>
              <a:spLocks noChangeShapeType="1"/>
            </p:cNvSpPr>
            <p:nvPr/>
          </p:nvSpPr>
          <p:spPr bwMode="auto">
            <a:xfrm flipV="1">
              <a:off x="2443978" y="6136255"/>
              <a:ext cx="633866" cy="0"/>
            </a:xfrm>
            <a:prstGeom prst="line">
              <a:avLst/>
            </a:prstGeom>
            <a:noFill/>
            <a:ln w="28575">
              <a:solidFill>
                <a:srgbClr val="FFCC00"/>
              </a:solidFill>
              <a:round/>
              <a:headEnd type="oval" w="med" len="med"/>
              <a:tailEnd type="triangle" w="lg" len="lg"/>
            </a:ln>
          </p:spPr>
          <p:txBody>
            <a:bodyPr/>
            <a:lstStyle/>
            <a:p>
              <a:endParaRPr lang="en-US">
                <a:latin typeface="Times New Roman" panose="02020603050405020304" pitchFamily="18" charset="0"/>
              </a:endParaRPr>
            </a:p>
          </p:txBody>
        </p:sp>
        <p:grpSp>
          <p:nvGrpSpPr>
            <p:cNvPr id="66" name="Group 65"/>
            <p:cNvGrpSpPr/>
            <p:nvPr/>
          </p:nvGrpSpPr>
          <p:grpSpPr>
            <a:xfrm>
              <a:off x="5679473" y="5936805"/>
              <a:ext cx="1314155" cy="403473"/>
              <a:chOff x="2428447" y="1657375"/>
              <a:chExt cx="1314155" cy="403473"/>
            </a:xfrm>
          </p:grpSpPr>
          <p:grpSp>
            <p:nvGrpSpPr>
              <p:cNvPr id="67" name="Group 13"/>
              <p:cNvGrpSpPr/>
              <p:nvPr/>
            </p:nvGrpSpPr>
            <p:grpSpPr>
              <a:xfrm>
                <a:off x="2428447" y="1700808"/>
                <a:ext cx="1314155" cy="360040"/>
                <a:chOff x="2195736" y="1628800"/>
                <a:chExt cx="727564" cy="222770"/>
              </a:xfrm>
            </p:grpSpPr>
            <p:grpSp>
              <p:nvGrpSpPr>
                <p:cNvPr id="69" name="Group 33"/>
                <p:cNvGrpSpPr>
                  <a:grpSpLocks/>
                </p:cNvGrpSpPr>
                <p:nvPr/>
              </p:nvGrpSpPr>
              <p:grpSpPr bwMode="auto">
                <a:xfrm>
                  <a:off x="2195736" y="1628800"/>
                  <a:ext cx="446445" cy="222770"/>
                  <a:chOff x="1798" y="3919"/>
                  <a:chExt cx="565" cy="232"/>
                </a:xfrm>
              </p:grpSpPr>
              <p:sp>
                <p:nvSpPr>
                  <p:cNvPr id="71" name="Rectangle 70"/>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a:latin typeface="Times New Roman" panose="02020603050405020304" pitchFamily="18" charset="0"/>
                    </a:endParaRPr>
                  </a:p>
                </p:txBody>
              </p:sp>
              <p:sp>
                <p:nvSpPr>
                  <p:cNvPr id="72" name="Rectangle 71"/>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a:latin typeface="Times New Roman" panose="02020603050405020304" pitchFamily="18" charset="0"/>
                    </a:endParaRPr>
                  </a:p>
                </p:txBody>
              </p:sp>
            </p:grpSp>
            <p:sp>
              <p:nvSpPr>
                <p:cNvPr id="70" name="Line 40"/>
                <p:cNvSpPr>
                  <a:spLocks noChangeShapeType="1"/>
                </p:cNvSpPr>
                <p:nvPr/>
              </p:nvSpPr>
              <p:spPr bwMode="auto">
                <a:xfrm flipV="1">
                  <a:off x="2572369" y="1700808"/>
                  <a:ext cx="350931" cy="0"/>
                </a:xfrm>
                <a:prstGeom prst="line">
                  <a:avLst/>
                </a:prstGeom>
                <a:noFill/>
                <a:ln w="28575">
                  <a:solidFill>
                    <a:srgbClr val="FFCC00"/>
                  </a:solidFill>
                  <a:round/>
                  <a:headEnd type="oval" w="med" len="med"/>
                  <a:tailEnd type="triangle" w="lg" len="lg"/>
                </a:ln>
              </p:spPr>
              <p:txBody>
                <a:bodyPr/>
                <a:lstStyle/>
                <a:p>
                  <a:endParaRPr lang="en-US">
                    <a:latin typeface="Times New Roman" panose="02020603050405020304" pitchFamily="18" charset="0"/>
                  </a:endParaRPr>
                </a:p>
              </p:txBody>
            </p:sp>
          </p:grpSp>
          <p:sp>
            <p:nvSpPr>
              <p:cNvPr id="68" name="TextBox 67"/>
              <p:cNvSpPr txBox="1"/>
              <p:nvPr/>
            </p:nvSpPr>
            <p:spPr>
              <a:xfrm>
                <a:off x="2440335" y="1657375"/>
                <a:ext cx="504056" cy="400110"/>
              </a:xfrm>
              <a:prstGeom prst="rect">
                <a:avLst/>
              </a:prstGeom>
              <a:noFill/>
            </p:spPr>
            <p:txBody>
              <a:bodyPr wrap="square" rtlCol="0">
                <a:spAutoFit/>
              </a:bodyPr>
              <a:lstStyle/>
              <a:p>
                <a:pPr>
                  <a:buNone/>
                </a:pPr>
                <a:r>
                  <a:rPr lang="en-US" sz="2000">
                    <a:solidFill>
                      <a:srgbClr val="FFC000"/>
                    </a:solidFill>
                    <a:latin typeface="Times New Roman" panose="02020603050405020304" pitchFamily="18" charset="0"/>
                  </a:rPr>
                  <a:t>78</a:t>
                </a:r>
              </a:p>
            </p:txBody>
          </p:sp>
        </p:grpSp>
        <p:grpSp>
          <p:nvGrpSpPr>
            <p:cNvPr id="73" name="Group 72"/>
            <p:cNvGrpSpPr/>
            <p:nvPr/>
          </p:nvGrpSpPr>
          <p:grpSpPr>
            <a:xfrm>
              <a:off x="6996307" y="5923460"/>
              <a:ext cx="806387" cy="403473"/>
              <a:chOff x="2428447" y="1657375"/>
              <a:chExt cx="806387" cy="403473"/>
            </a:xfrm>
          </p:grpSpPr>
          <p:grpSp>
            <p:nvGrpSpPr>
              <p:cNvPr id="76" name="Group 33"/>
              <p:cNvGrpSpPr>
                <a:grpSpLocks/>
              </p:cNvGrpSpPr>
              <p:nvPr/>
            </p:nvGrpSpPr>
            <p:grpSpPr bwMode="auto">
              <a:xfrm>
                <a:off x="2428447" y="1700808"/>
                <a:ext cx="806387" cy="360040"/>
                <a:chOff x="1798" y="3919"/>
                <a:chExt cx="565" cy="232"/>
              </a:xfrm>
            </p:grpSpPr>
            <p:sp>
              <p:nvSpPr>
                <p:cNvPr id="78" name="Rectangle 77"/>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a:latin typeface="Times New Roman" panose="02020603050405020304" pitchFamily="18" charset="0"/>
                  </a:endParaRPr>
                </a:p>
              </p:txBody>
            </p:sp>
            <p:sp>
              <p:nvSpPr>
                <p:cNvPr id="79" name="Rectangle 78"/>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a:latin typeface="Times New Roman" panose="02020603050405020304" pitchFamily="18" charset="0"/>
                  </a:endParaRPr>
                </a:p>
              </p:txBody>
            </p:sp>
          </p:grpSp>
          <p:sp>
            <p:nvSpPr>
              <p:cNvPr id="75" name="TextBox 74"/>
              <p:cNvSpPr txBox="1"/>
              <p:nvPr/>
            </p:nvSpPr>
            <p:spPr>
              <a:xfrm>
                <a:off x="2440335" y="1657375"/>
                <a:ext cx="504056" cy="400110"/>
              </a:xfrm>
              <a:prstGeom prst="rect">
                <a:avLst/>
              </a:prstGeom>
              <a:noFill/>
            </p:spPr>
            <p:txBody>
              <a:bodyPr wrap="square" rtlCol="0">
                <a:spAutoFit/>
              </a:bodyPr>
              <a:lstStyle/>
              <a:p>
                <a:pPr>
                  <a:buNone/>
                </a:pPr>
                <a:r>
                  <a:rPr lang="en-US" sz="2000">
                    <a:solidFill>
                      <a:srgbClr val="FFC000"/>
                    </a:solidFill>
                    <a:latin typeface="Times New Roman" panose="02020603050405020304" pitchFamily="18" charset="0"/>
                  </a:rPr>
                  <a:t>52</a:t>
                </a:r>
              </a:p>
            </p:txBody>
          </p:sp>
        </p:grpSp>
        <p:grpSp>
          <p:nvGrpSpPr>
            <p:cNvPr id="80" name="Group 79"/>
            <p:cNvGrpSpPr/>
            <p:nvPr/>
          </p:nvGrpSpPr>
          <p:grpSpPr>
            <a:xfrm>
              <a:off x="4388290" y="5916217"/>
              <a:ext cx="1314155" cy="403473"/>
              <a:chOff x="2428447" y="1657375"/>
              <a:chExt cx="1314155" cy="403473"/>
            </a:xfrm>
          </p:grpSpPr>
          <p:grpSp>
            <p:nvGrpSpPr>
              <p:cNvPr id="81" name="Group 13"/>
              <p:cNvGrpSpPr/>
              <p:nvPr/>
            </p:nvGrpSpPr>
            <p:grpSpPr>
              <a:xfrm>
                <a:off x="2428447" y="1700808"/>
                <a:ext cx="1314155" cy="360040"/>
                <a:chOff x="2195736" y="1628800"/>
                <a:chExt cx="727564" cy="222770"/>
              </a:xfrm>
            </p:grpSpPr>
            <p:grpSp>
              <p:nvGrpSpPr>
                <p:cNvPr id="83" name="Group 33"/>
                <p:cNvGrpSpPr>
                  <a:grpSpLocks/>
                </p:cNvGrpSpPr>
                <p:nvPr/>
              </p:nvGrpSpPr>
              <p:grpSpPr bwMode="auto">
                <a:xfrm>
                  <a:off x="2195736" y="1628800"/>
                  <a:ext cx="446445" cy="222770"/>
                  <a:chOff x="1798" y="3919"/>
                  <a:chExt cx="565" cy="232"/>
                </a:xfrm>
              </p:grpSpPr>
              <p:sp>
                <p:nvSpPr>
                  <p:cNvPr id="85" name="Rectangle 84"/>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a:latin typeface="Times New Roman" panose="02020603050405020304" pitchFamily="18" charset="0"/>
                    </a:endParaRPr>
                  </a:p>
                </p:txBody>
              </p:sp>
              <p:sp>
                <p:nvSpPr>
                  <p:cNvPr id="86" name="Rectangle 85"/>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a:latin typeface="Times New Roman" panose="02020603050405020304" pitchFamily="18" charset="0"/>
                    </a:endParaRPr>
                  </a:p>
                </p:txBody>
              </p:sp>
            </p:grpSp>
            <p:sp>
              <p:nvSpPr>
                <p:cNvPr id="84" name="Line 40"/>
                <p:cNvSpPr>
                  <a:spLocks noChangeShapeType="1"/>
                </p:cNvSpPr>
                <p:nvPr/>
              </p:nvSpPr>
              <p:spPr bwMode="auto">
                <a:xfrm flipV="1">
                  <a:off x="2572369" y="1700808"/>
                  <a:ext cx="350931" cy="0"/>
                </a:xfrm>
                <a:prstGeom prst="line">
                  <a:avLst/>
                </a:prstGeom>
                <a:noFill/>
                <a:ln w="28575">
                  <a:solidFill>
                    <a:srgbClr val="FFCC00"/>
                  </a:solidFill>
                  <a:round/>
                  <a:headEnd type="oval" w="med" len="med"/>
                  <a:tailEnd type="triangle" w="lg" len="lg"/>
                </a:ln>
              </p:spPr>
              <p:txBody>
                <a:bodyPr/>
                <a:lstStyle/>
                <a:p>
                  <a:endParaRPr lang="en-US">
                    <a:latin typeface="Times New Roman" panose="02020603050405020304" pitchFamily="18" charset="0"/>
                  </a:endParaRPr>
                </a:p>
              </p:txBody>
            </p:sp>
          </p:grpSp>
          <p:sp>
            <p:nvSpPr>
              <p:cNvPr id="82" name="TextBox 81"/>
              <p:cNvSpPr txBox="1"/>
              <p:nvPr/>
            </p:nvSpPr>
            <p:spPr>
              <a:xfrm>
                <a:off x="2440335" y="1657375"/>
                <a:ext cx="504056" cy="400110"/>
              </a:xfrm>
              <a:prstGeom prst="rect">
                <a:avLst/>
              </a:prstGeom>
              <a:noFill/>
            </p:spPr>
            <p:txBody>
              <a:bodyPr wrap="square" rtlCol="0">
                <a:spAutoFit/>
              </a:bodyPr>
              <a:lstStyle/>
              <a:p>
                <a:pPr>
                  <a:buNone/>
                </a:pPr>
                <a:r>
                  <a:rPr lang="en-US" sz="2000">
                    <a:solidFill>
                      <a:srgbClr val="FFC000"/>
                    </a:solidFill>
                    <a:latin typeface="Times New Roman" panose="02020603050405020304" pitchFamily="18" charset="0"/>
                  </a:rPr>
                  <a:t>2</a:t>
                </a:r>
              </a:p>
            </p:txBody>
          </p:sp>
        </p:grpSp>
        <p:grpSp>
          <p:nvGrpSpPr>
            <p:cNvPr id="87" name="Group 86"/>
            <p:cNvGrpSpPr/>
            <p:nvPr/>
          </p:nvGrpSpPr>
          <p:grpSpPr>
            <a:xfrm>
              <a:off x="3055636" y="5952060"/>
              <a:ext cx="1314155" cy="403473"/>
              <a:chOff x="2428447" y="1657375"/>
              <a:chExt cx="1314155" cy="403473"/>
            </a:xfrm>
          </p:grpSpPr>
          <p:grpSp>
            <p:nvGrpSpPr>
              <p:cNvPr id="88" name="Group 13"/>
              <p:cNvGrpSpPr/>
              <p:nvPr/>
            </p:nvGrpSpPr>
            <p:grpSpPr>
              <a:xfrm>
                <a:off x="2428447" y="1700808"/>
                <a:ext cx="1314155" cy="360040"/>
                <a:chOff x="2195736" y="1628800"/>
                <a:chExt cx="727564" cy="222770"/>
              </a:xfrm>
            </p:grpSpPr>
            <p:grpSp>
              <p:nvGrpSpPr>
                <p:cNvPr id="90" name="Group 33"/>
                <p:cNvGrpSpPr>
                  <a:grpSpLocks/>
                </p:cNvGrpSpPr>
                <p:nvPr/>
              </p:nvGrpSpPr>
              <p:grpSpPr bwMode="auto">
                <a:xfrm>
                  <a:off x="2195736" y="1628800"/>
                  <a:ext cx="446445" cy="222770"/>
                  <a:chOff x="1798" y="3919"/>
                  <a:chExt cx="565" cy="232"/>
                </a:xfrm>
              </p:grpSpPr>
              <p:sp>
                <p:nvSpPr>
                  <p:cNvPr id="92" name="Rectangle 91"/>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a:latin typeface="Times New Roman" panose="02020603050405020304" pitchFamily="18" charset="0"/>
                    </a:endParaRPr>
                  </a:p>
                </p:txBody>
              </p:sp>
              <p:sp>
                <p:nvSpPr>
                  <p:cNvPr id="93" name="Rectangle 92"/>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a:latin typeface="Times New Roman" panose="02020603050405020304" pitchFamily="18" charset="0"/>
                    </a:endParaRPr>
                  </a:p>
                </p:txBody>
              </p:sp>
            </p:grpSp>
            <p:sp>
              <p:nvSpPr>
                <p:cNvPr id="91" name="Line 40"/>
                <p:cNvSpPr>
                  <a:spLocks noChangeShapeType="1"/>
                </p:cNvSpPr>
                <p:nvPr/>
              </p:nvSpPr>
              <p:spPr bwMode="auto">
                <a:xfrm flipV="1">
                  <a:off x="2572369" y="1700808"/>
                  <a:ext cx="350931" cy="0"/>
                </a:xfrm>
                <a:prstGeom prst="line">
                  <a:avLst/>
                </a:prstGeom>
                <a:noFill/>
                <a:ln w="28575">
                  <a:solidFill>
                    <a:srgbClr val="FFCC00"/>
                  </a:solidFill>
                  <a:round/>
                  <a:headEnd type="oval" w="med" len="med"/>
                  <a:tailEnd type="triangle" w="lg" len="lg"/>
                </a:ln>
              </p:spPr>
              <p:txBody>
                <a:bodyPr/>
                <a:lstStyle/>
                <a:p>
                  <a:endParaRPr lang="en-US">
                    <a:latin typeface="Times New Roman" panose="02020603050405020304" pitchFamily="18" charset="0"/>
                  </a:endParaRPr>
                </a:p>
              </p:txBody>
            </p:sp>
          </p:grpSp>
          <p:sp>
            <p:nvSpPr>
              <p:cNvPr id="89" name="TextBox 88"/>
              <p:cNvSpPr txBox="1"/>
              <p:nvPr/>
            </p:nvSpPr>
            <p:spPr>
              <a:xfrm>
                <a:off x="2440335" y="1657375"/>
                <a:ext cx="504056" cy="400110"/>
              </a:xfrm>
              <a:prstGeom prst="rect">
                <a:avLst/>
              </a:prstGeom>
              <a:noFill/>
            </p:spPr>
            <p:txBody>
              <a:bodyPr wrap="square" rtlCol="0">
                <a:spAutoFit/>
              </a:bodyPr>
              <a:lstStyle/>
              <a:p>
                <a:pPr>
                  <a:buNone/>
                </a:pPr>
                <a:r>
                  <a:rPr lang="en-US" sz="2000">
                    <a:solidFill>
                      <a:srgbClr val="FFC000"/>
                    </a:solidFill>
                    <a:latin typeface="Times New Roman" panose="02020603050405020304" pitchFamily="18" charset="0"/>
                  </a:rPr>
                  <a:t>17</a:t>
                </a:r>
              </a:p>
            </p:txBody>
          </p:sp>
        </p:grpSp>
        <p:sp>
          <p:nvSpPr>
            <p:cNvPr id="106" name="Freeform 29"/>
            <p:cNvSpPr>
              <a:spLocks/>
            </p:cNvSpPr>
            <p:nvPr/>
          </p:nvSpPr>
          <p:spPr bwMode="auto">
            <a:xfrm>
              <a:off x="7668344" y="6101409"/>
              <a:ext cx="732911" cy="358880"/>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Lst>
              <a:ahLst/>
              <a:cxnLst>
                <a:cxn ang="0">
                  <a:pos x="connsiteX0" y="connsiteY0"/>
                </a:cxn>
                <a:cxn ang="0">
                  <a:pos x="connsiteX1" y="connsiteY1"/>
                </a:cxn>
                <a:cxn ang="0">
                  <a:pos x="connsiteX2" y="connsiteY2"/>
                </a:cxn>
              </a:cxnLst>
              <a:rect l="l" t="t" r="r" b="b"/>
              <a:pathLst>
                <a:path w="15039" h="14681">
                  <a:moveTo>
                    <a:pt x="0" y="1060"/>
                  </a:moveTo>
                  <a:lnTo>
                    <a:pt x="8044" y="832"/>
                  </a:lnTo>
                  <a:cubicBezTo>
                    <a:pt x="12490" y="727"/>
                    <a:pt x="15039" y="0"/>
                    <a:pt x="14659" y="14681"/>
                  </a:cubicBezTo>
                </a:path>
              </a:pathLst>
            </a:custGeom>
            <a:noFill/>
            <a:ln w="38100" cap="flat" cmpd="sng">
              <a:solidFill>
                <a:schemeClr val="bg2"/>
              </a:solidFill>
              <a:prstDash val="solid"/>
              <a:round/>
              <a:headEnd type="oval" w="med" len="med"/>
              <a:tailEnd type="triangle" w="lg" len="lg"/>
            </a:ln>
          </p:spPr>
          <p:txBody>
            <a:bodyPr tIns="91440" bIns="91440" anchor="ctr"/>
            <a:lstStyle/>
            <a:p>
              <a:endParaRPr lang="en-US">
                <a:latin typeface="Times New Roman" panose="02020603050405020304" pitchFamily="18" charset="0"/>
              </a:endParaRPr>
            </a:p>
          </p:txBody>
        </p:sp>
        <p:grpSp>
          <p:nvGrpSpPr>
            <p:cNvPr id="107" name="ground"/>
            <p:cNvGrpSpPr>
              <a:grpSpLocks/>
            </p:cNvGrpSpPr>
            <p:nvPr/>
          </p:nvGrpSpPr>
          <p:grpSpPr bwMode="auto">
            <a:xfrm>
              <a:off x="8288965" y="6496769"/>
              <a:ext cx="171467" cy="123825"/>
              <a:chOff x="4543" y="1682"/>
              <a:chExt cx="136" cy="78"/>
            </a:xfrm>
          </p:grpSpPr>
          <p:sp>
            <p:nvSpPr>
              <p:cNvPr id="108" name="Line 31"/>
              <p:cNvSpPr>
                <a:spLocks noChangeShapeType="1"/>
              </p:cNvSpPr>
              <p:nvPr/>
            </p:nvSpPr>
            <p:spPr bwMode="auto">
              <a:xfrm>
                <a:off x="4543" y="1682"/>
                <a:ext cx="136" cy="0"/>
              </a:xfrm>
              <a:prstGeom prst="line">
                <a:avLst/>
              </a:prstGeom>
              <a:noFill/>
              <a:ln w="28575">
                <a:solidFill>
                  <a:schemeClr val="bg2"/>
                </a:solidFill>
                <a:round/>
                <a:headEnd/>
                <a:tailEnd/>
              </a:ln>
            </p:spPr>
            <p:txBody>
              <a:bodyPr/>
              <a:lstStyle/>
              <a:p>
                <a:endParaRPr lang="en-US">
                  <a:latin typeface="Times New Roman" panose="02020603050405020304" pitchFamily="18" charset="0"/>
                </a:endParaRPr>
              </a:p>
            </p:txBody>
          </p:sp>
          <p:sp>
            <p:nvSpPr>
              <p:cNvPr id="109" name="Line 32"/>
              <p:cNvSpPr>
                <a:spLocks noChangeShapeType="1"/>
              </p:cNvSpPr>
              <p:nvPr/>
            </p:nvSpPr>
            <p:spPr bwMode="auto">
              <a:xfrm>
                <a:off x="4575" y="1720"/>
                <a:ext cx="86" cy="0"/>
              </a:xfrm>
              <a:prstGeom prst="line">
                <a:avLst/>
              </a:prstGeom>
              <a:noFill/>
              <a:ln w="28575">
                <a:solidFill>
                  <a:schemeClr val="bg2"/>
                </a:solidFill>
                <a:round/>
                <a:headEnd/>
                <a:tailEnd/>
              </a:ln>
            </p:spPr>
            <p:txBody>
              <a:bodyPr/>
              <a:lstStyle/>
              <a:p>
                <a:endParaRPr lang="en-US">
                  <a:latin typeface="Times New Roman" panose="02020603050405020304" pitchFamily="18" charset="0"/>
                </a:endParaRPr>
              </a:p>
            </p:txBody>
          </p:sp>
          <p:sp>
            <p:nvSpPr>
              <p:cNvPr id="110" name="Line 33"/>
              <p:cNvSpPr>
                <a:spLocks noChangeShapeType="1"/>
              </p:cNvSpPr>
              <p:nvPr/>
            </p:nvSpPr>
            <p:spPr bwMode="auto">
              <a:xfrm>
                <a:off x="4594" y="1760"/>
                <a:ext cx="52" cy="0"/>
              </a:xfrm>
              <a:prstGeom prst="line">
                <a:avLst/>
              </a:prstGeom>
              <a:noFill/>
              <a:ln w="28575">
                <a:solidFill>
                  <a:schemeClr val="bg2"/>
                </a:solidFill>
                <a:round/>
                <a:headEnd/>
                <a:tailEnd/>
              </a:ln>
            </p:spPr>
            <p:txBody>
              <a:bodyPr/>
              <a:lstStyle/>
              <a:p>
                <a:endParaRPr lang="en-US">
                  <a:latin typeface="Times New Roman" panose="02020603050405020304" pitchFamily="18" charset="0"/>
                </a:endParaRPr>
              </a:p>
            </p:txBody>
          </p:sp>
        </p:grpSp>
      </p:grpSp>
      <p:sp>
        <p:nvSpPr>
          <p:cNvPr id="113" name="Rectangle 112"/>
          <p:cNvSpPr>
            <a:spLocks noChangeArrowheads="1"/>
          </p:cNvSpPr>
          <p:nvPr/>
        </p:nvSpPr>
        <p:spPr bwMode="auto">
          <a:xfrm>
            <a:off x="1919536" y="4816200"/>
            <a:ext cx="1000358" cy="287428"/>
          </a:xfrm>
          <a:prstGeom prst="rect">
            <a:avLst/>
          </a:prstGeom>
          <a:solidFill>
            <a:srgbClr val="006600"/>
          </a:solidFill>
          <a:ln w="9525">
            <a:miter lim="800000"/>
            <a:headEnd/>
            <a:tailEnd/>
          </a:ln>
          <a:scene3d>
            <a:camera prst="legacyObliqueTopRight"/>
            <a:lightRig rig="legacyFlat3" dir="b"/>
          </a:scene3d>
          <a:sp3d extrusionH="254000" prstMaterial="legacyMatte">
            <a:bevelT w="13500" h="13500" prst="angle"/>
            <a:bevelB w="13500" h="13500" prst="angle"/>
            <a:extrusionClr>
              <a:srgbClr val="006600"/>
            </a:extrusionClr>
          </a:sp3d>
        </p:spPr>
        <p:txBody>
          <a:bodyPr wrap="none" anchor="ctr">
            <a:flatTx/>
          </a:bodyPr>
          <a:lstStyle/>
          <a:p>
            <a:pPr>
              <a:buNone/>
            </a:pPr>
            <a:r>
              <a:rPr lang="en-US" dirty="0">
                <a:solidFill>
                  <a:srgbClr val="66FF33"/>
                </a:solidFill>
                <a:latin typeface="Times New Roman" panose="02020603050405020304" pitchFamily="18" charset="0"/>
                <a:cs typeface="Times New Roman" panose="02020603050405020304" pitchFamily="18" charset="0"/>
              </a:rPr>
              <a:t>start</a:t>
            </a:r>
          </a:p>
        </p:txBody>
      </p:sp>
      <p:sp>
        <p:nvSpPr>
          <p:cNvPr id="114" name="Freeform 29"/>
          <p:cNvSpPr>
            <a:spLocks/>
          </p:cNvSpPr>
          <p:nvPr/>
        </p:nvSpPr>
        <p:spPr bwMode="auto">
          <a:xfrm>
            <a:off x="2795057" y="4943487"/>
            <a:ext cx="564627" cy="285712"/>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 name="connsiteX0" fmla="*/ 0 w 15039"/>
              <a:gd name="connsiteY0" fmla="*/ 6130 h 19751"/>
              <a:gd name="connsiteX1" fmla="*/ 7898 w 15039"/>
              <a:gd name="connsiteY1" fmla="*/ 105 h 19751"/>
              <a:gd name="connsiteX2" fmla="*/ 14659 w 15039"/>
              <a:gd name="connsiteY2" fmla="*/ 19751 h 19751"/>
              <a:gd name="connsiteX0" fmla="*/ 0 w 15039"/>
              <a:gd name="connsiteY0" fmla="*/ 6025 h 19646"/>
              <a:gd name="connsiteX1" fmla="*/ 7898 w 15039"/>
              <a:gd name="connsiteY1" fmla="*/ 0 h 19646"/>
              <a:gd name="connsiteX2" fmla="*/ 14659 w 15039"/>
              <a:gd name="connsiteY2" fmla="*/ 19646 h 19646"/>
              <a:gd name="connsiteX0" fmla="*/ 0 w 15039"/>
              <a:gd name="connsiteY0" fmla="*/ 6025 h 19646"/>
              <a:gd name="connsiteX1" fmla="*/ 7898 w 15039"/>
              <a:gd name="connsiteY1" fmla="*/ 0 h 19646"/>
              <a:gd name="connsiteX2" fmla="*/ 14659 w 15039"/>
              <a:gd name="connsiteY2" fmla="*/ 19646 h 19646"/>
              <a:gd name="connsiteX0" fmla="*/ 0 w 12972"/>
              <a:gd name="connsiteY0" fmla="*/ 8923 h 14681"/>
              <a:gd name="connsiteX1" fmla="*/ 7898 w 12972"/>
              <a:gd name="connsiteY1" fmla="*/ 2898 h 14681"/>
              <a:gd name="connsiteX2" fmla="*/ 12592 w 12972"/>
              <a:gd name="connsiteY2" fmla="*/ 14681 h 14681"/>
              <a:gd name="connsiteX0" fmla="*/ 0 w 12972"/>
              <a:gd name="connsiteY0" fmla="*/ 8923 h 14681"/>
              <a:gd name="connsiteX1" fmla="*/ 7263 w 12972"/>
              <a:gd name="connsiteY1" fmla="*/ 1519 h 14681"/>
              <a:gd name="connsiteX2" fmla="*/ 12592 w 12972"/>
              <a:gd name="connsiteY2" fmla="*/ 14681 h 14681"/>
              <a:gd name="connsiteX0" fmla="*/ 0 w 12592"/>
              <a:gd name="connsiteY0" fmla="*/ 7404 h 13162"/>
              <a:gd name="connsiteX1" fmla="*/ 7263 w 12592"/>
              <a:gd name="connsiteY1" fmla="*/ 0 h 13162"/>
              <a:gd name="connsiteX2" fmla="*/ 12592 w 12592"/>
              <a:gd name="connsiteY2" fmla="*/ 13162 h 13162"/>
              <a:gd name="connsiteX0" fmla="*/ 0 w 12592"/>
              <a:gd name="connsiteY0" fmla="*/ 7404 h 13162"/>
              <a:gd name="connsiteX1" fmla="*/ 7263 w 12592"/>
              <a:gd name="connsiteY1" fmla="*/ 0 h 13162"/>
              <a:gd name="connsiteX2" fmla="*/ 12592 w 12592"/>
              <a:gd name="connsiteY2" fmla="*/ 13162 h 13162"/>
              <a:gd name="connsiteX0" fmla="*/ 0 w 9567"/>
              <a:gd name="connsiteY0" fmla="*/ 7404 h 26175"/>
              <a:gd name="connsiteX1" fmla="*/ 7263 w 9567"/>
              <a:gd name="connsiteY1" fmla="*/ 0 h 26175"/>
              <a:gd name="connsiteX2" fmla="*/ 4909 w 9567"/>
              <a:gd name="connsiteY2" fmla="*/ 26175 h 26175"/>
              <a:gd name="connsiteX0" fmla="*/ 0 w 10000"/>
              <a:gd name="connsiteY0" fmla="*/ 2829 h 10000"/>
              <a:gd name="connsiteX1" fmla="*/ 7592 w 10000"/>
              <a:gd name="connsiteY1" fmla="*/ 0 h 10000"/>
              <a:gd name="connsiteX2" fmla="*/ 5131 w 10000"/>
              <a:gd name="connsiteY2" fmla="*/ 10000 h 10000"/>
              <a:gd name="connsiteX0" fmla="*/ 0 w 7598"/>
              <a:gd name="connsiteY0" fmla="*/ 2032 h 9203"/>
              <a:gd name="connsiteX1" fmla="*/ 5131 w 7598"/>
              <a:gd name="connsiteY1" fmla="*/ 2451 h 9203"/>
              <a:gd name="connsiteX2" fmla="*/ 5131 w 7598"/>
              <a:gd name="connsiteY2" fmla="*/ 9203 h 9203"/>
              <a:gd name="connsiteX0" fmla="*/ 0 w 10000"/>
              <a:gd name="connsiteY0" fmla="*/ 0 h 7792"/>
              <a:gd name="connsiteX1" fmla="*/ 6753 w 10000"/>
              <a:gd name="connsiteY1" fmla="*/ 455 h 7792"/>
              <a:gd name="connsiteX2" fmla="*/ 6753 w 10000"/>
              <a:gd name="connsiteY2" fmla="*/ 7792 h 7792"/>
              <a:gd name="connsiteX0" fmla="*/ 0 w 10000"/>
              <a:gd name="connsiteY0" fmla="*/ 0 h 10000"/>
              <a:gd name="connsiteX1" fmla="*/ 6753 w 10000"/>
              <a:gd name="connsiteY1" fmla="*/ 584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6753"/>
              <a:gd name="connsiteY0" fmla="*/ 0 h 10000"/>
              <a:gd name="connsiteX1" fmla="*/ 6753 w 6753"/>
              <a:gd name="connsiteY1" fmla="*/ 10000 h 10000"/>
              <a:gd name="connsiteX0" fmla="*/ 0 w 10000"/>
              <a:gd name="connsiteY0" fmla="*/ 0 h 10000"/>
              <a:gd name="connsiteX1" fmla="*/ 10000 w 10000"/>
              <a:gd name="connsiteY1" fmla="*/ 10000 h 10000"/>
              <a:gd name="connsiteX0" fmla="*/ 0 w 10000"/>
              <a:gd name="connsiteY0" fmla="*/ 0 h 10000"/>
              <a:gd name="connsiteX1" fmla="*/ 10000 w 10000"/>
              <a:gd name="connsiteY1" fmla="*/ 10000 h 10000"/>
              <a:gd name="connsiteX0" fmla="*/ 0 w 10453"/>
              <a:gd name="connsiteY0" fmla="*/ 7375 h 8436"/>
              <a:gd name="connsiteX1" fmla="*/ 10453 w 10453"/>
              <a:gd name="connsiteY1" fmla="*/ 8375 h 8436"/>
              <a:gd name="connsiteX0" fmla="*/ 0 w 10000"/>
              <a:gd name="connsiteY0" fmla="*/ 38 h 1296"/>
              <a:gd name="connsiteX1" fmla="*/ 10000 w 10000"/>
              <a:gd name="connsiteY1" fmla="*/ 1224 h 1296"/>
              <a:gd name="connsiteX0" fmla="*/ 0 w 10000"/>
              <a:gd name="connsiteY0" fmla="*/ 18588 h 28295"/>
              <a:gd name="connsiteX1" fmla="*/ 10000 w 10000"/>
              <a:gd name="connsiteY1" fmla="*/ 9444 h 28295"/>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7543"/>
              <a:gd name="connsiteY0" fmla="*/ 0 h 51959"/>
              <a:gd name="connsiteX1" fmla="*/ 7543 w 7543"/>
              <a:gd name="connsiteY1" fmla="*/ 51959 h 51959"/>
              <a:gd name="connsiteX0" fmla="*/ 0 w 10000"/>
              <a:gd name="connsiteY0" fmla="*/ 0 h 10000"/>
              <a:gd name="connsiteX1" fmla="*/ 10000 w 10000"/>
              <a:gd name="connsiteY1" fmla="*/ 10000 h 10000"/>
              <a:gd name="connsiteX0" fmla="*/ 0 w 13255"/>
              <a:gd name="connsiteY0" fmla="*/ 0 h 7987"/>
              <a:gd name="connsiteX1" fmla="*/ 13255 w 13255"/>
              <a:gd name="connsiteY1" fmla="*/ 7987 h 7987"/>
            </a:gdLst>
            <a:ahLst/>
            <a:cxnLst>
              <a:cxn ang="0">
                <a:pos x="connsiteX0" y="connsiteY0"/>
              </a:cxn>
              <a:cxn ang="0">
                <a:pos x="connsiteX1" y="connsiteY1"/>
              </a:cxn>
            </a:cxnLst>
            <a:rect l="l" t="t" r="r" b="b"/>
            <a:pathLst>
              <a:path w="13255" h="7987">
                <a:moveTo>
                  <a:pt x="0" y="0"/>
                </a:moveTo>
                <a:cubicBezTo>
                  <a:pt x="5972" y="190"/>
                  <a:pt x="8642" y="456"/>
                  <a:pt x="13255" y="7987"/>
                </a:cubicBezTo>
              </a:path>
            </a:pathLst>
          </a:custGeom>
          <a:noFill/>
          <a:ln w="38100" cap="flat" cmpd="sng">
            <a:solidFill>
              <a:srgbClr val="FFC000"/>
            </a:solidFill>
            <a:prstDash val="solid"/>
            <a:round/>
            <a:headEnd type="oval" w="med" len="med"/>
            <a:tailEnd type="triangle" w="lg" len="lg"/>
          </a:ln>
        </p:spPr>
        <p:txBody>
          <a:bodyPr tIns="91440" bIns="91440" anchor="ctr"/>
          <a:lstStyle/>
          <a:p>
            <a:endParaRPr lang="en-US">
              <a:latin typeface="Times New Roman" panose="02020603050405020304" pitchFamily="18" charset="0"/>
            </a:endParaRPr>
          </a:p>
        </p:txBody>
      </p:sp>
    </p:spTree>
    <p:extLst>
      <p:ext uri="{BB962C8B-B14F-4D97-AF65-F5344CB8AC3E}">
        <p14:creationId xmlns:p14="http://schemas.microsoft.com/office/powerpoint/2010/main" val="3465827410"/>
      </p:ext>
    </p:extLst>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1130" y="2013270"/>
            <a:ext cx="10907976" cy="709381"/>
          </a:xfrm>
        </p:spPr>
        <p:txBody>
          <a:bodyPr anchor="t" anchorCtr="0">
            <a:normAutofit/>
          </a:bodyPr>
          <a:lstStyle/>
          <a:p>
            <a:pPr marL="0" indent="0">
              <a:buNone/>
            </a:pPr>
            <a:r>
              <a:rPr lang="en-US" sz="3200" dirty="0"/>
              <a:t>Imagine one of these lockers has the solution to the final exam.</a:t>
            </a:r>
          </a:p>
          <a:p>
            <a:pPr marL="0" indent="0">
              <a:buNone/>
            </a:pPr>
            <a:endParaRPr lang="en-US" sz="8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056" y="2722651"/>
            <a:ext cx="3940139" cy="3940139"/>
          </a:xfrm>
          <a:prstGeom prst="rect">
            <a:avLst/>
          </a:prstGeom>
        </p:spPr>
      </p:pic>
      <p:sp>
        <p:nvSpPr>
          <p:cNvPr id="45" name="Content Placeholder 2"/>
          <p:cNvSpPr txBox="1">
            <a:spLocks/>
          </p:cNvSpPr>
          <p:nvPr/>
        </p:nvSpPr>
        <p:spPr>
          <a:xfrm>
            <a:off x="4403824" y="2722651"/>
            <a:ext cx="6962208" cy="2095929"/>
          </a:xfrm>
          <a:prstGeom prst="rect">
            <a:avLst/>
          </a:prstGeom>
        </p:spPr>
        <p:txBody>
          <a:bodyPr vert="horz" lIns="91440" tIns="45720" rIns="91440" bIns="45720" rtlCol="0" anchor="t" anchorCtr="0">
            <a:normAutofit fontScale="92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b="0" i="0" kern="1200">
                <a:solidFill>
                  <a:schemeClr val="tx2"/>
                </a:solidFill>
                <a:latin typeface="Times New Roman" panose="02020603050405020304" pitchFamily="18" charset="0"/>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b="0" i="0" kern="1200">
                <a:solidFill>
                  <a:schemeClr val="tx2"/>
                </a:solidFill>
                <a:latin typeface="Times New Roman" panose="02020603050405020304" pitchFamily="18" charset="0"/>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b="0" i="0" kern="1200">
                <a:solidFill>
                  <a:schemeClr val="tx2"/>
                </a:solidFill>
                <a:latin typeface="Times New Roman" panose="02020603050405020304" pitchFamily="18" charset="0"/>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3200" dirty="0"/>
              <a:t>There are no labels on the lockers or clues, and you need to search them all.  Worst case is the last locker you search has what you want.  If there are 7 lockers, it takes you 7 tries. </a:t>
            </a:r>
          </a:p>
          <a:p>
            <a:pPr marL="0" indent="0">
              <a:buFont typeface="Wingdings 2" panose="05020102010507070707" pitchFamily="18" charset="2"/>
              <a:buNone/>
            </a:pPr>
            <a:endParaRPr lang="en-US" sz="800" dirty="0"/>
          </a:p>
        </p:txBody>
      </p:sp>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t="20075" b="15655"/>
          <a:stretch/>
        </p:blipFill>
        <p:spPr>
          <a:xfrm>
            <a:off x="4921320" y="4627831"/>
            <a:ext cx="2928991" cy="1882453"/>
          </a:xfrm>
          <a:prstGeom prst="rect">
            <a:avLst/>
          </a:prstGeom>
        </p:spPr>
      </p:pic>
      <p:sp>
        <p:nvSpPr>
          <p:cNvPr id="47" name="Content Placeholder 2"/>
          <p:cNvSpPr txBox="1">
            <a:spLocks/>
          </p:cNvSpPr>
          <p:nvPr/>
        </p:nvSpPr>
        <p:spPr>
          <a:xfrm>
            <a:off x="8367807" y="4627831"/>
            <a:ext cx="2979503" cy="1750709"/>
          </a:xfrm>
          <a:prstGeom prst="rect">
            <a:avLst/>
          </a:prstGeom>
        </p:spPr>
        <p:txBody>
          <a:bodyPr vert="horz" lIns="91440" tIns="45720" rIns="91440" bIns="45720" rtlCol="0" anchor="t" anchorCtr="0">
            <a:normAutofit fontScale="92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b="0" i="0" kern="1200">
                <a:solidFill>
                  <a:schemeClr val="tx2"/>
                </a:solidFill>
                <a:latin typeface="Times New Roman" panose="02020603050405020304" pitchFamily="18" charset="0"/>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b="0" i="0" kern="1200">
                <a:solidFill>
                  <a:schemeClr val="tx2"/>
                </a:solidFill>
                <a:latin typeface="Times New Roman" panose="02020603050405020304" pitchFamily="18" charset="0"/>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b="0" i="0" kern="1200">
                <a:solidFill>
                  <a:schemeClr val="tx2"/>
                </a:solidFill>
                <a:latin typeface="Times New Roman" panose="02020603050405020304" pitchFamily="18" charset="0"/>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3200" dirty="0"/>
              <a:t>If there are 26 lockers, worst case is 26 tries.  </a:t>
            </a:r>
            <a:r>
              <a:rPr lang="en-US" sz="3200" dirty="0">
                <a:solidFill>
                  <a:srgbClr val="0070C0"/>
                </a:solidFill>
              </a:rPr>
              <a:t>O(n) problem</a:t>
            </a:r>
            <a:r>
              <a:rPr lang="en-US" sz="3200" dirty="0"/>
              <a:t>.</a:t>
            </a:r>
          </a:p>
          <a:p>
            <a:pPr marL="0" indent="0">
              <a:buFont typeface="Wingdings 2" panose="05020102010507070707" pitchFamily="18" charset="2"/>
              <a:buNone/>
            </a:pPr>
            <a:endParaRPr lang="en-US" sz="800" dirty="0"/>
          </a:p>
        </p:txBody>
      </p:sp>
    </p:spTree>
    <p:extLst>
      <p:ext uri="{BB962C8B-B14F-4D97-AF65-F5344CB8AC3E}">
        <p14:creationId xmlns:p14="http://schemas.microsoft.com/office/powerpoint/2010/main" val="380286355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anim calcmode="lin" valueType="num">
                                      <p:cBhvr additive="base">
                                        <p:cTn id="13" dur="500" fill="hold"/>
                                        <p:tgtEl>
                                          <p:spTgt spid="47"/>
                                        </p:tgtEl>
                                        <p:attrNameLst>
                                          <p:attrName>ppt_x</p:attrName>
                                        </p:attrNameLst>
                                      </p:cBhvr>
                                      <p:tavLst>
                                        <p:tav tm="0">
                                          <p:val>
                                            <p:strVal val="#ppt_x"/>
                                          </p:val>
                                        </p:tav>
                                        <p:tav tm="100000">
                                          <p:val>
                                            <p:strVal val="#ppt_x"/>
                                          </p:val>
                                        </p:tav>
                                      </p:tavLst>
                                    </p:anim>
                                    <p:anim calcmode="lin" valueType="num">
                                      <p:cBhvr additive="base">
                                        <p:cTn id="14"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4529" y="2866491"/>
            <a:ext cx="10859785" cy="1767154"/>
          </a:xfrm>
        </p:spPr>
        <p:txBody>
          <a:bodyPr anchor="t" anchorCtr="0">
            <a:normAutofit/>
          </a:bodyPr>
          <a:lstStyle/>
          <a:p>
            <a:pPr marL="0" indent="0">
              <a:buNone/>
            </a:pPr>
            <a:r>
              <a:rPr lang="en-US" sz="3800" dirty="0"/>
              <a:t>What if I told you there was a way we could turn this into a </a:t>
            </a:r>
            <a:r>
              <a:rPr lang="en-US" sz="3800" dirty="0">
                <a:solidFill>
                  <a:srgbClr val="0070C0"/>
                </a:solidFill>
              </a:rPr>
              <a:t>O(1) </a:t>
            </a:r>
            <a:r>
              <a:rPr lang="en-US" sz="3800" dirty="0"/>
              <a:t>solution.</a:t>
            </a:r>
          </a:p>
          <a:p>
            <a:pPr marL="0" indent="0">
              <a:buNone/>
            </a:pPr>
            <a:endParaRPr lang="en-US" sz="800" dirty="0"/>
          </a:p>
        </p:txBody>
      </p:sp>
    </p:spTree>
    <p:extLst>
      <p:ext uri="{BB962C8B-B14F-4D97-AF65-F5344CB8AC3E}">
        <p14:creationId xmlns:p14="http://schemas.microsoft.com/office/powerpoint/2010/main" val="517335996"/>
      </p:ext>
    </p:extLst>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06975" y="2321960"/>
            <a:ext cx="4428162" cy="1746606"/>
          </a:xfrm>
        </p:spPr>
        <p:txBody>
          <a:bodyPr anchor="t" anchorCtr="0">
            <a:normAutofit/>
          </a:bodyPr>
          <a:lstStyle/>
          <a:p>
            <a:pPr marL="0" indent="0">
              <a:buNone/>
            </a:pPr>
            <a:r>
              <a:rPr lang="en-US" sz="3200" dirty="0"/>
              <a:t>Guess which locker has the exam solutions.</a:t>
            </a:r>
            <a:endParaRPr lang="en-US" sz="8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056" y="514563"/>
            <a:ext cx="6148227" cy="6148227"/>
          </a:xfrm>
          <a:prstGeom prst="rect">
            <a:avLst/>
          </a:prstGeom>
        </p:spPr>
      </p:pic>
      <p:sp>
        <p:nvSpPr>
          <p:cNvPr id="2" name="TextBox 1"/>
          <p:cNvSpPr txBox="1"/>
          <p:nvPr/>
        </p:nvSpPr>
        <p:spPr>
          <a:xfrm>
            <a:off x="585627" y="2568539"/>
            <a:ext cx="1099335" cy="323165"/>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Notebooks</a:t>
            </a:r>
          </a:p>
        </p:txBody>
      </p:sp>
      <p:sp>
        <p:nvSpPr>
          <p:cNvPr id="8" name="TextBox 7"/>
          <p:cNvSpPr txBox="1"/>
          <p:nvPr/>
        </p:nvSpPr>
        <p:spPr>
          <a:xfrm>
            <a:off x="1812533" y="2595937"/>
            <a:ext cx="766280" cy="323165"/>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Pencils</a:t>
            </a:r>
          </a:p>
        </p:txBody>
      </p:sp>
      <p:sp>
        <p:nvSpPr>
          <p:cNvPr id="9" name="TextBox 8"/>
          <p:cNvSpPr txBox="1"/>
          <p:nvPr/>
        </p:nvSpPr>
        <p:spPr>
          <a:xfrm>
            <a:off x="2860500" y="2595937"/>
            <a:ext cx="807376" cy="323165"/>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Paper</a:t>
            </a:r>
          </a:p>
        </p:txBody>
      </p:sp>
      <p:sp>
        <p:nvSpPr>
          <p:cNvPr id="10" name="TextBox 9"/>
          <p:cNvSpPr txBox="1"/>
          <p:nvPr/>
        </p:nvSpPr>
        <p:spPr>
          <a:xfrm>
            <a:off x="3667876" y="2657492"/>
            <a:ext cx="893850" cy="492443"/>
          </a:xfrm>
          <a:prstGeom prst="rect">
            <a:avLst/>
          </a:prstGeom>
          <a:noFill/>
        </p:spPr>
        <p:txBody>
          <a:bodyPr wrap="square" rtlCol="0">
            <a:spAutoFit/>
          </a:bodyPr>
          <a:lstStyle/>
          <a:p>
            <a:r>
              <a:rPr lang="en-US" sz="1300" dirty="0">
                <a:latin typeface="Times New Roman" panose="02020603050405020304" pitchFamily="18" charset="0"/>
                <a:cs typeface="Times New Roman" panose="02020603050405020304" pitchFamily="18" charset="0"/>
              </a:rPr>
              <a:t>Exams Solutions</a:t>
            </a:r>
          </a:p>
        </p:txBody>
      </p:sp>
      <p:sp>
        <p:nvSpPr>
          <p:cNvPr id="11" name="TextBox 10"/>
          <p:cNvSpPr txBox="1"/>
          <p:nvPr/>
        </p:nvSpPr>
        <p:spPr>
          <a:xfrm>
            <a:off x="4530904" y="2732926"/>
            <a:ext cx="71919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Erasers</a:t>
            </a:r>
          </a:p>
        </p:txBody>
      </p:sp>
      <p:sp>
        <p:nvSpPr>
          <p:cNvPr id="12" name="TextBox 11"/>
          <p:cNvSpPr txBox="1"/>
          <p:nvPr/>
        </p:nvSpPr>
        <p:spPr>
          <a:xfrm>
            <a:off x="5301465" y="2806222"/>
            <a:ext cx="595901" cy="553998"/>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Post its</a:t>
            </a:r>
          </a:p>
        </p:txBody>
      </p:sp>
      <p:sp>
        <p:nvSpPr>
          <p:cNvPr id="13" name="TextBox 12"/>
          <p:cNvSpPr txBox="1"/>
          <p:nvPr/>
        </p:nvSpPr>
        <p:spPr>
          <a:xfrm>
            <a:off x="6007819" y="2872098"/>
            <a:ext cx="628432" cy="323165"/>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Pens</a:t>
            </a:r>
          </a:p>
        </p:txBody>
      </p:sp>
    </p:spTree>
    <p:extLst>
      <p:ext uri="{BB962C8B-B14F-4D97-AF65-F5344CB8AC3E}">
        <p14:creationId xmlns:p14="http://schemas.microsoft.com/office/powerpoint/2010/main" val="304256164"/>
      </p:ext>
    </p:extLst>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199" y="774700"/>
            <a:ext cx="9389533" cy="990600"/>
          </a:xfrm>
        </p:spPr>
        <p:txBody>
          <a:bodyPr>
            <a:noAutofit/>
          </a:bodyPr>
          <a:lstStyle/>
          <a:p>
            <a:r>
              <a:rPr lang="en-US" sz="4800" dirty="0">
                <a:solidFill>
                  <a:schemeClr val="bg1"/>
                </a:solidFill>
                <a:latin typeface="Times New Roman" panose="02020603050405020304" pitchFamily="18" charset="0"/>
                <a:cs typeface="Times New Roman" panose="02020603050405020304" pitchFamily="18" charset="0"/>
              </a:rPr>
              <a:t>Hash Tables (hash maps)</a:t>
            </a:r>
          </a:p>
        </p:txBody>
      </p:sp>
      <p:sp>
        <p:nvSpPr>
          <p:cNvPr id="5" name="Content Placeholder 2"/>
          <p:cNvSpPr txBox="1">
            <a:spLocks/>
          </p:cNvSpPr>
          <p:nvPr/>
        </p:nvSpPr>
        <p:spPr bwMode="auto">
          <a:xfrm>
            <a:off x="533400" y="2070100"/>
            <a:ext cx="10629900" cy="198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6213" indent="-176213">
              <a:lnSpc>
                <a:spcPct val="100000"/>
              </a:lnSpc>
              <a:spcAft>
                <a:spcPts val="600"/>
              </a:spcAft>
            </a:pPr>
            <a:r>
              <a:rPr lang="en-US" dirty="0">
                <a:latin typeface="Times New Roman" panose="02020603050405020304" pitchFamily="18" charset="0"/>
              </a:rPr>
              <a:t>Hash tables are dynamic data structures that support the operations search/find, insertion, and deletion.</a:t>
            </a:r>
          </a:p>
          <a:p>
            <a:pPr marL="176213" indent="-176213">
              <a:lnSpc>
                <a:spcPct val="100000"/>
              </a:lnSpc>
              <a:spcAft>
                <a:spcPts val="600"/>
              </a:spcAft>
            </a:pPr>
            <a:r>
              <a:rPr lang="en-US" dirty="0">
                <a:latin typeface="Times New Roman" panose="02020603050405020304" pitchFamily="18" charset="0"/>
              </a:rPr>
              <a:t>A hash table can be very fast, potentially </a:t>
            </a:r>
            <a:r>
              <a:rPr lang="en-US" dirty="0">
                <a:solidFill>
                  <a:srgbClr val="00B0F0"/>
                </a:solidFill>
                <a:latin typeface="Times New Roman" panose="02020603050405020304" pitchFamily="18" charset="0"/>
                <a:cs typeface="Times New Roman" panose="02020603050405020304" pitchFamily="18" charset="0"/>
              </a:rPr>
              <a:t>O(1)</a:t>
            </a:r>
            <a:r>
              <a:rPr lang="en-US" dirty="0">
                <a:latin typeface="Times New Roman" panose="02020603050405020304" pitchFamily="18" charset="0"/>
                <a:cs typeface="Times New Roman" panose="02020603050405020304" pitchFamily="18" charset="0"/>
              </a:rPr>
              <a:t>, for all three operations (search/insert/delete)</a:t>
            </a:r>
          </a:p>
          <a:p>
            <a:pPr marL="176213" indent="-176213">
              <a:lnSpc>
                <a:spcPct val="100000"/>
              </a:lnSpc>
              <a:spcAft>
                <a:spcPts val="600"/>
              </a:spcAft>
            </a:pPr>
            <a:r>
              <a:rPr lang="en-US" dirty="0">
                <a:latin typeface="Times New Roman" panose="02020603050405020304" pitchFamily="18" charset="0"/>
              </a:rPr>
              <a:t>In other languages you might call hash tables/maps, dictionaries or associative arrays.</a:t>
            </a:r>
          </a:p>
        </p:txBody>
      </p:sp>
    </p:spTree>
    <p:extLst>
      <p:ext uri="{BB962C8B-B14F-4D97-AF65-F5344CB8AC3E}">
        <p14:creationId xmlns:p14="http://schemas.microsoft.com/office/powerpoint/2010/main" val="370561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normAutofit/>
          </a:bodyPr>
          <a:lstStyle/>
          <a:p>
            <a:pPr eaLnBrk="1" hangingPunct="1"/>
            <a:r>
              <a:rPr lang="en-US" sz="4800" dirty="0">
                <a:latin typeface="Times New Roman" panose="02020603050405020304" pitchFamily="18" charset="0"/>
              </a:rPr>
              <a:t>Example</a:t>
            </a:r>
          </a:p>
        </p:txBody>
      </p:sp>
      <p:sp>
        <p:nvSpPr>
          <p:cNvPr id="14341" name="Rectangle 3" descr="Rectangle: Click to edit Master text styles&#10;Second level&#10;Third level&#10;Fourth level&#10;Fifth level"/>
          <p:cNvSpPr>
            <a:spLocks noGrp="1" noChangeArrowheads="1"/>
          </p:cNvSpPr>
          <p:nvPr>
            <p:ph type="body" idx="1"/>
          </p:nvPr>
        </p:nvSpPr>
        <p:spPr>
          <a:xfrm>
            <a:off x="476417" y="1864876"/>
            <a:ext cx="6245058" cy="4419600"/>
          </a:xfrm>
        </p:spPr>
        <p:txBody>
          <a:bodyPr>
            <a:noAutofit/>
          </a:bodyPr>
          <a:lstStyle/>
          <a:p>
            <a:pPr eaLnBrk="1" hangingPunct="1"/>
            <a:r>
              <a:rPr lang="en-US" sz="2800" dirty="0">
                <a:latin typeface="Times New Roman" panose="02020603050405020304" pitchFamily="18" charset="0"/>
              </a:rPr>
              <a:t>We design a hash table </a:t>
            </a:r>
          </a:p>
          <a:p>
            <a:pPr lvl="1" eaLnBrk="1" hangingPunct="1"/>
            <a:r>
              <a:rPr lang="en-US" sz="2800" dirty="0">
                <a:latin typeface="Times New Roman" panose="02020603050405020304" pitchFamily="18" charset="0"/>
              </a:rPr>
              <a:t>storing entries as (</a:t>
            </a:r>
            <a:r>
              <a:rPr lang="en-US" sz="2800" dirty="0"/>
              <a:t>Phone#</a:t>
            </a:r>
            <a:r>
              <a:rPr lang="en-US" sz="2800" dirty="0">
                <a:latin typeface="Times New Roman" panose="02020603050405020304" pitchFamily="18" charset="0"/>
              </a:rPr>
              <a:t>, Name)</a:t>
            </a:r>
          </a:p>
          <a:p>
            <a:pPr lvl="1" eaLnBrk="1" hangingPunct="1"/>
            <a:r>
              <a:rPr lang="en-US" sz="2800" dirty="0">
                <a:latin typeface="Times New Roman" panose="02020603050405020304" pitchFamily="18" charset="0"/>
              </a:rPr>
              <a:t>Phone# is a </a:t>
            </a:r>
            <a:r>
              <a:rPr lang="en-US" sz="2800" dirty="0"/>
              <a:t>ten</a:t>
            </a:r>
            <a:r>
              <a:rPr lang="en-US" sz="2800" dirty="0">
                <a:latin typeface="Times New Roman" panose="02020603050405020304" pitchFamily="18" charset="0"/>
              </a:rPr>
              <a:t>-digit positive integer</a:t>
            </a:r>
          </a:p>
          <a:p>
            <a:pPr eaLnBrk="1" hangingPunct="1"/>
            <a:r>
              <a:rPr lang="en-US" sz="2800" dirty="0">
                <a:latin typeface="Times New Roman" panose="02020603050405020304" pitchFamily="18" charset="0"/>
              </a:rPr>
              <a:t>Our hash table uses</a:t>
            </a:r>
          </a:p>
          <a:p>
            <a:pPr lvl="1" eaLnBrk="1" hangingPunct="1"/>
            <a:r>
              <a:rPr lang="en-US" sz="2800" dirty="0">
                <a:latin typeface="Times New Roman" panose="02020603050405020304" pitchFamily="18" charset="0"/>
              </a:rPr>
              <a:t> array of size</a:t>
            </a:r>
            <a:r>
              <a:rPr lang="en-US" sz="2800" dirty="0">
                <a:latin typeface="Times New Roman" charset="0"/>
              </a:rPr>
              <a:t> </a:t>
            </a:r>
            <a:r>
              <a:rPr lang="en-US" sz="2800" b="1" i="1" dirty="0">
                <a:latin typeface="Times New Roman" charset="0"/>
              </a:rPr>
              <a:t>N</a:t>
            </a:r>
            <a:r>
              <a:rPr lang="en-US" sz="2800" dirty="0"/>
              <a:t> = </a:t>
            </a:r>
            <a:r>
              <a:rPr lang="en-US" sz="2800" dirty="0">
                <a:latin typeface="Times New Roman" charset="0"/>
              </a:rPr>
              <a:t>10,000</a:t>
            </a:r>
            <a:r>
              <a:rPr lang="en-US" sz="2800" dirty="0">
                <a:latin typeface="Times New Roman" panose="02020603050405020304" pitchFamily="18" charset="0"/>
              </a:rPr>
              <a:t> and </a:t>
            </a:r>
          </a:p>
          <a:p>
            <a:pPr lvl="1" eaLnBrk="1" hangingPunct="1"/>
            <a:r>
              <a:rPr lang="en-US" sz="2800" dirty="0">
                <a:latin typeface="Times New Roman" panose="02020603050405020304" pitchFamily="18" charset="0"/>
              </a:rPr>
              <a:t> hash function</a:t>
            </a:r>
            <a:br>
              <a:rPr lang="en-US" sz="2800" dirty="0">
                <a:latin typeface="Times New Roman" panose="02020603050405020304" pitchFamily="18" charset="0"/>
              </a:rPr>
            </a:br>
            <a:r>
              <a:rPr lang="en-US" sz="2800" b="1" i="1" dirty="0">
                <a:latin typeface="Times New Roman" charset="0"/>
              </a:rPr>
              <a:t>h</a:t>
            </a:r>
            <a:r>
              <a:rPr lang="en-US" sz="2800" dirty="0">
                <a:latin typeface="Times New Roman" charset="0"/>
              </a:rPr>
              <a:t>(</a:t>
            </a:r>
            <a:r>
              <a:rPr lang="en-US" sz="2800" b="1" i="1" dirty="0">
                <a:latin typeface="Times New Roman" charset="0"/>
              </a:rPr>
              <a:t>x</a:t>
            </a:r>
            <a:r>
              <a:rPr lang="en-US" sz="2800" dirty="0">
                <a:latin typeface="Times New Roman" charset="0"/>
              </a:rPr>
              <a:t>)</a:t>
            </a:r>
            <a:r>
              <a:rPr lang="en-US" sz="2800" dirty="0"/>
              <a:t> = </a:t>
            </a:r>
            <a:r>
              <a:rPr lang="en-US" sz="2800" dirty="0">
                <a:latin typeface="Times New Roman" charset="0"/>
              </a:rPr>
              <a:t>last four digits of </a:t>
            </a:r>
            <a:r>
              <a:rPr lang="en-US" sz="2800" b="1" i="1" dirty="0">
                <a:latin typeface="Times New Roman" charset="0"/>
              </a:rPr>
              <a:t>x</a:t>
            </a:r>
          </a:p>
        </p:txBody>
      </p:sp>
      <p:grpSp>
        <p:nvGrpSpPr>
          <p:cNvPr id="14342" name="Group 30"/>
          <p:cNvGrpSpPr>
            <a:grpSpLocks/>
          </p:cNvGrpSpPr>
          <p:nvPr/>
        </p:nvGrpSpPr>
        <p:grpSpPr bwMode="auto">
          <a:xfrm>
            <a:off x="6781800" y="1828800"/>
            <a:ext cx="2978150" cy="3200400"/>
            <a:chOff x="2496" y="1488"/>
            <a:chExt cx="1876" cy="2016"/>
          </a:xfrm>
        </p:grpSpPr>
        <p:sp>
          <p:nvSpPr>
            <p:cNvPr id="14344" name="Rectangle 4"/>
            <p:cNvSpPr>
              <a:spLocks noChangeArrowheads="1"/>
            </p:cNvSpPr>
            <p:nvPr/>
          </p:nvSpPr>
          <p:spPr bwMode="auto">
            <a:xfrm>
              <a:off x="2996" y="1536"/>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r>
                <a:rPr lang="en-US" dirty="0">
                  <a:latin typeface="Times New Roman" panose="02020603050405020304" pitchFamily="18" charset="0"/>
                  <a:sym typeface="Symbol" charset="0"/>
                </a:rPr>
                <a:t></a:t>
              </a:r>
              <a:endParaRPr lang="en-US" dirty="0">
                <a:latin typeface="Times New Roman" panose="02020603050405020304" pitchFamily="18" charset="0"/>
              </a:endParaRPr>
            </a:p>
          </p:txBody>
        </p:sp>
        <p:sp>
          <p:nvSpPr>
            <p:cNvPr id="14345" name="Rectangle 5"/>
            <p:cNvSpPr>
              <a:spLocks noChangeArrowheads="1"/>
            </p:cNvSpPr>
            <p:nvPr/>
          </p:nvSpPr>
          <p:spPr bwMode="auto">
            <a:xfrm>
              <a:off x="2996" y="1728"/>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Times New Roman" panose="02020603050405020304" pitchFamily="18" charset="0"/>
              </a:endParaRPr>
            </a:p>
          </p:txBody>
        </p:sp>
        <p:sp>
          <p:nvSpPr>
            <p:cNvPr id="14346" name="Rectangle 6"/>
            <p:cNvSpPr>
              <a:spLocks noChangeArrowheads="1"/>
            </p:cNvSpPr>
            <p:nvPr/>
          </p:nvSpPr>
          <p:spPr bwMode="auto">
            <a:xfrm>
              <a:off x="2996" y="1920"/>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Times New Roman" panose="02020603050405020304" pitchFamily="18" charset="0"/>
                <a:sym typeface="Symbol" charset="0"/>
              </a:endParaRPr>
            </a:p>
          </p:txBody>
        </p:sp>
        <p:sp>
          <p:nvSpPr>
            <p:cNvPr id="14347" name="Rectangle 7"/>
            <p:cNvSpPr>
              <a:spLocks noChangeArrowheads="1"/>
            </p:cNvSpPr>
            <p:nvPr/>
          </p:nvSpPr>
          <p:spPr bwMode="auto">
            <a:xfrm>
              <a:off x="2996" y="2112"/>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r>
                <a:rPr lang="en-US" dirty="0">
                  <a:latin typeface="Times New Roman" panose="02020603050405020304" pitchFamily="18" charset="0"/>
                  <a:sym typeface="Symbol" charset="0"/>
                </a:rPr>
                <a:t></a:t>
              </a:r>
            </a:p>
          </p:txBody>
        </p:sp>
        <p:sp>
          <p:nvSpPr>
            <p:cNvPr id="14348" name="Rectangle 8"/>
            <p:cNvSpPr>
              <a:spLocks noChangeArrowheads="1"/>
            </p:cNvSpPr>
            <p:nvPr/>
          </p:nvSpPr>
          <p:spPr bwMode="auto">
            <a:xfrm>
              <a:off x="2996" y="2304"/>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Times New Roman" panose="02020603050405020304" pitchFamily="18" charset="0"/>
              </a:endParaRPr>
            </a:p>
          </p:txBody>
        </p:sp>
        <p:sp>
          <p:nvSpPr>
            <p:cNvPr id="14349" name="Rectangle 9"/>
            <p:cNvSpPr>
              <a:spLocks noChangeArrowheads="1"/>
            </p:cNvSpPr>
            <p:nvPr/>
          </p:nvSpPr>
          <p:spPr bwMode="auto">
            <a:xfrm>
              <a:off x="2996" y="3072"/>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Times New Roman" panose="02020603050405020304" pitchFamily="18" charset="0"/>
              </a:endParaRPr>
            </a:p>
          </p:txBody>
        </p:sp>
        <p:sp>
          <p:nvSpPr>
            <p:cNvPr id="14350" name="Rectangle 10"/>
            <p:cNvSpPr>
              <a:spLocks noChangeArrowheads="1"/>
            </p:cNvSpPr>
            <p:nvPr/>
          </p:nvSpPr>
          <p:spPr bwMode="auto">
            <a:xfrm>
              <a:off x="2996" y="2880"/>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r>
                <a:rPr lang="en-US" dirty="0">
                  <a:latin typeface="Times New Roman" panose="02020603050405020304" pitchFamily="18" charset="0"/>
                  <a:sym typeface="Symbol" charset="0"/>
                </a:rPr>
                <a:t></a:t>
              </a:r>
            </a:p>
          </p:txBody>
        </p:sp>
        <p:sp>
          <p:nvSpPr>
            <p:cNvPr id="14351" name="Rectangle 11"/>
            <p:cNvSpPr>
              <a:spLocks noChangeArrowheads="1"/>
            </p:cNvSpPr>
            <p:nvPr/>
          </p:nvSpPr>
          <p:spPr bwMode="auto">
            <a:xfrm>
              <a:off x="2996" y="3264"/>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r>
                <a:rPr lang="en-US" dirty="0">
                  <a:latin typeface="Times New Roman" panose="02020603050405020304" pitchFamily="18" charset="0"/>
                  <a:sym typeface="Symbol" charset="0"/>
                </a:rPr>
                <a:t></a:t>
              </a:r>
            </a:p>
          </p:txBody>
        </p:sp>
        <p:sp>
          <p:nvSpPr>
            <p:cNvPr id="14352" name="Text Box 12"/>
            <p:cNvSpPr txBox="1">
              <a:spLocks noChangeArrowheads="1"/>
            </p:cNvSpPr>
            <p:nvPr/>
          </p:nvSpPr>
          <p:spPr bwMode="auto">
            <a:xfrm>
              <a:off x="2784" y="14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0</a:t>
              </a:r>
            </a:p>
          </p:txBody>
        </p:sp>
        <p:sp>
          <p:nvSpPr>
            <p:cNvPr id="14353" name="Text Box 13"/>
            <p:cNvSpPr txBox="1">
              <a:spLocks noChangeArrowheads="1"/>
            </p:cNvSpPr>
            <p:nvPr/>
          </p:nvSpPr>
          <p:spPr bwMode="auto">
            <a:xfrm>
              <a:off x="2784" y="168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1</a:t>
              </a:r>
            </a:p>
          </p:txBody>
        </p:sp>
        <p:sp>
          <p:nvSpPr>
            <p:cNvPr id="14354" name="Text Box 14"/>
            <p:cNvSpPr txBox="1">
              <a:spLocks noChangeArrowheads="1"/>
            </p:cNvSpPr>
            <p:nvPr/>
          </p:nvSpPr>
          <p:spPr bwMode="auto">
            <a:xfrm>
              <a:off x="2784" y="187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2</a:t>
              </a:r>
            </a:p>
          </p:txBody>
        </p:sp>
        <p:sp>
          <p:nvSpPr>
            <p:cNvPr id="14355" name="Text Box 15"/>
            <p:cNvSpPr txBox="1">
              <a:spLocks noChangeArrowheads="1"/>
            </p:cNvSpPr>
            <p:nvPr/>
          </p:nvSpPr>
          <p:spPr bwMode="auto">
            <a:xfrm>
              <a:off x="2784" y="206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3</a:t>
              </a:r>
            </a:p>
          </p:txBody>
        </p:sp>
        <p:sp>
          <p:nvSpPr>
            <p:cNvPr id="14356" name="Text Box 16"/>
            <p:cNvSpPr txBox="1">
              <a:spLocks noChangeArrowheads="1"/>
            </p:cNvSpPr>
            <p:nvPr/>
          </p:nvSpPr>
          <p:spPr bwMode="auto">
            <a:xfrm>
              <a:off x="2784" y="22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4</a:t>
              </a:r>
            </a:p>
          </p:txBody>
        </p:sp>
        <p:sp>
          <p:nvSpPr>
            <p:cNvPr id="14357" name="Text Box 17"/>
            <p:cNvSpPr txBox="1">
              <a:spLocks noChangeArrowheads="1"/>
            </p:cNvSpPr>
            <p:nvPr/>
          </p:nvSpPr>
          <p:spPr bwMode="auto">
            <a:xfrm>
              <a:off x="2496" y="2832"/>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algn="r" eaLnBrk="1" hangingPunct="1"/>
              <a:r>
                <a:rPr lang="en-US">
                  <a:latin typeface="Times New Roman" charset="0"/>
                </a:rPr>
                <a:t>9997</a:t>
              </a:r>
            </a:p>
          </p:txBody>
        </p:sp>
        <p:sp>
          <p:nvSpPr>
            <p:cNvPr id="14358" name="Text Box 18"/>
            <p:cNvSpPr txBox="1">
              <a:spLocks noChangeArrowheads="1"/>
            </p:cNvSpPr>
            <p:nvPr/>
          </p:nvSpPr>
          <p:spPr bwMode="auto">
            <a:xfrm>
              <a:off x="2496" y="3024"/>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9998</a:t>
              </a:r>
            </a:p>
          </p:txBody>
        </p:sp>
        <p:sp>
          <p:nvSpPr>
            <p:cNvPr id="14359" name="Text Box 19"/>
            <p:cNvSpPr txBox="1">
              <a:spLocks noChangeArrowheads="1"/>
            </p:cNvSpPr>
            <p:nvPr/>
          </p:nvSpPr>
          <p:spPr bwMode="auto">
            <a:xfrm>
              <a:off x="2496" y="3216"/>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9999</a:t>
              </a:r>
            </a:p>
          </p:txBody>
        </p:sp>
        <p:sp>
          <p:nvSpPr>
            <p:cNvPr id="14360" name="Text Box 20"/>
            <p:cNvSpPr txBox="1">
              <a:spLocks noChangeArrowheads="1"/>
            </p:cNvSpPr>
            <p:nvPr/>
          </p:nvSpPr>
          <p:spPr bwMode="auto">
            <a:xfrm rot="5400000">
              <a:off x="2986" y="2542"/>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a:t>
              </a:r>
            </a:p>
          </p:txBody>
        </p:sp>
        <p:sp>
          <p:nvSpPr>
            <p:cNvPr id="14361" name="AutoShape 21"/>
            <p:cNvSpPr>
              <a:spLocks noChangeArrowheads="1"/>
            </p:cNvSpPr>
            <p:nvPr/>
          </p:nvSpPr>
          <p:spPr bwMode="auto">
            <a:xfrm>
              <a:off x="3360" y="2304"/>
              <a:ext cx="1008" cy="192"/>
            </a:xfrm>
            <a:prstGeom prst="roundRect">
              <a:avLst>
                <a:gd name="adj" fmla="val 16667"/>
              </a:avLst>
            </a:prstGeom>
            <a:solidFill>
              <a:schemeClr val="accent1"/>
            </a:solidFill>
            <a:ln w="19050">
              <a:solidFill>
                <a:schemeClr val="tx1"/>
              </a:solidFill>
              <a:round/>
              <a:headEnd/>
              <a:tailEnd/>
            </a:ln>
          </p:spPr>
          <p:txBody>
            <a:bodyPr wrap="none" anchor="ctr"/>
            <a:lstStyle/>
            <a:p>
              <a:r>
                <a:rPr lang="en-US" sz="1600" dirty="0">
                  <a:solidFill>
                    <a:schemeClr val="bg1"/>
                  </a:solidFill>
                  <a:latin typeface="Times New Roman" panose="02020603050405020304" pitchFamily="18" charset="0"/>
                </a:rPr>
                <a:t>451-229-0004</a:t>
              </a:r>
            </a:p>
          </p:txBody>
        </p:sp>
        <p:sp>
          <p:nvSpPr>
            <p:cNvPr id="14362" name="AutoShape 22"/>
            <p:cNvSpPr>
              <a:spLocks noChangeArrowheads="1"/>
            </p:cNvSpPr>
            <p:nvPr/>
          </p:nvSpPr>
          <p:spPr bwMode="auto">
            <a:xfrm>
              <a:off x="3360" y="1920"/>
              <a:ext cx="1008" cy="192"/>
            </a:xfrm>
            <a:prstGeom prst="roundRect">
              <a:avLst>
                <a:gd name="adj" fmla="val 16667"/>
              </a:avLst>
            </a:prstGeom>
            <a:solidFill>
              <a:schemeClr val="accent1"/>
            </a:solidFill>
            <a:ln w="19050">
              <a:solidFill>
                <a:schemeClr val="tx1"/>
              </a:solidFill>
              <a:round/>
              <a:headEnd/>
              <a:tailEnd/>
            </a:ln>
          </p:spPr>
          <p:txBody>
            <a:bodyPr wrap="none" anchor="ctr"/>
            <a:lstStyle/>
            <a:p>
              <a:r>
                <a:rPr lang="en-US" sz="1600" dirty="0">
                  <a:solidFill>
                    <a:schemeClr val="bg1"/>
                  </a:solidFill>
                  <a:latin typeface="Times New Roman" panose="02020603050405020304" pitchFamily="18" charset="0"/>
                </a:rPr>
                <a:t>981-101-0002</a:t>
              </a:r>
            </a:p>
          </p:txBody>
        </p:sp>
        <p:sp>
          <p:nvSpPr>
            <p:cNvPr id="14363" name="Line 24"/>
            <p:cNvSpPr>
              <a:spLocks noChangeShapeType="1"/>
            </p:cNvSpPr>
            <p:nvPr/>
          </p:nvSpPr>
          <p:spPr bwMode="auto">
            <a:xfrm>
              <a:off x="3092" y="2400"/>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Times New Roman" panose="02020603050405020304" pitchFamily="18" charset="0"/>
              </a:endParaRPr>
            </a:p>
          </p:txBody>
        </p:sp>
        <p:sp>
          <p:nvSpPr>
            <p:cNvPr id="14364" name="AutoShape 25"/>
            <p:cNvSpPr>
              <a:spLocks noChangeArrowheads="1"/>
            </p:cNvSpPr>
            <p:nvPr/>
          </p:nvSpPr>
          <p:spPr bwMode="auto">
            <a:xfrm>
              <a:off x="3364" y="3072"/>
              <a:ext cx="1008" cy="192"/>
            </a:xfrm>
            <a:prstGeom prst="roundRect">
              <a:avLst>
                <a:gd name="adj" fmla="val 16667"/>
              </a:avLst>
            </a:prstGeom>
            <a:solidFill>
              <a:schemeClr val="accent1"/>
            </a:solidFill>
            <a:ln w="19050">
              <a:solidFill>
                <a:schemeClr val="tx1"/>
              </a:solidFill>
              <a:round/>
              <a:headEnd/>
              <a:tailEnd/>
            </a:ln>
          </p:spPr>
          <p:txBody>
            <a:bodyPr wrap="none" anchor="ctr"/>
            <a:lstStyle/>
            <a:p>
              <a:r>
                <a:rPr lang="en-US" sz="1600" dirty="0">
                  <a:solidFill>
                    <a:schemeClr val="bg1"/>
                  </a:solidFill>
                  <a:latin typeface="Times New Roman" panose="02020603050405020304" pitchFamily="18" charset="0"/>
                </a:rPr>
                <a:t>200-751-9998</a:t>
              </a:r>
            </a:p>
          </p:txBody>
        </p:sp>
        <p:sp>
          <p:nvSpPr>
            <p:cNvPr id="14365" name="Line 26"/>
            <p:cNvSpPr>
              <a:spLocks noChangeShapeType="1"/>
            </p:cNvSpPr>
            <p:nvPr/>
          </p:nvSpPr>
          <p:spPr bwMode="auto">
            <a:xfrm>
              <a:off x="3096" y="3168"/>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Times New Roman" panose="02020603050405020304" pitchFamily="18" charset="0"/>
              </a:endParaRPr>
            </a:p>
          </p:txBody>
        </p:sp>
        <p:sp>
          <p:nvSpPr>
            <p:cNvPr id="14366" name="AutoShape 27"/>
            <p:cNvSpPr>
              <a:spLocks noChangeArrowheads="1"/>
            </p:cNvSpPr>
            <p:nvPr/>
          </p:nvSpPr>
          <p:spPr bwMode="auto">
            <a:xfrm>
              <a:off x="3360" y="1728"/>
              <a:ext cx="1008" cy="192"/>
            </a:xfrm>
            <a:prstGeom prst="roundRect">
              <a:avLst>
                <a:gd name="adj" fmla="val 16667"/>
              </a:avLst>
            </a:prstGeom>
            <a:solidFill>
              <a:schemeClr val="accent1"/>
            </a:solidFill>
            <a:ln w="19050">
              <a:solidFill>
                <a:schemeClr val="tx1"/>
              </a:solidFill>
              <a:round/>
              <a:headEnd/>
              <a:tailEnd/>
            </a:ln>
          </p:spPr>
          <p:txBody>
            <a:bodyPr wrap="none" anchor="ctr"/>
            <a:lstStyle/>
            <a:p>
              <a:r>
                <a:rPr lang="en-US" sz="1600" dirty="0">
                  <a:solidFill>
                    <a:schemeClr val="bg1"/>
                  </a:solidFill>
                  <a:latin typeface="Times New Roman" panose="02020603050405020304" pitchFamily="18" charset="0"/>
                </a:rPr>
                <a:t>025-612-0001</a:t>
              </a:r>
            </a:p>
          </p:txBody>
        </p:sp>
        <p:sp>
          <p:nvSpPr>
            <p:cNvPr id="14367" name="Line 28"/>
            <p:cNvSpPr>
              <a:spLocks noChangeShapeType="1"/>
            </p:cNvSpPr>
            <p:nvPr/>
          </p:nvSpPr>
          <p:spPr bwMode="auto">
            <a:xfrm>
              <a:off x="3092" y="1824"/>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Times New Roman" panose="02020603050405020304" pitchFamily="18" charset="0"/>
              </a:endParaRPr>
            </a:p>
          </p:txBody>
        </p:sp>
        <p:sp>
          <p:nvSpPr>
            <p:cNvPr id="14368" name="Line 29"/>
            <p:cNvSpPr>
              <a:spLocks noChangeShapeType="1"/>
            </p:cNvSpPr>
            <p:nvPr/>
          </p:nvSpPr>
          <p:spPr bwMode="auto">
            <a:xfrm>
              <a:off x="3072" y="2016"/>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Times New Roman" panose="02020603050405020304" pitchFamily="18" charset="0"/>
              </a:endParaRPr>
            </a:p>
          </p:txBody>
        </p:sp>
      </p:grpSp>
      <p:sp>
        <p:nvSpPr>
          <p:cNvPr id="14343" name="Date Placeholder 31"/>
          <p:cNvSpPr>
            <a:spLocks noGrp="1"/>
          </p:cNvSpPr>
          <p:nvPr>
            <p:ph type="dt" sz="quarter" idx="10"/>
          </p:nvPr>
        </p:nvSpPr>
        <p:spPr>
          <a:xfrm>
            <a:off x="9197684" y="6294437"/>
            <a:ext cx="2844799"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dirty="0">
                <a:latin typeface="Times New Roman" panose="02020603050405020304" pitchFamily="18" charset="0"/>
              </a:rPr>
              <a:t>© 2014 Goodrich, </a:t>
            </a:r>
            <a:r>
              <a:rPr lang="en-US" sz="1400" dirty="0" err="1">
                <a:latin typeface="Times New Roman" panose="02020603050405020304" pitchFamily="18" charset="0"/>
              </a:rPr>
              <a:t>Tamassia</a:t>
            </a:r>
            <a:r>
              <a:rPr lang="en-US" sz="1400" dirty="0">
                <a:latin typeface="Times New Roman" panose="02020603050405020304" pitchFamily="18" charset="0"/>
              </a:rPr>
              <a:t>, </a:t>
            </a:r>
            <a:r>
              <a:rPr lang="en-US" sz="1400" dirty="0" err="1">
                <a:latin typeface="Times New Roman" panose="02020603050405020304" pitchFamily="18" charset="0"/>
              </a:rPr>
              <a:t>Godlwasser</a:t>
            </a:r>
            <a:endParaRPr lang="en-US" sz="1400" dirty="0">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F932D4-799B-423D-B03D-E80043D662A1}"/>
              </a:ext>
            </a:extLst>
          </p:cNvPr>
          <p:cNvSpPr>
            <a:spLocks noGrp="1"/>
          </p:cNvSpPr>
          <p:nvPr>
            <p:ph idx="1"/>
          </p:nvPr>
        </p:nvSpPr>
        <p:spPr>
          <a:xfrm>
            <a:off x="375978" y="1983702"/>
            <a:ext cx="8194819" cy="4014128"/>
          </a:xfrm>
        </p:spPr>
        <p:txBody>
          <a:bodyPr anchor="t" anchorCtr="0">
            <a:noAutofit/>
          </a:bodyPr>
          <a:lstStyle/>
          <a:p>
            <a:pPr>
              <a:lnSpc>
                <a:spcPct val="100000"/>
              </a:lnSpc>
              <a:spcBef>
                <a:spcPts val="600"/>
              </a:spcBef>
              <a:spcAft>
                <a:spcPts val="600"/>
              </a:spcAft>
            </a:pPr>
            <a:r>
              <a:rPr lang="en-US" sz="3200" dirty="0">
                <a:latin typeface="Times New Roman" panose="02020603050405020304" pitchFamily="18" charset="0"/>
                <a:cs typeface="Times New Roman" panose="02020603050405020304" pitchFamily="18" charset="0"/>
              </a:rPr>
              <a:t>If you want to look people up by last name, you could have a hash table like this.</a:t>
            </a:r>
          </a:p>
          <a:p>
            <a:pPr>
              <a:lnSpc>
                <a:spcPct val="100000"/>
              </a:lnSpc>
              <a:spcBef>
                <a:spcPts val="600"/>
              </a:spcBef>
              <a:spcAft>
                <a:spcPts val="600"/>
              </a:spcAft>
            </a:pPr>
            <a:endParaRPr lang="en-US" sz="3200" dirty="0">
              <a:latin typeface="Times New Roman" panose="02020603050405020304" pitchFamily="18" charset="0"/>
              <a:cs typeface="Times New Roman" panose="02020603050405020304" pitchFamily="18" charset="0"/>
            </a:endParaRPr>
          </a:p>
          <a:p>
            <a:pPr>
              <a:lnSpc>
                <a:spcPct val="100000"/>
              </a:lnSpc>
              <a:spcBef>
                <a:spcPts val="600"/>
              </a:spcBef>
              <a:spcAft>
                <a:spcPts val="600"/>
              </a:spcAft>
            </a:pPr>
            <a:r>
              <a:rPr lang="en-US" sz="3200" dirty="0">
                <a:latin typeface="Times New Roman" panose="02020603050405020304" pitchFamily="18" charset="0"/>
                <a:cs typeface="Times New Roman" panose="02020603050405020304" pitchFamily="18" charset="0"/>
              </a:rPr>
              <a:t>It’s possible to hash a string and come up with an integer you can use as an index into the hash table ex. ‘A’ in ascii is 65, so if we take the first letter of last name – 65, we get a number that can be used as the position in the hash table.</a:t>
            </a:r>
          </a:p>
        </p:txBody>
      </p:sp>
      <p:sp>
        <p:nvSpPr>
          <p:cNvPr id="3" name="Title 2">
            <a:extLst>
              <a:ext uri="{FF2B5EF4-FFF2-40B4-BE49-F238E27FC236}">
                <a16:creationId xmlns:a16="http://schemas.microsoft.com/office/drawing/2014/main" id="{EC7DA9E1-4607-4F21-8927-B9C8A2C88A37}"/>
              </a:ext>
            </a:extLst>
          </p:cNvPr>
          <p:cNvSpPr>
            <a:spLocks noGrp="1"/>
          </p:cNvSpPr>
          <p:nvPr>
            <p:ph type="title"/>
          </p:nvPr>
        </p:nvSpPr>
        <p:spPr>
          <a:xfrm>
            <a:off x="513459" y="1091315"/>
            <a:ext cx="7665341" cy="693113"/>
          </a:xfrm>
        </p:spPr>
        <p:txBody>
          <a:bodyPr>
            <a:noAutofit/>
          </a:bodyPr>
          <a:lstStyle/>
          <a:p>
            <a:r>
              <a:rPr lang="en-US" sz="4800" dirty="0"/>
              <a:t>Example</a:t>
            </a:r>
          </a:p>
        </p:txBody>
      </p:sp>
      <p:grpSp>
        <p:nvGrpSpPr>
          <p:cNvPr id="4" name="the hash table">
            <a:extLst>
              <a:ext uri="{FF2B5EF4-FFF2-40B4-BE49-F238E27FC236}">
                <a16:creationId xmlns:a16="http://schemas.microsoft.com/office/drawing/2014/main" id="{F125BD8F-396E-4E81-8768-E1AC4767A5E3}"/>
              </a:ext>
            </a:extLst>
          </p:cNvPr>
          <p:cNvGrpSpPr/>
          <p:nvPr/>
        </p:nvGrpSpPr>
        <p:grpSpPr>
          <a:xfrm>
            <a:off x="8570797" y="2138608"/>
            <a:ext cx="1987503" cy="4413477"/>
            <a:chOff x="9230061" y="1271505"/>
            <a:chExt cx="1987503" cy="4413477"/>
          </a:xfrm>
        </p:grpSpPr>
        <p:grpSp>
          <p:nvGrpSpPr>
            <p:cNvPr id="5" name="Group 4">
              <a:extLst>
                <a:ext uri="{FF2B5EF4-FFF2-40B4-BE49-F238E27FC236}">
                  <a16:creationId xmlns:a16="http://schemas.microsoft.com/office/drawing/2014/main" id="{AB4801ED-B1B7-4DBC-B43B-E103705110E7}"/>
                </a:ext>
              </a:extLst>
            </p:cNvPr>
            <p:cNvGrpSpPr/>
            <p:nvPr/>
          </p:nvGrpSpPr>
          <p:grpSpPr>
            <a:xfrm>
              <a:off x="10132291" y="1302327"/>
              <a:ext cx="1085273" cy="4382655"/>
              <a:chOff x="10497128" y="1302327"/>
              <a:chExt cx="720436" cy="4382655"/>
            </a:xfrm>
          </p:grpSpPr>
          <p:grpSp>
            <p:nvGrpSpPr>
              <p:cNvPr id="7" name="Group 6">
                <a:extLst>
                  <a:ext uri="{FF2B5EF4-FFF2-40B4-BE49-F238E27FC236}">
                    <a16:creationId xmlns:a16="http://schemas.microsoft.com/office/drawing/2014/main" id="{3DADBFAF-25CE-4267-9832-98C2EC131C77}"/>
                  </a:ext>
                </a:extLst>
              </p:cNvPr>
              <p:cNvGrpSpPr/>
              <p:nvPr/>
            </p:nvGrpSpPr>
            <p:grpSpPr>
              <a:xfrm>
                <a:off x="10497128" y="1302327"/>
                <a:ext cx="720436" cy="4382655"/>
                <a:chOff x="10497128" y="1302327"/>
                <a:chExt cx="720436" cy="4382655"/>
              </a:xfrm>
            </p:grpSpPr>
            <p:cxnSp>
              <p:nvCxnSpPr>
                <p:cNvPr id="10" name="Straight Connector 9">
                  <a:extLst>
                    <a:ext uri="{FF2B5EF4-FFF2-40B4-BE49-F238E27FC236}">
                      <a16:creationId xmlns:a16="http://schemas.microsoft.com/office/drawing/2014/main" id="{F3F10E07-4476-4647-9E95-92E5C23F5A68}"/>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96DB8AB-FB25-421D-9E3E-30F5E5F902D5}"/>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D1EEE34-4189-4F95-B366-5177963065DD}"/>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929C7FC-7018-49E3-A024-CAFAB1E23FB0}"/>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B112ABC-A376-426F-A739-BFA76D306809}"/>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C986D7-A259-421A-8238-2555B007DF43}"/>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D834D52-3819-49F1-8BE4-EB971FFA4844}"/>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7A39376-CA93-4C95-AB74-71E5C8978E33}"/>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B2AC669-2798-4E44-862E-05744D36B99F}"/>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C490D53-7C4F-46C7-850F-FF73B79DBA3E}"/>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2974001-DA62-42B6-B246-81732B919461}"/>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1AA9583-C09F-4FDD-8425-D4892CBAAF78}"/>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9700755-69BE-4498-8268-EE34C9A9DECC}"/>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45D2FE-639D-4AE9-9B04-20F3A900E898}"/>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id="{9FC619EA-7B3F-42C5-B098-8A25BE748C2D}"/>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94A05E1-6F6C-4B39-AE6B-A95255BD9D40}"/>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DA1EF364-D951-4A61-AD1F-AE5FDB0ECEDB}"/>
                </a:ext>
              </a:extLst>
            </p:cNvPr>
            <p:cNvSpPr txBox="1"/>
            <p:nvPr/>
          </p:nvSpPr>
          <p:spPr>
            <a:xfrm>
              <a:off x="9230061" y="1271505"/>
              <a:ext cx="982480" cy="4405052"/>
            </a:xfrm>
            <a:prstGeom prst="rect">
              <a:avLst/>
            </a:prstGeom>
            <a:noFill/>
          </p:spPr>
          <p:txBody>
            <a:bodyPr wrap="square" rtlCol="0">
              <a:spAutoFit/>
            </a:bodyPr>
            <a:lstStyle/>
            <a:p>
              <a:pPr algn="r">
                <a:lnSpc>
                  <a:spcPts val="2600"/>
                </a:lnSpc>
              </a:pPr>
              <a:r>
                <a:rPr lang="en-US" sz="1600" dirty="0">
                  <a:latin typeface="Times New Roman" panose="02020603050405020304" pitchFamily="18" charset="0"/>
                  <a:cs typeface="Times New Roman" panose="02020603050405020304" pitchFamily="18" charset="0"/>
                </a:rPr>
                <a:t>ht[0]</a:t>
              </a:r>
            </a:p>
            <a:p>
              <a:pPr algn="r">
                <a:lnSpc>
                  <a:spcPts val="2600"/>
                </a:lnSpc>
              </a:pPr>
              <a:r>
                <a:rPr lang="en-US" sz="1600" dirty="0">
                  <a:latin typeface="Times New Roman" panose="02020603050405020304" pitchFamily="18" charset="0"/>
                  <a:cs typeface="Times New Roman" panose="02020603050405020304" pitchFamily="18" charset="0"/>
                </a:rPr>
                <a:t>ht[1]</a:t>
              </a:r>
            </a:p>
            <a:p>
              <a:pPr algn="r">
                <a:lnSpc>
                  <a:spcPts val="2600"/>
                </a:lnSpc>
              </a:pPr>
              <a:r>
                <a:rPr lang="en-US" sz="1600" dirty="0">
                  <a:latin typeface="Times New Roman" panose="02020603050405020304" pitchFamily="18" charset="0"/>
                  <a:cs typeface="Times New Roman" panose="02020603050405020304" pitchFamily="18" charset="0"/>
                </a:rPr>
                <a:t>ht[2]</a:t>
              </a:r>
            </a:p>
            <a:p>
              <a:pPr algn="r">
                <a:lnSpc>
                  <a:spcPts val="2600"/>
                </a:lnSpc>
              </a:pPr>
              <a:r>
                <a:rPr lang="en-US" sz="1600" dirty="0">
                  <a:latin typeface="Times New Roman" panose="02020603050405020304" pitchFamily="18" charset="0"/>
                  <a:cs typeface="Times New Roman" panose="02020603050405020304" pitchFamily="18" charset="0"/>
                </a:rPr>
                <a:t>ht[3]</a:t>
              </a:r>
            </a:p>
            <a:p>
              <a:pPr algn="r">
                <a:lnSpc>
                  <a:spcPts val="2600"/>
                </a:lnSpc>
              </a:pPr>
              <a:r>
                <a:rPr lang="en-US" sz="1600" dirty="0">
                  <a:latin typeface="Times New Roman" panose="02020603050405020304" pitchFamily="18" charset="0"/>
                  <a:cs typeface="Times New Roman" panose="02020603050405020304" pitchFamily="18" charset="0"/>
                </a:rPr>
                <a:t>ht[4]</a:t>
              </a:r>
            </a:p>
            <a:p>
              <a:pPr algn="r">
                <a:lnSpc>
                  <a:spcPts val="2600"/>
                </a:lnSpc>
              </a:pPr>
              <a:r>
                <a:rPr lang="en-US" sz="1600" dirty="0">
                  <a:latin typeface="Times New Roman" panose="02020603050405020304" pitchFamily="18" charset="0"/>
                  <a:cs typeface="Times New Roman" panose="02020603050405020304" pitchFamily="18" charset="0"/>
                </a:rPr>
                <a:t>ht[5]</a:t>
              </a:r>
            </a:p>
            <a:p>
              <a:pPr algn="r">
                <a:lnSpc>
                  <a:spcPts val="2600"/>
                </a:lnSpc>
              </a:pPr>
              <a:r>
                <a:rPr lang="en-US" sz="1600" dirty="0">
                  <a:latin typeface="Times New Roman" panose="02020603050405020304" pitchFamily="18" charset="0"/>
                  <a:cs typeface="Times New Roman" panose="02020603050405020304" pitchFamily="18" charset="0"/>
                </a:rPr>
                <a:t>ht[6]</a:t>
              </a:r>
            </a:p>
            <a:p>
              <a:pPr algn="r">
                <a:lnSpc>
                  <a:spcPts val="2600"/>
                </a:lnSpc>
              </a:pPr>
              <a:r>
                <a:rPr lang="en-US" sz="1600" dirty="0">
                  <a:latin typeface="Times New Roman" panose="02020603050405020304" pitchFamily="18" charset="0"/>
                  <a:cs typeface="Times New Roman" panose="02020603050405020304" pitchFamily="18" charset="0"/>
                </a:rPr>
                <a:t>ht[7]</a:t>
              </a:r>
            </a:p>
            <a:p>
              <a:pPr algn="r">
                <a:lnSpc>
                  <a:spcPts val="2600"/>
                </a:lnSpc>
              </a:pPr>
              <a:r>
                <a:rPr lang="en-US" sz="1600" dirty="0">
                  <a:latin typeface="Times New Roman" panose="02020603050405020304" pitchFamily="18" charset="0"/>
                  <a:cs typeface="Times New Roman" panose="02020603050405020304" pitchFamily="18" charset="0"/>
                </a:rPr>
                <a:t>ht[8]</a:t>
              </a:r>
            </a:p>
            <a:p>
              <a:pPr algn="r">
                <a:lnSpc>
                  <a:spcPts val="2600"/>
                </a:lnSpc>
              </a:pPr>
              <a:r>
                <a:rPr lang="en-US" sz="1600" dirty="0">
                  <a:latin typeface="Times New Roman" panose="02020603050405020304" pitchFamily="18" charset="0"/>
                  <a:cs typeface="Times New Roman" panose="02020603050405020304" pitchFamily="18" charset="0"/>
                </a:rPr>
                <a:t>ht[9]</a:t>
              </a:r>
            </a:p>
            <a:p>
              <a:pPr algn="r">
                <a:lnSpc>
                  <a:spcPts val="2600"/>
                </a:lnSpc>
              </a:pPr>
              <a:r>
                <a:rPr lang="en-US" sz="1600" dirty="0">
                  <a:latin typeface="Times New Roman" panose="02020603050405020304" pitchFamily="18" charset="0"/>
                  <a:cs typeface="Times New Roman" panose="02020603050405020304" pitchFamily="18" charset="0"/>
                </a:rPr>
                <a:t>ht[10]</a:t>
              </a:r>
            </a:p>
            <a:p>
              <a:pPr algn="r">
                <a:lnSpc>
                  <a:spcPts val="2600"/>
                </a:lnSpc>
              </a:pPr>
              <a:r>
                <a:rPr lang="en-US" sz="1600" dirty="0">
                  <a:latin typeface="Times New Roman" panose="02020603050405020304" pitchFamily="18" charset="0"/>
                  <a:cs typeface="Times New Roman" panose="02020603050405020304" pitchFamily="18" charset="0"/>
                </a:rPr>
                <a:t>ht[11]</a:t>
              </a:r>
            </a:p>
            <a:p>
              <a:pPr algn="r">
                <a:lnSpc>
                  <a:spcPts val="2600"/>
                </a:lnSpc>
              </a:pPr>
              <a:r>
                <a:rPr lang="en-US" sz="1600" dirty="0">
                  <a:latin typeface="Times New Roman" panose="02020603050405020304" pitchFamily="18" charset="0"/>
                  <a:cs typeface="Times New Roman" panose="02020603050405020304" pitchFamily="18" charset="0"/>
                </a:rPr>
                <a:t>ht[12]</a:t>
              </a:r>
            </a:p>
          </p:txBody>
        </p:sp>
      </p:grpSp>
      <p:sp>
        <p:nvSpPr>
          <p:cNvPr id="24" name="TextBox 23">
            <a:extLst>
              <a:ext uri="{FF2B5EF4-FFF2-40B4-BE49-F238E27FC236}">
                <a16:creationId xmlns:a16="http://schemas.microsoft.com/office/drawing/2014/main" id="{76D8E8ED-CD64-4C57-B3D1-A6ABE778277B}"/>
              </a:ext>
            </a:extLst>
          </p:cNvPr>
          <p:cNvSpPr txBox="1"/>
          <p:nvPr/>
        </p:nvSpPr>
        <p:spPr>
          <a:xfrm>
            <a:off x="9523087" y="2112616"/>
            <a:ext cx="1063941"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Adams</a:t>
            </a:r>
          </a:p>
        </p:txBody>
      </p:sp>
      <p:sp>
        <p:nvSpPr>
          <p:cNvPr id="25" name="TextBox 24">
            <a:extLst>
              <a:ext uri="{FF2B5EF4-FFF2-40B4-BE49-F238E27FC236}">
                <a16:creationId xmlns:a16="http://schemas.microsoft.com/office/drawing/2014/main" id="{25EFB53E-E1A6-4D17-835E-3CC6556E0E7C}"/>
              </a:ext>
            </a:extLst>
          </p:cNvPr>
          <p:cNvSpPr txBox="1"/>
          <p:nvPr/>
        </p:nvSpPr>
        <p:spPr>
          <a:xfrm>
            <a:off x="9574603" y="3125838"/>
            <a:ext cx="1063939"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Davis</a:t>
            </a:r>
          </a:p>
        </p:txBody>
      </p:sp>
      <p:sp>
        <p:nvSpPr>
          <p:cNvPr id="26" name="TextBox 25">
            <a:extLst>
              <a:ext uri="{FF2B5EF4-FFF2-40B4-BE49-F238E27FC236}">
                <a16:creationId xmlns:a16="http://schemas.microsoft.com/office/drawing/2014/main" id="{B6C41900-D820-4BFA-A949-8F3A46EE5A1A}"/>
              </a:ext>
            </a:extLst>
          </p:cNvPr>
          <p:cNvSpPr txBox="1"/>
          <p:nvPr/>
        </p:nvSpPr>
        <p:spPr>
          <a:xfrm>
            <a:off x="9574603" y="5141672"/>
            <a:ext cx="1063937"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Jones</a:t>
            </a:r>
          </a:p>
        </p:txBody>
      </p:sp>
    </p:spTree>
    <p:extLst>
      <p:ext uri="{BB962C8B-B14F-4D97-AF65-F5344CB8AC3E}">
        <p14:creationId xmlns:p14="http://schemas.microsoft.com/office/powerpoint/2010/main" val="2375999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F932D4-799B-423D-B03D-E80043D662A1}"/>
              </a:ext>
            </a:extLst>
          </p:cNvPr>
          <p:cNvSpPr>
            <a:spLocks noGrp="1"/>
          </p:cNvSpPr>
          <p:nvPr>
            <p:ph idx="1"/>
          </p:nvPr>
        </p:nvSpPr>
        <p:spPr>
          <a:xfrm>
            <a:off x="192937" y="1937683"/>
            <a:ext cx="8377860" cy="4014128"/>
          </a:xfrm>
        </p:spPr>
        <p:txBody>
          <a:bodyPr anchor="t" anchorCtr="0">
            <a:noAutofit/>
          </a:bodyPr>
          <a:lstStyle/>
          <a:p>
            <a:pPr marL="0" indent="0">
              <a:lnSpc>
                <a:spcPct val="120000"/>
              </a:lnSpc>
              <a:spcBef>
                <a:spcPts val="600"/>
              </a:spcBef>
              <a:spcAft>
                <a:spcPts val="600"/>
              </a:spcAft>
              <a:buNone/>
            </a:pPr>
            <a:r>
              <a:rPr lang="en-US" sz="2800" dirty="0"/>
              <a:t>If we need to insert another name like: Apple, there will be a collision. </a:t>
            </a:r>
          </a:p>
          <a:p>
            <a:pPr marL="0" indent="0">
              <a:lnSpc>
                <a:spcPct val="120000"/>
              </a:lnSpc>
              <a:spcBef>
                <a:spcPts val="600"/>
              </a:spcBef>
              <a:spcAft>
                <a:spcPts val="600"/>
              </a:spcAft>
              <a:buNone/>
            </a:pPr>
            <a:endParaRPr lang="en-US" sz="2800" dirty="0"/>
          </a:p>
          <a:p>
            <a:pPr marL="0" indent="0">
              <a:lnSpc>
                <a:spcPct val="120000"/>
              </a:lnSpc>
              <a:spcBef>
                <a:spcPts val="600"/>
              </a:spcBef>
              <a:spcAft>
                <a:spcPts val="600"/>
              </a:spcAft>
              <a:buNone/>
            </a:pPr>
            <a:r>
              <a:rPr lang="en-US" sz="2800" dirty="0"/>
              <a:t>Ideally you want a hash function that minimizes (and in some cases even eliminates!) collisions</a:t>
            </a:r>
            <a:br>
              <a:rPr lang="en-US" sz="2800" dirty="0"/>
            </a:br>
            <a:br>
              <a:rPr lang="en-US" sz="2800" dirty="0"/>
            </a:br>
            <a:r>
              <a:rPr lang="en-US" sz="2800" dirty="0"/>
              <a:t>You need a collision resolution strategy, for use when collisions can’t be completely prevented</a:t>
            </a:r>
          </a:p>
        </p:txBody>
      </p:sp>
      <p:sp>
        <p:nvSpPr>
          <p:cNvPr id="3" name="Title 2">
            <a:extLst>
              <a:ext uri="{FF2B5EF4-FFF2-40B4-BE49-F238E27FC236}">
                <a16:creationId xmlns:a16="http://schemas.microsoft.com/office/drawing/2014/main" id="{EC7DA9E1-4607-4F21-8927-B9C8A2C88A37}"/>
              </a:ext>
            </a:extLst>
          </p:cNvPr>
          <p:cNvSpPr>
            <a:spLocks noGrp="1"/>
          </p:cNvSpPr>
          <p:nvPr>
            <p:ph type="title"/>
          </p:nvPr>
        </p:nvSpPr>
        <p:spPr>
          <a:xfrm>
            <a:off x="627469" y="912180"/>
            <a:ext cx="12096307" cy="693113"/>
          </a:xfrm>
        </p:spPr>
        <p:txBody>
          <a:bodyPr>
            <a:noAutofit/>
          </a:bodyPr>
          <a:lstStyle/>
          <a:p>
            <a:r>
              <a:rPr lang="en-US" dirty="0">
                <a:latin typeface="Times New Roman" panose="02020603050405020304" pitchFamily="18" charset="0"/>
                <a:cs typeface="Times New Roman" panose="02020603050405020304" pitchFamily="18" charset="0"/>
              </a:rPr>
              <a:t>Collisions: The Reason We Usually Can’t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Get Perfect O(1) Performance</a:t>
            </a:r>
          </a:p>
        </p:txBody>
      </p:sp>
      <p:grpSp>
        <p:nvGrpSpPr>
          <p:cNvPr id="4" name="the hash table">
            <a:extLst>
              <a:ext uri="{FF2B5EF4-FFF2-40B4-BE49-F238E27FC236}">
                <a16:creationId xmlns:a16="http://schemas.microsoft.com/office/drawing/2014/main" id="{F125BD8F-396E-4E81-8768-E1AC4767A5E3}"/>
              </a:ext>
            </a:extLst>
          </p:cNvPr>
          <p:cNvGrpSpPr/>
          <p:nvPr/>
        </p:nvGrpSpPr>
        <p:grpSpPr>
          <a:xfrm>
            <a:off x="8570797" y="2138608"/>
            <a:ext cx="1987503" cy="4413477"/>
            <a:chOff x="9230061" y="1271505"/>
            <a:chExt cx="1987503" cy="4413477"/>
          </a:xfrm>
        </p:grpSpPr>
        <p:grpSp>
          <p:nvGrpSpPr>
            <p:cNvPr id="5" name="Group 4">
              <a:extLst>
                <a:ext uri="{FF2B5EF4-FFF2-40B4-BE49-F238E27FC236}">
                  <a16:creationId xmlns:a16="http://schemas.microsoft.com/office/drawing/2014/main" id="{AB4801ED-B1B7-4DBC-B43B-E103705110E7}"/>
                </a:ext>
              </a:extLst>
            </p:cNvPr>
            <p:cNvGrpSpPr/>
            <p:nvPr/>
          </p:nvGrpSpPr>
          <p:grpSpPr>
            <a:xfrm>
              <a:off x="10132291" y="1302327"/>
              <a:ext cx="1085273" cy="4382655"/>
              <a:chOff x="10497128" y="1302327"/>
              <a:chExt cx="720436" cy="4382655"/>
            </a:xfrm>
          </p:grpSpPr>
          <p:grpSp>
            <p:nvGrpSpPr>
              <p:cNvPr id="7" name="Group 6">
                <a:extLst>
                  <a:ext uri="{FF2B5EF4-FFF2-40B4-BE49-F238E27FC236}">
                    <a16:creationId xmlns:a16="http://schemas.microsoft.com/office/drawing/2014/main" id="{3DADBFAF-25CE-4267-9832-98C2EC131C77}"/>
                  </a:ext>
                </a:extLst>
              </p:cNvPr>
              <p:cNvGrpSpPr/>
              <p:nvPr/>
            </p:nvGrpSpPr>
            <p:grpSpPr>
              <a:xfrm>
                <a:off x="10497128" y="1302327"/>
                <a:ext cx="720436" cy="4382655"/>
                <a:chOff x="10497128" y="1302327"/>
                <a:chExt cx="720436" cy="4382655"/>
              </a:xfrm>
            </p:grpSpPr>
            <p:cxnSp>
              <p:nvCxnSpPr>
                <p:cNvPr id="10" name="Straight Connector 9">
                  <a:extLst>
                    <a:ext uri="{FF2B5EF4-FFF2-40B4-BE49-F238E27FC236}">
                      <a16:creationId xmlns:a16="http://schemas.microsoft.com/office/drawing/2014/main" id="{F3F10E07-4476-4647-9E95-92E5C23F5A68}"/>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96DB8AB-FB25-421D-9E3E-30F5E5F902D5}"/>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D1EEE34-4189-4F95-B366-5177963065DD}"/>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929C7FC-7018-49E3-A024-CAFAB1E23FB0}"/>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B112ABC-A376-426F-A739-BFA76D306809}"/>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C986D7-A259-421A-8238-2555B007DF43}"/>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D834D52-3819-49F1-8BE4-EB971FFA4844}"/>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7A39376-CA93-4C95-AB74-71E5C8978E33}"/>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B2AC669-2798-4E44-862E-05744D36B99F}"/>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C490D53-7C4F-46C7-850F-FF73B79DBA3E}"/>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2974001-DA62-42B6-B246-81732B919461}"/>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1AA9583-C09F-4FDD-8425-D4892CBAAF78}"/>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9700755-69BE-4498-8268-EE34C9A9DECC}"/>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45D2FE-639D-4AE9-9B04-20F3A900E898}"/>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id="{9FC619EA-7B3F-42C5-B098-8A25BE748C2D}"/>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94A05E1-6F6C-4B39-AE6B-A95255BD9D40}"/>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DA1EF364-D951-4A61-AD1F-AE5FDB0ECEDB}"/>
                </a:ext>
              </a:extLst>
            </p:cNvPr>
            <p:cNvSpPr txBox="1"/>
            <p:nvPr/>
          </p:nvSpPr>
          <p:spPr>
            <a:xfrm>
              <a:off x="9230061" y="1271505"/>
              <a:ext cx="982480" cy="4405052"/>
            </a:xfrm>
            <a:prstGeom prst="rect">
              <a:avLst/>
            </a:prstGeom>
            <a:noFill/>
          </p:spPr>
          <p:txBody>
            <a:bodyPr wrap="square" rtlCol="0">
              <a:spAutoFit/>
            </a:bodyPr>
            <a:lstStyle/>
            <a:p>
              <a:pPr algn="r">
                <a:lnSpc>
                  <a:spcPts val="2600"/>
                </a:lnSpc>
              </a:pPr>
              <a:r>
                <a:rPr lang="en-US" sz="1600" dirty="0">
                  <a:latin typeface="Times New Roman" panose="02020603050405020304" pitchFamily="18" charset="0"/>
                  <a:cs typeface="Times New Roman" panose="02020603050405020304" pitchFamily="18" charset="0"/>
                </a:rPr>
                <a:t>ht[0]</a:t>
              </a:r>
            </a:p>
            <a:p>
              <a:pPr algn="r">
                <a:lnSpc>
                  <a:spcPts val="2600"/>
                </a:lnSpc>
              </a:pPr>
              <a:r>
                <a:rPr lang="en-US" sz="1600" dirty="0">
                  <a:latin typeface="Times New Roman" panose="02020603050405020304" pitchFamily="18" charset="0"/>
                  <a:cs typeface="Times New Roman" panose="02020603050405020304" pitchFamily="18" charset="0"/>
                </a:rPr>
                <a:t>ht[1]</a:t>
              </a:r>
            </a:p>
            <a:p>
              <a:pPr algn="r">
                <a:lnSpc>
                  <a:spcPts val="2600"/>
                </a:lnSpc>
              </a:pPr>
              <a:r>
                <a:rPr lang="en-US" sz="1600" dirty="0">
                  <a:latin typeface="Times New Roman" panose="02020603050405020304" pitchFamily="18" charset="0"/>
                  <a:cs typeface="Times New Roman" panose="02020603050405020304" pitchFamily="18" charset="0"/>
                </a:rPr>
                <a:t>ht[2]</a:t>
              </a:r>
            </a:p>
            <a:p>
              <a:pPr algn="r">
                <a:lnSpc>
                  <a:spcPts val="2600"/>
                </a:lnSpc>
              </a:pPr>
              <a:r>
                <a:rPr lang="en-US" sz="1600" dirty="0">
                  <a:latin typeface="Times New Roman" panose="02020603050405020304" pitchFamily="18" charset="0"/>
                  <a:cs typeface="Times New Roman" panose="02020603050405020304" pitchFamily="18" charset="0"/>
                </a:rPr>
                <a:t>ht[3]</a:t>
              </a:r>
            </a:p>
            <a:p>
              <a:pPr algn="r">
                <a:lnSpc>
                  <a:spcPts val="2600"/>
                </a:lnSpc>
              </a:pPr>
              <a:r>
                <a:rPr lang="en-US" sz="1600" dirty="0">
                  <a:latin typeface="Times New Roman" panose="02020603050405020304" pitchFamily="18" charset="0"/>
                  <a:cs typeface="Times New Roman" panose="02020603050405020304" pitchFamily="18" charset="0"/>
                </a:rPr>
                <a:t>ht[4]</a:t>
              </a:r>
            </a:p>
            <a:p>
              <a:pPr algn="r">
                <a:lnSpc>
                  <a:spcPts val="2600"/>
                </a:lnSpc>
              </a:pPr>
              <a:r>
                <a:rPr lang="en-US" sz="1600" dirty="0">
                  <a:latin typeface="Times New Roman" panose="02020603050405020304" pitchFamily="18" charset="0"/>
                  <a:cs typeface="Times New Roman" panose="02020603050405020304" pitchFamily="18" charset="0"/>
                </a:rPr>
                <a:t>ht[5]</a:t>
              </a:r>
            </a:p>
            <a:p>
              <a:pPr algn="r">
                <a:lnSpc>
                  <a:spcPts val="2600"/>
                </a:lnSpc>
              </a:pPr>
              <a:r>
                <a:rPr lang="en-US" sz="1600" dirty="0">
                  <a:latin typeface="Times New Roman" panose="02020603050405020304" pitchFamily="18" charset="0"/>
                  <a:cs typeface="Times New Roman" panose="02020603050405020304" pitchFamily="18" charset="0"/>
                </a:rPr>
                <a:t>ht[6]</a:t>
              </a:r>
            </a:p>
            <a:p>
              <a:pPr algn="r">
                <a:lnSpc>
                  <a:spcPts val="2600"/>
                </a:lnSpc>
              </a:pPr>
              <a:r>
                <a:rPr lang="en-US" sz="1600" dirty="0">
                  <a:latin typeface="Times New Roman" panose="02020603050405020304" pitchFamily="18" charset="0"/>
                  <a:cs typeface="Times New Roman" panose="02020603050405020304" pitchFamily="18" charset="0"/>
                </a:rPr>
                <a:t>ht[7]</a:t>
              </a:r>
            </a:p>
            <a:p>
              <a:pPr algn="r">
                <a:lnSpc>
                  <a:spcPts val="2600"/>
                </a:lnSpc>
              </a:pPr>
              <a:r>
                <a:rPr lang="en-US" sz="1600" dirty="0">
                  <a:latin typeface="Times New Roman" panose="02020603050405020304" pitchFamily="18" charset="0"/>
                  <a:cs typeface="Times New Roman" panose="02020603050405020304" pitchFamily="18" charset="0"/>
                </a:rPr>
                <a:t>ht[8]</a:t>
              </a:r>
            </a:p>
            <a:p>
              <a:pPr algn="r">
                <a:lnSpc>
                  <a:spcPts val="2600"/>
                </a:lnSpc>
              </a:pPr>
              <a:r>
                <a:rPr lang="en-US" sz="1600" dirty="0">
                  <a:latin typeface="Times New Roman" panose="02020603050405020304" pitchFamily="18" charset="0"/>
                  <a:cs typeface="Times New Roman" panose="02020603050405020304" pitchFamily="18" charset="0"/>
                </a:rPr>
                <a:t>ht[9]</a:t>
              </a:r>
            </a:p>
            <a:p>
              <a:pPr algn="r">
                <a:lnSpc>
                  <a:spcPts val="2600"/>
                </a:lnSpc>
              </a:pPr>
              <a:r>
                <a:rPr lang="en-US" sz="1600" dirty="0">
                  <a:latin typeface="Times New Roman" panose="02020603050405020304" pitchFamily="18" charset="0"/>
                  <a:cs typeface="Times New Roman" panose="02020603050405020304" pitchFamily="18" charset="0"/>
                </a:rPr>
                <a:t>ht[10]</a:t>
              </a:r>
            </a:p>
            <a:p>
              <a:pPr algn="r">
                <a:lnSpc>
                  <a:spcPts val="2600"/>
                </a:lnSpc>
              </a:pPr>
              <a:r>
                <a:rPr lang="en-US" sz="1600" dirty="0">
                  <a:latin typeface="Times New Roman" panose="02020603050405020304" pitchFamily="18" charset="0"/>
                  <a:cs typeface="Times New Roman" panose="02020603050405020304" pitchFamily="18" charset="0"/>
                </a:rPr>
                <a:t>ht[11]</a:t>
              </a:r>
            </a:p>
            <a:p>
              <a:pPr algn="r">
                <a:lnSpc>
                  <a:spcPts val="2600"/>
                </a:lnSpc>
              </a:pPr>
              <a:r>
                <a:rPr lang="en-US" sz="1600" dirty="0">
                  <a:latin typeface="Times New Roman" panose="02020603050405020304" pitchFamily="18" charset="0"/>
                  <a:cs typeface="Times New Roman" panose="02020603050405020304" pitchFamily="18" charset="0"/>
                </a:rPr>
                <a:t>ht[12]</a:t>
              </a:r>
            </a:p>
          </p:txBody>
        </p:sp>
      </p:grpSp>
      <p:sp>
        <p:nvSpPr>
          <p:cNvPr id="24" name="TextBox 23">
            <a:extLst>
              <a:ext uri="{FF2B5EF4-FFF2-40B4-BE49-F238E27FC236}">
                <a16:creationId xmlns:a16="http://schemas.microsoft.com/office/drawing/2014/main" id="{76D8E8ED-CD64-4C57-B3D1-A6ABE778277B}"/>
              </a:ext>
            </a:extLst>
          </p:cNvPr>
          <p:cNvSpPr txBox="1"/>
          <p:nvPr/>
        </p:nvSpPr>
        <p:spPr>
          <a:xfrm>
            <a:off x="9523087" y="2112616"/>
            <a:ext cx="1063941"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Adams</a:t>
            </a:r>
          </a:p>
        </p:txBody>
      </p:sp>
      <p:sp>
        <p:nvSpPr>
          <p:cNvPr id="25" name="TextBox 24">
            <a:extLst>
              <a:ext uri="{FF2B5EF4-FFF2-40B4-BE49-F238E27FC236}">
                <a16:creationId xmlns:a16="http://schemas.microsoft.com/office/drawing/2014/main" id="{25EFB53E-E1A6-4D17-835E-3CC6556E0E7C}"/>
              </a:ext>
            </a:extLst>
          </p:cNvPr>
          <p:cNvSpPr txBox="1"/>
          <p:nvPr/>
        </p:nvSpPr>
        <p:spPr>
          <a:xfrm>
            <a:off x="9574603" y="3125838"/>
            <a:ext cx="1063939"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Davis</a:t>
            </a:r>
          </a:p>
        </p:txBody>
      </p:sp>
      <p:sp>
        <p:nvSpPr>
          <p:cNvPr id="26" name="TextBox 25">
            <a:extLst>
              <a:ext uri="{FF2B5EF4-FFF2-40B4-BE49-F238E27FC236}">
                <a16:creationId xmlns:a16="http://schemas.microsoft.com/office/drawing/2014/main" id="{B6C41900-D820-4BFA-A949-8F3A46EE5A1A}"/>
              </a:ext>
            </a:extLst>
          </p:cNvPr>
          <p:cNvSpPr txBox="1"/>
          <p:nvPr/>
        </p:nvSpPr>
        <p:spPr>
          <a:xfrm>
            <a:off x="9574603" y="5141672"/>
            <a:ext cx="1063937"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Jones</a:t>
            </a:r>
          </a:p>
        </p:txBody>
      </p:sp>
      <p:sp>
        <p:nvSpPr>
          <p:cNvPr id="27" name="TextBox 26">
            <a:extLst>
              <a:ext uri="{FF2B5EF4-FFF2-40B4-BE49-F238E27FC236}">
                <a16:creationId xmlns:a16="http://schemas.microsoft.com/office/drawing/2014/main" id="{AE3696D4-B33E-100F-28D9-C2BF296C59B6}"/>
              </a:ext>
            </a:extLst>
          </p:cNvPr>
          <p:cNvSpPr txBox="1"/>
          <p:nvPr/>
        </p:nvSpPr>
        <p:spPr>
          <a:xfrm>
            <a:off x="5953594" y="2719693"/>
            <a:ext cx="1444059" cy="584775"/>
          </a:xfrm>
          <a:prstGeom prst="rect">
            <a:avLst/>
          </a:prstGeom>
          <a:noFill/>
        </p:spPr>
        <p:txBody>
          <a:bodyPr wrap="square" rtlCol="0">
            <a:spAutoFit/>
          </a:bodyPr>
          <a:lstStyle/>
          <a:p>
            <a:r>
              <a:rPr lang="en-US" sz="3200" dirty="0">
                <a:solidFill>
                  <a:srgbClr val="002060"/>
                </a:solidFill>
                <a:latin typeface="Times New Roman" panose="02020603050405020304" pitchFamily="18" charset="0"/>
                <a:cs typeface="Times New Roman" panose="02020603050405020304" pitchFamily="18" charset="0"/>
              </a:rPr>
              <a:t>Apple</a:t>
            </a:r>
          </a:p>
        </p:txBody>
      </p:sp>
      <p:sp>
        <p:nvSpPr>
          <p:cNvPr id="28" name="Right Arrow 27">
            <a:extLst>
              <a:ext uri="{FF2B5EF4-FFF2-40B4-BE49-F238E27FC236}">
                <a16:creationId xmlns:a16="http://schemas.microsoft.com/office/drawing/2014/main" id="{535CA8FE-DBDE-AD01-71DA-8896D04CEABB}"/>
              </a:ext>
            </a:extLst>
          </p:cNvPr>
          <p:cNvSpPr/>
          <p:nvPr/>
        </p:nvSpPr>
        <p:spPr>
          <a:xfrm rot="20318539">
            <a:off x="7067115" y="2626286"/>
            <a:ext cx="1647941" cy="2065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Tree>
    <p:extLst>
      <p:ext uri="{BB962C8B-B14F-4D97-AF65-F5344CB8AC3E}">
        <p14:creationId xmlns:p14="http://schemas.microsoft.com/office/powerpoint/2010/main" val="3732837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098E3D-F269-4206-90A4-F15EF15795A4}"/>
              </a:ext>
            </a:extLst>
          </p:cNvPr>
          <p:cNvSpPr>
            <a:spLocks noGrp="1"/>
          </p:cNvSpPr>
          <p:nvPr>
            <p:ph idx="1"/>
          </p:nvPr>
        </p:nvSpPr>
        <p:spPr>
          <a:xfrm>
            <a:off x="499421" y="1957886"/>
            <a:ext cx="6961639" cy="4900113"/>
          </a:xfrm>
        </p:spPr>
        <p:txBody>
          <a:bodyPr>
            <a:normAutofit lnSpcReduction="10000"/>
          </a:bodyPr>
          <a:lstStyle/>
          <a:p>
            <a:pPr>
              <a:lnSpc>
                <a:spcPct val="100000"/>
              </a:lnSpc>
              <a:spcBef>
                <a:spcPts val="0"/>
              </a:spcBef>
              <a:spcAft>
                <a:spcPts val="600"/>
              </a:spcAft>
              <a:buFont typeface="Wingdings" pitchFamily="2" charset="2"/>
              <a:buChar char="Ø"/>
            </a:pPr>
            <a:r>
              <a:rPr lang="en-US" sz="2800" dirty="0"/>
              <a:t>With chaining, each element in the hash table is the start of a list of all the elements that have collided at that entry in the hash table</a:t>
            </a:r>
          </a:p>
          <a:p>
            <a:pPr>
              <a:lnSpc>
                <a:spcPct val="100000"/>
              </a:lnSpc>
              <a:spcBef>
                <a:spcPts val="0"/>
              </a:spcBef>
              <a:spcAft>
                <a:spcPts val="600"/>
              </a:spcAft>
              <a:buFont typeface="Wingdings" pitchFamily="2" charset="2"/>
              <a:buChar char="Ø"/>
            </a:pPr>
            <a:r>
              <a:rPr lang="en-US" sz="2800" dirty="0"/>
              <a:t>Advantage: Very simple, the logic for search, insertion, and removal is obvious, there are no hidden complications</a:t>
            </a:r>
          </a:p>
          <a:p>
            <a:pPr>
              <a:lnSpc>
                <a:spcPct val="100000"/>
              </a:lnSpc>
              <a:spcBef>
                <a:spcPts val="0"/>
              </a:spcBef>
              <a:spcAft>
                <a:spcPts val="600"/>
              </a:spcAft>
              <a:buFont typeface="Wingdings" pitchFamily="2" charset="2"/>
              <a:buChar char="Ø"/>
            </a:pPr>
            <a:r>
              <a:rPr lang="en-US" sz="2800" dirty="0"/>
              <a:t>Disadvantage:  Wasteful of space ‒ why add a chain when there is often, as in this example, lots of open space in the underlying array itself; using that open space is the idea behind open addressing (next up)</a:t>
            </a:r>
          </a:p>
          <a:p>
            <a:pPr>
              <a:lnSpc>
                <a:spcPct val="100000"/>
              </a:lnSpc>
              <a:spcBef>
                <a:spcPts val="0"/>
              </a:spcBef>
              <a:spcAft>
                <a:spcPts val="600"/>
              </a:spcAft>
            </a:pPr>
            <a:endParaRPr lang="en-US" sz="2200" dirty="0"/>
          </a:p>
        </p:txBody>
      </p:sp>
      <p:sp>
        <p:nvSpPr>
          <p:cNvPr id="3" name="Title 2">
            <a:extLst>
              <a:ext uri="{FF2B5EF4-FFF2-40B4-BE49-F238E27FC236}">
                <a16:creationId xmlns:a16="http://schemas.microsoft.com/office/drawing/2014/main" id="{4B5D6A8E-FA40-4B3D-BCB9-81FEE3F478A2}"/>
              </a:ext>
            </a:extLst>
          </p:cNvPr>
          <p:cNvSpPr>
            <a:spLocks noGrp="1"/>
          </p:cNvSpPr>
          <p:nvPr>
            <p:ph type="title"/>
          </p:nvPr>
        </p:nvSpPr>
        <p:spPr>
          <a:xfrm>
            <a:off x="622654" y="982049"/>
            <a:ext cx="6715172" cy="693113"/>
          </a:xfrm>
        </p:spPr>
        <p:txBody>
          <a:bodyPr>
            <a:noAutofit/>
          </a:bodyPr>
          <a:lstStyle/>
          <a:p>
            <a:r>
              <a:rPr lang="en-US" sz="4800" dirty="0"/>
              <a:t>Chaining</a:t>
            </a:r>
          </a:p>
        </p:txBody>
      </p:sp>
      <p:grpSp>
        <p:nvGrpSpPr>
          <p:cNvPr id="4" name="the hash table">
            <a:extLst>
              <a:ext uri="{FF2B5EF4-FFF2-40B4-BE49-F238E27FC236}">
                <a16:creationId xmlns:a16="http://schemas.microsoft.com/office/drawing/2014/main" id="{543EFD6E-D396-4ECE-9BB5-704CA367C04F}"/>
              </a:ext>
            </a:extLst>
          </p:cNvPr>
          <p:cNvGrpSpPr/>
          <p:nvPr/>
        </p:nvGrpSpPr>
        <p:grpSpPr>
          <a:xfrm>
            <a:off x="7553372" y="2018589"/>
            <a:ext cx="1943517" cy="4405052"/>
            <a:chOff x="9274047" y="1302327"/>
            <a:chExt cx="1943517" cy="4405052"/>
          </a:xfrm>
        </p:grpSpPr>
        <p:grpSp>
          <p:nvGrpSpPr>
            <p:cNvPr id="5" name="Group 4">
              <a:extLst>
                <a:ext uri="{FF2B5EF4-FFF2-40B4-BE49-F238E27FC236}">
                  <a16:creationId xmlns:a16="http://schemas.microsoft.com/office/drawing/2014/main" id="{BDD859F0-20E6-4E8E-AD13-D22307023A04}"/>
                </a:ext>
              </a:extLst>
            </p:cNvPr>
            <p:cNvGrpSpPr/>
            <p:nvPr/>
          </p:nvGrpSpPr>
          <p:grpSpPr>
            <a:xfrm>
              <a:off x="10132291" y="1302327"/>
              <a:ext cx="1085273" cy="4382655"/>
              <a:chOff x="10497128" y="1302327"/>
              <a:chExt cx="720436" cy="4382655"/>
            </a:xfrm>
          </p:grpSpPr>
          <p:grpSp>
            <p:nvGrpSpPr>
              <p:cNvPr id="7" name="Group 6">
                <a:extLst>
                  <a:ext uri="{FF2B5EF4-FFF2-40B4-BE49-F238E27FC236}">
                    <a16:creationId xmlns:a16="http://schemas.microsoft.com/office/drawing/2014/main" id="{37AC8667-2826-43CC-9F9C-32E0C8E730CA}"/>
                  </a:ext>
                </a:extLst>
              </p:cNvPr>
              <p:cNvGrpSpPr/>
              <p:nvPr/>
            </p:nvGrpSpPr>
            <p:grpSpPr>
              <a:xfrm>
                <a:off x="10497128" y="1302327"/>
                <a:ext cx="720436" cy="4382655"/>
                <a:chOff x="10497128" y="1302327"/>
                <a:chExt cx="720436" cy="4382655"/>
              </a:xfrm>
            </p:grpSpPr>
            <p:cxnSp>
              <p:nvCxnSpPr>
                <p:cNvPr id="10" name="Straight Connector 9">
                  <a:extLst>
                    <a:ext uri="{FF2B5EF4-FFF2-40B4-BE49-F238E27FC236}">
                      <a16:creationId xmlns:a16="http://schemas.microsoft.com/office/drawing/2014/main" id="{AF96BDED-933F-43B5-858D-723146B85F2B}"/>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8FB31F9-FDC7-46D5-9972-9E2B347020EA}"/>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D5A1AD7-BD9A-4B2F-8924-AD33996859D7}"/>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3B19E4F-BE36-434A-A583-827CD33AAA73}"/>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3C6A2E2-A390-477C-8AAC-7753C56A8ADD}"/>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CB68F7A-33DB-4DB2-8B41-9E6BCD9A68B1}"/>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4EF02AB-0946-412E-8A65-62DE77C65939}"/>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0504C43-6D86-47E0-BAA3-0473CEA86BA9}"/>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74ADDD2-7CEA-4824-824F-12225053408F}"/>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0BDF84F-FDD5-4759-9825-3A830027DD7D}"/>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E2B8FDE-FFD6-44DA-890D-9AE030FD0BE1}"/>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24098A2-9378-42C4-90DE-80828763320F}"/>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CDDF032-627A-42E6-ABDE-A15B754782C6}"/>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FBD3B4C-2E4A-4759-AC70-86B469E1698C}"/>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id="{64F01C86-164C-4615-B63F-EA7EEC3FED67}"/>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49E5003-36BB-4C74-B3C7-FB5E9E694B5F}"/>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0D5BD37E-52B8-4C98-95BC-5E80FA45F918}"/>
                </a:ext>
              </a:extLst>
            </p:cNvPr>
            <p:cNvSpPr txBox="1"/>
            <p:nvPr/>
          </p:nvSpPr>
          <p:spPr>
            <a:xfrm>
              <a:off x="9274047" y="1302327"/>
              <a:ext cx="989864" cy="4405052"/>
            </a:xfrm>
            <a:prstGeom prst="rect">
              <a:avLst/>
            </a:prstGeom>
            <a:noFill/>
          </p:spPr>
          <p:txBody>
            <a:bodyPr wrap="square" rtlCol="0">
              <a:spAutoFit/>
            </a:bodyPr>
            <a:lstStyle/>
            <a:p>
              <a:pPr>
                <a:lnSpc>
                  <a:spcPts val="2600"/>
                </a:lnSpc>
              </a:pPr>
              <a:r>
                <a:rPr lang="en-US" sz="1600" dirty="0">
                  <a:latin typeface="Times New Roman" panose="02020603050405020304" pitchFamily="18" charset="0"/>
                  <a:cs typeface="Times New Roman" panose="02020603050405020304" pitchFamily="18" charset="0"/>
                </a:rPr>
                <a:t>ht[0]</a:t>
              </a:r>
            </a:p>
            <a:p>
              <a:pPr>
                <a:lnSpc>
                  <a:spcPts val="2600"/>
                </a:lnSpc>
              </a:pPr>
              <a:r>
                <a:rPr lang="en-US" sz="1600" dirty="0">
                  <a:latin typeface="Times New Roman" panose="02020603050405020304" pitchFamily="18" charset="0"/>
                  <a:cs typeface="Times New Roman" panose="02020603050405020304" pitchFamily="18" charset="0"/>
                </a:rPr>
                <a:t>ht[1]</a:t>
              </a:r>
            </a:p>
            <a:p>
              <a:pPr>
                <a:lnSpc>
                  <a:spcPts val="2600"/>
                </a:lnSpc>
              </a:pPr>
              <a:r>
                <a:rPr lang="en-US" sz="1600" dirty="0">
                  <a:latin typeface="Times New Roman" panose="02020603050405020304" pitchFamily="18" charset="0"/>
                  <a:cs typeface="Times New Roman" panose="02020603050405020304" pitchFamily="18" charset="0"/>
                </a:rPr>
                <a:t>ht[2]</a:t>
              </a:r>
            </a:p>
            <a:p>
              <a:pPr>
                <a:lnSpc>
                  <a:spcPts val="2600"/>
                </a:lnSpc>
              </a:pPr>
              <a:r>
                <a:rPr lang="en-US" sz="1600" dirty="0">
                  <a:latin typeface="Times New Roman" panose="02020603050405020304" pitchFamily="18" charset="0"/>
                  <a:cs typeface="Times New Roman" panose="02020603050405020304" pitchFamily="18" charset="0"/>
                </a:rPr>
                <a:t>ht[3]</a:t>
              </a:r>
            </a:p>
            <a:p>
              <a:pPr>
                <a:lnSpc>
                  <a:spcPts val="2600"/>
                </a:lnSpc>
              </a:pPr>
              <a:r>
                <a:rPr lang="en-US" sz="1600" dirty="0">
                  <a:latin typeface="Times New Roman" panose="02020603050405020304" pitchFamily="18" charset="0"/>
                  <a:cs typeface="Times New Roman" panose="02020603050405020304" pitchFamily="18" charset="0"/>
                </a:rPr>
                <a:t>ht[4]</a:t>
              </a:r>
            </a:p>
            <a:p>
              <a:pPr>
                <a:lnSpc>
                  <a:spcPts val="2600"/>
                </a:lnSpc>
              </a:pPr>
              <a:r>
                <a:rPr lang="en-US" sz="1600" dirty="0">
                  <a:latin typeface="Times New Roman" panose="02020603050405020304" pitchFamily="18" charset="0"/>
                  <a:cs typeface="Times New Roman" panose="02020603050405020304" pitchFamily="18" charset="0"/>
                </a:rPr>
                <a:t>ht[5]</a:t>
              </a:r>
            </a:p>
            <a:p>
              <a:pPr>
                <a:lnSpc>
                  <a:spcPts val="2600"/>
                </a:lnSpc>
              </a:pPr>
              <a:r>
                <a:rPr lang="en-US" sz="1600" dirty="0">
                  <a:latin typeface="Times New Roman" panose="02020603050405020304" pitchFamily="18" charset="0"/>
                  <a:cs typeface="Times New Roman" panose="02020603050405020304" pitchFamily="18" charset="0"/>
                </a:rPr>
                <a:t>ht[6]</a:t>
              </a:r>
            </a:p>
            <a:p>
              <a:pPr>
                <a:lnSpc>
                  <a:spcPts val="2600"/>
                </a:lnSpc>
              </a:pPr>
              <a:r>
                <a:rPr lang="en-US" sz="1600" dirty="0">
                  <a:latin typeface="Times New Roman" panose="02020603050405020304" pitchFamily="18" charset="0"/>
                  <a:cs typeface="Times New Roman" panose="02020603050405020304" pitchFamily="18" charset="0"/>
                </a:rPr>
                <a:t>ht[7]</a:t>
              </a:r>
            </a:p>
            <a:p>
              <a:pPr>
                <a:lnSpc>
                  <a:spcPts val="2600"/>
                </a:lnSpc>
              </a:pPr>
              <a:r>
                <a:rPr lang="en-US" sz="1600" dirty="0">
                  <a:latin typeface="Times New Roman" panose="02020603050405020304" pitchFamily="18" charset="0"/>
                  <a:cs typeface="Times New Roman" panose="02020603050405020304" pitchFamily="18" charset="0"/>
                </a:rPr>
                <a:t>ht[8]</a:t>
              </a:r>
            </a:p>
            <a:p>
              <a:pPr>
                <a:lnSpc>
                  <a:spcPts val="2600"/>
                </a:lnSpc>
              </a:pPr>
              <a:r>
                <a:rPr lang="en-US" sz="1600" dirty="0">
                  <a:latin typeface="Times New Roman" panose="02020603050405020304" pitchFamily="18" charset="0"/>
                  <a:cs typeface="Times New Roman" panose="02020603050405020304" pitchFamily="18" charset="0"/>
                </a:rPr>
                <a:t>ht[9]</a:t>
              </a:r>
            </a:p>
            <a:p>
              <a:pPr>
                <a:lnSpc>
                  <a:spcPts val="2600"/>
                </a:lnSpc>
              </a:pPr>
              <a:r>
                <a:rPr lang="en-US" sz="1600" dirty="0">
                  <a:latin typeface="Times New Roman" panose="02020603050405020304" pitchFamily="18" charset="0"/>
                  <a:cs typeface="Times New Roman" panose="02020603050405020304" pitchFamily="18" charset="0"/>
                </a:rPr>
                <a:t>ht[10]</a:t>
              </a:r>
            </a:p>
            <a:p>
              <a:pPr>
                <a:lnSpc>
                  <a:spcPts val="2600"/>
                </a:lnSpc>
              </a:pPr>
              <a:r>
                <a:rPr lang="en-US" sz="1600" dirty="0">
                  <a:latin typeface="Times New Roman" panose="02020603050405020304" pitchFamily="18" charset="0"/>
                  <a:cs typeface="Times New Roman" panose="02020603050405020304" pitchFamily="18" charset="0"/>
                </a:rPr>
                <a:t>ht[11]</a:t>
              </a:r>
            </a:p>
            <a:p>
              <a:pPr>
                <a:lnSpc>
                  <a:spcPts val="2600"/>
                </a:lnSpc>
              </a:pPr>
              <a:r>
                <a:rPr lang="en-US" sz="1600" dirty="0">
                  <a:latin typeface="Times New Roman" panose="02020603050405020304" pitchFamily="18" charset="0"/>
                  <a:cs typeface="Times New Roman" panose="02020603050405020304" pitchFamily="18" charset="0"/>
                </a:rPr>
                <a:t>ht[12]</a:t>
              </a:r>
            </a:p>
          </p:txBody>
        </p:sp>
      </p:grpSp>
      <p:sp>
        <p:nvSpPr>
          <p:cNvPr id="24" name="TextBox 23">
            <a:extLst>
              <a:ext uri="{FF2B5EF4-FFF2-40B4-BE49-F238E27FC236}">
                <a16:creationId xmlns:a16="http://schemas.microsoft.com/office/drawing/2014/main" id="{3E55FCD5-07C3-4240-B798-D2DE4D032C4C}"/>
              </a:ext>
            </a:extLst>
          </p:cNvPr>
          <p:cNvSpPr txBox="1"/>
          <p:nvPr/>
        </p:nvSpPr>
        <p:spPr>
          <a:xfrm>
            <a:off x="8419440" y="1988216"/>
            <a:ext cx="1136153"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Adams</a:t>
            </a:r>
          </a:p>
        </p:txBody>
      </p:sp>
      <p:sp>
        <p:nvSpPr>
          <p:cNvPr id="26" name="TextBox 25">
            <a:extLst>
              <a:ext uri="{FF2B5EF4-FFF2-40B4-BE49-F238E27FC236}">
                <a16:creationId xmlns:a16="http://schemas.microsoft.com/office/drawing/2014/main" id="{B6D33C26-BF9B-47B5-A566-7BDE62685A56}"/>
              </a:ext>
            </a:extLst>
          </p:cNvPr>
          <p:cNvSpPr txBox="1"/>
          <p:nvPr/>
        </p:nvSpPr>
        <p:spPr>
          <a:xfrm>
            <a:off x="8513192" y="4990831"/>
            <a:ext cx="994099"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Jones</a:t>
            </a:r>
          </a:p>
        </p:txBody>
      </p:sp>
      <p:sp>
        <p:nvSpPr>
          <p:cNvPr id="27" name="Donna">
            <a:extLst>
              <a:ext uri="{FF2B5EF4-FFF2-40B4-BE49-F238E27FC236}">
                <a16:creationId xmlns:a16="http://schemas.microsoft.com/office/drawing/2014/main" id="{911627DB-7BFB-4449-A0B1-C9070ED4EE2D}"/>
              </a:ext>
            </a:extLst>
          </p:cNvPr>
          <p:cNvSpPr/>
          <p:nvPr/>
        </p:nvSpPr>
        <p:spPr>
          <a:xfrm>
            <a:off x="9637587" y="3069794"/>
            <a:ext cx="1089303" cy="248534"/>
          </a:xfrm>
          <a:prstGeom prst="rect">
            <a:avLst/>
          </a:prstGeom>
          <a:solidFill>
            <a:schemeClr val="accent6">
              <a:lumMod val="75000"/>
            </a:schemeClr>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0" bIns="0" numCol="1" spcCol="0" rtlCol="0" fromWordArt="0" anchor="ctr" anchorCtr="0" forceAA="0" compatLnSpc="1">
            <a:prstTxWarp prst="textNoShape">
              <a:avLst/>
            </a:prstTxWarp>
            <a:noAutofit/>
          </a:bodyPr>
          <a:lstStyle/>
          <a:p>
            <a:pPr>
              <a:lnSpc>
                <a:spcPct val="80000"/>
              </a:lnSpc>
              <a:spcBef>
                <a:spcPts val="600"/>
              </a:spcBef>
            </a:pPr>
            <a:r>
              <a:rPr lang="en-US" sz="2200" dirty="0">
                <a:solidFill>
                  <a:schemeClr val="tx1"/>
                </a:solidFill>
                <a:latin typeface="Times New Roman" panose="02020603050405020304" pitchFamily="18" charset="0"/>
                <a:cs typeface="Times New Roman" panose="02020603050405020304" pitchFamily="18" charset="0"/>
              </a:rPr>
              <a:t>  Doe</a:t>
            </a:r>
          </a:p>
        </p:txBody>
      </p:sp>
      <p:cxnSp>
        <p:nvCxnSpPr>
          <p:cNvPr id="31" name="Straight Arrow Connector 30">
            <a:extLst>
              <a:ext uri="{FF2B5EF4-FFF2-40B4-BE49-F238E27FC236}">
                <a16:creationId xmlns:a16="http://schemas.microsoft.com/office/drawing/2014/main" id="{3297EC7B-CE5D-4F93-B4EA-82C8C195422E}"/>
              </a:ext>
            </a:extLst>
          </p:cNvPr>
          <p:cNvCxnSpPr>
            <a:cxnSpLocks/>
          </p:cNvCxnSpPr>
          <p:nvPr/>
        </p:nvCxnSpPr>
        <p:spPr>
          <a:xfrm>
            <a:off x="10620195" y="3201843"/>
            <a:ext cx="326130" cy="0"/>
          </a:xfrm>
          <a:prstGeom prst="straightConnector1">
            <a:avLst/>
          </a:prstGeom>
          <a:noFill/>
          <a:ln w="12700">
            <a:solidFill>
              <a:schemeClr val="tx1"/>
            </a:solidFill>
            <a:headEnd type="oval" w="lg" len="lg"/>
            <a:tailEnd type="stealth" w="lg" len="lg"/>
          </a:ln>
          <a:effectLst/>
        </p:spPr>
        <p:style>
          <a:lnRef idx="1">
            <a:schemeClr val="accent1"/>
          </a:lnRef>
          <a:fillRef idx="0">
            <a:schemeClr val="accent1"/>
          </a:fillRef>
          <a:effectRef idx="0">
            <a:schemeClr val="accent1"/>
          </a:effectRef>
          <a:fontRef idx="minor">
            <a:schemeClr val="tx1"/>
          </a:fontRef>
        </p:style>
      </p:cxnSp>
      <p:sp>
        <p:nvSpPr>
          <p:cNvPr id="34" name="Dick">
            <a:extLst>
              <a:ext uri="{FF2B5EF4-FFF2-40B4-BE49-F238E27FC236}">
                <a16:creationId xmlns:a16="http://schemas.microsoft.com/office/drawing/2014/main" id="{DF56D1DA-0B7B-464D-AC8D-4CF128995BC0}"/>
              </a:ext>
            </a:extLst>
          </p:cNvPr>
          <p:cNvSpPr/>
          <p:nvPr/>
        </p:nvSpPr>
        <p:spPr>
          <a:xfrm>
            <a:off x="10949727" y="3069065"/>
            <a:ext cx="840838" cy="248534"/>
          </a:xfrm>
          <a:prstGeom prst="rect">
            <a:avLst/>
          </a:prstGeom>
          <a:solidFill>
            <a:schemeClr val="accent6">
              <a:lumMod val="75000"/>
            </a:schemeClr>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0" bIns="0" numCol="1" spcCol="0" rtlCol="0" fromWordArt="0" anchor="ctr" anchorCtr="0" forceAA="0" compatLnSpc="1">
            <a:prstTxWarp prst="textNoShape">
              <a:avLst/>
            </a:prstTxWarp>
            <a:noAutofit/>
          </a:bodyPr>
          <a:lstStyle/>
          <a:p>
            <a:pPr>
              <a:lnSpc>
                <a:spcPct val="80000"/>
              </a:lnSpc>
              <a:spcBef>
                <a:spcPts val="600"/>
              </a:spcBef>
            </a:pPr>
            <a:r>
              <a:rPr lang="en-US" sz="2200" dirty="0">
                <a:solidFill>
                  <a:schemeClr val="tx1"/>
                </a:solidFill>
                <a:latin typeface="Times New Roman" panose="02020603050405020304" pitchFamily="18" charset="0"/>
                <a:cs typeface="Times New Roman" panose="02020603050405020304" pitchFamily="18" charset="0"/>
              </a:rPr>
              <a:t>Dean</a:t>
            </a:r>
          </a:p>
        </p:txBody>
      </p:sp>
      <p:sp>
        <p:nvSpPr>
          <p:cNvPr id="32" name="Rectangle 31">
            <a:extLst>
              <a:ext uri="{FF2B5EF4-FFF2-40B4-BE49-F238E27FC236}">
                <a16:creationId xmlns:a16="http://schemas.microsoft.com/office/drawing/2014/main" id="{D890867E-CE95-4AAA-8E01-E51CF2FCD64D}"/>
              </a:ext>
            </a:extLst>
          </p:cNvPr>
          <p:cNvSpPr/>
          <p:nvPr/>
        </p:nvSpPr>
        <p:spPr>
          <a:xfrm>
            <a:off x="8509391" y="3058334"/>
            <a:ext cx="905359" cy="248541"/>
          </a:xfrm>
          <a:prstGeom prst="rect">
            <a:avLst/>
          </a:prstGeom>
          <a:solidFill>
            <a:srgbClr val="54823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0" bIns="91440" numCol="1" spcCol="0" rtlCol="0" fromWordArt="0" anchor="ctr" anchorCtr="0" forceAA="0" compatLnSpc="1">
            <a:prstTxWarp prst="textNoShape">
              <a:avLst/>
            </a:prstTxWarp>
            <a:noAutofit/>
          </a:bodyPr>
          <a:lstStyle/>
          <a:p>
            <a:pPr algn="l"/>
            <a:endParaRPr lang="en-US" sz="2000" dirty="0">
              <a:solidFill>
                <a:schemeClr val="tx1"/>
              </a:solidFill>
              <a:latin typeface="Times New Roman" panose="02020603050405020304" pitchFamily="18" charset="0"/>
            </a:endParaRPr>
          </a:p>
        </p:txBody>
      </p:sp>
      <p:sp>
        <p:nvSpPr>
          <p:cNvPr id="25" name="Dave">
            <a:extLst>
              <a:ext uri="{FF2B5EF4-FFF2-40B4-BE49-F238E27FC236}">
                <a16:creationId xmlns:a16="http://schemas.microsoft.com/office/drawing/2014/main" id="{A3C77579-07D2-4A91-9F3F-59C016AF6E5A}"/>
              </a:ext>
            </a:extLst>
          </p:cNvPr>
          <p:cNvSpPr txBox="1"/>
          <p:nvPr/>
        </p:nvSpPr>
        <p:spPr>
          <a:xfrm>
            <a:off x="8578805" y="3012472"/>
            <a:ext cx="928488" cy="338554"/>
          </a:xfrm>
          <a:prstGeom prst="rect">
            <a:avLst/>
          </a:prstGeom>
          <a:noFill/>
          <a:ln>
            <a:noFill/>
          </a:ln>
        </p:spPr>
        <p:txBody>
          <a:bodyPr wrap="square" lIns="0" tIns="0" bIns="0" rtlCol="0" anchor="ctr" anchorCtr="0">
            <a:spAutoFit/>
          </a:bodyPr>
          <a:lstStyle/>
          <a:p>
            <a:r>
              <a:rPr lang="en-US" sz="2200" dirty="0">
                <a:latin typeface="Times New Roman" panose="02020603050405020304" pitchFamily="18" charset="0"/>
                <a:cs typeface="Times New Roman" panose="02020603050405020304" pitchFamily="18" charset="0"/>
              </a:rPr>
              <a:t>Davis</a:t>
            </a:r>
          </a:p>
        </p:txBody>
      </p:sp>
      <p:cxnSp>
        <p:nvCxnSpPr>
          <p:cNvPr id="29" name="Straight Arrow Connector 28">
            <a:extLst>
              <a:ext uri="{FF2B5EF4-FFF2-40B4-BE49-F238E27FC236}">
                <a16:creationId xmlns:a16="http://schemas.microsoft.com/office/drawing/2014/main" id="{7C50CBA7-2936-4597-AB82-20B09251CCD1}"/>
              </a:ext>
            </a:extLst>
          </p:cNvPr>
          <p:cNvCxnSpPr>
            <a:cxnSpLocks/>
          </p:cNvCxnSpPr>
          <p:nvPr/>
        </p:nvCxnSpPr>
        <p:spPr>
          <a:xfrm>
            <a:off x="9333385" y="3182604"/>
            <a:ext cx="322963" cy="0"/>
          </a:xfrm>
          <a:prstGeom prst="straightConnector1">
            <a:avLst/>
          </a:prstGeom>
          <a:noFill/>
          <a:ln w="12700">
            <a:solidFill>
              <a:schemeClr val="tx1"/>
            </a:solidFill>
            <a:headEnd type="oval" w="lg" len="lg"/>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580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22" presetClass="entr" presetSubtype="8"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left)">
                                      <p:cBhvr>
                                        <p:cTn id="13" dur="200"/>
                                        <p:tgtEl>
                                          <p:spTgt spid="29"/>
                                        </p:tgtEl>
                                      </p:cBhvr>
                                    </p:animEffect>
                                  </p:childTnLst>
                                </p:cTn>
                              </p:par>
                            </p:childTnLst>
                          </p:cTn>
                        </p:par>
                        <p:par>
                          <p:cTn id="14" fill="hold">
                            <p:stCondLst>
                              <p:cond delay="700"/>
                            </p:stCondLst>
                            <p:childTnLst>
                              <p:par>
                                <p:cTn id="15" presetID="22" presetClass="entr" presetSubtype="8" fill="hold" grpId="0" nodeType="after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200"/>
                                        <p:tgtEl>
                                          <p:spTgt spid="27"/>
                                        </p:tgtEl>
                                      </p:cBhvr>
                                    </p:animEffect>
                                  </p:childTnLst>
                                </p:cTn>
                              </p:par>
                            </p:childTnLst>
                          </p:cTn>
                        </p:par>
                        <p:par>
                          <p:cTn id="18" fill="hold">
                            <p:stCondLst>
                              <p:cond delay="900"/>
                            </p:stCondLst>
                            <p:childTnLst>
                              <p:par>
                                <p:cTn id="19" presetID="22" presetClass="entr" presetSubtype="8" fill="hold" nodeType="after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left)">
                                      <p:cBhvr>
                                        <p:cTn id="21" dur="200"/>
                                        <p:tgtEl>
                                          <p:spTgt spid="31"/>
                                        </p:tgtEl>
                                      </p:cBhvr>
                                    </p:animEffect>
                                  </p:childTnLst>
                                </p:cTn>
                              </p:par>
                            </p:childTnLst>
                          </p:cTn>
                        </p:par>
                        <p:par>
                          <p:cTn id="22" fill="hold">
                            <p:stCondLst>
                              <p:cond delay="1100"/>
                            </p:stCondLst>
                            <p:childTnLst>
                              <p:par>
                                <p:cTn id="23" presetID="22" presetClass="entr" presetSubtype="8" fill="hold" grpId="0" nodeType="after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wipe(left)">
                                      <p:cBhvr>
                                        <p:cTn id="25" dur="200"/>
                                        <p:tgtEl>
                                          <p:spTgt spid="3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
                                            <p:txEl>
                                              <p:pRg st="1" end="1"/>
                                            </p:txEl>
                                          </p:spTgt>
                                        </p:tgtEl>
                                        <p:attrNameLst>
                                          <p:attrName>style.visibility</p:attrName>
                                        </p:attrNameLst>
                                      </p:cBhvr>
                                      <p:to>
                                        <p:strVal val="visible"/>
                                      </p:to>
                                    </p:set>
                                    <p:animEffect transition="in" filter="fade">
                                      <p:cBhvr>
                                        <p:cTn id="30" dur="500"/>
                                        <p:tgtEl>
                                          <p:spTgt spid="2">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animEffect transition="in" filter="fade">
                                      <p:cBhvr>
                                        <p:cTn id="35"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27" grpId="0" animBg="1"/>
      <p:bldP spid="34" grpId="0" animBg="1"/>
      <p:bldP spid="3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2E56C0-35C2-4EAB-9EDB-646E8C5E289B}"/>
              </a:ext>
            </a:extLst>
          </p:cNvPr>
          <p:cNvSpPr>
            <a:spLocks noGrp="1"/>
          </p:cNvSpPr>
          <p:nvPr>
            <p:ph idx="1"/>
          </p:nvPr>
        </p:nvSpPr>
        <p:spPr>
          <a:xfrm>
            <a:off x="559708" y="1908338"/>
            <a:ext cx="8694652" cy="4603790"/>
          </a:xfrm>
        </p:spPr>
        <p:txBody>
          <a:bodyPr anchor="t" anchorCtr="0">
            <a:noAutofit/>
          </a:bodyPr>
          <a:lstStyle/>
          <a:p>
            <a:pPr eaLnBrk="0" fontAlgn="base" hangingPunct="0">
              <a:lnSpc>
                <a:spcPct val="100000"/>
              </a:lnSpc>
              <a:spcBef>
                <a:spcPct val="0"/>
              </a:spcBef>
              <a:spcAft>
                <a:spcPts val="2400"/>
              </a:spcAft>
            </a:pPr>
            <a:r>
              <a:rPr lang="en-US" altLang="en-US" sz="2800" b="1" dirty="0">
                <a:latin typeface="Times New Roman" panose="02020603050405020304" pitchFamily="18" charset="0"/>
                <a:cs typeface="Times New Roman" panose="02020603050405020304" pitchFamily="18" charset="0"/>
              </a:rPr>
              <a:t>Linear probing</a:t>
            </a:r>
            <a:r>
              <a:rPr lang="en-US" altLang="en-US" sz="2800" dirty="0">
                <a:latin typeface="Times New Roman" panose="02020603050405020304" pitchFamily="18" charset="0"/>
                <a:cs typeface="Times New Roman" panose="02020603050405020304" pitchFamily="18" charset="0"/>
              </a:rPr>
              <a:t> ‒ the distance between successive probes is fixed at 1</a:t>
            </a:r>
          </a:p>
          <a:p>
            <a:pPr eaLnBrk="0" fontAlgn="base" hangingPunct="0">
              <a:lnSpc>
                <a:spcPct val="100000"/>
              </a:lnSpc>
              <a:spcBef>
                <a:spcPct val="0"/>
              </a:spcBef>
              <a:spcAft>
                <a:spcPts val="2400"/>
              </a:spcAft>
            </a:pPr>
            <a:r>
              <a:rPr lang="en-US" altLang="en-US" sz="2800" b="1" dirty="0">
                <a:latin typeface="Times New Roman" panose="02020603050405020304" pitchFamily="18" charset="0"/>
                <a:cs typeface="Times New Roman" panose="02020603050405020304" pitchFamily="18" charset="0"/>
              </a:rPr>
              <a:t>Quadratic probing</a:t>
            </a:r>
            <a:r>
              <a:rPr lang="en-US" altLang="en-US" sz="2800" dirty="0">
                <a:latin typeface="Times New Roman" panose="02020603050405020304" pitchFamily="18" charset="0"/>
                <a:cs typeface="Times New Roman" panose="02020603050405020304" pitchFamily="18" charset="0"/>
              </a:rPr>
              <a:t> ‒ the distance between successive probes increases quadratically</a:t>
            </a:r>
          </a:p>
          <a:p>
            <a:pPr eaLnBrk="0" fontAlgn="base" hangingPunct="0">
              <a:lnSpc>
                <a:spcPct val="100000"/>
              </a:lnSpc>
              <a:spcBef>
                <a:spcPct val="0"/>
              </a:spcBef>
              <a:spcAft>
                <a:spcPts val="2400"/>
              </a:spcAft>
            </a:pPr>
            <a:r>
              <a:rPr lang="en-US" altLang="en-US" sz="2800" b="1" dirty="0">
                <a:latin typeface="Times New Roman" panose="02020603050405020304" pitchFamily="18" charset="0"/>
                <a:cs typeface="Times New Roman" panose="02020603050405020304" pitchFamily="18" charset="0"/>
              </a:rPr>
              <a:t>Double hashing</a:t>
            </a:r>
            <a:r>
              <a:rPr lang="en-US" altLang="en-US" sz="2800" dirty="0">
                <a:latin typeface="Times New Roman" panose="02020603050405020304" pitchFamily="18" charset="0"/>
                <a:cs typeface="Times New Roman" panose="02020603050405020304" pitchFamily="18" charset="0"/>
              </a:rPr>
              <a:t> ‒ the distance between successive probes is fixed for each key but differs from one key to another, the fixed delta being computed by a second hash function</a:t>
            </a:r>
          </a:p>
          <a:p>
            <a:pPr>
              <a:lnSpc>
                <a:spcPct val="90000"/>
              </a:lnSpc>
            </a:pPr>
            <a:endParaRPr lang="en-US" sz="3200" dirty="0"/>
          </a:p>
        </p:txBody>
      </p:sp>
      <p:sp>
        <p:nvSpPr>
          <p:cNvPr id="3" name="Title 2">
            <a:extLst>
              <a:ext uri="{FF2B5EF4-FFF2-40B4-BE49-F238E27FC236}">
                <a16:creationId xmlns:a16="http://schemas.microsoft.com/office/drawing/2014/main" id="{DCBD4A68-0624-4080-ACDF-CBF1CC40402E}"/>
              </a:ext>
            </a:extLst>
          </p:cNvPr>
          <p:cNvSpPr>
            <a:spLocks noGrp="1"/>
          </p:cNvSpPr>
          <p:nvPr>
            <p:ph type="title"/>
          </p:nvPr>
        </p:nvSpPr>
        <p:spPr>
          <a:xfrm>
            <a:off x="581192" y="976562"/>
            <a:ext cx="10515600" cy="693113"/>
          </a:xfrm>
        </p:spPr>
        <p:txBody>
          <a:bodyPr>
            <a:normAutofit/>
          </a:bodyPr>
          <a:lstStyle/>
          <a:p>
            <a:r>
              <a:rPr lang="en-US" sz="3600" dirty="0"/>
              <a:t>Open Addressing to Resolve Collisions</a:t>
            </a:r>
          </a:p>
        </p:txBody>
      </p:sp>
      <p:grpSp>
        <p:nvGrpSpPr>
          <p:cNvPr id="6" name="the hash table">
            <a:extLst>
              <a:ext uri="{FF2B5EF4-FFF2-40B4-BE49-F238E27FC236}">
                <a16:creationId xmlns:a16="http://schemas.microsoft.com/office/drawing/2014/main" id="{E4D9D04F-D75B-84EE-92B2-326C9FFD22C9}"/>
              </a:ext>
            </a:extLst>
          </p:cNvPr>
          <p:cNvGrpSpPr/>
          <p:nvPr/>
        </p:nvGrpSpPr>
        <p:grpSpPr>
          <a:xfrm>
            <a:off x="9574602" y="2081083"/>
            <a:ext cx="1987503" cy="4413477"/>
            <a:chOff x="9230061" y="1271505"/>
            <a:chExt cx="1987503" cy="4413477"/>
          </a:xfrm>
        </p:grpSpPr>
        <p:grpSp>
          <p:nvGrpSpPr>
            <p:cNvPr id="7" name="Group 6">
              <a:extLst>
                <a:ext uri="{FF2B5EF4-FFF2-40B4-BE49-F238E27FC236}">
                  <a16:creationId xmlns:a16="http://schemas.microsoft.com/office/drawing/2014/main" id="{F7C2D0A6-6CC1-8B87-06B9-31305E94BFFB}"/>
                </a:ext>
              </a:extLst>
            </p:cNvPr>
            <p:cNvGrpSpPr/>
            <p:nvPr/>
          </p:nvGrpSpPr>
          <p:grpSpPr>
            <a:xfrm>
              <a:off x="10132291" y="1302327"/>
              <a:ext cx="1085273" cy="4382655"/>
              <a:chOff x="10497128" y="1302327"/>
              <a:chExt cx="720436" cy="4382655"/>
            </a:xfrm>
          </p:grpSpPr>
          <p:grpSp>
            <p:nvGrpSpPr>
              <p:cNvPr id="9" name="Group 8">
                <a:extLst>
                  <a:ext uri="{FF2B5EF4-FFF2-40B4-BE49-F238E27FC236}">
                    <a16:creationId xmlns:a16="http://schemas.microsoft.com/office/drawing/2014/main" id="{7F1419AE-9E60-14EF-C233-838DE4DC3629}"/>
                  </a:ext>
                </a:extLst>
              </p:cNvPr>
              <p:cNvGrpSpPr/>
              <p:nvPr/>
            </p:nvGrpSpPr>
            <p:grpSpPr>
              <a:xfrm>
                <a:off x="10497128" y="1302327"/>
                <a:ext cx="720436" cy="4382655"/>
                <a:chOff x="10497128" y="1302327"/>
                <a:chExt cx="720436" cy="4382655"/>
              </a:xfrm>
            </p:grpSpPr>
            <p:cxnSp>
              <p:nvCxnSpPr>
                <p:cNvPr id="12" name="Straight Connector 11">
                  <a:extLst>
                    <a:ext uri="{FF2B5EF4-FFF2-40B4-BE49-F238E27FC236}">
                      <a16:creationId xmlns:a16="http://schemas.microsoft.com/office/drawing/2014/main" id="{74B1FBF0-1ADC-B546-DFD7-5B989AF409B5}"/>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3D1CDDA-B8E9-E208-1E16-46E550C351F6}"/>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2836F5-989D-8610-9E23-B2D20B120D8B}"/>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92EF4FB-BE7B-C94D-7B9E-E3C168C4EF40}"/>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51D8156-27CA-F076-1907-EA3BE269B871}"/>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B4F9085-1B4E-3F85-FED6-A7A533D9A3F7}"/>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BF58A2B-E926-69CD-9548-DC4F0843B2C6}"/>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8BC3D56-5C5A-80A3-53E3-32F4468DB8FB}"/>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F784851-E19D-9918-B855-BC69CAC75F7C}"/>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60BF6CF-04C3-37EB-7F97-27B1B409D59A}"/>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D162456-CFC7-56EE-0DBF-1164809E3E99}"/>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7351EAD-5E2E-1FE1-4CCB-6B0F7F6069BC}"/>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BB42509-8647-7DDA-2910-842373E34E4B}"/>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C86A2AB-A667-BC11-9C92-CD932E9FFD6E}"/>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A968C0B5-BEE0-1C71-559D-DD0CD92E25FC}"/>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C3868EE-ADED-982C-4E4C-C0B5284E7F9A}"/>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A0EE72AE-FB6C-F915-FC28-D8205EE4E37C}"/>
                </a:ext>
              </a:extLst>
            </p:cNvPr>
            <p:cNvSpPr txBox="1"/>
            <p:nvPr/>
          </p:nvSpPr>
          <p:spPr>
            <a:xfrm>
              <a:off x="9230061" y="1271505"/>
              <a:ext cx="982480" cy="4405052"/>
            </a:xfrm>
            <a:prstGeom prst="rect">
              <a:avLst/>
            </a:prstGeom>
            <a:noFill/>
          </p:spPr>
          <p:txBody>
            <a:bodyPr wrap="square" rtlCol="0">
              <a:spAutoFit/>
            </a:bodyPr>
            <a:lstStyle/>
            <a:p>
              <a:pPr algn="r">
                <a:lnSpc>
                  <a:spcPts val="2600"/>
                </a:lnSpc>
              </a:pPr>
              <a:r>
                <a:rPr lang="en-US" sz="1600" dirty="0">
                  <a:latin typeface="Times New Roman" panose="02020603050405020304" pitchFamily="18" charset="0"/>
                  <a:cs typeface="Times New Roman" panose="02020603050405020304" pitchFamily="18" charset="0"/>
                </a:rPr>
                <a:t>ht[0]</a:t>
              </a:r>
            </a:p>
            <a:p>
              <a:pPr algn="r">
                <a:lnSpc>
                  <a:spcPts val="2600"/>
                </a:lnSpc>
              </a:pPr>
              <a:r>
                <a:rPr lang="en-US" sz="1600" dirty="0">
                  <a:latin typeface="Times New Roman" panose="02020603050405020304" pitchFamily="18" charset="0"/>
                  <a:cs typeface="Times New Roman" panose="02020603050405020304" pitchFamily="18" charset="0"/>
                </a:rPr>
                <a:t>ht[1]</a:t>
              </a:r>
            </a:p>
            <a:p>
              <a:pPr algn="r">
                <a:lnSpc>
                  <a:spcPts val="2600"/>
                </a:lnSpc>
              </a:pPr>
              <a:r>
                <a:rPr lang="en-US" sz="1600" dirty="0">
                  <a:latin typeface="Times New Roman" panose="02020603050405020304" pitchFamily="18" charset="0"/>
                  <a:cs typeface="Times New Roman" panose="02020603050405020304" pitchFamily="18" charset="0"/>
                </a:rPr>
                <a:t>ht[2]</a:t>
              </a:r>
            </a:p>
            <a:p>
              <a:pPr algn="r">
                <a:lnSpc>
                  <a:spcPts val="2600"/>
                </a:lnSpc>
              </a:pPr>
              <a:r>
                <a:rPr lang="en-US" sz="1600" dirty="0">
                  <a:latin typeface="Times New Roman" panose="02020603050405020304" pitchFamily="18" charset="0"/>
                  <a:cs typeface="Times New Roman" panose="02020603050405020304" pitchFamily="18" charset="0"/>
                </a:rPr>
                <a:t>ht[3]</a:t>
              </a:r>
            </a:p>
            <a:p>
              <a:pPr algn="r">
                <a:lnSpc>
                  <a:spcPts val="2600"/>
                </a:lnSpc>
              </a:pPr>
              <a:r>
                <a:rPr lang="en-US" sz="1600" dirty="0">
                  <a:latin typeface="Times New Roman" panose="02020603050405020304" pitchFamily="18" charset="0"/>
                  <a:cs typeface="Times New Roman" panose="02020603050405020304" pitchFamily="18" charset="0"/>
                </a:rPr>
                <a:t>ht[4]</a:t>
              </a:r>
            </a:p>
            <a:p>
              <a:pPr algn="r">
                <a:lnSpc>
                  <a:spcPts val="2600"/>
                </a:lnSpc>
              </a:pPr>
              <a:r>
                <a:rPr lang="en-US" sz="1600" dirty="0">
                  <a:latin typeface="Times New Roman" panose="02020603050405020304" pitchFamily="18" charset="0"/>
                  <a:cs typeface="Times New Roman" panose="02020603050405020304" pitchFamily="18" charset="0"/>
                </a:rPr>
                <a:t>ht[5]</a:t>
              </a:r>
            </a:p>
            <a:p>
              <a:pPr algn="r">
                <a:lnSpc>
                  <a:spcPts val="2600"/>
                </a:lnSpc>
              </a:pPr>
              <a:r>
                <a:rPr lang="en-US" sz="1600" dirty="0">
                  <a:latin typeface="Times New Roman" panose="02020603050405020304" pitchFamily="18" charset="0"/>
                  <a:cs typeface="Times New Roman" panose="02020603050405020304" pitchFamily="18" charset="0"/>
                </a:rPr>
                <a:t>ht[6]</a:t>
              </a:r>
            </a:p>
            <a:p>
              <a:pPr algn="r">
                <a:lnSpc>
                  <a:spcPts val="2600"/>
                </a:lnSpc>
              </a:pPr>
              <a:r>
                <a:rPr lang="en-US" sz="1600" dirty="0">
                  <a:latin typeface="Times New Roman" panose="02020603050405020304" pitchFamily="18" charset="0"/>
                  <a:cs typeface="Times New Roman" panose="02020603050405020304" pitchFamily="18" charset="0"/>
                </a:rPr>
                <a:t>ht[7]</a:t>
              </a:r>
            </a:p>
            <a:p>
              <a:pPr algn="r">
                <a:lnSpc>
                  <a:spcPts val="2600"/>
                </a:lnSpc>
              </a:pPr>
              <a:r>
                <a:rPr lang="en-US" sz="1600" dirty="0">
                  <a:latin typeface="Times New Roman" panose="02020603050405020304" pitchFamily="18" charset="0"/>
                  <a:cs typeface="Times New Roman" panose="02020603050405020304" pitchFamily="18" charset="0"/>
                </a:rPr>
                <a:t>ht[8]</a:t>
              </a:r>
            </a:p>
            <a:p>
              <a:pPr algn="r">
                <a:lnSpc>
                  <a:spcPts val="2600"/>
                </a:lnSpc>
              </a:pPr>
              <a:r>
                <a:rPr lang="en-US" sz="1600" dirty="0">
                  <a:latin typeface="Times New Roman" panose="02020603050405020304" pitchFamily="18" charset="0"/>
                  <a:cs typeface="Times New Roman" panose="02020603050405020304" pitchFamily="18" charset="0"/>
                </a:rPr>
                <a:t>ht[9]</a:t>
              </a:r>
            </a:p>
            <a:p>
              <a:pPr algn="r">
                <a:lnSpc>
                  <a:spcPts val="2600"/>
                </a:lnSpc>
              </a:pPr>
              <a:r>
                <a:rPr lang="en-US" sz="1600" dirty="0">
                  <a:latin typeface="Times New Roman" panose="02020603050405020304" pitchFamily="18" charset="0"/>
                  <a:cs typeface="Times New Roman" panose="02020603050405020304" pitchFamily="18" charset="0"/>
                </a:rPr>
                <a:t>ht[10]</a:t>
              </a:r>
            </a:p>
            <a:p>
              <a:pPr algn="r">
                <a:lnSpc>
                  <a:spcPts val="2600"/>
                </a:lnSpc>
              </a:pPr>
              <a:r>
                <a:rPr lang="en-US" sz="1600" dirty="0">
                  <a:latin typeface="Times New Roman" panose="02020603050405020304" pitchFamily="18" charset="0"/>
                  <a:cs typeface="Times New Roman" panose="02020603050405020304" pitchFamily="18" charset="0"/>
                </a:rPr>
                <a:t>ht[11]</a:t>
              </a:r>
            </a:p>
            <a:p>
              <a:pPr algn="r">
                <a:lnSpc>
                  <a:spcPts val="2600"/>
                </a:lnSpc>
              </a:pPr>
              <a:r>
                <a:rPr lang="en-US" sz="1600" dirty="0">
                  <a:latin typeface="Times New Roman" panose="02020603050405020304" pitchFamily="18" charset="0"/>
                  <a:cs typeface="Times New Roman" panose="02020603050405020304" pitchFamily="18" charset="0"/>
                </a:rPr>
                <a:t>ht[12]</a:t>
              </a:r>
            </a:p>
          </p:txBody>
        </p:sp>
      </p:grpSp>
      <p:sp>
        <p:nvSpPr>
          <p:cNvPr id="26" name="TextBox 25">
            <a:extLst>
              <a:ext uri="{FF2B5EF4-FFF2-40B4-BE49-F238E27FC236}">
                <a16:creationId xmlns:a16="http://schemas.microsoft.com/office/drawing/2014/main" id="{FE895693-CACF-EC35-06A8-E3321AA64F20}"/>
              </a:ext>
            </a:extLst>
          </p:cNvPr>
          <p:cNvSpPr txBox="1"/>
          <p:nvPr/>
        </p:nvSpPr>
        <p:spPr>
          <a:xfrm>
            <a:off x="10516838" y="2081084"/>
            <a:ext cx="1063941"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Adams</a:t>
            </a:r>
          </a:p>
        </p:txBody>
      </p:sp>
      <p:sp>
        <p:nvSpPr>
          <p:cNvPr id="27" name="TextBox 26">
            <a:extLst>
              <a:ext uri="{FF2B5EF4-FFF2-40B4-BE49-F238E27FC236}">
                <a16:creationId xmlns:a16="http://schemas.microsoft.com/office/drawing/2014/main" id="{F20549E1-A287-DEA4-72D0-7B8203488F5B}"/>
              </a:ext>
            </a:extLst>
          </p:cNvPr>
          <p:cNvSpPr txBox="1"/>
          <p:nvPr/>
        </p:nvSpPr>
        <p:spPr>
          <a:xfrm>
            <a:off x="10568354" y="3094306"/>
            <a:ext cx="1063939"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Davis</a:t>
            </a:r>
          </a:p>
        </p:txBody>
      </p:sp>
      <p:sp>
        <p:nvSpPr>
          <p:cNvPr id="28" name="TextBox 27">
            <a:extLst>
              <a:ext uri="{FF2B5EF4-FFF2-40B4-BE49-F238E27FC236}">
                <a16:creationId xmlns:a16="http://schemas.microsoft.com/office/drawing/2014/main" id="{DAC6CE73-8E68-566E-C37F-E034D57FF64E}"/>
              </a:ext>
            </a:extLst>
          </p:cNvPr>
          <p:cNvSpPr txBox="1"/>
          <p:nvPr/>
        </p:nvSpPr>
        <p:spPr>
          <a:xfrm>
            <a:off x="10568354" y="5110140"/>
            <a:ext cx="1063937"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Jones</a:t>
            </a:r>
          </a:p>
        </p:txBody>
      </p:sp>
    </p:spTree>
    <p:extLst>
      <p:ext uri="{BB962C8B-B14F-4D97-AF65-F5344CB8AC3E}">
        <p14:creationId xmlns:p14="http://schemas.microsoft.com/office/powerpoint/2010/main" val="3918225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2E56C0-35C2-4EAB-9EDB-646E8C5E289B}"/>
              </a:ext>
            </a:extLst>
          </p:cNvPr>
          <p:cNvSpPr>
            <a:spLocks noGrp="1"/>
          </p:cNvSpPr>
          <p:nvPr>
            <p:ph idx="1"/>
          </p:nvPr>
        </p:nvSpPr>
        <p:spPr>
          <a:xfrm>
            <a:off x="559708" y="1908338"/>
            <a:ext cx="8694652" cy="4603790"/>
          </a:xfrm>
        </p:spPr>
        <p:txBody>
          <a:bodyPr anchor="t" anchorCtr="0">
            <a:noAutofit/>
          </a:bodyPr>
          <a:lstStyle/>
          <a:p>
            <a:pPr>
              <a:lnSpc>
                <a:spcPct val="90000"/>
              </a:lnSpc>
            </a:pPr>
            <a:r>
              <a:rPr lang="en-US" sz="3200" dirty="0">
                <a:latin typeface="Times New Roman" panose="02020603050405020304" pitchFamily="18" charset="0"/>
                <a:cs typeface="Times New Roman" panose="02020603050405020304" pitchFamily="18" charset="0"/>
              </a:rPr>
              <a:t>Look within the hash table itself for an open slot to store an item that cannot be stored at its "proper" location because of a collision</a:t>
            </a:r>
          </a:p>
          <a:p>
            <a:pPr>
              <a:lnSpc>
                <a:spcPct val="90000"/>
              </a:lnSpc>
            </a:pPr>
            <a:r>
              <a:rPr lang="en-US" sz="3200" dirty="0">
                <a:latin typeface="Times New Roman" panose="02020603050405020304" pitchFamily="18" charset="0"/>
                <a:cs typeface="Times New Roman" panose="02020603050405020304" pitchFamily="18" charset="0"/>
              </a:rPr>
              <a:t>But if our strategy is just to put the item in the next open slot, what happens if we later get a B name: Baker.  Now the ht[1] is already taken up, so we lose our O(1) time and end up having to search item by item in the table.</a:t>
            </a:r>
          </a:p>
        </p:txBody>
      </p:sp>
      <p:sp>
        <p:nvSpPr>
          <p:cNvPr id="3" name="Title 2">
            <a:extLst>
              <a:ext uri="{FF2B5EF4-FFF2-40B4-BE49-F238E27FC236}">
                <a16:creationId xmlns:a16="http://schemas.microsoft.com/office/drawing/2014/main" id="{DCBD4A68-0624-4080-ACDF-CBF1CC40402E}"/>
              </a:ext>
            </a:extLst>
          </p:cNvPr>
          <p:cNvSpPr>
            <a:spLocks noGrp="1"/>
          </p:cNvSpPr>
          <p:nvPr>
            <p:ph type="title"/>
          </p:nvPr>
        </p:nvSpPr>
        <p:spPr>
          <a:xfrm>
            <a:off x="581192" y="976562"/>
            <a:ext cx="9528008" cy="693113"/>
          </a:xfrm>
        </p:spPr>
        <p:txBody>
          <a:bodyPr>
            <a:noAutofit/>
          </a:bodyPr>
          <a:lstStyle/>
          <a:p>
            <a:r>
              <a:rPr lang="en-US" sz="4800" dirty="0"/>
              <a:t>Open Addressing - LINEAR</a:t>
            </a:r>
          </a:p>
        </p:txBody>
      </p:sp>
      <p:grpSp>
        <p:nvGrpSpPr>
          <p:cNvPr id="6" name="the hash table">
            <a:extLst>
              <a:ext uri="{FF2B5EF4-FFF2-40B4-BE49-F238E27FC236}">
                <a16:creationId xmlns:a16="http://schemas.microsoft.com/office/drawing/2014/main" id="{E4D9D04F-D75B-84EE-92B2-326C9FFD22C9}"/>
              </a:ext>
            </a:extLst>
          </p:cNvPr>
          <p:cNvGrpSpPr/>
          <p:nvPr/>
        </p:nvGrpSpPr>
        <p:grpSpPr>
          <a:xfrm>
            <a:off x="9593276" y="2139291"/>
            <a:ext cx="1987503" cy="4413477"/>
            <a:chOff x="9230061" y="1271505"/>
            <a:chExt cx="1987503" cy="4413477"/>
          </a:xfrm>
        </p:grpSpPr>
        <p:grpSp>
          <p:nvGrpSpPr>
            <p:cNvPr id="7" name="Group 6">
              <a:extLst>
                <a:ext uri="{FF2B5EF4-FFF2-40B4-BE49-F238E27FC236}">
                  <a16:creationId xmlns:a16="http://schemas.microsoft.com/office/drawing/2014/main" id="{F7C2D0A6-6CC1-8B87-06B9-31305E94BFFB}"/>
                </a:ext>
              </a:extLst>
            </p:cNvPr>
            <p:cNvGrpSpPr/>
            <p:nvPr/>
          </p:nvGrpSpPr>
          <p:grpSpPr>
            <a:xfrm>
              <a:off x="10132291" y="1302327"/>
              <a:ext cx="1085273" cy="4382655"/>
              <a:chOff x="10497128" y="1302327"/>
              <a:chExt cx="720436" cy="4382655"/>
            </a:xfrm>
          </p:grpSpPr>
          <p:grpSp>
            <p:nvGrpSpPr>
              <p:cNvPr id="9" name="Group 8">
                <a:extLst>
                  <a:ext uri="{FF2B5EF4-FFF2-40B4-BE49-F238E27FC236}">
                    <a16:creationId xmlns:a16="http://schemas.microsoft.com/office/drawing/2014/main" id="{7F1419AE-9E60-14EF-C233-838DE4DC3629}"/>
                  </a:ext>
                </a:extLst>
              </p:cNvPr>
              <p:cNvGrpSpPr/>
              <p:nvPr/>
            </p:nvGrpSpPr>
            <p:grpSpPr>
              <a:xfrm>
                <a:off x="10497128" y="1302327"/>
                <a:ext cx="720436" cy="4382655"/>
                <a:chOff x="10497128" y="1302327"/>
                <a:chExt cx="720436" cy="4382655"/>
              </a:xfrm>
            </p:grpSpPr>
            <p:cxnSp>
              <p:nvCxnSpPr>
                <p:cNvPr id="12" name="Straight Connector 11">
                  <a:extLst>
                    <a:ext uri="{FF2B5EF4-FFF2-40B4-BE49-F238E27FC236}">
                      <a16:creationId xmlns:a16="http://schemas.microsoft.com/office/drawing/2014/main" id="{74B1FBF0-1ADC-B546-DFD7-5B989AF409B5}"/>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3D1CDDA-B8E9-E208-1E16-46E550C351F6}"/>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2836F5-989D-8610-9E23-B2D20B120D8B}"/>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92EF4FB-BE7B-C94D-7B9E-E3C168C4EF40}"/>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51D8156-27CA-F076-1907-EA3BE269B871}"/>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B4F9085-1B4E-3F85-FED6-A7A533D9A3F7}"/>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BF58A2B-E926-69CD-9548-DC4F0843B2C6}"/>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8BC3D56-5C5A-80A3-53E3-32F4468DB8FB}"/>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F784851-E19D-9918-B855-BC69CAC75F7C}"/>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60BF6CF-04C3-37EB-7F97-27B1B409D59A}"/>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D162456-CFC7-56EE-0DBF-1164809E3E99}"/>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7351EAD-5E2E-1FE1-4CCB-6B0F7F6069BC}"/>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BB42509-8647-7DDA-2910-842373E34E4B}"/>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C86A2AB-A667-BC11-9C92-CD932E9FFD6E}"/>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A968C0B5-BEE0-1C71-559D-DD0CD92E25FC}"/>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C3868EE-ADED-982C-4E4C-C0B5284E7F9A}"/>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A0EE72AE-FB6C-F915-FC28-D8205EE4E37C}"/>
                </a:ext>
              </a:extLst>
            </p:cNvPr>
            <p:cNvSpPr txBox="1"/>
            <p:nvPr/>
          </p:nvSpPr>
          <p:spPr>
            <a:xfrm>
              <a:off x="9230061" y="1271505"/>
              <a:ext cx="982480" cy="4405052"/>
            </a:xfrm>
            <a:prstGeom prst="rect">
              <a:avLst/>
            </a:prstGeom>
            <a:noFill/>
          </p:spPr>
          <p:txBody>
            <a:bodyPr wrap="square" rtlCol="0">
              <a:spAutoFit/>
            </a:bodyPr>
            <a:lstStyle/>
            <a:p>
              <a:pPr algn="r">
                <a:lnSpc>
                  <a:spcPts val="2600"/>
                </a:lnSpc>
              </a:pPr>
              <a:r>
                <a:rPr lang="en-US" sz="1600" dirty="0">
                  <a:latin typeface="Times New Roman" panose="02020603050405020304" pitchFamily="18" charset="0"/>
                  <a:cs typeface="Times New Roman" panose="02020603050405020304" pitchFamily="18" charset="0"/>
                </a:rPr>
                <a:t>ht[0]</a:t>
              </a:r>
            </a:p>
            <a:p>
              <a:pPr algn="r">
                <a:lnSpc>
                  <a:spcPts val="2600"/>
                </a:lnSpc>
              </a:pPr>
              <a:r>
                <a:rPr lang="en-US" sz="1600" dirty="0">
                  <a:latin typeface="Times New Roman" panose="02020603050405020304" pitchFamily="18" charset="0"/>
                  <a:cs typeface="Times New Roman" panose="02020603050405020304" pitchFamily="18" charset="0"/>
                </a:rPr>
                <a:t>ht[1]</a:t>
              </a:r>
            </a:p>
            <a:p>
              <a:pPr algn="r">
                <a:lnSpc>
                  <a:spcPts val="2600"/>
                </a:lnSpc>
              </a:pPr>
              <a:r>
                <a:rPr lang="en-US" sz="1600" dirty="0">
                  <a:latin typeface="Times New Roman" panose="02020603050405020304" pitchFamily="18" charset="0"/>
                  <a:cs typeface="Times New Roman" panose="02020603050405020304" pitchFamily="18" charset="0"/>
                </a:rPr>
                <a:t>ht[2]</a:t>
              </a:r>
            </a:p>
            <a:p>
              <a:pPr algn="r">
                <a:lnSpc>
                  <a:spcPts val="2600"/>
                </a:lnSpc>
              </a:pPr>
              <a:r>
                <a:rPr lang="en-US" sz="1600" dirty="0">
                  <a:latin typeface="Times New Roman" panose="02020603050405020304" pitchFamily="18" charset="0"/>
                  <a:cs typeface="Times New Roman" panose="02020603050405020304" pitchFamily="18" charset="0"/>
                </a:rPr>
                <a:t>ht[3]</a:t>
              </a:r>
            </a:p>
            <a:p>
              <a:pPr algn="r">
                <a:lnSpc>
                  <a:spcPts val="2600"/>
                </a:lnSpc>
              </a:pPr>
              <a:r>
                <a:rPr lang="en-US" sz="1600" dirty="0">
                  <a:latin typeface="Times New Roman" panose="02020603050405020304" pitchFamily="18" charset="0"/>
                  <a:cs typeface="Times New Roman" panose="02020603050405020304" pitchFamily="18" charset="0"/>
                </a:rPr>
                <a:t>ht[4]</a:t>
              </a:r>
            </a:p>
            <a:p>
              <a:pPr algn="r">
                <a:lnSpc>
                  <a:spcPts val="2600"/>
                </a:lnSpc>
              </a:pPr>
              <a:r>
                <a:rPr lang="en-US" sz="1600" dirty="0">
                  <a:latin typeface="Times New Roman" panose="02020603050405020304" pitchFamily="18" charset="0"/>
                  <a:cs typeface="Times New Roman" panose="02020603050405020304" pitchFamily="18" charset="0"/>
                </a:rPr>
                <a:t>ht[5]</a:t>
              </a:r>
            </a:p>
            <a:p>
              <a:pPr algn="r">
                <a:lnSpc>
                  <a:spcPts val="2600"/>
                </a:lnSpc>
              </a:pPr>
              <a:r>
                <a:rPr lang="en-US" sz="1600" dirty="0">
                  <a:latin typeface="Times New Roman" panose="02020603050405020304" pitchFamily="18" charset="0"/>
                  <a:cs typeface="Times New Roman" panose="02020603050405020304" pitchFamily="18" charset="0"/>
                </a:rPr>
                <a:t>ht[6]</a:t>
              </a:r>
            </a:p>
            <a:p>
              <a:pPr algn="r">
                <a:lnSpc>
                  <a:spcPts val="2600"/>
                </a:lnSpc>
              </a:pPr>
              <a:r>
                <a:rPr lang="en-US" sz="1600" dirty="0">
                  <a:latin typeface="Times New Roman" panose="02020603050405020304" pitchFamily="18" charset="0"/>
                  <a:cs typeface="Times New Roman" panose="02020603050405020304" pitchFamily="18" charset="0"/>
                </a:rPr>
                <a:t>ht[7]</a:t>
              </a:r>
            </a:p>
            <a:p>
              <a:pPr algn="r">
                <a:lnSpc>
                  <a:spcPts val="2600"/>
                </a:lnSpc>
              </a:pPr>
              <a:r>
                <a:rPr lang="en-US" sz="1600" dirty="0">
                  <a:latin typeface="Times New Roman" panose="02020603050405020304" pitchFamily="18" charset="0"/>
                  <a:cs typeface="Times New Roman" panose="02020603050405020304" pitchFamily="18" charset="0"/>
                </a:rPr>
                <a:t>ht[8]</a:t>
              </a:r>
            </a:p>
            <a:p>
              <a:pPr algn="r">
                <a:lnSpc>
                  <a:spcPts val="2600"/>
                </a:lnSpc>
              </a:pPr>
              <a:r>
                <a:rPr lang="en-US" sz="1600" dirty="0">
                  <a:latin typeface="Times New Roman" panose="02020603050405020304" pitchFamily="18" charset="0"/>
                  <a:cs typeface="Times New Roman" panose="02020603050405020304" pitchFamily="18" charset="0"/>
                </a:rPr>
                <a:t>ht[9]</a:t>
              </a:r>
            </a:p>
            <a:p>
              <a:pPr algn="r">
                <a:lnSpc>
                  <a:spcPts val="2600"/>
                </a:lnSpc>
              </a:pPr>
              <a:r>
                <a:rPr lang="en-US" sz="1600" dirty="0">
                  <a:latin typeface="Times New Roman" panose="02020603050405020304" pitchFamily="18" charset="0"/>
                  <a:cs typeface="Times New Roman" panose="02020603050405020304" pitchFamily="18" charset="0"/>
                </a:rPr>
                <a:t>ht[10]</a:t>
              </a:r>
            </a:p>
            <a:p>
              <a:pPr algn="r">
                <a:lnSpc>
                  <a:spcPts val="2600"/>
                </a:lnSpc>
              </a:pPr>
              <a:r>
                <a:rPr lang="en-US" sz="1600" dirty="0">
                  <a:latin typeface="Times New Roman" panose="02020603050405020304" pitchFamily="18" charset="0"/>
                  <a:cs typeface="Times New Roman" panose="02020603050405020304" pitchFamily="18" charset="0"/>
                </a:rPr>
                <a:t>ht[11]</a:t>
              </a:r>
            </a:p>
            <a:p>
              <a:pPr algn="r">
                <a:lnSpc>
                  <a:spcPts val="2600"/>
                </a:lnSpc>
              </a:pPr>
              <a:r>
                <a:rPr lang="en-US" sz="1600" dirty="0">
                  <a:latin typeface="Times New Roman" panose="02020603050405020304" pitchFamily="18" charset="0"/>
                  <a:cs typeface="Times New Roman" panose="02020603050405020304" pitchFamily="18" charset="0"/>
                </a:rPr>
                <a:t>ht[12]</a:t>
              </a:r>
            </a:p>
          </p:txBody>
        </p:sp>
      </p:grpSp>
      <p:sp>
        <p:nvSpPr>
          <p:cNvPr id="26" name="TextBox 25">
            <a:extLst>
              <a:ext uri="{FF2B5EF4-FFF2-40B4-BE49-F238E27FC236}">
                <a16:creationId xmlns:a16="http://schemas.microsoft.com/office/drawing/2014/main" id="{FE895693-CACF-EC35-06A8-E3321AA64F20}"/>
              </a:ext>
            </a:extLst>
          </p:cNvPr>
          <p:cNvSpPr txBox="1"/>
          <p:nvPr/>
        </p:nvSpPr>
        <p:spPr>
          <a:xfrm>
            <a:off x="10516838" y="2081084"/>
            <a:ext cx="1063941"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Adams</a:t>
            </a:r>
          </a:p>
        </p:txBody>
      </p:sp>
      <p:sp>
        <p:nvSpPr>
          <p:cNvPr id="27" name="TextBox 26">
            <a:extLst>
              <a:ext uri="{FF2B5EF4-FFF2-40B4-BE49-F238E27FC236}">
                <a16:creationId xmlns:a16="http://schemas.microsoft.com/office/drawing/2014/main" id="{F20549E1-A287-DEA4-72D0-7B8203488F5B}"/>
              </a:ext>
            </a:extLst>
          </p:cNvPr>
          <p:cNvSpPr txBox="1"/>
          <p:nvPr/>
        </p:nvSpPr>
        <p:spPr>
          <a:xfrm>
            <a:off x="10568354" y="3094306"/>
            <a:ext cx="1063939"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Davis</a:t>
            </a:r>
          </a:p>
        </p:txBody>
      </p:sp>
      <p:sp>
        <p:nvSpPr>
          <p:cNvPr id="28" name="TextBox 27">
            <a:extLst>
              <a:ext uri="{FF2B5EF4-FFF2-40B4-BE49-F238E27FC236}">
                <a16:creationId xmlns:a16="http://schemas.microsoft.com/office/drawing/2014/main" id="{DAC6CE73-8E68-566E-C37F-E034D57FF64E}"/>
              </a:ext>
            </a:extLst>
          </p:cNvPr>
          <p:cNvSpPr txBox="1"/>
          <p:nvPr/>
        </p:nvSpPr>
        <p:spPr>
          <a:xfrm>
            <a:off x="10568354" y="5110140"/>
            <a:ext cx="1063937"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Jones</a:t>
            </a:r>
          </a:p>
        </p:txBody>
      </p:sp>
      <p:sp>
        <p:nvSpPr>
          <p:cNvPr id="29" name="TextBox 28">
            <a:extLst>
              <a:ext uri="{FF2B5EF4-FFF2-40B4-BE49-F238E27FC236}">
                <a16:creationId xmlns:a16="http://schemas.microsoft.com/office/drawing/2014/main" id="{1FF8CE52-C3CF-1842-D530-6CD4A7F5242A}"/>
              </a:ext>
            </a:extLst>
          </p:cNvPr>
          <p:cNvSpPr txBox="1"/>
          <p:nvPr/>
        </p:nvSpPr>
        <p:spPr>
          <a:xfrm>
            <a:off x="10533212" y="2412389"/>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Apple</a:t>
            </a:r>
          </a:p>
        </p:txBody>
      </p:sp>
      <p:sp>
        <p:nvSpPr>
          <p:cNvPr id="30" name="TextBox 29">
            <a:extLst>
              <a:ext uri="{FF2B5EF4-FFF2-40B4-BE49-F238E27FC236}">
                <a16:creationId xmlns:a16="http://schemas.microsoft.com/office/drawing/2014/main" id="{20A97E02-B101-1AAC-C92A-6D20990467BC}"/>
              </a:ext>
            </a:extLst>
          </p:cNvPr>
          <p:cNvSpPr txBox="1"/>
          <p:nvPr/>
        </p:nvSpPr>
        <p:spPr>
          <a:xfrm>
            <a:off x="10483153" y="2721869"/>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Ant</a:t>
            </a:r>
          </a:p>
        </p:txBody>
      </p:sp>
      <p:sp>
        <p:nvSpPr>
          <p:cNvPr id="31" name="TextBox 30">
            <a:extLst>
              <a:ext uri="{FF2B5EF4-FFF2-40B4-BE49-F238E27FC236}">
                <a16:creationId xmlns:a16="http://schemas.microsoft.com/office/drawing/2014/main" id="{DB83375E-1C2E-492A-F090-E31F71676F60}"/>
              </a:ext>
            </a:extLst>
          </p:cNvPr>
          <p:cNvSpPr txBox="1"/>
          <p:nvPr/>
        </p:nvSpPr>
        <p:spPr>
          <a:xfrm>
            <a:off x="10530717" y="3416093"/>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Arrow</a:t>
            </a:r>
          </a:p>
        </p:txBody>
      </p:sp>
      <p:sp>
        <p:nvSpPr>
          <p:cNvPr id="32" name="TextBox 31">
            <a:extLst>
              <a:ext uri="{FF2B5EF4-FFF2-40B4-BE49-F238E27FC236}">
                <a16:creationId xmlns:a16="http://schemas.microsoft.com/office/drawing/2014/main" id="{C618D3BF-188D-AAAB-F153-35C59A173D67}"/>
              </a:ext>
            </a:extLst>
          </p:cNvPr>
          <p:cNvSpPr txBox="1"/>
          <p:nvPr/>
        </p:nvSpPr>
        <p:spPr>
          <a:xfrm>
            <a:off x="10493087" y="3744291"/>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Delta</a:t>
            </a:r>
          </a:p>
        </p:txBody>
      </p:sp>
    </p:spTree>
    <p:extLst>
      <p:ext uri="{BB962C8B-B14F-4D97-AF65-F5344CB8AC3E}">
        <p14:creationId xmlns:p14="http://schemas.microsoft.com/office/powerpoint/2010/main" val="2327341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500" fill="hold"/>
                                        <p:tgtEl>
                                          <p:spTgt spid="30"/>
                                        </p:tgtEl>
                                        <p:attrNameLst>
                                          <p:attrName>ppt_x</p:attrName>
                                        </p:attrNameLst>
                                      </p:cBhvr>
                                      <p:tavLst>
                                        <p:tav tm="0">
                                          <p:val>
                                            <p:strVal val="#ppt_x"/>
                                          </p:val>
                                        </p:tav>
                                        <p:tav tm="100000">
                                          <p:val>
                                            <p:strVal val="#ppt_x"/>
                                          </p:val>
                                        </p:tav>
                                      </p:tavLst>
                                    </p:anim>
                                    <p:anim calcmode="lin" valueType="num">
                                      <p:cBhvr additive="base">
                                        <p:cTn id="1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ppt_x"/>
                                          </p:val>
                                        </p:tav>
                                        <p:tav tm="100000">
                                          <p:val>
                                            <p:strVal val="#ppt_x"/>
                                          </p:val>
                                        </p:tav>
                                      </p:tavLst>
                                    </p:anim>
                                    <p:anim calcmode="lin" valueType="num">
                                      <p:cBhvr additive="base">
                                        <p:cTn id="2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2E56C0-35C2-4EAB-9EDB-646E8C5E289B}"/>
              </a:ext>
            </a:extLst>
          </p:cNvPr>
          <p:cNvSpPr>
            <a:spLocks noGrp="1"/>
          </p:cNvSpPr>
          <p:nvPr>
            <p:ph idx="1"/>
          </p:nvPr>
        </p:nvSpPr>
        <p:spPr>
          <a:xfrm>
            <a:off x="348180" y="1876804"/>
            <a:ext cx="11262628" cy="5402762"/>
          </a:xfrm>
        </p:spPr>
        <p:txBody>
          <a:bodyPr anchor="t" anchorCtr="0">
            <a:noAutofit/>
          </a:bodyPr>
          <a:lstStyle/>
          <a:p>
            <a:pPr>
              <a:lnSpc>
                <a:spcPct val="90000"/>
              </a:lnSpc>
            </a:pPr>
            <a:r>
              <a:rPr lang="en-US" sz="2800" dirty="0"/>
              <a:t>The </a:t>
            </a:r>
            <a:r>
              <a:rPr lang="en-US" sz="2800" b="1" dirty="0">
                <a:solidFill>
                  <a:srgbClr val="00B0F0"/>
                </a:solidFill>
              </a:rPr>
              <a:t>probes</a:t>
            </a:r>
            <a:r>
              <a:rPr lang="en-US" sz="2800" dirty="0"/>
              <a:t> into our hash table, looking for an open spot.</a:t>
            </a:r>
          </a:p>
          <a:p>
            <a:pPr marL="0" indent="0">
              <a:lnSpc>
                <a:spcPct val="90000"/>
              </a:lnSpc>
              <a:buNone/>
            </a:pPr>
            <a:endParaRPr lang="en-US" sz="2800" dirty="0"/>
          </a:p>
        </p:txBody>
      </p:sp>
      <p:sp>
        <p:nvSpPr>
          <p:cNvPr id="3" name="Title 2">
            <a:extLst>
              <a:ext uri="{FF2B5EF4-FFF2-40B4-BE49-F238E27FC236}">
                <a16:creationId xmlns:a16="http://schemas.microsoft.com/office/drawing/2014/main" id="{DCBD4A68-0624-4080-ACDF-CBF1CC40402E}"/>
              </a:ext>
            </a:extLst>
          </p:cNvPr>
          <p:cNvSpPr>
            <a:spLocks noGrp="1"/>
          </p:cNvSpPr>
          <p:nvPr>
            <p:ph type="title"/>
          </p:nvPr>
        </p:nvSpPr>
        <p:spPr>
          <a:xfrm>
            <a:off x="581192" y="976562"/>
            <a:ext cx="11029616" cy="693113"/>
          </a:xfrm>
        </p:spPr>
        <p:txBody>
          <a:bodyPr>
            <a:noAutofit/>
          </a:bodyPr>
          <a:lstStyle/>
          <a:p>
            <a:r>
              <a:rPr lang="en-US" sz="3400" dirty="0"/>
              <a:t>Probing the Hash table to find AN open spot</a:t>
            </a:r>
          </a:p>
        </p:txBody>
      </p:sp>
      <p:graphicFrame>
        <p:nvGraphicFramePr>
          <p:cNvPr id="4" name="Table 3">
            <a:extLst>
              <a:ext uri="{FF2B5EF4-FFF2-40B4-BE49-F238E27FC236}">
                <a16:creationId xmlns:a16="http://schemas.microsoft.com/office/drawing/2014/main" id="{B34B24EC-0A0F-E47D-9E1F-45412C5605D0}"/>
              </a:ext>
            </a:extLst>
          </p:cNvPr>
          <p:cNvGraphicFramePr>
            <a:graphicFrameLocks noGrp="1"/>
          </p:cNvGraphicFramePr>
          <p:nvPr/>
        </p:nvGraphicFramePr>
        <p:xfrm>
          <a:off x="2007894" y="2398730"/>
          <a:ext cx="7943200" cy="514657"/>
        </p:xfrm>
        <a:graphic>
          <a:graphicData uri="http://schemas.openxmlformats.org/drawingml/2006/table">
            <a:tbl>
              <a:tblPr firstRow="1" bandRow="1">
                <a:tableStyleId>{F5AB1C69-6EDB-4FF4-983F-18BD219EF322}</a:tableStyleId>
              </a:tblPr>
              <a:tblGrid>
                <a:gridCol w="794320">
                  <a:extLst>
                    <a:ext uri="{9D8B030D-6E8A-4147-A177-3AD203B41FA5}">
                      <a16:colId xmlns:a16="http://schemas.microsoft.com/office/drawing/2014/main" val="1838891793"/>
                    </a:ext>
                  </a:extLst>
                </a:gridCol>
                <a:gridCol w="794320">
                  <a:extLst>
                    <a:ext uri="{9D8B030D-6E8A-4147-A177-3AD203B41FA5}">
                      <a16:colId xmlns:a16="http://schemas.microsoft.com/office/drawing/2014/main" val="3216229625"/>
                    </a:ext>
                  </a:extLst>
                </a:gridCol>
                <a:gridCol w="794320">
                  <a:extLst>
                    <a:ext uri="{9D8B030D-6E8A-4147-A177-3AD203B41FA5}">
                      <a16:colId xmlns:a16="http://schemas.microsoft.com/office/drawing/2014/main" val="67122098"/>
                    </a:ext>
                  </a:extLst>
                </a:gridCol>
                <a:gridCol w="794320">
                  <a:extLst>
                    <a:ext uri="{9D8B030D-6E8A-4147-A177-3AD203B41FA5}">
                      <a16:colId xmlns:a16="http://schemas.microsoft.com/office/drawing/2014/main" val="1048929879"/>
                    </a:ext>
                  </a:extLst>
                </a:gridCol>
                <a:gridCol w="794320">
                  <a:extLst>
                    <a:ext uri="{9D8B030D-6E8A-4147-A177-3AD203B41FA5}">
                      <a16:colId xmlns:a16="http://schemas.microsoft.com/office/drawing/2014/main" val="1290365078"/>
                    </a:ext>
                  </a:extLst>
                </a:gridCol>
                <a:gridCol w="794320">
                  <a:extLst>
                    <a:ext uri="{9D8B030D-6E8A-4147-A177-3AD203B41FA5}">
                      <a16:colId xmlns:a16="http://schemas.microsoft.com/office/drawing/2014/main" val="1794349000"/>
                    </a:ext>
                  </a:extLst>
                </a:gridCol>
                <a:gridCol w="794320">
                  <a:extLst>
                    <a:ext uri="{9D8B030D-6E8A-4147-A177-3AD203B41FA5}">
                      <a16:colId xmlns:a16="http://schemas.microsoft.com/office/drawing/2014/main" val="247777362"/>
                    </a:ext>
                  </a:extLst>
                </a:gridCol>
                <a:gridCol w="794320">
                  <a:extLst>
                    <a:ext uri="{9D8B030D-6E8A-4147-A177-3AD203B41FA5}">
                      <a16:colId xmlns:a16="http://schemas.microsoft.com/office/drawing/2014/main" val="2704796698"/>
                    </a:ext>
                  </a:extLst>
                </a:gridCol>
                <a:gridCol w="794320">
                  <a:extLst>
                    <a:ext uri="{9D8B030D-6E8A-4147-A177-3AD203B41FA5}">
                      <a16:colId xmlns:a16="http://schemas.microsoft.com/office/drawing/2014/main" val="53088556"/>
                    </a:ext>
                  </a:extLst>
                </a:gridCol>
                <a:gridCol w="794320">
                  <a:extLst>
                    <a:ext uri="{9D8B030D-6E8A-4147-A177-3AD203B41FA5}">
                      <a16:colId xmlns:a16="http://schemas.microsoft.com/office/drawing/2014/main" val="2122746333"/>
                    </a:ext>
                  </a:extLst>
                </a:gridCol>
              </a:tblGrid>
              <a:tr h="514657">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extLst>
                  <a:ext uri="{0D108BD9-81ED-4DB2-BD59-A6C34878D82A}">
                    <a16:rowId xmlns:a16="http://schemas.microsoft.com/office/drawing/2014/main" val="4061759863"/>
                  </a:ext>
                </a:extLst>
              </a:tr>
            </a:tbl>
          </a:graphicData>
        </a:graphic>
      </p:graphicFrame>
      <p:sp>
        <p:nvSpPr>
          <p:cNvPr id="6" name="TextBox 5">
            <a:extLst>
              <a:ext uri="{FF2B5EF4-FFF2-40B4-BE49-F238E27FC236}">
                <a16:creationId xmlns:a16="http://schemas.microsoft.com/office/drawing/2014/main" id="{B8237779-9578-8A8F-85EB-EA6CC8A9312B}"/>
              </a:ext>
            </a:extLst>
          </p:cNvPr>
          <p:cNvSpPr txBox="1"/>
          <p:nvPr/>
        </p:nvSpPr>
        <p:spPr>
          <a:xfrm>
            <a:off x="1991864" y="2834052"/>
            <a:ext cx="7975260" cy="369332"/>
          </a:xfrm>
          <a:prstGeom prst="rect">
            <a:avLst/>
          </a:prstGeom>
          <a:noFill/>
        </p:spPr>
        <p:txBody>
          <a:bodyPr wrap="none" rtlCol="0">
            <a:spAutoFit/>
          </a:bodyPr>
          <a:lstStyle/>
          <a:p>
            <a:r>
              <a:rPr lang="en-US" dirty="0">
                <a:latin typeface="Times New Roman" panose="02020603050405020304" pitchFamily="18" charset="0"/>
              </a:rPr>
              <a:t>0             1                2            3              4           5            6           7           8            9</a:t>
            </a:r>
          </a:p>
        </p:txBody>
      </p:sp>
      <p:sp>
        <p:nvSpPr>
          <p:cNvPr id="8" name="TextBox 7">
            <a:extLst>
              <a:ext uri="{FF2B5EF4-FFF2-40B4-BE49-F238E27FC236}">
                <a16:creationId xmlns:a16="http://schemas.microsoft.com/office/drawing/2014/main" id="{58AF52DB-0F67-5C4D-4518-7F6C58D336DF}"/>
              </a:ext>
            </a:extLst>
          </p:cNvPr>
          <p:cNvSpPr txBox="1"/>
          <p:nvPr/>
        </p:nvSpPr>
        <p:spPr>
          <a:xfrm>
            <a:off x="348180" y="3206504"/>
            <a:ext cx="11495640" cy="3539430"/>
          </a:xfrm>
          <a:prstGeom prst="rect">
            <a:avLst/>
          </a:prstGeom>
          <a:noFill/>
        </p:spPr>
        <p:txBody>
          <a:bodyPr wrap="square">
            <a:spAutoFit/>
          </a:bodyPr>
          <a:lstStyle/>
          <a:p>
            <a:r>
              <a:rPr lang="en-US" sz="2800" dirty="0">
                <a:solidFill>
                  <a:srgbClr val="0070C0"/>
                </a:solidFill>
                <a:latin typeface="Times New Roman" panose="02020603050405020304" pitchFamily="18" charset="0"/>
                <a:cs typeface="Times New Roman" panose="02020603050405020304" pitchFamily="18" charset="0"/>
              </a:rPr>
              <a:t>//Probe Function Pseudocode</a:t>
            </a:r>
          </a:p>
          <a:p>
            <a:r>
              <a:rPr lang="en-US" sz="2800" dirty="0">
                <a:solidFill>
                  <a:srgbClr val="0070C0"/>
                </a:solidFill>
                <a:latin typeface="Times New Roman" panose="02020603050405020304" pitchFamily="18" charset="0"/>
                <a:cs typeface="Times New Roman" panose="02020603050405020304" pitchFamily="18" charset="0"/>
              </a:rPr>
              <a:t>int   </a:t>
            </a:r>
            <a:r>
              <a:rPr lang="en-US" sz="2800" dirty="0" err="1">
                <a:solidFill>
                  <a:srgbClr val="0070C0"/>
                </a:solidFill>
                <a:latin typeface="Times New Roman" panose="02020603050405020304" pitchFamily="18" charset="0"/>
                <a:cs typeface="Times New Roman" panose="02020603050405020304" pitchFamily="18" charset="0"/>
              </a:rPr>
              <a:t>linearProbingPosition</a:t>
            </a:r>
            <a:r>
              <a:rPr lang="en-US" sz="2800" dirty="0">
                <a:solidFill>
                  <a:srgbClr val="0070C0"/>
                </a:solidFill>
                <a:latin typeface="Times New Roman" panose="02020603050405020304" pitchFamily="18" charset="0"/>
                <a:cs typeface="Times New Roman" panose="02020603050405020304" pitchFamily="18" charset="0"/>
              </a:rPr>
              <a:t>(int tries, key){       //ex.  </a:t>
            </a:r>
            <a:r>
              <a:rPr lang="en-US" sz="2800" dirty="0" err="1">
                <a:solidFill>
                  <a:srgbClr val="0070C0"/>
                </a:solidFill>
                <a:latin typeface="Times New Roman" panose="02020603050405020304" pitchFamily="18" charset="0"/>
                <a:cs typeface="Times New Roman" panose="02020603050405020304" pitchFamily="18" charset="0"/>
              </a:rPr>
              <a:t>findIndex</a:t>
            </a:r>
            <a:r>
              <a:rPr lang="en-US" sz="2800" dirty="0">
                <a:solidFill>
                  <a:srgbClr val="0070C0"/>
                </a:solidFill>
                <a:latin typeface="Times New Roman" panose="02020603050405020304" pitchFamily="18" charset="0"/>
                <a:cs typeface="Times New Roman" panose="02020603050405020304" pitchFamily="18" charset="0"/>
              </a:rPr>
              <a:t>(0, 3);</a:t>
            </a:r>
          </a:p>
          <a:p>
            <a:r>
              <a:rPr lang="en-US" sz="2800" dirty="0">
                <a:solidFill>
                  <a:srgbClr val="0070C0"/>
                </a:solidFill>
                <a:latin typeface="Times New Roman" panose="02020603050405020304" pitchFamily="18" charset="0"/>
                <a:cs typeface="Times New Roman" panose="02020603050405020304" pitchFamily="18" charset="0"/>
              </a:rPr>
              <a:t>	//Use a hash function to figure out where to put the value</a:t>
            </a:r>
          </a:p>
          <a:p>
            <a:r>
              <a:rPr lang="en-US" sz="2800" dirty="0">
                <a:solidFill>
                  <a:srgbClr val="0070C0"/>
                </a:solidFill>
                <a:latin typeface="Times New Roman" panose="02020603050405020304" pitchFamily="18" charset="0"/>
                <a:cs typeface="Times New Roman" panose="02020603050405020304" pitchFamily="18" charset="0"/>
              </a:rPr>
              <a:t>     //ex.  if your hash function is %10     3%10=3, you should put 3 at index 3</a:t>
            </a:r>
            <a:br>
              <a:rPr lang="en-US" sz="2800" dirty="0">
                <a:solidFill>
                  <a:srgbClr val="0070C0"/>
                </a:solidFill>
                <a:latin typeface="Times New Roman" panose="02020603050405020304" pitchFamily="18" charset="0"/>
                <a:cs typeface="Times New Roman" panose="02020603050405020304" pitchFamily="18" charset="0"/>
              </a:rPr>
            </a:br>
            <a:r>
              <a:rPr lang="en-US" sz="2800" dirty="0">
                <a:solidFill>
                  <a:srgbClr val="0070C0"/>
                </a:solidFill>
                <a:latin typeface="Times New Roman" panose="02020603050405020304" pitchFamily="18" charset="0"/>
                <a:cs typeface="Times New Roman" panose="02020603050405020304" pitchFamily="18" charset="0"/>
              </a:rPr>
              <a:t>     //                                                        13%10=3, you should put 13 at index 3</a:t>
            </a:r>
          </a:p>
          <a:p>
            <a:r>
              <a:rPr lang="en-US" sz="2800" dirty="0">
                <a:solidFill>
                  <a:srgbClr val="0070C0"/>
                </a:solidFill>
                <a:latin typeface="Times New Roman" panose="02020603050405020304" pitchFamily="18" charset="0"/>
                <a:cs typeface="Times New Roman" panose="02020603050405020304" pitchFamily="18" charset="0"/>
              </a:rPr>
              <a:t>     //add on tries</a:t>
            </a:r>
          </a:p>
          <a:p>
            <a:r>
              <a:rPr lang="en-US" sz="2800" dirty="0">
                <a:solidFill>
                  <a:srgbClr val="0070C0"/>
                </a:solidFill>
                <a:latin typeface="Times New Roman" panose="02020603050405020304" pitchFamily="18" charset="0"/>
                <a:cs typeface="Times New Roman" panose="02020603050405020304" pitchFamily="18" charset="0"/>
              </a:rPr>
              <a:t>     //if this puts you outside bounds of array, adjust %10 (ARRAY_SIZE)</a:t>
            </a:r>
          </a:p>
          <a:p>
            <a:r>
              <a:rPr lang="en-US" sz="2800" dirty="0">
                <a:solidFill>
                  <a:srgbClr val="0070C0"/>
                </a:solidFill>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endParaRPr>
          </a:p>
        </p:txBody>
      </p:sp>
      <p:sp>
        <p:nvSpPr>
          <p:cNvPr id="10" name="TextBox 9">
            <a:extLst>
              <a:ext uri="{FF2B5EF4-FFF2-40B4-BE49-F238E27FC236}">
                <a16:creationId xmlns:a16="http://schemas.microsoft.com/office/drawing/2014/main" id="{31F27A57-9229-F8BA-5137-6CD8C6E93AB4}"/>
              </a:ext>
            </a:extLst>
          </p:cNvPr>
          <p:cNvSpPr txBox="1"/>
          <p:nvPr/>
        </p:nvSpPr>
        <p:spPr>
          <a:xfrm>
            <a:off x="4634584" y="2384213"/>
            <a:ext cx="409903" cy="523220"/>
          </a:xfrm>
          <a:prstGeom prst="rect">
            <a:avLst/>
          </a:prstGeom>
          <a:noFill/>
        </p:spPr>
        <p:txBody>
          <a:bodyPr wrap="square" rtlCol="0">
            <a:spAutoFit/>
          </a:bodyPr>
          <a:lstStyle/>
          <a:p>
            <a:r>
              <a:rPr lang="en-US" sz="2800" dirty="0">
                <a:latin typeface="Times New Roman" panose="02020603050405020304" pitchFamily="18" charset="0"/>
              </a:rPr>
              <a:t>3</a:t>
            </a:r>
          </a:p>
        </p:txBody>
      </p:sp>
    </p:spTree>
    <p:extLst>
      <p:ext uri="{BB962C8B-B14F-4D97-AF65-F5344CB8AC3E}">
        <p14:creationId xmlns:p14="http://schemas.microsoft.com/office/powerpoint/2010/main" val="3585635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2E56C0-35C2-4EAB-9EDB-646E8C5E289B}"/>
              </a:ext>
            </a:extLst>
          </p:cNvPr>
          <p:cNvSpPr>
            <a:spLocks noGrp="1"/>
          </p:cNvSpPr>
          <p:nvPr>
            <p:ph idx="1"/>
          </p:nvPr>
        </p:nvSpPr>
        <p:spPr>
          <a:xfrm>
            <a:off x="348180" y="1876804"/>
            <a:ext cx="11262628" cy="5402762"/>
          </a:xfrm>
        </p:spPr>
        <p:txBody>
          <a:bodyPr anchor="t" anchorCtr="0">
            <a:noAutofit/>
          </a:bodyPr>
          <a:lstStyle/>
          <a:p>
            <a:pPr>
              <a:lnSpc>
                <a:spcPct val="90000"/>
              </a:lnSpc>
            </a:pPr>
            <a:r>
              <a:rPr lang="en-US" sz="2800" dirty="0"/>
              <a:t>The </a:t>
            </a:r>
            <a:r>
              <a:rPr lang="en-US" sz="2800" b="1" dirty="0">
                <a:solidFill>
                  <a:srgbClr val="00B0F0"/>
                </a:solidFill>
              </a:rPr>
              <a:t>probes</a:t>
            </a:r>
            <a:r>
              <a:rPr lang="en-US" sz="2800" dirty="0"/>
              <a:t> into our hash table, looking for an open spot</a:t>
            </a:r>
          </a:p>
          <a:p>
            <a:pPr>
              <a:lnSpc>
                <a:spcPct val="90000"/>
              </a:lnSpc>
            </a:pPr>
            <a:r>
              <a:rPr lang="en-US" sz="2800" dirty="0"/>
              <a:t>Our </a:t>
            </a:r>
            <a:r>
              <a:rPr lang="en-US" sz="2800" b="1" dirty="0">
                <a:solidFill>
                  <a:srgbClr val="00B0F0"/>
                </a:solidFill>
              </a:rPr>
              <a:t>probe generator</a:t>
            </a:r>
            <a:r>
              <a:rPr lang="en-US" sz="2800" dirty="0"/>
              <a:t>, will find the next spot to check</a:t>
            </a:r>
          </a:p>
          <a:p>
            <a:pPr marL="0" indent="0">
              <a:lnSpc>
                <a:spcPct val="90000"/>
              </a:lnSpc>
              <a:buNone/>
            </a:pPr>
            <a:r>
              <a:rPr lang="en-US" sz="2800" dirty="0">
                <a:solidFill>
                  <a:schemeClr val="tx1"/>
                </a:solidFill>
                <a:latin typeface="Times New Roman" panose="02020603050405020304" pitchFamily="18" charset="0"/>
                <a:cs typeface="Times New Roman" panose="02020603050405020304" pitchFamily="18" charset="0"/>
              </a:rPr>
              <a:t>   </a:t>
            </a:r>
          </a:p>
        </p:txBody>
      </p:sp>
      <p:sp>
        <p:nvSpPr>
          <p:cNvPr id="3" name="Title 2">
            <a:extLst>
              <a:ext uri="{FF2B5EF4-FFF2-40B4-BE49-F238E27FC236}">
                <a16:creationId xmlns:a16="http://schemas.microsoft.com/office/drawing/2014/main" id="{DCBD4A68-0624-4080-ACDF-CBF1CC40402E}"/>
              </a:ext>
            </a:extLst>
          </p:cNvPr>
          <p:cNvSpPr>
            <a:spLocks noGrp="1"/>
          </p:cNvSpPr>
          <p:nvPr>
            <p:ph type="title"/>
          </p:nvPr>
        </p:nvSpPr>
        <p:spPr>
          <a:xfrm>
            <a:off x="581192" y="976562"/>
            <a:ext cx="10515600" cy="693113"/>
          </a:xfrm>
        </p:spPr>
        <p:txBody>
          <a:bodyPr>
            <a:normAutofit/>
          </a:bodyPr>
          <a:lstStyle/>
          <a:p>
            <a:r>
              <a:rPr lang="en-US" sz="3200" dirty="0"/>
              <a:t>Probing the Hash table to find AN open spot</a:t>
            </a:r>
          </a:p>
        </p:txBody>
      </p:sp>
      <p:graphicFrame>
        <p:nvGraphicFramePr>
          <p:cNvPr id="4" name="Table 3">
            <a:extLst>
              <a:ext uri="{FF2B5EF4-FFF2-40B4-BE49-F238E27FC236}">
                <a16:creationId xmlns:a16="http://schemas.microsoft.com/office/drawing/2014/main" id="{B34B24EC-0A0F-E47D-9E1F-45412C5605D0}"/>
              </a:ext>
            </a:extLst>
          </p:cNvPr>
          <p:cNvGraphicFramePr>
            <a:graphicFrameLocks noGrp="1"/>
          </p:cNvGraphicFramePr>
          <p:nvPr>
            <p:extLst>
              <p:ext uri="{D42A27DB-BD31-4B8C-83A1-F6EECF244321}">
                <p14:modId xmlns:p14="http://schemas.microsoft.com/office/powerpoint/2010/main" val="901111822"/>
              </p:ext>
            </p:extLst>
          </p:nvPr>
        </p:nvGraphicFramePr>
        <p:xfrm>
          <a:off x="2032000" y="2914342"/>
          <a:ext cx="7943200" cy="514657"/>
        </p:xfrm>
        <a:graphic>
          <a:graphicData uri="http://schemas.openxmlformats.org/drawingml/2006/table">
            <a:tbl>
              <a:tblPr firstRow="1" bandRow="1">
                <a:tableStyleId>{F5AB1C69-6EDB-4FF4-983F-18BD219EF322}</a:tableStyleId>
              </a:tblPr>
              <a:tblGrid>
                <a:gridCol w="794320">
                  <a:extLst>
                    <a:ext uri="{9D8B030D-6E8A-4147-A177-3AD203B41FA5}">
                      <a16:colId xmlns:a16="http://schemas.microsoft.com/office/drawing/2014/main" val="1838891793"/>
                    </a:ext>
                  </a:extLst>
                </a:gridCol>
                <a:gridCol w="794320">
                  <a:extLst>
                    <a:ext uri="{9D8B030D-6E8A-4147-A177-3AD203B41FA5}">
                      <a16:colId xmlns:a16="http://schemas.microsoft.com/office/drawing/2014/main" val="3216229625"/>
                    </a:ext>
                  </a:extLst>
                </a:gridCol>
                <a:gridCol w="794320">
                  <a:extLst>
                    <a:ext uri="{9D8B030D-6E8A-4147-A177-3AD203B41FA5}">
                      <a16:colId xmlns:a16="http://schemas.microsoft.com/office/drawing/2014/main" val="67122098"/>
                    </a:ext>
                  </a:extLst>
                </a:gridCol>
                <a:gridCol w="794320">
                  <a:extLst>
                    <a:ext uri="{9D8B030D-6E8A-4147-A177-3AD203B41FA5}">
                      <a16:colId xmlns:a16="http://schemas.microsoft.com/office/drawing/2014/main" val="1048929879"/>
                    </a:ext>
                  </a:extLst>
                </a:gridCol>
                <a:gridCol w="794320">
                  <a:extLst>
                    <a:ext uri="{9D8B030D-6E8A-4147-A177-3AD203B41FA5}">
                      <a16:colId xmlns:a16="http://schemas.microsoft.com/office/drawing/2014/main" val="1290365078"/>
                    </a:ext>
                  </a:extLst>
                </a:gridCol>
                <a:gridCol w="794320">
                  <a:extLst>
                    <a:ext uri="{9D8B030D-6E8A-4147-A177-3AD203B41FA5}">
                      <a16:colId xmlns:a16="http://schemas.microsoft.com/office/drawing/2014/main" val="1794349000"/>
                    </a:ext>
                  </a:extLst>
                </a:gridCol>
                <a:gridCol w="794320">
                  <a:extLst>
                    <a:ext uri="{9D8B030D-6E8A-4147-A177-3AD203B41FA5}">
                      <a16:colId xmlns:a16="http://schemas.microsoft.com/office/drawing/2014/main" val="247777362"/>
                    </a:ext>
                  </a:extLst>
                </a:gridCol>
                <a:gridCol w="794320">
                  <a:extLst>
                    <a:ext uri="{9D8B030D-6E8A-4147-A177-3AD203B41FA5}">
                      <a16:colId xmlns:a16="http://schemas.microsoft.com/office/drawing/2014/main" val="2704796698"/>
                    </a:ext>
                  </a:extLst>
                </a:gridCol>
                <a:gridCol w="794320">
                  <a:extLst>
                    <a:ext uri="{9D8B030D-6E8A-4147-A177-3AD203B41FA5}">
                      <a16:colId xmlns:a16="http://schemas.microsoft.com/office/drawing/2014/main" val="53088556"/>
                    </a:ext>
                  </a:extLst>
                </a:gridCol>
                <a:gridCol w="794320">
                  <a:extLst>
                    <a:ext uri="{9D8B030D-6E8A-4147-A177-3AD203B41FA5}">
                      <a16:colId xmlns:a16="http://schemas.microsoft.com/office/drawing/2014/main" val="2122746333"/>
                    </a:ext>
                  </a:extLst>
                </a:gridCol>
              </a:tblGrid>
              <a:tr h="514657">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extLst>
                  <a:ext uri="{0D108BD9-81ED-4DB2-BD59-A6C34878D82A}">
                    <a16:rowId xmlns:a16="http://schemas.microsoft.com/office/drawing/2014/main" val="4061759863"/>
                  </a:ext>
                </a:extLst>
              </a:tr>
            </a:tbl>
          </a:graphicData>
        </a:graphic>
      </p:graphicFrame>
      <p:sp>
        <p:nvSpPr>
          <p:cNvPr id="6" name="TextBox 5">
            <a:extLst>
              <a:ext uri="{FF2B5EF4-FFF2-40B4-BE49-F238E27FC236}">
                <a16:creationId xmlns:a16="http://schemas.microsoft.com/office/drawing/2014/main" id="{B8237779-9578-8A8F-85EB-EA6CC8A9312B}"/>
              </a:ext>
            </a:extLst>
          </p:cNvPr>
          <p:cNvSpPr txBox="1"/>
          <p:nvPr/>
        </p:nvSpPr>
        <p:spPr>
          <a:xfrm>
            <a:off x="1968936" y="3370117"/>
            <a:ext cx="7975260" cy="369332"/>
          </a:xfrm>
          <a:prstGeom prst="rect">
            <a:avLst/>
          </a:prstGeom>
          <a:noFill/>
        </p:spPr>
        <p:txBody>
          <a:bodyPr wrap="none" rtlCol="0">
            <a:spAutoFit/>
          </a:bodyPr>
          <a:lstStyle/>
          <a:p>
            <a:r>
              <a:rPr lang="en-US" dirty="0">
                <a:latin typeface="Times New Roman" panose="02020603050405020304" pitchFamily="18" charset="0"/>
              </a:rPr>
              <a:t>0             1                2            3              4           5            6           7           8            9</a:t>
            </a:r>
          </a:p>
        </p:txBody>
      </p:sp>
      <p:sp>
        <p:nvSpPr>
          <p:cNvPr id="8" name="TextBox 7">
            <a:extLst>
              <a:ext uri="{FF2B5EF4-FFF2-40B4-BE49-F238E27FC236}">
                <a16:creationId xmlns:a16="http://schemas.microsoft.com/office/drawing/2014/main" id="{58AF52DB-0F67-5C4D-4518-7F6C58D336DF}"/>
              </a:ext>
            </a:extLst>
          </p:cNvPr>
          <p:cNvSpPr txBox="1"/>
          <p:nvPr/>
        </p:nvSpPr>
        <p:spPr>
          <a:xfrm>
            <a:off x="503703" y="3579121"/>
            <a:ext cx="11495640" cy="1815882"/>
          </a:xfrm>
          <a:prstGeom prst="rect">
            <a:avLst/>
          </a:prstGeom>
          <a:noFill/>
        </p:spPr>
        <p:txBody>
          <a:bodyPr wrap="square">
            <a:spAutoFit/>
          </a:bodyPr>
          <a:lstStyle/>
          <a:p>
            <a:r>
              <a:rPr lang="en-US" sz="2800" dirty="0">
                <a:solidFill>
                  <a:srgbClr val="0070C0"/>
                </a:solidFill>
                <a:latin typeface="Times New Roman" panose="02020603050405020304" pitchFamily="18" charset="0"/>
                <a:cs typeface="Times New Roman" panose="02020603050405020304" pitchFamily="18" charset="0"/>
              </a:rPr>
              <a:t>P(</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 key)=</a:t>
            </a:r>
            <a:r>
              <a:rPr lang="en-US" sz="2800" dirty="0">
                <a:solidFill>
                  <a:srgbClr val="0070C0"/>
                </a:solidFill>
                <a:latin typeface="Times New Roman" panose="02020603050405020304" pitchFamily="18" charset="0"/>
              </a:rPr>
              <a:t> </a:t>
            </a:r>
            <a:r>
              <a:rPr lang="en-US" sz="2800" dirty="0">
                <a:solidFill>
                  <a:srgbClr val="0070C0"/>
                </a:solidFill>
                <a:latin typeface="Times New Roman" panose="02020603050405020304" pitchFamily="18" charset="0"/>
                <a:cs typeface="Times New Roman" panose="02020603050405020304" pitchFamily="18" charset="0"/>
              </a:rPr>
              <a:t>H(key)+ f(</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a:t>
            </a:r>
            <a:br>
              <a:rPr lang="en-US" sz="2800" dirty="0">
                <a:solidFill>
                  <a:srgbClr val="0070C0"/>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P(0, 3)  we are using the prob generator to try to add 3 to our array. </a:t>
            </a:r>
          </a:p>
          <a:p>
            <a:r>
              <a:rPr lang="en-US" sz="2800" dirty="0">
                <a:latin typeface="Times New Roman" panose="02020603050405020304" pitchFamily="18" charset="0"/>
              </a:rPr>
              <a:t>Let’s say our Hashing Function is %10, so 3%10 = 3</a:t>
            </a:r>
          </a:p>
          <a:p>
            <a:r>
              <a:rPr lang="en-US" sz="2800" dirty="0">
                <a:latin typeface="Times New Roman" panose="02020603050405020304" pitchFamily="18" charset="0"/>
              </a:rPr>
              <a:t>For linear probing f(</a:t>
            </a:r>
            <a:r>
              <a:rPr lang="en-US" sz="2800" dirty="0" err="1">
                <a:latin typeface="Times New Roman" panose="02020603050405020304" pitchFamily="18" charset="0"/>
              </a:rPr>
              <a:t>i</a:t>
            </a:r>
            <a:r>
              <a:rPr lang="en-US" sz="2800" dirty="0">
                <a:latin typeface="Times New Roman" panose="02020603050405020304" pitchFamily="18" charset="0"/>
              </a:rPr>
              <a:t>)=</a:t>
            </a:r>
            <a:r>
              <a:rPr lang="en-US" sz="2800" dirty="0" err="1">
                <a:latin typeface="Times New Roman" panose="02020603050405020304" pitchFamily="18" charset="0"/>
              </a:rPr>
              <a:t>i</a:t>
            </a:r>
            <a:r>
              <a:rPr lang="en-US" sz="2800" dirty="0">
                <a:latin typeface="Times New Roman" panose="02020603050405020304" pitchFamily="18" charset="0"/>
              </a:rPr>
              <a:t>.</a:t>
            </a:r>
          </a:p>
        </p:txBody>
      </p:sp>
      <p:sp>
        <p:nvSpPr>
          <p:cNvPr id="9" name="TextBox 8">
            <a:extLst>
              <a:ext uri="{FF2B5EF4-FFF2-40B4-BE49-F238E27FC236}">
                <a16:creationId xmlns:a16="http://schemas.microsoft.com/office/drawing/2014/main" id="{E2851A34-3B00-0312-D021-978C815A13D5}"/>
              </a:ext>
            </a:extLst>
          </p:cNvPr>
          <p:cNvSpPr txBox="1"/>
          <p:nvPr/>
        </p:nvSpPr>
        <p:spPr>
          <a:xfrm>
            <a:off x="348180" y="5868335"/>
            <a:ext cx="11495640" cy="954107"/>
          </a:xfrm>
          <a:prstGeom prst="rect">
            <a:avLst/>
          </a:prstGeom>
          <a:noFill/>
        </p:spPr>
        <p:txBody>
          <a:bodyPr wrap="square">
            <a:spAutoFit/>
          </a:bodyPr>
          <a:lstStyle/>
          <a:p>
            <a:r>
              <a:rPr lang="en-US" sz="2800" dirty="0">
                <a:latin typeface="Times New Roman" panose="02020603050405020304" pitchFamily="18" charset="0"/>
              </a:rPr>
              <a:t>This is the first time we have tried to put 3 in the array, so </a:t>
            </a:r>
            <a:r>
              <a:rPr lang="en-US" sz="2800" dirty="0" err="1">
                <a:latin typeface="Times New Roman" panose="02020603050405020304" pitchFamily="18" charset="0"/>
              </a:rPr>
              <a:t>i</a:t>
            </a:r>
            <a:r>
              <a:rPr lang="en-US" sz="2800" dirty="0">
                <a:latin typeface="Times New Roman" panose="02020603050405020304" pitchFamily="18" charset="0"/>
              </a:rPr>
              <a:t> = 0 (number of times we have tried to add an item)  </a:t>
            </a:r>
          </a:p>
        </p:txBody>
      </p:sp>
      <p:sp>
        <p:nvSpPr>
          <p:cNvPr id="10" name="TextBox 9">
            <a:extLst>
              <a:ext uri="{FF2B5EF4-FFF2-40B4-BE49-F238E27FC236}">
                <a16:creationId xmlns:a16="http://schemas.microsoft.com/office/drawing/2014/main" id="{31F27A57-9229-F8BA-5137-6CD8C6E93AB4}"/>
              </a:ext>
            </a:extLst>
          </p:cNvPr>
          <p:cNvSpPr txBox="1"/>
          <p:nvPr/>
        </p:nvSpPr>
        <p:spPr>
          <a:xfrm>
            <a:off x="4745421" y="2914343"/>
            <a:ext cx="409903" cy="523220"/>
          </a:xfrm>
          <a:prstGeom prst="rect">
            <a:avLst/>
          </a:prstGeom>
          <a:noFill/>
        </p:spPr>
        <p:txBody>
          <a:bodyPr wrap="square" rtlCol="0">
            <a:spAutoFit/>
          </a:bodyPr>
          <a:lstStyle/>
          <a:p>
            <a:r>
              <a:rPr lang="en-US" sz="2800" dirty="0">
                <a:latin typeface="Times New Roman" panose="02020603050405020304" pitchFamily="18" charset="0"/>
              </a:rPr>
              <a:t>3</a:t>
            </a:r>
          </a:p>
        </p:txBody>
      </p:sp>
      <p:sp>
        <p:nvSpPr>
          <p:cNvPr id="11" name="Rectangle 10">
            <a:extLst>
              <a:ext uri="{FF2B5EF4-FFF2-40B4-BE49-F238E27FC236}">
                <a16:creationId xmlns:a16="http://schemas.microsoft.com/office/drawing/2014/main" id="{EA37B1AD-7D52-D752-AE58-A12D8CEB0314}"/>
              </a:ext>
            </a:extLst>
          </p:cNvPr>
          <p:cNvSpPr/>
          <p:nvPr/>
        </p:nvSpPr>
        <p:spPr>
          <a:xfrm>
            <a:off x="8308428" y="4578185"/>
            <a:ext cx="3535392" cy="8635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Times New Roman" panose="02020603050405020304" pitchFamily="18" charset="0"/>
              </a:rPr>
              <a:t>H(3) + f(0)</a:t>
            </a:r>
            <a:br>
              <a:rPr lang="en-US" dirty="0">
                <a:solidFill>
                  <a:schemeClr val="bg1"/>
                </a:solidFill>
                <a:latin typeface="Times New Roman" panose="02020603050405020304" pitchFamily="18" charset="0"/>
              </a:rPr>
            </a:br>
            <a:r>
              <a:rPr lang="en-US" dirty="0">
                <a:solidFill>
                  <a:schemeClr val="bg1"/>
                </a:solidFill>
                <a:latin typeface="Times New Roman" panose="02020603050405020304" pitchFamily="18" charset="0"/>
              </a:rPr>
              <a:t>3 +  0</a:t>
            </a:r>
            <a:br>
              <a:rPr lang="en-US" dirty="0">
                <a:solidFill>
                  <a:schemeClr val="bg1"/>
                </a:solidFill>
                <a:latin typeface="Times New Roman" panose="02020603050405020304" pitchFamily="18" charset="0"/>
              </a:rPr>
            </a:br>
            <a:r>
              <a:rPr lang="en-US" dirty="0">
                <a:solidFill>
                  <a:schemeClr val="bg1"/>
                </a:solidFill>
                <a:latin typeface="Times New Roman" panose="02020603050405020304" pitchFamily="18" charset="0"/>
              </a:rPr>
              <a:t>try to put number is position 3</a:t>
            </a:r>
          </a:p>
        </p:txBody>
      </p:sp>
    </p:spTree>
    <p:extLst>
      <p:ext uri="{BB962C8B-B14F-4D97-AF65-F5344CB8AC3E}">
        <p14:creationId xmlns:p14="http://schemas.microsoft.com/office/powerpoint/2010/main" val="238893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2E56C0-35C2-4EAB-9EDB-646E8C5E289B}"/>
              </a:ext>
            </a:extLst>
          </p:cNvPr>
          <p:cNvSpPr>
            <a:spLocks noGrp="1"/>
          </p:cNvSpPr>
          <p:nvPr>
            <p:ph idx="1"/>
          </p:nvPr>
        </p:nvSpPr>
        <p:spPr>
          <a:xfrm>
            <a:off x="348180" y="1876804"/>
            <a:ext cx="11262628" cy="5402762"/>
          </a:xfrm>
        </p:spPr>
        <p:txBody>
          <a:bodyPr anchor="t" anchorCtr="0">
            <a:noAutofit/>
          </a:bodyPr>
          <a:lstStyle/>
          <a:p>
            <a:pPr marL="0" indent="0">
              <a:lnSpc>
                <a:spcPct val="90000"/>
              </a:lnSpc>
              <a:buNone/>
            </a:pPr>
            <a:r>
              <a:rPr lang="en-US" sz="2800" dirty="0">
                <a:solidFill>
                  <a:schemeClr val="tx1"/>
                </a:solidFill>
                <a:latin typeface="Times New Roman" panose="02020603050405020304" pitchFamily="18" charset="0"/>
                <a:cs typeface="Times New Roman" panose="02020603050405020304" pitchFamily="18" charset="0"/>
              </a:rPr>
              <a:t>Try to add 13   </a:t>
            </a:r>
          </a:p>
        </p:txBody>
      </p:sp>
      <p:sp>
        <p:nvSpPr>
          <p:cNvPr id="3" name="Title 2">
            <a:extLst>
              <a:ext uri="{FF2B5EF4-FFF2-40B4-BE49-F238E27FC236}">
                <a16:creationId xmlns:a16="http://schemas.microsoft.com/office/drawing/2014/main" id="{DCBD4A68-0624-4080-ACDF-CBF1CC40402E}"/>
              </a:ext>
            </a:extLst>
          </p:cNvPr>
          <p:cNvSpPr>
            <a:spLocks noGrp="1"/>
          </p:cNvSpPr>
          <p:nvPr>
            <p:ph type="title"/>
          </p:nvPr>
        </p:nvSpPr>
        <p:spPr>
          <a:xfrm>
            <a:off x="581192" y="976562"/>
            <a:ext cx="10515600" cy="693113"/>
          </a:xfrm>
        </p:spPr>
        <p:txBody>
          <a:bodyPr/>
          <a:lstStyle/>
          <a:p>
            <a:r>
              <a:rPr lang="en-US" dirty="0"/>
              <a:t>Probing the Hash table to find AN open spot</a:t>
            </a:r>
          </a:p>
        </p:txBody>
      </p:sp>
      <p:graphicFrame>
        <p:nvGraphicFramePr>
          <p:cNvPr id="4" name="Table 3">
            <a:extLst>
              <a:ext uri="{FF2B5EF4-FFF2-40B4-BE49-F238E27FC236}">
                <a16:creationId xmlns:a16="http://schemas.microsoft.com/office/drawing/2014/main" id="{B34B24EC-0A0F-E47D-9E1F-45412C5605D0}"/>
              </a:ext>
            </a:extLst>
          </p:cNvPr>
          <p:cNvGraphicFramePr>
            <a:graphicFrameLocks noGrp="1"/>
          </p:cNvGraphicFramePr>
          <p:nvPr/>
        </p:nvGraphicFramePr>
        <p:xfrm>
          <a:off x="2032000" y="2914342"/>
          <a:ext cx="7943200" cy="514657"/>
        </p:xfrm>
        <a:graphic>
          <a:graphicData uri="http://schemas.openxmlformats.org/drawingml/2006/table">
            <a:tbl>
              <a:tblPr firstRow="1" bandRow="1">
                <a:tableStyleId>{F5AB1C69-6EDB-4FF4-983F-18BD219EF322}</a:tableStyleId>
              </a:tblPr>
              <a:tblGrid>
                <a:gridCol w="794320">
                  <a:extLst>
                    <a:ext uri="{9D8B030D-6E8A-4147-A177-3AD203B41FA5}">
                      <a16:colId xmlns:a16="http://schemas.microsoft.com/office/drawing/2014/main" val="1838891793"/>
                    </a:ext>
                  </a:extLst>
                </a:gridCol>
                <a:gridCol w="794320">
                  <a:extLst>
                    <a:ext uri="{9D8B030D-6E8A-4147-A177-3AD203B41FA5}">
                      <a16:colId xmlns:a16="http://schemas.microsoft.com/office/drawing/2014/main" val="3216229625"/>
                    </a:ext>
                  </a:extLst>
                </a:gridCol>
                <a:gridCol w="794320">
                  <a:extLst>
                    <a:ext uri="{9D8B030D-6E8A-4147-A177-3AD203B41FA5}">
                      <a16:colId xmlns:a16="http://schemas.microsoft.com/office/drawing/2014/main" val="67122098"/>
                    </a:ext>
                  </a:extLst>
                </a:gridCol>
                <a:gridCol w="794320">
                  <a:extLst>
                    <a:ext uri="{9D8B030D-6E8A-4147-A177-3AD203B41FA5}">
                      <a16:colId xmlns:a16="http://schemas.microsoft.com/office/drawing/2014/main" val="1048929879"/>
                    </a:ext>
                  </a:extLst>
                </a:gridCol>
                <a:gridCol w="794320">
                  <a:extLst>
                    <a:ext uri="{9D8B030D-6E8A-4147-A177-3AD203B41FA5}">
                      <a16:colId xmlns:a16="http://schemas.microsoft.com/office/drawing/2014/main" val="1290365078"/>
                    </a:ext>
                  </a:extLst>
                </a:gridCol>
                <a:gridCol w="794320">
                  <a:extLst>
                    <a:ext uri="{9D8B030D-6E8A-4147-A177-3AD203B41FA5}">
                      <a16:colId xmlns:a16="http://schemas.microsoft.com/office/drawing/2014/main" val="1794349000"/>
                    </a:ext>
                  </a:extLst>
                </a:gridCol>
                <a:gridCol w="794320">
                  <a:extLst>
                    <a:ext uri="{9D8B030D-6E8A-4147-A177-3AD203B41FA5}">
                      <a16:colId xmlns:a16="http://schemas.microsoft.com/office/drawing/2014/main" val="247777362"/>
                    </a:ext>
                  </a:extLst>
                </a:gridCol>
                <a:gridCol w="794320">
                  <a:extLst>
                    <a:ext uri="{9D8B030D-6E8A-4147-A177-3AD203B41FA5}">
                      <a16:colId xmlns:a16="http://schemas.microsoft.com/office/drawing/2014/main" val="2704796698"/>
                    </a:ext>
                  </a:extLst>
                </a:gridCol>
                <a:gridCol w="794320">
                  <a:extLst>
                    <a:ext uri="{9D8B030D-6E8A-4147-A177-3AD203B41FA5}">
                      <a16:colId xmlns:a16="http://schemas.microsoft.com/office/drawing/2014/main" val="53088556"/>
                    </a:ext>
                  </a:extLst>
                </a:gridCol>
                <a:gridCol w="794320">
                  <a:extLst>
                    <a:ext uri="{9D8B030D-6E8A-4147-A177-3AD203B41FA5}">
                      <a16:colId xmlns:a16="http://schemas.microsoft.com/office/drawing/2014/main" val="2122746333"/>
                    </a:ext>
                  </a:extLst>
                </a:gridCol>
              </a:tblGrid>
              <a:tr h="514657">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extLst>
                  <a:ext uri="{0D108BD9-81ED-4DB2-BD59-A6C34878D82A}">
                    <a16:rowId xmlns:a16="http://schemas.microsoft.com/office/drawing/2014/main" val="4061759863"/>
                  </a:ext>
                </a:extLst>
              </a:tr>
            </a:tbl>
          </a:graphicData>
        </a:graphic>
      </p:graphicFrame>
      <p:sp>
        <p:nvSpPr>
          <p:cNvPr id="6" name="TextBox 5">
            <a:extLst>
              <a:ext uri="{FF2B5EF4-FFF2-40B4-BE49-F238E27FC236}">
                <a16:creationId xmlns:a16="http://schemas.microsoft.com/office/drawing/2014/main" id="{B8237779-9578-8A8F-85EB-EA6CC8A9312B}"/>
              </a:ext>
            </a:extLst>
          </p:cNvPr>
          <p:cNvSpPr txBox="1"/>
          <p:nvPr/>
        </p:nvSpPr>
        <p:spPr>
          <a:xfrm>
            <a:off x="1968936" y="3370117"/>
            <a:ext cx="7859844" cy="369332"/>
          </a:xfrm>
          <a:prstGeom prst="rect">
            <a:avLst/>
          </a:prstGeom>
          <a:noFill/>
        </p:spPr>
        <p:txBody>
          <a:bodyPr wrap="none" rtlCol="0">
            <a:spAutoFit/>
          </a:bodyPr>
          <a:lstStyle/>
          <a:p>
            <a:r>
              <a:rPr lang="en-US" dirty="0">
                <a:latin typeface="Times New Roman" panose="02020603050405020304" pitchFamily="18" charset="0"/>
              </a:rPr>
              <a:t>0             1             2                3             4           5          6             7           8              9</a:t>
            </a:r>
          </a:p>
        </p:txBody>
      </p:sp>
      <p:sp>
        <p:nvSpPr>
          <p:cNvPr id="8" name="TextBox 7">
            <a:extLst>
              <a:ext uri="{FF2B5EF4-FFF2-40B4-BE49-F238E27FC236}">
                <a16:creationId xmlns:a16="http://schemas.microsoft.com/office/drawing/2014/main" id="{58AF52DB-0F67-5C4D-4518-7F6C58D336DF}"/>
              </a:ext>
            </a:extLst>
          </p:cNvPr>
          <p:cNvSpPr txBox="1"/>
          <p:nvPr/>
        </p:nvSpPr>
        <p:spPr>
          <a:xfrm>
            <a:off x="581192" y="3706054"/>
            <a:ext cx="11495640" cy="954107"/>
          </a:xfrm>
          <a:prstGeom prst="rect">
            <a:avLst/>
          </a:prstGeom>
          <a:noFill/>
        </p:spPr>
        <p:txBody>
          <a:bodyPr wrap="square">
            <a:spAutoFit/>
          </a:bodyPr>
          <a:lstStyle/>
          <a:p>
            <a:r>
              <a:rPr lang="en-US" sz="2800" dirty="0">
                <a:solidFill>
                  <a:srgbClr val="0070C0"/>
                </a:solidFill>
                <a:latin typeface="Times New Roman" panose="02020603050405020304" pitchFamily="18" charset="0"/>
                <a:cs typeface="Times New Roman" panose="02020603050405020304" pitchFamily="18" charset="0"/>
              </a:rPr>
              <a:t>P(</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 key)=</a:t>
            </a:r>
            <a:r>
              <a:rPr lang="en-US" sz="2800" dirty="0">
                <a:solidFill>
                  <a:srgbClr val="0070C0"/>
                </a:solidFill>
                <a:latin typeface="Times New Roman" panose="02020603050405020304" pitchFamily="18" charset="0"/>
              </a:rPr>
              <a:t> </a:t>
            </a:r>
            <a:r>
              <a:rPr lang="en-US" sz="2800" dirty="0">
                <a:solidFill>
                  <a:srgbClr val="0070C0"/>
                </a:solidFill>
                <a:latin typeface="Times New Roman" panose="02020603050405020304" pitchFamily="18" charset="0"/>
                <a:cs typeface="Times New Roman" panose="02020603050405020304" pitchFamily="18" charset="0"/>
              </a:rPr>
              <a:t>H(key)+ f(</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a:t>
            </a:r>
            <a:br>
              <a:rPr lang="en-US" sz="2800" dirty="0">
                <a:solidFill>
                  <a:srgbClr val="0070C0"/>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P(0, 13) = H(13) + f(0)</a:t>
            </a:r>
          </a:p>
        </p:txBody>
      </p:sp>
      <p:sp>
        <p:nvSpPr>
          <p:cNvPr id="9" name="TextBox 8">
            <a:extLst>
              <a:ext uri="{FF2B5EF4-FFF2-40B4-BE49-F238E27FC236}">
                <a16:creationId xmlns:a16="http://schemas.microsoft.com/office/drawing/2014/main" id="{E2851A34-3B00-0312-D021-978C815A13D5}"/>
              </a:ext>
            </a:extLst>
          </p:cNvPr>
          <p:cNvSpPr txBox="1"/>
          <p:nvPr/>
        </p:nvSpPr>
        <p:spPr>
          <a:xfrm>
            <a:off x="255780" y="5009669"/>
            <a:ext cx="11495640" cy="954107"/>
          </a:xfrm>
          <a:prstGeom prst="rect">
            <a:avLst/>
          </a:prstGeom>
          <a:noFill/>
        </p:spPr>
        <p:txBody>
          <a:bodyPr wrap="square">
            <a:spAutoFit/>
          </a:bodyPr>
          <a:lstStyle/>
          <a:p>
            <a:r>
              <a:rPr lang="en-US" sz="2800" dirty="0">
                <a:latin typeface="Times New Roman" panose="02020603050405020304" pitchFamily="18" charset="0"/>
              </a:rPr>
              <a:t>This is the first time we have tried to put 13 in the array, so </a:t>
            </a:r>
            <a:r>
              <a:rPr lang="en-US" sz="2800" dirty="0" err="1">
                <a:latin typeface="Times New Roman" panose="02020603050405020304" pitchFamily="18" charset="0"/>
              </a:rPr>
              <a:t>i</a:t>
            </a:r>
            <a:r>
              <a:rPr lang="en-US" sz="2800" dirty="0">
                <a:latin typeface="Times New Roman" panose="02020603050405020304" pitchFamily="18" charset="0"/>
              </a:rPr>
              <a:t> = 0.  P(0,13) = 3 But there is already something there so try again</a:t>
            </a:r>
          </a:p>
        </p:txBody>
      </p:sp>
      <p:sp>
        <p:nvSpPr>
          <p:cNvPr id="10" name="TextBox 9">
            <a:extLst>
              <a:ext uri="{FF2B5EF4-FFF2-40B4-BE49-F238E27FC236}">
                <a16:creationId xmlns:a16="http://schemas.microsoft.com/office/drawing/2014/main" id="{31F27A57-9229-F8BA-5137-6CD8C6E93AB4}"/>
              </a:ext>
            </a:extLst>
          </p:cNvPr>
          <p:cNvSpPr txBox="1"/>
          <p:nvPr/>
        </p:nvSpPr>
        <p:spPr>
          <a:xfrm>
            <a:off x="4745421" y="2914343"/>
            <a:ext cx="409903" cy="523220"/>
          </a:xfrm>
          <a:prstGeom prst="rect">
            <a:avLst/>
          </a:prstGeom>
          <a:noFill/>
        </p:spPr>
        <p:txBody>
          <a:bodyPr wrap="square" rtlCol="0">
            <a:spAutoFit/>
          </a:bodyPr>
          <a:lstStyle/>
          <a:p>
            <a:r>
              <a:rPr lang="en-US" sz="2800" dirty="0">
                <a:latin typeface="Times New Roman" panose="02020603050405020304" pitchFamily="18" charset="0"/>
              </a:rPr>
              <a:t>3</a:t>
            </a:r>
          </a:p>
        </p:txBody>
      </p:sp>
      <p:sp>
        <p:nvSpPr>
          <p:cNvPr id="11" name="Rectangle 10">
            <a:extLst>
              <a:ext uri="{FF2B5EF4-FFF2-40B4-BE49-F238E27FC236}">
                <a16:creationId xmlns:a16="http://schemas.microsoft.com/office/drawing/2014/main" id="{EA37B1AD-7D52-D752-AE58-A12D8CEB0314}"/>
              </a:ext>
            </a:extLst>
          </p:cNvPr>
          <p:cNvSpPr/>
          <p:nvPr/>
        </p:nvSpPr>
        <p:spPr>
          <a:xfrm>
            <a:off x="348180" y="5881493"/>
            <a:ext cx="9081570" cy="8635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Times New Roman" panose="02020603050405020304" pitchFamily="18" charset="0"/>
              </a:rPr>
              <a:t>H(13) + f(1)</a:t>
            </a:r>
            <a:br>
              <a:rPr lang="en-US" sz="2000" dirty="0">
                <a:solidFill>
                  <a:schemeClr val="bg1"/>
                </a:solidFill>
                <a:latin typeface="Times New Roman" panose="02020603050405020304" pitchFamily="18" charset="0"/>
              </a:rPr>
            </a:br>
            <a:r>
              <a:rPr lang="en-US" sz="2000" dirty="0">
                <a:solidFill>
                  <a:schemeClr val="bg1"/>
                </a:solidFill>
                <a:latin typeface="Times New Roman" panose="02020603050405020304" pitchFamily="18" charset="0"/>
              </a:rPr>
              <a:t>3 +  1</a:t>
            </a:r>
            <a:br>
              <a:rPr lang="en-US" sz="2000" dirty="0">
                <a:solidFill>
                  <a:schemeClr val="bg1"/>
                </a:solidFill>
                <a:latin typeface="Times New Roman" panose="02020603050405020304" pitchFamily="18" charset="0"/>
              </a:rPr>
            </a:br>
            <a:r>
              <a:rPr lang="en-US" sz="2000" dirty="0">
                <a:solidFill>
                  <a:schemeClr val="bg1"/>
                </a:solidFill>
                <a:latin typeface="Times New Roman" panose="02020603050405020304" pitchFamily="18" charset="0"/>
              </a:rPr>
              <a:t>try to put number is position 4</a:t>
            </a:r>
          </a:p>
        </p:txBody>
      </p:sp>
      <p:sp>
        <p:nvSpPr>
          <p:cNvPr id="5" name="TextBox 4">
            <a:extLst>
              <a:ext uri="{FF2B5EF4-FFF2-40B4-BE49-F238E27FC236}">
                <a16:creationId xmlns:a16="http://schemas.microsoft.com/office/drawing/2014/main" id="{377CE0BD-DB58-97D1-9CB9-7B2039302906}"/>
              </a:ext>
            </a:extLst>
          </p:cNvPr>
          <p:cNvSpPr txBox="1"/>
          <p:nvPr/>
        </p:nvSpPr>
        <p:spPr>
          <a:xfrm>
            <a:off x="5417646" y="2924756"/>
            <a:ext cx="868853" cy="523220"/>
          </a:xfrm>
          <a:prstGeom prst="rect">
            <a:avLst/>
          </a:prstGeom>
          <a:noFill/>
        </p:spPr>
        <p:txBody>
          <a:bodyPr wrap="square" rtlCol="0">
            <a:spAutoFit/>
          </a:bodyPr>
          <a:lstStyle/>
          <a:p>
            <a:r>
              <a:rPr lang="en-US" sz="2800" dirty="0">
                <a:latin typeface="Times New Roman" panose="02020603050405020304" pitchFamily="18" charset="0"/>
              </a:rPr>
              <a:t>13</a:t>
            </a:r>
          </a:p>
        </p:txBody>
      </p:sp>
    </p:spTree>
    <p:extLst>
      <p:ext uri="{BB962C8B-B14F-4D97-AF65-F5344CB8AC3E}">
        <p14:creationId xmlns:p14="http://schemas.microsoft.com/office/powerpoint/2010/main" val="4190348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animBg="1"/>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2E56C0-35C2-4EAB-9EDB-646E8C5E289B}"/>
              </a:ext>
            </a:extLst>
          </p:cNvPr>
          <p:cNvSpPr>
            <a:spLocks noGrp="1"/>
          </p:cNvSpPr>
          <p:nvPr>
            <p:ph idx="1"/>
          </p:nvPr>
        </p:nvSpPr>
        <p:spPr>
          <a:xfrm>
            <a:off x="348180" y="1876804"/>
            <a:ext cx="11262628" cy="5402762"/>
          </a:xfrm>
        </p:spPr>
        <p:txBody>
          <a:bodyPr anchor="t" anchorCtr="0">
            <a:noAutofit/>
          </a:bodyPr>
          <a:lstStyle/>
          <a:p>
            <a:pPr marL="0" indent="0">
              <a:lnSpc>
                <a:spcPct val="90000"/>
              </a:lnSpc>
              <a:buNone/>
            </a:pPr>
            <a:r>
              <a:rPr lang="en-US" sz="2800" dirty="0">
                <a:solidFill>
                  <a:schemeClr val="tx1"/>
                </a:solidFill>
                <a:latin typeface="Times New Roman" panose="02020603050405020304" pitchFamily="18" charset="0"/>
                <a:cs typeface="Times New Roman" panose="02020603050405020304" pitchFamily="18" charset="0"/>
              </a:rPr>
              <a:t>Try to add 43   </a:t>
            </a:r>
          </a:p>
        </p:txBody>
      </p:sp>
      <p:sp>
        <p:nvSpPr>
          <p:cNvPr id="3" name="Title 2">
            <a:extLst>
              <a:ext uri="{FF2B5EF4-FFF2-40B4-BE49-F238E27FC236}">
                <a16:creationId xmlns:a16="http://schemas.microsoft.com/office/drawing/2014/main" id="{DCBD4A68-0624-4080-ACDF-CBF1CC40402E}"/>
              </a:ext>
            </a:extLst>
          </p:cNvPr>
          <p:cNvSpPr>
            <a:spLocks noGrp="1"/>
          </p:cNvSpPr>
          <p:nvPr>
            <p:ph type="title"/>
          </p:nvPr>
        </p:nvSpPr>
        <p:spPr>
          <a:xfrm>
            <a:off x="581192" y="976562"/>
            <a:ext cx="10515600" cy="693113"/>
          </a:xfrm>
        </p:spPr>
        <p:txBody>
          <a:bodyPr/>
          <a:lstStyle/>
          <a:p>
            <a:r>
              <a:rPr lang="en-US" dirty="0"/>
              <a:t>Probing the Hash table to find AN open spot</a:t>
            </a:r>
          </a:p>
        </p:txBody>
      </p:sp>
      <p:graphicFrame>
        <p:nvGraphicFramePr>
          <p:cNvPr id="4" name="Table 3">
            <a:extLst>
              <a:ext uri="{FF2B5EF4-FFF2-40B4-BE49-F238E27FC236}">
                <a16:creationId xmlns:a16="http://schemas.microsoft.com/office/drawing/2014/main" id="{B34B24EC-0A0F-E47D-9E1F-45412C5605D0}"/>
              </a:ext>
            </a:extLst>
          </p:cNvPr>
          <p:cNvGraphicFramePr>
            <a:graphicFrameLocks noGrp="1"/>
          </p:cNvGraphicFramePr>
          <p:nvPr/>
        </p:nvGraphicFramePr>
        <p:xfrm>
          <a:off x="2032000" y="2914342"/>
          <a:ext cx="7943200" cy="514657"/>
        </p:xfrm>
        <a:graphic>
          <a:graphicData uri="http://schemas.openxmlformats.org/drawingml/2006/table">
            <a:tbl>
              <a:tblPr firstRow="1" bandRow="1">
                <a:tableStyleId>{F5AB1C69-6EDB-4FF4-983F-18BD219EF322}</a:tableStyleId>
              </a:tblPr>
              <a:tblGrid>
                <a:gridCol w="794320">
                  <a:extLst>
                    <a:ext uri="{9D8B030D-6E8A-4147-A177-3AD203B41FA5}">
                      <a16:colId xmlns:a16="http://schemas.microsoft.com/office/drawing/2014/main" val="1838891793"/>
                    </a:ext>
                  </a:extLst>
                </a:gridCol>
                <a:gridCol w="794320">
                  <a:extLst>
                    <a:ext uri="{9D8B030D-6E8A-4147-A177-3AD203B41FA5}">
                      <a16:colId xmlns:a16="http://schemas.microsoft.com/office/drawing/2014/main" val="3216229625"/>
                    </a:ext>
                  </a:extLst>
                </a:gridCol>
                <a:gridCol w="794320">
                  <a:extLst>
                    <a:ext uri="{9D8B030D-6E8A-4147-A177-3AD203B41FA5}">
                      <a16:colId xmlns:a16="http://schemas.microsoft.com/office/drawing/2014/main" val="67122098"/>
                    </a:ext>
                  </a:extLst>
                </a:gridCol>
                <a:gridCol w="794320">
                  <a:extLst>
                    <a:ext uri="{9D8B030D-6E8A-4147-A177-3AD203B41FA5}">
                      <a16:colId xmlns:a16="http://schemas.microsoft.com/office/drawing/2014/main" val="1048929879"/>
                    </a:ext>
                  </a:extLst>
                </a:gridCol>
                <a:gridCol w="794320">
                  <a:extLst>
                    <a:ext uri="{9D8B030D-6E8A-4147-A177-3AD203B41FA5}">
                      <a16:colId xmlns:a16="http://schemas.microsoft.com/office/drawing/2014/main" val="1290365078"/>
                    </a:ext>
                  </a:extLst>
                </a:gridCol>
                <a:gridCol w="794320">
                  <a:extLst>
                    <a:ext uri="{9D8B030D-6E8A-4147-A177-3AD203B41FA5}">
                      <a16:colId xmlns:a16="http://schemas.microsoft.com/office/drawing/2014/main" val="1794349000"/>
                    </a:ext>
                  </a:extLst>
                </a:gridCol>
                <a:gridCol w="794320">
                  <a:extLst>
                    <a:ext uri="{9D8B030D-6E8A-4147-A177-3AD203B41FA5}">
                      <a16:colId xmlns:a16="http://schemas.microsoft.com/office/drawing/2014/main" val="247777362"/>
                    </a:ext>
                  </a:extLst>
                </a:gridCol>
                <a:gridCol w="794320">
                  <a:extLst>
                    <a:ext uri="{9D8B030D-6E8A-4147-A177-3AD203B41FA5}">
                      <a16:colId xmlns:a16="http://schemas.microsoft.com/office/drawing/2014/main" val="2704796698"/>
                    </a:ext>
                  </a:extLst>
                </a:gridCol>
                <a:gridCol w="794320">
                  <a:extLst>
                    <a:ext uri="{9D8B030D-6E8A-4147-A177-3AD203B41FA5}">
                      <a16:colId xmlns:a16="http://schemas.microsoft.com/office/drawing/2014/main" val="53088556"/>
                    </a:ext>
                  </a:extLst>
                </a:gridCol>
                <a:gridCol w="794320">
                  <a:extLst>
                    <a:ext uri="{9D8B030D-6E8A-4147-A177-3AD203B41FA5}">
                      <a16:colId xmlns:a16="http://schemas.microsoft.com/office/drawing/2014/main" val="2122746333"/>
                    </a:ext>
                  </a:extLst>
                </a:gridCol>
              </a:tblGrid>
              <a:tr h="514657">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extLst>
                  <a:ext uri="{0D108BD9-81ED-4DB2-BD59-A6C34878D82A}">
                    <a16:rowId xmlns:a16="http://schemas.microsoft.com/office/drawing/2014/main" val="4061759863"/>
                  </a:ext>
                </a:extLst>
              </a:tr>
            </a:tbl>
          </a:graphicData>
        </a:graphic>
      </p:graphicFrame>
      <p:sp>
        <p:nvSpPr>
          <p:cNvPr id="6" name="TextBox 5">
            <a:extLst>
              <a:ext uri="{FF2B5EF4-FFF2-40B4-BE49-F238E27FC236}">
                <a16:creationId xmlns:a16="http://schemas.microsoft.com/office/drawing/2014/main" id="{B8237779-9578-8A8F-85EB-EA6CC8A9312B}"/>
              </a:ext>
            </a:extLst>
          </p:cNvPr>
          <p:cNvSpPr txBox="1"/>
          <p:nvPr/>
        </p:nvSpPr>
        <p:spPr>
          <a:xfrm>
            <a:off x="1968936" y="3370117"/>
            <a:ext cx="8090676" cy="369332"/>
          </a:xfrm>
          <a:prstGeom prst="rect">
            <a:avLst/>
          </a:prstGeom>
          <a:noFill/>
        </p:spPr>
        <p:txBody>
          <a:bodyPr wrap="none" rtlCol="0">
            <a:spAutoFit/>
          </a:bodyPr>
          <a:lstStyle/>
          <a:p>
            <a:r>
              <a:rPr lang="en-US" dirty="0">
                <a:latin typeface="Times New Roman" panose="02020603050405020304" pitchFamily="18" charset="0"/>
              </a:rPr>
              <a:t>      0             1             2            3           4           5          6           7           8               9</a:t>
            </a:r>
          </a:p>
        </p:txBody>
      </p:sp>
      <p:sp>
        <p:nvSpPr>
          <p:cNvPr id="8" name="TextBox 7">
            <a:extLst>
              <a:ext uri="{FF2B5EF4-FFF2-40B4-BE49-F238E27FC236}">
                <a16:creationId xmlns:a16="http://schemas.microsoft.com/office/drawing/2014/main" id="{58AF52DB-0F67-5C4D-4518-7F6C58D336DF}"/>
              </a:ext>
            </a:extLst>
          </p:cNvPr>
          <p:cNvSpPr txBox="1"/>
          <p:nvPr/>
        </p:nvSpPr>
        <p:spPr>
          <a:xfrm>
            <a:off x="581192" y="3706054"/>
            <a:ext cx="11495640" cy="954107"/>
          </a:xfrm>
          <a:prstGeom prst="rect">
            <a:avLst/>
          </a:prstGeom>
          <a:noFill/>
        </p:spPr>
        <p:txBody>
          <a:bodyPr wrap="square">
            <a:spAutoFit/>
          </a:bodyPr>
          <a:lstStyle/>
          <a:p>
            <a:r>
              <a:rPr lang="en-US" sz="2800" dirty="0">
                <a:solidFill>
                  <a:srgbClr val="0070C0"/>
                </a:solidFill>
                <a:latin typeface="Times New Roman" panose="02020603050405020304" pitchFamily="18" charset="0"/>
                <a:cs typeface="Times New Roman" panose="02020603050405020304" pitchFamily="18" charset="0"/>
              </a:rPr>
              <a:t>P(</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 key)=</a:t>
            </a:r>
            <a:r>
              <a:rPr lang="en-US" sz="2800" dirty="0">
                <a:solidFill>
                  <a:srgbClr val="0070C0"/>
                </a:solidFill>
                <a:latin typeface="Times New Roman" panose="02020603050405020304" pitchFamily="18" charset="0"/>
              </a:rPr>
              <a:t> </a:t>
            </a:r>
            <a:r>
              <a:rPr lang="en-US" sz="2800" dirty="0">
                <a:solidFill>
                  <a:srgbClr val="0070C0"/>
                </a:solidFill>
                <a:latin typeface="Times New Roman" panose="02020603050405020304" pitchFamily="18" charset="0"/>
                <a:cs typeface="Times New Roman" panose="02020603050405020304" pitchFamily="18" charset="0"/>
              </a:rPr>
              <a:t>H(key)+ f(</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a:t>
            </a:r>
            <a:br>
              <a:rPr lang="en-US" sz="2800" dirty="0">
                <a:solidFill>
                  <a:srgbClr val="0070C0"/>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P(0, 43) = H(43) + f(0)</a:t>
            </a:r>
          </a:p>
        </p:txBody>
      </p:sp>
      <p:sp>
        <p:nvSpPr>
          <p:cNvPr id="9" name="TextBox 8">
            <a:extLst>
              <a:ext uri="{FF2B5EF4-FFF2-40B4-BE49-F238E27FC236}">
                <a16:creationId xmlns:a16="http://schemas.microsoft.com/office/drawing/2014/main" id="{E2851A34-3B00-0312-D021-978C815A13D5}"/>
              </a:ext>
            </a:extLst>
          </p:cNvPr>
          <p:cNvSpPr txBox="1"/>
          <p:nvPr/>
        </p:nvSpPr>
        <p:spPr>
          <a:xfrm>
            <a:off x="255780" y="4755708"/>
            <a:ext cx="11495640" cy="1815882"/>
          </a:xfrm>
          <a:prstGeom prst="rect">
            <a:avLst/>
          </a:prstGeom>
          <a:noFill/>
        </p:spPr>
        <p:txBody>
          <a:bodyPr wrap="square">
            <a:spAutoFit/>
          </a:bodyPr>
          <a:lstStyle/>
          <a:p>
            <a:r>
              <a:rPr lang="en-US" sz="2800" dirty="0">
                <a:latin typeface="Times New Roman" panose="02020603050405020304" pitchFamily="18" charset="0"/>
              </a:rPr>
              <a:t>This is the first time we have tried to put 43 in the array, so </a:t>
            </a:r>
            <a:r>
              <a:rPr lang="en-US" sz="2800" dirty="0" err="1">
                <a:latin typeface="Times New Roman" panose="02020603050405020304" pitchFamily="18" charset="0"/>
              </a:rPr>
              <a:t>i</a:t>
            </a:r>
            <a:r>
              <a:rPr lang="en-US" sz="2800" dirty="0">
                <a:latin typeface="Times New Roman" panose="02020603050405020304" pitchFamily="18" charset="0"/>
              </a:rPr>
              <a:t> = 0.  P(0,43) = 3 But there is already something there so try again.</a:t>
            </a:r>
          </a:p>
          <a:p>
            <a:r>
              <a:rPr lang="en-US" sz="2800" dirty="0">
                <a:latin typeface="Times New Roman" panose="02020603050405020304" pitchFamily="18" charset="0"/>
              </a:rPr>
              <a:t>P(1, 43) but there is something in 4 already.</a:t>
            </a:r>
            <a:br>
              <a:rPr lang="en-US" sz="2800" dirty="0">
                <a:latin typeface="Times New Roman" panose="02020603050405020304" pitchFamily="18" charset="0"/>
              </a:rPr>
            </a:br>
            <a:r>
              <a:rPr lang="en-US" sz="2800" dirty="0">
                <a:latin typeface="Times New Roman" panose="02020603050405020304" pitchFamily="18" charset="0"/>
              </a:rPr>
              <a:t>P(2, 43) will give you H(43) + f(2) = 3+2 = 5</a:t>
            </a:r>
          </a:p>
        </p:txBody>
      </p:sp>
      <p:sp>
        <p:nvSpPr>
          <p:cNvPr id="10" name="TextBox 9">
            <a:extLst>
              <a:ext uri="{FF2B5EF4-FFF2-40B4-BE49-F238E27FC236}">
                <a16:creationId xmlns:a16="http://schemas.microsoft.com/office/drawing/2014/main" id="{31F27A57-9229-F8BA-5137-6CD8C6E93AB4}"/>
              </a:ext>
            </a:extLst>
          </p:cNvPr>
          <p:cNvSpPr txBox="1"/>
          <p:nvPr/>
        </p:nvSpPr>
        <p:spPr>
          <a:xfrm>
            <a:off x="4745421" y="2914343"/>
            <a:ext cx="409903" cy="523220"/>
          </a:xfrm>
          <a:prstGeom prst="rect">
            <a:avLst/>
          </a:prstGeom>
          <a:noFill/>
        </p:spPr>
        <p:txBody>
          <a:bodyPr wrap="square" rtlCol="0">
            <a:spAutoFit/>
          </a:bodyPr>
          <a:lstStyle/>
          <a:p>
            <a:r>
              <a:rPr lang="en-US" sz="2800" dirty="0">
                <a:latin typeface="Times New Roman" panose="02020603050405020304" pitchFamily="18" charset="0"/>
              </a:rPr>
              <a:t>3</a:t>
            </a:r>
          </a:p>
        </p:txBody>
      </p:sp>
      <p:sp>
        <p:nvSpPr>
          <p:cNvPr id="5" name="TextBox 4">
            <a:extLst>
              <a:ext uri="{FF2B5EF4-FFF2-40B4-BE49-F238E27FC236}">
                <a16:creationId xmlns:a16="http://schemas.microsoft.com/office/drawing/2014/main" id="{377CE0BD-DB58-97D1-9CB9-7B2039302906}"/>
              </a:ext>
            </a:extLst>
          </p:cNvPr>
          <p:cNvSpPr txBox="1"/>
          <p:nvPr/>
        </p:nvSpPr>
        <p:spPr>
          <a:xfrm>
            <a:off x="5417646" y="2924756"/>
            <a:ext cx="868853" cy="523220"/>
          </a:xfrm>
          <a:prstGeom prst="rect">
            <a:avLst/>
          </a:prstGeom>
          <a:noFill/>
        </p:spPr>
        <p:txBody>
          <a:bodyPr wrap="square" rtlCol="0">
            <a:spAutoFit/>
          </a:bodyPr>
          <a:lstStyle/>
          <a:p>
            <a:r>
              <a:rPr lang="en-US" sz="2800" dirty="0">
                <a:latin typeface="Times New Roman" panose="02020603050405020304" pitchFamily="18" charset="0"/>
              </a:rPr>
              <a:t>13</a:t>
            </a:r>
          </a:p>
        </p:txBody>
      </p:sp>
    </p:spTree>
    <p:extLst>
      <p:ext uri="{BB962C8B-B14F-4D97-AF65-F5344CB8AC3E}">
        <p14:creationId xmlns:p14="http://schemas.microsoft.com/office/powerpoint/2010/main" val="412903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C3C15-E1A2-A7BC-A1CF-A98AFDBF6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4EB0E-623F-B8EF-38DE-512EF9C29162}"/>
              </a:ext>
            </a:extLst>
          </p:cNvPr>
          <p:cNvSpPr>
            <a:spLocks noGrp="1"/>
          </p:cNvSpPr>
          <p:nvPr>
            <p:ph type="title"/>
          </p:nvPr>
        </p:nvSpPr>
        <p:spPr/>
        <p:txBody>
          <a:bodyPr/>
          <a:lstStyle/>
          <a:p>
            <a:r>
              <a:rPr lang="en-US" dirty="0"/>
              <a:t>Linear probing for collisions - SOLUTION</a:t>
            </a:r>
          </a:p>
        </p:txBody>
      </p:sp>
      <p:sp>
        <p:nvSpPr>
          <p:cNvPr id="3" name="Content Placeholder 2">
            <a:extLst>
              <a:ext uri="{FF2B5EF4-FFF2-40B4-BE49-F238E27FC236}">
                <a16:creationId xmlns:a16="http://schemas.microsoft.com/office/drawing/2014/main" id="{A051C002-DF74-D8E8-AF12-40266D80C280}"/>
              </a:ext>
            </a:extLst>
          </p:cNvPr>
          <p:cNvSpPr>
            <a:spLocks noGrp="1"/>
          </p:cNvSpPr>
          <p:nvPr>
            <p:ph idx="1"/>
          </p:nvPr>
        </p:nvSpPr>
        <p:spPr>
          <a:xfrm>
            <a:off x="305421" y="1919239"/>
            <a:ext cx="11029615" cy="3678303"/>
          </a:xfrm>
        </p:spPr>
        <p:txBody>
          <a:bodyPr/>
          <a:lstStyle/>
          <a:p>
            <a:pPr algn="l"/>
            <a:r>
              <a:rPr lang="en-US" b="0" i="0" dirty="0">
                <a:solidFill>
                  <a:srgbClr val="000000"/>
                </a:solidFill>
                <a:effectLst/>
              </a:rPr>
              <a:t>Table size 10</a:t>
            </a:r>
          </a:p>
          <a:p>
            <a:pPr algn="l"/>
            <a:r>
              <a:rPr lang="en-US" b="0" i="0" dirty="0">
                <a:solidFill>
                  <a:srgbClr val="000000"/>
                </a:solidFill>
                <a:effectLst/>
              </a:rPr>
              <a:t>The hashing algorithm is  h(key) = key%10</a:t>
            </a:r>
          </a:p>
          <a:p>
            <a:pPr algn="l"/>
            <a:r>
              <a:rPr lang="en-US" b="0" i="0" dirty="0">
                <a:solidFill>
                  <a:srgbClr val="000000"/>
                </a:solidFill>
                <a:effectLst/>
              </a:rPr>
              <a:t>Using linear probing for hash collisions, place the following numbers: 7, 12, 102, 3, 44, 77, 92</a:t>
            </a:r>
          </a:p>
          <a:p>
            <a:pPr algn="l"/>
            <a:endParaRPr lang="en-US" dirty="0">
              <a:solidFill>
                <a:srgbClr val="000000"/>
              </a:solidFill>
            </a:endParaRPr>
          </a:p>
          <a:p>
            <a:pPr algn="l"/>
            <a:endParaRPr lang="en-US" b="0" i="0" dirty="0">
              <a:solidFill>
                <a:srgbClr val="000000"/>
              </a:solidFill>
              <a:effectLst/>
            </a:endParaRPr>
          </a:p>
          <a:p>
            <a:pPr algn="l"/>
            <a:endParaRPr lang="en-US" dirty="0">
              <a:solidFill>
                <a:srgbClr val="000000"/>
              </a:solidFill>
            </a:endParaRPr>
          </a:p>
          <a:p>
            <a:pPr marL="0" indent="0" algn="l">
              <a:buNone/>
            </a:pPr>
            <a:r>
              <a:rPr lang="en-US" b="0" i="0" dirty="0">
                <a:solidFill>
                  <a:srgbClr val="000000"/>
                </a:solidFill>
                <a:effectLst/>
              </a:rPr>
              <a:t> </a:t>
            </a:r>
          </a:p>
          <a:p>
            <a:endParaRPr lang="en-US" dirty="0"/>
          </a:p>
        </p:txBody>
      </p:sp>
      <p:pic>
        <p:nvPicPr>
          <p:cNvPr id="5" name="Picture 4" descr="A blue rectangular object with black text&#10;&#10;AI-generated content may be incorrect.">
            <a:extLst>
              <a:ext uri="{FF2B5EF4-FFF2-40B4-BE49-F238E27FC236}">
                <a16:creationId xmlns:a16="http://schemas.microsoft.com/office/drawing/2014/main" id="{71B0D0EC-5B59-1B5A-01E9-4A8691C19919}"/>
              </a:ext>
            </a:extLst>
          </p:cNvPr>
          <p:cNvPicPr>
            <a:picLocks noChangeAspect="1"/>
          </p:cNvPicPr>
          <p:nvPr/>
        </p:nvPicPr>
        <p:blipFill>
          <a:blip r:embed="rId2"/>
          <a:stretch>
            <a:fillRect/>
          </a:stretch>
        </p:blipFill>
        <p:spPr>
          <a:xfrm>
            <a:off x="1934027" y="3429000"/>
            <a:ext cx="9591451" cy="2971800"/>
          </a:xfrm>
          <a:prstGeom prst="rect">
            <a:avLst/>
          </a:prstGeom>
        </p:spPr>
      </p:pic>
    </p:spTree>
    <p:extLst>
      <p:ext uri="{BB962C8B-B14F-4D97-AF65-F5344CB8AC3E}">
        <p14:creationId xmlns:p14="http://schemas.microsoft.com/office/powerpoint/2010/main" val="3681812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math test&#10;&#10;AI-generated content may be incorrect.">
            <a:extLst>
              <a:ext uri="{FF2B5EF4-FFF2-40B4-BE49-F238E27FC236}">
                <a16:creationId xmlns:a16="http://schemas.microsoft.com/office/drawing/2014/main" id="{427BD203-8B29-1FD8-4DF2-EE25FC1985FD}"/>
              </a:ext>
            </a:extLst>
          </p:cNvPr>
          <p:cNvPicPr>
            <a:picLocks noChangeAspect="1"/>
          </p:cNvPicPr>
          <p:nvPr/>
        </p:nvPicPr>
        <p:blipFill>
          <a:blip r:embed="rId2"/>
          <a:stretch>
            <a:fillRect/>
          </a:stretch>
        </p:blipFill>
        <p:spPr>
          <a:xfrm>
            <a:off x="1790377" y="559693"/>
            <a:ext cx="8611245" cy="6298307"/>
          </a:xfrm>
          <a:prstGeom prst="rect">
            <a:avLst/>
          </a:prstGeom>
        </p:spPr>
      </p:pic>
    </p:spTree>
    <p:extLst>
      <p:ext uri="{BB962C8B-B14F-4D97-AF65-F5344CB8AC3E}">
        <p14:creationId xmlns:p14="http://schemas.microsoft.com/office/powerpoint/2010/main" val="747156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BD9D9-83CD-4234-AD50-27B24199753D}"/>
              </a:ext>
            </a:extLst>
          </p:cNvPr>
          <p:cNvSpPr>
            <a:spLocks noGrp="1"/>
          </p:cNvSpPr>
          <p:nvPr>
            <p:ph idx="1"/>
          </p:nvPr>
        </p:nvSpPr>
        <p:spPr>
          <a:xfrm>
            <a:off x="557706" y="2129649"/>
            <a:ext cx="8823800" cy="3166260"/>
          </a:xfrm>
        </p:spPr>
        <p:txBody>
          <a:bodyPr anchor="t" anchorCtr="0">
            <a:noAutofit/>
          </a:bodyPr>
          <a:lstStyle/>
          <a:p>
            <a:pPr>
              <a:lnSpc>
                <a:spcPct val="100000"/>
              </a:lnSpc>
              <a:spcAft>
                <a:spcPts val="400"/>
              </a:spcAft>
            </a:pPr>
            <a:r>
              <a:rPr lang="en-US" sz="3200" dirty="0">
                <a:solidFill>
                  <a:srgbClr val="70AD47">
                    <a:lumMod val="50000"/>
                  </a:srgbClr>
                </a:solidFill>
                <a:cs typeface="Times New Roman" panose="02020603050405020304" pitchFamily="18" charset="0"/>
                <a:sym typeface="Symbol" panose="05050102010706020507" pitchFamily="18" charset="2"/>
              </a:rPr>
              <a:t>The disadvantage to using linear open addressing is primary clustering </a:t>
            </a:r>
          </a:p>
          <a:p>
            <a:pPr>
              <a:lnSpc>
                <a:spcPct val="100000"/>
              </a:lnSpc>
              <a:spcAft>
                <a:spcPts val="400"/>
              </a:spcAft>
            </a:pPr>
            <a:r>
              <a:rPr lang="en-US" sz="3200" dirty="0">
                <a:solidFill>
                  <a:srgbClr val="70AD47">
                    <a:lumMod val="50000"/>
                  </a:srgbClr>
                </a:solidFill>
                <a:cs typeface="Times New Roman" panose="02020603050405020304" pitchFamily="18" charset="0"/>
                <a:sym typeface="Symbol" panose="05050102010706020507" pitchFamily="18" charset="2"/>
              </a:rPr>
              <a:t>Primary clusters tend to expand.  </a:t>
            </a:r>
            <a:r>
              <a:rPr lang="en-US" sz="3200" dirty="0">
                <a:solidFill>
                  <a:srgbClr val="70AD47">
                    <a:lumMod val="50000"/>
                  </a:srgbClr>
                </a:solidFill>
                <a:cs typeface="Times New Roman" panose="02020603050405020304" pitchFamily="18" charset="0"/>
              </a:rPr>
              <a:t>The larger they are, the more likely they are to get even larger, since an attempt to insert a new entry anywhere in the cluster will wind up using the open slot at its end, thus making the cluster even larger</a:t>
            </a:r>
            <a:endParaRPr lang="en-US" sz="3200" dirty="0">
              <a:solidFill>
                <a:srgbClr val="70AD47">
                  <a:lumMod val="50000"/>
                </a:srgbClr>
              </a:solidFill>
              <a:cs typeface="Times New Roman" panose="02020603050405020304" pitchFamily="18" charset="0"/>
              <a:sym typeface="Symbol" panose="05050102010706020507" pitchFamily="18" charset="2"/>
            </a:endParaRPr>
          </a:p>
        </p:txBody>
      </p:sp>
      <p:sp>
        <p:nvSpPr>
          <p:cNvPr id="3" name="Title 2">
            <a:extLst>
              <a:ext uri="{FF2B5EF4-FFF2-40B4-BE49-F238E27FC236}">
                <a16:creationId xmlns:a16="http://schemas.microsoft.com/office/drawing/2014/main" id="{B59EA9AB-B2A1-431F-9113-07C451B032C3}"/>
              </a:ext>
            </a:extLst>
          </p:cNvPr>
          <p:cNvSpPr>
            <a:spLocks noGrp="1"/>
          </p:cNvSpPr>
          <p:nvPr>
            <p:ph type="title"/>
          </p:nvPr>
        </p:nvSpPr>
        <p:spPr>
          <a:xfrm>
            <a:off x="557706" y="1101144"/>
            <a:ext cx="7214694" cy="517933"/>
          </a:xfrm>
        </p:spPr>
        <p:txBody>
          <a:bodyPr>
            <a:noAutofit/>
          </a:bodyPr>
          <a:lstStyle/>
          <a:p>
            <a:r>
              <a:rPr lang="en-US" sz="4400" dirty="0"/>
              <a:t>Clustering</a:t>
            </a:r>
          </a:p>
        </p:txBody>
      </p:sp>
      <p:grpSp>
        <p:nvGrpSpPr>
          <p:cNvPr id="4" name="the hash table">
            <a:extLst>
              <a:ext uri="{FF2B5EF4-FFF2-40B4-BE49-F238E27FC236}">
                <a16:creationId xmlns:a16="http://schemas.microsoft.com/office/drawing/2014/main" id="{815662AC-6B18-0921-F444-8F7599C87715}"/>
              </a:ext>
            </a:extLst>
          </p:cNvPr>
          <p:cNvGrpSpPr/>
          <p:nvPr/>
        </p:nvGrpSpPr>
        <p:grpSpPr>
          <a:xfrm>
            <a:off x="9564548" y="2107076"/>
            <a:ext cx="1987503" cy="4413477"/>
            <a:chOff x="9230061" y="1271505"/>
            <a:chExt cx="1987503" cy="4413477"/>
          </a:xfrm>
        </p:grpSpPr>
        <p:grpSp>
          <p:nvGrpSpPr>
            <p:cNvPr id="28" name="Group 27">
              <a:extLst>
                <a:ext uri="{FF2B5EF4-FFF2-40B4-BE49-F238E27FC236}">
                  <a16:creationId xmlns:a16="http://schemas.microsoft.com/office/drawing/2014/main" id="{7F24200A-1848-DB91-D8C8-77C60FCC0946}"/>
                </a:ext>
              </a:extLst>
            </p:cNvPr>
            <p:cNvGrpSpPr/>
            <p:nvPr/>
          </p:nvGrpSpPr>
          <p:grpSpPr>
            <a:xfrm>
              <a:off x="10132291" y="1302327"/>
              <a:ext cx="1085273" cy="4382655"/>
              <a:chOff x="10497128" y="1302327"/>
              <a:chExt cx="720436" cy="4382655"/>
            </a:xfrm>
          </p:grpSpPr>
          <p:grpSp>
            <p:nvGrpSpPr>
              <p:cNvPr id="33" name="Group 32">
                <a:extLst>
                  <a:ext uri="{FF2B5EF4-FFF2-40B4-BE49-F238E27FC236}">
                    <a16:creationId xmlns:a16="http://schemas.microsoft.com/office/drawing/2014/main" id="{365595EE-C30D-DE9C-248B-1C4B842B52A0}"/>
                  </a:ext>
                </a:extLst>
              </p:cNvPr>
              <p:cNvGrpSpPr/>
              <p:nvPr/>
            </p:nvGrpSpPr>
            <p:grpSpPr>
              <a:xfrm>
                <a:off x="10497128" y="1302327"/>
                <a:ext cx="720436" cy="4382655"/>
                <a:chOff x="10497128" y="1302327"/>
                <a:chExt cx="720436" cy="4382655"/>
              </a:xfrm>
            </p:grpSpPr>
            <p:cxnSp>
              <p:nvCxnSpPr>
                <p:cNvPr id="36" name="Straight Connector 35">
                  <a:extLst>
                    <a:ext uri="{FF2B5EF4-FFF2-40B4-BE49-F238E27FC236}">
                      <a16:creationId xmlns:a16="http://schemas.microsoft.com/office/drawing/2014/main" id="{24A34698-0CB4-536C-5C49-8EDE9DF0F354}"/>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F0F7EB2-A504-9123-ACCB-62CA42021F61}"/>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B204B6E-4461-0771-BC3A-A6BC189E1DB9}"/>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086395B-B004-A670-6663-56A4D201859E}"/>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F97F920-2EC5-8442-672A-32EDF9C1818D}"/>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61BAC02-A6A9-FA8B-7734-12BC02869FC2}"/>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45F6170-E174-BAEE-E662-59755EDEF7CC}"/>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22FCB85-4DEF-9684-D5DC-25629C176C20}"/>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FB1ABAF-E261-CEEE-B2D2-57A829E312EE}"/>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3832590-43DB-9DE7-D747-C625258A1DCA}"/>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371BE08-83D0-987D-87BE-10086EAE5633}"/>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271271D-D468-2D89-B22E-ED0FF68D5F90}"/>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004796C-8B6C-FF2F-2625-86D726BDC8D8}"/>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59E1CF-02BE-A038-D0AF-2A77298898DE}"/>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4" name="Straight Connector 33">
                <a:extLst>
                  <a:ext uri="{FF2B5EF4-FFF2-40B4-BE49-F238E27FC236}">
                    <a16:creationId xmlns:a16="http://schemas.microsoft.com/office/drawing/2014/main" id="{48FBBD30-FCA9-AD37-31BA-8213004B15BC}"/>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E218CF-6934-14BF-2714-597906D67244}"/>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E526121B-66A6-F6E2-63DA-41FF36981BB2}"/>
                </a:ext>
              </a:extLst>
            </p:cNvPr>
            <p:cNvSpPr txBox="1"/>
            <p:nvPr/>
          </p:nvSpPr>
          <p:spPr>
            <a:xfrm>
              <a:off x="9230061" y="1271505"/>
              <a:ext cx="982480" cy="4405052"/>
            </a:xfrm>
            <a:prstGeom prst="rect">
              <a:avLst/>
            </a:prstGeom>
            <a:noFill/>
          </p:spPr>
          <p:txBody>
            <a:bodyPr wrap="square" rtlCol="0">
              <a:spAutoFit/>
            </a:bodyPr>
            <a:lstStyle/>
            <a:p>
              <a:pPr algn="r">
                <a:lnSpc>
                  <a:spcPts val="2600"/>
                </a:lnSpc>
              </a:pPr>
              <a:r>
                <a:rPr lang="en-US" sz="1600" dirty="0">
                  <a:latin typeface="Times New Roman" panose="02020603050405020304" pitchFamily="18" charset="0"/>
                  <a:cs typeface="Times New Roman" panose="02020603050405020304" pitchFamily="18" charset="0"/>
                </a:rPr>
                <a:t>ht[0]</a:t>
              </a:r>
            </a:p>
            <a:p>
              <a:pPr algn="r">
                <a:lnSpc>
                  <a:spcPts val="2600"/>
                </a:lnSpc>
              </a:pPr>
              <a:r>
                <a:rPr lang="en-US" sz="1600" dirty="0">
                  <a:latin typeface="Times New Roman" panose="02020603050405020304" pitchFamily="18" charset="0"/>
                  <a:cs typeface="Times New Roman" panose="02020603050405020304" pitchFamily="18" charset="0"/>
                </a:rPr>
                <a:t>ht[1]</a:t>
              </a:r>
            </a:p>
            <a:p>
              <a:pPr algn="r">
                <a:lnSpc>
                  <a:spcPts val="2600"/>
                </a:lnSpc>
              </a:pPr>
              <a:r>
                <a:rPr lang="en-US" sz="1600" dirty="0">
                  <a:latin typeface="Times New Roman" panose="02020603050405020304" pitchFamily="18" charset="0"/>
                  <a:cs typeface="Times New Roman" panose="02020603050405020304" pitchFamily="18" charset="0"/>
                </a:rPr>
                <a:t>ht[2]</a:t>
              </a:r>
            </a:p>
            <a:p>
              <a:pPr algn="r">
                <a:lnSpc>
                  <a:spcPts val="2600"/>
                </a:lnSpc>
              </a:pPr>
              <a:r>
                <a:rPr lang="en-US" sz="1600" dirty="0">
                  <a:latin typeface="Times New Roman" panose="02020603050405020304" pitchFamily="18" charset="0"/>
                  <a:cs typeface="Times New Roman" panose="02020603050405020304" pitchFamily="18" charset="0"/>
                </a:rPr>
                <a:t>ht[3]</a:t>
              </a:r>
            </a:p>
            <a:p>
              <a:pPr algn="r">
                <a:lnSpc>
                  <a:spcPts val="2600"/>
                </a:lnSpc>
              </a:pPr>
              <a:r>
                <a:rPr lang="en-US" sz="1600" dirty="0">
                  <a:latin typeface="Times New Roman" panose="02020603050405020304" pitchFamily="18" charset="0"/>
                  <a:cs typeface="Times New Roman" panose="02020603050405020304" pitchFamily="18" charset="0"/>
                </a:rPr>
                <a:t>ht[4]</a:t>
              </a:r>
            </a:p>
            <a:p>
              <a:pPr algn="r">
                <a:lnSpc>
                  <a:spcPts val="2600"/>
                </a:lnSpc>
              </a:pPr>
              <a:r>
                <a:rPr lang="en-US" sz="1600" dirty="0">
                  <a:latin typeface="Times New Roman" panose="02020603050405020304" pitchFamily="18" charset="0"/>
                  <a:cs typeface="Times New Roman" panose="02020603050405020304" pitchFamily="18" charset="0"/>
                </a:rPr>
                <a:t>ht[5]</a:t>
              </a:r>
            </a:p>
            <a:p>
              <a:pPr algn="r">
                <a:lnSpc>
                  <a:spcPts val="2600"/>
                </a:lnSpc>
              </a:pPr>
              <a:r>
                <a:rPr lang="en-US" sz="1600" dirty="0">
                  <a:latin typeface="Times New Roman" panose="02020603050405020304" pitchFamily="18" charset="0"/>
                  <a:cs typeface="Times New Roman" panose="02020603050405020304" pitchFamily="18" charset="0"/>
                </a:rPr>
                <a:t>ht[6]</a:t>
              </a:r>
            </a:p>
            <a:p>
              <a:pPr algn="r">
                <a:lnSpc>
                  <a:spcPts val="2600"/>
                </a:lnSpc>
              </a:pPr>
              <a:r>
                <a:rPr lang="en-US" sz="1600" dirty="0">
                  <a:latin typeface="Times New Roman" panose="02020603050405020304" pitchFamily="18" charset="0"/>
                  <a:cs typeface="Times New Roman" panose="02020603050405020304" pitchFamily="18" charset="0"/>
                </a:rPr>
                <a:t>ht[7]</a:t>
              </a:r>
            </a:p>
            <a:p>
              <a:pPr algn="r">
                <a:lnSpc>
                  <a:spcPts val="2600"/>
                </a:lnSpc>
              </a:pPr>
              <a:r>
                <a:rPr lang="en-US" sz="1600" dirty="0">
                  <a:latin typeface="Times New Roman" panose="02020603050405020304" pitchFamily="18" charset="0"/>
                  <a:cs typeface="Times New Roman" panose="02020603050405020304" pitchFamily="18" charset="0"/>
                </a:rPr>
                <a:t>ht[8]</a:t>
              </a:r>
            </a:p>
            <a:p>
              <a:pPr algn="r">
                <a:lnSpc>
                  <a:spcPts val="2600"/>
                </a:lnSpc>
              </a:pPr>
              <a:r>
                <a:rPr lang="en-US" sz="1600" dirty="0">
                  <a:latin typeface="Times New Roman" panose="02020603050405020304" pitchFamily="18" charset="0"/>
                  <a:cs typeface="Times New Roman" panose="02020603050405020304" pitchFamily="18" charset="0"/>
                </a:rPr>
                <a:t>ht[9]</a:t>
              </a:r>
            </a:p>
            <a:p>
              <a:pPr algn="r">
                <a:lnSpc>
                  <a:spcPts val="2600"/>
                </a:lnSpc>
              </a:pPr>
              <a:r>
                <a:rPr lang="en-US" sz="1600" dirty="0">
                  <a:latin typeface="Times New Roman" panose="02020603050405020304" pitchFamily="18" charset="0"/>
                  <a:cs typeface="Times New Roman" panose="02020603050405020304" pitchFamily="18" charset="0"/>
                </a:rPr>
                <a:t>ht[10]</a:t>
              </a:r>
            </a:p>
            <a:p>
              <a:pPr algn="r">
                <a:lnSpc>
                  <a:spcPts val="2600"/>
                </a:lnSpc>
              </a:pPr>
              <a:r>
                <a:rPr lang="en-US" sz="1600" dirty="0">
                  <a:latin typeface="Times New Roman" panose="02020603050405020304" pitchFamily="18" charset="0"/>
                  <a:cs typeface="Times New Roman" panose="02020603050405020304" pitchFamily="18" charset="0"/>
                </a:rPr>
                <a:t>ht[11]</a:t>
              </a:r>
            </a:p>
            <a:p>
              <a:pPr algn="r">
                <a:lnSpc>
                  <a:spcPts val="2600"/>
                </a:lnSpc>
              </a:pPr>
              <a:r>
                <a:rPr lang="en-US" sz="1600" dirty="0">
                  <a:latin typeface="Times New Roman" panose="02020603050405020304" pitchFamily="18" charset="0"/>
                  <a:cs typeface="Times New Roman" panose="02020603050405020304" pitchFamily="18" charset="0"/>
                </a:rPr>
                <a:t>ht[12]</a:t>
              </a:r>
            </a:p>
          </p:txBody>
        </p:sp>
      </p:grpSp>
      <p:sp>
        <p:nvSpPr>
          <p:cNvPr id="50" name="TextBox 49">
            <a:extLst>
              <a:ext uri="{FF2B5EF4-FFF2-40B4-BE49-F238E27FC236}">
                <a16:creationId xmlns:a16="http://schemas.microsoft.com/office/drawing/2014/main" id="{6BD2390B-08BD-D7A7-051F-AB68A8FAB2EF}"/>
              </a:ext>
            </a:extLst>
          </p:cNvPr>
          <p:cNvSpPr txBox="1"/>
          <p:nvPr/>
        </p:nvSpPr>
        <p:spPr>
          <a:xfrm>
            <a:off x="10516838" y="2081084"/>
            <a:ext cx="1063941"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Adams</a:t>
            </a:r>
          </a:p>
        </p:txBody>
      </p:sp>
      <p:sp>
        <p:nvSpPr>
          <p:cNvPr id="51" name="TextBox 50">
            <a:extLst>
              <a:ext uri="{FF2B5EF4-FFF2-40B4-BE49-F238E27FC236}">
                <a16:creationId xmlns:a16="http://schemas.microsoft.com/office/drawing/2014/main" id="{4FCBAE40-6D2B-3EA2-3B94-23DC770CFF43}"/>
              </a:ext>
            </a:extLst>
          </p:cNvPr>
          <p:cNvSpPr txBox="1"/>
          <p:nvPr/>
        </p:nvSpPr>
        <p:spPr>
          <a:xfrm>
            <a:off x="10568354" y="5110140"/>
            <a:ext cx="1063937"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Jones</a:t>
            </a:r>
          </a:p>
        </p:txBody>
      </p:sp>
      <p:sp>
        <p:nvSpPr>
          <p:cNvPr id="52" name="TextBox 51">
            <a:extLst>
              <a:ext uri="{FF2B5EF4-FFF2-40B4-BE49-F238E27FC236}">
                <a16:creationId xmlns:a16="http://schemas.microsoft.com/office/drawing/2014/main" id="{37B75820-6635-E50C-1E75-8BBB407842F4}"/>
              </a:ext>
            </a:extLst>
          </p:cNvPr>
          <p:cNvSpPr txBox="1"/>
          <p:nvPr/>
        </p:nvSpPr>
        <p:spPr>
          <a:xfrm>
            <a:off x="10533212" y="2412389"/>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Apple</a:t>
            </a:r>
          </a:p>
        </p:txBody>
      </p:sp>
      <p:sp>
        <p:nvSpPr>
          <p:cNvPr id="53" name="TextBox 52">
            <a:extLst>
              <a:ext uri="{FF2B5EF4-FFF2-40B4-BE49-F238E27FC236}">
                <a16:creationId xmlns:a16="http://schemas.microsoft.com/office/drawing/2014/main" id="{816514EB-48B7-7D77-CDA0-3761516CCAEB}"/>
              </a:ext>
            </a:extLst>
          </p:cNvPr>
          <p:cNvSpPr txBox="1"/>
          <p:nvPr/>
        </p:nvSpPr>
        <p:spPr>
          <a:xfrm>
            <a:off x="10483153" y="2721869"/>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Ant</a:t>
            </a:r>
          </a:p>
        </p:txBody>
      </p:sp>
      <p:sp>
        <p:nvSpPr>
          <p:cNvPr id="54" name="TextBox 53">
            <a:extLst>
              <a:ext uri="{FF2B5EF4-FFF2-40B4-BE49-F238E27FC236}">
                <a16:creationId xmlns:a16="http://schemas.microsoft.com/office/drawing/2014/main" id="{C2A68BCA-DF40-8E52-7F59-D4C1E5BA757F}"/>
              </a:ext>
            </a:extLst>
          </p:cNvPr>
          <p:cNvSpPr txBox="1"/>
          <p:nvPr/>
        </p:nvSpPr>
        <p:spPr>
          <a:xfrm>
            <a:off x="10530717" y="3416093"/>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Arrow</a:t>
            </a:r>
          </a:p>
        </p:txBody>
      </p:sp>
      <p:sp>
        <p:nvSpPr>
          <p:cNvPr id="55" name="TextBox 54">
            <a:extLst>
              <a:ext uri="{FF2B5EF4-FFF2-40B4-BE49-F238E27FC236}">
                <a16:creationId xmlns:a16="http://schemas.microsoft.com/office/drawing/2014/main" id="{BF84DC62-C5CB-D78C-8602-A9C882AAB02E}"/>
              </a:ext>
            </a:extLst>
          </p:cNvPr>
          <p:cNvSpPr txBox="1"/>
          <p:nvPr/>
        </p:nvSpPr>
        <p:spPr>
          <a:xfrm>
            <a:off x="10493087" y="3744291"/>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Delta</a:t>
            </a:r>
          </a:p>
        </p:txBody>
      </p:sp>
      <p:sp>
        <p:nvSpPr>
          <p:cNvPr id="5" name="TextBox 4">
            <a:extLst>
              <a:ext uri="{FF2B5EF4-FFF2-40B4-BE49-F238E27FC236}">
                <a16:creationId xmlns:a16="http://schemas.microsoft.com/office/drawing/2014/main" id="{B99DBB6A-20CE-AF25-7A83-B202F53239C2}"/>
              </a:ext>
            </a:extLst>
          </p:cNvPr>
          <p:cNvSpPr txBox="1"/>
          <p:nvPr/>
        </p:nvSpPr>
        <p:spPr>
          <a:xfrm>
            <a:off x="10530716" y="3059306"/>
            <a:ext cx="1032655" cy="461665"/>
          </a:xfrm>
          <a:prstGeom prst="rect">
            <a:avLst/>
          </a:prstGeom>
          <a:noFill/>
        </p:spPr>
        <p:txBody>
          <a:bodyPr wrap="square" rtlCol="0">
            <a:spAutoFit/>
          </a:bodyPr>
          <a:lstStyle/>
          <a:p>
            <a:r>
              <a:rPr lang="en-US" sz="2400" dirty="0">
                <a:latin typeface="Times New Roman" panose="02020603050405020304" pitchFamily="18" charset="0"/>
              </a:rPr>
              <a:t>Davis</a:t>
            </a:r>
          </a:p>
        </p:txBody>
      </p:sp>
    </p:spTree>
    <p:extLst>
      <p:ext uri="{BB962C8B-B14F-4D97-AF65-F5344CB8AC3E}">
        <p14:creationId xmlns:p14="http://schemas.microsoft.com/office/powerpoint/2010/main" val="3487842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ppt_x"/>
                                          </p:val>
                                        </p:tav>
                                        <p:tav tm="100000">
                                          <p:val>
                                            <p:strVal val="#ppt_x"/>
                                          </p:val>
                                        </p:tav>
                                      </p:tavLst>
                                    </p:anim>
                                    <p:anim calcmode="lin" valueType="num">
                                      <p:cBhvr additive="base">
                                        <p:cTn id="8"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
                                        </p:tgtEl>
                                        <p:attrNameLst>
                                          <p:attrName>style.visibility</p:attrName>
                                        </p:attrNameLst>
                                      </p:cBhvr>
                                      <p:to>
                                        <p:strVal val="visible"/>
                                      </p:to>
                                    </p:set>
                                    <p:anim calcmode="lin" valueType="num">
                                      <p:cBhvr additive="base">
                                        <p:cTn id="13" dur="500" fill="hold"/>
                                        <p:tgtEl>
                                          <p:spTgt spid="53"/>
                                        </p:tgtEl>
                                        <p:attrNameLst>
                                          <p:attrName>ppt_x</p:attrName>
                                        </p:attrNameLst>
                                      </p:cBhvr>
                                      <p:tavLst>
                                        <p:tav tm="0">
                                          <p:val>
                                            <p:strVal val="#ppt_x"/>
                                          </p:val>
                                        </p:tav>
                                        <p:tav tm="100000">
                                          <p:val>
                                            <p:strVal val="#ppt_x"/>
                                          </p:val>
                                        </p:tav>
                                      </p:tavLst>
                                    </p:anim>
                                    <p:anim calcmode="lin" valueType="num">
                                      <p:cBhvr additive="base">
                                        <p:cTn id="14"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anim calcmode="lin" valueType="num">
                                      <p:cBhvr additive="base">
                                        <p:cTn id="19" dur="500" fill="hold"/>
                                        <p:tgtEl>
                                          <p:spTgt spid="54"/>
                                        </p:tgtEl>
                                        <p:attrNameLst>
                                          <p:attrName>ppt_x</p:attrName>
                                        </p:attrNameLst>
                                      </p:cBhvr>
                                      <p:tavLst>
                                        <p:tav tm="0">
                                          <p:val>
                                            <p:strVal val="#ppt_x"/>
                                          </p:val>
                                        </p:tav>
                                        <p:tav tm="100000">
                                          <p:val>
                                            <p:strVal val="#ppt_x"/>
                                          </p:val>
                                        </p:tav>
                                      </p:tavLst>
                                    </p:anim>
                                    <p:anim calcmode="lin" valueType="num">
                                      <p:cBhvr additive="base">
                                        <p:cTn id="20"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5"/>
                                        </p:tgtEl>
                                        <p:attrNameLst>
                                          <p:attrName>style.visibility</p:attrName>
                                        </p:attrNameLst>
                                      </p:cBhvr>
                                      <p:to>
                                        <p:strVal val="visible"/>
                                      </p:to>
                                    </p:set>
                                    <p:anim calcmode="lin" valueType="num">
                                      <p:cBhvr additive="base">
                                        <p:cTn id="25" dur="500" fill="hold"/>
                                        <p:tgtEl>
                                          <p:spTgt spid="55"/>
                                        </p:tgtEl>
                                        <p:attrNameLst>
                                          <p:attrName>ppt_x</p:attrName>
                                        </p:attrNameLst>
                                      </p:cBhvr>
                                      <p:tavLst>
                                        <p:tav tm="0">
                                          <p:val>
                                            <p:strVal val="#ppt_x"/>
                                          </p:val>
                                        </p:tav>
                                        <p:tav tm="100000">
                                          <p:val>
                                            <p:strVal val="#ppt_x"/>
                                          </p:val>
                                        </p:tav>
                                      </p:tavLst>
                                    </p:anim>
                                    <p:anim calcmode="lin" valueType="num">
                                      <p:cBhvr additive="base">
                                        <p:cTn id="26"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54" grpId="0"/>
      <p:bldP spid="5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2E56C0-35C2-4EAB-9EDB-646E8C5E289B}"/>
              </a:ext>
            </a:extLst>
          </p:cNvPr>
          <p:cNvSpPr>
            <a:spLocks noGrp="1"/>
          </p:cNvSpPr>
          <p:nvPr>
            <p:ph idx="1"/>
          </p:nvPr>
        </p:nvSpPr>
        <p:spPr>
          <a:xfrm>
            <a:off x="348180" y="1876804"/>
            <a:ext cx="11262628" cy="5402762"/>
          </a:xfrm>
        </p:spPr>
        <p:txBody>
          <a:bodyPr anchor="t" anchorCtr="0">
            <a:noAutofit/>
          </a:bodyPr>
          <a:lstStyle/>
          <a:p>
            <a:pPr marL="0" indent="0">
              <a:lnSpc>
                <a:spcPct val="90000"/>
              </a:lnSpc>
              <a:buNone/>
            </a:pPr>
            <a:r>
              <a:rPr lang="en-US" sz="2800" dirty="0">
                <a:solidFill>
                  <a:schemeClr val="tx1"/>
                </a:solidFill>
                <a:latin typeface="Times New Roman" panose="02020603050405020304" pitchFamily="18" charset="0"/>
                <a:cs typeface="Times New Roman" panose="02020603050405020304" pitchFamily="18" charset="0"/>
              </a:rPr>
              <a:t>   </a:t>
            </a:r>
          </a:p>
        </p:txBody>
      </p:sp>
      <p:sp>
        <p:nvSpPr>
          <p:cNvPr id="3" name="Title 2">
            <a:extLst>
              <a:ext uri="{FF2B5EF4-FFF2-40B4-BE49-F238E27FC236}">
                <a16:creationId xmlns:a16="http://schemas.microsoft.com/office/drawing/2014/main" id="{DCBD4A68-0624-4080-ACDF-CBF1CC40402E}"/>
              </a:ext>
            </a:extLst>
          </p:cNvPr>
          <p:cNvSpPr>
            <a:spLocks noGrp="1"/>
          </p:cNvSpPr>
          <p:nvPr>
            <p:ph type="title"/>
          </p:nvPr>
        </p:nvSpPr>
        <p:spPr>
          <a:xfrm>
            <a:off x="581192" y="976562"/>
            <a:ext cx="11262628" cy="693113"/>
          </a:xfrm>
        </p:spPr>
        <p:txBody>
          <a:bodyPr>
            <a:noAutofit/>
          </a:bodyPr>
          <a:lstStyle/>
          <a:p>
            <a:r>
              <a:rPr lang="en-US" sz="3600" dirty="0"/>
              <a:t>Quadratic PROBING</a:t>
            </a:r>
          </a:p>
        </p:txBody>
      </p:sp>
      <p:sp>
        <p:nvSpPr>
          <p:cNvPr id="8" name="TextBox 7">
            <a:extLst>
              <a:ext uri="{FF2B5EF4-FFF2-40B4-BE49-F238E27FC236}">
                <a16:creationId xmlns:a16="http://schemas.microsoft.com/office/drawing/2014/main" id="{58AF52DB-0F67-5C4D-4518-7F6C58D336DF}"/>
              </a:ext>
            </a:extLst>
          </p:cNvPr>
          <p:cNvSpPr txBox="1"/>
          <p:nvPr/>
        </p:nvSpPr>
        <p:spPr>
          <a:xfrm>
            <a:off x="581192" y="2104111"/>
            <a:ext cx="10747208" cy="4688463"/>
          </a:xfrm>
          <a:prstGeom prst="rect">
            <a:avLst/>
          </a:prstGeom>
          <a:noFill/>
        </p:spPr>
        <p:txBody>
          <a:bodyPr wrap="square">
            <a:spAutoFit/>
          </a:bodyPr>
          <a:lstStyle/>
          <a:p>
            <a:r>
              <a:rPr lang="en-US" sz="2800" dirty="0">
                <a:solidFill>
                  <a:srgbClr val="0070C0"/>
                </a:solidFill>
                <a:latin typeface="Times New Roman" panose="02020603050405020304" pitchFamily="18" charset="0"/>
                <a:cs typeface="Times New Roman" panose="02020603050405020304" pitchFamily="18" charset="0"/>
              </a:rPr>
              <a:t>P(</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 key)=</a:t>
            </a:r>
            <a:r>
              <a:rPr lang="en-US" sz="2800" dirty="0">
                <a:solidFill>
                  <a:srgbClr val="0070C0"/>
                </a:solidFill>
                <a:latin typeface="Times New Roman" panose="02020603050405020304" pitchFamily="18" charset="0"/>
              </a:rPr>
              <a:t> </a:t>
            </a:r>
            <a:r>
              <a:rPr lang="en-US" sz="2800" dirty="0">
                <a:solidFill>
                  <a:srgbClr val="0070C0"/>
                </a:solidFill>
                <a:latin typeface="Times New Roman" panose="02020603050405020304" pitchFamily="18" charset="0"/>
                <a:cs typeface="Times New Roman" panose="02020603050405020304" pitchFamily="18" charset="0"/>
              </a:rPr>
              <a:t>H(key)+ f(</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a:t>
            </a:r>
          </a:p>
          <a:p>
            <a:endParaRPr lang="en-US" sz="2800" dirty="0">
              <a:solidFill>
                <a:srgbClr val="0070C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For Linear Probing  </a:t>
            </a:r>
            <a:r>
              <a:rPr lang="en-US" sz="2800" dirty="0">
                <a:solidFill>
                  <a:srgbClr val="0070C0"/>
                </a:solidFill>
                <a:latin typeface="Times New Roman" panose="02020603050405020304" pitchFamily="18" charset="0"/>
                <a:cs typeface="Times New Roman" panose="02020603050405020304" pitchFamily="18" charset="0"/>
              </a:rPr>
              <a:t>f(</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 = </a:t>
            </a:r>
            <a:r>
              <a:rPr lang="en-US" sz="2800" dirty="0" err="1">
                <a:solidFill>
                  <a:srgbClr val="0070C0"/>
                </a:solidFill>
                <a:latin typeface="Times New Roman" panose="02020603050405020304" pitchFamily="18" charset="0"/>
                <a:cs typeface="Times New Roman" panose="02020603050405020304" pitchFamily="18" charset="0"/>
              </a:rPr>
              <a:t>i</a:t>
            </a:r>
            <a:endParaRPr lang="en-US" sz="2800" dirty="0">
              <a:solidFill>
                <a:srgbClr val="0070C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For Quadratic probing </a:t>
            </a:r>
            <a:r>
              <a:rPr lang="en-US" sz="2800" dirty="0">
                <a:solidFill>
                  <a:srgbClr val="0070C0"/>
                </a:solidFill>
                <a:latin typeface="Times New Roman" panose="02020603050405020304" pitchFamily="18" charset="0"/>
                <a:cs typeface="Times New Roman" panose="02020603050405020304" pitchFamily="18" charset="0"/>
              </a:rPr>
              <a:t>f(</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 = i</a:t>
            </a:r>
            <a:r>
              <a:rPr lang="en-US" sz="2800" baseline="30000" dirty="0">
                <a:solidFill>
                  <a:srgbClr val="0070C0"/>
                </a:solidFill>
                <a:latin typeface="Times New Roman" panose="02020603050405020304" pitchFamily="18" charset="0"/>
                <a:cs typeface="Times New Roman" panose="02020603050405020304" pitchFamily="18" charset="0"/>
              </a:rPr>
              <a:t>2</a:t>
            </a:r>
          </a:p>
          <a:p>
            <a:endParaRPr lang="en-US" sz="2800" baseline="30000" dirty="0">
              <a:solidFill>
                <a:srgbClr val="0070C0"/>
              </a:solidFill>
              <a:latin typeface="Times New Roman" panose="02020603050405020304" pitchFamily="18" charset="0"/>
              <a:cs typeface="Times New Roman" panose="02020603050405020304" pitchFamily="18" charset="0"/>
            </a:endParaRPr>
          </a:p>
          <a:p>
            <a:r>
              <a:rPr lang="en-US" sz="2800" dirty="0">
                <a:solidFill>
                  <a:srgbClr val="0070C0"/>
                </a:solidFill>
                <a:latin typeface="Times New Roman" panose="02020603050405020304" pitchFamily="18" charset="0"/>
                <a:cs typeface="Times New Roman" panose="02020603050405020304" pitchFamily="18" charset="0"/>
              </a:rPr>
              <a:t>If you need to place 71 and the Hashing function  H(key)=key%10</a:t>
            </a:r>
          </a:p>
          <a:p>
            <a:endParaRPr lang="en-US" sz="2800" dirty="0">
              <a:solidFill>
                <a:srgbClr val="0070C0"/>
              </a:solidFill>
              <a:latin typeface="Times New Roman" panose="02020603050405020304" pitchFamily="18" charset="0"/>
              <a:cs typeface="Times New Roman" panose="02020603050405020304" pitchFamily="18" charset="0"/>
            </a:endParaRPr>
          </a:p>
          <a:p>
            <a:endParaRPr lang="en-US" sz="2800" dirty="0">
              <a:solidFill>
                <a:srgbClr val="0070C0"/>
              </a:solidFill>
              <a:latin typeface="Times New Roman" panose="02020603050405020304" pitchFamily="18" charset="0"/>
              <a:cs typeface="Times New Roman" panose="02020603050405020304" pitchFamily="18" charset="0"/>
            </a:endParaRPr>
          </a:p>
          <a:p>
            <a:endParaRPr lang="en-US" sz="2800" dirty="0">
              <a:solidFill>
                <a:srgbClr val="0070C0"/>
              </a:solidFill>
              <a:latin typeface="Times New Roman" panose="02020603050405020304" pitchFamily="18" charset="0"/>
              <a:cs typeface="Times New Roman" panose="02020603050405020304" pitchFamily="18" charset="0"/>
            </a:endParaRPr>
          </a:p>
          <a:p>
            <a:r>
              <a:rPr lang="en-US" sz="2800" dirty="0">
                <a:solidFill>
                  <a:srgbClr val="0070C0"/>
                </a:solidFill>
                <a:latin typeface="Times New Roman" panose="02020603050405020304" pitchFamily="18" charset="0"/>
                <a:cs typeface="Times New Roman" panose="02020603050405020304" pitchFamily="18" charset="0"/>
              </a:rPr>
              <a:t>Try to place in pos 1</a:t>
            </a:r>
          </a:p>
          <a:p>
            <a:r>
              <a:rPr lang="en-US" sz="2800" dirty="0">
                <a:solidFill>
                  <a:srgbClr val="0070C0"/>
                </a:solidFill>
                <a:latin typeface="Times New Roman" panose="02020603050405020304" pitchFamily="18" charset="0"/>
                <a:cs typeface="Times New Roman" panose="02020603050405020304" pitchFamily="18" charset="0"/>
              </a:rPr>
              <a:t>Try to place in pos 2     H(key) + i</a:t>
            </a:r>
            <a:r>
              <a:rPr lang="en-US" sz="2800" baseline="30000" dirty="0">
                <a:solidFill>
                  <a:srgbClr val="0070C0"/>
                </a:solidFill>
                <a:latin typeface="Times New Roman" panose="02020603050405020304" pitchFamily="18" charset="0"/>
                <a:cs typeface="Times New Roman" panose="02020603050405020304" pitchFamily="18" charset="0"/>
              </a:rPr>
              <a:t>2</a:t>
            </a:r>
            <a:r>
              <a:rPr lang="en-US" sz="2800" dirty="0">
                <a:solidFill>
                  <a:srgbClr val="0070C0"/>
                </a:solidFill>
                <a:latin typeface="Times New Roman" panose="02020603050405020304" pitchFamily="18" charset="0"/>
                <a:cs typeface="Times New Roman" panose="02020603050405020304" pitchFamily="18" charset="0"/>
              </a:rPr>
              <a:t>     1+1</a:t>
            </a:r>
            <a:r>
              <a:rPr lang="en-US" sz="2800" baseline="30000" dirty="0">
                <a:solidFill>
                  <a:srgbClr val="0070C0"/>
                </a:solidFill>
                <a:latin typeface="Times New Roman" panose="02020603050405020304" pitchFamily="18" charset="0"/>
                <a:cs typeface="Times New Roman" panose="02020603050405020304" pitchFamily="18" charset="0"/>
              </a:rPr>
              <a:t>2</a:t>
            </a:r>
            <a:r>
              <a:rPr lang="en-US" sz="2800" dirty="0">
                <a:solidFill>
                  <a:srgbClr val="0070C0"/>
                </a:solidFill>
                <a:latin typeface="Times New Roman" panose="02020603050405020304" pitchFamily="18" charset="0"/>
                <a:cs typeface="Times New Roman" panose="02020603050405020304" pitchFamily="18" charset="0"/>
              </a:rPr>
              <a:t> = 2</a:t>
            </a:r>
          </a:p>
        </p:txBody>
      </p:sp>
      <p:graphicFrame>
        <p:nvGraphicFramePr>
          <p:cNvPr id="4" name="Table 3">
            <a:extLst>
              <a:ext uri="{FF2B5EF4-FFF2-40B4-BE49-F238E27FC236}">
                <a16:creationId xmlns:a16="http://schemas.microsoft.com/office/drawing/2014/main" id="{C6A99377-A569-E201-5DE5-CB03B76EFA3F}"/>
              </a:ext>
            </a:extLst>
          </p:cNvPr>
          <p:cNvGraphicFramePr>
            <a:graphicFrameLocks noGrp="1"/>
          </p:cNvGraphicFramePr>
          <p:nvPr>
            <p:extLst>
              <p:ext uri="{D42A27DB-BD31-4B8C-83A1-F6EECF244321}">
                <p14:modId xmlns:p14="http://schemas.microsoft.com/office/powerpoint/2010/main" val="1535908119"/>
              </p:ext>
            </p:extLst>
          </p:nvPr>
        </p:nvGraphicFramePr>
        <p:xfrm>
          <a:off x="2713926" y="4991115"/>
          <a:ext cx="7943200" cy="514657"/>
        </p:xfrm>
        <a:graphic>
          <a:graphicData uri="http://schemas.openxmlformats.org/drawingml/2006/table">
            <a:tbl>
              <a:tblPr firstRow="1" bandRow="1">
                <a:tableStyleId>{F5AB1C69-6EDB-4FF4-983F-18BD219EF322}</a:tableStyleId>
              </a:tblPr>
              <a:tblGrid>
                <a:gridCol w="794320">
                  <a:extLst>
                    <a:ext uri="{9D8B030D-6E8A-4147-A177-3AD203B41FA5}">
                      <a16:colId xmlns:a16="http://schemas.microsoft.com/office/drawing/2014/main" val="1838891793"/>
                    </a:ext>
                  </a:extLst>
                </a:gridCol>
                <a:gridCol w="794320">
                  <a:extLst>
                    <a:ext uri="{9D8B030D-6E8A-4147-A177-3AD203B41FA5}">
                      <a16:colId xmlns:a16="http://schemas.microsoft.com/office/drawing/2014/main" val="3216229625"/>
                    </a:ext>
                  </a:extLst>
                </a:gridCol>
                <a:gridCol w="794320">
                  <a:extLst>
                    <a:ext uri="{9D8B030D-6E8A-4147-A177-3AD203B41FA5}">
                      <a16:colId xmlns:a16="http://schemas.microsoft.com/office/drawing/2014/main" val="67122098"/>
                    </a:ext>
                  </a:extLst>
                </a:gridCol>
                <a:gridCol w="794320">
                  <a:extLst>
                    <a:ext uri="{9D8B030D-6E8A-4147-A177-3AD203B41FA5}">
                      <a16:colId xmlns:a16="http://schemas.microsoft.com/office/drawing/2014/main" val="1048929879"/>
                    </a:ext>
                  </a:extLst>
                </a:gridCol>
                <a:gridCol w="794320">
                  <a:extLst>
                    <a:ext uri="{9D8B030D-6E8A-4147-A177-3AD203B41FA5}">
                      <a16:colId xmlns:a16="http://schemas.microsoft.com/office/drawing/2014/main" val="1290365078"/>
                    </a:ext>
                  </a:extLst>
                </a:gridCol>
                <a:gridCol w="794320">
                  <a:extLst>
                    <a:ext uri="{9D8B030D-6E8A-4147-A177-3AD203B41FA5}">
                      <a16:colId xmlns:a16="http://schemas.microsoft.com/office/drawing/2014/main" val="1794349000"/>
                    </a:ext>
                  </a:extLst>
                </a:gridCol>
                <a:gridCol w="794320">
                  <a:extLst>
                    <a:ext uri="{9D8B030D-6E8A-4147-A177-3AD203B41FA5}">
                      <a16:colId xmlns:a16="http://schemas.microsoft.com/office/drawing/2014/main" val="247777362"/>
                    </a:ext>
                  </a:extLst>
                </a:gridCol>
                <a:gridCol w="794320">
                  <a:extLst>
                    <a:ext uri="{9D8B030D-6E8A-4147-A177-3AD203B41FA5}">
                      <a16:colId xmlns:a16="http://schemas.microsoft.com/office/drawing/2014/main" val="2704796698"/>
                    </a:ext>
                  </a:extLst>
                </a:gridCol>
                <a:gridCol w="794320">
                  <a:extLst>
                    <a:ext uri="{9D8B030D-6E8A-4147-A177-3AD203B41FA5}">
                      <a16:colId xmlns:a16="http://schemas.microsoft.com/office/drawing/2014/main" val="53088556"/>
                    </a:ext>
                  </a:extLst>
                </a:gridCol>
                <a:gridCol w="794320">
                  <a:extLst>
                    <a:ext uri="{9D8B030D-6E8A-4147-A177-3AD203B41FA5}">
                      <a16:colId xmlns:a16="http://schemas.microsoft.com/office/drawing/2014/main" val="2122746333"/>
                    </a:ext>
                  </a:extLst>
                </a:gridCol>
              </a:tblGrid>
              <a:tr h="514657">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extLst>
                  <a:ext uri="{0D108BD9-81ED-4DB2-BD59-A6C34878D82A}">
                    <a16:rowId xmlns:a16="http://schemas.microsoft.com/office/drawing/2014/main" val="4061759863"/>
                  </a:ext>
                </a:extLst>
              </a:tr>
            </a:tbl>
          </a:graphicData>
        </a:graphic>
      </p:graphicFrame>
      <p:sp>
        <p:nvSpPr>
          <p:cNvPr id="6" name="TextBox 5">
            <a:extLst>
              <a:ext uri="{FF2B5EF4-FFF2-40B4-BE49-F238E27FC236}">
                <a16:creationId xmlns:a16="http://schemas.microsoft.com/office/drawing/2014/main" id="{4D7A42C8-62A5-642A-9D70-41C9B277B241}"/>
              </a:ext>
            </a:extLst>
          </p:cNvPr>
          <p:cNvSpPr txBox="1"/>
          <p:nvPr/>
        </p:nvSpPr>
        <p:spPr>
          <a:xfrm>
            <a:off x="3791895" y="4979224"/>
            <a:ext cx="409903" cy="523220"/>
          </a:xfrm>
          <a:prstGeom prst="rect">
            <a:avLst/>
          </a:prstGeom>
          <a:noFill/>
        </p:spPr>
        <p:txBody>
          <a:bodyPr wrap="square" rtlCol="0">
            <a:spAutoFit/>
          </a:bodyPr>
          <a:lstStyle/>
          <a:p>
            <a:r>
              <a:rPr lang="en-US" sz="2800" dirty="0">
                <a:latin typeface="Times New Roman" panose="02020603050405020304" pitchFamily="18" charset="0"/>
              </a:rPr>
              <a:t>1</a:t>
            </a:r>
          </a:p>
        </p:txBody>
      </p:sp>
      <p:sp>
        <p:nvSpPr>
          <p:cNvPr id="7" name="TextBox 6">
            <a:extLst>
              <a:ext uri="{FF2B5EF4-FFF2-40B4-BE49-F238E27FC236}">
                <a16:creationId xmlns:a16="http://schemas.microsoft.com/office/drawing/2014/main" id="{B78F87FB-3DAE-E240-D727-9B26E91F1DEE}"/>
              </a:ext>
            </a:extLst>
          </p:cNvPr>
          <p:cNvSpPr txBox="1"/>
          <p:nvPr/>
        </p:nvSpPr>
        <p:spPr>
          <a:xfrm>
            <a:off x="4410915" y="4991114"/>
            <a:ext cx="564042" cy="523220"/>
          </a:xfrm>
          <a:prstGeom prst="rect">
            <a:avLst/>
          </a:prstGeom>
          <a:noFill/>
        </p:spPr>
        <p:txBody>
          <a:bodyPr wrap="square" rtlCol="0">
            <a:spAutoFit/>
          </a:bodyPr>
          <a:lstStyle/>
          <a:p>
            <a:r>
              <a:rPr lang="en-US" sz="2800" dirty="0">
                <a:latin typeface="Times New Roman" panose="02020603050405020304" pitchFamily="18" charset="0"/>
              </a:rPr>
              <a:t>2</a:t>
            </a:r>
          </a:p>
        </p:txBody>
      </p:sp>
      <p:sp>
        <p:nvSpPr>
          <p:cNvPr id="9" name="TextBox 8">
            <a:extLst>
              <a:ext uri="{FF2B5EF4-FFF2-40B4-BE49-F238E27FC236}">
                <a16:creationId xmlns:a16="http://schemas.microsoft.com/office/drawing/2014/main" id="{A43914E8-73E6-E9D8-87E4-3832542EF6DA}"/>
              </a:ext>
            </a:extLst>
          </p:cNvPr>
          <p:cNvSpPr txBox="1"/>
          <p:nvPr/>
        </p:nvSpPr>
        <p:spPr>
          <a:xfrm>
            <a:off x="2713926" y="5464090"/>
            <a:ext cx="7859844" cy="369332"/>
          </a:xfrm>
          <a:prstGeom prst="rect">
            <a:avLst/>
          </a:prstGeom>
          <a:noFill/>
        </p:spPr>
        <p:txBody>
          <a:bodyPr wrap="none" rtlCol="0">
            <a:spAutoFit/>
          </a:bodyPr>
          <a:lstStyle/>
          <a:p>
            <a:r>
              <a:rPr lang="en-US" dirty="0">
                <a:latin typeface="Times New Roman" panose="02020603050405020304" pitchFamily="18" charset="0"/>
              </a:rPr>
              <a:t>0             1             2                3             4           5          6             7           8              9</a:t>
            </a:r>
          </a:p>
        </p:txBody>
      </p:sp>
      <p:sp>
        <p:nvSpPr>
          <p:cNvPr id="10" name="TextBox 9">
            <a:extLst>
              <a:ext uri="{FF2B5EF4-FFF2-40B4-BE49-F238E27FC236}">
                <a16:creationId xmlns:a16="http://schemas.microsoft.com/office/drawing/2014/main" id="{827F1AF3-85B8-2F51-5AF3-067111B23C51}"/>
              </a:ext>
            </a:extLst>
          </p:cNvPr>
          <p:cNvSpPr txBox="1"/>
          <p:nvPr/>
        </p:nvSpPr>
        <p:spPr>
          <a:xfrm>
            <a:off x="6212506" y="5750986"/>
            <a:ext cx="6817497"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Try to place pos 3  H(key) + 2</a:t>
            </a:r>
            <a:r>
              <a:rPr lang="en-US" sz="2800" baseline="30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 1 + 4 </a:t>
            </a:r>
          </a:p>
        </p:txBody>
      </p:sp>
      <p:sp>
        <p:nvSpPr>
          <p:cNvPr id="11" name="TextBox 10">
            <a:extLst>
              <a:ext uri="{FF2B5EF4-FFF2-40B4-BE49-F238E27FC236}">
                <a16:creationId xmlns:a16="http://schemas.microsoft.com/office/drawing/2014/main" id="{085FEC96-77CD-9B6C-0731-5067D392806A}"/>
              </a:ext>
            </a:extLst>
          </p:cNvPr>
          <p:cNvSpPr txBox="1"/>
          <p:nvPr/>
        </p:nvSpPr>
        <p:spPr>
          <a:xfrm>
            <a:off x="6969978" y="4971008"/>
            <a:ext cx="564042" cy="523220"/>
          </a:xfrm>
          <a:prstGeom prst="rect">
            <a:avLst/>
          </a:prstGeom>
          <a:noFill/>
        </p:spPr>
        <p:txBody>
          <a:bodyPr wrap="square" rtlCol="0">
            <a:spAutoFit/>
          </a:bodyPr>
          <a:lstStyle/>
          <a:p>
            <a:r>
              <a:rPr lang="en-US" sz="2800" dirty="0">
                <a:latin typeface="Times New Roman" panose="02020603050405020304" pitchFamily="18" charset="0"/>
              </a:rPr>
              <a:t>71</a:t>
            </a:r>
          </a:p>
        </p:txBody>
      </p:sp>
    </p:spTree>
    <p:extLst>
      <p:ext uri="{BB962C8B-B14F-4D97-AF65-F5344CB8AC3E}">
        <p14:creationId xmlns:p14="http://schemas.microsoft.com/office/powerpoint/2010/main" val="612296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C6468-8442-2624-31BE-617A3204A214}"/>
              </a:ext>
            </a:extLst>
          </p:cNvPr>
          <p:cNvSpPr>
            <a:spLocks noGrp="1"/>
          </p:cNvSpPr>
          <p:nvPr>
            <p:ph type="title"/>
          </p:nvPr>
        </p:nvSpPr>
        <p:spPr/>
        <p:txBody>
          <a:bodyPr/>
          <a:lstStyle/>
          <a:p>
            <a:r>
              <a:rPr lang="en-US" dirty="0"/>
              <a:t>Quadratic probing for collisions</a:t>
            </a:r>
          </a:p>
        </p:txBody>
      </p:sp>
      <p:sp>
        <p:nvSpPr>
          <p:cNvPr id="3" name="Content Placeholder 2">
            <a:extLst>
              <a:ext uri="{FF2B5EF4-FFF2-40B4-BE49-F238E27FC236}">
                <a16:creationId xmlns:a16="http://schemas.microsoft.com/office/drawing/2014/main" id="{4A5858E9-90FD-19C4-7A21-D5C1CF118178}"/>
              </a:ext>
            </a:extLst>
          </p:cNvPr>
          <p:cNvSpPr>
            <a:spLocks noGrp="1"/>
          </p:cNvSpPr>
          <p:nvPr>
            <p:ph idx="1"/>
          </p:nvPr>
        </p:nvSpPr>
        <p:spPr>
          <a:xfrm>
            <a:off x="305421" y="1919239"/>
            <a:ext cx="11029615" cy="3678303"/>
          </a:xfrm>
        </p:spPr>
        <p:txBody>
          <a:bodyPr/>
          <a:lstStyle/>
          <a:p>
            <a:pPr algn="l"/>
            <a:r>
              <a:rPr lang="en-US" b="0" i="0" dirty="0">
                <a:solidFill>
                  <a:srgbClr val="000000"/>
                </a:solidFill>
                <a:effectLst/>
              </a:rPr>
              <a:t>Table size 10</a:t>
            </a:r>
          </a:p>
          <a:p>
            <a:pPr algn="l"/>
            <a:r>
              <a:rPr lang="en-US" b="0" i="0" dirty="0">
                <a:solidFill>
                  <a:srgbClr val="000000"/>
                </a:solidFill>
                <a:effectLst/>
              </a:rPr>
              <a:t>The hashing algorithm is  h(key) = key%10</a:t>
            </a:r>
          </a:p>
          <a:p>
            <a:pPr algn="l"/>
            <a:r>
              <a:rPr lang="en-US" b="0" i="0" dirty="0">
                <a:solidFill>
                  <a:srgbClr val="000000"/>
                </a:solidFill>
                <a:effectLst/>
              </a:rPr>
              <a:t>Using linear probing for hash collisions, place the following numbers: 1, 11, 21, 8, 51, 9, 99</a:t>
            </a:r>
          </a:p>
          <a:p>
            <a:pPr algn="l"/>
            <a:endParaRPr lang="en-US" dirty="0">
              <a:solidFill>
                <a:srgbClr val="000000"/>
              </a:solidFill>
            </a:endParaRPr>
          </a:p>
          <a:p>
            <a:pPr algn="l"/>
            <a:endParaRPr lang="en-US" b="0" i="0" dirty="0">
              <a:solidFill>
                <a:srgbClr val="000000"/>
              </a:solidFill>
              <a:effectLst/>
            </a:endParaRPr>
          </a:p>
          <a:p>
            <a:pPr algn="l"/>
            <a:endParaRPr lang="en-US" dirty="0">
              <a:solidFill>
                <a:srgbClr val="000000"/>
              </a:solidFill>
            </a:endParaRPr>
          </a:p>
          <a:p>
            <a:pPr marL="0" indent="0" algn="l">
              <a:buNone/>
            </a:pPr>
            <a:r>
              <a:rPr lang="en-US" b="0" i="0" dirty="0">
                <a:solidFill>
                  <a:srgbClr val="000000"/>
                </a:solidFill>
                <a:effectLst/>
              </a:rPr>
              <a:t> </a:t>
            </a:r>
          </a:p>
          <a:p>
            <a:endParaRPr lang="en-US" dirty="0"/>
          </a:p>
        </p:txBody>
      </p:sp>
      <p:pic>
        <p:nvPicPr>
          <p:cNvPr id="5" name="Picture 4" descr="A blue rectangular object with black text&#10;&#10;AI-generated content may be incorrect.">
            <a:extLst>
              <a:ext uri="{FF2B5EF4-FFF2-40B4-BE49-F238E27FC236}">
                <a16:creationId xmlns:a16="http://schemas.microsoft.com/office/drawing/2014/main" id="{C02BF2CB-9F28-58B4-7E27-EB4E920F0F28}"/>
              </a:ext>
            </a:extLst>
          </p:cNvPr>
          <p:cNvPicPr>
            <a:picLocks noChangeAspect="1"/>
          </p:cNvPicPr>
          <p:nvPr/>
        </p:nvPicPr>
        <p:blipFill>
          <a:blip r:embed="rId2"/>
          <a:stretch>
            <a:fillRect/>
          </a:stretch>
        </p:blipFill>
        <p:spPr>
          <a:xfrm>
            <a:off x="1934027" y="3429000"/>
            <a:ext cx="9591451" cy="2971800"/>
          </a:xfrm>
          <a:prstGeom prst="rect">
            <a:avLst/>
          </a:prstGeom>
        </p:spPr>
      </p:pic>
    </p:spTree>
    <p:extLst>
      <p:ext uri="{BB962C8B-B14F-4D97-AF65-F5344CB8AC3E}">
        <p14:creationId xmlns:p14="http://schemas.microsoft.com/office/powerpoint/2010/main" val="3633588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math problem&#10;&#10;AI-generated content may be incorrect.">
            <a:extLst>
              <a:ext uri="{FF2B5EF4-FFF2-40B4-BE49-F238E27FC236}">
                <a16:creationId xmlns:a16="http://schemas.microsoft.com/office/drawing/2014/main" id="{7D5D4753-757F-7AE6-7376-F1A3B57080CB}"/>
              </a:ext>
            </a:extLst>
          </p:cNvPr>
          <p:cNvPicPr>
            <a:picLocks noChangeAspect="1"/>
          </p:cNvPicPr>
          <p:nvPr/>
        </p:nvPicPr>
        <p:blipFill>
          <a:blip r:embed="rId2"/>
          <a:stretch>
            <a:fillRect/>
          </a:stretch>
        </p:blipFill>
        <p:spPr>
          <a:xfrm>
            <a:off x="1860437" y="520779"/>
            <a:ext cx="8426563" cy="5847363"/>
          </a:xfrm>
          <a:prstGeom prst="rect">
            <a:avLst/>
          </a:prstGeom>
        </p:spPr>
      </p:pic>
    </p:spTree>
    <p:extLst>
      <p:ext uri="{BB962C8B-B14F-4D97-AF65-F5344CB8AC3E}">
        <p14:creationId xmlns:p14="http://schemas.microsoft.com/office/powerpoint/2010/main" val="39535618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BD9D9-83CD-4234-AD50-27B24199753D}"/>
              </a:ext>
            </a:extLst>
          </p:cNvPr>
          <p:cNvSpPr>
            <a:spLocks noGrp="1"/>
          </p:cNvSpPr>
          <p:nvPr>
            <p:ph idx="1"/>
          </p:nvPr>
        </p:nvSpPr>
        <p:spPr>
          <a:xfrm>
            <a:off x="288984" y="1964281"/>
            <a:ext cx="9266982" cy="4415952"/>
          </a:xfrm>
        </p:spPr>
        <p:txBody>
          <a:bodyPr anchor="t" anchorCtr="0">
            <a:noAutofit/>
          </a:bodyPr>
          <a:lstStyle/>
          <a:p>
            <a:pPr>
              <a:lnSpc>
                <a:spcPct val="100000"/>
              </a:lnSpc>
              <a:spcBef>
                <a:spcPts val="600"/>
              </a:spcBef>
              <a:spcAft>
                <a:spcPts val="600"/>
              </a:spcAft>
            </a:pPr>
            <a:r>
              <a:rPr lang="en-US" sz="2800" dirty="0">
                <a:solidFill>
                  <a:srgbClr val="70AD47">
                    <a:lumMod val="50000"/>
                  </a:srgbClr>
                </a:solidFill>
                <a:cs typeface="Times New Roman" panose="02020603050405020304" pitchFamily="18" charset="0"/>
              </a:rPr>
              <a:t>Suppose we want to delete Earl, if we find him, we delete him, no problem </a:t>
            </a:r>
          </a:p>
          <a:p>
            <a:pPr>
              <a:lnSpc>
                <a:spcPct val="100000"/>
              </a:lnSpc>
              <a:spcBef>
                <a:spcPts val="600"/>
              </a:spcBef>
              <a:spcAft>
                <a:spcPts val="600"/>
              </a:spcAft>
            </a:pPr>
            <a:r>
              <a:rPr lang="en-US" sz="2800" dirty="0">
                <a:solidFill>
                  <a:srgbClr val="70AD47">
                    <a:lumMod val="50000"/>
                  </a:srgbClr>
                </a:solidFill>
                <a:cs typeface="Times New Roman" panose="02020603050405020304" pitchFamily="18" charset="0"/>
              </a:rPr>
              <a:t>But now look what happens when we try to find Calle, Since </a:t>
            </a:r>
            <a:r>
              <a:rPr lang="en-US" sz="2800" dirty="0">
                <a:solidFill>
                  <a:schemeClr val="tx1"/>
                </a:solidFill>
                <a:cs typeface="Times New Roman" panose="02020603050405020304" pitchFamily="18" charset="0"/>
              </a:rPr>
              <a:t>H("Calle")</a:t>
            </a:r>
            <a:r>
              <a:rPr lang="en-US" sz="2800" dirty="0">
                <a:solidFill>
                  <a:srgbClr val="70AD47">
                    <a:lumMod val="50000"/>
                  </a:srgbClr>
                </a:solidFill>
                <a:cs typeface="Times New Roman" panose="02020603050405020304" pitchFamily="18" charset="0"/>
              </a:rPr>
              <a:t> is 2, we start probing at </a:t>
            </a:r>
            <a:r>
              <a:rPr lang="en-US" sz="2800" dirty="0">
                <a:solidFill>
                  <a:schemeClr val="tx1"/>
                </a:solidFill>
                <a:cs typeface="Times New Roman" panose="02020603050405020304" pitchFamily="18" charset="0"/>
              </a:rPr>
              <a:t>ht[2]</a:t>
            </a:r>
            <a:r>
              <a:rPr lang="en-US" sz="2800" dirty="0">
                <a:solidFill>
                  <a:srgbClr val="70AD47">
                    <a:lumMod val="50000"/>
                  </a:srgbClr>
                </a:solidFill>
                <a:cs typeface="Times New Roman" panose="02020603050405020304" pitchFamily="18" charset="0"/>
              </a:rPr>
              <a:t> and when we hit the empty slot at </a:t>
            </a:r>
            <a:r>
              <a:rPr lang="en-US" sz="2800" dirty="0">
                <a:solidFill>
                  <a:schemeClr val="tx1"/>
                </a:solidFill>
                <a:cs typeface="Times New Roman" panose="02020603050405020304" pitchFamily="18" charset="0"/>
              </a:rPr>
              <a:t>ht[4]</a:t>
            </a:r>
            <a:r>
              <a:rPr lang="en-US" sz="2800" dirty="0">
                <a:solidFill>
                  <a:srgbClr val="70AD47">
                    <a:lumMod val="50000"/>
                  </a:srgbClr>
                </a:solidFill>
                <a:cs typeface="Times New Roman" panose="02020603050405020304" pitchFamily="18" charset="0"/>
              </a:rPr>
              <a:t> we quit and declare the search unsuccessful, Calle is not in the hash table ‒ oops</a:t>
            </a:r>
          </a:p>
          <a:p>
            <a:pPr>
              <a:lnSpc>
                <a:spcPct val="100000"/>
              </a:lnSpc>
              <a:spcBef>
                <a:spcPts val="600"/>
              </a:spcBef>
              <a:spcAft>
                <a:spcPts val="600"/>
              </a:spcAft>
            </a:pPr>
            <a:r>
              <a:rPr lang="en-US" sz="2800" dirty="0">
                <a:solidFill>
                  <a:srgbClr val="70AD47">
                    <a:lumMod val="50000"/>
                  </a:srgbClr>
                </a:solidFill>
                <a:cs typeface="Times New Roman" panose="02020603050405020304" pitchFamily="18" charset="0"/>
              </a:rPr>
              <a:t>The solution is lazy deletion ‒ to delete an entry we just set a status marker of some sort to indicate that the data that used to be there has been deleted</a:t>
            </a:r>
            <a:endParaRPr lang="en-US" sz="2800" dirty="0">
              <a:sym typeface="Symbol" panose="05050102010706020507" pitchFamily="18" charset="2"/>
            </a:endParaRPr>
          </a:p>
        </p:txBody>
      </p:sp>
      <p:sp>
        <p:nvSpPr>
          <p:cNvPr id="3" name="Title 2">
            <a:extLst>
              <a:ext uri="{FF2B5EF4-FFF2-40B4-BE49-F238E27FC236}">
                <a16:creationId xmlns:a16="http://schemas.microsoft.com/office/drawing/2014/main" id="{B59EA9AB-B2A1-431F-9113-07C451B032C3}"/>
              </a:ext>
            </a:extLst>
          </p:cNvPr>
          <p:cNvSpPr>
            <a:spLocks noGrp="1"/>
          </p:cNvSpPr>
          <p:nvPr>
            <p:ph type="title"/>
          </p:nvPr>
        </p:nvSpPr>
        <p:spPr>
          <a:xfrm>
            <a:off x="551794" y="924803"/>
            <a:ext cx="11117513" cy="517933"/>
          </a:xfrm>
        </p:spPr>
        <p:txBody>
          <a:bodyPr>
            <a:noAutofit/>
          </a:bodyPr>
          <a:lstStyle/>
          <a:p>
            <a:r>
              <a:rPr lang="en-US" sz="3200" dirty="0"/>
              <a:t>Lazy Deletion and Occupied/Empty/Deleted Slot</a:t>
            </a:r>
          </a:p>
        </p:txBody>
      </p:sp>
      <p:grpSp>
        <p:nvGrpSpPr>
          <p:cNvPr id="5" name="the hash table">
            <a:extLst>
              <a:ext uri="{FF2B5EF4-FFF2-40B4-BE49-F238E27FC236}">
                <a16:creationId xmlns:a16="http://schemas.microsoft.com/office/drawing/2014/main" id="{2583B8C4-D441-4422-B1EA-297081AF1A0E}"/>
              </a:ext>
            </a:extLst>
          </p:cNvPr>
          <p:cNvGrpSpPr/>
          <p:nvPr/>
        </p:nvGrpSpPr>
        <p:grpSpPr>
          <a:xfrm>
            <a:off x="9641403" y="2323382"/>
            <a:ext cx="2074094" cy="4405052"/>
            <a:chOff x="9143470" y="1302327"/>
            <a:chExt cx="2074094" cy="4405052"/>
          </a:xfrm>
        </p:grpSpPr>
        <p:grpSp>
          <p:nvGrpSpPr>
            <p:cNvPr id="7" name="Group 6">
              <a:extLst>
                <a:ext uri="{FF2B5EF4-FFF2-40B4-BE49-F238E27FC236}">
                  <a16:creationId xmlns:a16="http://schemas.microsoft.com/office/drawing/2014/main" id="{3B93C9A5-01BE-4152-9BED-BC778CBB4F51}"/>
                </a:ext>
              </a:extLst>
            </p:cNvPr>
            <p:cNvGrpSpPr/>
            <p:nvPr/>
          </p:nvGrpSpPr>
          <p:grpSpPr>
            <a:xfrm>
              <a:off x="10132291" y="1302327"/>
              <a:ext cx="1085273" cy="4382655"/>
              <a:chOff x="10497128" y="1302327"/>
              <a:chExt cx="720436" cy="4382655"/>
            </a:xfrm>
          </p:grpSpPr>
          <p:grpSp>
            <p:nvGrpSpPr>
              <p:cNvPr id="9" name="Group 8">
                <a:extLst>
                  <a:ext uri="{FF2B5EF4-FFF2-40B4-BE49-F238E27FC236}">
                    <a16:creationId xmlns:a16="http://schemas.microsoft.com/office/drawing/2014/main" id="{D17706EB-504C-4941-9CDB-E3C84B3B57A7}"/>
                  </a:ext>
                </a:extLst>
              </p:cNvPr>
              <p:cNvGrpSpPr/>
              <p:nvPr/>
            </p:nvGrpSpPr>
            <p:grpSpPr>
              <a:xfrm>
                <a:off x="10497128" y="1302327"/>
                <a:ext cx="720436" cy="4382655"/>
                <a:chOff x="10497128" y="1302327"/>
                <a:chExt cx="720436" cy="4382655"/>
              </a:xfrm>
            </p:grpSpPr>
            <p:cxnSp>
              <p:nvCxnSpPr>
                <p:cNvPr id="12" name="Straight Connector 11">
                  <a:extLst>
                    <a:ext uri="{FF2B5EF4-FFF2-40B4-BE49-F238E27FC236}">
                      <a16:creationId xmlns:a16="http://schemas.microsoft.com/office/drawing/2014/main" id="{22819F17-6CC2-4634-A46B-12405F5C84D5}"/>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AFFFF39-A34D-47A4-B08F-747517B68E20}"/>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F9A32EB-3BE8-4DBF-988C-0501E7FA6015}"/>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55C49D-4D70-4627-85A6-1D4E54BCE001}"/>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31364F-1810-40CC-BD10-21DA38C84241}"/>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92928AB-CF69-42D2-9167-A860E8FBBAC4}"/>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444134-9E6E-4EA0-90FB-88FE2E50951E}"/>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B2A708C-AB8A-497D-BE72-AE71234C56F9}"/>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EDDE3B-A12F-4A60-ADA7-7DA1062C97E8}"/>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C608939-20AF-443C-942A-29FD65E4D0C0}"/>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D46E38F-EA85-4EF2-87F7-8773F17ACD7A}"/>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C1ACE2D-1E39-47E9-8D65-E3487801A79D}"/>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D0758DD-8C17-4DB8-BF0C-2D3EDCB6062C}"/>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B219D63-17CC-47C7-BAB2-0D226A5BB51F}"/>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B4FF351F-4518-45AB-A3E5-FA97FE038EC5}"/>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D1627D9-31DE-4C82-829B-B937591AD797}"/>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31670E13-BFB2-4F49-96C0-C7B453569B69}"/>
                </a:ext>
              </a:extLst>
            </p:cNvPr>
            <p:cNvSpPr txBox="1"/>
            <p:nvPr/>
          </p:nvSpPr>
          <p:spPr>
            <a:xfrm>
              <a:off x="9143470" y="1302327"/>
              <a:ext cx="1085272" cy="4405052"/>
            </a:xfrm>
            <a:prstGeom prst="rect">
              <a:avLst/>
            </a:prstGeom>
            <a:noFill/>
          </p:spPr>
          <p:txBody>
            <a:bodyPr wrap="square" rtlCol="0">
              <a:spAutoFit/>
            </a:bodyPr>
            <a:lstStyle/>
            <a:p>
              <a:pPr algn="r">
                <a:lnSpc>
                  <a:spcPts val="2600"/>
                </a:lnSpc>
              </a:pPr>
              <a:r>
                <a:rPr lang="en-US" sz="1600" dirty="0">
                  <a:latin typeface="Times New Roman" panose="02020603050405020304" pitchFamily="18" charset="0"/>
                  <a:cs typeface="Times New Roman" panose="02020603050405020304" pitchFamily="18" charset="0"/>
                </a:rPr>
                <a:t>ht[0]</a:t>
              </a:r>
            </a:p>
            <a:p>
              <a:pPr algn="r">
                <a:lnSpc>
                  <a:spcPts val="2600"/>
                </a:lnSpc>
              </a:pPr>
              <a:r>
                <a:rPr lang="en-US" sz="1600" dirty="0">
                  <a:latin typeface="Times New Roman" panose="02020603050405020304" pitchFamily="18" charset="0"/>
                  <a:cs typeface="Times New Roman" panose="02020603050405020304" pitchFamily="18" charset="0"/>
                </a:rPr>
                <a:t>ht[1]</a:t>
              </a:r>
            </a:p>
            <a:p>
              <a:pPr algn="r">
                <a:lnSpc>
                  <a:spcPts val="2600"/>
                </a:lnSpc>
              </a:pPr>
              <a:r>
                <a:rPr lang="en-US" sz="1600" dirty="0">
                  <a:latin typeface="Times New Roman" panose="02020603050405020304" pitchFamily="18" charset="0"/>
                  <a:cs typeface="Times New Roman" panose="02020603050405020304" pitchFamily="18" charset="0"/>
                </a:rPr>
                <a:t>ht[2]</a:t>
              </a:r>
            </a:p>
            <a:p>
              <a:pPr algn="r">
                <a:lnSpc>
                  <a:spcPts val="2600"/>
                </a:lnSpc>
              </a:pPr>
              <a:r>
                <a:rPr lang="en-US" sz="1600" dirty="0">
                  <a:latin typeface="Times New Roman" panose="02020603050405020304" pitchFamily="18" charset="0"/>
                  <a:cs typeface="Times New Roman" panose="02020603050405020304" pitchFamily="18" charset="0"/>
                </a:rPr>
                <a:t>ht[3]</a:t>
              </a:r>
            </a:p>
            <a:p>
              <a:pPr algn="r">
                <a:lnSpc>
                  <a:spcPts val="2600"/>
                </a:lnSpc>
              </a:pPr>
              <a:r>
                <a:rPr lang="en-US" sz="1600" dirty="0">
                  <a:latin typeface="Times New Roman" panose="02020603050405020304" pitchFamily="18" charset="0"/>
                  <a:cs typeface="Times New Roman" panose="02020603050405020304" pitchFamily="18" charset="0"/>
                </a:rPr>
                <a:t>ht[4]</a:t>
              </a:r>
            </a:p>
            <a:p>
              <a:pPr algn="r">
                <a:lnSpc>
                  <a:spcPts val="2600"/>
                </a:lnSpc>
              </a:pPr>
              <a:r>
                <a:rPr lang="en-US" sz="1600" dirty="0">
                  <a:latin typeface="Times New Roman" panose="02020603050405020304" pitchFamily="18" charset="0"/>
                  <a:cs typeface="Times New Roman" panose="02020603050405020304" pitchFamily="18" charset="0"/>
                </a:rPr>
                <a:t>ht[5]</a:t>
              </a:r>
            </a:p>
            <a:p>
              <a:pPr algn="r">
                <a:lnSpc>
                  <a:spcPts val="2600"/>
                </a:lnSpc>
              </a:pPr>
              <a:r>
                <a:rPr lang="en-US" sz="1600" dirty="0">
                  <a:latin typeface="Times New Roman" panose="02020603050405020304" pitchFamily="18" charset="0"/>
                  <a:cs typeface="Times New Roman" panose="02020603050405020304" pitchFamily="18" charset="0"/>
                </a:rPr>
                <a:t>ht[6]</a:t>
              </a:r>
            </a:p>
            <a:p>
              <a:pPr algn="r">
                <a:lnSpc>
                  <a:spcPts val="2600"/>
                </a:lnSpc>
              </a:pPr>
              <a:r>
                <a:rPr lang="en-US" sz="1600" dirty="0">
                  <a:latin typeface="Times New Roman" panose="02020603050405020304" pitchFamily="18" charset="0"/>
                  <a:cs typeface="Times New Roman" panose="02020603050405020304" pitchFamily="18" charset="0"/>
                </a:rPr>
                <a:t>ht[7]</a:t>
              </a:r>
            </a:p>
            <a:p>
              <a:pPr algn="r">
                <a:lnSpc>
                  <a:spcPts val="2600"/>
                </a:lnSpc>
              </a:pPr>
              <a:r>
                <a:rPr lang="en-US" sz="1600" dirty="0">
                  <a:latin typeface="Times New Roman" panose="02020603050405020304" pitchFamily="18" charset="0"/>
                  <a:cs typeface="Times New Roman" panose="02020603050405020304" pitchFamily="18" charset="0"/>
                </a:rPr>
                <a:t>ht[8]</a:t>
              </a:r>
            </a:p>
            <a:p>
              <a:pPr algn="r">
                <a:lnSpc>
                  <a:spcPts val="2600"/>
                </a:lnSpc>
              </a:pPr>
              <a:r>
                <a:rPr lang="en-US" sz="1600" dirty="0">
                  <a:latin typeface="Times New Roman" panose="02020603050405020304" pitchFamily="18" charset="0"/>
                  <a:cs typeface="Times New Roman" panose="02020603050405020304" pitchFamily="18" charset="0"/>
                </a:rPr>
                <a:t>ht[9]</a:t>
              </a:r>
            </a:p>
            <a:p>
              <a:pPr algn="r">
                <a:lnSpc>
                  <a:spcPts val="2600"/>
                </a:lnSpc>
              </a:pPr>
              <a:r>
                <a:rPr lang="en-US" sz="1600" dirty="0">
                  <a:latin typeface="Times New Roman" panose="02020603050405020304" pitchFamily="18" charset="0"/>
                  <a:cs typeface="Times New Roman" panose="02020603050405020304" pitchFamily="18" charset="0"/>
                </a:rPr>
                <a:t>ht[10]</a:t>
              </a:r>
            </a:p>
            <a:p>
              <a:pPr algn="r">
                <a:lnSpc>
                  <a:spcPts val="2600"/>
                </a:lnSpc>
              </a:pPr>
              <a:r>
                <a:rPr lang="en-US" sz="1600" dirty="0">
                  <a:latin typeface="Times New Roman" panose="02020603050405020304" pitchFamily="18" charset="0"/>
                  <a:cs typeface="Times New Roman" panose="02020603050405020304" pitchFamily="18" charset="0"/>
                </a:rPr>
                <a:t>ht[11]</a:t>
              </a:r>
            </a:p>
            <a:p>
              <a:pPr algn="r">
                <a:lnSpc>
                  <a:spcPts val="2600"/>
                </a:lnSpc>
              </a:pPr>
              <a:r>
                <a:rPr lang="en-US" sz="1600" dirty="0">
                  <a:latin typeface="Times New Roman" panose="02020603050405020304" pitchFamily="18" charset="0"/>
                  <a:cs typeface="Times New Roman" panose="02020603050405020304" pitchFamily="18" charset="0"/>
                </a:rPr>
                <a:t>ht[12]</a:t>
              </a:r>
            </a:p>
          </p:txBody>
        </p:sp>
      </p:grpSp>
      <p:sp>
        <p:nvSpPr>
          <p:cNvPr id="27" name="TextBox 26">
            <a:extLst>
              <a:ext uri="{FF2B5EF4-FFF2-40B4-BE49-F238E27FC236}">
                <a16:creationId xmlns:a16="http://schemas.microsoft.com/office/drawing/2014/main" id="{FB2258E6-33D3-4A8D-91BE-A5EDB6454103}"/>
              </a:ext>
            </a:extLst>
          </p:cNvPr>
          <p:cNvSpPr txBox="1"/>
          <p:nvPr/>
        </p:nvSpPr>
        <p:spPr>
          <a:xfrm>
            <a:off x="10715658" y="2263253"/>
            <a:ext cx="953649" cy="4493538"/>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Cook</a:t>
            </a:r>
          </a:p>
          <a:p>
            <a:r>
              <a:rPr lang="en-US" sz="2200" dirty="0">
                <a:latin typeface="Times New Roman" panose="02020603050405020304" pitchFamily="18" charset="0"/>
                <a:cs typeface="Times New Roman" panose="02020603050405020304" pitchFamily="18" charset="0"/>
              </a:rPr>
              <a:t>Davis</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Frank</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BE0F616-566B-4C94-B9ED-2BCDDF656AA4}"/>
              </a:ext>
            </a:extLst>
          </p:cNvPr>
          <p:cNvSpPr txBox="1"/>
          <p:nvPr/>
        </p:nvSpPr>
        <p:spPr>
          <a:xfrm>
            <a:off x="10781740" y="4310464"/>
            <a:ext cx="868220"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Calle</a:t>
            </a:r>
          </a:p>
        </p:txBody>
      </p:sp>
      <p:sp>
        <p:nvSpPr>
          <p:cNvPr id="29" name="TextBox 28">
            <a:extLst>
              <a:ext uri="{FF2B5EF4-FFF2-40B4-BE49-F238E27FC236}">
                <a16:creationId xmlns:a16="http://schemas.microsoft.com/office/drawing/2014/main" id="{9920F248-D46A-427E-80D1-55069D94E9D5}"/>
              </a:ext>
            </a:extLst>
          </p:cNvPr>
          <p:cNvSpPr txBox="1"/>
          <p:nvPr/>
        </p:nvSpPr>
        <p:spPr>
          <a:xfrm>
            <a:off x="10762393" y="3677444"/>
            <a:ext cx="868220"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Earl</a:t>
            </a:r>
          </a:p>
        </p:txBody>
      </p:sp>
      <p:grpSp>
        <p:nvGrpSpPr>
          <p:cNvPr id="31" name="Group 30">
            <a:extLst>
              <a:ext uri="{FF2B5EF4-FFF2-40B4-BE49-F238E27FC236}">
                <a16:creationId xmlns:a16="http://schemas.microsoft.com/office/drawing/2014/main" id="{ABDE0652-CFCA-44FC-9AE4-7D86D1CE8FBD}"/>
              </a:ext>
            </a:extLst>
          </p:cNvPr>
          <p:cNvGrpSpPr/>
          <p:nvPr/>
        </p:nvGrpSpPr>
        <p:grpSpPr>
          <a:xfrm>
            <a:off x="10564687" y="3685867"/>
            <a:ext cx="1085273" cy="337127"/>
            <a:chOff x="10630224" y="2836761"/>
            <a:chExt cx="1085273" cy="337127"/>
          </a:xfrm>
        </p:grpSpPr>
        <p:cxnSp>
          <p:nvCxnSpPr>
            <p:cNvPr id="6" name="Straight Connector 5">
              <a:extLst>
                <a:ext uri="{FF2B5EF4-FFF2-40B4-BE49-F238E27FC236}">
                  <a16:creationId xmlns:a16="http://schemas.microsoft.com/office/drawing/2014/main" id="{AA16544B-0663-4E2E-BFB4-41655C971430}"/>
                </a:ext>
              </a:extLst>
            </p:cNvPr>
            <p:cNvCxnSpPr>
              <a:cxnSpLocks/>
            </p:cNvCxnSpPr>
            <p:nvPr/>
          </p:nvCxnSpPr>
          <p:spPr>
            <a:xfrm flipV="1">
              <a:off x="10630224" y="2836761"/>
              <a:ext cx="1085273" cy="337127"/>
            </a:xfrm>
            <a:prstGeom prst="line">
              <a:avLst/>
            </a:prstGeom>
            <a:ln w="28575">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5065CB5-9F9B-423B-8FE4-741627C14592}"/>
                </a:ext>
              </a:extLst>
            </p:cNvPr>
            <p:cNvCxnSpPr>
              <a:cxnSpLocks/>
            </p:cNvCxnSpPr>
            <p:nvPr/>
          </p:nvCxnSpPr>
          <p:spPr>
            <a:xfrm flipH="1" flipV="1">
              <a:off x="10630224" y="2836761"/>
              <a:ext cx="1085273" cy="337127"/>
            </a:xfrm>
            <a:prstGeom prst="line">
              <a:avLst/>
            </a:prstGeom>
            <a:ln w="28575">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2" name="Arrow: Right 31">
            <a:extLst>
              <a:ext uri="{FF2B5EF4-FFF2-40B4-BE49-F238E27FC236}">
                <a16:creationId xmlns:a16="http://schemas.microsoft.com/office/drawing/2014/main" id="{A1176BAB-6A8C-406F-99EF-94E523D4A186}"/>
              </a:ext>
            </a:extLst>
          </p:cNvPr>
          <p:cNvSpPr/>
          <p:nvPr/>
        </p:nvSpPr>
        <p:spPr>
          <a:xfrm>
            <a:off x="9419965" y="3749446"/>
            <a:ext cx="555719" cy="259571"/>
          </a:xfrm>
          <a:prstGeom prst="rightArrow">
            <a:avLst>
              <a:gd name="adj1" fmla="val 71378"/>
              <a:gd name="adj2" fmla="val 111418"/>
            </a:avLst>
          </a:prstGeom>
          <a:solidFill>
            <a:schemeClr val="accent6">
              <a:lumMod val="75000"/>
            </a:schemeClr>
          </a:solidFill>
          <a:ln w="3175">
            <a:no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0" bIns="91440" numCol="1" spcCol="0" rtlCol="0" fromWordArt="0" anchor="ctr" anchorCtr="0" forceAA="0" compatLnSpc="1">
            <a:prstTxWarp prst="textNoShape">
              <a:avLst/>
            </a:prstTxWarp>
            <a:noAutofit/>
          </a:bodyPr>
          <a:lstStyle/>
          <a:p>
            <a:pPr algn="l">
              <a:lnSpc>
                <a:spcPct val="80000"/>
              </a:lnSpc>
              <a:spcBef>
                <a:spcPts val="600"/>
              </a:spcBef>
            </a:pPr>
            <a:endParaRPr lang="en-US" sz="2000" dirty="0">
              <a:solidFill>
                <a:srgbClr val="422C1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6434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5000" fill="hold" grpId="1" nodeType="clickEffect">
                                  <p:stCondLst>
                                    <p:cond delay="0"/>
                                  </p:stCondLst>
                                  <p:childTnLst>
                                    <p:anim calcmode="discrete" valueType="str">
                                      <p:cBhvr>
                                        <p:cTn id="6" dur="300" fill="hold"/>
                                        <p:tgtEl>
                                          <p:spTgt spid="29"/>
                                        </p:tgtEl>
                                        <p:attrNameLst>
                                          <p:attrName>style.visibility</p:attrName>
                                        </p:attrNameLst>
                                      </p:cBhvr>
                                      <p:tavLst>
                                        <p:tav tm="0">
                                          <p:val>
                                            <p:strVal val="hidden"/>
                                          </p:val>
                                        </p:tav>
                                        <p:tav tm="50000">
                                          <p:val>
                                            <p:strVal val="visible"/>
                                          </p:val>
                                        </p:tav>
                                      </p:tavLst>
                                    </p:anim>
                                  </p:childTnLst>
                                </p:cTn>
                              </p:par>
                              <p:par>
                                <p:cTn id="7" presetID="10"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animEffect transition="in" filter="fade">
                                      <p:cBhvr>
                                        <p:cTn id="9" dur="500"/>
                                        <p:tgtEl>
                                          <p:spTgt spid="32"/>
                                        </p:tgtEl>
                                      </p:cBhvr>
                                    </p:animEffect>
                                  </p:childTnLst>
                                </p:cTn>
                              </p:par>
                            </p:childTnLst>
                          </p:cTn>
                        </p:par>
                        <p:par>
                          <p:cTn id="10" fill="hold">
                            <p:stCondLst>
                              <p:cond delay="1500"/>
                            </p:stCondLst>
                            <p:childTnLst>
                              <p:par>
                                <p:cTn id="11" presetID="5" presetClass="exit" presetSubtype="10" fill="hold" grpId="0" nodeType="afterEffect">
                                  <p:stCondLst>
                                    <p:cond delay="0"/>
                                  </p:stCondLst>
                                  <p:childTnLst>
                                    <p:animEffect transition="out" filter="checkerboard(across)">
                                      <p:cBhvr>
                                        <p:cTn id="12" dur="500"/>
                                        <p:tgtEl>
                                          <p:spTgt spid="29"/>
                                        </p:tgtEl>
                                      </p:cBhvr>
                                    </p:animEffect>
                                    <p:set>
                                      <p:cBhvr>
                                        <p:cTn id="13" dur="1" fill="hold">
                                          <p:stCondLst>
                                            <p:cond delay="499"/>
                                          </p:stCondLst>
                                        </p:cTn>
                                        <p:tgtEl>
                                          <p:spTgt spid="29"/>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Effect transition="in" filter="fade">
                                      <p:cBhvr>
                                        <p:cTn id="18" dur="500"/>
                                        <p:tgtEl>
                                          <p:spTgt spid="2">
                                            <p:txEl>
                                              <p:pRg st="1" end="1"/>
                                            </p:txEl>
                                          </p:spTgt>
                                        </p:tgtEl>
                                      </p:cBhvr>
                                    </p:animEffect>
                                  </p:childTnLst>
                                </p:cTn>
                              </p:par>
                              <p:par>
                                <p:cTn id="19" presetID="1" presetClass="exit" presetSubtype="0" fill="hold" grpId="1" nodeType="withEffect">
                                  <p:stCondLst>
                                    <p:cond delay="0"/>
                                  </p:stCondLst>
                                  <p:childTnLst>
                                    <p:set>
                                      <p:cBhvr>
                                        <p:cTn id="20" dur="1" fill="hold">
                                          <p:stCondLst>
                                            <p:cond delay="0"/>
                                          </p:stCondLst>
                                        </p:cTn>
                                        <p:tgtEl>
                                          <p:spTgt spid="32"/>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Effect transition="in" filter="fade">
                                      <p:cBhvr>
                                        <p:cTn id="25" dur="500"/>
                                        <p:tgtEl>
                                          <p:spTgt spid="2">
                                            <p:txEl>
                                              <p:pRg st="2" end="2"/>
                                            </p:txEl>
                                          </p:spTgt>
                                        </p:tgtEl>
                                      </p:cBhvr>
                                    </p:animEffect>
                                  </p:childTnLst>
                                </p:cTn>
                              </p:par>
                            </p:childTnLst>
                          </p:cTn>
                        </p:par>
                        <p:par>
                          <p:cTn id="26" fill="hold">
                            <p:stCondLst>
                              <p:cond delay="500"/>
                            </p:stCondLst>
                            <p:childTnLst>
                              <p:par>
                                <p:cTn id="27" presetID="1" presetClass="entr" presetSubtype="0" fill="hold" grpId="2" nodeType="after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3" presetClass="emph" presetSubtype="2" fill="hold" grpId="4" nodeType="withEffect">
                                  <p:stCondLst>
                                    <p:cond delay="0"/>
                                  </p:stCondLst>
                                  <p:childTnLst>
                                    <p:animClr clrSpc="rgb" dir="cw">
                                      <p:cBhvr override="childStyle">
                                        <p:cTn id="30" dur="500" fill="hold"/>
                                        <p:tgtEl>
                                          <p:spTgt spid="29"/>
                                        </p:tgtEl>
                                        <p:attrNameLst>
                                          <p:attrName>style.color</p:attrName>
                                        </p:attrNameLst>
                                      </p:cBhvr>
                                      <p:to>
                                        <a:srgbClr val="2F5496"/>
                                      </p:to>
                                    </p:animClr>
                                  </p:childTnLst>
                                </p:cTn>
                              </p:par>
                              <p:par>
                                <p:cTn id="31" presetID="35" presetClass="emph" presetSubtype="0" repeatCount="5000" fill="hold" grpId="3" nodeType="withEffect">
                                  <p:stCondLst>
                                    <p:cond delay="0"/>
                                  </p:stCondLst>
                                  <p:childTnLst>
                                    <p:anim calcmode="discrete" valueType="str">
                                      <p:cBhvr>
                                        <p:cTn id="32" dur="300" fill="hold"/>
                                        <p:tgtEl>
                                          <p:spTgt spid="29"/>
                                        </p:tgtEl>
                                        <p:attrNameLst>
                                          <p:attrName>style.visibility</p:attrName>
                                        </p:attrNameLst>
                                      </p:cBhvr>
                                      <p:tavLst>
                                        <p:tav tm="0">
                                          <p:val>
                                            <p:strVal val="hidden"/>
                                          </p:val>
                                        </p:tav>
                                        <p:tav tm="50000">
                                          <p:val>
                                            <p:strVal val="visible"/>
                                          </p:val>
                                        </p:tav>
                                      </p:tavLst>
                                    </p:anim>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35" presetClass="emph" presetSubtype="0" repeatCount="5000" fill="hold" nodeType="withEffect">
                                  <p:stCondLst>
                                    <p:cond delay="0"/>
                                  </p:stCondLst>
                                  <p:childTnLst>
                                    <p:anim calcmode="discrete" valueType="str">
                                      <p:cBhvr>
                                        <p:cTn id="36" dur="300" fill="hold"/>
                                        <p:tgtEl>
                                          <p:spTgt spid="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29" grpId="0"/>
      <p:bldP spid="29" grpId="1"/>
      <p:bldP spid="29" grpId="2"/>
      <p:bldP spid="29" grpId="3"/>
      <p:bldP spid="29" grpId="4"/>
      <p:bldP spid="32" grpId="0" animBg="1"/>
      <p:bldP spid="32"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BD9D9-83CD-4234-AD50-27B24199753D}"/>
              </a:ext>
            </a:extLst>
          </p:cNvPr>
          <p:cNvSpPr>
            <a:spLocks noGrp="1"/>
          </p:cNvSpPr>
          <p:nvPr>
            <p:ph idx="1"/>
          </p:nvPr>
        </p:nvSpPr>
        <p:spPr>
          <a:xfrm>
            <a:off x="280804" y="1845870"/>
            <a:ext cx="9270126" cy="3166260"/>
          </a:xfrm>
        </p:spPr>
        <p:txBody>
          <a:bodyPr anchor="t" anchorCtr="0">
            <a:noAutofit/>
          </a:bodyPr>
          <a:lstStyle/>
          <a:p>
            <a:pPr>
              <a:lnSpc>
                <a:spcPct val="100000"/>
              </a:lnSpc>
              <a:spcAft>
                <a:spcPts val="400"/>
              </a:spcAft>
            </a:pPr>
            <a:r>
              <a:rPr lang="en-US" sz="2800" dirty="0">
                <a:solidFill>
                  <a:srgbClr val="70AD47">
                    <a:lumMod val="50000"/>
                  </a:srgbClr>
                </a:solidFill>
                <a:cs typeface="Times New Roman" panose="02020603050405020304" pitchFamily="18" charset="0"/>
              </a:rPr>
              <a:t>So open addressing (all three types, not just linear open) needs to distinguish among 3 conditions:</a:t>
            </a:r>
          </a:p>
          <a:p>
            <a:pPr marL="1025525" lvl="1" indent="-457200">
              <a:lnSpc>
                <a:spcPct val="100000"/>
              </a:lnSpc>
              <a:spcBef>
                <a:spcPts val="0"/>
              </a:spcBef>
              <a:spcAft>
                <a:spcPts val="400"/>
              </a:spcAft>
              <a:buFont typeface="+mj-lt"/>
              <a:buAutoNum type="arabicPeriod"/>
            </a:pPr>
            <a:r>
              <a:rPr lang="en-US" sz="2800" dirty="0">
                <a:solidFill>
                  <a:srgbClr val="70AD47">
                    <a:lumMod val="50000"/>
                  </a:srgbClr>
                </a:solidFill>
                <a:cs typeface="Times New Roman" panose="02020603050405020304" pitchFamily="18" charset="0"/>
              </a:rPr>
              <a:t>Currently occupied</a:t>
            </a:r>
          </a:p>
          <a:p>
            <a:pPr marL="1025525" lvl="1" indent="-457200">
              <a:lnSpc>
                <a:spcPct val="100000"/>
              </a:lnSpc>
              <a:spcBef>
                <a:spcPts val="0"/>
              </a:spcBef>
              <a:spcAft>
                <a:spcPts val="400"/>
              </a:spcAft>
              <a:buFont typeface="+mj-lt"/>
              <a:buAutoNum type="arabicPeriod"/>
            </a:pPr>
            <a:r>
              <a:rPr lang="en-US" sz="2800" dirty="0">
                <a:solidFill>
                  <a:srgbClr val="70AD47">
                    <a:lumMod val="50000"/>
                  </a:srgbClr>
                </a:solidFill>
                <a:cs typeface="Times New Roman" panose="02020603050405020304" pitchFamily="18" charset="0"/>
              </a:rPr>
              <a:t>Previously deleted</a:t>
            </a:r>
          </a:p>
          <a:p>
            <a:pPr marL="1025525" lvl="1" indent="-457200">
              <a:lnSpc>
                <a:spcPct val="100000"/>
              </a:lnSpc>
              <a:spcBef>
                <a:spcPts val="0"/>
              </a:spcBef>
              <a:spcAft>
                <a:spcPts val="400"/>
              </a:spcAft>
              <a:buFont typeface="+mj-lt"/>
              <a:buAutoNum type="arabicPeriod"/>
            </a:pPr>
            <a:r>
              <a:rPr lang="en-US" sz="2800" dirty="0">
                <a:solidFill>
                  <a:srgbClr val="70AD47">
                    <a:lumMod val="50000"/>
                  </a:srgbClr>
                </a:solidFill>
                <a:cs typeface="Times New Roman" panose="02020603050405020304" pitchFamily="18" charset="0"/>
              </a:rPr>
              <a:t>Never occupied</a:t>
            </a:r>
          </a:p>
          <a:p>
            <a:pPr>
              <a:lnSpc>
                <a:spcPct val="100000"/>
              </a:lnSpc>
              <a:spcBef>
                <a:spcPts val="600"/>
              </a:spcBef>
              <a:spcAft>
                <a:spcPts val="400"/>
              </a:spcAft>
            </a:pPr>
            <a:r>
              <a:rPr lang="en-US" sz="2800" dirty="0">
                <a:solidFill>
                  <a:srgbClr val="70AD47">
                    <a:lumMod val="50000"/>
                  </a:srgbClr>
                </a:solidFill>
                <a:cs typeface="Times New Roman" panose="02020603050405020304" pitchFamily="18" charset="0"/>
              </a:rPr>
              <a:t>The search function can skip over previously deleted slots and keep probing to terminate successfully if the key is found in a currently occupied slot, unsuccessfully if the probe sequence hits a never occupied slot</a:t>
            </a:r>
          </a:p>
          <a:p>
            <a:pPr>
              <a:lnSpc>
                <a:spcPct val="100000"/>
              </a:lnSpc>
              <a:spcBef>
                <a:spcPts val="600"/>
              </a:spcBef>
              <a:spcAft>
                <a:spcPts val="400"/>
              </a:spcAft>
            </a:pPr>
            <a:r>
              <a:rPr lang="en-US" sz="2800" dirty="0">
                <a:solidFill>
                  <a:srgbClr val="70AD47">
                    <a:lumMod val="50000"/>
                  </a:srgbClr>
                </a:solidFill>
                <a:cs typeface="Times New Roman" panose="02020603050405020304" pitchFamily="18" charset="0"/>
              </a:rPr>
              <a:t>But insertion can use an empty or a previously deleted slot</a:t>
            </a:r>
            <a:endParaRPr lang="en-US" dirty="0">
              <a:sym typeface="Symbol" panose="05050102010706020507" pitchFamily="18" charset="2"/>
            </a:endParaRPr>
          </a:p>
        </p:txBody>
      </p:sp>
      <p:sp>
        <p:nvSpPr>
          <p:cNvPr id="3" name="Title 2">
            <a:extLst>
              <a:ext uri="{FF2B5EF4-FFF2-40B4-BE49-F238E27FC236}">
                <a16:creationId xmlns:a16="http://schemas.microsoft.com/office/drawing/2014/main" id="{B59EA9AB-B2A1-431F-9113-07C451B032C3}"/>
              </a:ext>
            </a:extLst>
          </p:cNvPr>
          <p:cNvSpPr>
            <a:spLocks noGrp="1"/>
          </p:cNvSpPr>
          <p:nvPr>
            <p:ph type="title"/>
          </p:nvPr>
        </p:nvSpPr>
        <p:spPr>
          <a:xfrm>
            <a:off x="557706" y="1101144"/>
            <a:ext cx="12192000" cy="517933"/>
          </a:xfrm>
        </p:spPr>
        <p:txBody>
          <a:bodyPr>
            <a:noAutofit/>
          </a:bodyPr>
          <a:lstStyle/>
          <a:p>
            <a:r>
              <a:rPr lang="en-US" dirty="0"/>
              <a:t>Lazy Deletion and Occupied/Empty/Deleted Slot Status</a:t>
            </a:r>
          </a:p>
        </p:txBody>
      </p:sp>
      <p:grpSp>
        <p:nvGrpSpPr>
          <p:cNvPr id="5" name="the hash table">
            <a:extLst>
              <a:ext uri="{FF2B5EF4-FFF2-40B4-BE49-F238E27FC236}">
                <a16:creationId xmlns:a16="http://schemas.microsoft.com/office/drawing/2014/main" id="{2583B8C4-D441-4422-B1EA-297081AF1A0E}"/>
              </a:ext>
            </a:extLst>
          </p:cNvPr>
          <p:cNvGrpSpPr/>
          <p:nvPr/>
        </p:nvGrpSpPr>
        <p:grpSpPr>
          <a:xfrm>
            <a:off x="9308558" y="2452948"/>
            <a:ext cx="2097542" cy="4405052"/>
            <a:chOff x="9120022" y="1302327"/>
            <a:chExt cx="2097542" cy="4405052"/>
          </a:xfrm>
        </p:grpSpPr>
        <p:grpSp>
          <p:nvGrpSpPr>
            <p:cNvPr id="7" name="Group 6">
              <a:extLst>
                <a:ext uri="{FF2B5EF4-FFF2-40B4-BE49-F238E27FC236}">
                  <a16:creationId xmlns:a16="http://schemas.microsoft.com/office/drawing/2014/main" id="{3B93C9A5-01BE-4152-9BED-BC778CBB4F51}"/>
                </a:ext>
              </a:extLst>
            </p:cNvPr>
            <p:cNvGrpSpPr/>
            <p:nvPr/>
          </p:nvGrpSpPr>
          <p:grpSpPr>
            <a:xfrm>
              <a:off x="10132291" y="1302327"/>
              <a:ext cx="1085273" cy="4382655"/>
              <a:chOff x="10497128" y="1302327"/>
              <a:chExt cx="720436" cy="4382655"/>
            </a:xfrm>
          </p:grpSpPr>
          <p:grpSp>
            <p:nvGrpSpPr>
              <p:cNvPr id="9" name="Group 8">
                <a:extLst>
                  <a:ext uri="{FF2B5EF4-FFF2-40B4-BE49-F238E27FC236}">
                    <a16:creationId xmlns:a16="http://schemas.microsoft.com/office/drawing/2014/main" id="{D17706EB-504C-4941-9CDB-E3C84B3B57A7}"/>
                  </a:ext>
                </a:extLst>
              </p:cNvPr>
              <p:cNvGrpSpPr/>
              <p:nvPr/>
            </p:nvGrpSpPr>
            <p:grpSpPr>
              <a:xfrm>
                <a:off x="10497128" y="1302327"/>
                <a:ext cx="720436" cy="4382655"/>
                <a:chOff x="10497128" y="1302327"/>
                <a:chExt cx="720436" cy="4382655"/>
              </a:xfrm>
            </p:grpSpPr>
            <p:cxnSp>
              <p:nvCxnSpPr>
                <p:cNvPr id="12" name="Straight Connector 11">
                  <a:extLst>
                    <a:ext uri="{FF2B5EF4-FFF2-40B4-BE49-F238E27FC236}">
                      <a16:creationId xmlns:a16="http://schemas.microsoft.com/office/drawing/2014/main" id="{22819F17-6CC2-4634-A46B-12405F5C84D5}"/>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AFFFF39-A34D-47A4-B08F-747517B68E20}"/>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F9A32EB-3BE8-4DBF-988C-0501E7FA6015}"/>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55C49D-4D70-4627-85A6-1D4E54BCE001}"/>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31364F-1810-40CC-BD10-21DA38C84241}"/>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92928AB-CF69-42D2-9167-A860E8FBBAC4}"/>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444134-9E6E-4EA0-90FB-88FE2E50951E}"/>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B2A708C-AB8A-497D-BE72-AE71234C56F9}"/>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EDDE3B-A12F-4A60-ADA7-7DA1062C97E8}"/>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C608939-20AF-443C-942A-29FD65E4D0C0}"/>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D46E38F-EA85-4EF2-87F7-8773F17ACD7A}"/>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C1ACE2D-1E39-47E9-8D65-E3487801A79D}"/>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D0758DD-8C17-4DB8-BF0C-2D3EDCB6062C}"/>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B219D63-17CC-47C7-BAB2-0D226A5BB51F}"/>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B4FF351F-4518-45AB-A3E5-FA97FE038EC5}"/>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D1627D9-31DE-4C82-829B-B937591AD797}"/>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31670E13-BFB2-4F49-96C0-C7B453569B69}"/>
                </a:ext>
              </a:extLst>
            </p:cNvPr>
            <p:cNvSpPr txBox="1"/>
            <p:nvPr/>
          </p:nvSpPr>
          <p:spPr>
            <a:xfrm>
              <a:off x="9120022" y="1302327"/>
              <a:ext cx="1085273" cy="4405052"/>
            </a:xfrm>
            <a:prstGeom prst="rect">
              <a:avLst/>
            </a:prstGeom>
            <a:noFill/>
          </p:spPr>
          <p:txBody>
            <a:bodyPr wrap="square" rtlCol="0">
              <a:spAutoFit/>
            </a:bodyPr>
            <a:lstStyle/>
            <a:p>
              <a:pPr algn="r">
                <a:lnSpc>
                  <a:spcPts val="2600"/>
                </a:lnSpc>
              </a:pPr>
              <a:r>
                <a:rPr lang="en-US" sz="1600" dirty="0">
                  <a:latin typeface="Times New Roman" panose="02020603050405020304" pitchFamily="18" charset="0"/>
                  <a:cs typeface="Times New Roman" panose="02020603050405020304" pitchFamily="18" charset="0"/>
                </a:rPr>
                <a:t>ht[0]</a:t>
              </a:r>
            </a:p>
            <a:p>
              <a:pPr algn="r">
                <a:lnSpc>
                  <a:spcPts val="2600"/>
                </a:lnSpc>
              </a:pPr>
              <a:r>
                <a:rPr lang="en-US" sz="1600" dirty="0">
                  <a:latin typeface="Times New Roman" panose="02020603050405020304" pitchFamily="18" charset="0"/>
                  <a:cs typeface="Times New Roman" panose="02020603050405020304" pitchFamily="18" charset="0"/>
                </a:rPr>
                <a:t>ht[1]</a:t>
              </a:r>
            </a:p>
            <a:p>
              <a:pPr algn="r">
                <a:lnSpc>
                  <a:spcPts val="2600"/>
                </a:lnSpc>
              </a:pPr>
              <a:r>
                <a:rPr lang="en-US" sz="1600" dirty="0">
                  <a:latin typeface="Times New Roman" panose="02020603050405020304" pitchFamily="18" charset="0"/>
                  <a:cs typeface="Times New Roman" panose="02020603050405020304" pitchFamily="18" charset="0"/>
                </a:rPr>
                <a:t>ht[2]</a:t>
              </a:r>
            </a:p>
            <a:p>
              <a:pPr algn="r">
                <a:lnSpc>
                  <a:spcPts val="2600"/>
                </a:lnSpc>
              </a:pPr>
              <a:r>
                <a:rPr lang="en-US" sz="1600" dirty="0">
                  <a:latin typeface="Times New Roman" panose="02020603050405020304" pitchFamily="18" charset="0"/>
                  <a:cs typeface="Times New Roman" panose="02020603050405020304" pitchFamily="18" charset="0"/>
                </a:rPr>
                <a:t>ht[3]</a:t>
              </a:r>
            </a:p>
            <a:p>
              <a:pPr algn="r">
                <a:lnSpc>
                  <a:spcPts val="2600"/>
                </a:lnSpc>
              </a:pPr>
              <a:r>
                <a:rPr lang="en-US" sz="1600" dirty="0">
                  <a:latin typeface="Times New Roman" panose="02020603050405020304" pitchFamily="18" charset="0"/>
                  <a:cs typeface="Times New Roman" panose="02020603050405020304" pitchFamily="18" charset="0"/>
                </a:rPr>
                <a:t>ht[4]</a:t>
              </a:r>
            </a:p>
            <a:p>
              <a:pPr algn="r">
                <a:lnSpc>
                  <a:spcPts val="2600"/>
                </a:lnSpc>
              </a:pPr>
              <a:r>
                <a:rPr lang="en-US" sz="1600" dirty="0">
                  <a:latin typeface="Times New Roman" panose="02020603050405020304" pitchFamily="18" charset="0"/>
                  <a:cs typeface="Times New Roman" panose="02020603050405020304" pitchFamily="18" charset="0"/>
                </a:rPr>
                <a:t>ht[5]</a:t>
              </a:r>
            </a:p>
            <a:p>
              <a:pPr algn="r">
                <a:lnSpc>
                  <a:spcPts val="2600"/>
                </a:lnSpc>
              </a:pPr>
              <a:r>
                <a:rPr lang="en-US" sz="1600" dirty="0">
                  <a:latin typeface="Times New Roman" panose="02020603050405020304" pitchFamily="18" charset="0"/>
                  <a:cs typeface="Times New Roman" panose="02020603050405020304" pitchFamily="18" charset="0"/>
                </a:rPr>
                <a:t>ht[6]</a:t>
              </a:r>
            </a:p>
            <a:p>
              <a:pPr algn="r">
                <a:lnSpc>
                  <a:spcPts val="2600"/>
                </a:lnSpc>
              </a:pPr>
              <a:r>
                <a:rPr lang="en-US" sz="1600" dirty="0">
                  <a:latin typeface="Times New Roman" panose="02020603050405020304" pitchFamily="18" charset="0"/>
                  <a:cs typeface="Times New Roman" panose="02020603050405020304" pitchFamily="18" charset="0"/>
                </a:rPr>
                <a:t>ht[7]</a:t>
              </a:r>
            </a:p>
            <a:p>
              <a:pPr algn="r">
                <a:lnSpc>
                  <a:spcPts val="2600"/>
                </a:lnSpc>
              </a:pPr>
              <a:r>
                <a:rPr lang="en-US" sz="1600" dirty="0">
                  <a:latin typeface="Times New Roman" panose="02020603050405020304" pitchFamily="18" charset="0"/>
                  <a:cs typeface="Times New Roman" panose="02020603050405020304" pitchFamily="18" charset="0"/>
                </a:rPr>
                <a:t>ht[8]</a:t>
              </a:r>
            </a:p>
            <a:p>
              <a:pPr algn="r">
                <a:lnSpc>
                  <a:spcPts val="2600"/>
                </a:lnSpc>
              </a:pPr>
              <a:r>
                <a:rPr lang="en-US" sz="1600" dirty="0">
                  <a:latin typeface="Times New Roman" panose="02020603050405020304" pitchFamily="18" charset="0"/>
                  <a:cs typeface="Times New Roman" panose="02020603050405020304" pitchFamily="18" charset="0"/>
                </a:rPr>
                <a:t>ht[9]</a:t>
              </a:r>
            </a:p>
            <a:p>
              <a:pPr algn="r">
                <a:lnSpc>
                  <a:spcPts val="2600"/>
                </a:lnSpc>
              </a:pPr>
              <a:r>
                <a:rPr lang="en-US" sz="1600" dirty="0">
                  <a:latin typeface="Times New Roman" panose="02020603050405020304" pitchFamily="18" charset="0"/>
                  <a:cs typeface="Times New Roman" panose="02020603050405020304" pitchFamily="18" charset="0"/>
                </a:rPr>
                <a:t>ht[10]</a:t>
              </a:r>
            </a:p>
            <a:p>
              <a:pPr algn="r">
                <a:lnSpc>
                  <a:spcPts val="2600"/>
                </a:lnSpc>
              </a:pPr>
              <a:r>
                <a:rPr lang="en-US" sz="1600" dirty="0">
                  <a:latin typeface="Times New Roman" panose="02020603050405020304" pitchFamily="18" charset="0"/>
                  <a:cs typeface="Times New Roman" panose="02020603050405020304" pitchFamily="18" charset="0"/>
                </a:rPr>
                <a:t>ht[11]</a:t>
              </a:r>
            </a:p>
            <a:p>
              <a:pPr algn="r">
                <a:lnSpc>
                  <a:spcPts val="2600"/>
                </a:lnSpc>
              </a:pPr>
              <a:r>
                <a:rPr lang="en-US" sz="1600" dirty="0">
                  <a:latin typeface="Times New Roman" panose="02020603050405020304" pitchFamily="18" charset="0"/>
                  <a:cs typeface="Times New Roman" panose="02020603050405020304" pitchFamily="18" charset="0"/>
                </a:rPr>
                <a:t>ht[12]</a:t>
              </a:r>
            </a:p>
          </p:txBody>
        </p:sp>
      </p:grpSp>
      <p:sp>
        <p:nvSpPr>
          <p:cNvPr id="27" name="TextBox 26">
            <a:extLst>
              <a:ext uri="{FF2B5EF4-FFF2-40B4-BE49-F238E27FC236}">
                <a16:creationId xmlns:a16="http://schemas.microsoft.com/office/drawing/2014/main" id="{FB2258E6-33D3-4A8D-91BE-A5EDB6454103}"/>
              </a:ext>
            </a:extLst>
          </p:cNvPr>
          <p:cNvSpPr txBox="1"/>
          <p:nvPr/>
        </p:nvSpPr>
        <p:spPr>
          <a:xfrm>
            <a:off x="10393835" y="2452948"/>
            <a:ext cx="1012265" cy="4493538"/>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Cook</a:t>
            </a:r>
          </a:p>
          <a:p>
            <a:r>
              <a:rPr lang="en-US" sz="2200" dirty="0">
                <a:latin typeface="Times New Roman" panose="02020603050405020304" pitchFamily="18" charset="0"/>
                <a:cs typeface="Times New Roman" panose="02020603050405020304" pitchFamily="18" charset="0"/>
              </a:rPr>
              <a:t>Davis</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Frank</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BE0F616-566B-4C94-B9ED-2BCDDF656AA4}"/>
              </a:ext>
            </a:extLst>
          </p:cNvPr>
          <p:cNvSpPr txBox="1"/>
          <p:nvPr/>
        </p:nvSpPr>
        <p:spPr>
          <a:xfrm>
            <a:off x="10458102" y="4440030"/>
            <a:ext cx="868220"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Calle</a:t>
            </a:r>
          </a:p>
        </p:txBody>
      </p:sp>
      <p:sp>
        <p:nvSpPr>
          <p:cNvPr id="29" name="TextBox 28">
            <a:extLst>
              <a:ext uri="{FF2B5EF4-FFF2-40B4-BE49-F238E27FC236}">
                <a16:creationId xmlns:a16="http://schemas.microsoft.com/office/drawing/2014/main" id="{9920F248-D46A-427E-80D1-55069D94E9D5}"/>
              </a:ext>
            </a:extLst>
          </p:cNvPr>
          <p:cNvSpPr txBox="1"/>
          <p:nvPr/>
        </p:nvSpPr>
        <p:spPr>
          <a:xfrm>
            <a:off x="10393831" y="3745630"/>
            <a:ext cx="868220"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Earl</a:t>
            </a:r>
          </a:p>
        </p:txBody>
      </p:sp>
      <p:grpSp>
        <p:nvGrpSpPr>
          <p:cNvPr id="31" name="Group 30">
            <a:extLst>
              <a:ext uri="{FF2B5EF4-FFF2-40B4-BE49-F238E27FC236}">
                <a16:creationId xmlns:a16="http://schemas.microsoft.com/office/drawing/2014/main" id="{ABDE0652-CFCA-44FC-9AE4-7D86D1CE8FBD}"/>
              </a:ext>
            </a:extLst>
          </p:cNvPr>
          <p:cNvGrpSpPr/>
          <p:nvPr/>
        </p:nvGrpSpPr>
        <p:grpSpPr>
          <a:xfrm>
            <a:off x="10320827" y="3801456"/>
            <a:ext cx="1085273" cy="337127"/>
            <a:chOff x="10630224" y="2836761"/>
            <a:chExt cx="1085273" cy="337127"/>
          </a:xfrm>
        </p:grpSpPr>
        <p:cxnSp>
          <p:nvCxnSpPr>
            <p:cNvPr id="6" name="Straight Connector 5">
              <a:extLst>
                <a:ext uri="{FF2B5EF4-FFF2-40B4-BE49-F238E27FC236}">
                  <a16:creationId xmlns:a16="http://schemas.microsoft.com/office/drawing/2014/main" id="{AA16544B-0663-4E2E-BFB4-41655C971430}"/>
                </a:ext>
              </a:extLst>
            </p:cNvPr>
            <p:cNvCxnSpPr>
              <a:cxnSpLocks/>
            </p:cNvCxnSpPr>
            <p:nvPr/>
          </p:nvCxnSpPr>
          <p:spPr>
            <a:xfrm flipV="1">
              <a:off x="10630224" y="2836761"/>
              <a:ext cx="1085273" cy="337127"/>
            </a:xfrm>
            <a:prstGeom prst="line">
              <a:avLst/>
            </a:prstGeom>
            <a:ln w="28575">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5065CB5-9F9B-423B-8FE4-741627C14592}"/>
                </a:ext>
              </a:extLst>
            </p:cNvPr>
            <p:cNvCxnSpPr>
              <a:cxnSpLocks/>
            </p:cNvCxnSpPr>
            <p:nvPr/>
          </p:nvCxnSpPr>
          <p:spPr>
            <a:xfrm flipH="1" flipV="1">
              <a:off x="10630224" y="2836761"/>
              <a:ext cx="1085273" cy="337127"/>
            </a:xfrm>
            <a:prstGeom prst="line">
              <a:avLst/>
            </a:prstGeom>
            <a:ln w="28575">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5625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fade">
                                      <p:cBhvr>
                                        <p:cTn id="7" dur="500"/>
                                        <p:tgtEl>
                                          <p:spTgt spid="2">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fade">
                                      <p:cBhvr>
                                        <p:cTn id="1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B19F3-4B80-C325-2C29-CCA8A36FC369}"/>
              </a:ext>
            </a:extLst>
          </p:cNvPr>
          <p:cNvSpPr>
            <a:spLocks noGrp="1"/>
          </p:cNvSpPr>
          <p:nvPr>
            <p:ph type="title"/>
          </p:nvPr>
        </p:nvSpPr>
        <p:spPr/>
        <p:txBody>
          <a:bodyPr/>
          <a:lstStyle/>
          <a:p>
            <a:r>
              <a:rPr lang="en-US" dirty="0"/>
              <a:t>size of hash table</a:t>
            </a:r>
          </a:p>
        </p:txBody>
      </p:sp>
      <p:sp>
        <p:nvSpPr>
          <p:cNvPr id="3" name="Content Placeholder 2">
            <a:extLst>
              <a:ext uri="{FF2B5EF4-FFF2-40B4-BE49-F238E27FC236}">
                <a16:creationId xmlns:a16="http://schemas.microsoft.com/office/drawing/2014/main" id="{8151DA30-60CC-7292-82FB-FAC9CEE0B4E3}"/>
              </a:ext>
            </a:extLst>
          </p:cNvPr>
          <p:cNvSpPr>
            <a:spLocks noGrp="1"/>
          </p:cNvSpPr>
          <p:nvPr>
            <p:ph idx="1"/>
          </p:nvPr>
        </p:nvSpPr>
        <p:spPr/>
        <p:txBody>
          <a:bodyPr anchor="t" anchorCtr="0">
            <a:normAutofit/>
          </a:bodyPr>
          <a:lstStyle/>
          <a:p>
            <a:pPr>
              <a:buFont typeface="Wingdings" pitchFamily="2" charset="2"/>
              <a:buChar char="Ø"/>
            </a:pPr>
            <a:r>
              <a:rPr lang="en-US" sz="3200" dirty="0"/>
              <a:t>How does the size of the hash table influence the number of collisions?</a:t>
            </a:r>
          </a:p>
          <a:p>
            <a:pPr>
              <a:buFont typeface="Wingdings" pitchFamily="2" charset="2"/>
              <a:buChar char="Ø"/>
            </a:pPr>
            <a:endParaRPr lang="en-US" sz="3200" dirty="0"/>
          </a:p>
          <a:p>
            <a:pPr>
              <a:buFont typeface="Wingdings" pitchFamily="2" charset="2"/>
              <a:buChar char="Ø"/>
            </a:pPr>
            <a:endParaRPr lang="en-US" sz="3200" dirty="0"/>
          </a:p>
          <a:p>
            <a:pPr>
              <a:buFont typeface="Wingdings" pitchFamily="2" charset="2"/>
              <a:buChar char="Ø"/>
            </a:pPr>
            <a:r>
              <a:rPr lang="en-US" sz="3200" dirty="0"/>
              <a:t>Let’s try running an example and changing the size of the hash table.</a:t>
            </a:r>
          </a:p>
        </p:txBody>
      </p:sp>
    </p:spTree>
    <p:extLst>
      <p:ext uri="{BB962C8B-B14F-4D97-AF65-F5344CB8AC3E}">
        <p14:creationId xmlns:p14="http://schemas.microsoft.com/office/powerpoint/2010/main" val="41302780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32221B-2D69-45AB-8B48-17963805D342}"/>
              </a:ext>
            </a:extLst>
          </p:cNvPr>
          <p:cNvSpPr>
            <a:spLocks noGrp="1"/>
          </p:cNvSpPr>
          <p:nvPr>
            <p:ph idx="1"/>
          </p:nvPr>
        </p:nvSpPr>
        <p:spPr>
          <a:xfrm>
            <a:off x="145888" y="1933847"/>
            <a:ext cx="11588912" cy="4416153"/>
          </a:xfrm>
        </p:spPr>
        <p:txBody>
          <a:bodyPr anchor="t" anchorCtr="0">
            <a:noAutofit/>
          </a:bodyPr>
          <a:lstStyle/>
          <a:p>
            <a:pPr>
              <a:lnSpc>
                <a:spcPct val="100000"/>
              </a:lnSpc>
              <a:spcBef>
                <a:spcPts val="1400"/>
              </a:spcBef>
            </a:pPr>
            <a:r>
              <a:rPr lang="en-US" sz="2800" dirty="0"/>
              <a:t>Table sizes should be prime numbers (no factors) if you want to reduce collisions.</a:t>
            </a:r>
          </a:p>
          <a:p>
            <a:pPr>
              <a:lnSpc>
                <a:spcPct val="100000"/>
              </a:lnSpc>
              <a:spcBef>
                <a:spcPts val="1400"/>
              </a:spcBef>
            </a:pPr>
            <a:r>
              <a:rPr lang="en-US" sz="2800" dirty="0"/>
              <a:t>A constant trade-off with hash tables is that increasing the array size to improve performance by reducing collisions wastes space; decreasing the array size to conserve space increases collisions and thus decreases performance</a:t>
            </a:r>
          </a:p>
          <a:p>
            <a:pPr>
              <a:lnSpc>
                <a:spcPct val="100000"/>
              </a:lnSpc>
              <a:spcBef>
                <a:spcPts val="1400"/>
              </a:spcBef>
            </a:pPr>
            <a:r>
              <a:rPr lang="en-US" sz="2800" dirty="0"/>
              <a:t>But sometimes (not always) we can develop a </a:t>
            </a:r>
            <a:r>
              <a:rPr lang="en-US" sz="2800" b="1" dirty="0"/>
              <a:t>perfect hash function</a:t>
            </a:r>
            <a:r>
              <a:rPr lang="en-US" sz="2800" dirty="0"/>
              <a:t> which never has collisions, thus guaranteeing Ɵ(1) performance without wasting space with a low load factor</a:t>
            </a:r>
            <a:endParaRPr lang="en-US" sz="2800" b="1" dirty="0"/>
          </a:p>
        </p:txBody>
      </p:sp>
      <p:sp>
        <p:nvSpPr>
          <p:cNvPr id="3" name="Title 2">
            <a:extLst>
              <a:ext uri="{FF2B5EF4-FFF2-40B4-BE49-F238E27FC236}">
                <a16:creationId xmlns:a16="http://schemas.microsoft.com/office/drawing/2014/main" id="{B8C49C39-2299-4989-86B5-2C5A4ECCAC45}"/>
              </a:ext>
            </a:extLst>
          </p:cNvPr>
          <p:cNvSpPr>
            <a:spLocks noGrp="1"/>
          </p:cNvSpPr>
          <p:nvPr>
            <p:ph type="title"/>
          </p:nvPr>
        </p:nvSpPr>
        <p:spPr>
          <a:xfrm>
            <a:off x="635000" y="999066"/>
            <a:ext cx="8559800" cy="693113"/>
          </a:xfrm>
        </p:spPr>
        <p:txBody>
          <a:bodyPr>
            <a:noAutofit/>
          </a:bodyPr>
          <a:lstStyle/>
          <a:p>
            <a:r>
              <a:rPr lang="en-US" sz="4400" dirty="0"/>
              <a:t>Perfect Hashing</a:t>
            </a:r>
          </a:p>
        </p:txBody>
      </p:sp>
    </p:spTree>
    <p:extLst>
      <p:ext uri="{BB962C8B-B14F-4D97-AF65-F5344CB8AC3E}">
        <p14:creationId xmlns:p14="http://schemas.microsoft.com/office/powerpoint/2010/main" val="3954693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Questions?</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4AD8B-69DF-CA95-393D-101422A6E49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111416-4791-6480-59A2-8B156DAB091C}"/>
              </a:ext>
            </a:extLst>
          </p:cNvPr>
          <p:cNvSpPr>
            <a:spLocks noGrp="1"/>
          </p:cNvSpPr>
          <p:nvPr>
            <p:ph idx="1"/>
          </p:nvPr>
        </p:nvSpPr>
        <p:spPr>
          <a:xfrm>
            <a:off x="145888" y="1933847"/>
            <a:ext cx="11588912" cy="4416153"/>
          </a:xfrm>
        </p:spPr>
        <p:txBody>
          <a:bodyPr anchor="t" anchorCtr="0">
            <a:noAutofit/>
          </a:bodyPr>
          <a:lstStyle/>
          <a:p>
            <a:pPr>
              <a:lnSpc>
                <a:spcPct val="100000"/>
              </a:lnSpc>
              <a:spcBef>
                <a:spcPts val="1400"/>
              </a:spcBef>
            </a:pPr>
            <a:r>
              <a:rPr lang="en-US" sz="2800" b="1" dirty="0"/>
              <a:t>Assume a hash table of size 10</a:t>
            </a:r>
          </a:p>
          <a:p>
            <a:pPr>
              <a:lnSpc>
                <a:spcPct val="100000"/>
              </a:lnSpc>
              <a:spcBef>
                <a:spcPts val="1400"/>
              </a:spcBef>
            </a:pPr>
            <a:r>
              <a:rPr lang="en-US" sz="2800" b="1" dirty="0"/>
              <a:t>Hashing algorithm h(key)=key%10</a:t>
            </a:r>
          </a:p>
          <a:p>
            <a:pPr marL="0" indent="0">
              <a:lnSpc>
                <a:spcPct val="100000"/>
              </a:lnSpc>
              <a:spcBef>
                <a:spcPts val="1400"/>
              </a:spcBef>
              <a:buNone/>
            </a:pPr>
            <a:r>
              <a:rPr lang="en-US" sz="2800" b="1" dirty="0"/>
              <a:t>Show what the hash table will look like in these 3 cases when you insert these numbers in order:   3,33,53,108, 88, 9</a:t>
            </a:r>
          </a:p>
          <a:p>
            <a:pPr marL="0" indent="0">
              <a:lnSpc>
                <a:spcPct val="100000"/>
              </a:lnSpc>
              <a:spcBef>
                <a:spcPts val="1400"/>
              </a:spcBef>
              <a:buNone/>
            </a:pPr>
            <a:r>
              <a:rPr lang="en-US" sz="2800" b="1" dirty="0"/>
              <a:t>1) chaining</a:t>
            </a:r>
          </a:p>
          <a:p>
            <a:pPr marL="0" indent="0">
              <a:lnSpc>
                <a:spcPct val="100000"/>
              </a:lnSpc>
              <a:spcBef>
                <a:spcPts val="1400"/>
              </a:spcBef>
              <a:buNone/>
            </a:pPr>
            <a:r>
              <a:rPr lang="en-US" sz="2800" b="1" dirty="0"/>
              <a:t>2) linear probing for collisions</a:t>
            </a:r>
          </a:p>
          <a:p>
            <a:pPr marL="0" indent="0">
              <a:lnSpc>
                <a:spcPct val="100000"/>
              </a:lnSpc>
              <a:spcBef>
                <a:spcPts val="1400"/>
              </a:spcBef>
              <a:buNone/>
            </a:pPr>
            <a:r>
              <a:rPr lang="en-US" sz="2800" b="1" dirty="0"/>
              <a:t>3) quadratic probing for collisions</a:t>
            </a:r>
          </a:p>
        </p:txBody>
      </p:sp>
      <p:sp>
        <p:nvSpPr>
          <p:cNvPr id="3" name="Title 2">
            <a:extLst>
              <a:ext uri="{FF2B5EF4-FFF2-40B4-BE49-F238E27FC236}">
                <a16:creationId xmlns:a16="http://schemas.microsoft.com/office/drawing/2014/main" id="{D7C3B548-F902-85FA-221B-5F6A4294A8B3}"/>
              </a:ext>
            </a:extLst>
          </p:cNvPr>
          <p:cNvSpPr>
            <a:spLocks noGrp="1"/>
          </p:cNvSpPr>
          <p:nvPr>
            <p:ph type="title"/>
          </p:nvPr>
        </p:nvSpPr>
        <p:spPr>
          <a:xfrm>
            <a:off x="635000" y="999066"/>
            <a:ext cx="8559800" cy="693113"/>
          </a:xfrm>
        </p:spPr>
        <p:txBody>
          <a:bodyPr>
            <a:noAutofit/>
          </a:bodyPr>
          <a:lstStyle/>
          <a:p>
            <a:r>
              <a:rPr lang="en-US" sz="4400" dirty="0"/>
              <a:t>IN CLASS EXERCISE</a:t>
            </a:r>
          </a:p>
        </p:txBody>
      </p:sp>
    </p:spTree>
    <p:extLst>
      <p:ext uri="{BB962C8B-B14F-4D97-AF65-F5344CB8AC3E}">
        <p14:creationId xmlns:p14="http://schemas.microsoft.com/office/powerpoint/2010/main" val="2667477474"/>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42D3C2F-55A5-48C0-9D5A-95C7FF0389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Custom</Template>
  <TotalTime>3385</TotalTime>
  <Words>2984</Words>
  <Application>Microsoft Macintosh PowerPoint</Application>
  <PresentationFormat>Widescreen</PresentationFormat>
  <Paragraphs>442</Paragraphs>
  <Slides>32</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Symbol</vt:lpstr>
      <vt:lpstr>Times New Roman</vt:lpstr>
      <vt:lpstr>Wingdings</vt:lpstr>
      <vt:lpstr>Wingdings 2</vt:lpstr>
      <vt:lpstr>Custom</vt:lpstr>
      <vt:lpstr>Hash Tables</vt:lpstr>
      <vt:lpstr>Verbal defense hw1</vt:lpstr>
      <vt:lpstr>Most common issues with hw1</vt:lpstr>
      <vt:lpstr>Most common issues with hw1</vt:lpstr>
      <vt:lpstr>Most common issues with hw1</vt:lpstr>
      <vt:lpstr>Review</vt:lpstr>
      <vt:lpstr>PowerPoint Presentation</vt:lpstr>
      <vt:lpstr>PowerPoint Presentation</vt:lpstr>
      <vt:lpstr>PowerPoint Presentation</vt:lpstr>
      <vt:lpstr>Hash Tables (hash maps)</vt:lpstr>
      <vt:lpstr>Example</vt:lpstr>
      <vt:lpstr>Example</vt:lpstr>
      <vt:lpstr>Collisions: The Reason We Usually Can’t Get Perfect O(1) Performance</vt:lpstr>
      <vt:lpstr>Chaining</vt:lpstr>
      <vt:lpstr>Open Addressing to Resolve Collisions</vt:lpstr>
      <vt:lpstr>Open Addressing - LINEAR</vt:lpstr>
      <vt:lpstr>Probing the Hash table to find AN open spot</vt:lpstr>
      <vt:lpstr>Probing the Hash table to find AN open spot</vt:lpstr>
      <vt:lpstr>Probing the Hash table to find AN open spot</vt:lpstr>
      <vt:lpstr>Probing the Hash table to find AN open spot</vt:lpstr>
      <vt:lpstr>Linear probing for collisions - SOLUTION</vt:lpstr>
      <vt:lpstr>PowerPoint Presentation</vt:lpstr>
      <vt:lpstr>Clustering</vt:lpstr>
      <vt:lpstr>Quadratic PROBING</vt:lpstr>
      <vt:lpstr>Quadratic probing for collisions</vt:lpstr>
      <vt:lpstr>PowerPoint Presentation</vt:lpstr>
      <vt:lpstr>Lazy Deletion and Occupied/Empty/Deleted Slot</vt:lpstr>
      <vt:lpstr>Lazy Deletion and Occupied/Empty/Deleted Slot Status</vt:lpstr>
      <vt:lpstr>size of hash table</vt:lpstr>
      <vt:lpstr>Perfect Hashing</vt:lpstr>
      <vt:lpstr>Questions?</vt:lpstr>
      <vt:lpstr>IN CLASS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CS399 Run Time Analysis </dc:title>
  <dc:creator>Marriott, Heather H</dc:creator>
  <cp:lastModifiedBy>Marriott, Heather H</cp:lastModifiedBy>
  <cp:revision>39</cp:revision>
  <dcterms:created xsi:type="dcterms:W3CDTF">2024-05-27T01:44:40Z</dcterms:created>
  <dcterms:modified xsi:type="dcterms:W3CDTF">2026-09-16T17:39:31Z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