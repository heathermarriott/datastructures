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9" r:id="rId6"/>
    <p:sldId id="279" r:id="rId7"/>
    <p:sldId id="280" r:id="rId8"/>
    <p:sldId id="281" r:id="rId9"/>
    <p:sldId id="553" r:id="rId10"/>
    <p:sldId id="529" r:id="rId11"/>
    <p:sldId id="531" r:id="rId12"/>
    <p:sldId id="532" r:id="rId13"/>
    <p:sldId id="276" r:id="rId14"/>
    <p:sldId id="278" r:id="rId15"/>
    <p:sldId id="282" r:id="rId16"/>
    <p:sldId id="554" r:id="rId17"/>
    <p:sldId id="565" r:id="rId18"/>
    <p:sldId id="566" r:id="rId19"/>
    <p:sldId id="567" r:id="rId20"/>
    <p:sldId id="568" r:id="rId21"/>
    <p:sldId id="569" r:id="rId22"/>
    <p:sldId id="570" r:id="rId23"/>
    <p:sldId id="564" r:id="rId24"/>
    <p:sldId id="563" r:id="rId25"/>
    <p:sldId id="555" r:id="rId26"/>
    <p:sldId id="571" r:id="rId27"/>
    <p:sldId id="556" r:id="rId28"/>
    <p:sldId id="558" r:id="rId29"/>
    <p:sldId id="560" r:id="rId30"/>
    <p:sldId id="260" r:id="rId31"/>
    <p:sldId id="562" r:id="rId32"/>
    <p:sldId id="57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CB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75" autoAdjust="0"/>
    <p:restoredTop sz="84463" autoAdjust="0"/>
  </p:normalViewPr>
  <p:slideViewPr>
    <p:cSldViewPr snapToGrid="0">
      <p:cViewPr varScale="1">
        <p:scale>
          <a:sx n="74" d="100"/>
          <a:sy n="74" d="100"/>
        </p:scale>
        <p:origin x="5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Data Types, Data Structures</a:t>
          </a:r>
          <a:r>
            <a:rPr lang="en-US" sz="2200" dirty="0"/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Algorithms</a:t>
          </a: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Sort Algorithm Example</a:t>
          </a:r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3FF36018-3631-8A43-9FF4-DA92765E050B}">
      <dgm:prSet custT="1"/>
      <dgm:spPr/>
      <dgm:t>
        <a:bodyPr/>
        <a:lstStyle/>
        <a:p>
          <a:r>
            <a:rPr lang="en-US" sz="2800" dirty="0"/>
            <a:t>Introduction</a:t>
          </a:r>
        </a:p>
      </dgm:t>
    </dgm:pt>
    <dgm:pt modelId="{A91A90B9-81E6-9645-824B-29159036880B}" type="parTrans" cxnId="{CAF1D8C4-73DE-F648-905D-36FA61965E03}">
      <dgm:prSet/>
      <dgm:spPr/>
      <dgm:t>
        <a:bodyPr/>
        <a:lstStyle/>
        <a:p>
          <a:endParaRPr lang="en-US"/>
        </a:p>
      </dgm:t>
    </dgm:pt>
    <dgm:pt modelId="{1F1C11F8-8F52-F646-959D-12D2104B5766}" type="sibTrans" cxnId="{CAF1D8C4-73DE-F648-905D-36FA61965E03}">
      <dgm:prSet/>
      <dgm:spPr/>
      <dgm:t>
        <a:bodyPr/>
        <a:lstStyle/>
        <a:p>
          <a:endParaRPr lang="en-US"/>
        </a:p>
      </dgm:t>
    </dgm:pt>
    <dgm:pt modelId="{B428A07C-EFF1-2945-A6FC-35E9A54CA5ED}">
      <dgm:prSet custT="1"/>
      <dgm:spPr/>
      <dgm:t>
        <a:bodyPr/>
        <a:lstStyle/>
        <a:p>
          <a:r>
            <a:rPr lang="en-US" sz="2800" dirty="0"/>
            <a:t>Syllabus</a:t>
          </a:r>
        </a:p>
      </dgm:t>
    </dgm:pt>
    <dgm:pt modelId="{77753170-5A24-D549-BAE4-8A211B8F7EE4}" type="parTrans" cxnId="{657F68B1-A024-024C-B074-FEA67258B5A7}">
      <dgm:prSet/>
      <dgm:spPr/>
      <dgm:t>
        <a:bodyPr/>
        <a:lstStyle/>
        <a:p>
          <a:endParaRPr lang="en-US"/>
        </a:p>
      </dgm:t>
    </dgm:pt>
    <dgm:pt modelId="{AA99C861-4B5A-AA4D-9D33-0B85650B3894}" type="sibTrans" cxnId="{657F68B1-A024-024C-B074-FEA67258B5A7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5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  <dgm:t>
        <a:bodyPr/>
        <a:lstStyle/>
        <a:p>
          <a:endParaRPr lang="en-US"/>
        </a:p>
      </dgm:t>
    </dgm:pt>
    <dgm:pt modelId="{3CAD8DA1-8D53-445C-ACE8-D8449E4F0F55}" type="pres">
      <dgm:prSet presAssocID="{7E5AA53B-3EEE-4DE4-BB81-9044890C2946}" presName="extraNode" presStyleLbl="node1" presStyleIdx="0" presStyleCnt="5"/>
      <dgm:spPr/>
    </dgm:pt>
    <dgm:pt modelId="{429CABD1-4116-474B-81BF-735E2CA9DD00}" type="pres">
      <dgm:prSet presAssocID="{7E5AA53B-3EEE-4DE4-BB81-9044890C2946}" presName="dstNode" presStyleLbl="node1" presStyleIdx="0" presStyleCnt="5"/>
      <dgm:spPr/>
    </dgm:pt>
    <dgm:pt modelId="{58CDD58C-49EA-CB4A-8312-F66689004EAA}" type="pres">
      <dgm:prSet presAssocID="{3FF36018-3631-8A43-9FF4-DA92765E050B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314A4B-7A2D-A246-8098-0C4416B77002}" type="pres">
      <dgm:prSet presAssocID="{3FF36018-3631-8A43-9FF4-DA92765E050B}" presName="accent_1" presStyleCnt="0"/>
      <dgm:spPr/>
    </dgm:pt>
    <dgm:pt modelId="{DA35EF60-E629-5540-BEFE-125966E0B96D}" type="pres">
      <dgm:prSet presAssocID="{3FF36018-3631-8A43-9FF4-DA92765E050B}" presName="accentRepeatNode" presStyleLbl="solidFgAcc1" presStyleIdx="0" presStyleCnt="5"/>
      <dgm:spPr/>
    </dgm:pt>
    <dgm:pt modelId="{F89264DF-F239-344E-B66F-22EF8B70D4BC}" type="pres">
      <dgm:prSet presAssocID="{B428A07C-EFF1-2945-A6FC-35E9A54CA5ED}" presName="text_2" presStyleLbl="node1" presStyleIdx="1" presStyleCnt="5" custLinFactNeighborX="-897" custLinFactNeighborY="-66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B7F832-98E9-6249-B0DC-F7B1D56152CA}" type="pres">
      <dgm:prSet presAssocID="{B428A07C-EFF1-2945-A6FC-35E9A54CA5ED}" presName="accent_2" presStyleCnt="0"/>
      <dgm:spPr/>
    </dgm:pt>
    <dgm:pt modelId="{E75F8B02-3BB4-F54E-9132-893E94042069}" type="pres">
      <dgm:prSet presAssocID="{B428A07C-EFF1-2945-A6FC-35E9A54CA5ED}" presName="accentRepeatNode" presStyleLbl="solidFgAcc1" presStyleIdx="1" presStyleCnt="5" custLinFactNeighborX="-17684" custLinFactNeighborY="-7739"/>
      <dgm:spPr/>
    </dgm:pt>
    <dgm:pt modelId="{772A7D3A-04DD-564B-B9E6-64969A973D37}" type="pres">
      <dgm:prSet presAssocID="{6750AC01-D39D-4F3A-9DC8-2A211EE986A2}" presName="text_3" presStyleLbl="node1" presStyleIdx="2" presStyleCnt="5" custLinFactNeighborX="-4281" custLinFactNeighborY="-28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11683D-8EA0-DF4A-94A7-D33632472233}" type="pres">
      <dgm:prSet presAssocID="{6750AC01-D39D-4F3A-9DC8-2A211EE986A2}" presName="accent_3" presStyleCnt="0"/>
      <dgm:spPr/>
    </dgm:pt>
    <dgm:pt modelId="{07CB3071-D555-47DA-A36A-69EB91531FD8}" type="pres">
      <dgm:prSet presAssocID="{6750AC01-D39D-4F3A-9DC8-2A211EE986A2}" presName="accentRepeatNode" presStyleLbl="solidFgAcc1" presStyleIdx="2" presStyleCnt="5" custLinFactNeighborX="-68186" custLinFactNeighborY="329"/>
      <dgm:spPr/>
    </dgm:pt>
    <dgm:pt modelId="{EE7219F6-97DA-F043-8F5E-8923AB862F6B}" type="pres">
      <dgm:prSet presAssocID="{0BEF68B8-1228-47BB-83B5-7B9CD1E3F84E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9FA101-7F85-344F-B8AE-B731C32D8E74}" type="pres">
      <dgm:prSet presAssocID="{0BEF68B8-1228-47BB-83B5-7B9CD1E3F84E}" presName="accent_4" presStyleCnt="0"/>
      <dgm:spPr/>
    </dgm:pt>
    <dgm:pt modelId="{3F8116AC-FAC3-4E95-9865-93CCFEB191B9}" type="pres">
      <dgm:prSet presAssocID="{0BEF68B8-1228-47BB-83B5-7B9CD1E3F84E}" presName="accentRepeatNode" presStyleLbl="solidFgAcc1" presStyleIdx="3" presStyleCnt="5"/>
      <dgm:spPr/>
    </dgm:pt>
    <dgm:pt modelId="{2E86FB2E-9896-084A-A872-377FC11B0B5F}" type="pres">
      <dgm:prSet presAssocID="{5605D28D-2CE6-4513-8566-952984E21E14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6541C3-D603-7B40-AAD4-33BC341F91A5}" type="pres">
      <dgm:prSet presAssocID="{5605D28D-2CE6-4513-8566-952984E21E14}" presName="accent_5" presStyleCnt="0"/>
      <dgm:spPr/>
    </dgm:pt>
    <dgm:pt modelId="{A965097E-32F1-4AB8-8C4E-2814A7596B2F}" type="pres">
      <dgm:prSet presAssocID="{5605D28D-2CE6-4513-8566-952984E21E14}" presName="accentRepeatNode" presStyleLbl="solidFgAcc1" presStyleIdx="4" presStyleCnt="5"/>
      <dgm:spPr/>
    </dgm:pt>
  </dgm:ptLst>
  <dgm:cxnLst>
    <dgm:cxn modelId="{F0308648-7B66-0348-B334-655E4DDC05BD}" type="presOf" srcId="{3FF36018-3631-8A43-9FF4-DA92765E050B}" destId="{58CDD58C-49EA-CB4A-8312-F66689004EAA}" srcOrd="0" destOrd="0" presId="urn:microsoft.com/office/officeart/2008/layout/VerticalCurvedList"/>
    <dgm:cxn modelId="{7CB8FA4F-F5D0-A64C-B2E6-6320E9BB0C00}" type="presOf" srcId="{5605D28D-2CE6-4513-8566-952984E21E14}" destId="{2E86FB2E-9896-084A-A872-377FC11B0B5F}" srcOrd="0" destOrd="0" presId="urn:microsoft.com/office/officeart/2008/layout/VerticalCurvedList"/>
    <dgm:cxn modelId="{657F68B1-A024-024C-B074-FEA67258B5A7}" srcId="{7E5AA53B-3EEE-4DE4-BB81-9044890C2946}" destId="{B428A07C-EFF1-2945-A6FC-35E9A54CA5ED}" srcOrd="1" destOrd="0" parTransId="{77753170-5A24-D549-BAE4-8A211B8F7EE4}" sibTransId="{AA99C861-4B5A-AA4D-9D33-0B85650B3894}"/>
    <dgm:cxn modelId="{CAF1D8C4-73DE-F648-905D-36FA61965E03}" srcId="{7E5AA53B-3EEE-4DE4-BB81-9044890C2946}" destId="{3FF36018-3631-8A43-9FF4-DA92765E050B}" srcOrd="0" destOrd="0" parTransId="{A91A90B9-81E6-9645-824B-29159036880B}" sibTransId="{1F1C11F8-8F52-F646-959D-12D2104B5766}"/>
    <dgm:cxn modelId="{C5072910-7B89-3443-842C-7C5D8DB690A4}" type="presOf" srcId="{0BEF68B8-1228-47BB-83B5-7B9CD1E3F84E}" destId="{EE7219F6-97DA-F043-8F5E-8923AB862F6B}" srcOrd="0" destOrd="0" presId="urn:microsoft.com/office/officeart/2008/layout/VerticalCurvedList"/>
    <dgm:cxn modelId="{EDEF4F82-1237-4639-A0F7-385C1897CE66}" srcId="{7E5AA53B-3EEE-4DE4-BB81-9044890C2946}" destId="{0BEF68B8-1228-47BB-83B5-7B9CD1E3F84E}" srcOrd="3" destOrd="0" parTransId="{ED3A4BC2-B75A-4952-A38B-A42B5995DF05}" sibTransId="{FD949706-EDCC-4ADC-8EDF-8EDA49C92325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5317107-CAD6-CB40-9DB9-4F679FC3891F}" type="presOf" srcId="{6750AC01-D39D-4F3A-9DC8-2A211EE986A2}" destId="{772A7D3A-04DD-564B-B9E6-64969A973D37}" srcOrd="0" destOrd="0" presId="urn:microsoft.com/office/officeart/2008/layout/VerticalCurvedList"/>
    <dgm:cxn modelId="{FAF3F884-F0CF-440F-8CB1-B7648AB1B138}" srcId="{7E5AA53B-3EEE-4DE4-BB81-9044890C2946}" destId="{5605D28D-2CE6-4513-8566-952984E21E14}" srcOrd="4" destOrd="0" parTransId="{EB15AB98-362B-4E70-A3DA-995FC3E8BA79}" sibTransId="{823D1971-2C4D-4EC5-A874-2F463DE37109}"/>
    <dgm:cxn modelId="{49911B00-88CD-924D-8108-9008A1A8B235}" type="presOf" srcId="{B428A07C-EFF1-2945-A6FC-35E9A54CA5ED}" destId="{F89264DF-F239-344E-B66F-22EF8B70D4BC}" srcOrd="0" destOrd="0" presId="urn:microsoft.com/office/officeart/2008/layout/VerticalCurvedList"/>
    <dgm:cxn modelId="{0B5DAE5F-BCDC-4BF7-A6E7-CF856886A64D}" srcId="{7E5AA53B-3EEE-4DE4-BB81-9044890C2946}" destId="{6750AC01-D39D-4F3A-9DC8-2A211EE986A2}" srcOrd="2" destOrd="0" parTransId="{720680DC-AAA4-4434-A582-60EBCC5BA355}" sibTransId="{CA077D98-8478-47EA-B6A9-99ACE60C64D4}"/>
    <dgm:cxn modelId="{53BF4318-EA28-2E4C-B879-067F65FC58B3}" type="presOf" srcId="{1F1C11F8-8F52-F646-959D-12D2104B5766}" destId="{D79B43FC-100B-4A0D-A4D5-0D2D04B99064}" srcOrd="0" destOrd="0" presId="urn:microsoft.com/office/officeart/2008/layout/VerticalCurvedList"/>
    <dgm:cxn modelId="{BEEEA79C-1B11-AE44-9EEB-35304C0BC617}" type="presParOf" srcId="{57806726-6E60-4ACC-9C1C-7DF9CC365A10}" destId="{90561C55-3C6E-4D53-85E1-2C50BCDDA392}" srcOrd="0" destOrd="0" presId="urn:microsoft.com/office/officeart/2008/layout/VerticalCurvedList"/>
    <dgm:cxn modelId="{8B073C4B-2BCF-1046-BA18-33D2C5612EF9}" type="presParOf" srcId="{90561C55-3C6E-4D53-85E1-2C50BCDDA392}" destId="{B6CD42EC-5AD4-4004-AE5B-47EDA668DAA8}" srcOrd="0" destOrd="0" presId="urn:microsoft.com/office/officeart/2008/layout/VerticalCurvedList"/>
    <dgm:cxn modelId="{4EFA90A5-1773-0B40-A05D-DE170B6424DA}" type="presParOf" srcId="{B6CD42EC-5AD4-4004-AE5B-47EDA668DAA8}" destId="{963B8EE3-40CC-4A0A-B420-D0BF920973CE}" srcOrd="0" destOrd="0" presId="urn:microsoft.com/office/officeart/2008/layout/VerticalCurvedList"/>
    <dgm:cxn modelId="{89566ABF-88C1-D54C-9252-D6A37E177FAE}" type="presParOf" srcId="{B6CD42EC-5AD4-4004-AE5B-47EDA668DAA8}" destId="{D79B43FC-100B-4A0D-A4D5-0D2D04B99064}" srcOrd="1" destOrd="0" presId="urn:microsoft.com/office/officeart/2008/layout/VerticalCurvedList"/>
    <dgm:cxn modelId="{E64811A9-0433-FD42-9479-721BBBAE0968}" type="presParOf" srcId="{B6CD42EC-5AD4-4004-AE5B-47EDA668DAA8}" destId="{3CAD8DA1-8D53-445C-ACE8-D8449E4F0F55}" srcOrd="2" destOrd="0" presId="urn:microsoft.com/office/officeart/2008/layout/VerticalCurvedList"/>
    <dgm:cxn modelId="{CC3CF26A-A953-6D45-B5A2-3B0B78FD0B72}" type="presParOf" srcId="{B6CD42EC-5AD4-4004-AE5B-47EDA668DAA8}" destId="{429CABD1-4116-474B-81BF-735E2CA9DD00}" srcOrd="3" destOrd="0" presId="urn:microsoft.com/office/officeart/2008/layout/VerticalCurvedList"/>
    <dgm:cxn modelId="{2E42257F-1D33-DF49-9260-A017B839E058}" type="presParOf" srcId="{90561C55-3C6E-4D53-85E1-2C50BCDDA392}" destId="{58CDD58C-49EA-CB4A-8312-F66689004EAA}" srcOrd="1" destOrd="0" presId="urn:microsoft.com/office/officeart/2008/layout/VerticalCurvedList"/>
    <dgm:cxn modelId="{EAF094A4-EA47-4D4D-B9F9-CEE520364953}" type="presParOf" srcId="{90561C55-3C6E-4D53-85E1-2C50BCDDA392}" destId="{DF314A4B-7A2D-A246-8098-0C4416B77002}" srcOrd="2" destOrd="0" presId="urn:microsoft.com/office/officeart/2008/layout/VerticalCurvedList"/>
    <dgm:cxn modelId="{0B617ACD-2AD6-3E48-B1BD-5B54E4E3B59B}" type="presParOf" srcId="{DF314A4B-7A2D-A246-8098-0C4416B77002}" destId="{DA35EF60-E629-5540-BEFE-125966E0B96D}" srcOrd="0" destOrd="0" presId="urn:microsoft.com/office/officeart/2008/layout/VerticalCurvedList"/>
    <dgm:cxn modelId="{7F57E7BE-CE3E-6847-BD78-DBE6CB9F3E6F}" type="presParOf" srcId="{90561C55-3C6E-4D53-85E1-2C50BCDDA392}" destId="{F89264DF-F239-344E-B66F-22EF8B70D4BC}" srcOrd="3" destOrd="0" presId="urn:microsoft.com/office/officeart/2008/layout/VerticalCurvedList"/>
    <dgm:cxn modelId="{B493C6C6-EA4E-F74E-AB61-C6AE364037FF}" type="presParOf" srcId="{90561C55-3C6E-4D53-85E1-2C50BCDDA392}" destId="{7BB7F832-98E9-6249-B0DC-F7B1D56152CA}" srcOrd="4" destOrd="0" presId="urn:microsoft.com/office/officeart/2008/layout/VerticalCurvedList"/>
    <dgm:cxn modelId="{03FB0715-7083-DE44-9AB0-7ED87A8DFA7F}" type="presParOf" srcId="{7BB7F832-98E9-6249-B0DC-F7B1D56152CA}" destId="{E75F8B02-3BB4-F54E-9132-893E94042069}" srcOrd="0" destOrd="0" presId="urn:microsoft.com/office/officeart/2008/layout/VerticalCurvedList"/>
    <dgm:cxn modelId="{36B0C073-E863-904E-BF8A-D03F07A3D66B}" type="presParOf" srcId="{90561C55-3C6E-4D53-85E1-2C50BCDDA392}" destId="{772A7D3A-04DD-564B-B9E6-64969A973D37}" srcOrd="5" destOrd="0" presId="urn:microsoft.com/office/officeart/2008/layout/VerticalCurvedList"/>
    <dgm:cxn modelId="{7AC7498D-D60F-6849-8168-C83A806C344E}" type="presParOf" srcId="{90561C55-3C6E-4D53-85E1-2C50BCDDA392}" destId="{FB11683D-8EA0-DF4A-94A7-D33632472233}" srcOrd="6" destOrd="0" presId="urn:microsoft.com/office/officeart/2008/layout/VerticalCurvedList"/>
    <dgm:cxn modelId="{B4083AE4-E9FA-FC42-8D09-09DF51B3FEAF}" type="presParOf" srcId="{FB11683D-8EA0-DF4A-94A7-D33632472233}" destId="{07CB3071-D555-47DA-A36A-69EB91531FD8}" srcOrd="0" destOrd="0" presId="urn:microsoft.com/office/officeart/2008/layout/VerticalCurvedList"/>
    <dgm:cxn modelId="{258EBB6C-BE38-A045-B27B-BD15D85661BC}" type="presParOf" srcId="{90561C55-3C6E-4D53-85E1-2C50BCDDA392}" destId="{EE7219F6-97DA-F043-8F5E-8923AB862F6B}" srcOrd="7" destOrd="0" presId="urn:microsoft.com/office/officeart/2008/layout/VerticalCurvedList"/>
    <dgm:cxn modelId="{28901EA1-FCDF-9A46-B376-F70F876B5A4B}" type="presParOf" srcId="{90561C55-3C6E-4D53-85E1-2C50BCDDA392}" destId="{D49FA101-7F85-344F-B8AE-B731C32D8E74}" srcOrd="8" destOrd="0" presId="urn:microsoft.com/office/officeart/2008/layout/VerticalCurvedList"/>
    <dgm:cxn modelId="{EA05B6BB-E9FD-6347-AF87-19EF6ABF8620}" type="presParOf" srcId="{D49FA101-7F85-344F-B8AE-B731C32D8E74}" destId="{3F8116AC-FAC3-4E95-9865-93CCFEB191B9}" srcOrd="0" destOrd="0" presId="urn:microsoft.com/office/officeart/2008/layout/VerticalCurvedList"/>
    <dgm:cxn modelId="{FFE467B7-03AE-E64F-9997-7A6DBE9E9DFE}" type="presParOf" srcId="{90561C55-3C6E-4D53-85E1-2C50BCDDA392}" destId="{2E86FB2E-9896-084A-A872-377FC11B0B5F}" srcOrd="9" destOrd="0" presId="urn:microsoft.com/office/officeart/2008/layout/VerticalCurvedList"/>
    <dgm:cxn modelId="{E77FDCA6-009D-2D4E-9995-42794EBD73D0}" type="presParOf" srcId="{90561C55-3C6E-4D53-85E1-2C50BCDDA392}" destId="{8D6541C3-D603-7B40-AAD4-33BC341F91A5}" srcOrd="10" destOrd="0" presId="urn:microsoft.com/office/officeart/2008/layout/VerticalCurvedList"/>
    <dgm:cxn modelId="{FEBF0E08-594E-2741-9E03-42807C9F95B0}" type="presParOf" srcId="{8D6541C3-D603-7B40-AAD4-33BC341F91A5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CDD58C-49EA-CB4A-8312-F66689004EAA}">
      <dsp:nvSpPr>
        <dsp:cNvPr id="0" name=""/>
        <dsp:cNvSpPr/>
      </dsp:nvSpPr>
      <dsp:spPr>
        <a:xfrm>
          <a:off x="338329" y="222674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Introduction</a:t>
          </a:r>
        </a:p>
      </dsp:txBody>
      <dsp:txXfrm>
        <a:off x="338329" y="222674"/>
        <a:ext cx="6468629" cy="445634"/>
      </dsp:txXfrm>
    </dsp:sp>
    <dsp:sp modelId="{DA35EF60-E629-5540-BEFE-125966E0B96D}">
      <dsp:nvSpPr>
        <dsp:cNvPr id="0" name=""/>
        <dsp:cNvSpPr/>
      </dsp:nvSpPr>
      <dsp:spPr>
        <a:xfrm>
          <a:off x="59807" y="166970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264DF-F239-344E-B66F-22EF8B70D4BC}">
      <dsp:nvSpPr>
        <dsp:cNvPr id="0" name=""/>
        <dsp:cNvSpPr/>
      </dsp:nvSpPr>
      <dsp:spPr>
        <a:xfrm>
          <a:off x="602499" y="86130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Syllabus</a:t>
          </a:r>
        </a:p>
      </dsp:txBody>
      <dsp:txXfrm>
        <a:off x="602499" y="861309"/>
        <a:ext cx="6149301" cy="445634"/>
      </dsp:txXfrm>
    </dsp:sp>
    <dsp:sp modelId="{E75F8B02-3BB4-F54E-9132-893E94042069}">
      <dsp:nvSpPr>
        <dsp:cNvPr id="0" name=""/>
        <dsp:cNvSpPr/>
      </dsp:nvSpPr>
      <dsp:spPr>
        <a:xfrm>
          <a:off x="280628" y="792099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A7D3A-04DD-564B-B9E6-64969A973D37}">
      <dsp:nvSpPr>
        <dsp:cNvPr id="0" name=""/>
        <dsp:cNvSpPr/>
      </dsp:nvSpPr>
      <dsp:spPr>
        <a:xfrm>
          <a:off x="496610" y="1546348"/>
          <a:ext cx="6051292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Data Types, Data Structures</a:t>
          </a:r>
          <a:r>
            <a:rPr lang="en-US" sz="2200" kern="1200" dirty="0"/>
            <a:t>	</a:t>
          </a:r>
        </a:p>
      </dsp:txBody>
      <dsp:txXfrm>
        <a:off x="496610" y="1546348"/>
        <a:ext cx="6051292" cy="445634"/>
      </dsp:txXfrm>
    </dsp:sp>
    <dsp:sp modelId="{07CB3071-D555-47DA-A36A-69EB91531FD8}">
      <dsp:nvSpPr>
        <dsp:cNvPr id="0" name=""/>
        <dsp:cNvSpPr/>
      </dsp:nvSpPr>
      <dsp:spPr>
        <a:xfrm>
          <a:off x="97319" y="1505279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219F6-97DA-F043-8F5E-8923AB862F6B}">
      <dsp:nvSpPr>
        <dsp:cNvPr id="0" name=""/>
        <dsp:cNvSpPr/>
      </dsp:nvSpPr>
      <dsp:spPr>
        <a:xfrm>
          <a:off x="657658" y="2227389"/>
          <a:ext cx="6149301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Algorithms</a:t>
          </a:r>
        </a:p>
      </dsp:txBody>
      <dsp:txXfrm>
        <a:off x="657658" y="2227389"/>
        <a:ext cx="6149301" cy="445634"/>
      </dsp:txXfrm>
    </dsp:sp>
    <dsp:sp modelId="{3F8116AC-FAC3-4E95-9865-93CCFEB191B9}">
      <dsp:nvSpPr>
        <dsp:cNvPr id="0" name=""/>
        <dsp:cNvSpPr/>
      </dsp:nvSpPr>
      <dsp:spPr>
        <a:xfrm>
          <a:off x="379136" y="2171685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6FB2E-9896-084A-A872-377FC11B0B5F}">
      <dsp:nvSpPr>
        <dsp:cNvPr id="0" name=""/>
        <dsp:cNvSpPr/>
      </dsp:nvSpPr>
      <dsp:spPr>
        <a:xfrm>
          <a:off x="338329" y="2895628"/>
          <a:ext cx="6468629" cy="44563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3723" tIns="71120" rIns="71120" bIns="71120" numCol="1" spcCol="1270" anchor="ctr" anchorCtr="0">
          <a:noAutofit/>
        </a:bodyPr>
        <a:lstStyle/>
        <a:p>
          <a:pPr lvl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Sort Algorithm Example</a:t>
          </a:r>
        </a:p>
      </dsp:txBody>
      <dsp:txXfrm>
        <a:off x="338329" y="2895628"/>
        <a:ext cx="6468629" cy="445634"/>
      </dsp:txXfrm>
    </dsp:sp>
    <dsp:sp modelId="{A965097E-32F1-4AB8-8C4E-2814A7596B2F}">
      <dsp:nvSpPr>
        <dsp:cNvPr id="0" name=""/>
        <dsp:cNvSpPr/>
      </dsp:nvSpPr>
      <dsp:spPr>
        <a:xfrm>
          <a:off x="59807" y="2839923"/>
          <a:ext cx="557043" cy="55704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>
                <a:latin typeface="Times New Roman" panose="02020603050405020304" pitchFamily="18" charset="0"/>
              </a:rPr>
              <a:t>8/25/2025</a:t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C732326A-4C88-4AFB-AA5B-5919D81DFF5B}" type="datetimeFigureOut">
              <a:rPr lang="en-US" smtClean="0"/>
              <a:pPr/>
              <a:t>8/25/2025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C6B3AB32-59DF-41F1-9618-EDFBF50496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ADT = Abstract Data Type (ex. queue, stack)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91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914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12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301C3C-9357-41F5-8850-5FE414D4AF3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6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3847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301C3C-9357-41F5-8850-5FE414D4AF3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7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3246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301C3C-9357-41F5-8850-5FE414D4AF3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8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2270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301C3C-9357-41F5-8850-5FE414D4AF3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0180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 created by AI bing.com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05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569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97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insertion_sort</a:t>
            </a:r>
            <a:r>
              <a:rPr lang="en-US" dirty="0"/>
              <a:t>(unsorted):</a:t>
            </a:r>
          </a:p>
          <a:p>
            <a:r>
              <a:rPr lang="en-US" dirty="0"/>
              <a:t>    # Initialize an empty list for sorted elements</a:t>
            </a:r>
          </a:p>
          <a:p>
            <a:r>
              <a:rPr lang="en-US" dirty="0"/>
              <a:t>    sorted = []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# Iterate over each element in the unsorted list</a:t>
            </a:r>
          </a:p>
          <a:p>
            <a:r>
              <a:rPr lang="en-US" dirty="0"/>
              <a:t>    for element in unsorted:</a:t>
            </a:r>
          </a:p>
          <a:p>
            <a:r>
              <a:rPr lang="en-US" dirty="0"/>
              <a:t>        # Insert the element into the correct position in the sorted list</a:t>
            </a:r>
          </a:p>
          <a:p>
            <a:r>
              <a:rPr lang="en-US" dirty="0"/>
              <a:t>        inserted = False</a:t>
            </a:r>
          </a:p>
          <a:p>
            <a:r>
              <a:rPr lang="en-US" dirty="0"/>
              <a:t>       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(sorted)):</a:t>
            </a:r>
          </a:p>
          <a:p>
            <a:r>
              <a:rPr lang="en-US" dirty="0"/>
              <a:t>            if element &lt; sorted[</a:t>
            </a:r>
            <a:r>
              <a:rPr lang="en-US" dirty="0" err="1"/>
              <a:t>i</a:t>
            </a:r>
            <a:r>
              <a:rPr lang="en-US" dirty="0"/>
              <a:t>]:</a:t>
            </a:r>
          </a:p>
          <a:p>
            <a:r>
              <a:rPr lang="en-US" dirty="0"/>
              <a:t>                </a:t>
            </a:r>
            <a:r>
              <a:rPr lang="en-US" dirty="0" err="1"/>
              <a:t>sorted.insert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element)</a:t>
            </a:r>
          </a:p>
          <a:p>
            <a:r>
              <a:rPr lang="en-US" dirty="0"/>
              <a:t>                inserted = True</a:t>
            </a:r>
          </a:p>
          <a:p>
            <a:r>
              <a:rPr lang="en-US" dirty="0"/>
              <a:t>                break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# If the element is greater than all elements in the sorted list, append it</a:t>
            </a:r>
          </a:p>
          <a:p>
            <a:r>
              <a:rPr lang="en-US" dirty="0"/>
              <a:t>        if not inserted:</a:t>
            </a:r>
          </a:p>
          <a:p>
            <a:r>
              <a:rPr lang="en-US" dirty="0"/>
              <a:t>            </a:t>
            </a:r>
            <a:r>
              <a:rPr lang="en-US" dirty="0" err="1"/>
              <a:t>sorted.append</a:t>
            </a:r>
            <a:r>
              <a:rPr lang="en-US" dirty="0"/>
              <a:t>(element)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sorted</a:t>
            </a:r>
          </a:p>
          <a:p>
            <a:endParaRPr lang="en-US" dirty="0"/>
          </a:p>
          <a:p>
            <a:r>
              <a:rPr lang="en-US" dirty="0"/>
              <a:t># Example usage</a:t>
            </a:r>
          </a:p>
          <a:p>
            <a:r>
              <a:rPr lang="en-US" dirty="0"/>
              <a:t>unsorted = [6, 2, 10, 7, 1, 5]</a:t>
            </a:r>
          </a:p>
          <a:p>
            <a:r>
              <a:rPr lang="en-US" dirty="0"/>
              <a:t>print("Unsorted list:", unsorted)</a:t>
            </a:r>
          </a:p>
          <a:p>
            <a:r>
              <a:rPr lang="en-US" dirty="0" err="1"/>
              <a:t>sorted_list</a:t>
            </a:r>
            <a:r>
              <a:rPr lang="en-US" dirty="0"/>
              <a:t> = </a:t>
            </a:r>
            <a:r>
              <a:rPr lang="en-US" dirty="0" err="1"/>
              <a:t>insertion_sort</a:t>
            </a:r>
            <a:r>
              <a:rPr lang="en-US" dirty="0"/>
              <a:t>(unsorted)</a:t>
            </a:r>
          </a:p>
          <a:p>
            <a:r>
              <a:rPr lang="en-US" dirty="0"/>
              <a:t>print("Sorted list:", </a:t>
            </a:r>
            <a:r>
              <a:rPr lang="en-US" dirty="0" err="1"/>
              <a:t>sorted_list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668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837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4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879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88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insertion_sort</a:t>
            </a:r>
            <a:r>
              <a:rPr lang="en-US" dirty="0"/>
              <a:t>(unsorted):</a:t>
            </a:r>
          </a:p>
          <a:p>
            <a:r>
              <a:rPr lang="en-US" dirty="0"/>
              <a:t>    # Initialize an empty list for sorted elements</a:t>
            </a:r>
          </a:p>
          <a:p>
            <a:r>
              <a:rPr lang="en-US" dirty="0"/>
              <a:t>    sorted = []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# Iterate over each element in the unsorted list</a:t>
            </a:r>
          </a:p>
          <a:p>
            <a:r>
              <a:rPr lang="en-US" dirty="0"/>
              <a:t>    for element in unsorted:</a:t>
            </a:r>
          </a:p>
          <a:p>
            <a:r>
              <a:rPr lang="en-US" dirty="0"/>
              <a:t>        # Insert the element into the correct position in the sorted list</a:t>
            </a:r>
          </a:p>
          <a:p>
            <a:r>
              <a:rPr lang="en-US" dirty="0"/>
              <a:t>        inserted = False</a:t>
            </a:r>
          </a:p>
          <a:p>
            <a:r>
              <a:rPr lang="en-US" dirty="0"/>
              <a:t>       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(sorted)):</a:t>
            </a:r>
          </a:p>
          <a:p>
            <a:r>
              <a:rPr lang="en-US" dirty="0"/>
              <a:t>            if element &lt; sorted[</a:t>
            </a:r>
            <a:r>
              <a:rPr lang="en-US" dirty="0" err="1"/>
              <a:t>i</a:t>
            </a:r>
            <a:r>
              <a:rPr lang="en-US" dirty="0"/>
              <a:t>]:</a:t>
            </a:r>
          </a:p>
          <a:p>
            <a:r>
              <a:rPr lang="en-US" dirty="0"/>
              <a:t>                </a:t>
            </a:r>
            <a:r>
              <a:rPr lang="en-US" dirty="0" err="1"/>
              <a:t>sorted.insert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element)</a:t>
            </a:r>
          </a:p>
          <a:p>
            <a:r>
              <a:rPr lang="en-US" dirty="0"/>
              <a:t>                inserted = True</a:t>
            </a:r>
          </a:p>
          <a:p>
            <a:r>
              <a:rPr lang="en-US" dirty="0"/>
              <a:t>                break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# If the element is greater than all elements in the sorted list, append it</a:t>
            </a:r>
          </a:p>
          <a:p>
            <a:r>
              <a:rPr lang="en-US" dirty="0"/>
              <a:t>        if not inserted:</a:t>
            </a:r>
          </a:p>
          <a:p>
            <a:r>
              <a:rPr lang="en-US" dirty="0"/>
              <a:t>            </a:t>
            </a:r>
            <a:r>
              <a:rPr lang="en-US" dirty="0" err="1"/>
              <a:t>sorted.append</a:t>
            </a:r>
            <a:r>
              <a:rPr lang="en-US" dirty="0"/>
              <a:t>(element)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sorted</a:t>
            </a:r>
          </a:p>
          <a:p>
            <a:endParaRPr lang="en-US" dirty="0"/>
          </a:p>
          <a:p>
            <a:r>
              <a:rPr lang="en-US" dirty="0"/>
              <a:t># Example usage</a:t>
            </a:r>
          </a:p>
          <a:p>
            <a:r>
              <a:rPr lang="en-US" dirty="0"/>
              <a:t>unsorted = [6, 2, 10, 7, 1, 5]</a:t>
            </a:r>
          </a:p>
          <a:p>
            <a:r>
              <a:rPr lang="en-US" dirty="0"/>
              <a:t>print("Unsorted list:", </a:t>
            </a:r>
            <a:r>
              <a:rPr lang="en-US" dirty="0" err="1"/>
              <a:t>sorted_list</a:t>
            </a:r>
            <a:r>
              <a:rPr lang="en-US" dirty="0"/>
              <a:t>)</a:t>
            </a:r>
          </a:p>
          <a:p>
            <a:r>
              <a:rPr lang="en-US" dirty="0" err="1"/>
              <a:t>sorted_list</a:t>
            </a:r>
            <a:r>
              <a:rPr lang="en-US" dirty="0"/>
              <a:t> = </a:t>
            </a:r>
            <a:r>
              <a:rPr lang="en-US" dirty="0" err="1"/>
              <a:t>insertion_sort</a:t>
            </a:r>
            <a:r>
              <a:rPr lang="en-US" dirty="0"/>
              <a:t>(unsorted)</a:t>
            </a:r>
          </a:p>
          <a:p>
            <a:r>
              <a:rPr lang="en-US" dirty="0"/>
              <a:t>print("Sorted list:", </a:t>
            </a:r>
            <a:r>
              <a:rPr lang="en-US" dirty="0" err="1"/>
              <a:t>sorted_list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781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#include &lt;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#define SIZE 6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void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insertion_sort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(int unsorted[], int sorted[], int size)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int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sorted_size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= 0;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int u,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, j; //counters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int element; //current element you are positioning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int inserted=0; //0= not yet inserted, 1= inserted 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for (u = 0; u &lt; size; u++)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element = unsorted[u];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inserted = 0; //0 means not yet inserted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// Try to insert into the correct position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for (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= 0;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sorted_size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if (element &lt; sorted[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])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// Shift elements to the right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for (j =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sorted_size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; j &gt;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; j--)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    sorted[j] = sorted[j - 1];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}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sorted[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] = element;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inserted = 1; //1 means inserted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sorted_size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    break;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}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}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// If not inserted, append to end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if (!inserted)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sorted[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sorted_size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] = element;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sorted_size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}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}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int main()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int unsorted[SIZE] = {6, 2, 10, 7, 1, 5};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int sorted[SIZE];  // same size as unsorted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int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; //loop counter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("Unsorted list: ");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for (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= 0;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&lt; SIZE;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("%d ", unsorted[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}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("\n");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insertion_sort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(unsorted, sorted, SIZE);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586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("Sorted list: ");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for (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= 0;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&lt; SIZE;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("%d ", sorted[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}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("\n");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    return 0;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95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55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#python</a:t>
            </a:r>
          </a:p>
          <a:p>
            <a:r>
              <a:rPr lang="en-US" dirty="0"/>
              <a:t>def insertion_sort(list):</a:t>
            </a:r>
          </a:p>
          <a:p>
            <a:r>
              <a:rPr lang="en-US" dirty="0"/>
              <a:t>    # Traverse through 1 to len(arr)</a:t>
            </a:r>
          </a:p>
          <a:p>
            <a:r>
              <a:rPr lang="en-US" dirty="0"/>
              <a:t>    for i in range(1, len(list)):</a:t>
            </a:r>
          </a:p>
          <a:p>
            <a:r>
              <a:rPr lang="en-US" dirty="0"/>
              <a:t>        current = list[i]</a:t>
            </a:r>
          </a:p>
          <a:p>
            <a:r>
              <a:rPr lang="en-US" dirty="0"/>
              <a:t>        j = i - 1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# Move elements of arr[0..i-1], that are greater than key,</a:t>
            </a:r>
          </a:p>
          <a:p>
            <a:r>
              <a:rPr lang="en-US" dirty="0"/>
              <a:t>        # to one position ahead of their current position</a:t>
            </a:r>
          </a:p>
          <a:p>
            <a:r>
              <a:rPr lang="en-US" dirty="0"/>
              <a:t>        while j &gt;= 0 and current &lt; list[j]:</a:t>
            </a:r>
          </a:p>
          <a:p>
            <a:r>
              <a:rPr lang="en-US" dirty="0"/>
              <a:t>            list[j + 1] = list[j]</a:t>
            </a:r>
          </a:p>
          <a:p>
            <a:r>
              <a:rPr lang="en-US" dirty="0"/>
              <a:t>            j -= 1</a:t>
            </a:r>
          </a:p>
          <a:p>
            <a:r>
              <a:rPr lang="en-US" dirty="0"/>
              <a:t>        list[j + 1] = current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x = [12, 11, 13, 5, 6]</a:t>
            </a:r>
          </a:p>
          <a:p>
            <a:r>
              <a:rPr lang="en-US" dirty="0"/>
              <a:t>print(f"Original array: {x}")</a:t>
            </a:r>
          </a:p>
          <a:p>
            <a:r>
              <a:rPr lang="en-US" dirty="0"/>
              <a:t>insertion_sort(x)</a:t>
            </a:r>
          </a:p>
          <a:p>
            <a:r>
              <a:rPr lang="en-US" dirty="0"/>
              <a:t>print(f"Sorted array: {x}")</a:t>
            </a:r>
          </a:p>
          <a:p>
            <a:endParaRPr lang="en-US" dirty="0"/>
          </a:p>
          <a:p>
            <a:r>
              <a:rPr lang="en-US" dirty="0"/>
              <a:t>// C **********************************************************************************************************</a:t>
            </a:r>
          </a:p>
          <a:p>
            <a:r>
              <a:rPr lang="en-US" dirty="0"/>
              <a:t>#include &lt;stdio.h&gt;</a:t>
            </a:r>
          </a:p>
          <a:p>
            <a:endParaRPr lang="en-US" dirty="0"/>
          </a:p>
          <a:p>
            <a:r>
              <a:rPr lang="en-US" dirty="0"/>
              <a:t>// Function to perform Insertion Sort</a:t>
            </a:r>
          </a:p>
          <a:p>
            <a:r>
              <a:rPr lang="en-US" dirty="0"/>
              <a:t>void insertionSort(int arr[], int n) {</a:t>
            </a:r>
          </a:p>
          <a:p>
            <a:r>
              <a:rPr lang="en-US" dirty="0"/>
              <a:t>    for (int i = 1; i &lt; n; i++) {</a:t>
            </a:r>
          </a:p>
          <a:p>
            <a:r>
              <a:rPr lang="en-US" dirty="0"/>
              <a:t>        int key = arr[i];</a:t>
            </a:r>
          </a:p>
          <a:p>
            <a:r>
              <a:rPr lang="en-US" dirty="0"/>
              <a:t>        int j = i - 1;</a:t>
            </a:r>
          </a:p>
          <a:p>
            <a:endParaRPr lang="en-US" dirty="0"/>
          </a:p>
          <a:p>
            <a:r>
              <a:rPr lang="en-US" dirty="0"/>
              <a:t>        // Move elements of arr[0..i-1] that are greater than key</a:t>
            </a:r>
          </a:p>
          <a:p>
            <a:r>
              <a:rPr lang="en-US" dirty="0"/>
              <a:t>        // to one position ahead of their current position</a:t>
            </a:r>
          </a:p>
          <a:p>
            <a:r>
              <a:rPr lang="en-US" dirty="0"/>
              <a:t>        while (j &gt;= 0 &amp;&amp; arr[j] &gt; key) {</a:t>
            </a:r>
          </a:p>
          <a:p>
            <a:r>
              <a:rPr lang="en-US" dirty="0"/>
              <a:t>            arr[j + 1] = arr[j];</a:t>
            </a:r>
          </a:p>
          <a:p>
            <a:r>
              <a:rPr lang="en-US" dirty="0"/>
              <a:t>            j = j - 1;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arr[j + 1] = key;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print an array</a:t>
            </a:r>
          </a:p>
          <a:p>
            <a:r>
              <a:rPr lang="en-US" dirty="0"/>
              <a:t>void printArray(int arr[], int size) {</a:t>
            </a:r>
          </a:p>
          <a:p>
            <a:r>
              <a:rPr lang="en-US" dirty="0"/>
              <a:t>    for (int i = 0; i &lt; size; i++) {</a:t>
            </a:r>
          </a:p>
          <a:p>
            <a:r>
              <a:rPr lang="en-US" dirty="0"/>
              <a:t>        printf("%d ", arr[i]);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printf("\n");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Main function to test the insertion sort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arr[] = {12, 11, 13, 5, 6};</a:t>
            </a:r>
          </a:p>
          <a:p>
            <a:r>
              <a:rPr lang="en-US" dirty="0"/>
              <a:t>    int n = sizeof(arr) / sizeof(arr[0]);</a:t>
            </a:r>
          </a:p>
          <a:p>
            <a:endParaRPr lang="en-US" dirty="0"/>
          </a:p>
          <a:p>
            <a:r>
              <a:rPr lang="en-US" dirty="0"/>
              <a:t>    printf("Original array: \n");</a:t>
            </a:r>
          </a:p>
          <a:p>
            <a:r>
              <a:rPr lang="en-US" dirty="0"/>
              <a:t>    printArray(arr, n);</a:t>
            </a:r>
          </a:p>
          <a:p>
            <a:endParaRPr lang="en-US" dirty="0"/>
          </a:p>
          <a:p>
            <a:r>
              <a:rPr lang="en-US" dirty="0"/>
              <a:t>    insertionSort(arr, n);</a:t>
            </a:r>
          </a:p>
          <a:p>
            <a:endParaRPr lang="en-US" dirty="0"/>
          </a:p>
          <a:p>
            <a:r>
              <a:rPr lang="en-US" dirty="0"/>
              <a:t>    printf("Sorted array: \n");</a:t>
            </a:r>
          </a:p>
          <a:p>
            <a:r>
              <a:rPr lang="en-US" dirty="0"/>
              <a:t>    printArray(arr, n);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037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insertion_sort(list):</a:t>
            </a:r>
          </a:p>
          <a:p>
            <a:endParaRPr lang="en-US" dirty="0"/>
          </a:p>
          <a:p>
            <a:r>
              <a:rPr lang="en-US" dirty="0"/>
              <a:t>    # Traverse through 1 to len(arr)</a:t>
            </a:r>
          </a:p>
          <a:p>
            <a:endParaRPr lang="en-US" dirty="0"/>
          </a:p>
          <a:p>
            <a:r>
              <a:rPr lang="en-US" dirty="0"/>
              <a:t>    for i in range(1, len(list)):</a:t>
            </a:r>
          </a:p>
          <a:p>
            <a:endParaRPr lang="en-US" dirty="0"/>
          </a:p>
          <a:p>
            <a:r>
              <a:rPr lang="en-US" dirty="0"/>
              <a:t>        current = list[i]</a:t>
            </a:r>
          </a:p>
          <a:p>
            <a:endParaRPr lang="en-US" dirty="0"/>
          </a:p>
          <a:p>
            <a:r>
              <a:rPr lang="en-US" dirty="0"/>
              <a:t>        j = i </a:t>
            </a:r>
          </a:p>
          <a:p>
            <a:endParaRPr lang="en-US" dirty="0"/>
          </a:p>
          <a:p>
            <a:r>
              <a:rPr lang="en-US" dirty="0"/>
              <a:t>        </a:t>
            </a:r>
          </a:p>
          <a:p>
            <a:endParaRPr lang="en-US" dirty="0"/>
          </a:p>
          <a:p>
            <a:r>
              <a:rPr lang="en-US" dirty="0"/>
              <a:t>        # Move elements of arr[0..i-1], that are greater than key,</a:t>
            </a:r>
          </a:p>
          <a:p>
            <a:endParaRPr lang="en-US" dirty="0"/>
          </a:p>
          <a:p>
            <a:r>
              <a:rPr lang="en-US" dirty="0"/>
              <a:t>        # to one position ahead of their current position</a:t>
            </a:r>
          </a:p>
          <a:p>
            <a:endParaRPr lang="en-US" dirty="0"/>
          </a:p>
          <a:p>
            <a:r>
              <a:rPr lang="en-US" dirty="0"/>
              <a:t>        while j &gt; 0 and current &lt; list[j-1]:</a:t>
            </a:r>
          </a:p>
          <a:p>
            <a:endParaRPr lang="en-US" dirty="0"/>
          </a:p>
          <a:p>
            <a:r>
              <a:rPr lang="en-US" dirty="0"/>
              <a:t>            list[j], list[j-1] = list[j-1], list[j]</a:t>
            </a:r>
          </a:p>
          <a:p>
            <a:endParaRPr lang="en-US" dirty="0"/>
          </a:p>
          <a:p>
            <a:r>
              <a:rPr lang="en-US" dirty="0"/>
              <a:t>            j -= 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x = [12, 11, 13, 5, 6]</a:t>
            </a:r>
          </a:p>
          <a:p>
            <a:endParaRPr lang="en-US" dirty="0"/>
          </a:p>
          <a:p>
            <a:r>
              <a:rPr lang="en-US" dirty="0"/>
              <a:t>print(f"Original array: {x}")</a:t>
            </a:r>
          </a:p>
          <a:p>
            <a:endParaRPr lang="en-US" dirty="0"/>
          </a:p>
          <a:p>
            <a:r>
              <a:rPr lang="en-US" dirty="0"/>
              <a:t>insertion_sort(x)</a:t>
            </a:r>
          </a:p>
          <a:p>
            <a:endParaRPr lang="en-US" dirty="0"/>
          </a:p>
          <a:p>
            <a:r>
              <a:rPr lang="en-US" dirty="0"/>
              <a:t>print(f"Sorted array: {x}")</a:t>
            </a:r>
          </a:p>
          <a:p>
            <a:endParaRPr lang="en-US" dirty="0"/>
          </a:p>
          <a:p>
            <a:r>
              <a:rPr lang="en-US" dirty="0"/>
              <a:t>//**********************************************************************************************************</a:t>
            </a:r>
          </a:p>
          <a:p>
            <a:r>
              <a:rPr lang="en-US" dirty="0"/>
              <a:t>#include &lt;stdio.h&gt;</a:t>
            </a:r>
          </a:p>
          <a:p>
            <a:endParaRPr lang="en-US" dirty="0"/>
          </a:p>
          <a:p>
            <a:r>
              <a:rPr lang="en-US" dirty="0"/>
              <a:t>// Function to perform Insertion Sort</a:t>
            </a:r>
          </a:p>
          <a:p>
            <a:r>
              <a:rPr lang="en-US" dirty="0"/>
              <a:t>void insertionSort(int arr[], int n) {</a:t>
            </a:r>
          </a:p>
          <a:p>
            <a:r>
              <a:rPr lang="en-US" dirty="0"/>
              <a:t>    int key, j, temp;</a:t>
            </a:r>
          </a:p>
          <a:p>
            <a:r>
              <a:rPr lang="en-US" dirty="0"/>
              <a:t>    for (int i = 1; i &lt; n; i++) {</a:t>
            </a:r>
          </a:p>
          <a:p>
            <a:r>
              <a:rPr lang="en-US" dirty="0"/>
              <a:t>        key = arr[i];</a:t>
            </a:r>
          </a:p>
          <a:p>
            <a:r>
              <a:rPr lang="en-US" dirty="0"/>
              <a:t>        j = i;</a:t>
            </a:r>
          </a:p>
          <a:p>
            <a:endParaRPr lang="en-US" dirty="0"/>
          </a:p>
          <a:p>
            <a:r>
              <a:rPr lang="en-US" dirty="0"/>
              <a:t>        // Move elements of arr[0..i-1] that are greater than key</a:t>
            </a:r>
          </a:p>
          <a:p>
            <a:r>
              <a:rPr lang="en-US" dirty="0"/>
              <a:t>        // to one position ahead of their current position</a:t>
            </a:r>
          </a:p>
          <a:p>
            <a:r>
              <a:rPr lang="en-US" dirty="0"/>
              <a:t>        while (j &gt; 0 &amp;&amp; arr[j-1] &gt; key) {</a:t>
            </a:r>
          </a:p>
          <a:p>
            <a:r>
              <a:rPr lang="en-US" dirty="0"/>
              <a:t>            temp = arr[j];</a:t>
            </a:r>
          </a:p>
          <a:p>
            <a:r>
              <a:rPr lang="en-US" dirty="0"/>
              <a:t>            arr[j] = arr[j - 1];</a:t>
            </a:r>
          </a:p>
          <a:p>
            <a:r>
              <a:rPr lang="en-US" dirty="0"/>
              <a:t>            arr[j - 1] = temp;</a:t>
            </a:r>
          </a:p>
          <a:p>
            <a:r>
              <a:rPr lang="en-US" dirty="0"/>
              <a:t>            j = j - 1;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print an array</a:t>
            </a:r>
          </a:p>
          <a:p>
            <a:r>
              <a:rPr lang="en-US" dirty="0"/>
              <a:t>void printArray(int arr[], int size) {</a:t>
            </a:r>
          </a:p>
          <a:p>
            <a:r>
              <a:rPr lang="en-US" dirty="0"/>
              <a:t>    for (int i = 0; i &lt; size; i++) {</a:t>
            </a:r>
          </a:p>
          <a:p>
            <a:r>
              <a:rPr lang="en-US" dirty="0"/>
              <a:t>        printf("%d ", arr[i]);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Main function to test the insertion sort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[] = {12, 11, 13, 5, 6};</a:t>
            </a:r>
          </a:p>
          <a:p>
            <a:r>
              <a:rPr lang="en-US" dirty="0"/>
              <a:t>    int n =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/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[0]);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("Original array: \n");</a:t>
            </a:r>
          </a:p>
          <a:p>
            <a:r>
              <a:rPr lang="en-US" dirty="0"/>
              <a:t>    </a:t>
            </a:r>
            <a:r>
              <a:rPr lang="en-US" dirty="0" err="1"/>
              <a:t>printArray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n);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insertionSort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n);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("Sorted array: \n");</a:t>
            </a:r>
          </a:p>
          <a:p>
            <a:r>
              <a:rPr lang="en-US" dirty="0"/>
              <a:t>    </a:t>
            </a:r>
            <a:r>
              <a:rPr lang="en-US" dirty="0" err="1"/>
              <a:t>printArray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n);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51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59DB-F9DA-4C28-E082-2D1AAC2B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BB568-2EB2-6BDA-789B-2C53BAABA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E211F-3816-F257-88AC-387A750AA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#define SIZE 6</a:t>
            </a:r>
          </a:p>
          <a:p>
            <a:endParaRPr lang="en-US" dirty="0"/>
          </a:p>
          <a:p>
            <a:r>
              <a:rPr lang="en-US" dirty="0"/>
              <a:t>void </a:t>
            </a:r>
            <a:r>
              <a:rPr lang="en-US" dirty="0" err="1"/>
              <a:t>insertion_sort</a:t>
            </a:r>
            <a:r>
              <a:rPr lang="en-US" dirty="0"/>
              <a:t>(int list[], int size) {</a:t>
            </a:r>
          </a:p>
          <a:p>
            <a:r>
              <a:rPr lang="en-US" dirty="0"/>
              <a:t>    int u, j;</a:t>
            </a:r>
          </a:p>
          <a:p>
            <a:r>
              <a:rPr lang="en-US" dirty="0"/>
              <a:t>    int element;</a:t>
            </a:r>
          </a:p>
          <a:p>
            <a:r>
              <a:rPr lang="en-US" dirty="0"/>
              <a:t>    for (u = 1; u &lt; size; u++) {</a:t>
            </a:r>
          </a:p>
          <a:p>
            <a:r>
              <a:rPr lang="en-US" dirty="0"/>
              <a:t>        element = list[u];</a:t>
            </a:r>
          </a:p>
          <a:p>
            <a:r>
              <a:rPr lang="en-US" dirty="0"/>
              <a:t>        j = u;</a:t>
            </a:r>
          </a:p>
          <a:p>
            <a:r>
              <a:rPr lang="en-US" dirty="0"/>
              <a:t>        while (j &gt; 0 &amp;&amp; list[j - 1] &gt; element) {</a:t>
            </a:r>
          </a:p>
          <a:p>
            <a:r>
              <a:rPr lang="en-US" dirty="0"/>
              <a:t>            list[j] = list[j - 1];</a:t>
            </a:r>
          </a:p>
          <a:p>
            <a:r>
              <a:rPr lang="en-US" dirty="0"/>
              <a:t>            j--;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list[j] = element;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list[SIZE] = {6, 2, 10, 7, 1, 5};</a:t>
            </a:r>
          </a:p>
          <a:p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("Unsorted list: ");</a:t>
            </a:r>
          </a:p>
          <a:p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", list[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insertion_sort</a:t>
            </a:r>
            <a:r>
              <a:rPr lang="en-US" dirty="0"/>
              <a:t>(list, SIZE);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("Sorted list: ");</a:t>
            </a:r>
          </a:p>
          <a:p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", list[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2798F-2E92-A93B-37FB-AD71BC2A5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550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265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bubble_sort</a:t>
            </a:r>
            <a:r>
              <a:rPr lang="en-US" dirty="0"/>
              <a:t>(x):</a:t>
            </a:r>
          </a:p>
          <a:p>
            <a:r>
              <a:rPr lang="en-US" dirty="0"/>
              <a:t>    n = </a:t>
            </a:r>
            <a:r>
              <a:rPr lang="en-US" dirty="0" err="1"/>
              <a:t>len</a:t>
            </a:r>
            <a:r>
              <a:rPr lang="en-US" dirty="0"/>
              <a:t>(x)</a:t>
            </a:r>
          </a:p>
          <a:p>
            <a:r>
              <a:rPr lang="en-US" dirty="0"/>
              <a:t>    # Traverse through all elements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range(n):</a:t>
            </a:r>
          </a:p>
          <a:p>
            <a:r>
              <a:rPr lang="en-US" dirty="0"/>
              <a:t>        # Flag to detect any swap</a:t>
            </a:r>
          </a:p>
          <a:p>
            <a:r>
              <a:rPr lang="en-US" dirty="0"/>
              <a:t>        swapped = False</a:t>
            </a:r>
          </a:p>
          <a:p>
            <a:r>
              <a:rPr lang="en-US" dirty="0"/>
              <a:t>        # Last </a:t>
            </a:r>
            <a:r>
              <a:rPr lang="en-US" dirty="0" err="1"/>
              <a:t>i</a:t>
            </a:r>
            <a:r>
              <a:rPr lang="en-US" dirty="0"/>
              <a:t> elements are already sorted</a:t>
            </a:r>
          </a:p>
          <a:p>
            <a:r>
              <a:rPr lang="en-US" dirty="0"/>
              <a:t>        for j in range(1, n - </a:t>
            </a:r>
            <a:r>
              <a:rPr lang="en-US" dirty="0" err="1"/>
              <a:t>i</a:t>
            </a:r>
            <a:r>
              <a:rPr lang="en-US" dirty="0"/>
              <a:t>):</a:t>
            </a:r>
          </a:p>
          <a:p>
            <a:r>
              <a:rPr lang="en-US" dirty="0"/>
              <a:t>            # Swap if the element found is greater than the next element</a:t>
            </a:r>
          </a:p>
          <a:p>
            <a:r>
              <a:rPr lang="en-US" dirty="0"/>
              <a:t>            if x[j - 1] &gt; x[j]:</a:t>
            </a:r>
          </a:p>
          <a:p>
            <a:r>
              <a:rPr lang="en-US" dirty="0"/>
              <a:t>                x[j - 1], x[j] = x[j], x[j - 1]</a:t>
            </a:r>
          </a:p>
          <a:p>
            <a:r>
              <a:rPr lang="en-US" dirty="0"/>
              <a:t>                swapped = True</a:t>
            </a:r>
          </a:p>
          <a:p>
            <a:r>
              <a:rPr lang="en-US" dirty="0"/>
              <a:t>        # If no elements were swapped, break</a:t>
            </a:r>
          </a:p>
          <a:p>
            <a:r>
              <a:rPr lang="en-US" dirty="0"/>
              <a:t>        if not swapped:</a:t>
            </a:r>
          </a:p>
          <a:p>
            <a:r>
              <a:rPr lang="en-US" dirty="0"/>
              <a:t>            break</a:t>
            </a:r>
          </a:p>
          <a:p>
            <a:endParaRPr lang="en-US" dirty="0"/>
          </a:p>
          <a:p>
            <a:r>
              <a:rPr lang="en-US" dirty="0"/>
              <a:t>numbers = [6, 2, 10, 7, 1, 5]</a:t>
            </a:r>
          </a:p>
          <a:p>
            <a:r>
              <a:rPr lang="en-US" dirty="0"/>
              <a:t>print(</a:t>
            </a:r>
            <a:r>
              <a:rPr lang="en-US" dirty="0" err="1"/>
              <a:t>f"Original</a:t>
            </a:r>
            <a:r>
              <a:rPr lang="en-US" dirty="0"/>
              <a:t> array: {numbers}")</a:t>
            </a:r>
          </a:p>
          <a:p>
            <a:r>
              <a:rPr lang="en-US" dirty="0" err="1"/>
              <a:t>bubble_sort</a:t>
            </a:r>
            <a:r>
              <a:rPr lang="en-US" dirty="0"/>
              <a:t>(numbers)</a:t>
            </a:r>
          </a:p>
          <a:p>
            <a:r>
              <a:rPr lang="en-US" dirty="0"/>
              <a:t>print(</a:t>
            </a:r>
            <a:r>
              <a:rPr lang="en-US" dirty="0" err="1"/>
              <a:t>f"Sorted</a:t>
            </a:r>
            <a:r>
              <a:rPr lang="en-US" dirty="0"/>
              <a:t> array: {numbers}")</a:t>
            </a:r>
          </a:p>
          <a:p>
            <a:r>
              <a:rPr lang="en-US" dirty="0"/>
              <a:t>//**********************************************************************************************************</a:t>
            </a:r>
          </a:p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// Function to perform Bubble Sort</a:t>
            </a:r>
          </a:p>
          <a:p>
            <a:r>
              <a:rPr lang="en-US" dirty="0"/>
              <a:t>void </a:t>
            </a:r>
            <a:r>
              <a:rPr lang="en-US" dirty="0" err="1"/>
              <a:t>bubbleSort</a:t>
            </a:r>
            <a:r>
              <a:rPr lang="en-US" dirty="0"/>
              <a:t>(int </a:t>
            </a:r>
            <a:r>
              <a:rPr lang="en-US" dirty="0" err="1"/>
              <a:t>arr</a:t>
            </a:r>
            <a:r>
              <a:rPr lang="en-US" dirty="0"/>
              <a:t>[], int n) {</a:t>
            </a:r>
          </a:p>
          <a:p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, j;</a:t>
            </a:r>
          </a:p>
          <a:p>
            <a:r>
              <a:rPr lang="en-US" dirty="0"/>
              <a:t>    int swapped;</a:t>
            </a:r>
          </a:p>
          <a:p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 - 1;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swapped = 0;</a:t>
            </a:r>
          </a:p>
          <a:p>
            <a:r>
              <a:rPr lang="en-US" dirty="0"/>
              <a:t>        // Last </a:t>
            </a:r>
            <a:r>
              <a:rPr lang="en-US" dirty="0" err="1"/>
              <a:t>i</a:t>
            </a:r>
            <a:r>
              <a:rPr lang="en-US" dirty="0"/>
              <a:t> elements are already in place</a:t>
            </a:r>
          </a:p>
          <a:p>
            <a:r>
              <a:rPr lang="en-US" dirty="0"/>
              <a:t>        for (j = 1; j &lt; n - </a:t>
            </a:r>
            <a:r>
              <a:rPr lang="en-US" dirty="0" err="1"/>
              <a:t>i</a:t>
            </a:r>
            <a:r>
              <a:rPr lang="en-US" dirty="0"/>
              <a:t>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            // Compare and swap if the previous element is greater</a:t>
            </a:r>
          </a:p>
          <a:p>
            <a:r>
              <a:rPr lang="en-US" dirty="0"/>
              <a:t>            if (</a:t>
            </a:r>
            <a:r>
              <a:rPr lang="en-US" dirty="0" err="1"/>
              <a:t>arr</a:t>
            </a:r>
            <a:r>
              <a:rPr lang="en-US" dirty="0"/>
              <a:t>[j - 1] &gt; </a:t>
            </a:r>
            <a:r>
              <a:rPr lang="en-US" dirty="0" err="1"/>
              <a:t>arr</a:t>
            </a:r>
            <a:r>
              <a:rPr lang="en-US" dirty="0"/>
              <a:t>[j]) {</a:t>
            </a:r>
          </a:p>
          <a:p>
            <a:r>
              <a:rPr lang="en-US" dirty="0"/>
              <a:t>                int temp = </a:t>
            </a:r>
            <a:r>
              <a:rPr lang="en-US" dirty="0" err="1"/>
              <a:t>arr</a:t>
            </a:r>
            <a:r>
              <a:rPr lang="en-US" dirty="0"/>
              <a:t>[j];</a:t>
            </a:r>
          </a:p>
          <a:p>
            <a:r>
              <a:rPr lang="en-US" dirty="0"/>
              <a:t>                </a:t>
            </a:r>
            <a:r>
              <a:rPr lang="en-US" dirty="0" err="1"/>
              <a:t>arr</a:t>
            </a:r>
            <a:r>
              <a:rPr lang="en-US" dirty="0"/>
              <a:t>[j] = </a:t>
            </a:r>
            <a:r>
              <a:rPr lang="en-US" dirty="0" err="1"/>
              <a:t>arr</a:t>
            </a:r>
            <a:r>
              <a:rPr lang="en-US" dirty="0"/>
              <a:t>[j - 1];</a:t>
            </a:r>
          </a:p>
          <a:p>
            <a:r>
              <a:rPr lang="en-US" dirty="0"/>
              <a:t>                </a:t>
            </a:r>
            <a:r>
              <a:rPr lang="en-US" dirty="0" err="1"/>
              <a:t>arr</a:t>
            </a:r>
            <a:r>
              <a:rPr lang="en-US" dirty="0"/>
              <a:t>[j - 1] = temp;</a:t>
            </a:r>
          </a:p>
          <a:p>
            <a:r>
              <a:rPr lang="en-US" dirty="0"/>
              <a:t>                swapped = 1;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// If no two elements were swapped by the inner loop, then break</a:t>
            </a:r>
          </a:p>
          <a:p>
            <a:r>
              <a:rPr lang="en-US" dirty="0"/>
              <a:t>        if (swapped == 0)</a:t>
            </a:r>
          </a:p>
          <a:p>
            <a:r>
              <a:rPr lang="en-US" dirty="0"/>
              <a:t>            break;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print the array</a:t>
            </a:r>
          </a:p>
          <a:p>
            <a:r>
              <a:rPr lang="en-US" dirty="0"/>
              <a:t>void </a:t>
            </a:r>
            <a:r>
              <a:rPr lang="en-US" dirty="0" err="1"/>
              <a:t>printArray</a:t>
            </a:r>
            <a:r>
              <a:rPr lang="en-US" dirty="0"/>
              <a:t>(int </a:t>
            </a:r>
            <a:r>
              <a:rPr lang="en-US" dirty="0" err="1"/>
              <a:t>arr</a:t>
            </a:r>
            <a:r>
              <a:rPr lang="en-US" dirty="0"/>
              <a:t>[], int size) {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printf</a:t>
            </a:r>
            <a:r>
              <a:rPr lang="en-US" dirty="0"/>
              <a:t>("%d ",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Main function to test the bubble sort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[] = {64, 34, 25, 12, 22, 11, 90};</a:t>
            </a:r>
          </a:p>
          <a:p>
            <a:r>
              <a:rPr lang="en-US" dirty="0"/>
              <a:t>    int n =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/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[0]);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("Original array: \n");</a:t>
            </a:r>
          </a:p>
          <a:p>
            <a:r>
              <a:rPr lang="en-US" dirty="0"/>
              <a:t>    </a:t>
            </a:r>
            <a:r>
              <a:rPr lang="en-US" dirty="0" err="1"/>
              <a:t>printArray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n);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bubbleSort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n);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("Sorted array: \n");</a:t>
            </a:r>
          </a:p>
          <a:p>
            <a:r>
              <a:rPr lang="en-US" dirty="0"/>
              <a:t>    </a:t>
            </a:r>
            <a:r>
              <a:rPr lang="en-US" dirty="0" err="1"/>
              <a:t>printArray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n);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4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/koMpGeZpu4Q?si=TTk7ukL90WmMxQIw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4708E-586B-4403-9055-F6417AB6435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325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F366094-956C-4EAE-8D5D-57B1B6CC213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28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208EE-EE39-0D38-0431-6A4B30DF6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89DCA386-8E71-7F84-53EF-400C3A8FF6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F366094-956C-4EAE-8D5D-57B1B6CC213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29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8CC2AE0-5878-A649-4C17-8E0D576B30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AF85D4A-364E-8F71-CC7C-8EAF128F8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70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fld id="{B61BEF0D-F0BB-DE4B-95CE-6DB70DBA9567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 cap="all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cap="all">
          <a:solidFill>
            <a:schemeClr val="bg1"/>
          </a:solidFill>
          <a:latin typeface="Times New Roman" panose="02020603050405020304" pitchFamily="18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b="0" i="0" kern="1200">
          <a:solidFill>
            <a:schemeClr val="tx2"/>
          </a:solidFill>
          <a:latin typeface="Times New Roman" panose="02020603050405020304" pitchFamily="18" charset="0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athermarriott/DataStructures/blob/main/insertionSortV1.c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athermarriott/DataStructures/blob/main/insertionSortV1.c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oMpGeZpu4Q?feature=oembed" TargetMode="External"/><Relationship Id="rId4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s.usfca.edu/~galles/visualization/ComparisonSort.html" TargetMode="External"/><Relationship Id="rId5" Type="http://schemas.openxmlformats.org/officeDocument/2006/relationships/hyperlink" Target="https://youtu.be/xli_FI7CuzA?si=RlkIpG0zN81b-KRP" TargetMode="External"/><Relationship Id="rId4" Type="http://schemas.openxmlformats.org/officeDocument/2006/relationships/hyperlink" Target="https://youtu.be/JU767SDMDvA?si=S_06SwIbh1O9ti9M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2" y="4455816"/>
            <a:ext cx="11260666" cy="1627101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Data structures and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6215" y="5828807"/>
            <a:ext cx="4183184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Data Structures, ADT,  Algorithms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/>
              <a:t>Today’s Lecture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814677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18051"/>
            <a:ext cx="11451020" cy="4163647"/>
          </a:xfrm>
        </p:spPr>
        <p:txBody>
          <a:bodyPr anchor="t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</a:rPr>
              <a:t>Primitive Data Types </a:t>
            </a:r>
            <a:r>
              <a:rPr lang="en-US" sz="3200" dirty="0"/>
              <a:t>(built-in, defined by the language) </a:t>
            </a:r>
            <a:br>
              <a:rPr lang="en-US" sz="3200" dirty="0"/>
            </a:br>
            <a:r>
              <a:rPr lang="en-US" sz="3200" dirty="0"/>
              <a:t>For example, C has: </a:t>
            </a:r>
            <a:r>
              <a:rPr lang="en-US" sz="3200" dirty="0">
                <a:solidFill>
                  <a:srgbClr val="00B0F0"/>
                </a:solidFill>
              </a:rPr>
              <a:t>char, short, int, long int, long long int, float, double, long double </a:t>
            </a:r>
          </a:p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</a:rPr>
              <a:t>User Defined Data Types </a:t>
            </a:r>
            <a:r>
              <a:rPr lang="en-US" sz="3200" dirty="0">
                <a:solidFill>
                  <a:schemeClr val="tx1"/>
                </a:solidFill>
              </a:rPr>
              <a:t>most languages allow user defined data types. Ex – C allows struct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                   C++ has struct and class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082DB-4548-2D84-CA51-1195322EA98F}"/>
              </a:ext>
            </a:extLst>
          </p:cNvPr>
          <p:cNvSpPr/>
          <p:nvPr/>
        </p:nvSpPr>
        <p:spPr>
          <a:xfrm>
            <a:off x="7393021" y="4221804"/>
            <a:ext cx="4798979" cy="26361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dirty="0">
                <a:latin typeface="Times New Roman" panose="02020603050405020304" pitchFamily="18" charset="0"/>
              </a:rPr>
              <a:t>// Define a struct for a Person</a:t>
            </a:r>
          </a:p>
          <a:p>
            <a:r>
              <a:rPr lang="en-US" sz="2400" dirty="0">
                <a:latin typeface="Times New Roman" panose="02020603050405020304" pitchFamily="18" charset="0"/>
              </a:rPr>
              <a:t>struct Person {</a:t>
            </a:r>
          </a:p>
          <a:p>
            <a:r>
              <a:rPr lang="en-US" sz="2400" dirty="0">
                <a:latin typeface="Times New Roman" panose="02020603050405020304" pitchFamily="18" charset="0"/>
              </a:rPr>
              <a:t>    char name[50];</a:t>
            </a:r>
          </a:p>
          <a:p>
            <a:r>
              <a:rPr lang="en-US" sz="2400" dirty="0">
                <a:latin typeface="Times New Roman" panose="02020603050405020304" pitchFamily="18" charset="0"/>
              </a:rPr>
              <a:t>    int age;</a:t>
            </a:r>
          </a:p>
          <a:p>
            <a:r>
              <a:rPr lang="en-US" sz="2400" dirty="0">
                <a:latin typeface="Times New Roman" panose="02020603050405020304" pitchFamily="18" charset="0"/>
              </a:rPr>
              <a:t>    float height;</a:t>
            </a:r>
          </a:p>
          <a:p>
            <a:r>
              <a:rPr lang="en-US" sz="2400" dirty="0">
                <a:latin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9092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1912081"/>
            <a:ext cx="11208667" cy="3657029"/>
          </a:xfrm>
        </p:spPr>
        <p:txBody>
          <a:bodyPr anchor="t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</a:rPr>
              <a:t>Linear Data Structures </a:t>
            </a:r>
            <a:r>
              <a:rPr lang="en-US" sz="3200" dirty="0">
                <a:solidFill>
                  <a:schemeClr val="tx1"/>
                </a:solidFill>
              </a:rPr>
              <a:t>- elements can be accessed in order (not necessarily stored in order),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Ex. arrays, stacks, and queues</a:t>
            </a:r>
          </a:p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endParaRPr 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0                 1                    2                     3                  4                   5</a:t>
            </a:r>
          </a:p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3200" b="1" dirty="0">
                <a:solidFill>
                  <a:srgbClr val="0070C0"/>
                </a:solidFill>
              </a:rPr>
              <a:t>Non-Linear Data Structures </a:t>
            </a:r>
            <a:r>
              <a:rPr lang="en-US" sz="3200" dirty="0">
                <a:solidFill>
                  <a:schemeClr val="tx1"/>
                </a:solidFill>
              </a:rPr>
              <a:t>– elements are stored/accessed in a non-linear order Ex. trees and graphs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8649E0-9336-86D0-98FA-B1A9A483C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491636"/>
              </p:ext>
            </p:extLst>
          </p:nvPr>
        </p:nvGraphicFramePr>
        <p:xfrm>
          <a:off x="2679114" y="3063240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A782DEB-2CB4-FB12-311A-0B44A5380E11}"/>
              </a:ext>
            </a:extLst>
          </p:cNvPr>
          <p:cNvSpPr/>
          <p:nvPr/>
        </p:nvSpPr>
        <p:spPr>
          <a:xfrm>
            <a:off x="9578911" y="4724400"/>
            <a:ext cx="351693" cy="323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881694-785C-1E8E-F9FA-7BF66F15EDD1}"/>
              </a:ext>
            </a:extLst>
          </p:cNvPr>
          <p:cNvSpPr/>
          <p:nvPr/>
        </p:nvSpPr>
        <p:spPr>
          <a:xfrm>
            <a:off x="9227218" y="5198627"/>
            <a:ext cx="351693" cy="323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77459-7822-B1D6-1D17-6DAB8AA13B80}"/>
              </a:ext>
            </a:extLst>
          </p:cNvPr>
          <p:cNvSpPr/>
          <p:nvPr/>
        </p:nvSpPr>
        <p:spPr>
          <a:xfrm>
            <a:off x="9972808" y="5226793"/>
            <a:ext cx="351693" cy="323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56B3B6-DCA8-BD0C-80A5-5701B2A5B4A1}"/>
              </a:ext>
            </a:extLst>
          </p:cNvPr>
          <p:cNvSpPr/>
          <p:nvPr/>
        </p:nvSpPr>
        <p:spPr>
          <a:xfrm>
            <a:off x="8812220" y="5706794"/>
            <a:ext cx="351693" cy="323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E0F0-7090-E140-6C9C-AF57BED8637B}"/>
              </a:ext>
            </a:extLst>
          </p:cNvPr>
          <p:cNvSpPr/>
          <p:nvPr/>
        </p:nvSpPr>
        <p:spPr>
          <a:xfrm>
            <a:off x="9578910" y="5725638"/>
            <a:ext cx="351693" cy="323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CCF5EC-4953-19CC-E77C-E23E4BB3F214}"/>
              </a:ext>
            </a:extLst>
          </p:cNvPr>
          <p:cNvSpPr/>
          <p:nvPr/>
        </p:nvSpPr>
        <p:spPr>
          <a:xfrm>
            <a:off x="9403063" y="6315833"/>
            <a:ext cx="351693" cy="323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2F9EBD-9553-9B55-6F5C-0C8243E08DA4}"/>
              </a:ext>
            </a:extLst>
          </p:cNvPr>
          <p:cNvSpPr/>
          <p:nvPr/>
        </p:nvSpPr>
        <p:spPr>
          <a:xfrm>
            <a:off x="10345600" y="5723692"/>
            <a:ext cx="351693" cy="323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CC43A8-EEB0-8F44-D046-DB70BA938B9B}"/>
              </a:ext>
            </a:extLst>
          </p:cNvPr>
          <p:cNvCxnSpPr/>
          <p:nvPr/>
        </p:nvCxnSpPr>
        <p:spPr>
          <a:xfrm flipH="1">
            <a:off x="9403063" y="5009910"/>
            <a:ext cx="175847" cy="2267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64E514-0146-D311-07B1-50D7CEFE0498}"/>
              </a:ext>
            </a:extLst>
          </p:cNvPr>
          <p:cNvCxnSpPr/>
          <p:nvPr/>
        </p:nvCxnSpPr>
        <p:spPr>
          <a:xfrm flipH="1">
            <a:off x="9054887" y="5510529"/>
            <a:ext cx="175847" cy="2267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5C1A81-846B-FFB5-0E51-2C36E98D8B54}"/>
              </a:ext>
            </a:extLst>
          </p:cNvPr>
          <p:cNvCxnSpPr>
            <a:cxnSpLocks/>
          </p:cNvCxnSpPr>
          <p:nvPr/>
        </p:nvCxnSpPr>
        <p:spPr>
          <a:xfrm>
            <a:off x="9930603" y="5022470"/>
            <a:ext cx="199294" cy="22626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343D5D-A360-B727-8F6C-97A5C3A66AF2}"/>
              </a:ext>
            </a:extLst>
          </p:cNvPr>
          <p:cNvCxnSpPr>
            <a:cxnSpLocks/>
          </p:cNvCxnSpPr>
          <p:nvPr/>
        </p:nvCxnSpPr>
        <p:spPr>
          <a:xfrm>
            <a:off x="10245953" y="5527713"/>
            <a:ext cx="199294" cy="22626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A221C1-D041-600D-EAD9-6DF467C2542F}"/>
              </a:ext>
            </a:extLst>
          </p:cNvPr>
          <p:cNvCxnSpPr>
            <a:cxnSpLocks/>
          </p:cNvCxnSpPr>
          <p:nvPr/>
        </p:nvCxnSpPr>
        <p:spPr>
          <a:xfrm flipH="1">
            <a:off x="9578909" y="6030351"/>
            <a:ext cx="152400" cy="3081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B9EFA7-9377-EC13-65DC-9AB2F876F4DA}"/>
              </a:ext>
            </a:extLst>
          </p:cNvPr>
          <p:cNvCxnSpPr>
            <a:cxnSpLocks/>
          </p:cNvCxnSpPr>
          <p:nvPr/>
        </p:nvCxnSpPr>
        <p:spPr>
          <a:xfrm>
            <a:off x="9576566" y="5512495"/>
            <a:ext cx="199294" cy="22626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83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89" y="2018051"/>
            <a:ext cx="11458345" cy="4538392"/>
          </a:xfrm>
        </p:spPr>
        <p:txBody>
          <a:bodyPr anchor="t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1"/>
                </a:solidFill>
              </a:rPr>
              <a:t>In this class we will often talk about data structures and the operations that can be performed using them without getting into implementation details.   </a:t>
            </a:r>
            <a:r>
              <a:rPr lang="en-US" sz="3200" dirty="0">
                <a:solidFill>
                  <a:srgbClr val="0070C0"/>
                </a:solidFill>
              </a:rPr>
              <a:t>Common ADTs: linked lists, stacks, queues, binary trees, hash maps/dictionaries.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3200" dirty="0">
              <a:solidFill>
                <a:schemeClr val="tx1"/>
              </a:solidFill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 dirty="0">
                <a:solidFill>
                  <a:schemeClr val="tx1"/>
                </a:solidFill>
              </a:rPr>
              <a:t>Lectures will often contain pseudocode.  A data structures class can be taught in a variety of languages. Because CS125 is a pre-requisite for this class, </a:t>
            </a:r>
            <a:r>
              <a:rPr lang="en-US" sz="3200" dirty="0">
                <a:solidFill>
                  <a:srgbClr val="0070C0"/>
                </a:solidFill>
              </a:rPr>
              <a:t>many of our examples will be in C.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 Data Types (ADT)</a:t>
            </a:r>
          </a:p>
        </p:txBody>
      </p:sp>
    </p:spTree>
    <p:extLst>
      <p:ext uri="{BB962C8B-B14F-4D97-AF65-F5344CB8AC3E}">
        <p14:creationId xmlns:p14="http://schemas.microsoft.com/office/powerpoint/2010/main" val="946202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Stacks</a:t>
            </a:r>
          </a:p>
        </p:txBody>
      </p:sp>
      <p:pic>
        <p:nvPicPr>
          <p:cNvPr id="6" name="Picture 16" descr="StackOfBow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018" y="2071743"/>
            <a:ext cx="3073790" cy="459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436100" y="1916100"/>
            <a:ext cx="8100918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A </a:t>
            </a:r>
            <a:r>
              <a:rPr lang="en-US" altLang="en-US" sz="2900" b="1" dirty="0">
                <a:solidFill>
                  <a:schemeClr val="tx1"/>
                </a:solidFill>
              </a:rPr>
              <a:t>stack</a:t>
            </a:r>
            <a:r>
              <a:rPr lang="en-US" altLang="en-US" sz="2900" dirty="0">
                <a:solidFill>
                  <a:schemeClr val="tx1"/>
                </a:solidFill>
              </a:rPr>
              <a:t> is a data structure where the insertions and deletions occur at the same end of the stack, the top.  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When you unload a dishwasher you make a stack of dishes.  The last bowl you put in a stack will be the first one that you take off the stack when you need a clean bowl.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The behavior of a stack is </a:t>
            </a:r>
            <a:r>
              <a:rPr lang="en-US" altLang="en-US" sz="2900" b="1" dirty="0">
                <a:solidFill>
                  <a:schemeClr val="tx1"/>
                </a:solidFill>
              </a:rPr>
              <a:t>LIFO</a:t>
            </a:r>
          </a:p>
          <a:p>
            <a:pPr eaLnBrk="1" hangingPunct="1"/>
            <a:r>
              <a:rPr lang="en-US" altLang="en-US" sz="2900" b="1" dirty="0">
                <a:solidFill>
                  <a:srgbClr val="0070C0"/>
                </a:solidFill>
              </a:rPr>
              <a:t>LIFO</a:t>
            </a:r>
            <a:r>
              <a:rPr lang="en-US" altLang="en-US" sz="2900" b="1" dirty="0">
                <a:solidFill>
                  <a:schemeClr val="tx1"/>
                </a:solidFill>
              </a:rPr>
              <a:t> </a:t>
            </a:r>
            <a:r>
              <a:rPr lang="en-US" altLang="en-US" sz="2900" dirty="0">
                <a:solidFill>
                  <a:schemeClr val="tx1"/>
                </a:solidFill>
              </a:rPr>
              <a:t>- </a:t>
            </a:r>
            <a:r>
              <a:rPr lang="en-US" altLang="en-US" sz="2900" dirty="0">
                <a:solidFill>
                  <a:srgbClr val="0070C0"/>
                </a:solidFill>
              </a:rPr>
              <a:t>L</a:t>
            </a:r>
            <a:r>
              <a:rPr lang="en-US" altLang="en-US" sz="2900" dirty="0">
                <a:solidFill>
                  <a:schemeClr val="tx1"/>
                </a:solidFill>
              </a:rPr>
              <a:t>ast-</a:t>
            </a:r>
            <a:r>
              <a:rPr lang="en-US" altLang="en-US" sz="2900" dirty="0">
                <a:solidFill>
                  <a:srgbClr val="0070C0"/>
                </a:solidFill>
              </a:rPr>
              <a:t>I</a:t>
            </a:r>
            <a:r>
              <a:rPr lang="en-US" altLang="en-US" sz="2900" dirty="0">
                <a:solidFill>
                  <a:schemeClr val="tx1"/>
                </a:solidFill>
              </a:rPr>
              <a:t>n, </a:t>
            </a:r>
            <a:r>
              <a:rPr lang="en-US" altLang="en-US" sz="2900" dirty="0">
                <a:solidFill>
                  <a:srgbClr val="0070C0"/>
                </a:solidFill>
              </a:rPr>
              <a:t>F</a:t>
            </a:r>
            <a:r>
              <a:rPr lang="en-US" altLang="en-US" sz="2900" dirty="0">
                <a:solidFill>
                  <a:schemeClr val="tx1"/>
                </a:solidFill>
              </a:rPr>
              <a:t>irst-</a:t>
            </a:r>
            <a:r>
              <a:rPr lang="en-US" altLang="en-US" sz="2900" dirty="0">
                <a:solidFill>
                  <a:srgbClr val="0070C0"/>
                </a:solidFill>
              </a:rPr>
              <a:t>O</a:t>
            </a:r>
            <a:r>
              <a:rPr lang="en-US" altLang="en-US" sz="2900" dirty="0">
                <a:solidFill>
                  <a:schemeClr val="tx1"/>
                </a:solidFill>
              </a:rPr>
              <a:t>ut </a:t>
            </a:r>
          </a:p>
          <a:p>
            <a:pPr eaLnBrk="1" hangingPunct="1"/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890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Stacks</a:t>
            </a:r>
            <a:endParaRPr lang="en-US" altLang="en-US" sz="5400" dirty="0">
              <a:solidFill>
                <a:srgbClr val="FFFFFF"/>
              </a:solidFill>
            </a:endParaRPr>
          </a:p>
        </p:txBody>
      </p:sp>
      <p:pic>
        <p:nvPicPr>
          <p:cNvPr id="4" name="Picture 16" descr="StackOfBow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349" y="1994619"/>
            <a:ext cx="3254174" cy="4863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445477" y="1745588"/>
            <a:ext cx="8046872" cy="55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When you put an item on the stack, it’s called a </a:t>
            </a:r>
            <a:r>
              <a:rPr lang="en-US" altLang="en-US" sz="2900" b="1" dirty="0">
                <a:solidFill>
                  <a:srgbClr val="0070C0"/>
                </a:solidFill>
              </a:rPr>
              <a:t>push</a:t>
            </a:r>
            <a:r>
              <a:rPr lang="en-US" altLang="en-US" sz="2900" dirty="0">
                <a:solidFill>
                  <a:schemeClr val="tx1"/>
                </a:solidFill>
              </a:rPr>
              <a:t>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When you take an item off the stack, it’s called a </a:t>
            </a:r>
            <a:r>
              <a:rPr lang="en-US" altLang="en-US" sz="2900" b="1" dirty="0">
                <a:solidFill>
                  <a:srgbClr val="0070C0"/>
                </a:solidFill>
              </a:rPr>
              <a:t>pop</a:t>
            </a:r>
            <a:r>
              <a:rPr lang="en-US" altLang="en-US" sz="2900" dirty="0">
                <a:solidFill>
                  <a:schemeClr val="tx1"/>
                </a:solidFill>
              </a:rPr>
              <a:t>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You will need to have a way to determine if the stack is empty, find out the size of the stack etc.</a:t>
            </a:r>
          </a:p>
          <a:p>
            <a:pPr eaLnBrk="1" hangingPunct="1"/>
            <a:endParaRPr lang="en-US" altLang="en-US" sz="29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900" dirty="0">
                <a:solidFill>
                  <a:schemeClr val="tx1"/>
                </a:solidFill>
              </a:rPr>
              <a:t>Examples uses: Un-Do Button, Calling Functions (return address put on stack)</a:t>
            </a:r>
          </a:p>
          <a:p>
            <a:pPr eaLnBrk="1" hangingPunct="1"/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219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</a:rPr>
              <a:t>Queues</a:t>
            </a:r>
          </a:p>
        </p:txBody>
      </p:sp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581192" y="1968512"/>
            <a:ext cx="8504129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chemeClr val="tx1"/>
                </a:solidFill>
              </a:rPr>
              <a:t>A queue is a list where the insertions and deletions occur at opposite ends.  Just like when people stand in line at a store.  Customers are served in the order they arrived.</a:t>
            </a:r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581192" y="5226280"/>
            <a:ext cx="5181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chemeClr val="tx1"/>
                </a:solidFill>
              </a:rPr>
              <a:t>A queue exhibits </a:t>
            </a:r>
            <a:r>
              <a:rPr lang="en-US" altLang="en-US" sz="3200" dirty="0">
                <a:solidFill>
                  <a:srgbClr val="0070C0"/>
                </a:solidFill>
              </a:rPr>
              <a:t>FIFO </a:t>
            </a:r>
            <a:r>
              <a:rPr lang="en-US" altLang="en-US" sz="3200" dirty="0">
                <a:solidFill>
                  <a:schemeClr val="tx1"/>
                </a:solidFill>
              </a:rPr>
              <a:t>behavior- </a:t>
            </a:r>
            <a:r>
              <a:rPr lang="en-US" altLang="en-US" sz="3200" dirty="0">
                <a:solidFill>
                  <a:srgbClr val="0070C0"/>
                </a:solidFill>
              </a:rPr>
              <a:t>F</a:t>
            </a:r>
            <a:r>
              <a:rPr lang="en-US" altLang="en-US" sz="3200" dirty="0">
                <a:solidFill>
                  <a:schemeClr val="tx1"/>
                </a:solidFill>
              </a:rPr>
              <a:t>irst </a:t>
            </a:r>
            <a:r>
              <a:rPr lang="en-US" altLang="en-US" sz="3200" dirty="0">
                <a:solidFill>
                  <a:srgbClr val="0070C0"/>
                </a:solidFill>
              </a:rPr>
              <a:t>I</a:t>
            </a:r>
            <a:r>
              <a:rPr lang="en-US" altLang="en-US" sz="3200" dirty="0">
                <a:solidFill>
                  <a:schemeClr val="tx1"/>
                </a:solidFill>
              </a:rPr>
              <a:t>n, </a:t>
            </a:r>
            <a:r>
              <a:rPr lang="en-US" altLang="en-US" sz="3200" dirty="0">
                <a:solidFill>
                  <a:srgbClr val="0070C0"/>
                </a:solidFill>
              </a:rPr>
              <a:t>F</a:t>
            </a:r>
            <a:r>
              <a:rPr lang="en-US" altLang="en-US" sz="3200" dirty="0">
                <a:solidFill>
                  <a:schemeClr val="tx1"/>
                </a:solidFill>
              </a:rPr>
              <a:t>irst </a:t>
            </a:r>
            <a:r>
              <a:rPr lang="en-US" altLang="en-US" sz="3200" dirty="0">
                <a:solidFill>
                  <a:srgbClr val="0070C0"/>
                </a:solidFill>
              </a:rPr>
              <a:t>O</a:t>
            </a:r>
            <a:r>
              <a:rPr lang="en-US" altLang="en-US" sz="3200" dirty="0">
                <a:solidFill>
                  <a:schemeClr val="tx1"/>
                </a:solidFill>
              </a:rPr>
              <a:t>ut.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58D54-BC19-BA07-89B9-5DB408DAD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246" y="3499340"/>
            <a:ext cx="4892490" cy="32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2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</a:rPr>
              <a:t>Queues</a:t>
            </a: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749628" y="1870544"/>
            <a:ext cx="6410451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24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3200" dirty="0">
                <a:solidFill>
                  <a:schemeClr val="tx1"/>
                </a:solidFill>
              </a:rPr>
              <a:t>Queues operation allow you to: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 construct a queue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 err="1" smtClean="0">
                <a:solidFill>
                  <a:srgbClr val="0070C0"/>
                </a:solidFill>
              </a:rPr>
              <a:t>enqueue</a:t>
            </a:r>
            <a:r>
              <a:rPr lang="en-US" altLang="en-US" sz="3200" dirty="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items on the queue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smtClean="0">
                <a:solidFill>
                  <a:srgbClr val="0070C0"/>
                </a:solidFill>
              </a:rPr>
              <a:t>dequeue</a:t>
            </a:r>
            <a:r>
              <a:rPr lang="en-US" altLang="en-US" sz="320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items off the queue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 check to see if the queue is </a:t>
            </a:r>
            <a:r>
              <a:rPr lang="en-US" altLang="en-US" sz="3200" dirty="0">
                <a:solidFill>
                  <a:srgbClr val="0070C0"/>
                </a:solidFill>
              </a:rPr>
              <a:t>empty</a:t>
            </a:r>
          </a:p>
          <a:p>
            <a:pPr marL="457200" indent="-457200" eaLnBrk="1" hangingPunct="1">
              <a:buFont typeface="Wingdings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 find out the size of the queue etc.</a:t>
            </a:r>
          </a:p>
          <a:p>
            <a:pPr eaLnBrk="1" hangingPunct="1"/>
            <a:endParaRPr lang="en-US" alt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18" descr="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719" y="3002394"/>
            <a:ext cx="3713871" cy="371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800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4C2250E-ECF2-C2D5-6E19-70CD053B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31" y="5807020"/>
            <a:ext cx="11029615" cy="1710278"/>
          </a:xfrm>
        </p:spPr>
        <p:txBody>
          <a:bodyPr/>
          <a:lstStyle/>
          <a:p>
            <a:r>
              <a:rPr lang="en-US" sz="3200" dirty="0"/>
              <a:t>An algorithm is a series of steps you take to get a result.</a:t>
            </a:r>
          </a:p>
          <a:p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3D7350F-20E9-8D45-88AC-B6FFB7428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283455"/>
              </p:ext>
            </p:extLst>
          </p:nvPr>
        </p:nvGraphicFramePr>
        <p:xfrm>
          <a:off x="449784" y="1931358"/>
          <a:ext cx="11290860" cy="4144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045">
                  <a:extLst>
                    <a:ext uri="{9D8B030D-6E8A-4147-A177-3AD203B41FA5}">
                      <a16:colId xmlns:a16="http://schemas.microsoft.com/office/drawing/2014/main" val="4223890631"/>
                    </a:ext>
                  </a:extLst>
                </a:gridCol>
                <a:gridCol w="3866195">
                  <a:extLst>
                    <a:ext uri="{9D8B030D-6E8A-4147-A177-3AD203B41FA5}">
                      <a16:colId xmlns:a16="http://schemas.microsoft.com/office/drawing/2014/main" val="1409049463"/>
                    </a:ext>
                  </a:extLst>
                </a:gridCol>
                <a:gridCol w="3763620">
                  <a:extLst>
                    <a:ext uri="{9D8B030D-6E8A-4147-A177-3AD203B41FA5}">
                      <a16:colId xmlns:a16="http://schemas.microsoft.com/office/drawing/2014/main" val="2203495784"/>
                    </a:ext>
                  </a:extLst>
                </a:gridCol>
              </a:tblGrid>
              <a:tr h="722757">
                <a:tc>
                  <a:txBody>
                    <a:bodyPr/>
                    <a:lstStyle/>
                    <a:p>
                      <a:pPr algn="ctr"/>
                      <a:r>
                        <a:rPr lang="en-US" sz="3600" b="0" i="0" dirty="0">
                          <a:latin typeface="Times New Roman" panose="02020603050405020304" pitchFamily="18" charset="0"/>
                        </a:rPr>
                        <a:t>Input 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i="0" dirty="0">
                          <a:latin typeface="Times New Roman" panose="02020603050405020304" pitchFamily="18" charset="0"/>
                        </a:rPr>
                        <a:t>Algorithm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i="0" dirty="0">
                          <a:latin typeface="Times New Roman" panose="02020603050405020304" pitchFamily="18" charset="0"/>
                        </a:rPr>
                        <a:t>Output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64176"/>
                  </a:ext>
                </a:extLst>
              </a:tr>
              <a:tr h="3421613">
                <a:tc>
                  <a:txBody>
                    <a:bodyPr/>
                    <a:lstStyle/>
                    <a:p>
                      <a:endParaRPr lang="en-US" b="0" i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974785"/>
                  </a:ext>
                </a:extLst>
              </a:tr>
            </a:tbl>
          </a:graphicData>
        </a:graphic>
      </p:graphicFrame>
      <p:pic>
        <p:nvPicPr>
          <p:cNvPr id="17" name="Picture 16" descr="A hand squeezing an orange juice&#10;&#10;Description automatically generated">
            <a:extLst>
              <a:ext uri="{FF2B5EF4-FFF2-40B4-BE49-F238E27FC236}">
                <a16:creationId xmlns:a16="http://schemas.microsoft.com/office/drawing/2014/main" id="{8B00B325-EBF4-4CB7-6395-C7B25D8811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994" r="61834" b="18762"/>
          <a:stretch/>
        </p:blipFill>
        <p:spPr>
          <a:xfrm>
            <a:off x="1072275" y="3216776"/>
            <a:ext cx="2166384" cy="2057251"/>
          </a:xfrm>
          <a:prstGeom prst="rect">
            <a:avLst/>
          </a:prstGeom>
        </p:spPr>
      </p:pic>
      <p:pic>
        <p:nvPicPr>
          <p:cNvPr id="18" name="Picture 17" descr="A hand squeezing an orange juice&#10;&#10;Description automatically generated">
            <a:extLst>
              <a:ext uri="{FF2B5EF4-FFF2-40B4-BE49-F238E27FC236}">
                <a16:creationId xmlns:a16="http://schemas.microsoft.com/office/drawing/2014/main" id="{8F7F5F67-E4D5-FD53-A5F3-A4304192EA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50" r="26314" b="7968"/>
          <a:stretch/>
        </p:blipFill>
        <p:spPr>
          <a:xfrm>
            <a:off x="5498122" y="2767699"/>
            <a:ext cx="1195755" cy="2955407"/>
          </a:xfrm>
          <a:prstGeom prst="rect">
            <a:avLst/>
          </a:prstGeom>
        </p:spPr>
      </p:pic>
      <p:pic>
        <p:nvPicPr>
          <p:cNvPr id="19" name="Picture 18" descr="A hand squeezing an orange juice&#10;&#10;Description automatically generated">
            <a:extLst>
              <a:ext uri="{FF2B5EF4-FFF2-40B4-BE49-F238E27FC236}">
                <a16:creationId xmlns:a16="http://schemas.microsoft.com/office/drawing/2014/main" id="{6DA7B1A6-DD13-8CE5-DB02-71E4E847F3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957" t="34534" b="15794"/>
          <a:stretch/>
        </p:blipFill>
        <p:spPr>
          <a:xfrm>
            <a:off x="8953340" y="2767699"/>
            <a:ext cx="1549543" cy="295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6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39081"/>
            <a:ext cx="5725510" cy="4163647"/>
          </a:xfrm>
        </p:spPr>
        <p:txBody>
          <a:bodyPr anchor="t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 dirty="0"/>
              <a:t>Well-defined series of steps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 dirty="0"/>
              <a:t>Can have 0 or more inputs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 dirty="0"/>
              <a:t>Produces output/results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 dirty="0"/>
              <a:t>The time and space complexity should be considered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A353D-02A9-1288-B5A5-F573EDAC2805}"/>
              </a:ext>
            </a:extLst>
          </p:cNvPr>
          <p:cNvSpPr/>
          <p:nvPr/>
        </p:nvSpPr>
        <p:spPr>
          <a:xfrm>
            <a:off x="6483038" y="2372559"/>
            <a:ext cx="5101924" cy="4058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800" dirty="0">
                <a:latin typeface="Times New Roman" panose="02020603050405020304" pitchFamily="18" charset="0"/>
              </a:rPr>
              <a:t>Algorithm MaxValue(L)</a:t>
            </a:r>
          </a:p>
          <a:p>
            <a:r>
              <a:rPr lang="en-US" sz="2800" dirty="0">
                <a:latin typeface="Times New Roman" panose="02020603050405020304" pitchFamily="18" charset="0"/>
              </a:rPr>
              <a:t>    Input: List L of n elements</a:t>
            </a:r>
          </a:p>
          <a:p>
            <a:r>
              <a:rPr lang="en-US" sz="2800" dirty="0">
                <a:latin typeface="Times New Roman" panose="02020603050405020304" pitchFamily="18" charset="0"/>
              </a:rPr>
              <a:t>    Output: Maximum value in L</a:t>
            </a:r>
          </a:p>
          <a:p>
            <a:endParaRPr lang="en-US" sz="2800" dirty="0">
              <a:latin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</a:rPr>
              <a:t>    max ← L[0]</a:t>
            </a:r>
          </a:p>
          <a:p>
            <a:r>
              <a:rPr lang="en-US" sz="2800" dirty="0">
                <a:latin typeface="Times New Roman" panose="02020603050405020304" pitchFamily="18" charset="0"/>
              </a:rPr>
              <a:t>    for i ← 1 to n-1 do</a:t>
            </a:r>
          </a:p>
          <a:p>
            <a:r>
              <a:rPr lang="en-US" sz="2800" dirty="0">
                <a:latin typeface="Times New Roman" panose="02020603050405020304" pitchFamily="18" charset="0"/>
              </a:rPr>
              <a:t>        if L[i] &gt; max then</a:t>
            </a:r>
          </a:p>
          <a:p>
            <a:r>
              <a:rPr lang="en-US" sz="2800" dirty="0">
                <a:latin typeface="Times New Roman" panose="02020603050405020304" pitchFamily="18" charset="0"/>
              </a:rPr>
              <a:t>            max ← L[i]</a:t>
            </a:r>
          </a:p>
          <a:p>
            <a:r>
              <a:rPr lang="en-US" sz="2800" dirty="0">
                <a:latin typeface="Times New Roman" panose="02020603050405020304" pitchFamily="18" charset="0"/>
              </a:rPr>
              <a:t>    return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65CA7-4B7F-2A6E-A81B-2D41A5599E32}"/>
              </a:ext>
            </a:extLst>
          </p:cNvPr>
          <p:cNvSpPr txBox="1"/>
          <p:nvPr/>
        </p:nvSpPr>
        <p:spPr>
          <a:xfrm>
            <a:off x="6483038" y="1773074"/>
            <a:ext cx="5006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</a:rPr>
              <a:t>Pseudocode for an Algorithm</a:t>
            </a:r>
          </a:p>
        </p:txBody>
      </p:sp>
    </p:spTree>
    <p:extLst>
      <p:ext uri="{BB962C8B-B14F-4D97-AF65-F5344CB8AC3E}">
        <p14:creationId xmlns:p14="http://schemas.microsoft.com/office/powerpoint/2010/main" val="590054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39081"/>
            <a:ext cx="11144751" cy="4163647"/>
          </a:xfrm>
        </p:spPr>
        <p:txBody>
          <a:bodyPr anchor="t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3200" dirty="0"/>
              <a:t>There is often more than one way to solve a problem.  We want to be aware of the run-time and memory requirements of our selected algorithms.</a:t>
            </a:r>
          </a:p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endParaRPr lang="en-US" sz="3200" dirty="0"/>
          </a:p>
          <a:p>
            <a:pPr>
              <a:lnSpc>
                <a:spcPct val="9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sz="3200" dirty="0"/>
              <a:t>Studying Data Structures equips you with the tools and knowledge needed to tackle complex programming challenges and develop efficient, high-performing software solutions.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Why Study Algorithms?</a:t>
            </a:r>
          </a:p>
        </p:txBody>
      </p:sp>
    </p:spTree>
    <p:extLst>
      <p:ext uri="{BB962C8B-B14F-4D97-AF65-F5344CB8AC3E}">
        <p14:creationId xmlns:p14="http://schemas.microsoft.com/office/powerpoint/2010/main" val="3824711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470" y="2203899"/>
            <a:ext cx="11923059" cy="4163648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0070C0"/>
                </a:solidFill>
              </a:rPr>
              <a:t>Insertion Sort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514350" indent="-514350">
              <a:lnSpc>
                <a:spcPct val="95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en-US" sz="2800" dirty="0"/>
              <a:t>Imagine you have 2 arrays of numbers: unsorted and sorted(initially empty).</a:t>
            </a:r>
          </a:p>
          <a:p>
            <a:pPr marL="514350" indent="-514350">
              <a:lnSpc>
                <a:spcPct val="95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en-US" sz="2800" dirty="0"/>
              <a:t>Remove an element from the unsorted array and put it in the sorted array.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#1 – Insertion Sort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31D4ED-864D-108D-77B6-4DB9C189C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229723"/>
              </p:ext>
            </p:extLst>
          </p:nvPr>
        </p:nvGraphicFramePr>
        <p:xfrm>
          <a:off x="4387598" y="2039081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560407-C926-8789-3932-54438B08998B}"/>
              </a:ext>
            </a:extLst>
          </p:cNvPr>
          <p:cNvSpPr txBox="1"/>
          <p:nvPr/>
        </p:nvSpPr>
        <p:spPr>
          <a:xfrm>
            <a:off x="3408621" y="2129485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3582B-D3D5-F21F-CCDD-D2F769F79758}"/>
              </a:ext>
            </a:extLst>
          </p:cNvPr>
          <p:cNvSpPr txBox="1"/>
          <p:nvPr/>
        </p:nvSpPr>
        <p:spPr>
          <a:xfrm>
            <a:off x="3624020" y="2796458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5F631-857F-6E36-B80E-58DC1C252CAA}"/>
              </a:ext>
            </a:extLst>
          </p:cNvPr>
          <p:cNvSpPr txBox="1"/>
          <p:nvPr/>
        </p:nvSpPr>
        <p:spPr>
          <a:xfrm>
            <a:off x="4371094" y="2585481"/>
            <a:ext cx="4353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  (empty)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29D75D-1561-3A0C-BCFB-0330FFE4B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621123"/>
              </p:ext>
            </p:extLst>
          </p:nvPr>
        </p:nvGraphicFramePr>
        <p:xfrm>
          <a:off x="5597508" y="5016762"/>
          <a:ext cx="6287071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CEF94A-F388-5B8B-8F2A-B05E1AE4B78F}"/>
              </a:ext>
            </a:extLst>
          </p:cNvPr>
          <p:cNvSpPr txBox="1"/>
          <p:nvPr/>
        </p:nvSpPr>
        <p:spPr>
          <a:xfrm>
            <a:off x="3624021" y="5146576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DF5EE-B29C-7015-6FA1-4F648A106EB2}"/>
              </a:ext>
            </a:extLst>
          </p:cNvPr>
          <p:cNvSpPr txBox="1"/>
          <p:nvPr/>
        </p:nvSpPr>
        <p:spPr>
          <a:xfrm>
            <a:off x="3731720" y="5975795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E5E065-FE82-1FA4-1197-4D8A2B2F2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477"/>
              </p:ext>
            </p:extLst>
          </p:nvPr>
        </p:nvGraphicFramePr>
        <p:xfrm>
          <a:off x="4818969" y="6045708"/>
          <a:ext cx="667431" cy="64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431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</a:tblGrid>
              <a:tr h="646331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16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470" y="2797984"/>
            <a:ext cx="11923059" cy="4163648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endParaRPr lang="en-US" sz="3200" dirty="0">
              <a:solidFill>
                <a:srgbClr val="0070C0"/>
              </a:solidFill>
            </a:endParaRPr>
          </a:p>
          <a:p>
            <a:pPr marL="514350" indent="-514350">
              <a:lnSpc>
                <a:spcPct val="95000"/>
              </a:lnSpc>
              <a:spcAft>
                <a:spcPts val="600"/>
              </a:spcAft>
              <a:buFont typeface="+mj-lt"/>
              <a:buAutoNum type="arabicParenR" startAt="3"/>
            </a:pPr>
            <a:r>
              <a:rPr lang="en-US" sz="2800" dirty="0"/>
              <a:t>Remove another item from the unsorted array and put in the the correct position in the sorted array.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#1 – Insertion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60407-C926-8789-3932-54438B08998B}"/>
              </a:ext>
            </a:extLst>
          </p:cNvPr>
          <p:cNvSpPr txBox="1"/>
          <p:nvPr/>
        </p:nvSpPr>
        <p:spPr>
          <a:xfrm>
            <a:off x="3408621" y="2129485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3582B-D3D5-F21F-CCDD-D2F769F79758}"/>
              </a:ext>
            </a:extLst>
          </p:cNvPr>
          <p:cNvSpPr txBox="1"/>
          <p:nvPr/>
        </p:nvSpPr>
        <p:spPr>
          <a:xfrm>
            <a:off x="3624020" y="2796458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29D75D-1561-3A0C-BCFB-0330FFE4B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995365"/>
              </p:ext>
            </p:extLst>
          </p:nvPr>
        </p:nvGraphicFramePr>
        <p:xfrm>
          <a:off x="6775379" y="4997748"/>
          <a:ext cx="5020979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CEF94A-F388-5B8B-8F2A-B05E1AE4B78F}"/>
              </a:ext>
            </a:extLst>
          </p:cNvPr>
          <p:cNvSpPr txBox="1"/>
          <p:nvPr/>
        </p:nvSpPr>
        <p:spPr>
          <a:xfrm>
            <a:off x="3624021" y="5146576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DF5EE-B29C-7015-6FA1-4F648A106EB2}"/>
              </a:ext>
            </a:extLst>
          </p:cNvPr>
          <p:cNvSpPr txBox="1"/>
          <p:nvPr/>
        </p:nvSpPr>
        <p:spPr>
          <a:xfrm>
            <a:off x="3731720" y="5975795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E5E065-FE82-1FA4-1197-4D8A2B2F2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569355"/>
              </p:ext>
            </p:extLst>
          </p:nvPr>
        </p:nvGraphicFramePr>
        <p:xfrm>
          <a:off x="4818969" y="5994810"/>
          <a:ext cx="1938292" cy="69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46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969146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0522D8-2437-A209-E9CF-C073D9918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799556"/>
              </p:ext>
            </p:extLst>
          </p:nvPr>
        </p:nvGraphicFramePr>
        <p:xfrm>
          <a:off x="5457950" y="2055071"/>
          <a:ext cx="6287071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A04DCFA-8F69-41B6-91E2-C5695A26C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75886"/>
              </p:ext>
            </p:extLst>
          </p:nvPr>
        </p:nvGraphicFramePr>
        <p:xfrm>
          <a:off x="4707861" y="2726426"/>
          <a:ext cx="667431" cy="64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431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</a:tblGrid>
              <a:tr h="646331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78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911" y="3549429"/>
            <a:ext cx="7785164" cy="985837"/>
          </a:xfrm>
        </p:spPr>
        <p:txBody>
          <a:bodyPr anchor="t" anchorCtr="0">
            <a:noAutofit/>
          </a:bodyPr>
          <a:lstStyle/>
          <a:p>
            <a:pPr marL="514350" indent="-514350">
              <a:lnSpc>
                <a:spcPct val="95000"/>
              </a:lnSpc>
              <a:spcAft>
                <a:spcPts val="600"/>
              </a:spcAft>
              <a:buFont typeface="+mj-lt"/>
              <a:buAutoNum type="arabicParenR" startAt="4"/>
            </a:pPr>
            <a:r>
              <a:rPr lang="en-US" sz="2800" dirty="0"/>
              <a:t>Continue until the unsorted array is empty.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#1 – Insertion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60407-C926-8789-3932-54438B08998B}"/>
              </a:ext>
            </a:extLst>
          </p:cNvPr>
          <p:cNvSpPr txBox="1"/>
          <p:nvPr/>
        </p:nvSpPr>
        <p:spPr>
          <a:xfrm>
            <a:off x="3408621" y="2129485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3582B-D3D5-F21F-CCDD-D2F769F79758}"/>
              </a:ext>
            </a:extLst>
          </p:cNvPr>
          <p:cNvSpPr txBox="1"/>
          <p:nvPr/>
        </p:nvSpPr>
        <p:spPr>
          <a:xfrm>
            <a:off x="3624020" y="2796458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29D75D-1561-3A0C-BCFB-0330FFE4B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167117"/>
              </p:ext>
            </p:extLst>
          </p:nvPr>
        </p:nvGraphicFramePr>
        <p:xfrm>
          <a:off x="6493790" y="2055071"/>
          <a:ext cx="5020979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BCEF94A-F388-5B8B-8F2A-B05E1AE4B78F}"/>
              </a:ext>
            </a:extLst>
          </p:cNvPr>
          <p:cNvSpPr txBox="1"/>
          <p:nvPr/>
        </p:nvSpPr>
        <p:spPr>
          <a:xfrm>
            <a:off x="3624021" y="5146576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DF5EE-B29C-7015-6FA1-4F648A106EB2}"/>
              </a:ext>
            </a:extLst>
          </p:cNvPr>
          <p:cNvSpPr txBox="1"/>
          <p:nvPr/>
        </p:nvSpPr>
        <p:spPr>
          <a:xfrm>
            <a:off x="3731720" y="5975795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E5E065-FE82-1FA4-1197-4D8A2B2F2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169717"/>
              </p:ext>
            </p:extLst>
          </p:nvPr>
        </p:nvGraphicFramePr>
        <p:xfrm>
          <a:off x="4555498" y="2731770"/>
          <a:ext cx="1938292" cy="69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46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969146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0A507-362B-6AE5-2759-C1B9E77C2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99752"/>
              </p:ext>
            </p:extLst>
          </p:nvPr>
        </p:nvGraphicFramePr>
        <p:xfrm>
          <a:off x="7946473" y="5130850"/>
          <a:ext cx="3754887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B66D2F-50CA-613B-A680-C4BB214DF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086119"/>
              </p:ext>
            </p:extLst>
          </p:nvPr>
        </p:nvGraphicFramePr>
        <p:xfrm>
          <a:off x="4675327" y="5892005"/>
          <a:ext cx="3151317" cy="53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439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1050439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  <a:gridCol w="1050439">
                  <a:extLst>
                    <a:ext uri="{9D8B030D-6E8A-4147-A177-3AD203B41FA5}">
                      <a16:colId xmlns:a16="http://schemas.microsoft.com/office/drawing/2014/main" val="2629015350"/>
                    </a:ext>
                  </a:extLst>
                </a:gridCol>
              </a:tblGrid>
              <a:tr h="536911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99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#1 – Insertion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60407-C926-8789-3932-54438B08998B}"/>
              </a:ext>
            </a:extLst>
          </p:cNvPr>
          <p:cNvSpPr txBox="1"/>
          <p:nvPr/>
        </p:nvSpPr>
        <p:spPr>
          <a:xfrm>
            <a:off x="3408621" y="2129485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3582B-D3D5-F21F-CCDD-D2F769F79758}"/>
              </a:ext>
            </a:extLst>
          </p:cNvPr>
          <p:cNvSpPr txBox="1"/>
          <p:nvPr/>
        </p:nvSpPr>
        <p:spPr>
          <a:xfrm>
            <a:off x="3624020" y="2796458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EF94A-F388-5B8B-8F2A-B05E1AE4B78F}"/>
              </a:ext>
            </a:extLst>
          </p:cNvPr>
          <p:cNvSpPr txBox="1"/>
          <p:nvPr/>
        </p:nvSpPr>
        <p:spPr>
          <a:xfrm>
            <a:off x="3624021" y="5146576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DF5EE-B29C-7015-6FA1-4F648A106EB2}"/>
              </a:ext>
            </a:extLst>
          </p:cNvPr>
          <p:cNvSpPr txBox="1"/>
          <p:nvPr/>
        </p:nvSpPr>
        <p:spPr>
          <a:xfrm>
            <a:off x="3731720" y="5975795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0A507-362B-6AE5-2759-C1B9E77C2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647360"/>
              </p:ext>
            </p:extLst>
          </p:nvPr>
        </p:nvGraphicFramePr>
        <p:xfrm>
          <a:off x="9254769" y="5146576"/>
          <a:ext cx="2446591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B66D2F-50CA-613B-A680-C4BB214DF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588586"/>
              </p:ext>
            </p:extLst>
          </p:nvPr>
        </p:nvGraphicFramePr>
        <p:xfrm>
          <a:off x="4675326" y="5910756"/>
          <a:ext cx="465465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63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1163663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  <a:gridCol w="1163663">
                  <a:extLst>
                    <a:ext uri="{9D8B030D-6E8A-4147-A177-3AD203B41FA5}">
                      <a16:colId xmlns:a16="http://schemas.microsoft.com/office/drawing/2014/main" val="2629015350"/>
                    </a:ext>
                  </a:extLst>
                </a:gridCol>
                <a:gridCol w="1163663">
                  <a:extLst>
                    <a:ext uri="{9D8B030D-6E8A-4147-A177-3AD203B41FA5}">
                      <a16:colId xmlns:a16="http://schemas.microsoft.com/office/drawing/2014/main" val="199063097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7639F2-3761-556B-7E28-119456475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939143"/>
              </p:ext>
            </p:extLst>
          </p:nvPr>
        </p:nvGraphicFramePr>
        <p:xfrm>
          <a:off x="7946473" y="2010897"/>
          <a:ext cx="3754887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F21930F-8C6D-071C-C33C-FE27F07F9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191695"/>
              </p:ext>
            </p:extLst>
          </p:nvPr>
        </p:nvGraphicFramePr>
        <p:xfrm>
          <a:off x="4675327" y="2772052"/>
          <a:ext cx="3151317" cy="536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439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1050439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  <a:gridCol w="1050439">
                  <a:extLst>
                    <a:ext uri="{9D8B030D-6E8A-4147-A177-3AD203B41FA5}">
                      <a16:colId xmlns:a16="http://schemas.microsoft.com/office/drawing/2014/main" val="2629015350"/>
                    </a:ext>
                  </a:extLst>
                </a:gridCol>
              </a:tblGrid>
              <a:tr h="536911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45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#1 – Insertion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60407-C926-8789-3932-54438B08998B}"/>
              </a:ext>
            </a:extLst>
          </p:cNvPr>
          <p:cNvSpPr txBox="1"/>
          <p:nvPr/>
        </p:nvSpPr>
        <p:spPr>
          <a:xfrm>
            <a:off x="3408621" y="2129485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3582B-D3D5-F21F-CCDD-D2F769F79758}"/>
              </a:ext>
            </a:extLst>
          </p:cNvPr>
          <p:cNvSpPr txBox="1"/>
          <p:nvPr/>
        </p:nvSpPr>
        <p:spPr>
          <a:xfrm>
            <a:off x="3624020" y="2796458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EF94A-F388-5B8B-8F2A-B05E1AE4B78F}"/>
              </a:ext>
            </a:extLst>
          </p:cNvPr>
          <p:cNvSpPr txBox="1"/>
          <p:nvPr/>
        </p:nvSpPr>
        <p:spPr>
          <a:xfrm>
            <a:off x="3624021" y="5146576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DF5EE-B29C-7015-6FA1-4F648A106EB2}"/>
              </a:ext>
            </a:extLst>
          </p:cNvPr>
          <p:cNvSpPr txBox="1"/>
          <p:nvPr/>
        </p:nvSpPr>
        <p:spPr>
          <a:xfrm>
            <a:off x="3731720" y="5975795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0A507-362B-6AE5-2759-C1B9E77C2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900876"/>
              </p:ext>
            </p:extLst>
          </p:nvPr>
        </p:nvGraphicFramePr>
        <p:xfrm>
          <a:off x="10490334" y="5072162"/>
          <a:ext cx="1354667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B66D2F-50CA-613B-A680-C4BB214DF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10728"/>
              </p:ext>
            </p:extLst>
          </p:nvPr>
        </p:nvGraphicFramePr>
        <p:xfrm>
          <a:off x="4675326" y="5836342"/>
          <a:ext cx="5815010" cy="592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002">
                  <a:extLst>
                    <a:ext uri="{9D8B030D-6E8A-4147-A177-3AD203B41FA5}">
                      <a16:colId xmlns:a16="http://schemas.microsoft.com/office/drawing/2014/main" val="3665495659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2629015350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1990630972"/>
                    </a:ext>
                  </a:extLst>
                </a:gridCol>
              </a:tblGrid>
              <a:tr h="59257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04C9B7-F03B-9A87-788B-A322174DB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974403"/>
              </p:ext>
            </p:extLst>
          </p:nvPr>
        </p:nvGraphicFramePr>
        <p:xfrm>
          <a:off x="9398410" y="1967513"/>
          <a:ext cx="2446591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91076A-1068-A472-4BDA-EECECD115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212895"/>
              </p:ext>
            </p:extLst>
          </p:nvPr>
        </p:nvGraphicFramePr>
        <p:xfrm>
          <a:off x="4818967" y="2731693"/>
          <a:ext cx="465465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63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1163663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  <a:gridCol w="1163663">
                  <a:extLst>
                    <a:ext uri="{9D8B030D-6E8A-4147-A177-3AD203B41FA5}">
                      <a16:colId xmlns:a16="http://schemas.microsoft.com/office/drawing/2014/main" val="2629015350"/>
                    </a:ext>
                  </a:extLst>
                </a:gridCol>
                <a:gridCol w="1163663">
                  <a:extLst>
                    <a:ext uri="{9D8B030D-6E8A-4147-A177-3AD203B41FA5}">
                      <a16:colId xmlns:a16="http://schemas.microsoft.com/office/drawing/2014/main" val="199063097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61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#1 – Insertion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60407-C926-8789-3932-54438B08998B}"/>
              </a:ext>
            </a:extLst>
          </p:cNvPr>
          <p:cNvSpPr txBox="1"/>
          <p:nvPr/>
        </p:nvSpPr>
        <p:spPr>
          <a:xfrm>
            <a:off x="3408621" y="2129485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3582B-D3D5-F21F-CCDD-D2F769F79758}"/>
              </a:ext>
            </a:extLst>
          </p:cNvPr>
          <p:cNvSpPr txBox="1"/>
          <p:nvPr/>
        </p:nvSpPr>
        <p:spPr>
          <a:xfrm>
            <a:off x="3624020" y="2796458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EF94A-F388-5B8B-8F2A-B05E1AE4B78F}"/>
              </a:ext>
            </a:extLst>
          </p:cNvPr>
          <p:cNvSpPr txBox="1"/>
          <p:nvPr/>
        </p:nvSpPr>
        <p:spPr>
          <a:xfrm>
            <a:off x="3624021" y="5146576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CDF5EE-B29C-7015-6FA1-4F648A106EB2}"/>
              </a:ext>
            </a:extLst>
          </p:cNvPr>
          <p:cNvSpPr txBox="1"/>
          <p:nvPr/>
        </p:nvSpPr>
        <p:spPr>
          <a:xfrm>
            <a:off x="3731720" y="5975795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B66D2F-50CA-613B-A680-C4BB214DF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27006"/>
              </p:ext>
            </p:extLst>
          </p:nvPr>
        </p:nvGraphicFramePr>
        <p:xfrm>
          <a:off x="4675325" y="5836342"/>
          <a:ext cx="6959880" cy="592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980">
                  <a:extLst>
                    <a:ext uri="{9D8B030D-6E8A-4147-A177-3AD203B41FA5}">
                      <a16:colId xmlns:a16="http://schemas.microsoft.com/office/drawing/2014/main" val="3665495659"/>
                    </a:ext>
                  </a:extLst>
                </a:gridCol>
                <a:gridCol w="1159980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1159980">
                  <a:extLst>
                    <a:ext uri="{9D8B030D-6E8A-4147-A177-3AD203B41FA5}">
                      <a16:colId xmlns:a16="http://schemas.microsoft.com/office/drawing/2014/main" val="1991587961"/>
                    </a:ext>
                  </a:extLst>
                </a:gridCol>
                <a:gridCol w="1159980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  <a:gridCol w="1159980">
                  <a:extLst>
                    <a:ext uri="{9D8B030D-6E8A-4147-A177-3AD203B41FA5}">
                      <a16:colId xmlns:a16="http://schemas.microsoft.com/office/drawing/2014/main" val="2629015350"/>
                    </a:ext>
                  </a:extLst>
                </a:gridCol>
                <a:gridCol w="1159980">
                  <a:extLst>
                    <a:ext uri="{9D8B030D-6E8A-4147-A177-3AD203B41FA5}">
                      <a16:colId xmlns:a16="http://schemas.microsoft.com/office/drawing/2014/main" val="1990630972"/>
                    </a:ext>
                  </a:extLst>
                </a:gridCol>
              </a:tblGrid>
              <a:tr h="59257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2FA326-7CAF-2735-858A-521A3B84C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50963"/>
              </p:ext>
            </p:extLst>
          </p:nvPr>
        </p:nvGraphicFramePr>
        <p:xfrm>
          <a:off x="10280538" y="2003987"/>
          <a:ext cx="1354667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B06CC76-AFE4-9202-7B69-E038EA9B2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900185"/>
              </p:ext>
            </p:extLst>
          </p:nvPr>
        </p:nvGraphicFramePr>
        <p:xfrm>
          <a:off x="4465530" y="2768167"/>
          <a:ext cx="5815010" cy="592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002">
                  <a:extLst>
                    <a:ext uri="{9D8B030D-6E8A-4147-A177-3AD203B41FA5}">
                      <a16:colId xmlns:a16="http://schemas.microsoft.com/office/drawing/2014/main" val="3665495659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2246970410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3174547571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2629015350"/>
                    </a:ext>
                  </a:extLst>
                </a:gridCol>
                <a:gridCol w="1163002">
                  <a:extLst>
                    <a:ext uri="{9D8B030D-6E8A-4147-A177-3AD203B41FA5}">
                      <a16:colId xmlns:a16="http://schemas.microsoft.com/office/drawing/2014/main" val="1990630972"/>
                    </a:ext>
                  </a:extLst>
                </a:gridCol>
              </a:tblGrid>
              <a:tr h="592574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06A58F0-4EF9-9D4E-C8C6-5DCB9AB7AB4E}"/>
              </a:ext>
            </a:extLst>
          </p:cNvPr>
          <p:cNvSpPr txBox="1"/>
          <p:nvPr/>
        </p:nvSpPr>
        <p:spPr>
          <a:xfrm>
            <a:off x="4675325" y="5019797"/>
            <a:ext cx="3817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  (empty)</a:t>
            </a:r>
          </a:p>
        </p:txBody>
      </p:sp>
    </p:spTree>
    <p:extLst>
      <p:ext uri="{BB962C8B-B14F-4D97-AF65-F5344CB8AC3E}">
        <p14:creationId xmlns:p14="http://schemas.microsoft.com/office/powerpoint/2010/main" val="415344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43C9B6-14AC-5222-8394-A961FEF9EBDE}"/>
              </a:ext>
            </a:extLst>
          </p:cNvPr>
          <p:cNvSpPr txBox="1"/>
          <p:nvPr/>
        </p:nvSpPr>
        <p:spPr>
          <a:xfrm>
            <a:off x="304800" y="645460"/>
            <a:ext cx="115824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SIZE 6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insertion_sort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unsorted[], int sorted[], int size)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sorted_size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(int u = 0; u &lt; size; u++)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element = unsorted[u];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inserted = 0; //0 means not yet inserted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Try to insert into the correct position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sorted_size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(element &lt; sorted[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// Shift elements to the right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for (int j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sorted_size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j &gt;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j--)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sorted[j] = sorted[j - 1];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sorted[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element;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inserted = 1; //1 means inserted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sorted_size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break;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If not inserted, append to end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(!inserted)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sorted[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sorted_size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element;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sorted_size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B537FE-ADB1-8173-2742-05A748F21256}"/>
              </a:ext>
            </a:extLst>
          </p:cNvPr>
          <p:cNvSpPr/>
          <p:nvPr/>
        </p:nvSpPr>
        <p:spPr>
          <a:xfrm>
            <a:off x="4069976" y="5701553"/>
            <a:ext cx="7817224" cy="770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github.com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heathermarriott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DataStructures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/blob/main/insertionSortV1.c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38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56" y="3153671"/>
            <a:ext cx="11639088" cy="1099132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0070C0"/>
                </a:solidFill>
              </a:rPr>
              <a:t>In C, unless you are using dynamic memory allocation, you define the size of the array at the beginning of a function.</a:t>
            </a: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Wasted Memory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89B63D-CC29-F7C2-DBFA-37C15A5DD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31003"/>
              </p:ext>
            </p:extLst>
          </p:nvPr>
        </p:nvGraphicFramePr>
        <p:xfrm>
          <a:off x="4387598" y="2039081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948CF6-6AED-3DA4-9470-AFF482BB1103}"/>
              </a:ext>
            </a:extLst>
          </p:cNvPr>
          <p:cNvSpPr txBox="1"/>
          <p:nvPr/>
        </p:nvSpPr>
        <p:spPr>
          <a:xfrm>
            <a:off x="3408621" y="2129485"/>
            <a:ext cx="14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unsorted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684EA9-8AB3-5140-E975-C36A13FDE422}"/>
              </a:ext>
            </a:extLst>
          </p:cNvPr>
          <p:cNvSpPr txBox="1"/>
          <p:nvPr/>
        </p:nvSpPr>
        <p:spPr>
          <a:xfrm>
            <a:off x="3624020" y="2796458"/>
            <a:ext cx="119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96DA8-5DD1-5984-B73C-270679EE9B80}"/>
              </a:ext>
            </a:extLst>
          </p:cNvPr>
          <p:cNvSpPr txBox="1"/>
          <p:nvPr/>
        </p:nvSpPr>
        <p:spPr>
          <a:xfrm>
            <a:off x="4371094" y="2585481"/>
            <a:ext cx="4353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]  (empty)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7AD0F-7DFF-AF89-1440-09BFF2E1F1D7}"/>
              </a:ext>
            </a:extLst>
          </p:cNvPr>
          <p:cNvSpPr txBox="1"/>
          <p:nvPr/>
        </p:nvSpPr>
        <p:spPr>
          <a:xfrm>
            <a:off x="2625958" y="4246903"/>
            <a:ext cx="60985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 unsorted[6] = {6, 2, 10, 7, 1, 5};</a:t>
            </a:r>
          </a:p>
          <a:p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sorted[6];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6994DCC-2769-3762-EBC6-D82E1CCB6279}"/>
              </a:ext>
            </a:extLst>
          </p:cNvPr>
          <p:cNvSpPr txBox="1">
            <a:spLocks/>
          </p:cNvSpPr>
          <p:nvPr/>
        </p:nvSpPr>
        <p:spPr>
          <a:xfrm>
            <a:off x="276456" y="5201010"/>
            <a:ext cx="11639088" cy="10991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Font typeface="Wingdings 2" panose="05020102010507070707" pitchFamily="18" charset="2"/>
              <a:buNone/>
            </a:pPr>
            <a:r>
              <a:rPr lang="en-US" sz="3200" dirty="0">
                <a:solidFill>
                  <a:srgbClr val="0070C0"/>
                </a:solidFill>
              </a:rPr>
              <a:t>In my example, having two separate arrays makes is conceptionally very easy to understand, but you are wasting space.  The number of used positions in the two arrays combined is always 6.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23928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912" y="2039080"/>
            <a:ext cx="11334288" cy="4036647"/>
          </a:xfrm>
        </p:spPr>
        <p:txBody>
          <a:bodyPr anchor="t" anchorCtr="0">
            <a:noAutofit/>
          </a:bodyPr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0070C0"/>
                </a:solidFill>
              </a:rPr>
              <a:t>Insertion Sort</a:t>
            </a:r>
          </a:p>
          <a:p>
            <a:pPr marL="514350" indent="-514350">
              <a:lnSpc>
                <a:spcPct val="95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en-US" sz="3200" dirty="0"/>
              <a:t>You can start with position 0 and say that’s the sorted part of the array and the rest is unsorted. </a:t>
            </a:r>
          </a:p>
          <a:p>
            <a:pPr marL="514350" indent="-514350">
              <a:lnSpc>
                <a:spcPct val="95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en-US" sz="3200" dirty="0"/>
              <a:t>Index i goes from 1 to end of array.  Compare array[i] with the element to the left of it (array[i-1]) and if array[</a:t>
            </a:r>
            <a:r>
              <a:rPr lang="en-US" sz="3200" dirty="0" err="1"/>
              <a:t>i</a:t>
            </a:r>
            <a:r>
              <a:rPr lang="en-US" sz="3200" dirty="0"/>
              <a:t>] is smaller, swap.</a:t>
            </a:r>
          </a:p>
          <a:p>
            <a:pPr marL="514350" indent="-514350">
              <a:lnSpc>
                <a:spcPct val="95000"/>
              </a:lnSpc>
              <a:spcAft>
                <a:spcPts val="600"/>
              </a:spcAft>
              <a:buFont typeface="+mj-lt"/>
              <a:buAutoNum type="arabicParenR"/>
            </a:pPr>
            <a:r>
              <a:rPr lang="en-US" sz="3200" dirty="0"/>
              <a:t>While there is still something smaller to the left, keep swapping.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Place Insertion Sort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31D4ED-864D-108D-77B6-4DB9C189CF86}"/>
              </a:ext>
            </a:extLst>
          </p:cNvPr>
          <p:cNvGraphicFramePr>
            <a:graphicFrameLocks noGrp="1"/>
          </p:cNvGraphicFramePr>
          <p:nvPr/>
        </p:nvGraphicFramePr>
        <p:xfrm>
          <a:off x="4387598" y="2039081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668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 Place Insertion Sort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31D4ED-864D-108D-77B6-4DB9C189CF86}"/>
              </a:ext>
            </a:extLst>
          </p:cNvPr>
          <p:cNvGraphicFramePr>
            <a:graphicFrameLocks noGrp="1"/>
          </p:cNvGraphicFramePr>
          <p:nvPr/>
        </p:nvGraphicFramePr>
        <p:xfrm>
          <a:off x="1187198" y="2183460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466848-3867-FBF7-0CF7-7067D47DEE3D}"/>
              </a:ext>
            </a:extLst>
          </p:cNvPr>
          <p:cNvSpPr txBox="1"/>
          <p:nvPr/>
        </p:nvSpPr>
        <p:spPr>
          <a:xfrm>
            <a:off x="8986205" y="2183460"/>
            <a:ext cx="235994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purple = sorted</a:t>
            </a:r>
          </a:p>
          <a:p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FD1EB0-F628-81E6-39E4-C6840C77C84E}"/>
              </a:ext>
            </a:extLst>
          </p:cNvPr>
          <p:cNvGraphicFramePr>
            <a:graphicFrameLocks noGrp="1"/>
          </p:cNvGraphicFramePr>
          <p:nvPr/>
        </p:nvGraphicFramePr>
        <p:xfrm>
          <a:off x="1187198" y="2174729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3A8C23-B980-C371-E682-FD818001A733}"/>
              </a:ext>
            </a:extLst>
          </p:cNvPr>
          <p:cNvCxnSpPr>
            <a:cxnSpLocks/>
          </p:cNvCxnSpPr>
          <p:nvPr/>
        </p:nvCxnSpPr>
        <p:spPr>
          <a:xfrm flipV="1">
            <a:off x="2839453" y="2701620"/>
            <a:ext cx="0" cy="72738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1582FE-E643-6222-AE89-DA671BF14D3A}"/>
              </a:ext>
            </a:extLst>
          </p:cNvPr>
          <p:cNvCxnSpPr>
            <a:cxnSpLocks/>
          </p:cNvCxnSpPr>
          <p:nvPr/>
        </p:nvCxnSpPr>
        <p:spPr>
          <a:xfrm flipV="1">
            <a:off x="4074695" y="2733552"/>
            <a:ext cx="0" cy="72738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2BAC398-EAA7-1273-CD92-893721CE94D2}"/>
              </a:ext>
            </a:extLst>
          </p:cNvPr>
          <p:cNvGraphicFramePr>
            <a:graphicFrameLocks noGrp="1"/>
          </p:cNvGraphicFramePr>
          <p:nvPr/>
        </p:nvGraphicFramePr>
        <p:xfrm>
          <a:off x="1187198" y="2222958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C30A2B-2229-F40D-E01E-878E3EC4012A}"/>
              </a:ext>
            </a:extLst>
          </p:cNvPr>
          <p:cNvCxnSpPr>
            <a:cxnSpLocks/>
          </p:cNvCxnSpPr>
          <p:nvPr/>
        </p:nvCxnSpPr>
        <p:spPr>
          <a:xfrm flipV="1">
            <a:off x="5309135" y="2714951"/>
            <a:ext cx="0" cy="72738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03FCA21-9DE8-3492-D482-630E82906077}"/>
              </a:ext>
            </a:extLst>
          </p:cNvPr>
          <p:cNvGraphicFramePr>
            <a:graphicFrameLocks noGrp="1"/>
          </p:cNvGraphicFramePr>
          <p:nvPr/>
        </p:nvGraphicFramePr>
        <p:xfrm>
          <a:off x="1187198" y="2206439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A29463-B1CD-CB3E-E9BA-41E9194BD6C3}"/>
              </a:ext>
            </a:extLst>
          </p:cNvPr>
          <p:cNvCxnSpPr>
            <a:cxnSpLocks/>
          </p:cNvCxnSpPr>
          <p:nvPr/>
        </p:nvCxnSpPr>
        <p:spPr>
          <a:xfrm flipV="1">
            <a:off x="6513095" y="2701620"/>
            <a:ext cx="0" cy="72738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A06B4C3-1203-90ED-8E68-7216B8FEA0BD}"/>
              </a:ext>
            </a:extLst>
          </p:cNvPr>
          <p:cNvGraphicFramePr>
            <a:graphicFrameLocks noGrp="1"/>
          </p:cNvGraphicFramePr>
          <p:nvPr/>
        </p:nvGraphicFramePr>
        <p:xfrm>
          <a:off x="1187198" y="2192191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2F0E6C3-413A-9CC2-B911-51F26F15E856}"/>
              </a:ext>
            </a:extLst>
          </p:cNvPr>
          <p:cNvGraphicFramePr>
            <a:graphicFrameLocks noGrp="1"/>
          </p:cNvGraphicFramePr>
          <p:nvPr/>
        </p:nvGraphicFramePr>
        <p:xfrm>
          <a:off x="1187198" y="2213092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AE1223-A664-E473-7B28-A7EB36918F9C}"/>
              </a:ext>
            </a:extLst>
          </p:cNvPr>
          <p:cNvCxnSpPr>
            <a:cxnSpLocks/>
          </p:cNvCxnSpPr>
          <p:nvPr/>
        </p:nvCxnSpPr>
        <p:spPr>
          <a:xfrm flipV="1">
            <a:off x="7778015" y="2789699"/>
            <a:ext cx="0" cy="72738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F4B9816-F964-D027-27C6-3AD4A3DFE188}"/>
              </a:ext>
            </a:extLst>
          </p:cNvPr>
          <p:cNvSpPr txBox="1"/>
          <p:nvPr/>
        </p:nvSpPr>
        <p:spPr>
          <a:xfrm>
            <a:off x="589179" y="3615091"/>
            <a:ext cx="60536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insertion_sort(array):</a:t>
            </a:r>
          </a:p>
          <a:p>
            <a:r>
              <a:rPr lang="en-US" sz="2800" dirty="0"/>
              <a:t>for i values i to n-1:</a:t>
            </a:r>
          </a:p>
          <a:p>
            <a:r>
              <a:rPr lang="en-US" sz="2800" dirty="0"/>
              <a:t>	j= i - 1</a:t>
            </a:r>
          </a:p>
          <a:p>
            <a:r>
              <a:rPr lang="en-US" sz="2800" dirty="0"/>
              <a:t>	while array[j] &gt; array[i] and j&gt;=0:</a:t>
            </a:r>
          </a:p>
          <a:p>
            <a:r>
              <a:rPr lang="en-US" sz="2800" dirty="0"/>
              <a:t>			swap array[j] and array[i]</a:t>
            </a:r>
          </a:p>
          <a:p>
            <a:r>
              <a:rPr lang="en-US" sz="2800" dirty="0"/>
              <a:t>			j = j - 1</a:t>
            </a:r>
          </a:p>
        </p:txBody>
      </p:sp>
    </p:spTree>
    <p:extLst>
      <p:ext uri="{BB962C8B-B14F-4D97-AF65-F5344CB8AC3E}">
        <p14:creationId xmlns:p14="http://schemas.microsoft.com/office/powerpoint/2010/main" val="40115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EDDE-A8E5-FC79-C9A9-1D694542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945D42-4964-4189-D55F-BFAED6C55A79}"/>
              </a:ext>
            </a:extLst>
          </p:cNvPr>
          <p:cNvSpPr txBox="1"/>
          <p:nvPr/>
        </p:nvSpPr>
        <p:spPr>
          <a:xfrm>
            <a:off x="304800" y="645460"/>
            <a:ext cx="11582400" cy="8063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SIZE 6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insertion_sort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list[], int size)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u, j;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element;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(u = 1; u &lt; size; u++)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element = list[u];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j = u;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(j &gt; 0 &amp;&amp; list[j - 1] &gt; element)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list[j] = list[j - 1];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j--;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list[j] = element;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list[SIZE] = {6, 2, 10, 7, 1, 5};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("Unsorted list: ");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SIZE;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 list[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insertion_sort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(list, SIZE);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("Sorted list: ");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SIZE;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 list[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C7E364-6DDD-D225-A361-AFD39E40005A}"/>
              </a:ext>
            </a:extLst>
          </p:cNvPr>
          <p:cNvSpPr/>
          <p:nvPr/>
        </p:nvSpPr>
        <p:spPr>
          <a:xfrm>
            <a:off x="4069976" y="5701553"/>
            <a:ext cx="7817224" cy="770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https://github.com/heathermarriott/DataStructures/blob/main/insertionSortV2.c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100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#2 – Bubble Sort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57126D-D215-A2F0-7C2D-9B7C0401C907}"/>
              </a:ext>
            </a:extLst>
          </p:cNvPr>
          <p:cNvSpPr txBox="1">
            <a:spLocks/>
          </p:cNvSpPr>
          <p:nvPr/>
        </p:nvSpPr>
        <p:spPr>
          <a:xfrm>
            <a:off x="370490" y="1912081"/>
            <a:ext cx="11268598" cy="416364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b="0" i="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070C0"/>
                </a:solidFill>
              </a:rPr>
              <a:t>Bubble Sort</a:t>
            </a:r>
          </a:p>
          <a:p>
            <a:pPr marL="514350" indent="-514350">
              <a:lnSpc>
                <a:spcPct val="95000"/>
              </a:lnSpc>
              <a:buFont typeface="+mj-lt"/>
              <a:buAutoNum type="arabicParenR"/>
            </a:pPr>
            <a:r>
              <a:rPr lang="en-US" sz="3200" dirty="0"/>
              <a:t>Start with numbers in position 0 and position 1.  If item in position 1 is smaller than item in position 0, swap.</a:t>
            </a:r>
          </a:p>
          <a:p>
            <a:pPr marL="0" indent="0">
              <a:lnSpc>
                <a:spcPct val="95000"/>
              </a:lnSpc>
              <a:buNone/>
            </a:pPr>
            <a:endParaRPr lang="en-US" sz="3200" dirty="0"/>
          </a:p>
          <a:p>
            <a:pPr marL="514350" indent="-514350">
              <a:lnSpc>
                <a:spcPct val="95000"/>
              </a:lnSpc>
              <a:buFont typeface="+mj-lt"/>
              <a:buAutoNum type="arabicParenR" startAt="2"/>
            </a:pPr>
            <a:r>
              <a:rPr lang="en-US" sz="3200" dirty="0"/>
              <a:t>Continue with position 1 and 2, 2 and 3, …. n-2 and n-1.  By the end of this, the last number will be in the correct position.</a:t>
            </a:r>
          </a:p>
          <a:p>
            <a:pPr marL="514350" indent="-514350">
              <a:lnSpc>
                <a:spcPct val="95000"/>
              </a:lnSpc>
              <a:buFont typeface="+mj-lt"/>
              <a:buAutoNum type="arabicParenR" startAt="2"/>
            </a:pPr>
            <a:r>
              <a:rPr lang="en-US" sz="3200" dirty="0"/>
              <a:t>Repeat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5EC59A-6333-B0A5-2FB8-3BDF8719E507}"/>
              </a:ext>
            </a:extLst>
          </p:cNvPr>
          <p:cNvGraphicFramePr>
            <a:graphicFrameLocks noGrp="1"/>
          </p:cNvGraphicFramePr>
          <p:nvPr/>
        </p:nvGraphicFramePr>
        <p:xfrm>
          <a:off x="4387598" y="1978073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0C5B98-667B-4DB2-C58B-BB2D0684A58C}"/>
              </a:ext>
            </a:extLst>
          </p:cNvPr>
          <p:cNvGraphicFramePr>
            <a:graphicFrameLocks noGrp="1"/>
          </p:cNvGraphicFramePr>
          <p:nvPr/>
        </p:nvGraphicFramePr>
        <p:xfrm>
          <a:off x="4387598" y="3645488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C9B9BE-5F04-D6F0-45DF-79F57AC46FC7}"/>
              </a:ext>
            </a:extLst>
          </p:cNvPr>
          <p:cNvGraphicFramePr>
            <a:graphicFrameLocks noGrp="1"/>
          </p:cNvGraphicFramePr>
          <p:nvPr/>
        </p:nvGraphicFramePr>
        <p:xfrm>
          <a:off x="4387598" y="5312903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800" b="1" kern="120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85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 Algorithm #2 – Bubble Sort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31D4ED-864D-108D-77B6-4DB9C189CF86}"/>
              </a:ext>
            </a:extLst>
          </p:cNvPr>
          <p:cNvGraphicFramePr>
            <a:graphicFrameLocks noGrp="1"/>
          </p:cNvGraphicFramePr>
          <p:nvPr/>
        </p:nvGraphicFramePr>
        <p:xfrm>
          <a:off x="1127412" y="2014833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466848-3867-FBF7-0CF7-7067D47DEE3D}"/>
              </a:ext>
            </a:extLst>
          </p:cNvPr>
          <p:cNvSpPr txBox="1"/>
          <p:nvPr/>
        </p:nvSpPr>
        <p:spPr>
          <a:xfrm>
            <a:off x="8986205" y="2183460"/>
            <a:ext cx="235994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purple = sorted</a:t>
            </a:r>
          </a:p>
          <a:p>
            <a:endParaRPr lang="en-US">
              <a:solidFill>
                <a:srgbClr val="7030A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2A1DDA-D901-A50F-560D-722F84F34858}"/>
              </a:ext>
            </a:extLst>
          </p:cNvPr>
          <p:cNvGraphicFramePr>
            <a:graphicFrameLocks noGrp="1"/>
          </p:cNvGraphicFramePr>
          <p:nvPr/>
        </p:nvGraphicFramePr>
        <p:xfrm>
          <a:off x="1127412" y="2014833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BE0EFC-3715-4A03-7E51-DE46D0BF2208}"/>
              </a:ext>
            </a:extLst>
          </p:cNvPr>
          <p:cNvGraphicFramePr>
            <a:graphicFrameLocks noGrp="1"/>
          </p:cNvGraphicFramePr>
          <p:nvPr/>
        </p:nvGraphicFramePr>
        <p:xfrm>
          <a:off x="1127412" y="2021911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00ED4E-3895-E635-324C-3A5DC040C10E}"/>
              </a:ext>
            </a:extLst>
          </p:cNvPr>
          <p:cNvGraphicFramePr>
            <a:graphicFrameLocks noGrp="1"/>
          </p:cNvGraphicFramePr>
          <p:nvPr/>
        </p:nvGraphicFramePr>
        <p:xfrm>
          <a:off x="1127412" y="2043660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9254EF-FC9F-A6F4-29DD-B77737D61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124476"/>
              </p:ext>
            </p:extLst>
          </p:nvPr>
        </p:nvGraphicFramePr>
        <p:xfrm>
          <a:off x="1127412" y="2026873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C8ADA6-CF19-32FC-3B46-F3D4461FED8B}"/>
              </a:ext>
            </a:extLst>
          </p:cNvPr>
          <p:cNvGraphicFramePr>
            <a:graphicFrameLocks noGrp="1"/>
          </p:cNvGraphicFramePr>
          <p:nvPr/>
        </p:nvGraphicFramePr>
        <p:xfrm>
          <a:off x="1127412" y="3310949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5C914F-4BE2-0F44-6E13-68BB7A5BA0A1}"/>
              </a:ext>
            </a:extLst>
          </p:cNvPr>
          <p:cNvGraphicFramePr>
            <a:graphicFrameLocks noGrp="1"/>
          </p:cNvGraphicFramePr>
          <p:nvPr/>
        </p:nvGraphicFramePr>
        <p:xfrm>
          <a:off x="1127412" y="3310158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A169C64-C95F-E4FB-3C15-D932BFF14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761393"/>
              </p:ext>
            </p:extLst>
          </p:nvPr>
        </p:nvGraphicFramePr>
        <p:xfrm>
          <a:off x="1127412" y="3322291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D6CC574-6AE0-FA46-A444-9FF9835F1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157650"/>
              </p:ext>
            </p:extLst>
          </p:nvPr>
        </p:nvGraphicFramePr>
        <p:xfrm>
          <a:off x="1127412" y="4325008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99F8095-F74B-32D6-138D-E55F3FC58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548046"/>
              </p:ext>
            </p:extLst>
          </p:nvPr>
        </p:nvGraphicFramePr>
        <p:xfrm>
          <a:off x="1127412" y="5327725"/>
          <a:ext cx="7251490" cy="5181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964419">
                  <a:extLst>
                    <a:ext uri="{9D8B030D-6E8A-4147-A177-3AD203B41FA5}">
                      <a16:colId xmlns:a16="http://schemas.microsoft.com/office/drawing/2014/main" val="216991025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552628765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1358496619"/>
                    </a:ext>
                  </a:extLst>
                </a:gridCol>
                <a:gridCol w="1308296">
                  <a:extLst>
                    <a:ext uri="{9D8B030D-6E8A-4147-A177-3AD203B41FA5}">
                      <a16:colId xmlns:a16="http://schemas.microsoft.com/office/drawing/2014/main" val="4291399785"/>
                    </a:ext>
                  </a:extLst>
                </a:gridCol>
                <a:gridCol w="1091924">
                  <a:extLst>
                    <a:ext uri="{9D8B030D-6E8A-4147-A177-3AD203B41FA5}">
                      <a16:colId xmlns:a16="http://schemas.microsoft.com/office/drawing/2014/main" val="26399579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1169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C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72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85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490" y="2039081"/>
            <a:ext cx="10363159" cy="4163647"/>
          </a:xfrm>
        </p:spPr>
        <p:txBody>
          <a:bodyPr anchor="t" anchorCtr="0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/>
              <a:t>Selection Sort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/>
              <a:t>Heap Sort           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/>
              <a:t>Quick Sort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3200"/>
              <a:t>Merge Sort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endParaRPr lang="en-US" sz="3200"/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n-US" sz="3200"/>
              <a:t>The next lecture will discuss how we analyze an algorithm so we can select the best one for our problem.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5854" y="782272"/>
            <a:ext cx="1050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Other Sorting Algorithms</a:t>
            </a:r>
          </a:p>
        </p:txBody>
      </p:sp>
      <p:pic>
        <p:nvPicPr>
          <p:cNvPr id="4" name="Online Media 3" descr="Obama Bubble Sort">
            <a:hlinkClick r:id="" action="ppaction://media"/>
            <a:extLst>
              <a:ext uri="{FF2B5EF4-FFF2-40B4-BE49-F238E27FC236}">
                <a16:creationId xmlns:a16="http://schemas.microsoft.com/office/drawing/2014/main" id="{CB586CF7-3357-13F8-22F5-845B0893AAD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552069" y="2039081"/>
            <a:ext cx="4025392" cy="301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7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latin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Questions?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81FF5C-7156-F045-3772-808E8CC6AA95}"/>
              </a:ext>
            </a:extLst>
          </p:cNvPr>
          <p:cNvSpPr/>
          <p:nvPr/>
        </p:nvSpPr>
        <p:spPr>
          <a:xfrm>
            <a:off x="1113224" y="4143690"/>
            <a:ext cx="9960531" cy="1310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Good resources: </a:t>
            </a:r>
            <a:r>
              <a:rPr lang="en-US">
                <a:hlinkClick r:id="rId4"/>
              </a:rPr>
              <a:t>https://youtu.be/JU767SDMDvA?si=S_06SwIbh1O9ti9M</a:t>
            </a:r>
            <a:r>
              <a:rPr lang="en-US"/>
              <a:t>  Insertion sort in 2 minutes</a:t>
            </a:r>
          </a:p>
          <a:p>
            <a:r>
              <a:rPr lang="en-US">
                <a:hlinkClick r:id="rId5"/>
              </a:rPr>
              <a:t>https://youtu.be/xli_FI7CuzA?si=RlkIpG0zN81b-KRP</a:t>
            </a:r>
            <a:r>
              <a:rPr lang="en-US"/>
              <a:t> Bubble sort in 2 minutes</a:t>
            </a:r>
          </a:p>
          <a:p>
            <a:r>
              <a:rPr lang="en-US">
                <a:hlinkClick r:id="rId6"/>
              </a:rPr>
              <a:t>https://www.cs.usfca.edu/~galles/visualization/ComparisonSort.html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>
                <a:solidFill>
                  <a:srgbClr val="FFFFFF"/>
                </a:solidFill>
              </a:rPr>
              <a:t>In Class Assignment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420858" y="2039814"/>
            <a:ext cx="11189950" cy="3614225"/>
          </a:xfrm>
        </p:spPr>
        <p:txBody>
          <a:bodyPr anchor="t" anchorCtr="0">
            <a:normAutofit fontScale="850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Our first homework assignment will involve file I/O in C and structures.  Practice with this shorter in class exercise and submit on Canvas.</a:t>
            </a:r>
          </a:p>
          <a:p>
            <a:pPr algn="l"/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Create a C structure to hold information about an Order:</a:t>
            </a:r>
            <a:br>
              <a:rPr lang="en-US" sz="3200" b="0" i="0" u="none" strike="noStrike" dirty="0">
                <a:solidFill>
                  <a:srgbClr val="0070C0"/>
                </a:solidFill>
                <a:effectLst/>
              </a:rPr>
            </a:b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            price, quantity, and customer name. </a:t>
            </a:r>
          </a:p>
          <a:p>
            <a:pPr algn="l"/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Hard code the values for an Order object.  Write this information to a file: </a:t>
            </a:r>
            <a:r>
              <a:rPr lang="en-US" sz="3200" b="0" i="0" u="none" strike="noStrike" dirty="0" err="1">
                <a:solidFill>
                  <a:srgbClr val="0070C0"/>
                </a:solidFill>
                <a:effectLst/>
              </a:rPr>
              <a:t>order.txt</a:t>
            </a: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/>
            </a:r>
            <a:br>
              <a:rPr lang="en-US" sz="3200" b="0" i="0" u="none" strike="noStrike" dirty="0">
                <a:solidFill>
                  <a:srgbClr val="0070C0"/>
                </a:solidFill>
                <a:effectLst/>
              </a:rPr>
            </a:br>
            <a:r>
              <a:rPr lang="en-US" sz="3200" b="0" i="0" u="none" strike="noStrike" dirty="0">
                <a:solidFill>
                  <a:srgbClr val="0070C0"/>
                </a:solidFill>
                <a:effectLst/>
              </a:rPr>
              <a:t>Write a function that will read the information from this file into another Order object.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32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42DB-3443-C389-0CB5-DC903BFD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>
            <a:extLst>
              <a:ext uri="{FF2B5EF4-FFF2-40B4-BE49-F238E27FC236}">
                <a16:creationId xmlns:a16="http://schemas.microsoft.com/office/drawing/2014/main" id="{E842E704-626E-62E9-717E-988AD4A9C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5400" dirty="0">
                <a:solidFill>
                  <a:srgbClr val="FFFFFF"/>
                </a:solidFill>
              </a:rPr>
              <a:t>In Class Assignment CHALLENGE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20E8AE02-E720-DC60-5184-8925743347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0858" y="2039814"/>
            <a:ext cx="6768836" cy="3614225"/>
          </a:xfrm>
        </p:spPr>
        <p:txBody>
          <a:bodyPr anchor="t" anchorCtr="0"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Use a typedef with your structure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Always check that the file open command worked.  If not, print an error message.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255083-6CE2-10CA-46A8-3FAB6DF8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987" y="2707341"/>
            <a:ext cx="4716553" cy="408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7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315_01AlgorithmsSortingLatest-1(1)" id="{EA72822C-0D32-644F-9E7E-515D66319756}" vid="{B1174AC2-1EA3-B94B-B837-16E14B4594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3057</TotalTime>
  <Words>3770</Words>
  <Application>Microsoft Office PowerPoint</Application>
  <PresentationFormat>Widescreen</PresentationFormat>
  <Paragraphs>815</Paragraphs>
  <Slides>29</Slides>
  <Notes>29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Gill Sans MT</vt:lpstr>
      <vt:lpstr>Menlo</vt:lpstr>
      <vt:lpstr>Times New Roman</vt:lpstr>
      <vt:lpstr>Wingdings</vt:lpstr>
      <vt:lpstr>Wingdings 2</vt:lpstr>
      <vt:lpstr>Custom</vt:lpstr>
      <vt:lpstr>Data structures and Algorithms</vt:lpstr>
      <vt:lpstr>Today’s Lecture</vt:lpstr>
      <vt:lpstr>PowerPoint Presentation</vt:lpstr>
      <vt:lpstr>PowerPoint Presentation</vt:lpstr>
      <vt:lpstr>PowerPoint Presentation</vt:lpstr>
      <vt:lpstr>Stacks</vt:lpstr>
      <vt:lpstr>Stacks</vt:lpstr>
      <vt:lpstr>Queues</vt:lpstr>
      <vt:lpstr>Queues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In Class Assignment</vt:lpstr>
      <vt:lpstr>In Class Assignment 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CS399 Run Time Analysis</dc:title>
  <dc:creator>Marriott, Heather H</dc:creator>
  <cp:lastModifiedBy>Marriott, Heather H</cp:lastModifiedBy>
  <cp:revision>30</cp:revision>
  <dcterms:created xsi:type="dcterms:W3CDTF">2024-05-27T01:44:40Z</dcterms:created>
  <dcterms:modified xsi:type="dcterms:W3CDTF">2025-08-25T21:22:45Z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