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37"/>
  </p:notesMasterIdLst>
  <p:handoutMasterIdLst>
    <p:handoutMasterId r:id="rId38"/>
  </p:handoutMasterIdLst>
  <p:sldIdLst>
    <p:sldId id="256" r:id="rId5"/>
    <p:sldId id="503" r:id="rId6"/>
    <p:sldId id="279" r:id="rId7"/>
    <p:sldId id="263" r:id="rId8"/>
    <p:sldId id="584" r:id="rId9"/>
    <p:sldId id="566" r:id="rId10"/>
    <p:sldId id="280" r:id="rId11"/>
    <p:sldId id="586" r:id="rId12"/>
    <p:sldId id="554" r:id="rId13"/>
    <p:sldId id="261" r:id="rId14"/>
    <p:sldId id="276" r:id="rId15"/>
    <p:sldId id="567" r:id="rId16"/>
    <p:sldId id="564" r:id="rId17"/>
    <p:sldId id="575" r:id="rId18"/>
    <p:sldId id="561" r:id="rId19"/>
    <p:sldId id="555" r:id="rId20"/>
    <p:sldId id="562" r:id="rId21"/>
    <p:sldId id="576" r:id="rId22"/>
    <p:sldId id="273" r:id="rId23"/>
    <p:sldId id="577" r:id="rId24"/>
    <p:sldId id="578" r:id="rId25"/>
    <p:sldId id="579" r:id="rId26"/>
    <p:sldId id="580" r:id="rId27"/>
    <p:sldId id="581" r:id="rId28"/>
    <p:sldId id="582" r:id="rId29"/>
    <p:sldId id="300" r:id="rId30"/>
    <p:sldId id="352" r:id="rId31"/>
    <p:sldId id="568" r:id="rId32"/>
    <p:sldId id="569" r:id="rId33"/>
    <p:sldId id="585" r:id="rId34"/>
    <p:sldId id="260" r:id="rId35"/>
    <p:sldId id="583"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6" autoAdjust="0"/>
    <p:restoredTop sz="58543" autoAdjust="0"/>
  </p:normalViewPr>
  <p:slideViewPr>
    <p:cSldViewPr snapToGrid="0">
      <p:cViewPr varScale="1">
        <p:scale>
          <a:sx n="59" d="100"/>
          <a:sy n="59" d="100"/>
        </p:scale>
        <p:origin x="1098" y="6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Times New Roman" panose="02020603050405020304" pitchFamily="18" charset="0"/>
            </a:endParaRPr>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latin typeface="Times New Roman" panose="02020603050405020304" pitchFamily="18" charset="0"/>
              </a:rPr>
              <a:t>8/26/2025</a:t>
            </a:fld>
            <a:endParaRPr lang="en-US"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Times New Roman" panose="02020603050405020304" pitchFamily="18" charset="0"/>
            </a:endParaRPr>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latin typeface="Times New Roman" panose="02020603050405020304" pitchFamily="18" charset="0"/>
              </a:rPr>
              <a:t>‹#›</a:t>
            </a:fld>
            <a:endParaRPr lang="en-US" dirty="0">
              <a:latin typeface="Times New Roman" panose="02020603050405020304" pitchFamily="18" charset="0"/>
            </a:endParaRP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New Roman" panose="02020603050405020304" pitchFamily="18" charset="0"/>
              </a:defRPr>
            </a:lvl1pPr>
          </a:lstStyle>
          <a:p>
            <a:fld id="{C732326A-4C88-4AFB-AA5B-5919D81DFF5B}" type="datetimeFigureOut">
              <a:rPr lang="en-US" smtClean="0"/>
              <a:pPr/>
              <a:t>8/26/2025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New Roman" panose="02020603050405020304" pitchFamily="18" charset="0"/>
              </a:defRPr>
            </a:lvl1pPr>
          </a:lstStyle>
          <a:p>
            <a:fld id="{C6B3AB32-59DF-41F1-9618-EDFBF5049629}" type="slidenum">
              <a:rPr lang="en-US" smtClean="0"/>
              <a:pPr/>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New Roman" panose="02020603050405020304" pitchFamily="18" charset="0"/>
        <a:ea typeface="+mn-ea"/>
        <a:cs typeface="+mn-cs"/>
      </a:defRPr>
    </a:lvl1pPr>
    <a:lvl2pPr marL="457200" algn="l" defTabSz="914400" rtl="0" eaLnBrk="1" latinLnBrk="0" hangingPunct="1">
      <a:defRPr sz="1200" b="0" i="0" kern="1200">
        <a:solidFill>
          <a:schemeClr val="tx1"/>
        </a:solidFill>
        <a:latin typeface="Times New Roman" panose="02020603050405020304" pitchFamily="18" charset="0"/>
        <a:ea typeface="+mn-ea"/>
        <a:cs typeface="+mn-cs"/>
      </a:defRPr>
    </a:lvl2pPr>
    <a:lvl3pPr marL="914400" algn="l" defTabSz="914400" rtl="0" eaLnBrk="1" latinLnBrk="0" hangingPunct="1">
      <a:defRPr sz="1200" b="0" i="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b="0" i="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b="0" i="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2F366094-956C-4EAE-8D5D-57B1B6CC2130}" type="slidenum">
              <a:rPr lang="en-US" altLang="en-US" sz="1200">
                <a:solidFill>
                  <a:schemeClr val="tx1"/>
                </a:solidFill>
              </a:rPr>
              <a:pPr eaLnBrk="1" hangingPunct="1"/>
              <a:t>2</a:t>
            </a:fld>
            <a:endParaRPr lang="en-US" altLang="en-US" sz="1200">
              <a:solidFill>
                <a:schemeClr val="tx1"/>
              </a:solidFill>
            </a:endParaRPr>
          </a:p>
        </p:txBody>
      </p:sp>
      <p:sp>
        <p:nvSpPr>
          <p:cNvPr id="46083" name="Rectangle 2"/>
          <p:cNvSpPr>
            <a:spLocks noGrp="1" noRot="1" noChangeAspect="1" noChangeArrowheads="1" noTextEdit="1"/>
          </p:cNvSpPr>
          <p:nvPr>
            <p:ph type="sldImg"/>
          </p:nvPr>
        </p:nvSpPr>
        <p:spPr>
          <a:solidFill>
            <a:srgbClr val="FFFFFF"/>
          </a:solidFill>
          <a:ln/>
        </p:spPr>
      </p:sp>
      <p:sp>
        <p:nvSpPr>
          <p:cNvPr id="4608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Queue, Stack</a:t>
            </a:r>
          </a:p>
          <a:p>
            <a:endParaRPr lang="en-US" dirty="0"/>
          </a:p>
          <a:p>
            <a:r>
              <a:rPr lang="en-US" dirty="0"/>
              <a:t>Insertion sort, Bubble Sort</a:t>
            </a:r>
          </a:p>
        </p:txBody>
      </p:sp>
      <p:sp>
        <p:nvSpPr>
          <p:cNvPr id="4" name="Slide Number Placeholder 3"/>
          <p:cNvSpPr>
            <a:spLocks noGrp="1"/>
          </p:cNvSpPr>
          <p:nvPr>
            <p:ph type="sldNum" sz="quarter" idx="5"/>
          </p:nvPr>
        </p:nvSpPr>
        <p:spPr/>
        <p:txBody>
          <a:bodyPr/>
          <a:lstStyle/>
          <a:p>
            <a:fld id="{FB74708E-586B-4403-9055-F6417AB64356}" type="slidenum">
              <a:rPr lang="en-US" smtClean="0"/>
              <a:pPr/>
              <a:t>3</a:t>
            </a:fld>
            <a:endParaRPr lang="en-US" dirty="0"/>
          </a:p>
        </p:txBody>
      </p:sp>
    </p:spTree>
    <p:extLst>
      <p:ext uri="{BB962C8B-B14F-4D97-AF65-F5344CB8AC3E}">
        <p14:creationId xmlns:p14="http://schemas.microsoft.com/office/powerpoint/2010/main" val="2182912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 Function to implement bubble sort</a:t>
            </a:r>
          </a:p>
          <a:p>
            <a:r>
              <a:rPr lang="en-US" dirty="0"/>
              <a:t>def </a:t>
            </a:r>
            <a:r>
              <a:rPr lang="en-US" dirty="0" err="1"/>
              <a:t>bubble_sort</a:t>
            </a:r>
            <a:r>
              <a:rPr lang="en-US" dirty="0"/>
              <a:t>(x):</a:t>
            </a:r>
          </a:p>
          <a:p>
            <a:r>
              <a:rPr lang="en-US" dirty="0"/>
              <a:t>    n = </a:t>
            </a:r>
            <a:r>
              <a:rPr lang="en-US" dirty="0" err="1"/>
              <a:t>len</a:t>
            </a:r>
            <a:r>
              <a:rPr lang="en-US" dirty="0"/>
              <a:t>(x)</a:t>
            </a:r>
          </a:p>
          <a:p>
            <a:r>
              <a:rPr lang="en-US" dirty="0"/>
              <a:t>    # Traverse through all elements</a:t>
            </a:r>
          </a:p>
          <a:p>
            <a:r>
              <a:rPr lang="en-US" dirty="0"/>
              <a:t>    for </a:t>
            </a:r>
            <a:r>
              <a:rPr lang="en-US" dirty="0" err="1"/>
              <a:t>i</a:t>
            </a:r>
            <a:r>
              <a:rPr lang="en-US" dirty="0"/>
              <a:t> in range(n):</a:t>
            </a:r>
          </a:p>
          <a:p>
            <a:r>
              <a:rPr lang="en-US" dirty="0"/>
              <a:t>        print(</a:t>
            </a:r>
            <a:r>
              <a:rPr lang="en-US" dirty="0" err="1"/>
              <a:t>f'i</a:t>
            </a:r>
            <a:r>
              <a:rPr lang="en-US" dirty="0"/>
              <a:t> = {</a:t>
            </a:r>
            <a:r>
              <a:rPr lang="en-US" dirty="0" err="1"/>
              <a:t>i</a:t>
            </a:r>
            <a:r>
              <a:rPr lang="en-US" dirty="0"/>
              <a:t>}')</a:t>
            </a:r>
          </a:p>
          <a:p>
            <a:r>
              <a:rPr lang="en-US" dirty="0"/>
              <a:t>        # Flag to detect any swap</a:t>
            </a:r>
          </a:p>
          <a:p>
            <a:r>
              <a:rPr lang="en-US" dirty="0"/>
              <a:t>        swapped = False</a:t>
            </a:r>
          </a:p>
          <a:p>
            <a:r>
              <a:rPr lang="en-US" dirty="0"/>
              <a:t>        # Last </a:t>
            </a:r>
            <a:r>
              <a:rPr lang="en-US" dirty="0" err="1"/>
              <a:t>i</a:t>
            </a:r>
            <a:r>
              <a:rPr lang="en-US" dirty="0"/>
              <a:t> elements are already sorted</a:t>
            </a:r>
          </a:p>
          <a:p>
            <a:r>
              <a:rPr lang="en-US" dirty="0"/>
              <a:t>        for j in range(1, n - </a:t>
            </a:r>
            <a:r>
              <a:rPr lang="en-US" dirty="0" err="1"/>
              <a:t>i</a:t>
            </a:r>
            <a:r>
              <a:rPr lang="en-US" dirty="0"/>
              <a:t>):</a:t>
            </a:r>
          </a:p>
          <a:p>
            <a:r>
              <a:rPr lang="en-US" dirty="0"/>
              <a:t>            # Swap if the element found is greater than the next element</a:t>
            </a:r>
          </a:p>
          <a:p>
            <a:r>
              <a:rPr lang="en-US" dirty="0"/>
              <a:t>            if x[j - 1] &gt; x[j]:</a:t>
            </a:r>
          </a:p>
          <a:p>
            <a:r>
              <a:rPr lang="en-US" dirty="0"/>
              <a:t>                x[j - 1], x[j] = x[j], x[j - 1]</a:t>
            </a:r>
          </a:p>
          <a:p>
            <a:r>
              <a:rPr lang="en-US" dirty="0"/>
              <a:t>                swapped = True</a:t>
            </a:r>
          </a:p>
          <a:p>
            <a:r>
              <a:rPr lang="en-US" dirty="0"/>
              <a:t>        # If no elements were swapped, break</a:t>
            </a:r>
          </a:p>
          <a:p>
            <a:r>
              <a:rPr lang="en-US" dirty="0"/>
              <a:t>        if not swapped:</a:t>
            </a:r>
          </a:p>
          <a:p>
            <a:r>
              <a:rPr lang="en-US" dirty="0"/>
              <a:t>            break</a:t>
            </a:r>
          </a:p>
          <a:p>
            <a:r>
              <a:rPr lang="en-US" dirty="0"/>
              <a:t>array=[12, 5, 67, 34, 2, 37, 97, 99]</a:t>
            </a:r>
          </a:p>
          <a:p>
            <a:r>
              <a:rPr lang="en-US" dirty="0" err="1"/>
              <a:t>bubble_sort</a:t>
            </a:r>
            <a:r>
              <a:rPr lang="en-US" dirty="0"/>
              <a:t>(array)</a:t>
            </a:r>
          </a:p>
          <a:p>
            <a:r>
              <a:rPr lang="en-US" dirty="0"/>
              <a:t>print(array)</a:t>
            </a:r>
          </a:p>
          <a:p>
            <a:r>
              <a:rPr lang="en-US" dirty="0"/>
              <a:t>array=[2, 5, 12, 34, 37 ,67 ,97, 99]</a:t>
            </a:r>
          </a:p>
          <a:p>
            <a:r>
              <a:rPr lang="en-US" dirty="0" err="1"/>
              <a:t>bubble_sort</a:t>
            </a:r>
            <a:r>
              <a:rPr lang="en-US" dirty="0"/>
              <a:t>(array)</a:t>
            </a:r>
          </a:p>
          <a:p>
            <a:r>
              <a:rPr lang="en-US" dirty="0"/>
              <a:t>print(array)</a:t>
            </a:r>
          </a:p>
          <a:p>
            <a:r>
              <a:rPr lang="en-US" dirty="0"/>
              <a:t>array=[99, 97, 67, 37, 34, 12, 5, 2]</a:t>
            </a:r>
          </a:p>
          <a:p>
            <a:r>
              <a:rPr lang="en-US" dirty="0" err="1"/>
              <a:t>bubble_sort</a:t>
            </a:r>
            <a:r>
              <a:rPr lang="en-US" dirty="0"/>
              <a:t>(array)</a:t>
            </a:r>
          </a:p>
          <a:p>
            <a:r>
              <a:rPr lang="en-US" dirty="0"/>
              <a:t>print(array)</a:t>
            </a:r>
          </a:p>
        </p:txBody>
      </p:sp>
      <p:sp>
        <p:nvSpPr>
          <p:cNvPr id="4" name="Slide Number Placeholder 3"/>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871461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A7DCF-807B-3B13-1227-8D81078A1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1E15C-2A12-A3F0-B0FF-7C194D9D9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BCF89-B54F-8EC0-9437-E6D324D744C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3n+2   (int line and last check of while loop is 2),  3n because 3 lines in loop and going through n times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n=1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n=2    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n=3   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n=100    302</a:t>
            </a:r>
          </a:p>
        </p:txBody>
      </p:sp>
      <p:sp>
        <p:nvSpPr>
          <p:cNvPr id="4" name="Slide Number Placeholder 3">
            <a:extLst>
              <a:ext uri="{FF2B5EF4-FFF2-40B4-BE49-F238E27FC236}">
                <a16:creationId xmlns:a16="http://schemas.microsoft.com/office/drawing/2014/main" id="{94315C82-5F2E-92C9-365E-74CE88C6378F}"/>
              </a:ext>
            </a:extLst>
          </p:cNvPr>
          <p:cNvSpPr>
            <a:spLocks noGrp="1"/>
          </p:cNvSpPr>
          <p:nvPr>
            <p:ph type="sldNum" sz="quarter" idx="5"/>
          </p:nvPr>
        </p:nvSpPr>
        <p:spPr/>
        <p:txBody>
          <a:bodyPr/>
          <a:lstStyle/>
          <a:p>
            <a:fld id="{FB74708E-586B-4403-9055-F6417AB64356}" type="slidenum">
              <a:rPr lang="en-US" smtClean="0"/>
              <a:pPr/>
              <a:t>5</a:t>
            </a:fld>
            <a:endParaRPr lang="en-US" dirty="0"/>
          </a:p>
        </p:txBody>
      </p:sp>
    </p:spTree>
    <p:extLst>
      <p:ext uri="{BB962C8B-B14F-4D97-AF65-F5344CB8AC3E}">
        <p14:creationId xmlns:p14="http://schemas.microsoft.com/office/powerpoint/2010/main" val="2286663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3n+2   (int line and last check of while loop is 2),  3n because 3 lines in loop and going through n times</a:t>
            </a:r>
          </a:p>
        </p:txBody>
      </p:sp>
      <p:sp>
        <p:nvSpPr>
          <p:cNvPr id="4" name="Slide Number Placeholder 3"/>
          <p:cNvSpPr>
            <a:spLocks noGrp="1"/>
          </p:cNvSpPr>
          <p:nvPr>
            <p:ph type="sldNum" sz="quarter" idx="5"/>
          </p:nvPr>
        </p:nvSpPr>
        <p:spPr/>
        <p:txBody>
          <a:bodyPr/>
          <a:lstStyle/>
          <a:p>
            <a:fld id="{FB74708E-586B-4403-9055-F6417AB64356}" type="slidenum">
              <a:rPr lang="en-US" smtClean="0"/>
              <a:pPr/>
              <a:t>6</a:t>
            </a:fld>
            <a:endParaRPr lang="en-US" dirty="0"/>
          </a:p>
        </p:txBody>
      </p:sp>
    </p:spTree>
    <p:extLst>
      <p:ext uri="{BB962C8B-B14F-4D97-AF65-F5344CB8AC3E}">
        <p14:creationId xmlns:p14="http://schemas.microsoft.com/office/powerpoint/2010/main" val="415937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solidFill>
                  <a:schemeClr val="tx1"/>
                </a:solidFill>
                <a:effectLst/>
                <a:highlight>
                  <a:srgbClr val="1F1F1F"/>
                </a:highlight>
              </a:rPr>
              <a:t>import random</a:t>
            </a:r>
          </a:p>
          <a:p>
            <a:r>
              <a:rPr lang="en-US" baseline="0" dirty="0">
                <a:solidFill>
                  <a:schemeClr val="tx1"/>
                </a:solidFill>
                <a:effectLst/>
                <a:highlight>
                  <a:srgbClr val="1F1F1F"/>
                </a:highlight>
              </a:rPr>
              <a:t>import time</a:t>
            </a:r>
          </a:p>
          <a:p>
            <a:endParaRPr lang="en-US" baseline="0" dirty="0">
              <a:solidFill>
                <a:schemeClr val="tx1"/>
              </a:solidFill>
              <a:effectLst/>
              <a:highlight>
                <a:srgbClr val="1F1F1F"/>
              </a:highlight>
            </a:endParaRPr>
          </a:p>
          <a:p>
            <a:r>
              <a:rPr lang="en-US" baseline="0" dirty="0">
                <a:solidFill>
                  <a:schemeClr val="tx1"/>
                </a:solidFill>
                <a:effectLst/>
                <a:highlight>
                  <a:srgbClr val="1F1F1F"/>
                </a:highlight>
              </a:rPr>
              <a:t># Function to implement bubble sort</a:t>
            </a:r>
          </a:p>
          <a:p>
            <a:r>
              <a:rPr lang="en-US" baseline="0" dirty="0">
                <a:solidFill>
                  <a:schemeClr val="tx1"/>
                </a:solidFill>
                <a:effectLst/>
                <a:highlight>
                  <a:srgbClr val="1F1F1F"/>
                </a:highlight>
              </a:rPr>
              <a:t>def </a:t>
            </a:r>
            <a:r>
              <a:rPr lang="en-US" baseline="0" dirty="0" err="1">
                <a:solidFill>
                  <a:schemeClr val="tx1"/>
                </a:solidFill>
                <a:effectLst/>
                <a:highlight>
                  <a:srgbClr val="1F1F1F"/>
                </a:highlight>
              </a:rPr>
              <a:t>bubble_sort</a:t>
            </a:r>
            <a:r>
              <a:rPr lang="en-US" baseline="0" dirty="0">
                <a:solidFill>
                  <a:schemeClr val="tx1"/>
                </a:solidFill>
                <a:effectLst/>
                <a:highlight>
                  <a:srgbClr val="1F1F1F"/>
                </a:highlight>
              </a:rPr>
              <a:t>(x):</a:t>
            </a:r>
          </a:p>
          <a:p>
            <a:r>
              <a:rPr lang="en-US" baseline="0" dirty="0">
                <a:solidFill>
                  <a:schemeClr val="tx1"/>
                </a:solidFill>
                <a:effectLst/>
                <a:highlight>
                  <a:srgbClr val="1F1F1F"/>
                </a:highlight>
              </a:rPr>
              <a:t>    n = </a:t>
            </a:r>
            <a:r>
              <a:rPr lang="en-US" baseline="0" dirty="0" err="1">
                <a:solidFill>
                  <a:schemeClr val="tx1"/>
                </a:solidFill>
                <a:effectLst/>
                <a:highlight>
                  <a:srgbClr val="1F1F1F"/>
                </a:highlight>
              </a:rPr>
              <a:t>len</a:t>
            </a:r>
            <a:r>
              <a:rPr lang="en-US" baseline="0" dirty="0">
                <a:solidFill>
                  <a:schemeClr val="tx1"/>
                </a:solidFill>
                <a:effectLst/>
                <a:highlight>
                  <a:srgbClr val="1F1F1F"/>
                </a:highlight>
              </a:rPr>
              <a:t>(x)</a:t>
            </a:r>
          </a:p>
          <a:p>
            <a:r>
              <a:rPr lang="en-US" baseline="0" dirty="0">
                <a:solidFill>
                  <a:schemeClr val="tx1"/>
                </a:solidFill>
                <a:effectLst/>
                <a:highlight>
                  <a:srgbClr val="1F1F1F"/>
                </a:highlight>
              </a:rPr>
              <a:t>    for </a:t>
            </a:r>
            <a:r>
              <a:rPr lang="en-US" baseline="0" dirty="0" err="1">
                <a:solidFill>
                  <a:schemeClr val="tx1"/>
                </a:solidFill>
                <a:effectLst/>
                <a:highlight>
                  <a:srgbClr val="1F1F1F"/>
                </a:highlight>
              </a:rPr>
              <a:t>i</a:t>
            </a:r>
            <a:r>
              <a:rPr lang="en-US" baseline="0" dirty="0">
                <a:solidFill>
                  <a:schemeClr val="tx1"/>
                </a:solidFill>
                <a:effectLst/>
                <a:highlight>
                  <a:srgbClr val="1F1F1F"/>
                </a:highlight>
              </a:rPr>
              <a:t> in range(n):</a:t>
            </a:r>
          </a:p>
          <a:p>
            <a:r>
              <a:rPr lang="en-US" baseline="0" dirty="0">
                <a:solidFill>
                  <a:schemeClr val="tx1"/>
                </a:solidFill>
                <a:effectLst/>
                <a:highlight>
                  <a:srgbClr val="1F1F1F"/>
                </a:highlight>
              </a:rPr>
              <a:t>        for j in range(0, n-i-1):</a:t>
            </a:r>
          </a:p>
          <a:p>
            <a:r>
              <a:rPr lang="en-US" baseline="0" dirty="0">
                <a:solidFill>
                  <a:schemeClr val="tx1"/>
                </a:solidFill>
                <a:effectLst/>
                <a:highlight>
                  <a:srgbClr val="1F1F1F"/>
                </a:highlight>
              </a:rPr>
              <a:t>            if x[j] &gt; x[j+1]:</a:t>
            </a:r>
          </a:p>
          <a:p>
            <a:r>
              <a:rPr lang="en-US" baseline="0" dirty="0">
                <a:solidFill>
                  <a:schemeClr val="tx1"/>
                </a:solidFill>
                <a:effectLst/>
                <a:highlight>
                  <a:srgbClr val="1F1F1F"/>
                </a:highlight>
              </a:rPr>
              <a:t>                x[j], x[j+1] = x[j+1], x[j]</a:t>
            </a:r>
          </a:p>
          <a:p>
            <a:endParaRPr lang="en-US" baseline="0" dirty="0">
              <a:solidFill>
                <a:schemeClr val="tx1"/>
              </a:solidFill>
              <a:effectLst/>
              <a:highlight>
                <a:srgbClr val="1F1F1F"/>
              </a:highlight>
            </a:endParaRPr>
          </a:p>
          <a:p>
            <a:r>
              <a:rPr lang="en-US" baseline="0" dirty="0">
                <a:solidFill>
                  <a:schemeClr val="tx1"/>
                </a:solidFill>
                <a:effectLst/>
                <a:highlight>
                  <a:srgbClr val="1F1F1F"/>
                </a:highlight>
              </a:rPr>
              <a:t># Read number of elements from user</a:t>
            </a:r>
          </a:p>
          <a:p>
            <a:r>
              <a:rPr lang="en-US" baseline="0" dirty="0" err="1">
                <a:solidFill>
                  <a:schemeClr val="tx1"/>
                </a:solidFill>
                <a:effectLst/>
                <a:highlight>
                  <a:srgbClr val="1F1F1F"/>
                </a:highlight>
              </a:rPr>
              <a:t>num_elements</a:t>
            </a:r>
            <a:r>
              <a:rPr lang="en-US" baseline="0" dirty="0">
                <a:solidFill>
                  <a:schemeClr val="tx1"/>
                </a:solidFill>
                <a:effectLst/>
                <a:highlight>
                  <a:srgbClr val="1F1F1F"/>
                </a:highlight>
              </a:rPr>
              <a:t> = int(input("Enter the # of values: "))</a:t>
            </a:r>
          </a:p>
          <a:p>
            <a:endParaRPr lang="en-US" baseline="0" dirty="0">
              <a:solidFill>
                <a:schemeClr val="tx1"/>
              </a:solidFill>
              <a:effectLst/>
              <a:highlight>
                <a:srgbClr val="1F1F1F"/>
              </a:highlight>
            </a:endParaRPr>
          </a:p>
          <a:p>
            <a:r>
              <a:rPr lang="en-US" baseline="0" dirty="0">
                <a:solidFill>
                  <a:schemeClr val="tx1"/>
                </a:solidFill>
                <a:effectLst/>
                <a:highlight>
                  <a:srgbClr val="1F1F1F"/>
                </a:highlight>
              </a:rPr>
              <a:t># Assign random values to the array</a:t>
            </a:r>
          </a:p>
          <a:p>
            <a:r>
              <a:rPr lang="en-US" baseline="0" dirty="0">
                <a:solidFill>
                  <a:schemeClr val="tx1"/>
                </a:solidFill>
                <a:effectLst/>
                <a:highlight>
                  <a:srgbClr val="1F1F1F"/>
                </a:highlight>
              </a:rPr>
              <a:t>array = [</a:t>
            </a:r>
            <a:r>
              <a:rPr lang="en-US" baseline="0" dirty="0" err="1">
                <a:solidFill>
                  <a:schemeClr val="tx1"/>
                </a:solidFill>
                <a:effectLst/>
                <a:highlight>
                  <a:srgbClr val="1F1F1F"/>
                </a:highlight>
              </a:rPr>
              <a:t>random.randint</a:t>
            </a:r>
            <a:r>
              <a:rPr lang="en-US" baseline="0" dirty="0">
                <a:solidFill>
                  <a:schemeClr val="tx1"/>
                </a:solidFill>
                <a:effectLst/>
                <a:highlight>
                  <a:srgbClr val="1F1F1F"/>
                </a:highlight>
              </a:rPr>
              <a:t>(0, 1000) for _ in range(</a:t>
            </a:r>
            <a:r>
              <a:rPr lang="en-US" baseline="0" dirty="0" err="1">
                <a:solidFill>
                  <a:schemeClr val="tx1"/>
                </a:solidFill>
                <a:effectLst/>
                <a:highlight>
                  <a:srgbClr val="1F1F1F"/>
                </a:highlight>
              </a:rPr>
              <a:t>num_elements</a:t>
            </a:r>
            <a:r>
              <a:rPr lang="en-US" baseline="0" dirty="0">
                <a:solidFill>
                  <a:schemeClr val="tx1"/>
                </a:solidFill>
                <a:effectLst/>
                <a:highlight>
                  <a:srgbClr val="1F1F1F"/>
                </a:highlight>
              </a:rPr>
              <a:t>)]</a:t>
            </a:r>
          </a:p>
          <a:p>
            <a:endParaRPr lang="en-US" baseline="0" dirty="0">
              <a:solidFill>
                <a:schemeClr val="tx1"/>
              </a:solidFill>
              <a:effectLst/>
              <a:highlight>
                <a:srgbClr val="1F1F1F"/>
              </a:highlight>
            </a:endParaRPr>
          </a:p>
          <a:p>
            <a:r>
              <a:rPr lang="en-US" baseline="0" dirty="0">
                <a:solidFill>
                  <a:schemeClr val="tx1"/>
                </a:solidFill>
                <a:effectLst/>
                <a:highlight>
                  <a:srgbClr val="1F1F1F"/>
                </a:highlight>
              </a:rPr>
              <a:t>#print(array)</a:t>
            </a:r>
          </a:p>
          <a:p>
            <a:r>
              <a:rPr lang="en-US" baseline="0" dirty="0">
                <a:solidFill>
                  <a:schemeClr val="tx1"/>
                </a:solidFill>
                <a:effectLst/>
                <a:highlight>
                  <a:srgbClr val="1F1F1F"/>
                </a:highlight>
              </a:rPr>
              <a:t># Time the algorithm</a:t>
            </a:r>
          </a:p>
          <a:p>
            <a:r>
              <a:rPr lang="en-US" baseline="0" dirty="0" err="1">
                <a:solidFill>
                  <a:schemeClr val="tx1"/>
                </a:solidFill>
                <a:effectLst/>
                <a:highlight>
                  <a:srgbClr val="1F1F1F"/>
                </a:highlight>
              </a:rPr>
              <a:t>start_time</a:t>
            </a:r>
            <a:r>
              <a:rPr lang="en-US" baseline="0" dirty="0">
                <a:solidFill>
                  <a:schemeClr val="tx1"/>
                </a:solidFill>
                <a:effectLst/>
                <a:highlight>
                  <a:srgbClr val="1F1F1F"/>
                </a:highlight>
              </a:rPr>
              <a:t> = </a:t>
            </a:r>
            <a:r>
              <a:rPr lang="en-US" baseline="0" dirty="0" err="1">
                <a:solidFill>
                  <a:schemeClr val="tx1"/>
                </a:solidFill>
                <a:effectLst/>
                <a:highlight>
                  <a:srgbClr val="1F1F1F"/>
                </a:highlight>
              </a:rPr>
              <a:t>time.time</a:t>
            </a:r>
            <a:r>
              <a:rPr lang="en-US" baseline="0" dirty="0">
                <a:solidFill>
                  <a:schemeClr val="tx1"/>
                </a:solidFill>
                <a:effectLst/>
                <a:highlight>
                  <a:srgbClr val="1F1F1F"/>
                </a:highlight>
              </a:rPr>
              <a:t>()</a:t>
            </a:r>
          </a:p>
          <a:p>
            <a:r>
              <a:rPr lang="en-US" baseline="0" dirty="0" err="1">
                <a:solidFill>
                  <a:schemeClr val="tx1"/>
                </a:solidFill>
                <a:effectLst/>
                <a:highlight>
                  <a:srgbClr val="1F1F1F"/>
                </a:highlight>
              </a:rPr>
              <a:t>bubble_sort</a:t>
            </a:r>
            <a:r>
              <a:rPr lang="en-US" baseline="0" dirty="0">
                <a:solidFill>
                  <a:schemeClr val="tx1"/>
                </a:solidFill>
                <a:effectLst/>
                <a:highlight>
                  <a:srgbClr val="1F1F1F"/>
                </a:highlight>
              </a:rPr>
              <a:t>(array)</a:t>
            </a:r>
          </a:p>
          <a:p>
            <a:r>
              <a:rPr lang="en-US" baseline="0" dirty="0" err="1">
                <a:solidFill>
                  <a:schemeClr val="tx1"/>
                </a:solidFill>
                <a:effectLst/>
                <a:highlight>
                  <a:srgbClr val="1F1F1F"/>
                </a:highlight>
              </a:rPr>
              <a:t>end_time</a:t>
            </a:r>
            <a:r>
              <a:rPr lang="en-US" baseline="0" dirty="0">
                <a:solidFill>
                  <a:schemeClr val="tx1"/>
                </a:solidFill>
                <a:effectLst/>
                <a:highlight>
                  <a:srgbClr val="1F1F1F"/>
                </a:highlight>
              </a:rPr>
              <a:t> = </a:t>
            </a:r>
            <a:r>
              <a:rPr lang="en-US" baseline="0" dirty="0" err="1">
                <a:solidFill>
                  <a:schemeClr val="tx1"/>
                </a:solidFill>
                <a:effectLst/>
                <a:highlight>
                  <a:srgbClr val="1F1F1F"/>
                </a:highlight>
              </a:rPr>
              <a:t>time.time</a:t>
            </a:r>
            <a:r>
              <a:rPr lang="en-US" baseline="0" dirty="0">
                <a:solidFill>
                  <a:schemeClr val="tx1"/>
                </a:solidFill>
                <a:effectLst/>
                <a:highlight>
                  <a:srgbClr val="1F1F1F"/>
                </a:highlight>
              </a:rPr>
              <a:t>()</a:t>
            </a:r>
          </a:p>
          <a:p>
            <a:endParaRPr lang="en-US" baseline="0" dirty="0">
              <a:solidFill>
                <a:schemeClr val="tx1"/>
              </a:solidFill>
              <a:effectLst/>
              <a:highlight>
                <a:srgbClr val="1F1F1F"/>
              </a:highlight>
            </a:endParaRPr>
          </a:p>
          <a:p>
            <a:r>
              <a:rPr lang="en-US" baseline="0" dirty="0">
                <a:solidFill>
                  <a:schemeClr val="tx1"/>
                </a:solidFill>
                <a:effectLst/>
                <a:highlight>
                  <a:srgbClr val="1F1F1F"/>
                </a:highlight>
              </a:rPr>
              <a:t># Calculate and store the time taken</a:t>
            </a:r>
          </a:p>
          <a:p>
            <a:r>
              <a:rPr lang="en-US" baseline="0" dirty="0">
                <a:solidFill>
                  <a:schemeClr val="tx1"/>
                </a:solidFill>
                <a:effectLst/>
                <a:highlight>
                  <a:srgbClr val="1F1F1F"/>
                </a:highlight>
              </a:rPr>
              <a:t>print('Execution Time', </a:t>
            </a:r>
            <a:r>
              <a:rPr lang="en-US" baseline="0" dirty="0" err="1">
                <a:solidFill>
                  <a:schemeClr val="tx1"/>
                </a:solidFill>
                <a:effectLst/>
                <a:highlight>
                  <a:srgbClr val="1F1F1F"/>
                </a:highlight>
              </a:rPr>
              <a:t>end_time</a:t>
            </a:r>
            <a:r>
              <a:rPr lang="en-US" baseline="0" dirty="0">
                <a:solidFill>
                  <a:schemeClr val="tx1"/>
                </a:solidFill>
                <a:effectLst/>
                <a:highlight>
                  <a:srgbClr val="1F1F1F"/>
                </a:highlight>
              </a:rPr>
              <a:t> - </a:t>
            </a:r>
            <a:r>
              <a:rPr lang="en-US" baseline="0" dirty="0" err="1">
                <a:solidFill>
                  <a:schemeClr val="tx1"/>
                </a:solidFill>
                <a:effectLst/>
                <a:highlight>
                  <a:srgbClr val="1F1F1F"/>
                </a:highlight>
              </a:rPr>
              <a:t>start_time</a:t>
            </a:r>
            <a:r>
              <a:rPr lang="en-US" baseline="0" dirty="0">
                <a:solidFill>
                  <a:schemeClr val="tx1"/>
                </a:solidFill>
                <a:effectLst/>
                <a:highlight>
                  <a:srgbClr val="1F1F1F"/>
                </a:highlight>
              </a:rPr>
              <a:t>)</a:t>
            </a:r>
          </a:p>
          <a:p>
            <a:endParaRPr lang="en-US" baseline="0" dirty="0">
              <a:solidFill>
                <a:schemeClr val="tx1"/>
              </a:solidFill>
              <a:effectLst/>
              <a:highlight>
                <a:srgbClr val="1F1F1F"/>
              </a:highlight>
            </a:endParaRPr>
          </a:p>
          <a:p>
            <a:r>
              <a:rPr lang="en-US" baseline="0" dirty="0">
                <a:solidFill>
                  <a:schemeClr val="tx1"/>
                </a:solidFill>
                <a:effectLst/>
                <a:highlight>
                  <a:srgbClr val="1F1F1F"/>
                </a:highlight>
              </a:rPr>
              <a:t>print(array)</a:t>
            </a:r>
          </a:p>
          <a:p>
            <a:endParaRPr lang="en-US" u="none" baseline="0" dirty="0">
              <a:solidFill>
                <a:schemeClr val="tx1"/>
              </a:solidFill>
              <a:effectLst/>
              <a:highlight>
                <a:srgbClr val="1F1F1F"/>
              </a:highlight>
            </a:endParaRPr>
          </a:p>
        </p:txBody>
      </p:sp>
      <p:sp>
        <p:nvSpPr>
          <p:cNvPr id="4" name="Slide Number Placeholder 3"/>
          <p:cNvSpPr>
            <a:spLocks noGrp="1"/>
          </p:cNvSpPr>
          <p:nvPr>
            <p:ph type="sldNum" sz="quarter" idx="5"/>
          </p:nvPr>
        </p:nvSpPr>
        <p:spPr/>
        <p:txBody>
          <a:bodyPr/>
          <a:lstStyle/>
          <a:p>
            <a:fld id="{FB74708E-586B-4403-9055-F6417AB64356}" type="slidenum">
              <a:rPr lang="en-US" smtClean="0"/>
              <a:pPr/>
              <a:t>7</a:t>
            </a:fld>
            <a:endParaRPr lang="en-US" dirty="0"/>
          </a:p>
        </p:txBody>
      </p:sp>
    </p:spTree>
    <p:extLst>
      <p:ext uri="{BB962C8B-B14F-4D97-AF65-F5344CB8AC3E}">
        <p14:creationId xmlns:p14="http://schemas.microsoft.com/office/powerpoint/2010/main" val="487914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DEFD1-4DD8-8E44-BEB3-5BA567B13C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11D1E-660E-2B86-C6F5-5E4D531460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BA1EE3-F65A-4E20-AA35-C63E3ED9730A}"/>
              </a:ext>
            </a:extLst>
          </p:cNvPr>
          <p:cNvSpPr>
            <a:spLocks noGrp="1"/>
          </p:cNvSpPr>
          <p:nvPr>
            <p:ph type="body" idx="1"/>
          </p:nvPr>
        </p:nvSpPr>
        <p:spPr/>
        <p:txBody>
          <a:bodyPr/>
          <a:lstStyle/>
          <a:p>
            <a:endParaRPr lang="en-US" u="none" baseline="0" dirty="0">
              <a:solidFill>
                <a:schemeClr val="bg1"/>
              </a:solidFill>
              <a:effectLst/>
              <a:highlight>
                <a:srgbClr val="1F1F1F"/>
              </a:highlight>
            </a:endParaRPr>
          </a:p>
        </p:txBody>
      </p:sp>
      <p:sp>
        <p:nvSpPr>
          <p:cNvPr id="4" name="Slide Number Placeholder 3">
            <a:extLst>
              <a:ext uri="{FF2B5EF4-FFF2-40B4-BE49-F238E27FC236}">
                <a16:creationId xmlns:a16="http://schemas.microsoft.com/office/drawing/2014/main" id="{814E8256-C695-0629-F14B-6049F1142DDE}"/>
              </a:ext>
            </a:extLst>
          </p:cNvPr>
          <p:cNvSpPr>
            <a:spLocks noGrp="1"/>
          </p:cNvSpPr>
          <p:nvPr>
            <p:ph type="sldNum" sz="quarter" idx="5"/>
          </p:nvPr>
        </p:nvSpPr>
        <p:spPr/>
        <p:txBody>
          <a:bodyPr/>
          <a:lstStyle/>
          <a:p>
            <a:fld id="{FB74708E-586B-4403-9055-F6417AB64356}" type="slidenum">
              <a:rPr lang="en-US" smtClean="0"/>
              <a:pPr/>
              <a:t>8</a:t>
            </a:fld>
            <a:endParaRPr lang="en-US" dirty="0"/>
          </a:p>
        </p:txBody>
      </p:sp>
    </p:spTree>
    <p:extLst>
      <p:ext uri="{BB962C8B-B14F-4D97-AF65-F5344CB8AC3E}">
        <p14:creationId xmlns:p14="http://schemas.microsoft.com/office/powerpoint/2010/main" val="2301166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 random</a:t>
            </a:r>
          </a:p>
          <a:p>
            <a:r>
              <a:rPr lang="en-US" dirty="0"/>
              <a:t>import time</a:t>
            </a:r>
          </a:p>
          <a:p>
            <a:r>
              <a:rPr lang="en-US" dirty="0"/>
              <a:t>import </a:t>
            </a:r>
            <a:r>
              <a:rPr lang="en-US" dirty="0" err="1"/>
              <a:t>matplotlib.pyplot</a:t>
            </a:r>
            <a:r>
              <a:rPr lang="en-US" dirty="0"/>
              <a:t> as </a:t>
            </a:r>
            <a:r>
              <a:rPr lang="en-US" dirty="0" err="1"/>
              <a:t>plt</a:t>
            </a:r>
            <a:endParaRPr lang="en-US" dirty="0"/>
          </a:p>
          <a:p>
            <a:endParaRPr lang="en-US" dirty="0"/>
          </a:p>
          <a:p>
            <a:r>
              <a:rPr lang="en-US" dirty="0"/>
              <a:t># Function to implement bubble sort</a:t>
            </a:r>
          </a:p>
          <a:p>
            <a:r>
              <a:rPr lang="en-US" dirty="0"/>
              <a:t>def </a:t>
            </a:r>
            <a:r>
              <a:rPr lang="en-US" dirty="0" err="1"/>
              <a:t>bubble_sort</a:t>
            </a:r>
            <a:r>
              <a:rPr lang="en-US" dirty="0"/>
              <a:t>(x):</a:t>
            </a:r>
          </a:p>
          <a:p>
            <a:r>
              <a:rPr lang="en-US" dirty="0"/>
              <a:t>    n = </a:t>
            </a:r>
            <a:r>
              <a:rPr lang="en-US" dirty="0" err="1"/>
              <a:t>len</a:t>
            </a:r>
            <a:r>
              <a:rPr lang="en-US" dirty="0"/>
              <a:t>(x)</a:t>
            </a:r>
          </a:p>
          <a:p>
            <a:r>
              <a:rPr lang="en-US" dirty="0"/>
              <a:t>    for </a:t>
            </a:r>
            <a:r>
              <a:rPr lang="en-US" dirty="0" err="1"/>
              <a:t>i</a:t>
            </a:r>
            <a:r>
              <a:rPr lang="en-US" dirty="0"/>
              <a:t> in range(n):</a:t>
            </a:r>
          </a:p>
          <a:p>
            <a:r>
              <a:rPr lang="en-US" dirty="0"/>
              <a:t>        for j in range(0, n-i-1):</a:t>
            </a:r>
          </a:p>
          <a:p>
            <a:r>
              <a:rPr lang="en-US" dirty="0"/>
              <a:t>            if x[j] &gt; x[j+1]:</a:t>
            </a:r>
          </a:p>
          <a:p>
            <a:r>
              <a:rPr lang="en-US" dirty="0"/>
              <a:t>                x[j], x[j+1] = x[j+1], x[j]</a:t>
            </a:r>
          </a:p>
          <a:p>
            <a:endParaRPr lang="en-US" dirty="0"/>
          </a:p>
          <a:p>
            <a:r>
              <a:rPr lang="en-US" dirty="0"/>
              <a:t># Initialize lists to store the number of elements and corresponding execution times</a:t>
            </a:r>
          </a:p>
          <a:p>
            <a:r>
              <a:rPr lang="en-US" dirty="0" err="1"/>
              <a:t>num_elements_list</a:t>
            </a:r>
            <a:r>
              <a:rPr lang="en-US" dirty="0"/>
              <a:t> = list(range(0, 1001, 50))  # Test sizes from 0 to 1000 in steps of 50</a:t>
            </a:r>
          </a:p>
          <a:p>
            <a:r>
              <a:rPr lang="en-US" dirty="0" err="1"/>
              <a:t>execution_times</a:t>
            </a:r>
            <a:r>
              <a:rPr lang="en-US" dirty="0"/>
              <a:t> = []</a:t>
            </a:r>
          </a:p>
          <a:p>
            <a:endParaRPr lang="en-US" dirty="0"/>
          </a:p>
          <a:p>
            <a:r>
              <a:rPr lang="en-US" dirty="0"/>
              <a:t># Measure execution time for different array sizes</a:t>
            </a:r>
          </a:p>
          <a:p>
            <a:r>
              <a:rPr lang="en-US" dirty="0"/>
              <a:t>for </a:t>
            </a:r>
            <a:r>
              <a:rPr lang="en-US" dirty="0" err="1"/>
              <a:t>num_elements</a:t>
            </a:r>
            <a:r>
              <a:rPr lang="en-US" dirty="0"/>
              <a:t> in </a:t>
            </a:r>
            <a:r>
              <a:rPr lang="en-US" dirty="0" err="1"/>
              <a:t>num_elements_list</a:t>
            </a:r>
            <a:r>
              <a:rPr lang="en-US" dirty="0"/>
              <a:t>:</a:t>
            </a:r>
          </a:p>
          <a:p>
            <a:r>
              <a:rPr lang="en-US" dirty="0"/>
              <a:t>    # Assign random values to the array</a:t>
            </a:r>
          </a:p>
          <a:p>
            <a:r>
              <a:rPr lang="en-US" dirty="0"/>
              <a:t>    array = [</a:t>
            </a:r>
            <a:r>
              <a:rPr lang="en-US" dirty="0" err="1"/>
              <a:t>random.randint</a:t>
            </a:r>
            <a:r>
              <a:rPr lang="en-US" dirty="0"/>
              <a:t>(0, 1000) for _ in range(</a:t>
            </a:r>
            <a:r>
              <a:rPr lang="en-US" dirty="0" err="1"/>
              <a:t>num_elements</a:t>
            </a:r>
            <a:r>
              <a:rPr lang="en-US" dirty="0"/>
              <a:t>)]</a:t>
            </a:r>
          </a:p>
          <a:p>
            <a:r>
              <a:rPr lang="en-US" dirty="0"/>
              <a:t>    </a:t>
            </a:r>
          </a:p>
          <a:p>
            <a:r>
              <a:rPr lang="en-US" dirty="0"/>
              <a:t>    # Time the algorithm</a:t>
            </a:r>
          </a:p>
          <a:p>
            <a:r>
              <a:rPr lang="en-US" dirty="0"/>
              <a:t>    </a:t>
            </a:r>
            <a:r>
              <a:rPr lang="en-US" dirty="0" err="1"/>
              <a:t>start_time</a:t>
            </a:r>
            <a:r>
              <a:rPr lang="en-US" dirty="0"/>
              <a:t> = </a:t>
            </a:r>
            <a:r>
              <a:rPr lang="en-US" dirty="0" err="1"/>
              <a:t>time.time</a:t>
            </a:r>
            <a:r>
              <a:rPr lang="en-US" dirty="0"/>
              <a:t>()</a:t>
            </a:r>
          </a:p>
          <a:p>
            <a:r>
              <a:rPr lang="en-US" dirty="0"/>
              <a:t>    </a:t>
            </a:r>
            <a:r>
              <a:rPr lang="en-US" dirty="0" err="1"/>
              <a:t>bubble_sort</a:t>
            </a:r>
            <a:r>
              <a:rPr lang="en-US" dirty="0"/>
              <a:t>(array)</a:t>
            </a:r>
          </a:p>
          <a:p>
            <a:r>
              <a:rPr lang="en-US" dirty="0"/>
              <a:t>    </a:t>
            </a:r>
            <a:r>
              <a:rPr lang="en-US" dirty="0" err="1"/>
              <a:t>end_time</a:t>
            </a:r>
            <a:r>
              <a:rPr lang="en-US" dirty="0"/>
              <a:t> = </a:t>
            </a:r>
            <a:r>
              <a:rPr lang="en-US" dirty="0" err="1"/>
              <a:t>time.time</a:t>
            </a:r>
            <a:r>
              <a:rPr lang="en-US" dirty="0"/>
              <a:t>()</a:t>
            </a:r>
          </a:p>
          <a:p>
            <a:r>
              <a:rPr lang="en-US" dirty="0"/>
              <a:t>    </a:t>
            </a:r>
          </a:p>
          <a:p>
            <a:r>
              <a:rPr lang="en-US" dirty="0"/>
              <a:t>    # Calculate and store the time taken</a:t>
            </a:r>
          </a:p>
          <a:p>
            <a:r>
              <a:rPr lang="en-US" dirty="0"/>
              <a:t>    </a:t>
            </a:r>
            <a:r>
              <a:rPr lang="en-US" dirty="0" err="1"/>
              <a:t>execution_times.append</a:t>
            </a:r>
            <a:r>
              <a:rPr lang="en-US" dirty="0"/>
              <a:t>(</a:t>
            </a:r>
            <a:r>
              <a:rPr lang="en-US" dirty="0" err="1"/>
              <a:t>end_time</a:t>
            </a:r>
            <a:r>
              <a:rPr lang="en-US" dirty="0"/>
              <a:t> - </a:t>
            </a:r>
            <a:r>
              <a:rPr lang="en-US" dirty="0" err="1"/>
              <a:t>start_time</a:t>
            </a:r>
            <a:r>
              <a:rPr lang="en-US" dirty="0"/>
              <a:t>)</a:t>
            </a:r>
          </a:p>
          <a:p>
            <a:endParaRPr lang="en-US" dirty="0"/>
          </a:p>
          <a:p>
            <a:r>
              <a:rPr lang="en-US" dirty="0"/>
              <a:t># Plot the results</a:t>
            </a:r>
          </a:p>
          <a:p>
            <a:r>
              <a:rPr lang="en-US" dirty="0" err="1"/>
              <a:t>plt.figure</a:t>
            </a:r>
            <a:r>
              <a:rPr lang="en-US" dirty="0"/>
              <a:t>(</a:t>
            </a:r>
            <a:r>
              <a:rPr lang="en-US" dirty="0" err="1"/>
              <a:t>figsize</a:t>
            </a:r>
            <a:r>
              <a:rPr lang="en-US" dirty="0"/>
              <a:t>=(10, 5))</a:t>
            </a:r>
          </a:p>
          <a:p>
            <a:r>
              <a:rPr lang="en-US" dirty="0" err="1"/>
              <a:t>plt.plot</a:t>
            </a:r>
            <a:r>
              <a:rPr lang="en-US" dirty="0"/>
              <a:t>(</a:t>
            </a:r>
            <a:r>
              <a:rPr lang="en-US" dirty="0" err="1"/>
              <a:t>num_elements_list</a:t>
            </a:r>
            <a:r>
              <a:rPr lang="en-US" dirty="0"/>
              <a:t>, </a:t>
            </a:r>
            <a:r>
              <a:rPr lang="en-US" dirty="0" err="1"/>
              <a:t>execution_times</a:t>
            </a:r>
            <a:r>
              <a:rPr lang="en-US" dirty="0"/>
              <a:t>, marker='o')</a:t>
            </a:r>
          </a:p>
          <a:p>
            <a:r>
              <a:rPr lang="en-US" dirty="0" err="1"/>
              <a:t>plt.title</a:t>
            </a:r>
            <a:r>
              <a:rPr lang="en-US" dirty="0"/>
              <a:t>('Bubble Sort Execution Time')</a:t>
            </a:r>
          </a:p>
          <a:p>
            <a:r>
              <a:rPr lang="en-US" dirty="0" err="1"/>
              <a:t>plt.xlabel</a:t>
            </a:r>
            <a:r>
              <a:rPr lang="en-US" dirty="0"/>
              <a:t>('Number of Elements')</a:t>
            </a:r>
          </a:p>
          <a:p>
            <a:r>
              <a:rPr lang="en-US" dirty="0" err="1"/>
              <a:t>plt.ylabel</a:t>
            </a:r>
            <a:r>
              <a:rPr lang="en-US" dirty="0"/>
              <a:t>('Time (seconds)')</a:t>
            </a:r>
          </a:p>
          <a:p>
            <a:r>
              <a:rPr lang="en-US" dirty="0" err="1"/>
              <a:t>plt.grid</a:t>
            </a:r>
            <a:r>
              <a:rPr lang="en-US" dirty="0"/>
              <a:t>(True)</a:t>
            </a:r>
          </a:p>
          <a:p>
            <a:r>
              <a:rPr lang="en-US" dirty="0" err="1"/>
              <a:t>plt.show</a:t>
            </a:r>
            <a:r>
              <a:rPr lang="en-US" dirty="0"/>
              <a:t>()</a:t>
            </a:r>
          </a:p>
          <a:p>
            <a:endParaRPr lang="en-US" dirty="0"/>
          </a:p>
        </p:txBody>
      </p:sp>
      <p:sp>
        <p:nvSpPr>
          <p:cNvPr id="4" name="Slide Number Placeholder 3"/>
          <p:cNvSpPr>
            <a:spLocks noGrp="1"/>
          </p:cNvSpPr>
          <p:nvPr>
            <p:ph type="sldNum" sz="quarter" idx="5"/>
          </p:nvPr>
        </p:nvSpPr>
        <p:spPr/>
        <p:txBody>
          <a:bodyPr/>
          <a:lstStyle/>
          <a:p>
            <a:fld id="{FB74708E-586B-4403-9055-F6417AB64356}" type="slidenum">
              <a:rPr lang="en-US" smtClean="0"/>
              <a:pPr/>
              <a:t>9</a:t>
            </a:fld>
            <a:endParaRPr lang="en-US" dirty="0"/>
          </a:p>
        </p:txBody>
      </p:sp>
    </p:spTree>
    <p:extLst>
      <p:ext uri="{BB962C8B-B14F-4D97-AF65-F5344CB8AC3E}">
        <p14:creationId xmlns:p14="http://schemas.microsoft.com/office/powerpoint/2010/main" val="194052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 created by AI </a:t>
            </a:r>
            <a:r>
              <a:rPr lang="en-US" dirty="0" err="1"/>
              <a:t>bing.com</a:t>
            </a:r>
            <a:endParaRPr lang="en-US" dirty="0"/>
          </a:p>
          <a:p>
            <a:endParaRPr lang="en-US" dirty="0"/>
          </a:p>
          <a:p>
            <a:r>
              <a:rPr lang="en-US" dirty="0"/>
              <a:t>We definitely don’t want C because could have worst case of 1 week.</a:t>
            </a:r>
          </a:p>
          <a:p>
            <a:r>
              <a:rPr lang="en-US" dirty="0"/>
              <a:t>B can’t be as bad because if 1 person was too long, it would effect average</a:t>
            </a:r>
          </a:p>
          <a:p>
            <a:endParaRPr lang="en-US" dirty="0"/>
          </a:p>
          <a:p>
            <a:r>
              <a:rPr lang="en-US" dirty="0"/>
              <a:t>Moral of story is we care most about Worst Case (big-O) </a:t>
            </a:r>
          </a:p>
        </p:txBody>
      </p:sp>
      <p:sp>
        <p:nvSpPr>
          <p:cNvPr id="4" name="Slide Number Placeholder 3"/>
          <p:cNvSpPr>
            <a:spLocks noGrp="1"/>
          </p:cNvSpPr>
          <p:nvPr>
            <p:ph type="sldNum" sz="quarter" idx="5"/>
          </p:nvPr>
        </p:nvSpPr>
        <p:spPr/>
        <p:txBody>
          <a:bodyPr/>
          <a:lstStyle/>
          <a:p>
            <a:fld id="{C6B3AB32-59DF-41F1-9618-EDFBF5049629}" type="slidenum">
              <a:rPr lang="en-US" smtClean="0"/>
              <a:t>10</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74708E-586B-4403-9055-F6417AB64356}" type="slidenum">
              <a:rPr lang="en-US" smtClean="0"/>
              <a:pPr/>
              <a:t>11</a:t>
            </a:fld>
            <a:endParaRPr lang="en-US" dirty="0"/>
          </a:p>
        </p:txBody>
      </p:sp>
    </p:spTree>
    <p:extLst>
      <p:ext uri="{BB962C8B-B14F-4D97-AF65-F5344CB8AC3E}">
        <p14:creationId xmlns:p14="http://schemas.microsoft.com/office/powerpoint/2010/main" val="893905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ceil(n/2)+2</a:t>
            </a:r>
          </a:p>
          <a:p>
            <a:r>
              <a:rPr lang="en-US" dirty="0"/>
              <a:t>ex. if n =0,  2 steps</a:t>
            </a:r>
          </a:p>
          <a:p>
            <a:r>
              <a:rPr lang="en-US" dirty="0"/>
              <a:t>         n=1,  5 steps  3*ceil(1/2) +2 = 3(1) + 2 </a:t>
            </a:r>
          </a:p>
          <a:p>
            <a:r>
              <a:rPr lang="en-US" dirty="0"/>
              <a:t>         n=2,   5 steps             3*ceil(2/2) + 2 </a:t>
            </a:r>
          </a:p>
          <a:p>
            <a:r>
              <a:rPr lang="en-US" dirty="0"/>
              <a:t>        n=3,   8 steps    3* ceil(3/2) + 2</a:t>
            </a:r>
          </a:p>
        </p:txBody>
      </p:sp>
      <p:sp>
        <p:nvSpPr>
          <p:cNvPr id="4" name="Slide Number Placeholder 3"/>
          <p:cNvSpPr>
            <a:spLocks noGrp="1"/>
          </p:cNvSpPr>
          <p:nvPr>
            <p:ph type="sldNum" sz="quarter" idx="5"/>
          </p:nvPr>
        </p:nvSpPr>
        <p:spPr/>
        <p:txBody>
          <a:bodyPr/>
          <a:lstStyle/>
          <a:p>
            <a:fld id="{FB74708E-586B-4403-9055-F6417AB64356}" type="slidenum">
              <a:rPr lang="en-US" smtClean="0"/>
              <a:pPr/>
              <a:t>12</a:t>
            </a:fld>
            <a:endParaRPr lang="en-US" dirty="0"/>
          </a:p>
        </p:txBody>
      </p:sp>
    </p:spTree>
    <p:extLst>
      <p:ext uri="{BB962C8B-B14F-4D97-AF65-F5344CB8AC3E}">
        <p14:creationId xmlns:p14="http://schemas.microsoft.com/office/powerpoint/2010/main" val="2877768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upper bound is not unique, there will be multiple functions that can bound</a:t>
            </a:r>
          </a:p>
        </p:txBody>
      </p:sp>
      <p:sp>
        <p:nvSpPr>
          <p:cNvPr id="4" name="Slide Number Placeholder 3"/>
          <p:cNvSpPr>
            <a:spLocks noGrp="1"/>
          </p:cNvSpPr>
          <p:nvPr>
            <p:ph type="sldNum" sz="quarter" idx="5"/>
          </p:nvPr>
        </p:nvSpPr>
        <p:spPr/>
        <p:txBody>
          <a:bodyPr/>
          <a:lstStyle/>
          <a:p>
            <a:fld id="{FB74708E-586B-4403-9055-F6417AB64356}" type="slidenum">
              <a:rPr lang="en-US" smtClean="0"/>
              <a:pPr/>
              <a:t>13</a:t>
            </a:fld>
            <a:endParaRPr lang="en-US" dirty="0"/>
          </a:p>
        </p:txBody>
      </p:sp>
    </p:spTree>
    <p:extLst>
      <p:ext uri="{BB962C8B-B14F-4D97-AF65-F5344CB8AC3E}">
        <p14:creationId xmlns:p14="http://schemas.microsoft.com/office/powerpoint/2010/main" val="2765749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74708E-586B-4403-9055-F6417AB64356}" type="slidenum">
              <a:rPr lang="en-US" smtClean="0"/>
              <a:pPr/>
              <a:t>14</a:t>
            </a:fld>
            <a:endParaRPr lang="en-US" dirty="0"/>
          </a:p>
        </p:txBody>
      </p:sp>
    </p:spTree>
    <p:extLst>
      <p:ext uri="{BB962C8B-B14F-4D97-AF65-F5344CB8AC3E}">
        <p14:creationId xmlns:p14="http://schemas.microsoft.com/office/powerpoint/2010/main" val="1986650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15</a:t>
            </a:fld>
            <a:endParaRPr lang="en-US" dirty="0"/>
          </a:p>
        </p:txBody>
      </p:sp>
    </p:spTree>
    <p:extLst>
      <p:ext uri="{BB962C8B-B14F-4D97-AF65-F5344CB8AC3E}">
        <p14:creationId xmlns:p14="http://schemas.microsoft.com/office/powerpoint/2010/main" val="24500850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16</a:t>
            </a:fld>
            <a:endParaRPr lang="en-US" dirty="0"/>
          </a:p>
        </p:txBody>
      </p:sp>
    </p:spTree>
    <p:extLst>
      <p:ext uri="{BB962C8B-B14F-4D97-AF65-F5344CB8AC3E}">
        <p14:creationId xmlns:p14="http://schemas.microsoft.com/office/powerpoint/2010/main" val="26150375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17</a:t>
            </a:fld>
            <a:endParaRPr lang="en-US" dirty="0"/>
          </a:p>
        </p:txBody>
      </p:sp>
    </p:spTree>
    <p:extLst>
      <p:ext uri="{BB962C8B-B14F-4D97-AF65-F5344CB8AC3E}">
        <p14:creationId xmlns:p14="http://schemas.microsoft.com/office/powerpoint/2010/main" val="2417927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74708E-586B-4403-9055-F6417AB64356}" type="slidenum">
              <a:rPr lang="en-US" smtClean="0"/>
              <a:pPr/>
              <a:t>18</a:t>
            </a:fld>
            <a:endParaRPr lang="en-US" dirty="0"/>
          </a:p>
        </p:txBody>
      </p:sp>
    </p:spTree>
    <p:extLst>
      <p:ext uri="{BB962C8B-B14F-4D97-AF65-F5344CB8AC3E}">
        <p14:creationId xmlns:p14="http://schemas.microsoft.com/office/powerpoint/2010/main" val="3874394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2 4 8 16 32 64</a:t>
            </a:r>
          </a:p>
          <a:p>
            <a:r>
              <a:rPr lang="en-US" dirty="0"/>
              <a:t>//we are printing 2^x for all numbers where x &gt;=1   until &lt;= n</a:t>
            </a:r>
          </a:p>
          <a:p>
            <a:endParaRPr lang="en-US" dirty="0"/>
          </a:p>
          <a:p>
            <a:r>
              <a:rPr lang="en-US" dirty="0"/>
              <a:t>time complexity:</a:t>
            </a:r>
          </a:p>
          <a:p>
            <a:r>
              <a:rPr lang="en-US" dirty="0"/>
              <a:t>floor(log2(n) + 1) * 3 + 2</a:t>
            </a:r>
          </a:p>
          <a:p>
            <a:r>
              <a:rPr lang="en-US" dirty="0"/>
              <a:t>n=1,  log2(1)=0  floor (1)  *3 + 2 = 5  </a:t>
            </a:r>
          </a:p>
          <a:p>
            <a:r>
              <a:rPr lang="en-US" dirty="0"/>
              <a:t>n=2, log2(2)=1  floor(2) *3+2 = 8</a:t>
            </a:r>
          </a:p>
          <a:p>
            <a:r>
              <a:rPr lang="en-US" dirty="0"/>
              <a:t>n=3, log2(3)=(number&gt;1 and &lt;2)   (1+1)*3+2 = 8</a:t>
            </a:r>
            <a:br>
              <a:rPr lang="en-US" dirty="0"/>
            </a:br>
            <a:r>
              <a:rPr lang="en-US" dirty="0"/>
              <a:t>n=4, log2(4)= 2     floor(2+1)*3+2 = 11</a:t>
            </a:r>
          </a:p>
          <a:p>
            <a:r>
              <a:rPr lang="en-US" dirty="0"/>
              <a:t>n=5/6/7, (number&gt;2 and&lt;3)   (2+1)*3+2=11</a:t>
            </a:r>
          </a:p>
          <a:p>
            <a:r>
              <a:rPr lang="en-US" dirty="0"/>
              <a:t>n=8  4*3+2=14</a:t>
            </a:r>
            <a:br>
              <a:rPr lang="en-US" dirty="0"/>
            </a:br>
            <a:r>
              <a:rPr lang="en-US" dirty="0"/>
              <a:t>every time you go through loop add 3 lines</a:t>
            </a:r>
          </a:p>
          <a:p>
            <a:r>
              <a:rPr lang="en-US" dirty="0"/>
              <a:t>n=20  n=17</a:t>
            </a:r>
          </a:p>
          <a:p>
            <a:endParaRPr lang="en-US" dirty="0"/>
          </a:p>
          <a:p>
            <a:r>
              <a:rPr lang="en-US" dirty="0"/>
              <a:t>#include &lt;</a:t>
            </a:r>
            <a:r>
              <a:rPr lang="en-US" dirty="0" err="1"/>
              <a:t>stdio.h</a:t>
            </a:r>
            <a:r>
              <a:rPr lang="en-US" dirty="0"/>
              <a:t>&gt;</a:t>
            </a:r>
          </a:p>
          <a:p>
            <a:endParaRPr lang="en-US" dirty="0"/>
          </a:p>
          <a:p>
            <a:r>
              <a:rPr lang="en-US" dirty="0"/>
              <a:t>int main(){</a:t>
            </a:r>
          </a:p>
          <a:p>
            <a:r>
              <a:rPr lang="en-US" dirty="0"/>
              <a:t>    int x=1, n=100;</a:t>
            </a:r>
          </a:p>
          <a:p>
            <a:r>
              <a:rPr lang="en-US" dirty="0"/>
              <a:t>    while (x &lt;= n){</a:t>
            </a:r>
          </a:p>
          <a:p>
            <a:r>
              <a:rPr lang="en-US" dirty="0"/>
              <a:t>    	printf("%d ", x); </a:t>
            </a:r>
          </a:p>
          <a:p>
            <a:r>
              <a:rPr lang="en-US" dirty="0"/>
              <a:t>    	x*= 2; </a:t>
            </a:r>
          </a:p>
          <a:p>
            <a:r>
              <a:rPr lang="en-US" dirty="0"/>
              <a:t>    }</a:t>
            </a:r>
          </a:p>
          <a:p>
            <a:endParaRPr lang="en-US" dirty="0"/>
          </a:p>
          <a:p>
            <a:r>
              <a:rPr lang="en-US" dirty="0"/>
              <a:t>    return 0;</a:t>
            </a:r>
          </a:p>
          <a:p>
            <a:r>
              <a:rPr lang="en-US" dirty="0"/>
              <a:t>}</a:t>
            </a:r>
          </a:p>
          <a:p>
            <a:r>
              <a:rPr lang="en-US" dirty="0"/>
              <a:t>//1 2 4 8 16 32 64</a:t>
            </a:r>
          </a:p>
          <a:p>
            <a:r>
              <a:rPr lang="en-US" dirty="0"/>
              <a:t>//we are printing 2^x for all numbers where x &gt;=1   until &lt;= n</a:t>
            </a:r>
          </a:p>
        </p:txBody>
      </p:sp>
      <p:sp>
        <p:nvSpPr>
          <p:cNvPr id="4" name="Slide Number Placeholder 3"/>
          <p:cNvSpPr>
            <a:spLocks noGrp="1"/>
          </p:cNvSpPr>
          <p:nvPr>
            <p:ph type="sldNum" sz="quarter" idx="5"/>
          </p:nvPr>
        </p:nvSpPr>
        <p:spPr/>
        <p:txBody>
          <a:bodyPr/>
          <a:lstStyle/>
          <a:p>
            <a:fld id="{FB74708E-586B-4403-9055-F6417AB64356}" type="slidenum">
              <a:rPr lang="en-US" smtClean="0"/>
              <a:pPr/>
              <a:t>28</a:t>
            </a:fld>
            <a:endParaRPr lang="en-US" dirty="0"/>
          </a:p>
        </p:txBody>
      </p:sp>
    </p:spTree>
    <p:extLst>
      <p:ext uri="{BB962C8B-B14F-4D97-AF65-F5344CB8AC3E}">
        <p14:creationId xmlns:p14="http://schemas.microsoft.com/office/powerpoint/2010/main" val="29550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2 4 8 16 32 64</a:t>
            </a:r>
          </a:p>
          <a:p>
            <a:r>
              <a:rPr lang="en-US" dirty="0"/>
              <a:t>//we are printing 2^x for all numbers where x &gt;=1   until &lt;= n</a:t>
            </a:r>
          </a:p>
          <a:p>
            <a:endParaRPr lang="en-US" dirty="0"/>
          </a:p>
          <a:p>
            <a:r>
              <a:rPr lang="en-US" dirty="0"/>
              <a:t>time complexity:</a:t>
            </a:r>
          </a:p>
          <a:p>
            <a:r>
              <a:rPr lang="en-US" dirty="0"/>
              <a:t>floor(log2(n) + 1) * 3 + 2</a:t>
            </a:r>
          </a:p>
          <a:p>
            <a:r>
              <a:rPr lang="en-US" dirty="0"/>
              <a:t>n=1,  log2(1)=0  floor (1)  *3 + 2 = 5  </a:t>
            </a:r>
          </a:p>
          <a:p>
            <a:r>
              <a:rPr lang="en-US" dirty="0"/>
              <a:t>n=2, log2(2)=1  floor(2) *3+2 = 8</a:t>
            </a:r>
          </a:p>
          <a:p>
            <a:r>
              <a:rPr lang="en-US" dirty="0"/>
              <a:t>n=3, log2(3)=(number&gt;1 and &lt;2)   (1+1)*3+2 = 8</a:t>
            </a:r>
            <a:br>
              <a:rPr lang="en-US" dirty="0"/>
            </a:br>
            <a:r>
              <a:rPr lang="en-US" dirty="0"/>
              <a:t>n=4, log2(4)= 2     floor(2+1)*3+2 = 11</a:t>
            </a:r>
          </a:p>
          <a:p>
            <a:r>
              <a:rPr lang="en-US" dirty="0"/>
              <a:t>n=5/6/7, (number&gt;2 and&lt;3)   (2+1)*3+2=11</a:t>
            </a:r>
          </a:p>
          <a:p>
            <a:r>
              <a:rPr lang="en-US" dirty="0"/>
              <a:t>n=8  4*3+2=14</a:t>
            </a:r>
            <a:br>
              <a:rPr lang="en-US" dirty="0"/>
            </a:br>
            <a:r>
              <a:rPr lang="en-US" dirty="0"/>
              <a:t>every time you go through loop add 3 lines</a:t>
            </a:r>
          </a:p>
          <a:p>
            <a:r>
              <a:rPr lang="en-US" dirty="0"/>
              <a:t>n=20  n=17</a:t>
            </a:r>
          </a:p>
          <a:p>
            <a:endParaRPr lang="en-US" dirty="0"/>
          </a:p>
          <a:p>
            <a:r>
              <a:rPr lang="en-US" dirty="0"/>
              <a:t>#include &lt;</a:t>
            </a:r>
            <a:r>
              <a:rPr lang="en-US" dirty="0" err="1"/>
              <a:t>stdio.h</a:t>
            </a:r>
            <a:r>
              <a:rPr lang="en-US" dirty="0"/>
              <a:t>&gt;</a:t>
            </a:r>
          </a:p>
          <a:p>
            <a:endParaRPr lang="en-US" dirty="0"/>
          </a:p>
          <a:p>
            <a:r>
              <a:rPr lang="en-US" dirty="0"/>
              <a:t>int main(){</a:t>
            </a:r>
          </a:p>
          <a:p>
            <a:r>
              <a:rPr lang="en-US" dirty="0"/>
              <a:t>    int x=1, n=100;</a:t>
            </a:r>
          </a:p>
          <a:p>
            <a:r>
              <a:rPr lang="en-US" dirty="0"/>
              <a:t>    while (x &lt;= n){</a:t>
            </a:r>
          </a:p>
          <a:p>
            <a:r>
              <a:rPr lang="en-US" dirty="0"/>
              <a:t>    	printf("%d ", x); </a:t>
            </a:r>
          </a:p>
          <a:p>
            <a:r>
              <a:rPr lang="en-US" dirty="0"/>
              <a:t>    	x*= 2; </a:t>
            </a:r>
          </a:p>
          <a:p>
            <a:r>
              <a:rPr lang="en-US" dirty="0"/>
              <a:t>    }</a:t>
            </a:r>
          </a:p>
          <a:p>
            <a:endParaRPr lang="en-US" dirty="0"/>
          </a:p>
          <a:p>
            <a:r>
              <a:rPr lang="en-US" dirty="0"/>
              <a:t>    return 0;</a:t>
            </a:r>
          </a:p>
          <a:p>
            <a:r>
              <a:rPr lang="en-US" dirty="0"/>
              <a:t>}</a:t>
            </a:r>
          </a:p>
          <a:p>
            <a:r>
              <a:rPr lang="en-US" dirty="0"/>
              <a:t>//1 2 4 8 16 32 64</a:t>
            </a:r>
          </a:p>
          <a:p>
            <a:r>
              <a:rPr lang="en-US" dirty="0"/>
              <a:t>//we are printing 2^x for all numbers where x &gt;=1   until &lt;= n</a:t>
            </a:r>
          </a:p>
        </p:txBody>
      </p:sp>
      <p:sp>
        <p:nvSpPr>
          <p:cNvPr id="4" name="Slide Number Placeholder 3"/>
          <p:cNvSpPr>
            <a:spLocks noGrp="1"/>
          </p:cNvSpPr>
          <p:nvPr>
            <p:ph type="sldNum" sz="quarter" idx="5"/>
          </p:nvPr>
        </p:nvSpPr>
        <p:spPr/>
        <p:txBody>
          <a:bodyPr/>
          <a:lstStyle/>
          <a:p>
            <a:fld id="{FB74708E-586B-4403-9055-F6417AB64356}" type="slidenum">
              <a:rPr lang="en-US" smtClean="0"/>
              <a:pPr/>
              <a:t>29</a:t>
            </a:fld>
            <a:endParaRPr lang="en-US" dirty="0"/>
          </a:p>
        </p:txBody>
      </p:sp>
    </p:spTree>
    <p:extLst>
      <p:ext uri="{BB962C8B-B14F-4D97-AF65-F5344CB8AC3E}">
        <p14:creationId xmlns:p14="http://schemas.microsoft.com/office/powerpoint/2010/main" val="19118094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8AEA6-A0B1-4BE7-1826-CB2068145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285C2-F216-24C7-067C-7CA03DB15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F2EE3-3A0B-5618-0B76-605F85D9B469}"/>
              </a:ext>
            </a:extLst>
          </p:cNvPr>
          <p:cNvSpPr>
            <a:spLocks noGrp="1"/>
          </p:cNvSpPr>
          <p:nvPr>
            <p:ph type="body" idx="1"/>
          </p:nvPr>
        </p:nvSpPr>
        <p:spPr/>
        <p:txBody>
          <a:bodyPr/>
          <a:lstStyle/>
          <a:p>
            <a:r>
              <a:rPr lang="en-US" dirty="0"/>
              <a:t>art created by AI </a:t>
            </a:r>
            <a:r>
              <a:rPr lang="en-US" dirty="0" err="1"/>
              <a:t>bing.com</a:t>
            </a:r>
            <a:endParaRPr lang="en-US" dirty="0"/>
          </a:p>
        </p:txBody>
      </p:sp>
      <p:sp>
        <p:nvSpPr>
          <p:cNvPr id="4" name="Slide Number Placeholder 3">
            <a:extLst>
              <a:ext uri="{FF2B5EF4-FFF2-40B4-BE49-F238E27FC236}">
                <a16:creationId xmlns:a16="http://schemas.microsoft.com/office/drawing/2014/main" id="{AEDCF9DB-3663-1A2B-B087-EBD364E97046}"/>
              </a:ext>
            </a:extLst>
          </p:cNvPr>
          <p:cNvSpPr>
            <a:spLocks noGrp="1"/>
          </p:cNvSpPr>
          <p:nvPr>
            <p:ph type="sldNum" sz="quarter" idx="5"/>
          </p:nvPr>
        </p:nvSpPr>
        <p:spPr/>
        <p:txBody>
          <a:bodyPr/>
          <a:lstStyle/>
          <a:p>
            <a:fld id="{C6B3AB32-59DF-41F1-9618-EDFBF5049629}" type="slidenum">
              <a:rPr lang="en-US" smtClean="0"/>
              <a:t>30</a:t>
            </a:fld>
            <a:endParaRPr lang="en-US" dirty="0"/>
          </a:p>
        </p:txBody>
      </p:sp>
    </p:spTree>
    <p:extLst>
      <p:ext uri="{BB962C8B-B14F-4D97-AF65-F5344CB8AC3E}">
        <p14:creationId xmlns:p14="http://schemas.microsoft.com/office/powerpoint/2010/main" val="3870761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31</a:t>
            </a:fld>
            <a:endParaRPr lang="en-US" dirty="0"/>
          </a:p>
        </p:txBody>
      </p:sp>
    </p:spTree>
    <p:extLst>
      <p:ext uri="{BB962C8B-B14F-4D97-AF65-F5344CB8AC3E}">
        <p14:creationId xmlns:p14="http://schemas.microsoft.com/office/powerpoint/2010/main" val="10467141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32</a:t>
            </a:fld>
            <a:endParaRPr lang="en-US" dirty="0"/>
          </a:p>
        </p:txBody>
      </p:sp>
    </p:spTree>
    <p:extLst>
      <p:ext uri="{BB962C8B-B14F-4D97-AF65-F5344CB8AC3E}">
        <p14:creationId xmlns:p14="http://schemas.microsoft.com/office/powerpoint/2010/main" val="3227852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8/26/2025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8/26/2025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8/26/2025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8/26/2025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8/26/2025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B61BEF0D-F0BB-DE4B-95CE-6DB70DBA9567}" type="datetimeFigureOut">
              <a:rPr lang="en-US" smtClean="0"/>
              <a:pPr/>
              <a:t>8/26/2025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b="0" i="0" cap="all">
                <a:solidFill>
                  <a:schemeClr val="accent2"/>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b="0" i="0">
                <a:solidFill>
                  <a:schemeClr val="accent2"/>
                </a:solidFill>
                <a:latin typeface="Times New Roman" panose="02020603050405020304" pitchFamily="18" charset="0"/>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i="0" kern="1200" cap="all">
          <a:solidFill>
            <a:schemeClr val="bg1"/>
          </a:solidFill>
          <a:latin typeface="Times New Roman" panose="02020603050405020304" pitchFamily="18"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0.png"/><Relationship Id="rId7"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0.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70.png"/></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8.png"/><Relationship Id="rId7" Type="http://schemas.openxmlformats.org/officeDocument/2006/relationships/image" Target="../media/image30.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70.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7"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7" Type="http://schemas.openxmlformats.org/officeDocument/2006/relationships/image" Target="../media/image37.png"/><Relationship Id="rId2" Type="http://schemas.openxmlformats.org/officeDocument/2006/relationships/image" Target="../media/image13.png"/><Relationship Id="rId1" Type="http://schemas.openxmlformats.org/officeDocument/2006/relationships/slideLayout" Target="../slideLayouts/slideLayout2.xml"/><Relationship Id="rId11" Type="http://schemas.openxmlformats.org/officeDocument/2006/relationships/image" Target="../media/image12.png"/><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9" Type="http://schemas.openxmlformats.org/officeDocument/2006/relationships/image" Target="../media/image390.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5.jpg"/><Relationship Id="rId7"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5.png"/><Relationship Id="rId9" Type="http://schemas.openxmlformats.org/officeDocument/2006/relationships/image" Target="../media/image17.png"/></Relationships>
</file>

<file path=ppt/slides/_rels/slide25.xml.rels><?xml version="1.0" encoding="UTF-8" standalone="yes"?>
<Relationships xmlns="http://schemas.openxmlformats.org/package/2006/relationships"><Relationship Id="rId13" Type="http://schemas.openxmlformats.org/officeDocument/2006/relationships/image" Target="../media/image16.jpg"/><Relationship Id="rId12" Type="http://schemas.openxmlformats.org/officeDocument/2006/relationships/image" Target="../media/image51.png"/><Relationship Id="rId2" Type="http://schemas.openxmlformats.org/officeDocument/2006/relationships/image" Target="../media/image18.png"/><Relationship Id="rId1" Type="http://schemas.openxmlformats.org/officeDocument/2006/relationships/slideLayout" Target="../slideLayouts/slideLayout2.xml"/><Relationship Id="rId11" Type="http://schemas.openxmlformats.org/officeDocument/2006/relationships/image" Target="../media/image500.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jp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18.jp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482602" y="4455816"/>
            <a:ext cx="11260666" cy="1627101"/>
          </a:xfrm>
        </p:spPr>
        <p:txBody>
          <a:bodyPr>
            <a:noAutofit/>
          </a:bodyPr>
          <a:lstStyle/>
          <a:p>
            <a:r>
              <a:rPr lang="en-US" sz="5400" dirty="0">
                <a:solidFill>
                  <a:schemeClr val="bg1"/>
                </a:solidFill>
              </a:rPr>
              <a:t>RUNTIME ANALYSIS</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7526215" y="5828807"/>
            <a:ext cx="4183184" cy="484822"/>
          </a:xfrm>
        </p:spPr>
        <p:txBody>
          <a:bodyPr>
            <a:noAutofit/>
          </a:bodyPr>
          <a:lstStyle/>
          <a:p>
            <a:r>
              <a:rPr lang="en-US" sz="3200" dirty="0">
                <a:solidFill>
                  <a:srgbClr val="7CEBFF"/>
                </a:solidFill>
              </a:rPr>
              <a:t>Big O NOTATION</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3"/>
          <p:cNvSpPr>
            <a:spLocks noGrp="1" noChangeArrowheads="1"/>
          </p:cNvSpPr>
          <p:nvPr>
            <p:ph idx="1"/>
          </p:nvPr>
        </p:nvSpPr>
        <p:spPr>
          <a:xfrm>
            <a:off x="436098" y="2405574"/>
            <a:ext cx="9619733" cy="3614225"/>
          </a:xfrm>
        </p:spPr>
        <p:txBody>
          <a:bodyPr anchor="t" anchorCtr="0">
            <a:normAutofit/>
          </a:bodyPr>
          <a:lstStyle/>
          <a:p>
            <a:pPr marL="0" indent="0">
              <a:lnSpc>
                <a:spcPct val="90000"/>
              </a:lnSpc>
              <a:buNone/>
            </a:pPr>
            <a:r>
              <a:rPr lang="en-US" altLang="en-US" sz="4000" dirty="0">
                <a:solidFill>
                  <a:schemeClr val="tx1"/>
                </a:solidFill>
              </a:rPr>
              <a:t>Join the </a:t>
            </a:r>
            <a:r>
              <a:rPr lang="en-US" altLang="en-US" sz="4000">
                <a:solidFill>
                  <a:schemeClr val="tx1"/>
                </a:solidFill>
              </a:rPr>
              <a:t>Nearpod Lecture:</a:t>
            </a:r>
            <a:endParaRPr lang="en-US" altLang="en-US" sz="4000" dirty="0">
              <a:solidFill>
                <a:schemeClr val="tx1"/>
              </a:solidFill>
            </a:endParaRPr>
          </a:p>
          <a:p>
            <a:pPr marL="0" indent="0">
              <a:lnSpc>
                <a:spcPct val="90000"/>
              </a:lnSpc>
              <a:buNone/>
            </a:pPr>
            <a:r>
              <a:rPr lang="en-US" sz="4000" b="0" i="0" u="none" strike="noStrike" dirty="0">
                <a:solidFill>
                  <a:schemeClr val="tx1"/>
                </a:solidFill>
                <a:effectLst/>
                <a:highlight>
                  <a:srgbClr val="FFFFFF"/>
                </a:highlight>
                <a:latin typeface="npprimarysemibold"/>
              </a:rPr>
              <a:t>                  </a:t>
            </a:r>
            <a:r>
              <a:rPr lang="en-US" sz="4000" b="0" i="0" u="none" strike="noStrike" dirty="0" err="1">
                <a:solidFill>
                  <a:srgbClr val="5B6D79"/>
                </a:solidFill>
                <a:effectLst/>
                <a:highlight>
                  <a:srgbClr val="FFFFFF"/>
                </a:highlight>
                <a:latin typeface="npprimarysemibold"/>
              </a:rPr>
              <a:t>join.nearpod.com</a:t>
            </a:r>
            <a:r>
              <a:rPr lang="en-US" sz="4000" b="0" i="0" u="none" strike="noStrike" dirty="0">
                <a:solidFill>
                  <a:srgbClr val="5B6D79"/>
                </a:solidFill>
                <a:effectLst/>
                <a:highlight>
                  <a:srgbClr val="FFFFFF"/>
                </a:highlight>
                <a:latin typeface="npprimarysemibold"/>
              </a:rPr>
              <a:t> </a:t>
            </a:r>
            <a:endParaRPr lang="en-US" altLang="en-US" sz="40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7982" y="2328017"/>
            <a:ext cx="10075368" cy="3282369"/>
          </a:xfrm>
        </p:spPr>
        <p:txBody>
          <a:bodyPr anchor="t" anchorCtr="0">
            <a:noAutofit/>
          </a:bodyPr>
          <a:lstStyle/>
          <a:p>
            <a:pPr>
              <a:lnSpc>
                <a:spcPct val="95000"/>
              </a:lnSpc>
              <a:spcAft>
                <a:spcPts val="600"/>
              </a:spcAft>
              <a:buFont typeface="Wingdings" pitchFamily="2" charset="2"/>
              <a:buChar char="Ø"/>
            </a:pPr>
            <a:r>
              <a:rPr lang="en-US" sz="3200" dirty="0">
                <a:solidFill>
                  <a:schemeClr val="tx1"/>
                </a:solidFill>
              </a:rPr>
              <a:t>Name one of the data structures we discussed last class</a:t>
            </a:r>
          </a:p>
          <a:p>
            <a:pPr>
              <a:lnSpc>
                <a:spcPct val="95000"/>
              </a:lnSpc>
              <a:spcAft>
                <a:spcPts val="600"/>
              </a:spcAft>
              <a:buFont typeface="Wingdings" pitchFamily="2" charset="2"/>
              <a:buChar char="Ø"/>
            </a:pPr>
            <a:endParaRPr lang="en-US" sz="3200" dirty="0">
              <a:solidFill>
                <a:schemeClr val="tx1"/>
              </a:solidFill>
            </a:endParaRPr>
          </a:p>
          <a:p>
            <a:pPr>
              <a:lnSpc>
                <a:spcPct val="95000"/>
              </a:lnSpc>
              <a:spcAft>
                <a:spcPts val="600"/>
              </a:spcAft>
              <a:buFont typeface="Wingdings" pitchFamily="2" charset="2"/>
              <a:buChar char="Ø"/>
            </a:pPr>
            <a:r>
              <a:rPr lang="en-US" sz="3200" dirty="0">
                <a:solidFill>
                  <a:schemeClr val="tx1"/>
                </a:solidFill>
              </a:rPr>
              <a:t>Name one of the sort algorithms we discussed</a:t>
            </a:r>
          </a:p>
        </p:txBody>
      </p:sp>
      <p:sp>
        <p:nvSpPr>
          <p:cNvPr id="2" name="TextBox 1"/>
          <p:cNvSpPr txBox="1"/>
          <p:nvPr/>
        </p:nvSpPr>
        <p:spPr>
          <a:xfrm>
            <a:off x="845854" y="782272"/>
            <a:ext cx="10500292" cy="92333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Review</a:t>
            </a:r>
          </a:p>
        </p:txBody>
      </p:sp>
    </p:spTree>
    <p:extLst>
      <p:ext uri="{BB962C8B-B14F-4D97-AF65-F5344CB8AC3E}">
        <p14:creationId xmlns:p14="http://schemas.microsoft.com/office/powerpoint/2010/main" val="2890927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528F-C1D6-6A71-72B2-AB340AFCD395}"/>
              </a:ext>
            </a:extLst>
          </p:cNvPr>
          <p:cNvSpPr>
            <a:spLocks noGrp="1"/>
          </p:cNvSpPr>
          <p:nvPr>
            <p:ph type="title"/>
          </p:nvPr>
        </p:nvSpPr>
        <p:spPr/>
        <p:txBody>
          <a:bodyPr>
            <a:normAutofit/>
          </a:bodyPr>
          <a:lstStyle/>
          <a:p>
            <a:pPr algn="ctr"/>
            <a:r>
              <a:rPr lang="en-US" sz="5400" b="1" dirty="0">
                <a:effectLst>
                  <a:outerShdw blurRad="38100" dist="38100" dir="2700000" algn="tl">
                    <a:srgbClr val="000000">
                      <a:alpha val="43137"/>
                    </a:srgbClr>
                  </a:outerShdw>
                </a:effectLst>
                <a:ea typeface="+mn-ea"/>
                <a:cs typeface="Times New Roman" panose="02020603050405020304" pitchFamily="18" charset="0"/>
              </a:rPr>
              <a:t>Bubble Sort</a:t>
            </a:r>
          </a:p>
        </p:txBody>
      </p:sp>
      <p:sp>
        <p:nvSpPr>
          <p:cNvPr id="3" name="Content Placeholder 2">
            <a:extLst>
              <a:ext uri="{FF2B5EF4-FFF2-40B4-BE49-F238E27FC236}">
                <a16:creationId xmlns:a16="http://schemas.microsoft.com/office/drawing/2014/main" id="{2805434B-7F5B-280B-2749-07313FA12C15}"/>
              </a:ext>
            </a:extLst>
          </p:cNvPr>
          <p:cNvSpPr>
            <a:spLocks noGrp="1"/>
          </p:cNvSpPr>
          <p:nvPr>
            <p:ph idx="1"/>
          </p:nvPr>
        </p:nvSpPr>
        <p:spPr>
          <a:xfrm>
            <a:off x="581193" y="1906483"/>
            <a:ext cx="5742115" cy="3678303"/>
          </a:xfrm>
        </p:spPr>
        <p:txBody>
          <a:bodyPr anchor="t" anchorCtr="0">
            <a:normAutofit fontScale="25000" lnSpcReduction="20000"/>
          </a:bodyPr>
          <a:lstStyle/>
          <a:p>
            <a:pPr marL="0" indent="0">
              <a:buNone/>
            </a:pPr>
            <a:r>
              <a:rPr lang="en-US" sz="6000" dirty="0"/>
              <a:t>def </a:t>
            </a:r>
            <a:r>
              <a:rPr lang="en-US" sz="6000" dirty="0" err="1"/>
              <a:t>bubble_sort</a:t>
            </a:r>
            <a:r>
              <a:rPr lang="en-US" sz="6000" dirty="0"/>
              <a:t>(x):</a:t>
            </a:r>
          </a:p>
          <a:p>
            <a:pPr marL="0" indent="0">
              <a:buNone/>
            </a:pPr>
            <a:r>
              <a:rPr lang="en-US" sz="6000" dirty="0"/>
              <a:t>    n = </a:t>
            </a:r>
            <a:r>
              <a:rPr lang="en-US" sz="6000" dirty="0" err="1"/>
              <a:t>len</a:t>
            </a:r>
            <a:r>
              <a:rPr lang="en-US" sz="6000" dirty="0"/>
              <a:t>(x)</a:t>
            </a:r>
          </a:p>
          <a:p>
            <a:pPr marL="0" indent="0">
              <a:buNone/>
            </a:pPr>
            <a:r>
              <a:rPr lang="en-US" sz="6000" dirty="0"/>
              <a:t>    # Traverse through all elements</a:t>
            </a:r>
          </a:p>
          <a:p>
            <a:pPr marL="0" indent="0">
              <a:buNone/>
            </a:pPr>
            <a:r>
              <a:rPr lang="en-US" sz="6000" dirty="0"/>
              <a:t>    for </a:t>
            </a:r>
            <a:r>
              <a:rPr lang="en-US" sz="6000" dirty="0" err="1"/>
              <a:t>i</a:t>
            </a:r>
            <a:r>
              <a:rPr lang="en-US" sz="6000" dirty="0"/>
              <a:t> in range(n):</a:t>
            </a:r>
          </a:p>
          <a:p>
            <a:pPr marL="0" indent="0">
              <a:buNone/>
            </a:pPr>
            <a:r>
              <a:rPr lang="en-US" sz="6000" dirty="0"/>
              <a:t>        # Flag to detect any swap</a:t>
            </a:r>
          </a:p>
          <a:p>
            <a:pPr marL="0" indent="0">
              <a:buNone/>
            </a:pPr>
            <a:r>
              <a:rPr lang="en-US" sz="6000" dirty="0"/>
              <a:t>        swapped = False</a:t>
            </a:r>
          </a:p>
          <a:p>
            <a:pPr marL="0" indent="0">
              <a:buNone/>
            </a:pPr>
            <a:r>
              <a:rPr lang="en-US" sz="6000" dirty="0"/>
              <a:t>        # Last </a:t>
            </a:r>
            <a:r>
              <a:rPr lang="en-US" sz="6000" dirty="0" err="1"/>
              <a:t>i</a:t>
            </a:r>
            <a:r>
              <a:rPr lang="en-US" sz="6000" dirty="0"/>
              <a:t> elements are already sorted</a:t>
            </a:r>
          </a:p>
          <a:p>
            <a:pPr marL="0" indent="0">
              <a:buNone/>
            </a:pPr>
            <a:r>
              <a:rPr lang="en-US" sz="6000" dirty="0"/>
              <a:t>        for j in range(1, n - </a:t>
            </a:r>
            <a:r>
              <a:rPr lang="en-US" sz="6000" dirty="0" err="1"/>
              <a:t>i</a:t>
            </a:r>
            <a:r>
              <a:rPr lang="en-US" sz="6000" dirty="0"/>
              <a:t>):</a:t>
            </a:r>
          </a:p>
          <a:p>
            <a:pPr marL="0" indent="0">
              <a:buNone/>
            </a:pPr>
            <a:r>
              <a:rPr lang="en-US" sz="6000" dirty="0"/>
              <a:t>            # Swap if the element found is greater than the next element</a:t>
            </a:r>
          </a:p>
          <a:p>
            <a:pPr marL="0" indent="0">
              <a:buNone/>
            </a:pPr>
            <a:r>
              <a:rPr lang="en-US" sz="6000" dirty="0"/>
              <a:t>            if x[j - 1] &gt; x[j]:</a:t>
            </a:r>
          </a:p>
          <a:p>
            <a:pPr marL="0" indent="0">
              <a:buNone/>
            </a:pPr>
            <a:r>
              <a:rPr lang="en-US" sz="6000" dirty="0"/>
              <a:t>                x[j - 1], x[j] = x[j], x[j - 1]</a:t>
            </a:r>
          </a:p>
          <a:p>
            <a:pPr marL="0" indent="0">
              <a:buNone/>
            </a:pPr>
            <a:r>
              <a:rPr lang="en-US" sz="6000" dirty="0"/>
              <a:t>                swapped = True</a:t>
            </a:r>
          </a:p>
          <a:p>
            <a:pPr marL="0" indent="0">
              <a:buNone/>
            </a:pPr>
            <a:r>
              <a:rPr lang="en-US" sz="6000" dirty="0"/>
              <a:t>        # If no elements were swapped, break</a:t>
            </a:r>
          </a:p>
          <a:p>
            <a:pPr marL="0" indent="0">
              <a:buNone/>
            </a:pPr>
            <a:r>
              <a:rPr lang="en-US" sz="6000" dirty="0"/>
              <a:t>        if not swapped:</a:t>
            </a:r>
          </a:p>
          <a:p>
            <a:pPr marL="0" indent="0">
              <a:buNone/>
            </a:pPr>
            <a:r>
              <a:rPr lang="en-US" sz="6000" dirty="0"/>
              <a:t>            break</a:t>
            </a:r>
          </a:p>
          <a:p>
            <a:pPr marL="0" indent="0">
              <a:buNone/>
            </a:pPr>
            <a:endParaRPr lang="en-US" sz="2800" dirty="0"/>
          </a:p>
          <a:p>
            <a:endParaRPr lang="en-US" sz="2800" dirty="0"/>
          </a:p>
        </p:txBody>
      </p:sp>
      <p:sp>
        <p:nvSpPr>
          <p:cNvPr id="4" name="Rectangle 3">
            <a:extLst>
              <a:ext uri="{FF2B5EF4-FFF2-40B4-BE49-F238E27FC236}">
                <a16:creationId xmlns:a16="http://schemas.microsoft.com/office/drawing/2014/main" id="{05CBCD84-8C6D-7C70-3339-5681D7005A43}"/>
              </a:ext>
            </a:extLst>
          </p:cNvPr>
          <p:cNvSpPr/>
          <p:nvPr/>
        </p:nvSpPr>
        <p:spPr>
          <a:xfrm>
            <a:off x="6323308" y="2149501"/>
            <a:ext cx="4928461" cy="1430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Which array values would result in the quickest execution?</a:t>
            </a:r>
          </a:p>
        </p:txBody>
      </p:sp>
      <p:sp>
        <p:nvSpPr>
          <p:cNvPr id="5" name="Rectangle 4">
            <a:extLst>
              <a:ext uri="{FF2B5EF4-FFF2-40B4-BE49-F238E27FC236}">
                <a16:creationId xmlns:a16="http://schemas.microsoft.com/office/drawing/2014/main" id="{31F2160F-947C-3EE2-A4B5-E98698F637CD}"/>
              </a:ext>
            </a:extLst>
          </p:cNvPr>
          <p:cNvSpPr/>
          <p:nvPr/>
        </p:nvSpPr>
        <p:spPr>
          <a:xfrm>
            <a:off x="6323308" y="3911160"/>
            <a:ext cx="4928461" cy="235018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514350" indent="-514350">
              <a:buAutoNum type="alphaUcParenR"/>
            </a:pPr>
            <a:r>
              <a:rPr lang="en-US" sz="2800" dirty="0">
                <a:solidFill>
                  <a:schemeClr val="tx1"/>
                </a:solidFill>
                <a:latin typeface="Times New Roman" panose="02020603050405020304" pitchFamily="18" charset="0"/>
                <a:cs typeface="Times New Roman" panose="02020603050405020304" pitchFamily="18" charset="0"/>
              </a:rPr>
              <a:t>12, 5, 67, 34, 2, 37, 97, 99</a:t>
            </a:r>
            <a:br>
              <a:rPr lang="en-US" sz="2800" dirty="0">
                <a:solidFill>
                  <a:schemeClr val="tx1"/>
                </a:solidFill>
                <a:latin typeface="Times New Roman" panose="02020603050405020304" pitchFamily="18" charset="0"/>
                <a:cs typeface="Times New Roman" panose="02020603050405020304" pitchFamily="18" charset="0"/>
              </a:rPr>
            </a:br>
            <a:endParaRPr lang="en-US" sz="2800" dirty="0">
              <a:solidFill>
                <a:schemeClr val="tx1"/>
              </a:solidFill>
              <a:latin typeface="Times New Roman" panose="02020603050405020304" pitchFamily="18" charset="0"/>
              <a:cs typeface="Times New Roman" panose="02020603050405020304" pitchFamily="18" charset="0"/>
            </a:endParaRPr>
          </a:p>
          <a:p>
            <a:pPr marL="514350" indent="-514350">
              <a:buAutoNum type="alphaUcParenR"/>
            </a:pPr>
            <a:r>
              <a:rPr lang="en-US" sz="2800" dirty="0">
                <a:solidFill>
                  <a:schemeClr val="tx1"/>
                </a:solidFill>
                <a:latin typeface="Times New Roman" panose="02020603050405020304" pitchFamily="18" charset="0"/>
                <a:cs typeface="Times New Roman" panose="02020603050405020304" pitchFamily="18" charset="0"/>
              </a:rPr>
              <a:t>2, 5, 12, 34, 37 ,67 ,97, 99</a:t>
            </a:r>
            <a:br>
              <a:rPr lang="en-US" sz="2800" dirty="0">
                <a:solidFill>
                  <a:schemeClr val="tx1"/>
                </a:solidFill>
                <a:latin typeface="Times New Roman" panose="02020603050405020304" pitchFamily="18" charset="0"/>
                <a:cs typeface="Times New Roman" panose="02020603050405020304" pitchFamily="18" charset="0"/>
              </a:rPr>
            </a:br>
            <a:endParaRPr lang="en-US" sz="2800" dirty="0">
              <a:solidFill>
                <a:schemeClr val="tx1"/>
              </a:solidFill>
              <a:latin typeface="Times New Roman" panose="02020603050405020304" pitchFamily="18" charset="0"/>
              <a:cs typeface="Times New Roman" panose="02020603050405020304" pitchFamily="18" charset="0"/>
            </a:endParaRPr>
          </a:p>
          <a:p>
            <a:pPr marL="514350" indent="-514350">
              <a:buAutoNum type="alphaUcParenR"/>
            </a:pPr>
            <a:r>
              <a:rPr lang="en-US" sz="2800" dirty="0">
                <a:solidFill>
                  <a:schemeClr val="tx1"/>
                </a:solidFill>
                <a:latin typeface="Times New Roman" panose="02020603050405020304" pitchFamily="18" charset="0"/>
                <a:cs typeface="Times New Roman" panose="02020603050405020304" pitchFamily="18" charset="0"/>
              </a:rPr>
              <a:t>99, 97, 67, 37, 34, 12, 5, 2</a:t>
            </a:r>
          </a:p>
        </p:txBody>
      </p:sp>
    </p:spTree>
    <p:extLst>
      <p:ext uri="{BB962C8B-B14F-4D97-AF65-F5344CB8AC3E}">
        <p14:creationId xmlns:p14="http://schemas.microsoft.com/office/powerpoint/2010/main" val="79184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BBE2-F7F7-2976-EA80-2A0E66D026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E76F7D-83F6-1023-6B3E-7DF6153CC01B}"/>
              </a:ext>
            </a:extLst>
          </p:cNvPr>
          <p:cNvSpPr>
            <a:spLocks noGrp="1"/>
          </p:cNvSpPr>
          <p:nvPr>
            <p:ph idx="1"/>
          </p:nvPr>
        </p:nvSpPr>
        <p:spPr>
          <a:xfrm>
            <a:off x="447982" y="2153921"/>
            <a:ext cx="11093778" cy="1605279"/>
          </a:xfrm>
        </p:spPr>
        <p:txBody>
          <a:bodyPr anchor="t" anchorCtr="0">
            <a:noAutofit/>
          </a:bodyPr>
          <a:lstStyle/>
          <a:p>
            <a:pPr>
              <a:lnSpc>
                <a:spcPct val="95000"/>
              </a:lnSpc>
              <a:spcAft>
                <a:spcPts val="600"/>
              </a:spcAft>
              <a:buFont typeface="Wingdings" pitchFamily="2" charset="2"/>
              <a:buChar char="Ø"/>
            </a:pPr>
            <a:r>
              <a:rPr lang="en-US" sz="3200" dirty="0">
                <a:solidFill>
                  <a:schemeClr val="tx1"/>
                </a:solidFill>
              </a:rPr>
              <a:t>How many lines of code will be executed if n=1, n=2, n=3, n=100?</a:t>
            </a:r>
          </a:p>
          <a:p>
            <a:pPr marL="0" indent="0">
              <a:lnSpc>
                <a:spcPct val="95000"/>
              </a:lnSpc>
              <a:spcAft>
                <a:spcPts val="600"/>
              </a:spcAft>
              <a:buNone/>
            </a:pPr>
            <a:endParaRPr lang="en-US" sz="3200" dirty="0">
              <a:solidFill>
                <a:schemeClr val="tx1"/>
              </a:solidFill>
            </a:endParaRPr>
          </a:p>
          <a:p>
            <a:pPr marL="0" indent="0">
              <a:lnSpc>
                <a:spcPct val="95000"/>
              </a:lnSpc>
              <a:spcAft>
                <a:spcPts val="600"/>
              </a:spcAft>
              <a:buNone/>
            </a:pPr>
            <a:r>
              <a:rPr lang="en-US" sz="3200" dirty="0"/>
              <a:t>int x=1;</a:t>
            </a:r>
          </a:p>
          <a:p>
            <a:pPr marL="0" indent="0">
              <a:lnSpc>
                <a:spcPct val="95000"/>
              </a:lnSpc>
              <a:spcAft>
                <a:spcPts val="600"/>
              </a:spcAft>
              <a:buNone/>
            </a:pPr>
            <a:r>
              <a:rPr lang="en-US" sz="3200" dirty="0"/>
              <a:t>while (x &lt;= n){</a:t>
            </a:r>
          </a:p>
          <a:p>
            <a:pPr marL="0" indent="0">
              <a:lnSpc>
                <a:spcPct val="95000"/>
              </a:lnSpc>
              <a:spcAft>
                <a:spcPts val="600"/>
              </a:spcAft>
              <a:buNone/>
            </a:pPr>
            <a:r>
              <a:rPr lang="en-US" sz="3200" dirty="0"/>
              <a:t>	printf("%d ", x); //print all numbers 1 to n</a:t>
            </a:r>
            <a:br>
              <a:rPr lang="en-US" sz="3200" dirty="0"/>
            </a:br>
            <a:r>
              <a:rPr lang="en-US" sz="3200" dirty="0"/>
              <a:t>	x+= 1; </a:t>
            </a:r>
          </a:p>
          <a:p>
            <a:pPr marL="0" indent="0">
              <a:lnSpc>
                <a:spcPct val="95000"/>
              </a:lnSpc>
              <a:spcAft>
                <a:spcPts val="600"/>
              </a:spcAft>
              <a:buNone/>
            </a:pPr>
            <a:r>
              <a:rPr lang="en-US" sz="3200" dirty="0"/>
              <a:t>}</a:t>
            </a:r>
          </a:p>
          <a:p>
            <a:pPr marL="0" indent="0">
              <a:lnSpc>
                <a:spcPct val="95000"/>
              </a:lnSpc>
              <a:spcAft>
                <a:spcPts val="600"/>
              </a:spcAft>
              <a:buNone/>
            </a:pPr>
            <a:endParaRPr lang="en-US" sz="3200" dirty="0">
              <a:solidFill>
                <a:schemeClr val="tx1"/>
              </a:solidFill>
            </a:endParaRPr>
          </a:p>
        </p:txBody>
      </p:sp>
    </p:spTree>
    <p:extLst>
      <p:ext uri="{BB962C8B-B14F-4D97-AF65-F5344CB8AC3E}">
        <p14:creationId xmlns:p14="http://schemas.microsoft.com/office/powerpoint/2010/main" val="1151004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490" y="2018051"/>
            <a:ext cx="11451020" cy="4163647"/>
          </a:xfrm>
        </p:spPr>
        <p:txBody>
          <a:bodyPr anchor="t" anchorCtr="0">
            <a:noAutofit/>
          </a:bodyPr>
          <a:lstStyle/>
          <a:p>
            <a:pPr marL="0" indent="0">
              <a:lnSpc>
                <a:spcPct val="95000"/>
              </a:lnSpc>
              <a:spcAft>
                <a:spcPts val="600"/>
              </a:spcAft>
              <a:buNone/>
            </a:pPr>
            <a:r>
              <a:rPr lang="en-US" sz="3200" dirty="0"/>
              <a:t>int x=1;</a:t>
            </a:r>
          </a:p>
          <a:p>
            <a:pPr marL="0" indent="0">
              <a:lnSpc>
                <a:spcPct val="95000"/>
              </a:lnSpc>
              <a:spcAft>
                <a:spcPts val="600"/>
              </a:spcAft>
              <a:buNone/>
            </a:pPr>
            <a:r>
              <a:rPr lang="en-US" sz="3200" dirty="0"/>
              <a:t>while (x &lt;= n){</a:t>
            </a:r>
          </a:p>
          <a:p>
            <a:pPr marL="0" indent="0">
              <a:lnSpc>
                <a:spcPct val="95000"/>
              </a:lnSpc>
              <a:spcAft>
                <a:spcPts val="600"/>
              </a:spcAft>
              <a:buNone/>
            </a:pPr>
            <a:r>
              <a:rPr lang="en-US" sz="3200" dirty="0"/>
              <a:t>	printf("%d ", x); //print all numbers 1 to n</a:t>
            </a:r>
            <a:br>
              <a:rPr lang="en-US" sz="3200" dirty="0"/>
            </a:br>
            <a:r>
              <a:rPr lang="en-US" sz="3200" dirty="0"/>
              <a:t>	x+= 1; </a:t>
            </a:r>
          </a:p>
          <a:p>
            <a:pPr marL="0" indent="0">
              <a:lnSpc>
                <a:spcPct val="95000"/>
              </a:lnSpc>
              <a:spcAft>
                <a:spcPts val="600"/>
              </a:spcAft>
              <a:buNone/>
            </a:pPr>
            <a:r>
              <a:rPr lang="en-US" sz="3200" dirty="0"/>
              <a:t>}</a:t>
            </a:r>
          </a:p>
        </p:txBody>
      </p:sp>
      <p:sp>
        <p:nvSpPr>
          <p:cNvPr id="2" name="TextBox 1"/>
          <p:cNvSpPr txBox="1"/>
          <p:nvPr/>
        </p:nvSpPr>
        <p:spPr>
          <a:xfrm>
            <a:off x="845854" y="782272"/>
            <a:ext cx="10500292" cy="92333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 Complexity</a:t>
            </a:r>
          </a:p>
        </p:txBody>
      </p:sp>
      <p:sp>
        <p:nvSpPr>
          <p:cNvPr id="4" name="Rectangle 3">
            <a:extLst>
              <a:ext uri="{FF2B5EF4-FFF2-40B4-BE49-F238E27FC236}">
                <a16:creationId xmlns:a16="http://schemas.microsoft.com/office/drawing/2014/main" id="{6E7A13AA-853B-397A-591C-1E283FDD5393}"/>
              </a:ext>
            </a:extLst>
          </p:cNvPr>
          <p:cNvSpPr/>
          <p:nvPr/>
        </p:nvSpPr>
        <p:spPr>
          <a:xfrm>
            <a:off x="6467302" y="4971011"/>
            <a:ext cx="5354208" cy="16957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3n+ 2</a:t>
            </a:r>
          </a:p>
          <a:p>
            <a:pPr algn="ctr"/>
            <a:r>
              <a:rPr lang="en-US" sz="2400" dirty="0">
                <a:latin typeface="Times New Roman" panose="02020603050405020304" pitchFamily="18" charset="0"/>
                <a:cs typeface="Times New Roman" panose="02020603050405020304" pitchFamily="18" charset="0"/>
              </a:rPr>
              <a:t>As n grows larger, it dominates the time required, so we will end up dropping the constants.</a:t>
            </a:r>
          </a:p>
        </p:txBody>
      </p:sp>
    </p:spTree>
    <p:extLst>
      <p:ext uri="{BB962C8B-B14F-4D97-AF65-F5344CB8AC3E}">
        <p14:creationId xmlns:p14="http://schemas.microsoft.com/office/powerpoint/2010/main" val="1607419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490" y="2018051"/>
            <a:ext cx="11451020" cy="4163647"/>
          </a:xfrm>
        </p:spPr>
        <p:txBody>
          <a:bodyPr anchor="t" anchorCtr="0">
            <a:noAutofit/>
          </a:bodyPr>
          <a:lstStyle/>
          <a:p>
            <a:pPr>
              <a:lnSpc>
                <a:spcPct val="95000"/>
              </a:lnSpc>
              <a:spcAft>
                <a:spcPts val="600"/>
              </a:spcAft>
            </a:pPr>
            <a:r>
              <a:rPr lang="en-US" sz="3200" dirty="0">
                <a:solidFill>
                  <a:schemeClr val="accent3">
                    <a:lumMod val="75000"/>
                  </a:schemeClr>
                </a:solidFill>
              </a:rPr>
              <a:t>We can time our program</a:t>
            </a:r>
          </a:p>
          <a:p>
            <a:pPr>
              <a:lnSpc>
                <a:spcPct val="95000"/>
              </a:lnSpc>
              <a:spcAft>
                <a:spcPts val="600"/>
              </a:spcAft>
            </a:pPr>
            <a:endParaRPr lang="en-US" sz="3200" dirty="0">
              <a:solidFill>
                <a:schemeClr val="accent3">
                  <a:lumMod val="75000"/>
                </a:schemeClr>
              </a:solidFill>
            </a:endParaRPr>
          </a:p>
        </p:txBody>
      </p:sp>
      <p:sp>
        <p:nvSpPr>
          <p:cNvPr id="2" name="TextBox 1"/>
          <p:cNvSpPr txBox="1"/>
          <p:nvPr/>
        </p:nvSpPr>
        <p:spPr>
          <a:xfrm>
            <a:off x="845854" y="782272"/>
            <a:ext cx="10500292" cy="92333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Runtime </a:t>
            </a:r>
          </a:p>
        </p:txBody>
      </p:sp>
      <p:sp>
        <p:nvSpPr>
          <p:cNvPr id="6" name="Rectangle 5">
            <a:extLst>
              <a:ext uri="{FF2B5EF4-FFF2-40B4-BE49-F238E27FC236}">
                <a16:creationId xmlns:a16="http://schemas.microsoft.com/office/drawing/2014/main" id="{1D8F6B30-2983-B2F0-DF82-84A98FC9BBB8}"/>
              </a:ext>
            </a:extLst>
          </p:cNvPr>
          <p:cNvSpPr/>
          <p:nvPr/>
        </p:nvSpPr>
        <p:spPr>
          <a:xfrm>
            <a:off x="1500773" y="2762573"/>
            <a:ext cx="7875701" cy="23518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2800" dirty="0">
                <a:latin typeface="Times New Roman" panose="02020603050405020304" pitchFamily="18" charset="0"/>
              </a:rPr>
              <a:t>*Randomly assign values for array of size N</a:t>
            </a:r>
          </a:p>
          <a:p>
            <a:r>
              <a:rPr lang="en-US" sz="2800" dirty="0">
                <a:latin typeface="Times New Roman" panose="02020603050405020304" pitchFamily="18" charset="0"/>
              </a:rPr>
              <a:t>*Start a Timer</a:t>
            </a:r>
          </a:p>
          <a:p>
            <a:r>
              <a:rPr lang="en-US" sz="2800" dirty="0">
                <a:latin typeface="Times New Roman" panose="02020603050405020304" pitchFamily="18" charset="0"/>
              </a:rPr>
              <a:t>     *Run the Bubble Sort</a:t>
            </a:r>
          </a:p>
          <a:p>
            <a:r>
              <a:rPr lang="en-US" sz="2800" dirty="0">
                <a:latin typeface="Times New Roman" panose="02020603050405020304" pitchFamily="18" charset="0"/>
              </a:rPr>
              <a:t>*Stop the Timer</a:t>
            </a:r>
          </a:p>
        </p:txBody>
      </p:sp>
    </p:spTree>
    <p:extLst>
      <p:ext uri="{BB962C8B-B14F-4D97-AF65-F5344CB8AC3E}">
        <p14:creationId xmlns:p14="http://schemas.microsoft.com/office/powerpoint/2010/main" val="1783834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5669D-1CA7-D21C-E6D3-3A757D7749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CDB3A9-0CFC-1C63-87DB-84D02DE214D7}"/>
              </a:ext>
            </a:extLst>
          </p:cNvPr>
          <p:cNvSpPr>
            <a:spLocks noGrp="1"/>
          </p:cNvSpPr>
          <p:nvPr>
            <p:ph idx="1"/>
          </p:nvPr>
        </p:nvSpPr>
        <p:spPr>
          <a:xfrm>
            <a:off x="370490" y="2018051"/>
            <a:ext cx="11451020" cy="4163647"/>
          </a:xfrm>
        </p:spPr>
        <p:txBody>
          <a:bodyPr anchor="t" anchorCtr="0">
            <a:noAutofit/>
          </a:bodyPr>
          <a:lstStyle/>
          <a:p>
            <a:pPr marL="0" indent="0" algn="l">
              <a:buNone/>
            </a:pPr>
            <a:r>
              <a:rPr lang="en-US" sz="3200" b="0" i="0" u="none" strike="noStrike" dirty="0">
                <a:solidFill>
                  <a:srgbClr val="152D39"/>
                </a:solidFill>
                <a:effectLst/>
                <a:latin typeface="npprimarymedium"/>
              </a:rPr>
              <a:t>Two competing developers have their own algorithm that matches players for a multiplayer game that is being played by millions.</a:t>
            </a:r>
          </a:p>
          <a:p>
            <a:pPr algn="l"/>
            <a:r>
              <a:rPr lang="en-US" sz="3200" b="0" i="0" u="none" strike="noStrike" dirty="0">
                <a:solidFill>
                  <a:srgbClr val="152D39"/>
                </a:solidFill>
                <a:effectLst/>
                <a:latin typeface="npprimarymedium"/>
              </a:rPr>
              <a:t>Developer A is running an algorithm on her 10 year old laptop.  It takes 3 minutes.</a:t>
            </a:r>
          </a:p>
          <a:p>
            <a:pPr algn="l"/>
            <a:r>
              <a:rPr lang="en-US" sz="3200" b="0" i="0" u="none" strike="noStrike" dirty="0">
                <a:solidFill>
                  <a:srgbClr val="152D39"/>
                </a:solidFill>
                <a:effectLst/>
                <a:latin typeface="npprimarymedium"/>
              </a:rPr>
              <a:t>Developer B is running another algorithm in the ERAU Sim Lab.  It takes 59 seconds.</a:t>
            </a:r>
          </a:p>
          <a:p>
            <a:pPr marL="0" indent="0" algn="l">
              <a:buNone/>
            </a:pPr>
            <a:r>
              <a:rPr lang="en-US" sz="3200" b="1" i="0" u="none" strike="noStrike" dirty="0">
                <a:solidFill>
                  <a:srgbClr val="152D39"/>
                </a:solidFill>
                <a:effectLst/>
                <a:latin typeface="npprimarymedium"/>
              </a:rPr>
              <a:t>Which algorithm should be used?</a:t>
            </a:r>
          </a:p>
          <a:p>
            <a:pPr marL="0" indent="0">
              <a:lnSpc>
                <a:spcPct val="95000"/>
              </a:lnSpc>
              <a:spcAft>
                <a:spcPts val="600"/>
              </a:spcAft>
              <a:buNone/>
            </a:pPr>
            <a:endParaRPr lang="en-US" sz="3200" dirty="0">
              <a:solidFill>
                <a:schemeClr val="accent3">
                  <a:lumMod val="75000"/>
                </a:schemeClr>
              </a:solidFill>
            </a:endParaRPr>
          </a:p>
        </p:txBody>
      </p:sp>
    </p:spTree>
    <p:extLst>
      <p:ext uri="{BB962C8B-B14F-4D97-AF65-F5344CB8AC3E}">
        <p14:creationId xmlns:p14="http://schemas.microsoft.com/office/powerpoint/2010/main" val="3008399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490" y="2018051"/>
            <a:ext cx="11451020" cy="4163647"/>
          </a:xfrm>
        </p:spPr>
        <p:txBody>
          <a:bodyPr anchor="t" anchorCtr="0">
            <a:noAutofit/>
          </a:bodyPr>
          <a:lstStyle/>
          <a:p>
            <a:pPr>
              <a:lnSpc>
                <a:spcPct val="95000"/>
              </a:lnSpc>
              <a:spcAft>
                <a:spcPts val="600"/>
              </a:spcAft>
              <a:buFont typeface="Wingdings" pitchFamily="2" charset="2"/>
              <a:buChar char="Ø"/>
            </a:pPr>
            <a:r>
              <a:rPr lang="en-US" sz="3200" dirty="0">
                <a:solidFill>
                  <a:schemeClr val="tx1"/>
                </a:solidFill>
              </a:rPr>
              <a:t>What is the relationship between the size of input and runtime?</a:t>
            </a:r>
          </a:p>
          <a:p>
            <a:pPr>
              <a:lnSpc>
                <a:spcPct val="95000"/>
              </a:lnSpc>
              <a:spcAft>
                <a:spcPts val="600"/>
              </a:spcAft>
              <a:buFont typeface="Wingdings" pitchFamily="2" charset="2"/>
              <a:buChar char="Ø"/>
            </a:pPr>
            <a:r>
              <a:rPr lang="en-US" sz="3200" dirty="0">
                <a:solidFill>
                  <a:schemeClr val="tx1"/>
                </a:solidFill>
              </a:rPr>
              <a:t>Runtime will vary based on input values and computer speed.</a:t>
            </a:r>
          </a:p>
          <a:p>
            <a:pPr>
              <a:lnSpc>
                <a:spcPct val="95000"/>
              </a:lnSpc>
              <a:spcAft>
                <a:spcPts val="600"/>
              </a:spcAft>
              <a:buFont typeface="Wingdings" pitchFamily="2" charset="2"/>
              <a:buChar char="Ø"/>
            </a:pPr>
            <a:r>
              <a:rPr lang="en-US" sz="3200" dirty="0">
                <a:solidFill>
                  <a:schemeClr val="tx1"/>
                </a:solidFill>
              </a:rPr>
              <a:t>We often use theoretical analysis of the runtime instead of actual runtimes.</a:t>
            </a:r>
          </a:p>
        </p:txBody>
      </p:sp>
      <p:sp>
        <p:nvSpPr>
          <p:cNvPr id="2" name="TextBox 1"/>
          <p:cNvSpPr txBox="1"/>
          <p:nvPr/>
        </p:nvSpPr>
        <p:spPr>
          <a:xfrm>
            <a:off x="845854" y="782272"/>
            <a:ext cx="10500292" cy="92333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Runtime </a:t>
            </a:r>
          </a:p>
        </p:txBody>
      </p:sp>
      <p:pic>
        <p:nvPicPr>
          <p:cNvPr id="10" name="Picture 9" descr="A graph with a line and numbers&#10;&#10;Description automatically generated">
            <a:extLst>
              <a:ext uri="{FF2B5EF4-FFF2-40B4-BE49-F238E27FC236}">
                <a16:creationId xmlns:a16="http://schemas.microsoft.com/office/drawing/2014/main" id="{ECCC904C-C29E-D2B3-404E-3DCD3E46DD37}"/>
              </a:ext>
            </a:extLst>
          </p:cNvPr>
          <p:cNvPicPr>
            <a:picLocks noChangeAspect="1"/>
          </p:cNvPicPr>
          <p:nvPr/>
        </p:nvPicPr>
        <p:blipFill>
          <a:blip r:embed="rId3"/>
          <a:stretch>
            <a:fillRect/>
          </a:stretch>
        </p:blipFill>
        <p:spPr>
          <a:xfrm>
            <a:off x="5904854" y="3804037"/>
            <a:ext cx="5916656" cy="3053963"/>
          </a:xfrm>
          <a:prstGeom prst="rect">
            <a:avLst/>
          </a:prstGeom>
        </p:spPr>
      </p:pic>
    </p:spTree>
    <p:extLst>
      <p:ext uri="{BB962C8B-B14F-4D97-AF65-F5344CB8AC3E}">
        <p14:creationId xmlns:p14="http://schemas.microsoft.com/office/powerpoint/2010/main" val="2785134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Which LINE WOULD YOU CHOSE?</a:t>
            </a:r>
          </a:p>
        </p:txBody>
      </p:sp>
      <p:graphicFrame>
        <p:nvGraphicFramePr>
          <p:cNvPr id="6" name="Table 5">
            <a:extLst>
              <a:ext uri="{FF2B5EF4-FFF2-40B4-BE49-F238E27FC236}">
                <a16:creationId xmlns:a16="http://schemas.microsoft.com/office/drawing/2014/main" id="{C6EE1952-4F21-0982-CDD3-FA4DA0D885FD}"/>
              </a:ext>
            </a:extLst>
          </p:cNvPr>
          <p:cNvGraphicFramePr>
            <a:graphicFrameLocks noGrp="1"/>
          </p:cNvGraphicFramePr>
          <p:nvPr>
            <p:extLst>
              <p:ext uri="{D42A27DB-BD31-4B8C-83A1-F6EECF244321}">
                <p14:modId xmlns:p14="http://schemas.microsoft.com/office/powerpoint/2010/main" val="26772927"/>
              </p:ext>
            </p:extLst>
          </p:nvPr>
        </p:nvGraphicFramePr>
        <p:xfrm>
          <a:off x="447817" y="843266"/>
          <a:ext cx="11290860" cy="4144370"/>
        </p:xfrm>
        <a:graphic>
          <a:graphicData uri="http://schemas.openxmlformats.org/drawingml/2006/table">
            <a:tbl>
              <a:tblPr firstRow="1" bandRow="1">
                <a:tableStyleId>{5C22544A-7EE6-4342-B048-85BDC9FD1C3A}</a:tableStyleId>
              </a:tblPr>
              <a:tblGrid>
                <a:gridCol w="3661045">
                  <a:extLst>
                    <a:ext uri="{9D8B030D-6E8A-4147-A177-3AD203B41FA5}">
                      <a16:colId xmlns:a16="http://schemas.microsoft.com/office/drawing/2014/main" val="4223890631"/>
                    </a:ext>
                  </a:extLst>
                </a:gridCol>
                <a:gridCol w="3866195">
                  <a:extLst>
                    <a:ext uri="{9D8B030D-6E8A-4147-A177-3AD203B41FA5}">
                      <a16:colId xmlns:a16="http://schemas.microsoft.com/office/drawing/2014/main" val="1409049463"/>
                    </a:ext>
                  </a:extLst>
                </a:gridCol>
                <a:gridCol w="3763620">
                  <a:extLst>
                    <a:ext uri="{9D8B030D-6E8A-4147-A177-3AD203B41FA5}">
                      <a16:colId xmlns:a16="http://schemas.microsoft.com/office/drawing/2014/main" val="2203495784"/>
                    </a:ext>
                  </a:extLst>
                </a:gridCol>
              </a:tblGrid>
              <a:tr h="722757">
                <a:tc>
                  <a:txBody>
                    <a:bodyPr/>
                    <a:lstStyle/>
                    <a:p>
                      <a:r>
                        <a:rPr lang="en-US" dirty="0"/>
                        <a:t>Worst Case: 20-minute wait </a:t>
                      </a:r>
                    </a:p>
                  </a:txBody>
                  <a:tcPr/>
                </a:tc>
                <a:tc>
                  <a:txBody>
                    <a:bodyPr/>
                    <a:lstStyle/>
                    <a:p>
                      <a:r>
                        <a:rPr lang="en-US" dirty="0"/>
                        <a:t>Average Case: 15-minute wait</a:t>
                      </a:r>
                    </a:p>
                  </a:txBody>
                  <a:tcPr/>
                </a:tc>
                <a:tc>
                  <a:txBody>
                    <a:bodyPr/>
                    <a:lstStyle/>
                    <a:p>
                      <a:r>
                        <a:rPr lang="en-US" dirty="0"/>
                        <a:t>Quickest Case: 5-minute wait</a:t>
                      </a:r>
                    </a:p>
                  </a:txBody>
                  <a:tcPr/>
                </a:tc>
                <a:extLst>
                  <a:ext uri="{0D108BD9-81ED-4DB2-BD59-A6C34878D82A}">
                    <a16:rowId xmlns:a16="http://schemas.microsoft.com/office/drawing/2014/main" val="302464176"/>
                  </a:ext>
                </a:extLst>
              </a:tr>
              <a:tr h="3421613">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944974785"/>
                  </a:ext>
                </a:extLst>
              </a:tr>
            </a:tbl>
          </a:graphicData>
        </a:graphic>
      </p:graphicFrame>
      <p:pic>
        <p:nvPicPr>
          <p:cNvPr id="8" name="Picture 7" descr="A line of people standing in line&#10;&#10;Description automatically generated">
            <a:extLst>
              <a:ext uri="{FF2B5EF4-FFF2-40B4-BE49-F238E27FC236}">
                <a16:creationId xmlns:a16="http://schemas.microsoft.com/office/drawing/2014/main" id="{62DE17A4-B982-9FA0-5429-46B63A7E7202}"/>
              </a:ext>
            </a:extLst>
          </p:cNvPr>
          <p:cNvPicPr>
            <a:picLocks noChangeAspect="1"/>
          </p:cNvPicPr>
          <p:nvPr/>
        </p:nvPicPr>
        <p:blipFill>
          <a:blip r:embed="rId3"/>
          <a:stretch>
            <a:fillRect/>
          </a:stretch>
        </p:blipFill>
        <p:spPr>
          <a:xfrm>
            <a:off x="8294282" y="2506143"/>
            <a:ext cx="3316526" cy="2218387"/>
          </a:xfrm>
          <a:prstGeom prst="rect">
            <a:avLst/>
          </a:prstGeom>
        </p:spPr>
      </p:pic>
      <p:pic>
        <p:nvPicPr>
          <p:cNvPr id="10" name="Picture 9" descr="A line of people standing in a line&#10;&#10;Description automatically generated">
            <a:extLst>
              <a:ext uri="{FF2B5EF4-FFF2-40B4-BE49-F238E27FC236}">
                <a16:creationId xmlns:a16="http://schemas.microsoft.com/office/drawing/2014/main" id="{DEFF3696-9891-02B2-CCA2-8A1E7DF17ACE}"/>
              </a:ext>
            </a:extLst>
          </p:cNvPr>
          <p:cNvPicPr>
            <a:picLocks noChangeAspect="1"/>
          </p:cNvPicPr>
          <p:nvPr/>
        </p:nvPicPr>
        <p:blipFill>
          <a:blip r:embed="rId4"/>
          <a:stretch>
            <a:fillRect/>
          </a:stretch>
        </p:blipFill>
        <p:spPr>
          <a:xfrm>
            <a:off x="4299550" y="2355721"/>
            <a:ext cx="3541409" cy="2368809"/>
          </a:xfrm>
          <a:prstGeom prst="rect">
            <a:avLst/>
          </a:prstGeom>
        </p:spPr>
      </p:pic>
      <p:pic>
        <p:nvPicPr>
          <p:cNvPr id="14" name="Picture 13" descr="A hand pointing at a line of people&#10;&#10;Description automatically generated">
            <a:extLst>
              <a:ext uri="{FF2B5EF4-FFF2-40B4-BE49-F238E27FC236}">
                <a16:creationId xmlns:a16="http://schemas.microsoft.com/office/drawing/2014/main" id="{B557F297-F488-F6BB-0877-C90EA23BA452}"/>
              </a:ext>
            </a:extLst>
          </p:cNvPr>
          <p:cNvPicPr>
            <a:picLocks noChangeAspect="1"/>
          </p:cNvPicPr>
          <p:nvPr/>
        </p:nvPicPr>
        <p:blipFill>
          <a:blip r:embed="rId5"/>
          <a:stretch>
            <a:fillRect/>
          </a:stretch>
        </p:blipFill>
        <p:spPr>
          <a:xfrm>
            <a:off x="581192" y="2469144"/>
            <a:ext cx="3312406" cy="2215632"/>
          </a:xfrm>
          <a:prstGeom prst="rect">
            <a:avLst/>
          </a:prstGeom>
        </p:spPr>
      </p:pic>
      <p:sp>
        <p:nvSpPr>
          <p:cNvPr id="3" name="TextBox 2">
            <a:extLst>
              <a:ext uri="{FF2B5EF4-FFF2-40B4-BE49-F238E27FC236}">
                <a16:creationId xmlns:a16="http://schemas.microsoft.com/office/drawing/2014/main" id="{1C675B53-5D58-E431-31B3-C22D622CD4AA}"/>
              </a:ext>
            </a:extLst>
          </p:cNvPr>
          <p:cNvSpPr txBox="1"/>
          <p:nvPr/>
        </p:nvSpPr>
        <p:spPr>
          <a:xfrm>
            <a:off x="2761130" y="5487996"/>
            <a:ext cx="5952565"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Which line would you choose?</a:t>
            </a:r>
          </a:p>
        </p:txBody>
      </p:sp>
    </p:spTree>
    <p:extLst>
      <p:ext uri="{BB962C8B-B14F-4D97-AF65-F5344CB8AC3E}">
        <p14:creationId xmlns:p14="http://schemas.microsoft.com/office/powerpoint/2010/main" val="1703342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490" y="2165401"/>
            <a:ext cx="11451020" cy="4163647"/>
          </a:xfrm>
        </p:spPr>
        <p:txBody>
          <a:bodyPr>
            <a:noAutofit/>
          </a:bodyPr>
          <a:lstStyle/>
          <a:p>
            <a:pPr>
              <a:lnSpc>
                <a:spcPct val="95000"/>
              </a:lnSpc>
              <a:spcAft>
                <a:spcPts val="600"/>
              </a:spcAft>
              <a:buFont typeface="Wingdings" pitchFamily="2" charset="2"/>
              <a:buChar char="Ø"/>
            </a:pPr>
            <a:r>
              <a:rPr lang="en-US" sz="2800" dirty="0"/>
              <a:t>Just as Boeing doesn’t build an airplane without first analyzing its design to predict its performance, software engineers need to be able to analyze proposed data structures and algorithms in the abstract, before spending the time to code and debug them and only afterwards trying to measure their performance</a:t>
            </a:r>
          </a:p>
          <a:p>
            <a:pPr>
              <a:lnSpc>
                <a:spcPct val="95000"/>
              </a:lnSpc>
              <a:spcAft>
                <a:spcPts val="600"/>
              </a:spcAft>
              <a:buFont typeface="Wingdings" pitchFamily="2" charset="2"/>
              <a:buChar char="Ø"/>
            </a:pPr>
            <a:endParaRPr lang="en-US" sz="2800" dirty="0"/>
          </a:p>
          <a:p>
            <a:pPr>
              <a:lnSpc>
                <a:spcPct val="95000"/>
              </a:lnSpc>
              <a:spcAft>
                <a:spcPts val="600"/>
              </a:spcAft>
              <a:buFont typeface="Wingdings" pitchFamily="2" charset="2"/>
              <a:buChar char="Ø"/>
            </a:pPr>
            <a:r>
              <a:rPr lang="en-US" sz="2800" dirty="0">
                <a:solidFill>
                  <a:srgbClr val="003A00"/>
                </a:solidFill>
              </a:rPr>
              <a:t>CS315 is titled </a:t>
            </a:r>
            <a:r>
              <a:rPr lang="en-US" sz="2800" i="1" dirty="0">
                <a:solidFill>
                  <a:srgbClr val="003A00"/>
                </a:solidFill>
              </a:rPr>
              <a:t>Data Structures and the Analysis of Algorithms </a:t>
            </a:r>
            <a:r>
              <a:rPr lang="en-US" sz="2800" dirty="0">
                <a:solidFill>
                  <a:srgbClr val="003A00"/>
                </a:solidFill>
              </a:rPr>
              <a:t>because</a:t>
            </a:r>
            <a:r>
              <a:rPr lang="en-US" sz="2800" i="1" dirty="0">
                <a:solidFill>
                  <a:srgbClr val="003A00"/>
                </a:solidFill>
              </a:rPr>
              <a:t> </a:t>
            </a:r>
            <a:r>
              <a:rPr lang="en-US" sz="2800" dirty="0"/>
              <a:t>data structures and algorithms are strongly linked</a:t>
            </a:r>
            <a:r>
              <a:rPr lang="en-US" sz="2800" i="1" dirty="0"/>
              <a:t> ‒ </a:t>
            </a:r>
            <a:r>
              <a:rPr lang="en-US" sz="2800" dirty="0"/>
              <a:t>a</a:t>
            </a:r>
            <a:r>
              <a:rPr lang="en-US" sz="2800" dirty="0">
                <a:solidFill>
                  <a:srgbClr val="003A00"/>
                </a:solidFill>
              </a:rPr>
              <a:t>n </a:t>
            </a:r>
            <a:r>
              <a:rPr lang="en-US" sz="2800" dirty="0"/>
              <a:t>algorithm can’t be described, much less analyzed, without reference to the data structure(s) it accesses. </a:t>
            </a:r>
          </a:p>
        </p:txBody>
      </p:sp>
      <p:sp>
        <p:nvSpPr>
          <p:cNvPr id="2" name="TextBox 1"/>
          <p:cNvSpPr txBox="1"/>
          <p:nvPr/>
        </p:nvSpPr>
        <p:spPr>
          <a:xfrm>
            <a:off x="845854" y="782272"/>
            <a:ext cx="10500292" cy="92333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Big-O:  Context and Motivation</a:t>
            </a:r>
          </a:p>
        </p:txBody>
      </p:sp>
    </p:spTree>
    <p:extLst>
      <p:ext uri="{BB962C8B-B14F-4D97-AF65-F5344CB8AC3E}">
        <p14:creationId xmlns:p14="http://schemas.microsoft.com/office/powerpoint/2010/main" val="3181969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490" y="2018051"/>
            <a:ext cx="11462922" cy="4472396"/>
          </a:xfrm>
        </p:spPr>
        <p:txBody>
          <a:bodyPr anchor="t" anchorCtr="0">
            <a:noAutofit/>
          </a:bodyPr>
          <a:lstStyle/>
          <a:p>
            <a:pPr marL="0" indent="0">
              <a:lnSpc>
                <a:spcPct val="95000"/>
              </a:lnSpc>
              <a:spcAft>
                <a:spcPts val="600"/>
              </a:spcAft>
              <a:buNone/>
            </a:pPr>
            <a:r>
              <a:rPr lang="en-US" sz="3200" dirty="0">
                <a:solidFill>
                  <a:srgbClr val="0070C0"/>
                </a:solidFill>
              </a:rPr>
              <a:t>How many lines of code are run if n=0? n=1? n=3?</a:t>
            </a:r>
          </a:p>
          <a:p>
            <a:pPr marL="0" indent="0">
              <a:lnSpc>
                <a:spcPct val="95000"/>
              </a:lnSpc>
              <a:spcAft>
                <a:spcPts val="600"/>
              </a:spcAft>
              <a:buNone/>
            </a:pPr>
            <a:endParaRPr lang="en-US" sz="3200" dirty="0"/>
          </a:p>
          <a:p>
            <a:pPr marL="0" indent="0">
              <a:lnSpc>
                <a:spcPct val="95000"/>
              </a:lnSpc>
              <a:spcAft>
                <a:spcPts val="600"/>
              </a:spcAft>
              <a:buNone/>
            </a:pPr>
            <a:r>
              <a:rPr lang="en-US" sz="3200" dirty="0"/>
              <a:t>int x=</a:t>
            </a:r>
            <a:r>
              <a:rPr lang="en-US" sz="3200" dirty="0">
                <a:solidFill>
                  <a:schemeClr val="tx1"/>
                </a:solidFill>
              </a:rPr>
              <a:t>1</a:t>
            </a:r>
            <a:r>
              <a:rPr lang="en-US" sz="3200" dirty="0"/>
              <a:t>;</a:t>
            </a:r>
          </a:p>
          <a:p>
            <a:pPr marL="0" indent="0">
              <a:lnSpc>
                <a:spcPct val="95000"/>
              </a:lnSpc>
              <a:spcAft>
                <a:spcPts val="600"/>
              </a:spcAft>
              <a:buNone/>
            </a:pPr>
            <a:r>
              <a:rPr lang="en-US" sz="3200" dirty="0"/>
              <a:t>while (x &lt;= n){</a:t>
            </a:r>
          </a:p>
          <a:p>
            <a:pPr marL="0" indent="0">
              <a:lnSpc>
                <a:spcPct val="95000"/>
              </a:lnSpc>
              <a:spcAft>
                <a:spcPts val="600"/>
              </a:spcAft>
              <a:buNone/>
            </a:pPr>
            <a:r>
              <a:rPr lang="en-US" sz="3200" dirty="0"/>
              <a:t>	printf("%d ", x); //print all </a:t>
            </a:r>
            <a:r>
              <a:rPr lang="en-US" sz="3200" dirty="0">
                <a:solidFill>
                  <a:srgbClr val="FF0000"/>
                </a:solidFill>
              </a:rPr>
              <a:t>odd </a:t>
            </a:r>
            <a:r>
              <a:rPr lang="en-US" sz="3200" dirty="0"/>
              <a:t>numbers 1 to n</a:t>
            </a:r>
            <a:br>
              <a:rPr lang="en-US" sz="3200" dirty="0"/>
            </a:br>
            <a:r>
              <a:rPr lang="en-US" sz="3200" dirty="0"/>
              <a:t>	x+= </a:t>
            </a:r>
            <a:r>
              <a:rPr lang="en-US" sz="3200" dirty="0">
                <a:solidFill>
                  <a:srgbClr val="FF0000"/>
                </a:solidFill>
              </a:rPr>
              <a:t>2</a:t>
            </a:r>
            <a:r>
              <a:rPr lang="en-US" sz="3200" dirty="0"/>
              <a:t>; </a:t>
            </a:r>
          </a:p>
          <a:p>
            <a:pPr marL="0" indent="0">
              <a:lnSpc>
                <a:spcPct val="95000"/>
              </a:lnSpc>
              <a:spcAft>
                <a:spcPts val="600"/>
              </a:spcAft>
              <a:buNone/>
            </a:pPr>
            <a:r>
              <a:rPr lang="en-US" sz="3200" dirty="0"/>
              <a:t>}</a:t>
            </a:r>
          </a:p>
        </p:txBody>
      </p:sp>
      <p:sp>
        <p:nvSpPr>
          <p:cNvPr id="2" name="TextBox 1"/>
          <p:cNvSpPr txBox="1"/>
          <p:nvPr/>
        </p:nvSpPr>
        <p:spPr>
          <a:xfrm>
            <a:off x="845854" y="782272"/>
            <a:ext cx="10500292" cy="92333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 Complexity</a:t>
            </a:r>
          </a:p>
        </p:txBody>
      </p:sp>
    </p:spTree>
    <p:extLst>
      <p:ext uri="{BB962C8B-B14F-4D97-AF65-F5344CB8AC3E}">
        <p14:creationId xmlns:p14="http://schemas.microsoft.com/office/powerpoint/2010/main" val="1807627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f(n)">
            <a:extLst>
              <a:ext uri="{FF2B5EF4-FFF2-40B4-BE49-F238E27FC236}">
                <a16:creationId xmlns:a16="http://schemas.microsoft.com/office/drawing/2014/main" id="{5569EA05-54EB-4069-82EA-18AF94FFB2F5}"/>
              </a:ext>
            </a:extLst>
          </p:cNvPr>
          <p:cNvGrpSpPr/>
          <p:nvPr/>
        </p:nvGrpSpPr>
        <p:grpSpPr>
          <a:xfrm>
            <a:off x="6545695" y="5545964"/>
            <a:ext cx="3342679" cy="480143"/>
            <a:chOff x="4462098" y="4289842"/>
            <a:chExt cx="3351608" cy="1200324"/>
          </a:xfrm>
        </p:grpSpPr>
        <p:sp>
          <p:nvSpPr>
            <p:cNvPr id="8" name="Freeform 7"/>
            <p:cNvSpPr/>
            <p:nvPr/>
          </p:nvSpPr>
          <p:spPr>
            <a:xfrm>
              <a:off x="4462098" y="4597034"/>
              <a:ext cx="2563266" cy="893132"/>
            </a:xfrm>
            <a:custGeom>
              <a:avLst/>
              <a:gdLst>
                <a:gd name="connsiteX0" fmla="*/ 124557 w 5909131"/>
                <a:gd name="connsiteY0" fmla="*/ 3528392 h 3528392"/>
                <a:gd name="connsiteX1" fmla="*/ 442609 w 5909131"/>
                <a:gd name="connsiteY1" fmla="*/ 3120887 h 3528392"/>
                <a:gd name="connsiteX2" fmla="*/ 3742401 w 5909131"/>
                <a:gd name="connsiteY2" fmla="*/ 2743200 h 3528392"/>
                <a:gd name="connsiteX3" fmla="*/ 5909131 w 5909131"/>
                <a:gd name="connsiteY3" fmla="*/ 0 h 3528392"/>
                <a:gd name="connsiteX4" fmla="*/ 5909131 w 5909131"/>
                <a:gd name="connsiteY4" fmla="*/ 0 h 3528392"/>
                <a:gd name="connsiteX0" fmla="*/ 50508 w 5835082"/>
                <a:gd name="connsiteY0" fmla="*/ 3528392 h 3528392"/>
                <a:gd name="connsiteX1" fmla="*/ 368560 w 5835082"/>
                <a:gd name="connsiteY1" fmla="*/ 3120887 h 3528392"/>
                <a:gd name="connsiteX2" fmla="*/ 3668352 w 5835082"/>
                <a:gd name="connsiteY2" fmla="*/ 2743200 h 3528392"/>
                <a:gd name="connsiteX3" fmla="*/ 5835082 w 5835082"/>
                <a:gd name="connsiteY3" fmla="*/ 0 h 3528392"/>
                <a:gd name="connsiteX4" fmla="*/ 5835082 w 5835082"/>
                <a:gd name="connsiteY4" fmla="*/ 0 h 3528392"/>
                <a:gd name="connsiteX0" fmla="*/ 0 w 5784574"/>
                <a:gd name="connsiteY0" fmla="*/ 3528392 h 3528392"/>
                <a:gd name="connsiteX1" fmla="*/ 318052 w 5784574"/>
                <a:gd name="connsiteY1" fmla="*/ 3120887 h 3528392"/>
                <a:gd name="connsiteX2" fmla="*/ 3617844 w 5784574"/>
                <a:gd name="connsiteY2" fmla="*/ 2743200 h 3528392"/>
                <a:gd name="connsiteX3" fmla="*/ 5784574 w 5784574"/>
                <a:gd name="connsiteY3" fmla="*/ 0 h 3528392"/>
                <a:gd name="connsiteX4" fmla="*/ 5784574 w 5784574"/>
                <a:gd name="connsiteY4" fmla="*/ 0 h 3528392"/>
                <a:gd name="connsiteX0" fmla="*/ 0 w 5784574"/>
                <a:gd name="connsiteY0" fmla="*/ 3528392 h 3528392"/>
                <a:gd name="connsiteX1" fmla="*/ 318052 w 5784574"/>
                <a:gd name="connsiteY1" fmla="*/ 3120887 h 3528392"/>
                <a:gd name="connsiteX2" fmla="*/ 3617844 w 5784574"/>
                <a:gd name="connsiteY2" fmla="*/ 2743200 h 3528392"/>
                <a:gd name="connsiteX3" fmla="*/ 5784574 w 5784574"/>
                <a:gd name="connsiteY3" fmla="*/ 0 h 3528392"/>
                <a:gd name="connsiteX4" fmla="*/ 5784574 w 5784574"/>
                <a:gd name="connsiteY4" fmla="*/ 0 h 3528392"/>
                <a:gd name="connsiteX0" fmla="*/ 62459 w 5847033"/>
                <a:gd name="connsiteY0" fmla="*/ 3528392 h 3528392"/>
                <a:gd name="connsiteX1" fmla="*/ 380511 w 5847033"/>
                <a:gd name="connsiteY1" fmla="*/ 3120887 h 3528392"/>
                <a:gd name="connsiteX2" fmla="*/ 4137503 w 5847033"/>
                <a:gd name="connsiteY2" fmla="*/ 2315818 h 3528392"/>
                <a:gd name="connsiteX3" fmla="*/ 5847033 w 5847033"/>
                <a:gd name="connsiteY3" fmla="*/ 0 h 3528392"/>
                <a:gd name="connsiteX4" fmla="*/ 5847033 w 5847033"/>
                <a:gd name="connsiteY4" fmla="*/ 0 h 3528392"/>
                <a:gd name="connsiteX0" fmla="*/ 0 w 5784574"/>
                <a:gd name="connsiteY0" fmla="*/ 3528392 h 3528392"/>
                <a:gd name="connsiteX1" fmla="*/ 576470 w 5784574"/>
                <a:gd name="connsiteY1" fmla="*/ 3061253 h 3528392"/>
                <a:gd name="connsiteX2" fmla="*/ 4075044 w 5784574"/>
                <a:gd name="connsiteY2" fmla="*/ 2315818 h 3528392"/>
                <a:gd name="connsiteX3" fmla="*/ 5784574 w 5784574"/>
                <a:gd name="connsiteY3" fmla="*/ 0 h 3528392"/>
                <a:gd name="connsiteX4" fmla="*/ 5784574 w 5784574"/>
                <a:gd name="connsiteY4" fmla="*/ 0 h 3528392"/>
                <a:gd name="connsiteX0" fmla="*/ 0 w 5784574"/>
                <a:gd name="connsiteY0" fmla="*/ 3528392 h 3528392"/>
                <a:gd name="connsiteX1" fmla="*/ 576470 w 5784574"/>
                <a:gd name="connsiteY1" fmla="*/ 3061253 h 3528392"/>
                <a:gd name="connsiteX2" fmla="*/ 4075044 w 5784574"/>
                <a:gd name="connsiteY2" fmla="*/ 2315818 h 3528392"/>
                <a:gd name="connsiteX3" fmla="*/ 5784574 w 5784574"/>
                <a:gd name="connsiteY3" fmla="*/ 0 h 3528392"/>
                <a:gd name="connsiteX4" fmla="*/ 5784574 w 5784574"/>
                <a:gd name="connsiteY4" fmla="*/ 0 h 3528392"/>
                <a:gd name="connsiteX0" fmla="*/ 0 w 5784574"/>
                <a:gd name="connsiteY0" fmla="*/ 3528392 h 3528392"/>
                <a:gd name="connsiteX1" fmla="*/ 576470 w 5784574"/>
                <a:gd name="connsiteY1" fmla="*/ 3061253 h 3528392"/>
                <a:gd name="connsiteX2" fmla="*/ 4142396 w 5784574"/>
                <a:gd name="connsiteY2" fmla="*/ 2518165 h 3528392"/>
                <a:gd name="connsiteX3" fmla="*/ 5784574 w 5784574"/>
                <a:gd name="connsiteY3" fmla="*/ 0 h 3528392"/>
                <a:gd name="connsiteX4" fmla="*/ 5784574 w 5784574"/>
                <a:gd name="connsiteY4" fmla="*/ 0 h 3528392"/>
                <a:gd name="connsiteX0" fmla="*/ 0 w 5784574"/>
                <a:gd name="connsiteY0" fmla="*/ 3528392 h 3528392"/>
                <a:gd name="connsiteX1" fmla="*/ 576471 w 5784574"/>
                <a:gd name="connsiteY1" fmla="*/ 3203646 h 3528392"/>
                <a:gd name="connsiteX2" fmla="*/ 4142396 w 5784574"/>
                <a:gd name="connsiteY2" fmla="*/ 2518165 h 3528392"/>
                <a:gd name="connsiteX3" fmla="*/ 5784574 w 5784574"/>
                <a:gd name="connsiteY3" fmla="*/ 0 h 3528392"/>
                <a:gd name="connsiteX4" fmla="*/ 5784574 w 5784574"/>
                <a:gd name="connsiteY4" fmla="*/ 0 h 3528392"/>
                <a:gd name="connsiteX0" fmla="*/ 0 w 5784574"/>
                <a:gd name="connsiteY0" fmla="*/ 3528392 h 3528392"/>
                <a:gd name="connsiteX1" fmla="*/ 576471 w 5784574"/>
                <a:gd name="connsiteY1" fmla="*/ 3203646 h 3528392"/>
                <a:gd name="connsiteX2" fmla="*/ 4142396 w 5784574"/>
                <a:gd name="connsiteY2" fmla="*/ 2518165 h 3528392"/>
                <a:gd name="connsiteX3" fmla="*/ 5784574 w 5784574"/>
                <a:gd name="connsiteY3" fmla="*/ 0 h 3528392"/>
                <a:gd name="connsiteX4" fmla="*/ 5784574 w 5784574"/>
                <a:gd name="connsiteY4" fmla="*/ 0 h 3528392"/>
                <a:gd name="connsiteX0" fmla="*/ 0 w 5784574"/>
                <a:gd name="connsiteY0" fmla="*/ 3663293 h 3663293"/>
                <a:gd name="connsiteX1" fmla="*/ 576471 w 5784574"/>
                <a:gd name="connsiteY1" fmla="*/ 3203646 h 3663293"/>
                <a:gd name="connsiteX2" fmla="*/ 4142396 w 5784574"/>
                <a:gd name="connsiteY2" fmla="*/ 2518165 h 3663293"/>
                <a:gd name="connsiteX3" fmla="*/ 5784574 w 5784574"/>
                <a:gd name="connsiteY3" fmla="*/ 0 h 3663293"/>
                <a:gd name="connsiteX4" fmla="*/ 5784574 w 5784574"/>
                <a:gd name="connsiteY4" fmla="*/ 0 h 3663293"/>
                <a:gd name="connsiteX0" fmla="*/ 0 w 5784574"/>
                <a:gd name="connsiteY0" fmla="*/ 3663293 h 3663293"/>
                <a:gd name="connsiteX1" fmla="*/ 576471 w 5784574"/>
                <a:gd name="connsiteY1" fmla="*/ 3203646 h 3663293"/>
                <a:gd name="connsiteX2" fmla="*/ 4142396 w 5784574"/>
                <a:gd name="connsiteY2" fmla="*/ 2518165 h 3663293"/>
                <a:gd name="connsiteX3" fmla="*/ 5784574 w 5784574"/>
                <a:gd name="connsiteY3" fmla="*/ 0 h 3663293"/>
                <a:gd name="connsiteX4" fmla="*/ 5784574 w 5784574"/>
                <a:gd name="connsiteY4" fmla="*/ 0 h 3663293"/>
                <a:gd name="connsiteX0" fmla="*/ 0 w 5784574"/>
                <a:gd name="connsiteY0" fmla="*/ 3663293 h 3663293"/>
                <a:gd name="connsiteX1" fmla="*/ 720156 w 5784574"/>
                <a:gd name="connsiteY1" fmla="*/ 3271095 h 3663293"/>
                <a:gd name="connsiteX2" fmla="*/ 4142396 w 5784574"/>
                <a:gd name="connsiteY2" fmla="*/ 2518165 h 3663293"/>
                <a:gd name="connsiteX3" fmla="*/ 5784574 w 5784574"/>
                <a:gd name="connsiteY3" fmla="*/ 0 h 3663293"/>
                <a:gd name="connsiteX4" fmla="*/ 5784574 w 5784574"/>
                <a:gd name="connsiteY4" fmla="*/ 0 h 3663293"/>
                <a:gd name="connsiteX0" fmla="*/ 0 w 5784574"/>
                <a:gd name="connsiteY0" fmla="*/ 3663293 h 3663293"/>
                <a:gd name="connsiteX1" fmla="*/ 720156 w 5784574"/>
                <a:gd name="connsiteY1" fmla="*/ 3271095 h 3663293"/>
                <a:gd name="connsiteX2" fmla="*/ 4079533 w 5784574"/>
                <a:gd name="connsiteY2" fmla="*/ 2300826 h 3663293"/>
                <a:gd name="connsiteX3" fmla="*/ 5784574 w 5784574"/>
                <a:gd name="connsiteY3" fmla="*/ 0 h 3663293"/>
                <a:gd name="connsiteX4" fmla="*/ 5784574 w 5784574"/>
                <a:gd name="connsiteY4" fmla="*/ 0 h 3663293"/>
                <a:gd name="connsiteX0" fmla="*/ 0 w 5784574"/>
                <a:gd name="connsiteY0" fmla="*/ 3663293 h 3663293"/>
                <a:gd name="connsiteX1" fmla="*/ 720156 w 5784574"/>
                <a:gd name="connsiteY1" fmla="*/ 3271095 h 3663293"/>
                <a:gd name="connsiteX2" fmla="*/ 4079533 w 5784574"/>
                <a:gd name="connsiteY2" fmla="*/ 2300826 h 3663293"/>
                <a:gd name="connsiteX3" fmla="*/ 5104897 w 5784574"/>
                <a:gd name="connsiteY3" fmla="*/ 1120814 h 3663293"/>
                <a:gd name="connsiteX4" fmla="*/ 5784574 w 5784574"/>
                <a:gd name="connsiteY4" fmla="*/ 0 h 3663293"/>
                <a:gd name="connsiteX5" fmla="*/ 5784574 w 5784574"/>
                <a:gd name="connsiteY5" fmla="*/ 0 h 3663293"/>
                <a:gd name="connsiteX0" fmla="*/ 0 w 5784574"/>
                <a:gd name="connsiteY0" fmla="*/ 3663293 h 3663293"/>
                <a:gd name="connsiteX1" fmla="*/ 720156 w 5784574"/>
                <a:gd name="connsiteY1" fmla="*/ 3271095 h 3663293"/>
                <a:gd name="connsiteX2" fmla="*/ 4079533 w 5784574"/>
                <a:gd name="connsiteY2" fmla="*/ 2300826 h 3663293"/>
                <a:gd name="connsiteX3" fmla="*/ 5104897 w 5784574"/>
                <a:gd name="connsiteY3" fmla="*/ 1120814 h 3663293"/>
                <a:gd name="connsiteX4" fmla="*/ 5784574 w 5784574"/>
                <a:gd name="connsiteY4" fmla="*/ 0 h 3663293"/>
                <a:gd name="connsiteX5" fmla="*/ 5784574 w 5784574"/>
                <a:gd name="connsiteY5" fmla="*/ 0 h 3663293"/>
                <a:gd name="connsiteX0" fmla="*/ 0 w 5784574"/>
                <a:gd name="connsiteY0" fmla="*/ 3663293 h 3663293"/>
                <a:gd name="connsiteX1" fmla="*/ 720156 w 5784574"/>
                <a:gd name="connsiteY1" fmla="*/ 3271095 h 3663293"/>
                <a:gd name="connsiteX2" fmla="*/ 4079533 w 5784574"/>
                <a:gd name="connsiteY2" fmla="*/ 2300826 h 3663293"/>
                <a:gd name="connsiteX3" fmla="*/ 5104897 w 5784574"/>
                <a:gd name="connsiteY3" fmla="*/ 1120814 h 3663293"/>
                <a:gd name="connsiteX4" fmla="*/ 5784574 w 5784574"/>
                <a:gd name="connsiteY4" fmla="*/ 0 h 3663293"/>
                <a:gd name="connsiteX5" fmla="*/ 5784574 w 5784574"/>
                <a:gd name="connsiteY5" fmla="*/ 0 h 3663293"/>
                <a:gd name="connsiteX0" fmla="*/ 0 w 5784574"/>
                <a:gd name="connsiteY0" fmla="*/ 3663293 h 3663293"/>
                <a:gd name="connsiteX1" fmla="*/ 720156 w 5784574"/>
                <a:gd name="connsiteY1" fmla="*/ 3271095 h 3663293"/>
                <a:gd name="connsiteX2" fmla="*/ 4079533 w 5784574"/>
                <a:gd name="connsiteY2" fmla="*/ 2300826 h 3663293"/>
                <a:gd name="connsiteX3" fmla="*/ 5104897 w 5784574"/>
                <a:gd name="connsiteY3" fmla="*/ 1120814 h 3663293"/>
                <a:gd name="connsiteX4" fmla="*/ 5784574 w 5784574"/>
                <a:gd name="connsiteY4" fmla="*/ 0 h 3663293"/>
                <a:gd name="connsiteX5" fmla="*/ 5784574 w 5784574"/>
                <a:gd name="connsiteY5" fmla="*/ 0 h 3663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84574" h="3663293">
                  <a:moveTo>
                    <a:pt x="0" y="3663293"/>
                  </a:moveTo>
                  <a:cubicBezTo>
                    <a:pt x="96078" y="3590300"/>
                    <a:pt x="40234" y="3498173"/>
                    <a:pt x="720156" y="3271095"/>
                  </a:cubicBezTo>
                  <a:cubicBezTo>
                    <a:pt x="1400078" y="3044017"/>
                    <a:pt x="3355032" y="2819291"/>
                    <a:pt x="4079533" y="2300826"/>
                  </a:cubicBezTo>
                  <a:cubicBezTo>
                    <a:pt x="4804034" y="1782361"/>
                    <a:pt x="4833308" y="1527150"/>
                    <a:pt x="5104897" y="1120814"/>
                  </a:cubicBezTo>
                  <a:cubicBezTo>
                    <a:pt x="5389070" y="737343"/>
                    <a:pt x="5671295" y="186802"/>
                    <a:pt x="5784574" y="0"/>
                  </a:cubicBezTo>
                  <a:lnTo>
                    <a:pt x="5784574" y="0"/>
                  </a:ln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p:cNvSpPr txBox="1"/>
                <p:nvPr/>
              </p:nvSpPr>
              <p:spPr>
                <a:xfrm>
                  <a:off x="6783278" y="4289842"/>
                  <a:ext cx="103042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a:solidFill>
                              <a:srgbClr val="FF0000"/>
                            </a:solidFill>
                            <a:latin typeface="Cambria Math" panose="02040503050406030204" pitchFamily="18" charset="0"/>
                            <a:ea typeface="Cambria Math" panose="02040503050406030204" pitchFamily="18" charset="0"/>
                          </a:rPr>
                          <m:t>𝒇</m:t>
                        </m:r>
                        <m:r>
                          <a:rPr lang="en-US" sz="2000" b="1" i="1">
                            <a:solidFill>
                              <a:srgbClr val="FF0000"/>
                            </a:solidFill>
                            <a:latin typeface="Cambria Math" panose="02040503050406030204" pitchFamily="18" charset="0"/>
                            <a:ea typeface="Cambria Math" panose="02040503050406030204" pitchFamily="18" charset="0"/>
                          </a:rPr>
                          <m:t>(</m:t>
                        </m:r>
                        <m:r>
                          <a:rPr lang="en-US" sz="2000" b="1" i="1">
                            <a:solidFill>
                              <a:srgbClr val="FF0000"/>
                            </a:solidFill>
                            <a:latin typeface="Cambria Math" panose="02040503050406030204" pitchFamily="18" charset="0"/>
                            <a:ea typeface="Cambria Math" panose="02040503050406030204" pitchFamily="18" charset="0"/>
                          </a:rPr>
                          <m:t>𝒏</m:t>
                        </m:r>
                        <m:r>
                          <a:rPr lang="en-US" sz="2000" b="1" i="1">
                            <a:solidFill>
                              <a:srgbClr val="FF0000"/>
                            </a:solidFill>
                            <a:latin typeface="Cambria Math" panose="02040503050406030204" pitchFamily="18" charset="0"/>
                            <a:ea typeface="Cambria Math" panose="02040503050406030204" pitchFamily="18" charset="0"/>
                          </a:rPr>
                          <m:t>)</m:t>
                        </m:r>
                      </m:oMath>
                    </m:oMathPara>
                  </a14:m>
                  <a:endParaRPr lang="en-US" sz="2000" i="1" dirty="0">
                    <a:solidFill>
                      <a:srgbClr val="FF0000"/>
                    </a:solidFill>
                    <a:latin typeface="Cambria Math" panose="02040503050406030204" pitchFamily="18" charset="0"/>
                    <a:ea typeface="Cambria Math" panose="020405030504060302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6783278" y="4289842"/>
                  <a:ext cx="1030428" cy="400110"/>
                </a:xfrm>
                <a:prstGeom prst="rect">
                  <a:avLst/>
                </a:prstGeom>
                <a:blipFill>
                  <a:blip r:embed="rId3"/>
                  <a:stretch>
                    <a:fillRect b="-1846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5986" y="2270854"/>
                <a:ext cx="11380027" cy="2238548"/>
              </a:xfrm>
            </p:spPr>
            <p:txBody>
              <a:bodyPr>
                <a:noAutofit/>
              </a:bodyPr>
              <a:lstStyle/>
              <a:p>
                <a:pPr>
                  <a:lnSpc>
                    <a:spcPct val="100000"/>
                  </a:lnSpc>
                  <a:spcAft>
                    <a:spcPts val="600"/>
                  </a:spcAft>
                </a:pPr>
                <a:endParaRPr lang="en-US" sz="2400" dirty="0">
                  <a:solidFill>
                    <a:srgbClr val="003A00"/>
                  </a:solidFill>
                </a:endParaRPr>
              </a:p>
              <a:p>
                <a:pPr>
                  <a:lnSpc>
                    <a:spcPct val="100000"/>
                  </a:lnSpc>
                  <a:spcAft>
                    <a:spcPts val="600"/>
                  </a:spcAft>
                </a:pPr>
                <a:endParaRPr lang="en-US" sz="2400" dirty="0">
                  <a:solidFill>
                    <a:srgbClr val="003A00"/>
                  </a:solidFill>
                </a:endParaRPr>
              </a:p>
              <a:p>
                <a:pPr>
                  <a:lnSpc>
                    <a:spcPct val="100000"/>
                  </a:lnSpc>
                  <a:spcAft>
                    <a:spcPts val="600"/>
                  </a:spcAft>
                  <a:buFont typeface="Wingdings" pitchFamily="2" charset="2"/>
                  <a:buChar char="Ø"/>
                </a:pPr>
                <a:r>
                  <a:rPr lang="en-US" sz="3200" dirty="0">
                    <a:solidFill>
                      <a:srgbClr val="003A00"/>
                    </a:solidFill>
                  </a:rPr>
                  <a:t>A function f(n) is considered </a:t>
                </a:r>
                <a:r>
                  <a:rPr lang="en-US" sz="3200" dirty="0"/>
                  <a:t>O</a:t>
                </a:r>
                <a:r>
                  <a:rPr lang="en-US" sz="3200" dirty="0">
                    <a:solidFill>
                      <a:srgbClr val="003A00"/>
                    </a:solidFill>
                    <a:latin typeface="Cambria Math" panose="02040503050406030204" pitchFamily="18" charset="0"/>
                    <a:ea typeface="Cambria Math" panose="02040503050406030204" pitchFamily="18" charset="0"/>
                  </a:rPr>
                  <a:t>(g(</a:t>
                </a:r>
                <a14:m>
                  <m:oMath xmlns:m="http://schemas.openxmlformats.org/officeDocument/2006/math">
                    <m:r>
                      <a:rPr lang="en-US" sz="3200" b="0" i="1">
                        <a:latin typeface="Cambria Math" panose="02040503050406030204" pitchFamily="18" charset="0"/>
                        <a:ea typeface="Cambria Math" panose="02040503050406030204" pitchFamily="18" charset="0"/>
                      </a:rPr>
                      <m:t>𝑛</m:t>
                    </m:r>
                  </m:oMath>
                </a14:m>
                <a:r>
                  <a:rPr lang="en-US" sz="3200" dirty="0">
                    <a:solidFill>
                      <a:srgbClr val="003A00"/>
                    </a:solidFill>
                    <a:latin typeface="Cambria Math" panose="02040503050406030204" pitchFamily="18" charset="0"/>
                    <a:ea typeface="Cambria Math" panose="02040503050406030204" pitchFamily="18" charset="0"/>
                  </a:rPr>
                  <a:t>))</a:t>
                </a:r>
                <a:r>
                  <a:rPr lang="en-US" sz="3200" dirty="0">
                    <a:solidFill>
                      <a:srgbClr val="003A00"/>
                    </a:solidFill>
                    <a:latin typeface="Cambria Math" panose="02040503050406030204" pitchFamily="18" charset="0"/>
                    <a:cs typeface="Times New Roman" panose="02020603050405020304" pitchFamily="18" charset="0"/>
                  </a:rPr>
                  <a:t>  if there is some constant c and n</a:t>
                </a:r>
                <a:r>
                  <a:rPr lang="en-US" sz="3200" baseline="-25000" dirty="0">
                    <a:solidFill>
                      <a:srgbClr val="003A00"/>
                    </a:solidFill>
                    <a:latin typeface="Cambria Math" panose="02040503050406030204" pitchFamily="18" charset="0"/>
                    <a:cs typeface="Times New Roman" panose="02020603050405020304" pitchFamily="18" charset="0"/>
                  </a:rPr>
                  <a:t>0 </a:t>
                </a:r>
                <a:r>
                  <a:rPr lang="en-US" sz="3200" dirty="0">
                    <a:solidFill>
                      <a:srgbClr val="003A00"/>
                    </a:solidFill>
                    <a:latin typeface="Cambria Math" panose="02040503050406030204" pitchFamily="18" charset="0"/>
                    <a:cs typeface="Times New Roman" panose="02020603050405020304" pitchFamily="18" charset="0"/>
                  </a:rPr>
                  <a:t>such that c*g(n) &gt; f(n) for all n &gt; n</a:t>
                </a:r>
                <a:r>
                  <a:rPr lang="en-US" sz="3200" baseline="-25000" dirty="0">
                    <a:solidFill>
                      <a:srgbClr val="003A00"/>
                    </a:solidFill>
                    <a:latin typeface="Cambria Math" panose="02040503050406030204" pitchFamily="18" charset="0"/>
                    <a:cs typeface="Times New Roman" panose="02020603050405020304" pitchFamily="18" charset="0"/>
                  </a:rPr>
                  <a:t>0</a:t>
                </a:r>
              </a:p>
              <a:p>
                <a:pPr>
                  <a:lnSpc>
                    <a:spcPct val="100000"/>
                  </a:lnSpc>
                  <a:spcAft>
                    <a:spcPts val="600"/>
                  </a:spcAft>
                  <a:buFont typeface="Wingdings" pitchFamily="2" charset="2"/>
                  <a:buChar char="Ø"/>
                </a:pPr>
                <a:endParaRPr lang="en-US" sz="3200" baseline="-25000" dirty="0">
                  <a:solidFill>
                    <a:srgbClr val="003A00"/>
                  </a:solidFill>
                  <a:latin typeface="Cambria Math" panose="02040503050406030204" pitchFamily="18" charset="0"/>
                  <a:cs typeface="Times New Roman" panose="02020603050405020304" pitchFamily="18" charset="0"/>
                </a:endParaRPr>
              </a:p>
              <a:p>
                <a:pPr>
                  <a:lnSpc>
                    <a:spcPct val="100000"/>
                  </a:lnSpc>
                  <a:spcAft>
                    <a:spcPts val="600"/>
                  </a:spcAft>
                  <a:buFont typeface="Wingdings" pitchFamily="2" charset="2"/>
                  <a:buChar char="Ø"/>
                </a:pPr>
                <a:endParaRPr lang="en-US" sz="3200" baseline="-25000" dirty="0">
                  <a:solidFill>
                    <a:srgbClr val="003A00"/>
                  </a:solidFill>
                  <a:latin typeface="Cambria Math" panose="02040503050406030204" pitchFamily="18" charset="0"/>
                  <a:cs typeface="Times New Roman" panose="02020603050405020304" pitchFamily="18" charset="0"/>
                </a:endParaRPr>
              </a:p>
              <a:p>
                <a:pPr>
                  <a:lnSpc>
                    <a:spcPct val="100000"/>
                  </a:lnSpc>
                  <a:spcAft>
                    <a:spcPts val="600"/>
                  </a:spcAft>
                  <a:buFont typeface="Wingdings" pitchFamily="2" charset="2"/>
                  <a:buChar char="Ø"/>
                </a:pPr>
                <a:r>
                  <a:rPr lang="en-US" sz="3200" dirty="0">
                    <a:solidFill>
                      <a:srgbClr val="003A00"/>
                    </a:solidFill>
                  </a:rPr>
                  <a:t>Big O notation gives an upper bound of algorithm time relative to input size</a:t>
                </a:r>
              </a:p>
              <a:p>
                <a:pPr>
                  <a:lnSpc>
                    <a:spcPct val="100000"/>
                  </a:lnSpc>
                  <a:spcAft>
                    <a:spcPts val="600"/>
                  </a:spcAft>
                </a:pPr>
                <a:endParaRPr lang="en-US" sz="2400" dirty="0">
                  <a:solidFill>
                    <a:srgbClr val="003A00"/>
                  </a:solidFill>
                </a:endParaRPr>
              </a:p>
              <a:p>
                <a:pPr>
                  <a:lnSpc>
                    <a:spcPct val="100000"/>
                  </a:lnSpc>
                  <a:spcAft>
                    <a:spcPts val="600"/>
                  </a:spcAft>
                </a:pPr>
                <a:endParaRPr lang="en-US" sz="2400" dirty="0">
                  <a:solidFill>
                    <a:srgbClr val="003A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5986" y="2270854"/>
                <a:ext cx="11380027" cy="2238548"/>
              </a:xfrm>
              <a:blipFill>
                <a:blip r:embed="rId4"/>
                <a:stretch>
                  <a:fillRect l="-1116" t="-24294" r="-1897" b="-28814"/>
                </a:stretch>
              </a:blipFill>
            </p:spPr>
            <p:txBody>
              <a:bodyPr/>
              <a:lstStyle/>
              <a:p>
                <a:r>
                  <a:rPr lang="en-US">
                    <a:noFill/>
                  </a:rPr>
                  <a:t> </a:t>
                </a:r>
              </a:p>
            </p:txBody>
          </p:sp>
        </mc:Fallback>
      </mc:AlternateContent>
      <p:sp>
        <p:nvSpPr>
          <p:cNvPr id="2" name="TextBox 1"/>
          <p:cNvSpPr txBox="1"/>
          <p:nvPr/>
        </p:nvSpPr>
        <p:spPr>
          <a:xfrm>
            <a:off x="678166" y="803794"/>
            <a:ext cx="7842982" cy="92333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O-notation ‒ the Math</a:t>
            </a:r>
          </a:p>
        </p:txBody>
      </p:sp>
      <p:grpSp>
        <p:nvGrpSpPr>
          <p:cNvPr id="21" name="g(n)">
            <a:extLst>
              <a:ext uri="{FF2B5EF4-FFF2-40B4-BE49-F238E27FC236}">
                <a16:creationId xmlns:a16="http://schemas.microsoft.com/office/drawing/2014/main" id="{4062DF18-92AC-4FA1-99C8-CBDDA4065476}"/>
              </a:ext>
            </a:extLst>
          </p:cNvPr>
          <p:cNvGrpSpPr/>
          <p:nvPr/>
        </p:nvGrpSpPr>
        <p:grpSpPr>
          <a:xfrm>
            <a:off x="6545696" y="5179133"/>
            <a:ext cx="3404741" cy="933305"/>
            <a:chOff x="4462097" y="4616612"/>
            <a:chExt cx="3404741" cy="933305"/>
          </a:xfrm>
        </p:grpSpPr>
        <p:sp>
          <p:nvSpPr>
            <p:cNvPr id="6" name="Freeform 5"/>
            <p:cNvSpPr/>
            <p:nvPr/>
          </p:nvSpPr>
          <p:spPr>
            <a:xfrm>
              <a:off x="4462097" y="4742613"/>
              <a:ext cx="2563266" cy="807304"/>
            </a:xfrm>
            <a:custGeom>
              <a:avLst/>
              <a:gdLst>
                <a:gd name="connsiteX0" fmla="*/ 0 w 6331226"/>
                <a:gd name="connsiteY0" fmla="*/ 3995530 h 3999539"/>
                <a:gd name="connsiteX1" fmla="*/ 2464905 w 6331226"/>
                <a:gd name="connsiteY1" fmla="*/ 3717234 h 3999539"/>
                <a:gd name="connsiteX2" fmla="*/ 4870174 w 6331226"/>
                <a:gd name="connsiteY2" fmla="*/ 2196548 h 3999539"/>
                <a:gd name="connsiteX3" fmla="*/ 6331226 w 6331226"/>
                <a:gd name="connsiteY3" fmla="*/ 0 h 3999539"/>
                <a:gd name="connsiteX0" fmla="*/ 0 w 5377069"/>
                <a:gd name="connsiteY0" fmla="*/ 2534478 h 2538487"/>
                <a:gd name="connsiteX1" fmla="*/ 2464905 w 5377069"/>
                <a:gd name="connsiteY1" fmla="*/ 2256182 h 2538487"/>
                <a:gd name="connsiteX2" fmla="*/ 4870174 w 5377069"/>
                <a:gd name="connsiteY2" fmla="*/ 735496 h 2538487"/>
                <a:gd name="connsiteX3" fmla="*/ 5377069 w 5377069"/>
                <a:gd name="connsiteY3" fmla="*/ 0 h 2538487"/>
                <a:gd name="connsiteX0" fmla="*/ 0 w 5377069"/>
                <a:gd name="connsiteY0" fmla="*/ 2534478 h 2538487"/>
                <a:gd name="connsiteX1" fmla="*/ 2464905 w 5377069"/>
                <a:gd name="connsiteY1" fmla="*/ 2256182 h 2538487"/>
                <a:gd name="connsiteX2" fmla="*/ 4870174 w 5377069"/>
                <a:gd name="connsiteY2" fmla="*/ 735496 h 2538487"/>
                <a:gd name="connsiteX3" fmla="*/ 5377069 w 5377069"/>
                <a:gd name="connsiteY3" fmla="*/ 0 h 2538487"/>
                <a:gd name="connsiteX0" fmla="*/ 0 w 5377069"/>
                <a:gd name="connsiteY0" fmla="*/ 2534478 h 2538487"/>
                <a:gd name="connsiteX1" fmla="*/ 2464905 w 5377069"/>
                <a:gd name="connsiteY1" fmla="*/ 2256182 h 2538487"/>
                <a:gd name="connsiteX2" fmla="*/ 4870174 w 5377069"/>
                <a:gd name="connsiteY2" fmla="*/ 735496 h 2538487"/>
                <a:gd name="connsiteX3" fmla="*/ 5377069 w 5377069"/>
                <a:gd name="connsiteY3" fmla="*/ 0 h 2538487"/>
                <a:gd name="connsiteX0" fmla="*/ 0 w 5377069"/>
                <a:gd name="connsiteY0" fmla="*/ 2534478 h 2534478"/>
                <a:gd name="connsiteX1" fmla="*/ 4870174 w 5377069"/>
                <a:gd name="connsiteY1" fmla="*/ 735496 h 2534478"/>
                <a:gd name="connsiteX2" fmla="*/ 5377069 w 5377069"/>
                <a:gd name="connsiteY2" fmla="*/ 0 h 2534478"/>
                <a:gd name="connsiteX0" fmla="*/ 0 w 5377069"/>
                <a:gd name="connsiteY0" fmla="*/ 2534478 h 2534478"/>
                <a:gd name="connsiteX1" fmla="*/ 5377069 w 5377069"/>
                <a:gd name="connsiteY1" fmla="*/ 0 h 2534478"/>
                <a:gd name="connsiteX0" fmla="*/ 0 w 5377069"/>
                <a:gd name="connsiteY0" fmla="*/ 2534478 h 2534478"/>
                <a:gd name="connsiteX1" fmla="*/ 5377069 w 5377069"/>
                <a:gd name="connsiteY1" fmla="*/ 0 h 2534478"/>
                <a:gd name="connsiteX0" fmla="*/ 0 w 5377069"/>
                <a:gd name="connsiteY0" fmla="*/ 2534478 h 2534478"/>
                <a:gd name="connsiteX1" fmla="*/ 5377069 w 5377069"/>
                <a:gd name="connsiteY1" fmla="*/ 0 h 2534478"/>
                <a:gd name="connsiteX0" fmla="*/ 0 w 5705060"/>
                <a:gd name="connsiteY0" fmla="*/ 3031435 h 3031435"/>
                <a:gd name="connsiteX1" fmla="*/ 5705060 w 5705060"/>
                <a:gd name="connsiteY1" fmla="*/ 0 h 3031435"/>
                <a:gd name="connsiteX0" fmla="*/ 0 w 5705060"/>
                <a:gd name="connsiteY0" fmla="*/ 3031435 h 3031435"/>
                <a:gd name="connsiteX1" fmla="*/ 5705060 w 5705060"/>
                <a:gd name="connsiteY1" fmla="*/ 0 h 3031435"/>
              </a:gdLst>
              <a:ahLst/>
              <a:cxnLst>
                <a:cxn ang="0">
                  <a:pos x="connsiteX0" y="connsiteY0"/>
                </a:cxn>
                <a:cxn ang="0">
                  <a:pos x="connsiteX1" y="connsiteY1"/>
                </a:cxn>
              </a:cxnLst>
              <a:rect l="l" t="t" r="r" b="b"/>
              <a:pathLst>
                <a:path w="5705060" h="3031435">
                  <a:moveTo>
                    <a:pt x="0" y="3031435"/>
                  </a:moveTo>
                  <a:cubicBezTo>
                    <a:pt x="3124198" y="2544416"/>
                    <a:pt x="4558747" y="1550504"/>
                    <a:pt x="5705060" y="0"/>
                  </a:cubicBezTo>
                </a:path>
              </a:pathLst>
            </a:custGeom>
            <a:noFill/>
            <a:ln w="19050">
              <a:solidFill>
                <a:srgbClr val="080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p:cNvSpPr txBox="1"/>
                <p:nvPr/>
              </p:nvSpPr>
              <p:spPr>
                <a:xfrm>
                  <a:off x="6885024" y="4616612"/>
                  <a:ext cx="981814" cy="400110"/>
                </a:xfrm>
                <a:prstGeom prst="rect">
                  <a:avLst/>
                </a:prstGeom>
                <a:noFill/>
              </p:spPr>
              <p:txBody>
                <a:bodyPr wrap="square" rtlCol="0">
                  <a:spAutoFit/>
                </a:bodyPr>
                <a:lstStyle/>
                <a:p>
                  <a14:m>
                    <m:oMath xmlns:m="http://schemas.openxmlformats.org/officeDocument/2006/math">
                      <m:r>
                        <a:rPr lang="en-US" sz="2000" b="1" i="0">
                          <a:solidFill>
                            <a:srgbClr val="0808FF"/>
                          </a:solidFill>
                          <a:latin typeface="Cambria Math" panose="02040503050406030204" pitchFamily="18" charset="0"/>
                          <a:ea typeface="Cambria Math" panose="02040503050406030204" pitchFamily="18" charset="0"/>
                        </a:rPr>
                        <m:t>𝐠</m:t>
                      </m:r>
                    </m:oMath>
                  </a14:m>
                  <a:r>
                    <a:rPr lang="en-US" sz="2000" b="1" dirty="0">
                      <a:solidFill>
                        <a:srgbClr val="0808FF"/>
                      </a:solidFill>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r>
                        <a:rPr lang="en-US" sz="2000" b="1" i="1" smtClean="0">
                          <a:solidFill>
                            <a:srgbClr val="0808FF"/>
                          </a:solidFill>
                          <a:latin typeface="Cambria Math" panose="02040503050406030204" pitchFamily="18" charset="0"/>
                          <a:ea typeface="Cambria Math" panose="02040503050406030204" pitchFamily="18" charset="0"/>
                        </a:rPr>
                        <m:t>𝒏</m:t>
                      </m:r>
                    </m:oMath>
                  </a14:m>
                  <a:r>
                    <a:rPr lang="en-US" sz="2000" b="1" dirty="0">
                      <a:solidFill>
                        <a:srgbClr val="0808FF"/>
                      </a:solidFill>
                      <a:latin typeface="Cambria Math" panose="02040503050406030204" pitchFamily="18" charset="0"/>
                      <a:ea typeface="Cambria Math" panose="02040503050406030204" pitchFamily="18" charset="0"/>
                      <a:cs typeface="Times New Roman" panose="02020603050405020304" pitchFamily="18" charset="0"/>
                    </a:rPr>
                    <a:t>)</a:t>
                  </a:r>
                  <a:endParaRPr lang="en-US" sz="2000" i="1" dirty="0">
                    <a:solidFill>
                      <a:srgbClr val="0808FF"/>
                    </a:solidFill>
                    <a:latin typeface="Cambria Math" panose="02040503050406030204" pitchFamily="18" charset="0"/>
                    <a:ea typeface="Cambria Math" panose="020405030504060302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6885024" y="4616612"/>
                  <a:ext cx="981814" cy="400110"/>
                </a:xfrm>
                <a:prstGeom prst="rect">
                  <a:avLst/>
                </a:prstGeom>
                <a:blipFill>
                  <a:blip r:embed="rId5"/>
                  <a:stretch>
                    <a:fillRect t="-7576" b="-25758"/>
                  </a:stretch>
                </a:blipFill>
              </p:spPr>
              <p:txBody>
                <a:bodyPr/>
                <a:lstStyle/>
                <a:p>
                  <a:r>
                    <a:rPr lang="en-US">
                      <a:noFill/>
                    </a:rPr>
                    <a:t> </a:t>
                  </a:r>
                </a:p>
              </p:txBody>
            </p:sp>
          </mc:Fallback>
        </mc:AlternateContent>
      </p:grpSp>
      <p:grpSp>
        <p:nvGrpSpPr>
          <p:cNvPr id="23" name="1.2g(n)">
            <a:extLst>
              <a:ext uri="{FF2B5EF4-FFF2-40B4-BE49-F238E27FC236}">
                <a16:creationId xmlns:a16="http://schemas.microsoft.com/office/drawing/2014/main" id="{8668E924-902B-44C9-B596-E34D1E44C9E0}"/>
              </a:ext>
            </a:extLst>
          </p:cNvPr>
          <p:cNvGrpSpPr/>
          <p:nvPr/>
        </p:nvGrpSpPr>
        <p:grpSpPr>
          <a:xfrm>
            <a:off x="6618501" y="4954535"/>
            <a:ext cx="2700377" cy="1216063"/>
            <a:chOff x="4453166" y="4336501"/>
            <a:chExt cx="2700377" cy="1216063"/>
          </a:xfrm>
        </p:grpSpPr>
        <p:sp>
          <p:nvSpPr>
            <p:cNvPr id="7" name="Freeform 6"/>
            <p:cNvSpPr/>
            <p:nvPr/>
          </p:nvSpPr>
          <p:spPr>
            <a:xfrm>
              <a:off x="4453166" y="4480880"/>
              <a:ext cx="2558462" cy="1071684"/>
            </a:xfrm>
            <a:custGeom>
              <a:avLst/>
              <a:gdLst>
                <a:gd name="connsiteX0" fmla="*/ 0 w 5416826"/>
                <a:gd name="connsiteY0" fmla="*/ 4164495 h 4187368"/>
                <a:gd name="connsiteX1" fmla="*/ 1659835 w 5416826"/>
                <a:gd name="connsiteY1" fmla="*/ 3925956 h 4187368"/>
                <a:gd name="connsiteX2" fmla="*/ 4283765 w 5416826"/>
                <a:gd name="connsiteY2" fmla="*/ 2305878 h 4187368"/>
                <a:gd name="connsiteX3" fmla="*/ 5416826 w 5416826"/>
                <a:gd name="connsiteY3" fmla="*/ 0 h 4187368"/>
                <a:gd name="connsiteX4" fmla="*/ 5416826 w 5416826"/>
                <a:gd name="connsiteY4" fmla="*/ 0 h 4187368"/>
                <a:gd name="connsiteX0" fmla="*/ 0 w 5416826"/>
                <a:gd name="connsiteY0" fmla="*/ 4164495 h 4164495"/>
                <a:gd name="connsiteX1" fmla="*/ 1659835 w 5416826"/>
                <a:gd name="connsiteY1" fmla="*/ 3925956 h 4164495"/>
                <a:gd name="connsiteX2" fmla="*/ 4283765 w 5416826"/>
                <a:gd name="connsiteY2" fmla="*/ 2305878 h 4164495"/>
                <a:gd name="connsiteX3" fmla="*/ 5416826 w 5416826"/>
                <a:gd name="connsiteY3" fmla="*/ 0 h 4164495"/>
                <a:gd name="connsiteX4" fmla="*/ 5416826 w 5416826"/>
                <a:gd name="connsiteY4" fmla="*/ 0 h 4164495"/>
                <a:gd name="connsiteX0" fmla="*/ 0 w 5416826"/>
                <a:gd name="connsiteY0" fmla="*/ 4164495 h 4164495"/>
                <a:gd name="connsiteX1" fmla="*/ 1659835 w 5416826"/>
                <a:gd name="connsiteY1" fmla="*/ 3925956 h 4164495"/>
                <a:gd name="connsiteX2" fmla="*/ 4283765 w 5416826"/>
                <a:gd name="connsiteY2" fmla="*/ 2305878 h 4164495"/>
                <a:gd name="connsiteX3" fmla="*/ 5416826 w 5416826"/>
                <a:gd name="connsiteY3" fmla="*/ 0 h 4164495"/>
                <a:gd name="connsiteX4" fmla="*/ 5416826 w 5416826"/>
                <a:gd name="connsiteY4" fmla="*/ 0 h 4164495"/>
                <a:gd name="connsiteX0" fmla="*/ 0 w 5416826"/>
                <a:gd name="connsiteY0" fmla="*/ 4164495 h 4164495"/>
                <a:gd name="connsiteX1" fmla="*/ 1659835 w 5416826"/>
                <a:gd name="connsiteY1" fmla="*/ 3925956 h 4164495"/>
                <a:gd name="connsiteX2" fmla="*/ 4244008 w 5416826"/>
                <a:gd name="connsiteY2" fmla="*/ 2176670 h 4164495"/>
                <a:gd name="connsiteX3" fmla="*/ 5416826 w 5416826"/>
                <a:gd name="connsiteY3" fmla="*/ 0 h 4164495"/>
                <a:gd name="connsiteX4" fmla="*/ 5416826 w 5416826"/>
                <a:gd name="connsiteY4" fmla="*/ 0 h 4164495"/>
                <a:gd name="connsiteX0" fmla="*/ 0 w 5416826"/>
                <a:gd name="connsiteY0" fmla="*/ 4164495 h 4164495"/>
                <a:gd name="connsiteX1" fmla="*/ 1659835 w 5416826"/>
                <a:gd name="connsiteY1" fmla="*/ 3925956 h 4164495"/>
                <a:gd name="connsiteX2" fmla="*/ 4244008 w 5416826"/>
                <a:gd name="connsiteY2" fmla="*/ 2176670 h 4164495"/>
                <a:gd name="connsiteX3" fmla="*/ 5416826 w 5416826"/>
                <a:gd name="connsiteY3" fmla="*/ 0 h 4164495"/>
                <a:gd name="connsiteX4" fmla="*/ 5416826 w 5416826"/>
                <a:gd name="connsiteY4" fmla="*/ 0 h 4164495"/>
                <a:gd name="connsiteX0" fmla="*/ 0 w 5416826"/>
                <a:gd name="connsiteY0" fmla="*/ 4164495 h 4164495"/>
                <a:gd name="connsiteX1" fmla="*/ 4244008 w 5416826"/>
                <a:gd name="connsiteY1" fmla="*/ 2176670 h 4164495"/>
                <a:gd name="connsiteX2" fmla="*/ 5416826 w 5416826"/>
                <a:gd name="connsiteY2" fmla="*/ 0 h 4164495"/>
                <a:gd name="connsiteX3" fmla="*/ 5416826 w 5416826"/>
                <a:gd name="connsiteY3" fmla="*/ 0 h 4164495"/>
                <a:gd name="connsiteX0" fmla="*/ 0 w 5416826"/>
                <a:gd name="connsiteY0" fmla="*/ 4164495 h 4164495"/>
                <a:gd name="connsiteX1" fmla="*/ 4244008 w 5416826"/>
                <a:gd name="connsiteY1" fmla="*/ 2176670 h 4164495"/>
                <a:gd name="connsiteX2" fmla="*/ 5416826 w 5416826"/>
                <a:gd name="connsiteY2" fmla="*/ 0 h 4164495"/>
                <a:gd name="connsiteX3" fmla="*/ 5416826 w 5416826"/>
                <a:gd name="connsiteY3" fmla="*/ 0 h 4164495"/>
                <a:gd name="connsiteX0" fmla="*/ 0 w 5416826"/>
                <a:gd name="connsiteY0" fmla="*/ 4164495 h 4164495"/>
                <a:gd name="connsiteX1" fmla="*/ 4244008 w 5416826"/>
                <a:gd name="connsiteY1" fmla="*/ 2176670 h 4164495"/>
                <a:gd name="connsiteX2" fmla="*/ 5416826 w 5416826"/>
                <a:gd name="connsiteY2" fmla="*/ 0 h 4164495"/>
                <a:gd name="connsiteX3" fmla="*/ 5416826 w 5416826"/>
                <a:gd name="connsiteY3" fmla="*/ 0 h 4164495"/>
                <a:gd name="connsiteX0" fmla="*/ 0 w 5416826"/>
                <a:gd name="connsiteY0" fmla="*/ 4164495 h 4164495"/>
                <a:gd name="connsiteX1" fmla="*/ 5416826 w 5416826"/>
                <a:gd name="connsiteY1" fmla="*/ 0 h 4164495"/>
                <a:gd name="connsiteX2" fmla="*/ 5416826 w 5416826"/>
                <a:gd name="connsiteY2" fmla="*/ 0 h 4164495"/>
                <a:gd name="connsiteX0" fmla="*/ 0 w 5416826"/>
                <a:gd name="connsiteY0" fmla="*/ 4164495 h 4164495"/>
                <a:gd name="connsiteX1" fmla="*/ 5416826 w 5416826"/>
                <a:gd name="connsiteY1" fmla="*/ 0 h 4164495"/>
                <a:gd name="connsiteX2" fmla="*/ 5416826 w 5416826"/>
                <a:gd name="connsiteY2" fmla="*/ 0 h 4164495"/>
                <a:gd name="connsiteX0" fmla="*/ 0 w 5416826"/>
                <a:gd name="connsiteY0" fmla="*/ 4164495 h 4164495"/>
                <a:gd name="connsiteX1" fmla="*/ 5416826 w 5416826"/>
                <a:gd name="connsiteY1" fmla="*/ 0 h 4164495"/>
                <a:gd name="connsiteX2" fmla="*/ 5416826 w 5416826"/>
                <a:gd name="connsiteY2" fmla="*/ 0 h 4164495"/>
                <a:gd name="connsiteX0" fmla="*/ 0 w 5416826"/>
                <a:gd name="connsiteY0" fmla="*/ 4164495 h 4164495"/>
                <a:gd name="connsiteX1" fmla="*/ 5416826 w 5416826"/>
                <a:gd name="connsiteY1" fmla="*/ 0 h 4164495"/>
                <a:gd name="connsiteX2" fmla="*/ 5416826 w 5416826"/>
                <a:gd name="connsiteY2" fmla="*/ 0 h 4164495"/>
                <a:gd name="connsiteX0" fmla="*/ 0 w 5907898"/>
                <a:gd name="connsiteY0" fmla="*/ 4600041 h 4600041"/>
                <a:gd name="connsiteX1" fmla="*/ 5416826 w 5907898"/>
                <a:gd name="connsiteY1" fmla="*/ 435546 h 4600041"/>
                <a:gd name="connsiteX2" fmla="*/ 5724939 w 5907898"/>
                <a:gd name="connsiteY2" fmla="*/ 37981 h 4600041"/>
                <a:gd name="connsiteX0" fmla="*/ 0 w 5724939"/>
                <a:gd name="connsiteY0" fmla="*/ 4562060 h 4562060"/>
                <a:gd name="connsiteX1" fmla="*/ 5724939 w 5724939"/>
                <a:gd name="connsiteY1" fmla="*/ 0 h 4562060"/>
                <a:gd name="connsiteX0" fmla="*/ 0 w 5724939"/>
                <a:gd name="connsiteY0" fmla="*/ 4562060 h 4562060"/>
                <a:gd name="connsiteX1" fmla="*/ 5724939 w 5724939"/>
                <a:gd name="connsiteY1" fmla="*/ 0 h 4562060"/>
                <a:gd name="connsiteX0" fmla="*/ 0 w 5724939"/>
                <a:gd name="connsiteY0" fmla="*/ 4562060 h 4562060"/>
                <a:gd name="connsiteX1" fmla="*/ 5724939 w 5724939"/>
                <a:gd name="connsiteY1" fmla="*/ 0 h 4562060"/>
                <a:gd name="connsiteX0" fmla="*/ 0 w 5724939"/>
                <a:gd name="connsiteY0" fmla="*/ 4562060 h 4562060"/>
                <a:gd name="connsiteX1" fmla="*/ 5724939 w 5724939"/>
                <a:gd name="connsiteY1" fmla="*/ 0 h 4562060"/>
                <a:gd name="connsiteX0" fmla="*/ 0 w 5786081"/>
                <a:gd name="connsiteY0" fmla="*/ 4245227 h 4245227"/>
                <a:gd name="connsiteX1" fmla="*/ 5786081 w 5786081"/>
                <a:gd name="connsiteY1" fmla="*/ 0 h 4245227"/>
                <a:gd name="connsiteX0" fmla="*/ 0 w 5694367"/>
                <a:gd name="connsiteY0" fmla="*/ 4024185 h 4024185"/>
                <a:gd name="connsiteX1" fmla="*/ 5694367 w 5694367"/>
                <a:gd name="connsiteY1" fmla="*/ 0 h 4024185"/>
                <a:gd name="connsiteX0" fmla="*/ 0 w 5694367"/>
                <a:gd name="connsiteY0" fmla="*/ 4024185 h 4024185"/>
                <a:gd name="connsiteX1" fmla="*/ 5694367 w 5694367"/>
                <a:gd name="connsiteY1" fmla="*/ 0 h 4024185"/>
              </a:gdLst>
              <a:ahLst/>
              <a:cxnLst>
                <a:cxn ang="0">
                  <a:pos x="connsiteX0" y="connsiteY0"/>
                </a:cxn>
                <a:cxn ang="0">
                  <a:pos x="connsiteX1" y="connsiteY1"/>
                </a:cxn>
              </a:cxnLst>
              <a:rect l="l" t="t" r="r" b="b"/>
              <a:pathLst>
                <a:path w="5694367" h="4024185">
                  <a:moveTo>
                    <a:pt x="0" y="4024185"/>
                  </a:moveTo>
                  <a:cubicBezTo>
                    <a:pt x="3329608" y="2930881"/>
                    <a:pt x="4698789" y="2344974"/>
                    <a:pt x="5694367" y="0"/>
                  </a:cubicBezTo>
                </a:path>
              </a:pathLst>
            </a:cu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TextBox 11"/>
                <p:cNvSpPr txBox="1"/>
                <p:nvPr/>
              </p:nvSpPr>
              <p:spPr>
                <a:xfrm>
                  <a:off x="5872682" y="4336501"/>
                  <a:ext cx="1280861" cy="400110"/>
                </a:xfrm>
                <a:prstGeom prst="rect">
                  <a:avLst/>
                </a:prstGeom>
                <a:noFill/>
              </p:spPr>
              <p:txBody>
                <a:bodyPr wrap="square" rtlCol="0">
                  <a:spAutoFit/>
                </a:bodyPr>
                <a:lstStyle/>
                <a:p>
                  <a:r>
                    <a:rPr lang="en-US" b="1" dirty="0">
                      <a:solidFill>
                        <a:schemeClr val="accent6">
                          <a:lumMod val="75000"/>
                        </a:schemeClr>
                      </a:solidFill>
                      <a:latin typeface="Cambria Math" panose="02040503050406030204" pitchFamily="18" charset="0"/>
                      <a:ea typeface="Cambria Math" panose="02040503050406030204" pitchFamily="18" charset="0"/>
                    </a:rPr>
                    <a:t>1</a:t>
                  </a:r>
                  <a:r>
                    <a:rPr lang="en-US" b="1" dirty="0">
                      <a:solidFill>
                        <a:schemeClr val="accent6">
                          <a:lumMod val="75000"/>
                        </a:schemeClr>
                      </a:solidFill>
                      <a:ea typeface="Cambria Math" panose="02040503050406030204" pitchFamily="18" charset="0"/>
                    </a:rPr>
                    <a:t>.</a:t>
                  </a:r>
                  <a:r>
                    <a:rPr lang="en-US" b="1" dirty="0">
                      <a:solidFill>
                        <a:schemeClr val="accent6">
                          <a:lumMod val="75000"/>
                        </a:schemeClr>
                      </a:solidFill>
                      <a:latin typeface="Cambria Math" panose="02040503050406030204" pitchFamily="18" charset="0"/>
                      <a:ea typeface="Cambria Math" panose="02040503050406030204" pitchFamily="18" charset="0"/>
                    </a:rPr>
                    <a:t>2</a:t>
                  </a:r>
                  <a:r>
                    <a:rPr lang="en-US" sz="800" b="1" dirty="0">
                      <a:solidFill>
                        <a:schemeClr val="accent6">
                          <a:lumMod val="75000"/>
                        </a:schemeClr>
                      </a:solidFill>
                      <a:latin typeface="Cambria Math" panose="02040503050406030204" pitchFamily="18" charset="0"/>
                      <a:ea typeface="Cambria Math" panose="02040503050406030204" pitchFamily="18" charset="0"/>
                    </a:rPr>
                    <a:t> </a:t>
                  </a:r>
                  <a:r>
                    <a:rPr lang="en-US" b="1" dirty="0">
                      <a:solidFill>
                        <a:schemeClr val="accent6">
                          <a:lumMod val="75000"/>
                        </a:schemeClr>
                      </a:solidFill>
                      <a:latin typeface="Cambria Math" panose="02040503050406030204" pitchFamily="18" charset="0"/>
                      <a:ea typeface="Cambria Math" panose="02040503050406030204" pitchFamily="18" charset="0"/>
                    </a:rPr>
                    <a:t>·</a:t>
                  </a:r>
                  <a14:m>
                    <m:oMath xmlns:m="http://schemas.openxmlformats.org/officeDocument/2006/math">
                      <m:r>
                        <a:rPr lang="en-US" sz="2000" b="1" i="0">
                          <a:solidFill>
                            <a:schemeClr val="accent6">
                              <a:lumMod val="75000"/>
                            </a:schemeClr>
                          </a:solidFill>
                          <a:latin typeface="Cambria Math" panose="02040503050406030204" pitchFamily="18" charset="0"/>
                          <a:ea typeface="Cambria Math" panose="02040503050406030204" pitchFamily="18" charset="0"/>
                        </a:rPr>
                        <m:t>𝐠</m:t>
                      </m:r>
                    </m:oMath>
                  </a14:m>
                  <a:r>
                    <a:rPr lang="en-US" sz="2000" b="1" dirty="0">
                      <a:solidFill>
                        <a:schemeClr val="accent6">
                          <a:lumMod val="75000"/>
                        </a:schemeClr>
                      </a:solidFill>
                      <a:latin typeface="Cambria Math" panose="02040503050406030204" pitchFamily="18" charset="0"/>
                      <a:ea typeface="Cambria Math" panose="02040503050406030204" pitchFamily="18" charset="0"/>
                    </a:rPr>
                    <a:t>(</a:t>
                  </a:r>
                  <a14:m>
                    <m:oMath xmlns:m="http://schemas.openxmlformats.org/officeDocument/2006/math">
                      <m:r>
                        <a:rPr lang="en-US" sz="2000" b="1" i="1" smtClean="0">
                          <a:solidFill>
                            <a:srgbClr val="548235"/>
                          </a:solidFill>
                          <a:latin typeface="Cambria Math" panose="02040503050406030204" pitchFamily="18" charset="0"/>
                          <a:ea typeface="Cambria Math" panose="02040503050406030204" pitchFamily="18" charset="0"/>
                        </a:rPr>
                        <m:t>𝒏</m:t>
                      </m:r>
                    </m:oMath>
                  </a14:m>
                  <a:r>
                    <a:rPr lang="en-US" sz="2000" b="1" dirty="0">
                      <a:solidFill>
                        <a:schemeClr val="accent6">
                          <a:lumMod val="75000"/>
                        </a:schemeClr>
                      </a:solidFill>
                      <a:latin typeface="Cambria Math" panose="02040503050406030204" pitchFamily="18" charset="0"/>
                      <a:ea typeface="Cambria Math" panose="02040503050406030204" pitchFamily="18" charset="0"/>
                    </a:rPr>
                    <a:t>)</a:t>
                  </a:r>
                  <a:endParaRPr lang="en-US" sz="2000" b="1" i="1" dirty="0">
                    <a:solidFill>
                      <a:schemeClr val="accent6">
                        <a:lumMod val="75000"/>
                      </a:schemeClr>
                    </a:solidFill>
                    <a:latin typeface="Cambria Math" panose="02040503050406030204" pitchFamily="18" charset="0"/>
                    <a:ea typeface="Cambria Math" panose="020405030504060302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5872682" y="4336501"/>
                  <a:ext cx="1280861" cy="400110"/>
                </a:xfrm>
                <a:prstGeom prst="rect">
                  <a:avLst/>
                </a:prstGeom>
                <a:blipFill>
                  <a:blip r:embed="rId6"/>
                  <a:stretch>
                    <a:fillRect l="-3810" t="-9091" b="-24242"/>
                  </a:stretch>
                </a:blipFill>
              </p:spPr>
              <p:txBody>
                <a:bodyPr/>
                <a:lstStyle/>
                <a:p>
                  <a:r>
                    <a:rPr lang="en-US">
                      <a:noFill/>
                    </a:rPr>
                    <a:t> </a:t>
                  </a:r>
                </a:p>
              </p:txBody>
            </p:sp>
          </mc:Fallback>
        </mc:AlternateContent>
      </p:grpSp>
      <p:grpSp>
        <p:nvGrpSpPr>
          <p:cNvPr id="24" name="axes">
            <a:extLst>
              <a:ext uri="{FF2B5EF4-FFF2-40B4-BE49-F238E27FC236}">
                <a16:creationId xmlns:a16="http://schemas.microsoft.com/office/drawing/2014/main" id="{07D79DF6-64A4-4114-B89A-CA1947F7FA6E}"/>
              </a:ext>
            </a:extLst>
          </p:cNvPr>
          <p:cNvGrpSpPr/>
          <p:nvPr/>
        </p:nvGrpSpPr>
        <p:grpSpPr>
          <a:xfrm>
            <a:off x="6541231" y="4986034"/>
            <a:ext cx="2651213" cy="1557348"/>
            <a:chOff x="4453166" y="4313816"/>
            <a:chExt cx="2651213" cy="1557348"/>
          </a:xfrm>
        </p:grpSpPr>
        <p:cxnSp>
          <p:nvCxnSpPr>
            <p:cNvPr id="9" name="Straight Connector 8"/>
            <p:cNvCxnSpPr>
              <a:cxnSpLocks/>
            </p:cNvCxnSpPr>
            <p:nvPr/>
          </p:nvCxnSpPr>
          <p:spPr>
            <a:xfrm>
              <a:off x="4453166" y="5542070"/>
              <a:ext cx="2630252"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4453166" y="4313816"/>
              <a:ext cx="0" cy="1238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p:cNvSpPr txBox="1"/>
                <p:nvPr/>
              </p:nvSpPr>
              <p:spPr>
                <a:xfrm>
                  <a:off x="6011075" y="5478171"/>
                  <a:ext cx="1093304" cy="392993"/>
                </a:xfrm>
                <a:prstGeom prst="rect">
                  <a:avLst/>
                </a:prstGeom>
                <a:noFill/>
              </p:spPr>
              <p:txBody>
                <a:bodyPr wrap="square" rtlCol="0">
                  <a:spAutoFit/>
                </a:bodyPr>
                <a:lstStyle/>
                <a:p>
                  <a14:m>
                    <m:oMath xmlns:m="http://schemas.openxmlformats.org/officeDocument/2006/math">
                      <m:d>
                        <m:dPr>
                          <m:begChr m:val=""/>
                          <m:endChr m:val=""/>
                          <m:ctrlPr>
                            <a:rPr lang="en-US" sz="2000" i="1">
                              <a:solidFill>
                                <a:srgbClr val="003A00"/>
                              </a:solidFill>
                              <a:latin typeface="Cambria Math" panose="02040503050406030204" pitchFamily="18" charset="0"/>
                              <a:cs typeface="Times New Roman" panose="02020603050405020304" pitchFamily="18" charset="0"/>
                            </a:rPr>
                          </m:ctrlPr>
                        </m:dPr>
                        <m:e>
                          <m:r>
                            <a:rPr lang="en-US" sz="2000" i="1" smtClean="0">
                              <a:solidFill>
                                <a:schemeClr val="tx1"/>
                              </a:solidFill>
                              <a:latin typeface="Cambria Math" panose="02040503050406030204" pitchFamily="18" charset="0"/>
                              <a:cs typeface="Times New Roman" panose="02020603050405020304" pitchFamily="18" charset="0"/>
                            </a:rPr>
                            <m:t>𝑛</m:t>
                          </m:r>
                        </m:e>
                      </m:d>
                    </m:oMath>
                  </a14:m>
                  <a:r>
                    <a:rPr lang="en-US" dirty="0">
                      <a:latin typeface="Times New Roman" panose="02020603050405020304" pitchFamily="18" charset="0"/>
                    </a:rPr>
                    <a:t>-axis</a:t>
                  </a:r>
                </a:p>
              </p:txBody>
            </p:sp>
          </mc:Choice>
          <mc:Fallback xmlns="">
            <p:sp>
              <p:nvSpPr>
                <p:cNvPr id="16" name="TextBox 15"/>
                <p:cNvSpPr txBox="1">
                  <a:spLocks noRot="1" noChangeAspect="1" noMove="1" noResize="1" noEditPoints="1" noAdjustHandles="1" noChangeArrowheads="1" noChangeShapeType="1" noTextEdit="1"/>
                </p:cNvSpPr>
                <p:nvPr/>
              </p:nvSpPr>
              <p:spPr>
                <a:xfrm>
                  <a:off x="6011075" y="5478171"/>
                  <a:ext cx="1093304" cy="392993"/>
                </a:xfrm>
                <a:prstGeom prst="rect">
                  <a:avLst/>
                </a:prstGeom>
                <a:blipFill>
                  <a:blip r:embed="rId7"/>
                  <a:stretch>
                    <a:fillRect t="-3125" b="-25000"/>
                  </a:stretch>
                </a:blipFill>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9A59EA87-3CF2-456E-9358-7D849B2E1720}"/>
              </a:ext>
            </a:extLst>
          </p:cNvPr>
          <p:cNvGrpSpPr/>
          <p:nvPr/>
        </p:nvGrpSpPr>
        <p:grpSpPr>
          <a:xfrm>
            <a:off x="7520186" y="5556458"/>
            <a:ext cx="448504" cy="968468"/>
            <a:chOff x="135171" y="812438"/>
            <a:chExt cx="448504" cy="968468"/>
          </a:xfrm>
        </p:grpSpPr>
        <p:cxnSp>
          <p:nvCxnSpPr>
            <p:cNvPr id="27" name="Straight Connector 26">
              <a:extLst>
                <a:ext uri="{FF2B5EF4-FFF2-40B4-BE49-F238E27FC236}">
                  <a16:creationId xmlns:a16="http://schemas.microsoft.com/office/drawing/2014/main" id="{B911DF32-C24E-4032-8343-851F439EA9DB}"/>
                </a:ext>
              </a:extLst>
            </p:cNvPr>
            <p:cNvCxnSpPr/>
            <p:nvPr/>
          </p:nvCxnSpPr>
          <p:spPr>
            <a:xfrm>
              <a:off x="359423" y="812438"/>
              <a:ext cx="0" cy="65168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5A86D4B-D6EA-4E16-9359-A1EA87E8D677}"/>
                </a:ext>
              </a:extLst>
            </p:cNvPr>
            <p:cNvSpPr txBox="1"/>
            <p:nvPr/>
          </p:nvSpPr>
          <p:spPr>
            <a:xfrm>
              <a:off x="135171" y="1411574"/>
              <a:ext cx="448504" cy="369332"/>
            </a:xfrm>
            <a:prstGeom prst="rect">
              <a:avLst/>
            </a:prstGeom>
            <a:noFill/>
          </p:spPr>
          <p:txBody>
            <a:bodyPr wrap="square" rtlCol="0">
              <a:spAutoFit/>
            </a:bodyPr>
            <a:lstStyle/>
            <a:p>
              <a:pPr algn="ctr"/>
              <a:r>
                <a:rPr lang="en-US" dirty="0">
                  <a:latin typeface="Cambria Math" panose="02040503050406030204" pitchFamily="18" charset="0"/>
                  <a:ea typeface="Cambria Math" panose="02040503050406030204" pitchFamily="18" charset="0"/>
                </a:rPr>
                <a:t>N</a:t>
              </a:r>
            </a:p>
          </p:txBody>
        </p:sp>
      </p:grpSp>
    </p:spTree>
    <p:extLst>
      <p:ext uri="{BB962C8B-B14F-4D97-AF65-F5344CB8AC3E}">
        <p14:creationId xmlns:p14="http://schemas.microsoft.com/office/powerpoint/2010/main" val="3121047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490" y="2018051"/>
            <a:ext cx="11462922" cy="4472396"/>
          </a:xfrm>
        </p:spPr>
        <p:txBody>
          <a:bodyPr anchor="t" anchorCtr="0">
            <a:noAutofit/>
          </a:bodyPr>
          <a:lstStyle/>
          <a:p>
            <a:pPr marL="0" indent="0">
              <a:lnSpc>
                <a:spcPct val="95000"/>
              </a:lnSpc>
              <a:spcAft>
                <a:spcPts val="600"/>
              </a:spcAft>
              <a:buNone/>
            </a:pPr>
            <a:r>
              <a:rPr lang="en-US" sz="3200" dirty="0">
                <a:solidFill>
                  <a:schemeClr val="tx1"/>
                </a:solidFill>
              </a:rPr>
              <a:t>If you are going shopping for: the latest iPhone and an orange</a:t>
            </a:r>
          </a:p>
          <a:p>
            <a:pPr marL="0" indent="0">
              <a:lnSpc>
                <a:spcPct val="95000"/>
              </a:lnSpc>
              <a:spcAft>
                <a:spcPts val="600"/>
              </a:spcAft>
              <a:buNone/>
            </a:pPr>
            <a:endParaRPr lang="en-US" sz="3200" dirty="0">
              <a:solidFill>
                <a:schemeClr val="tx1"/>
              </a:solidFill>
            </a:endParaRPr>
          </a:p>
          <a:p>
            <a:pPr marL="0" indent="0">
              <a:lnSpc>
                <a:spcPct val="95000"/>
              </a:lnSpc>
              <a:spcAft>
                <a:spcPts val="600"/>
              </a:spcAft>
              <a:buNone/>
            </a:pPr>
            <a:r>
              <a:rPr lang="en-US" sz="3200" dirty="0">
                <a:solidFill>
                  <a:schemeClr val="tx1"/>
                </a:solidFill>
              </a:rPr>
              <a:t>You will probably just say </a:t>
            </a:r>
            <a:r>
              <a:rPr lang="en-US" sz="3200" dirty="0">
                <a:solidFill>
                  <a:srgbClr val="0070C0"/>
                </a:solidFill>
              </a:rPr>
              <a:t>“I’m going to buy an iPhone”.</a:t>
            </a:r>
          </a:p>
          <a:p>
            <a:pPr marL="0" indent="0">
              <a:lnSpc>
                <a:spcPct val="95000"/>
              </a:lnSpc>
              <a:spcAft>
                <a:spcPts val="600"/>
              </a:spcAft>
              <a:buNone/>
            </a:pPr>
            <a:r>
              <a:rPr lang="en-US" sz="3200" dirty="0">
                <a:solidFill>
                  <a:schemeClr val="tx1"/>
                </a:solidFill>
              </a:rPr>
              <a:t>The price of the iPhone plays the biggest role in your overall bill.</a:t>
            </a:r>
          </a:p>
          <a:p>
            <a:pPr marL="0" indent="0">
              <a:lnSpc>
                <a:spcPct val="95000"/>
              </a:lnSpc>
              <a:spcAft>
                <a:spcPts val="600"/>
              </a:spcAft>
              <a:buNone/>
            </a:pPr>
            <a:endParaRPr lang="en-US" sz="3200" dirty="0">
              <a:solidFill>
                <a:schemeClr val="tx1"/>
              </a:solidFill>
            </a:endParaRPr>
          </a:p>
          <a:p>
            <a:pPr marL="0" indent="0">
              <a:lnSpc>
                <a:spcPct val="95000"/>
              </a:lnSpc>
              <a:spcAft>
                <a:spcPts val="600"/>
              </a:spcAft>
              <a:buNone/>
            </a:pPr>
            <a:r>
              <a:rPr lang="en-US" sz="3200" dirty="0">
                <a:solidFill>
                  <a:schemeClr val="tx1"/>
                </a:solidFill>
              </a:rPr>
              <a:t>With time complexity, if  the complexity is </a:t>
            </a:r>
            <a:r>
              <a:rPr lang="en-US" sz="3200" dirty="0">
                <a:solidFill>
                  <a:srgbClr val="0070C0"/>
                </a:solidFill>
              </a:rPr>
              <a:t>3n + 2</a:t>
            </a:r>
          </a:p>
          <a:p>
            <a:pPr marL="0" indent="0">
              <a:lnSpc>
                <a:spcPct val="95000"/>
              </a:lnSpc>
              <a:spcAft>
                <a:spcPts val="600"/>
              </a:spcAft>
              <a:buNone/>
            </a:pPr>
            <a:r>
              <a:rPr lang="en-US" sz="3200" dirty="0">
                <a:solidFill>
                  <a:schemeClr val="tx1"/>
                </a:solidFill>
              </a:rPr>
              <a:t>we can abbreviate to just</a:t>
            </a:r>
            <a:r>
              <a:rPr lang="en-US" sz="3200" dirty="0">
                <a:solidFill>
                  <a:srgbClr val="0070C0"/>
                </a:solidFill>
              </a:rPr>
              <a:t> O(3n) </a:t>
            </a:r>
            <a:r>
              <a:rPr lang="en-US" sz="3200" dirty="0">
                <a:solidFill>
                  <a:schemeClr val="tx1"/>
                </a:solidFill>
              </a:rPr>
              <a:t>and just </a:t>
            </a:r>
            <a:r>
              <a:rPr lang="en-US" sz="3200" dirty="0">
                <a:solidFill>
                  <a:srgbClr val="0070C0"/>
                </a:solidFill>
              </a:rPr>
              <a:t>O(n)</a:t>
            </a:r>
          </a:p>
          <a:p>
            <a:pPr marL="0" indent="0">
              <a:lnSpc>
                <a:spcPct val="95000"/>
              </a:lnSpc>
              <a:spcAft>
                <a:spcPts val="600"/>
              </a:spcAft>
              <a:buNone/>
            </a:pPr>
            <a:endParaRPr lang="en-US" sz="3200" dirty="0"/>
          </a:p>
        </p:txBody>
      </p:sp>
      <p:sp>
        <p:nvSpPr>
          <p:cNvPr id="2" name="TextBox 1"/>
          <p:cNvSpPr txBox="1"/>
          <p:nvPr/>
        </p:nvSpPr>
        <p:spPr>
          <a:xfrm>
            <a:off x="845854" y="782272"/>
            <a:ext cx="10500292" cy="923330"/>
          </a:xfrm>
          <a:prstGeom prst="rect">
            <a:avLst/>
          </a:prstGeom>
          <a:noFill/>
        </p:spPr>
        <p:txBody>
          <a:bodyPr wrap="square" rtlCol="0">
            <a:spAutoFit/>
          </a:bodyPr>
          <a:lstStyle/>
          <a:p>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Rate of Growth</a:t>
            </a:r>
          </a:p>
        </p:txBody>
      </p:sp>
    </p:spTree>
    <p:extLst>
      <p:ext uri="{BB962C8B-B14F-4D97-AF65-F5344CB8AC3E}">
        <p14:creationId xmlns:p14="http://schemas.microsoft.com/office/powerpoint/2010/main" val="71427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528F-C1D6-6A71-72B2-AB340AFCD395}"/>
              </a:ext>
            </a:extLst>
          </p:cNvPr>
          <p:cNvSpPr>
            <a:spLocks noGrp="1"/>
          </p:cNvSpPr>
          <p:nvPr>
            <p:ph type="title"/>
          </p:nvPr>
        </p:nvSpPr>
        <p:spPr/>
        <p:txBody>
          <a:bodyPr>
            <a:normAutofit/>
          </a:bodyPr>
          <a:lstStyle/>
          <a:p>
            <a:r>
              <a:rPr lang="en-US" sz="6000" dirty="0"/>
              <a:t>Constant Time</a:t>
            </a:r>
          </a:p>
        </p:txBody>
      </p:sp>
      <p:sp>
        <p:nvSpPr>
          <p:cNvPr id="3" name="Content Placeholder 2">
            <a:extLst>
              <a:ext uri="{FF2B5EF4-FFF2-40B4-BE49-F238E27FC236}">
                <a16:creationId xmlns:a16="http://schemas.microsoft.com/office/drawing/2014/main" id="{2805434B-7F5B-280B-2749-07313FA12C15}"/>
              </a:ext>
            </a:extLst>
          </p:cNvPr>
          <p:cNvSpPr>
            <a:spLocks noGrp="1"/>
          </p:cNvSpPr>
          <p:nvPr>
            <p:ph idx="1"/>
          </p:nvPr>
        </p:nvSpPr>
        <p:spPr>
          <a:xfrm>
            <a:off x="422931" y="2022234"/>
            <a:ext cx="11029615" cy="3678303"/>
          </a:xfrm>
        </p:spPr>
        <p:txBody>
          <a:bodyPr anchor="t" anchorCtr="0">
            <a:normAutofit/>
          </a:bodyPr>
          <a:lstStyle/>
          <a:p>
            <a:pPr marL="0" indent="0">
              <a:buNone/>
            </a:pPr>
            <a:r>
              <a:rPr lang="en-US" sz="3600" dirty="0"/>
              <a:t>Looking up </a:t>
            </a:r>
            <a:r>
              <a:rPr lang="en-US" sz="3600" dirty="0" smtClean="0"/>
              <a:t>a value in an </a:t>
            </a:r>
            <a:r>
              <a:rPr lang="en-US" sz="3600" dirty="0"/>
              <a:t>array only takes 1 line of code:</a:t>
            </a:r>
          </a:p>
          <a:p>
            <a:pPr marL="0" indent="0">
              <a:buNone/>
            </a:pPr>
            <a:r>
              <a:rPr lang="en-US" sz="3600" dirty="0"/>
              <a:t>      </a:t>
            </a:r>
            <a:r>
              <a:rPr lang="en-US" sz="3600" dirty="0">
                <a:solidFill>
                  <a:srgbClr val="00B0F0"/>
                </a:solidFill>
              </a:rPr>
              <a:t>x[</a:t>
            </a:r>
            <a:r>
              <a:rPr lang="en-US" sz="3600" dirty="0" err="1">
                <a:solidFill>
                  <a:srgbClr val="00B0F0"/>
                </a:solidFill>
              </a:rPr>
              <a:t>i</a:t>
            </a:r>
            <a:r>
              <a:rPr lang="en-US" sz="3600" dirty="0">
                <a:solidFill>
                  <a:srgbClr val="00B0F0"/>
                </a:solidFill>
              </a:rPr>
              <a:t>]                </a:t>
            </a:r>
          </a:p>
          <a:p>
            <a:pPr marL="0" indent="0">
              <a:buNone/>
            </a:pPr>
            <a:endParaRPr lang="en-US" sz="3600" dirty="0"/>
          </a:p>
          <a:p>
            <a:pPr marL="0" indent="0">
              <a:buNone/>
            </a:pPr>
            <a:r>
              <a:rPr lang="en-US" sz="3600" dirty="0"/>
              <a:t>We say this is constant time or : </a:t>
            </a:r>
            <a:r>
              <a:rPr lang="en-US" sz="3600" b="1" dirty="0">
                <a:solidFill>
                  <a:srgbClr val="0070C0"/>
                </a:solidFill>
              </a:rPr>
              <a:t>O(1)</a:t>
            </a:r>
          </a:p>
          <a:p>
            <a:endParaRPr lang="en-US" sz="2800" dirty="0"/>
          </a:p>
        </p:txBody>
      </p:sp>
      <p:sp>
        <p:nvSpPr>
          <p:cNvPr id="4" name="Content Placeholder 2">
            <a:extLst>
              <a:ext uri="{FF2B5EF4-FFF2-40B4-BE49-F238E27FC236}">
                <a16:creationId xmlns:a16="http://schemas.microsoft.com/office/drawing/2014/main" id="{9A3CA479-DE8B-41E0-6768-332CE453D17C}"/>
              </a:ext>
            </a:extLst>
          </p:cNvPr>
          <p:cNvSpPr txBox="1">
            <a:spLocks/>
          </p:cNvSpPr>
          <p:nvPr/>
        </p:nvSpPr>
        <p:spPr>
          <a:xfrm>
            <a:off x="422931" y="4849052"/>
            <a:ext cx="10290161" cy="1702969"/>
          </a:xfrm>
          <a:prstGeom prst="rect">
            <a:avLst/>
          </a:prstGeom>
        </p:spPr>
        <p:txBody>
          <a:bodyPr vert="horz" lIns="91440" tIns="45720" rIns="91440" bIns="45720" rtlCol="0" anchor="t" anchorCtr="0">
            <a:normAutofit fontScale="850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b="0" i="0" kern="1200">
                <a:solidFill>
                  <a:schemeClr val="tx2"/>
                </a:solidFill>
                <a:latin typeface="Times New Roman" panose="02020603050405020304" pitchFamily="18" charset="0"/>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b="0" i="0" kern="1200">
                <a:solidFill>
                  <a:schemeClr val="tx2"/>
                </a:solidFill>
                <a:latin typeface="Times New Roman" panose="02020603050405020304" pitchFamily="18" charset="0"/>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b="0" i="0" kern="1200">
                <a:solidFill>
                  <a:schemeClr val="tx2"/>
                </a:solidFill>
                <a:latin typeface="Times New Roman" panose="02020603050405020304" pitchFamily="18" charset="0"/>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b="0" i="0" kern="1200">
                <a:solidFill>
                  <a:schemeClr val="tx2"/>
                </a:solidFill>
                <a:latin typeface="Times New Roman" panose="02020603050405020304" pitchFamily="18" charset="0"/>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endParaRPr lang="en-US" sz="3600" dirty="0"/>
          </a:p>
          <a:p>
            <a:pPr marL="0" indent="0">
              <a:buFont typeface="Wingdings 2" panose="05020102010507070707" pitchFamily="18" charset="2"/>
              <a:buNone/>
            </a:pPr>
            <a:r>
              <a:rPr lang="en-US" sz="3600" dirty="0"/>
              <a:t>Performing a math equations not related to size of input:</a:t>
            </a:r>
          </a:p>
          <a:p>
            <a:pPr marL="0" indent="0">
              <a:buFont typeface="Wingdings 2" panose="05020102010507070707" pitchFamily="18" charset="2"/>
              <a:buNone/>
            </a:pPr>
            <a:r>
              <a:rPr lang="en-US" sz="3600" dirty="0">
                <a:solidFill>
                  <a:srgbClr val="00B0F0"/>
                </a:solidFill>
              </a:rPr>
              <a:t>a=1+2+3*5;        </a:t>
            </a:r>
            <a:r>
              <a:rPr lang="en-US" sz="3600" dirty="0"/>
              <a:t>//this is constant time O(1)</a:t>
            </a:r>
          </a:p>
          <a:p>
            <a:endParaRPr lang="en-US" sz="2800" dirty="0"/>
          </a:p>
        </p:txBody>
      </p:sp>
    </p:spTree>
    <p:extLst>
      <p:ext uri="{BB962C8B-B14F-4D97-AF65-F5344CB8AC3E}">
        <p14:creationId xmlns:p14="http://schemas.microsoft.com/office/powerpoint/2010/main" val="3429371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528F-C1D6-6A71-72B2-AB340AFCD395}"/>
              </a:ext>
            </a:extLst>
          </p:cNvPr>
          <p:cNvSpPr>
            <a:spLocks noGrp="1"/>
          </p:cNvSpPr>
          <p:nvPr>
            <p:ph type="title"/>
          </p:nvPr>
        </p:nvSpPr>
        <p:spPr/>
        <p:txBody>
          <a:bodyPr>
            <a:normAutofit/>
          </a:bodyPr>
          <a:lstStyle/>
          <a:p>
            <a:r>
              <a:rPr lang="en-US" sz="6000" dirty="0"/>
              <a:t>LINEAR Time</a:t>
            </a:r>
          </a:p>
        </p:txBody>
      </p:sp>
      <p:sp>
        <p:nvSpPr>
          <p:cNvPr id="3" name="Content Placeholder 2">
            <a:extLst>
              <a:ext uri="{FF2B5EF4-FFF2-40B4-BE49-F238E27FC236}">
                <a16:creationId xmlns:a16="http://schemas.microsoft.com/office/drawing/2014/main" id="{2805434B-7F5B-280B-2749-07313FA12C15}"/>
              </a:ext>
            </a:extLst>
          </p:cNvPr>
          <p:cNvSpPr>
            <a:spLocks noGrp="1"/>
          </p:cNvSpPr>
          <p:nvPr>
            <p:ph idx="1"/>
          </p:nvPr>
        </p:nvSpPr>
        <p:spPr/>
        <p:txBody>
          <a:bodyPr anchor="t" anchorCtr="0">
            <a:normAutofit/>
          </a:bodyPr>
          <a:lstStyle/>
          <a:p>
            <a:pPr marL="0" indent="0">
              <a:buNone/>
            </a:pPr>
            <a:r>
              <a:rPr lang="en-US" sz="3600" dirty="0"/>
              <a:t>//We say this is    </a:t>
            </a:r>
            <a:r>
              <a:rPr lang="en-US" sz="3600" b="1" dirty="0">
                <a:solidFill>
                  <a:srgbClr val="00B0F0"/>
                </a:solidFill>
              </a:rPr>
              <a:t>O(n)</a:t>
            </a:r>
          </a:p>
          <a:p>
            <a:pPr marL="0" indent="0">
              <a:buNone/>
            </a:pPr>
            <a:r>
              <a:rPr lang="en-US" sz="3600" dirty="0"/>
              <a:t>for (</a:t>
            </a:r>
            <a:r>
              <a:rPr lang="en-US" sz="3600" dirty="0" err="1"/>
              <a:t>i</a:t>
            </a:r>
            <a:r>
              <a:rPr lang="en-US" sz="3600" dirty="0"/>
              <a:t>=0; </a:t>
            </a:r>
            <a:r>
              <a:rPr lang="en-US" sz="3600" dirty="0" err="1"/>
              <a:t>i</a:t>
            </a:r>
            <a:r>
              <a:rPr lang="en-US" sz="3600" dirty="0"/>
              <a:t>&lt; n; </a:t>
            </a:r>
            <a:r>
              <a:rPr lang="en-US" sz="3600" dirty="0" err="1"/>
              <a:t>i</a:t>
            </a:r>
            <a:r>
              <a:rPr lang="en-US" sz="3600" dirty="0"/>
              <a:t>++){</a:t>
            </a:r>
          </a:p>
          <a:p>
            <a:pPr marL="0" indent="0">
              <a:buNone/>
            </a:pPr>
            <a:r>
              <a:rPr lang="en-US" sz="3600" dirty="0"/>
              <a:t>    //your O(1)  code here</a:t>
            </a:r>
          </a:p>
          <a:p>
            <a:pPr marL="0" indent="0">
              <a:buNone/>
            </a:pPr>
            <a:r>
              <a:rPr lang="en-US" sz="3600" dirty="0"/>
              <a:t>}</a:t>
            </a:r>
            <a:endParaRPr lang="en-US" sz="2800" dirty="0"/>
          </a:p>
          <a:p>
            <a:endParaRPr lang="en-US" sz="2800" dirty="0"/>
          </a:p>
        </p:txBody>
      </p:sp>
    </p:spTree>
    <p:extLst>
      <p:ext uri="{BB962C8B-B14F-4D97-AF65-F5344CB8AC3E}">
        <p14:creationId xmlns:p14="http://schemas.microsoft.com/office/powerpoint/2010/main" val="3041000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528F-C1D6-6A71-72B2-AB340AFCD395}"/>
              </a:ext>
            </a:extLst>
          </p:cNvPr>
          <p:cNvSpPr>
            <a:spLocks noGrp="1"/>
          </p:cNvSpPr>
          <p:nvPr>
            <p:ph type="title"/>
          </p:nvPr>
        </p:nvSpPr>
        <p:spPr/>
        <p:txBody>
          <a:bodyPr>
            <a:normAutofit/>
          </a:bodyPr>
          <a:lstStyle/>
          <a:p>
            <a:r>
              <a:rPr lang="en-US" sz="6000" dirty="0"/>
              <a:t>QUADRATIC Time</a:t>
            </a:r>
          </a:p>
        </p:txBody>
      </p:sp>
      <p:sp>
        <p:nvSpPr>
          <p:cNvPr id="3" name="Content Placeholder 2">
            <a:extLst>
              <a:ext uri="{FF2B5EF4-FFF2-40B4-BE49-F238E27FC236}">
                <a16:creationId xmlns:a16="http://schemas.microsoft.com/office/drawing/2014/main" id="{2805434B-7F5B-280B-2749-07313FA12C15}"/>
              </a:ext>
            </a:extLst>
          </p:cNvPr>
          <p:cNvSpPr>
            <a:spLocks noGrp="1"/>
          </p:cNvSpPr>
          <p:nvPr>
            <p:ph idx="1"/>
          </p:nvPr>
        </p:nvSpPr>
        <p:spPr/>
        <p:txBody>
          <a:bodyPr anchor="t" anchorCtr="0">
            <a:normAutofit fontScale="92500" lnSpcReduction="20000"/>
          </a:bodyPr>
          <a:lstStyle/>
          <a:p>
            <a:pPr marL="0" indent="0">
              <a:buNone/>
            </a:pPr>
            <a:r>
              <a:rPr lang="en-US" sz="3600" dirty="0"/>
              <a:t>//We say this is    </a:t>
            </a:r>
            <a:r>
              <a:rPr lang="en-US" sz="3600" dirty="0">
                <a:solidFill>
                  <a:srgbClr val="00B0F0"/>
                </a:solidFill>
              </a:rPr>
              <a:t>O(n</a:t>
            </a:r>
            <a:r>
              <a:rPr lang="en-US" sz="3600" baseline="30000" dirty="0">
                <a:solidFill>
                  <a:srgbClr val="00B0F0"/>
                </a:solidFill>
              </a:rPr>
              <a:t>2</a:t>
            </a:r>
            <a:r>
              <a:rPr lang="en-US" sz="3600" dirty="0">
                <a:solidFill>
                  <a:srgbClr val="00B0F0"/>
                </a:solidFill>
              </a:rPr>
              <a:t>)</a:t>
            </a:r>
          </a:p>
          <a:p>
            <a:pPr marL="0" indent="0">
              <a:buNone/>
            </a:pPr>
            <a:r>
              <a:rPr lang="en-US" sz="3600" dirty="0"/>
              <a:t>for (</a:t>
            </a:r>
            <a:r>
              <a:rPr lang="en-US" sz="3600" dirty="0" err="1"/>
              <a:t>i</a:t>
            </a:r>
            <a:r>
              <a:rPr lang="en-US" sz="3600" dirty="0"/>
              <a:t>=0; </a:t>
            </a:r>
            <a:r>
              <a:rPr lang="en-US" sz="3600" dirty="0" err="1"/>
              <a:t>i</a:t>
            </a:r>
            <a:r>
              <a:rPr lang="en-US" sz="3600" dirty="0"/>
              <a:t>&lt; n; </a:t>
            </a:r>
            <a:r>
              <a:rPr lang="en-US" sz="3600" dirty="0" err="1"/>
              <a:t>i</a:t>
            </a:r>
            <a:r>
              <a:rPr lang="en-US" sz="3600" dirty="0"/>
              <a:t>++){</a:t>
            </a:r>
          </a:p>
          <a:p>
            <a:pPr marL="0" indent="0">
              <a:buNone/>
            </a:pPr>
            <a:r>
              <a:rPr lang="en-US" sz="3600" dirty="0"/>
              <a:t>	for (j=0; j&lt; n; j</a:t>
            </a:r>
            <a:r>
              <a:rPr lang="en-US" sz="3600"/>
              <a:t>++</a:t>
            </a:r>
            <a:r>
              <a:rPr lang="en-US" sz="3600" dirty="0"/>
              <a:t>){</a:t>
            </a:r>
          </a:p>
          <a:p>
            <a:pPr marL="0" indent="0">
              <a:buNone/>
            </a:pPr>
            <a:r>
              <a:rPr lang="en-US" sz="3600" dirty="0"/>
              <a:t>    	      //your O(1) code here</a:t>
            </a:r>
          </a:p>
          <a:p>
            <a:pPr marL="0" indent="0">
              <a:buNone/>
            </a:pPr>
            <a:r>
              <a:rPr lang="en-US" sz="3600" dirty="0"/>
              <a:t>     }</a:t>
            </a:r>
          </a:p>
          <a:p>
            <a:pPr marL="0" indent="0">
              <a:buNone/>
            </a:pPr>
            <a:r>
              <a:rPr lang="en-US" sz="3600" dirty="0"/>
              <a:t>}</a:t>
            </a:r>
            <a:endParaRPr lang="en-US" sz="2800" dirty="0"/>
          </a:p>
          <a:p>
            <a:endParaRPr lang="en-US" sz="2800" dirty="0"/>
          </a:p>
        </p:txBody>
      </p:sp>
    </p:spTree>
    <p:extLst>
      <p:ext uri="{BB962C8B-B14F-4D97-AF65-F5344CB8AC3E}">
        <p14:creationId xmlns:p14="http://schemas.microsoft.com/office/powerpoint/2010/main" val="1720023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0490" y="2018051"/>
                <a:ext cx="11462922" cy="4472396"/>
              </a:xfrm>
            </p:spPr>
            <p:txBody>
              <a:bodyPr anchor="t" anchorCtr="0">
                <a:noAutofit/>
              </a:bodyPr>
              <a:lstStyle/>
              <a:p>
                <a:pPr marL="0" indent="0">
                  <a:lnSpc>
                    <a:spcPct val="95000"/>
                  </a:lnSpc>
                  <a:spcAft>
                    <a:spcPts val="600"/>
                  </a:spcAft>
                  <a:buNone/>
                </a:pPr>
                <a:r>
                  <a:rPr lang="en-US" sz="3200" dirty="0">
                    <a:solidFill>
                      <a:schemeClr val="tx1"/>
                    </a:solidFill>
                    <a:cs typeface="Times New Roman" panose="02020603050405020304" pitchFamily="18" charset="0"/>
                  </a:rPr>
                  <a:t>If the algorithm runtime an be described as a function of the number of input values n.</a:t>
                </a:r>
              </a:p>
              <a:p>
                <a:pPr marL="0" indent="0">
                  <a:lnSpc>
                    <a:spcPct val="95000"/>
                  </a:lnSpc>
                  <a:spcAft>
                    <a:spcPts val="600"/>
                  </a:spcAft>
                  <a:buNone/>
                </a:pPr>
                <a14:m>
                  <m:oMath xmlns:m="http://schemas.openxmlformats.org/officeDocument/2006/math">
                    <m:r>
                      <a:rPr lang="en-US" sz="3200" i="1" smtClean="0">
                        <a:solidFill>
                          <a:srgbClr val="0070C0"/>
                        </a:solidFill>
                        <a:latin typeface="Cambria Math" panose="02040503050406030204" pitchFamily="18" charset="0"/>
                      </a:rPr>
                      <m:t>𝑡</m:t>
                    </m:r>
                    <m:r>
                      <a:rPr lang="en-US" sz="3200" i="1" smtClean="0">
                        <a:solidFill>
                          <a:srgbClr val="0070C0"/>
                        </a:solidFill>
                        <a:latin typeface="Cambria Math" panose="02040503050406030204" pitchFamily="18" charset="0"/>
                      </a:rPr>
                      <m:t>(</m:t>
                    </m:r>
                    <m:r>
                      <a:rPr lang="en-US" sz="3200" i="1" smtClean="0">
                        <a:solidFill>
                          <a:srgbClr val="0070C0"/>
                        </a:solidFill>
                        <a:latin typeface="Cambria Math" panose="02040503050406030204" pitchFamily="18" charset="0"/>
                      </a:rPr>
                      <m:t>𝑛</m:t>
                    </m:r>
                    <m:r>
                      <a:rPr lang="en-US" sz="3200" i="1" smtClean="0">
                        <a:solidFill>
                          <a:srgbClr val="0070C0"/>
                        </a:solidFill>
                        <a:latin typeface="Cambria Math" panose="02040503050406030204" pitchFamily="18" charset="0"/>
                      </a:rPr>
                      <m:t>)</m:t>
                    </m:r>
                  </m:oMath>
                </a14:m>
                <a:r>
                  <a:rPr lang="en-US" sz="3200" i="1" dirty="0">
                    <a:solidFill>
                      <a:srgbClr val="0070C0"/>
                    </a:solidFill>
                    <a:cs typeface="Times New Roman" panose="02020603050405020304" pitchFamily="18" charset="0"/>
                  </a:rPr>
                  <a:t>= </a:t>
                </a:r>
                <a:r>
                  <a:rPr lang="en-US" sz="3200" dirty="0">
                    <a:solidFill>
                      <a:srgbClr val="0070C0"/>
                    </a:solidFill>
                    <a:cs typeface="Times New Roman" panose="02020603050405020304" pitchFamily="18" charset="0"/>
                  </a:rPr>
                  <a:t>a·</a:t>
                </a:r>
                <a14:m>
                  <m:oMath xmlns:m="http://schemas.openxmlformats.org/officeDocument/2006/math">
                    <m:r>
                      <a:rPr lang="en-US" sz="3200" i="1" dirty="0">
                        <a:solidFill>
                          <a:srgbClr val="0070C0"/>
                        </a:solidFill>
                        <a:latin typeface="Cambria Math" panose="02040503050406030204" pitchFamily="18" charset="0"/>
                      </a:rPr>
                      <m:t>𝑛</m:t>
                    </m:r>
                    <m:r>
                      <a:rPr lang="en-US" sz="3200" baseline="30000" dirty="0">
                        <a:solidFill>
                          <a:srgbClr val="0070C0"/>
                        </a:solidFill>
                        <a:latin typeface="Cambria Math" panose="02040503050406030204" pitchFamily="18" charset="0"/>
                      </a:rPr>
                      <m:t>2 </m:t>
                    </m:r>
                  </m:oMath>
                </a14:m>
                <a:r>
                  <a:rPr lang="en-US" sz="3200" dirty="0">
                    <a:solidFill>
                      <a:srgbClr val="0070C0"/>
                    </a:solidFill>
                    <a:cs typeface="Times New Roman" panose="02020603050405020304" pitchFamily="18" charset="0"/>
                  </a:rPr>
                  <a:t>+b·</a:t>
                </a:r>
                <a14:m>
                  <m:oMath xmlns:m="http://schemas.openxmlformats.org/officeDocument/2006/math">
                    <m:r>
                      <a:rPr lang="en-US" sz="3200" i="1" dirty="0">
                        <a:solidFill>
                          <a:srgbClr val="0070C0"/>
                        </a:solidFill>
                        <a:latin typeface="Cambria Math" panose="02040503050406030204" pitchFamily="18" charset="0"/>
                      </a:rPr>
                      <m:t>𝑛</m:t>
                    </m:r>
                  </m:oMath>
                </a14:m>
                <a:r>
                  <a:rPr lang="en-US" sz="3200" dirty="0">
                    <a:solidFill>
                      <a:srgbClr val="0070C0"/>
                    </a:solidFill>
                    <a:cs typeface="Times New Roman" panose="02020603050405020304" pitchFamily="18" charset="0"/>
                  </a:rPr>
                  <a:t>+c</a:t>
                </a:r>
              </a:p>
              <a:p>
                <a:pPr marL="0" indent="0">
                  <a:lnSpc>
                    <a:spcPct val="95000"/>
                  </a:lnSpc>
                  <a:spcAft>
                    <a:spcPts val="600"/>
                  </a:spcAft>
                  <a:buNone/>
                </a:pPr>
                <a:endParaRPr lang="en-US" sz="3200" dirty="0">
                  <a:solidFill>
                    <a:schemeClr val="tx1"/>
                  </a:solidFill>
                  <a:cs typeface="Times New Roman" panose="02020603050405020304" pitchFamily="18" charset="0"/>
                </a:endParaRPr>
              </a:p>
              <a:p>
                <a:pPr marL="0" indent="0">
                  <a:lnSpc>
                    <a:spcPct val="95000"/>
                  </a:lnSpc>
                  <a:spcAft>
                    <a:spcPts val="600"/>
                  </a:spcAft>
                  <a:buNone/>
                </a:pPr>
                <a:r>
                  <a:rPr lang="en-US" sz="3200" dirty="0">
                    <a:solidFill>
                      <a:schemeClr val="tx1"/>
                    </a:solidFill>
                    <a:cs typeface="Times New Roman" panose="02020603050405020304" pitchFamily="18" charset="0"/>
                  </a:rPr>
                  <a:t>How can it really be accurate to ignore all the constants and smaller terms and just simplify to say it’s </a:t>
                </a:r>
                <a:r>
                  <a:rPr lang="en-US" sz="3200" dirty="0">
                    <a:solidFill>
                      <a:srgbClr val="0070C0"/>
                    </a:solidFill>
                    <a:cs typeface="Times New Roman" panose="02020603050405020304" pitchFamily="18" charset="0"/>
                  </a:rPr>
                  <a:t>Big-O n</a:t>
                </a:r>
                <a:r>
                  <a:rPr lang="en-US" sz="3200" baseline="30000" dirty="0">
                    <a:solidFill>
                      <a:srgbClr val="0070C0"/>
                    </a:solidFill>
                    <a:cs typeface="Times New Roman" panose="02020603050405020304" pitchFamily="18" charset="0"/>
                  </a:rPr>
                  <a:t>2 </a:t>
                </a:r>
                <a:r>
                  <a:rPr lang="en-US" sz="3200" dirty="0">
                    <a:solidFill>
                      <a:schemeClr val="tx1"/>
                    </a:solidFill>
                    <a:cs typeface="Times New Roman" panose="02020603050405020304" pitchFamily="18" charset="0"/>
                  </a:rPr>
                  <a:t>?</a:t>
                </a:r>
              </a:p>
              <a:p>
                <a:pPr marL="0" indent="0">
                  <a:lnSpc>
                    <a:spcPct val="95000"/>
                  </a:lnSpc>
                  <a:spcAft>
                    <a:spcPts val="600"/>
                  </a:spcAft>
                  <a:buNone/>
                </a:pPr>
                <a:endParaRPr lang="en-US" sz="3200" dirty="0">
                  <a:solidFill>
                    <a:schemeClr val="tx1"/>
                  </a:solidFill>
                  <a:latin typeface="Cambria Math" panose="02040503050406030204" pitchFamily="18" charset="0"/>
                  <a:cs typeface="Times New Roman" panose="02020603050405020304" pitchFamily="18" charset="0"/>
                </a:endParaRPr>
              </a:p>
              <a:p>
                <a:pPr marL="0" indent="0">
                  <a:lnSpc>
                    <a:spcPct val="95000"/>
                  </a:lnSpc>
                  <a:spcAft>
                    <a:spcPts val="600"/>
                  </a:spcAft>
                  <a:buNone/>
                </a:pPr>
                <a:endParaRPr lang="en-US" sz="3200" dirty="0">
                  <a:solidFill>
                    <a:schemeClr val="tx1"/>
                  </a:solidFill>
                  <a:latin typeface="Cambria Math" panose="02040503050406030204" pitchFamily="18" charset="0"/>
                  <a:cs typeface="Times New Roman" panose="02020603050405020304" pitchFamily="18" charset="0"/>
                </a:endParaRPr>
              </a:p>
              <a:p>
                <a:pPr marL="0" indent="0">
                  <a:lnSpc>
                    <a:spcPct val="95000"/>
                  </a:lnSpc>
                  <a:spcAft>
                    <a:spcPts val="600"/>
                  </a:spcAft>
                  <a:buNone/>
                </a:pPr>
                <a:endParaRPr lang="en-US" sz="3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0490" y="2018051"/>
                <a:ext cx="11462922" cy="4472396"/>
              </a:xfrm>
              <a:blipFill>
                <a:blip r:embed="rId3"/>
                <a:stretch>
                  <a:fillRect l="-1329" t="-2260" r="-775"/>
                </a:stretch>
              </a:blipFill>
            </p:spPr>
            <p:txBody>
              <a:bodyPr/>
              <a:lstStyle/>
              <a:p>
                <a:r>
                  <a:rPr lang="en-US">
                    <a:noFill/>
                  </a:rPr>
                  <a:t> </a:t>
                </a:r>
              </a:p>
            </p:txBody>
          </p:sp>
        </mc:Fallback>
      </mc:AlternateContent>
      <p:sp>
        <p:nvSpPr>
          <p:cNvPr id="2" name="TextBox 1"/>
          <p:cNvSpPr txBox="1"/>
          <p:nvPr/>
        </p:nvSpPr>
        <p:spPr>
          <a:xfrm>
            <a:off x="845854" y="782272"/>
            <a:ext cx="10500292" cy="923330"/>
          </a:xfrm>
          <a:prstGeom prst="rect">
            <a:avLst/>
          </a:prstGeom>
          <a:noFill/>
        </p:spPr>
        <p:txBody>
          <a:bodyPr wrap="square" rtlCol="0">
            <a:spAutoFit/>
          </a:bodyPr>
          <a:lstStyle/>
          <a:p>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Rate of Growth</a:t>
            </a:r>
          </a:p>
        </p:txBody>
      </p:sp>
    </p:spTree>
    <p:extLst>
      <p:ext uri="{BB962C8B-B14F-4D97-AF65-F5344CB8AC3E}">
        <p14:creationId xmlns:p14="http://schemas.microsoft.com/office/powerpoint/2010/main" val="94938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5931798" y="2127114"/>
            <a:ext cx="5333333" cy="4000000"/>
            <a:chOff x="695369" y="670419"/>
            <a:chExt cx="5333333" cy="4000000"/>
          </a:xfrm>
        </p:grpSpPr>
        <p:pic>
          <p:nvPicPr>
            <p:cNvPr id="9" name="Picture 8"/>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5369" y="670419"/>
              <a:ext cx="5333333" cy="4000000"/>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rot="18576543">
                  <a:off x="2891567" y="1913500"/>
                  <a:ext cx="2266122" cy="369332"/>
                </a:xfrm>
                <a:prstGeom prst="rect">
                  <a:avLst/>
                </a:prstGeom>
                <a:noFill/>
              </p:spPr>
              <p:txBody>
                <a:bodyPr wrap="square" rtlCol="0">
                  <a:spAutoFit/>
                </a:bodyPr>
                <a:lstStyle/>
                <a:p>
                  <a:pPr algn="ctr"/>
                  <a14:m>
                    <m:oMath xmlns:m="http://schemas.openxmlformats.org/officeDocument/2006/math">
                      <m:r>
                        <a:rPr lang="en-US" i="1" smtClean="0">
                          <a:solidFill>
                            <a:srgbClr val="137CBF"/>
                          </a:solidFill>
                          <a:latin typeface="Cambria Math" panose="02040503050406030204" pitchFamily="18" charset="0"/>
                          <a:cs typeface="Times New Roman" panose="02020603050405020304" pitchFamily="18" charset="0"/>
                        </a:rPr>
                        <m:t>𝑛</m:t>
                      </m:r>
                    </m:oMath>
                  </a14:m>
                  <a:r>
                    <a:rPr lang="en-US" b="1" baseline="30000" dirty="0">
                      <a:solidFill>
                        <a:srgbClr val="0064B7"/>
                      </a:solidFill>
                      <a:latin typeface="Cambria Math" panose="02040503050406030204" pitchFamily="18" charset="0"/>
                      <a:ea typeface="Cambria Math" panose="02040503050406030204" pitchFamily="18" charset="0"/>
                    </a:rPr>
                    <a:t>2</a:t>
                  </a:r>
                  <a:r>
                    <a:rPr lang="en-US" b="1" dirty="0">
                      <a:solidFill>
                        <a:srgbClr val="0064B7"/>
                      </a:solidFill>
                      <a:latin typeface="Cambria Math" panose="02040503050406030204" pitchFamily="18" charset="0"/>
                      <a:ea typeface="Cambria Math" panose="02040503050406030204" pitchFamily="18" charset="0"/>
                    </a:rPr>
                    <a:t>+3</a:t>
                  </a:r>
                  <a14:m>
                    <m:oMath xmlns:m="http://schemas.openxmlformats.org/officeDocument/2006/math">
                      <m:r>
                        <a:rPr lang="en-US" i="1">
                          <a:solidFill>
                            <a:srgbClr val="137CBF"/>
                          </a:solidFill>
                          <a:latin typeface="Cambria Math" panose="02040503050406030204" pitchFamily="18" charset="0"/>
                          <a:cs typeface="Times New Roman" panose="02020603050405020304" pitchFamily="18" charset="0"/>
                        </a:rPr>
                        <m:t>𝑛</m:t>
                      </m:r>
                    </m:oMath>
                  </a14:m>
                  <a:r>
                    <a:rPr lang="en-US" b="1" dirty="0">
                      <a:solidFill>
                        <a:srgbClr val="0064B7"/>
                      </a:solidFill>
                      <a:latin typeface="Cambria Math" panose="02040503050406030204" pitchFamily="18" charset="0"/>
                      <a:ea typeface="Cambria Math" panose="02040503050406030204" pitchFamily="18" charset="0"/>
                    </a:rPr>
                    <a:t>+5</a:t>
                  </a:r>
                </a:p>
              </p:txBody>
            </p:sp>
          </mc:Choice>
          <mc:Fallback xmlns="">
            <p:sp>
              <p:nvSpPr>
                <p:cNvPr id="10" name="TextBox 9"/>
                <p:cNvSpPr txBox="1">
                  <a:spLocks noRot="1" noChangeAspect="1" noMove="1" noResize="1" noEditPoints="1" noAdjustHandles="1" noChangeArrowheads="1" noChangeShapeType="1" noTextEdit="1"/>
                </p:cNvSpPr>
                <p:nvPr/>
              </p:nvSpPr>
              <p:spPr>
                <a:xfrm rot="18576543">
                  <a:off x="2891567" y="1913500"/>
                  <a:ext cx="226612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rot="18576543">
                  <a:off x="3334291" y="2465570"/>
                  <a:ext cx="2266122" cy="369332"/>
                </a:xfrm>
                <a:prstGeom prst="rect">
                  <a:avLst/>
                </a:prstGeom>
                <a:noFill/>
              </p:spPr>
              <p:txBody>
                <a:bodyPr wrap="square" rtlCol="0">
                  <a:spAutoFit/>
                </a:bodyPr>
                <a:lstStyle/>
                <a:p>
                  <a:pPr algn="ctr"/>
                  <a14:m>
                    <m:oMath xmlns:m="http://schemas.openxmlformats.org/officeDocument/2006/math">
                      <m:r>
                        <a:rPr lang="en-US" i="1" smtClean="0">
                          <a:solidFill>
                            <a:srgbClr val="FF0000"/>
                          </a:solidFill>
                          <a:latin typeface="Cambria Math" panose="02040503050406030204" pitchFamily="18" charset="0"/>
                          <a:cs typeface="Times New Roman" panose="02020603050405020304" pitchFamily="18" charset="0"/>
                        </a:rPr>
                        <m:t>𝑛</m:t>
                      </m:r>
                    </m:oMath>
                  </a14:m>
                  <a:r>
                    <a:rPr lang="en-US" b="1" baseline="30000" dirty="0">
                      <a:solidFill>
                        <a:srgbClr val="FF0000"/>
                      </a:solidFill>
                      <a:latin typeface="Cambria Math" panose="02040503050406030204" pitchFamily="18" charset="0"/>
                      <a:ea typeface="Cambria Math" panose="02040503050406030204" pitchFamily="18" charset="0"/>
                    </a:rPr>
                    <a:t>2</a:t>
                  </a:r>
                  <a:endParaRPr lang="en-US" b="1" dirty="0">
                    <a:solidFill>
                      <a:srgbClr val="FF0000"/>
                    </a:solidFill>
                    <a:latin typeface="Cambria Math" panose="02040503050406030204" pitchFamily="18" charset="0"/>
                    <a:ea typeface="Cambria Math" panose="020405030504060302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rot="18576543">
                  <a:off x="3334291" y="2465570"/>
                  <a:ext cx="2266122" cy="369332"/>
                </a:xfrm>
                <a:prstGeom prst="rect">
                  <a:avLst/>
                </a:prstGeom>
                <a:blipFill>
                  <a:blip r:embed="rId4"/>
                  <a:stretch>
                    <a:fillRect/>
                  </a:stretch>
                </a:blipFill>
              </p:spPr>
              <p:txBody>
                <a:bodyPr/>
                <a:lstStyle/>
                <a:p>
                  <a:r>
                    <a:rPr lang="en-US">
                      <a:noFill/>
                    </a:rPr>
                    <a:t> </a:t>
                  </a:r>
                </a:p>
              </p:txBody>
            </p:sp>
          </mc:Fallback>
        </mc:AlternateContent>
      </p:grpSp>
      <p:sp>
        <p:nvSpPr>
          <p:cNvPr id="5" name="Title 4" descr=" 5">
            <a:extLst>
              <a:ext uri="{FF2B5EF4-FFF2-40B4-BE49-F238E27FC236}">
                <a16:creationId xmlns:a16="http://schemas.microsoft.com/office/drawing/2014/main" id="{22B77F87-FD48-4F35-9FC0-CBC4F1C2EA77}"/>
              </a:ext>
            </a:extLst>
          </p:cNvPr>
          <p:cNvSpPr>
            <a:spLocks noGrp="1"/>
          </p:cNvSpPr>
          <p:nvPr>
            <p:ph type="title"/>
          </p:nvPr>
        </p:nvSpPr>
        <p:spPr>
          <a:xfrm>
            <a:off x="673998" y="911279"/>
            <a:ext cx="11163326" cy="424414"/>
          </a:xfrm>
        </p:spPr>
        <p:txBody>
          <a:bodyPr anchor="t" anchorCtr="0">
            <a:noAutofit/>
          </a:bodyPr>
          <a:lstStyle/>
          <a:p>
            <a:r>
              <a:rPr lang="en-US" sz="5400" cap="none" dirty="0">
                <a:effectLst>
                  <a:outerShdw blurRad="38100" dist="38100" dir="2700000" algn="tl">
                    <a:srgbClr val="000000">
                      <a:alpha val="43137"/>
                    </a:srgbClr>
                  </a:outerShdw>
                </a:effectLst>
                <a:ea typeface="+mn-ea"/>
                <a:cs typeface="Times New Roman" panose="02020603050405020304" pitchFamily="18" charset="0"/>
              </a:rPr>
              <a:t>Ignore </a:t>
            </a:r>
            <a:r>
              <a:rPr lang="en-US" sz="5400" cap="none" dirty="0">
                <a:effectLst>
                  <a:outerShdw blurRad="38100" dist="38100" dir="2700000" algn="tl">
                    <a:srgbClr val="000000">
                      <a:alpha val="43137"/>
                    </a:srgbClr>
                  </a:outerShdw>
                </a:effectLst>
                <a:ea typeface="Cambria Math" panose="02040503050406030204" pitchFamily="18" charset="0"/>
                <a:cs typeface="Times New Roman" panose="02020603050405020304" pitchFamily="18" charset="0"/>
              </a:rPr>
              <a:t>Constants and Smaller Terms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3B8A2E3-74D1-25B0-5B63-2D943017478A}"/>
                  </a:ext>
                </a:extLst>
              </p:cNvPr>
              <p:cNvSpPr txBox="1"/>
              <p:nvPr/>
            </p:nvSpPr>
            <p:spPr>
              <a:xfrm>
                <a:off x="744821" y="2263626"/>
                <a:ext cx="5186977" cy="1332673"/>
              </a:xfrm>
              <a:prstGeom prst="rect">
                <a:avLst/>
              </a:prstGeom>
              <a:noFill/>
            </p:spPr>
            <p:txBody>
              <a:bodyPr wrap="square">
                <a:spAutoFit/>
              </a:bodyPr>
              <a:lstStyle/>
              <a:p>
                <a:pPr>
                  <a:lnSpc>
                    <a:spcPct val="90000"/>
                  </a:lnSpc>
                  <a:spcAft>
                    <a:spcPts val="600"/>
                  </a:spcAft>
                </a:pPr>
                <a:r>
                  <a:rPr lang="en-US" sz="2800" dirty="0">
                    <a:solidFill>
                      <a:schemeClr val="tx1"/>
                    </a:solidFill>
                    <a:latin typeface="Times New Roman" panose="02020603050405020304" pitchFamily="18" charset="0"/>
                  </a:rPr>
                  <a:t>Here are two quadratics</a:t>
                </a:r>
              </a:p>
              <a:p>
                <a:pPr>
                  <a:lnSpc>
                    <a:spcPct val="90000"/>
                  </a:lnSpc>
                  <a:spcAft>
                    <a:spcPts val="600"/>
                  </a:spcAft>
                </a:pPr>
                <a:r>
                  <a:rPr lang="en-US" sz="2800" dirty="0">
                    <a:solidFill>
                      <a:schemeClr val="tx1"/>
                    </a:solidFill>
                    <a:latin typeface="Times New Roman" panose="02020603050405020304" pitchFamily="18" charset="0"/>
                  </a:rPr>
                  <a:t>When </a:t>
                </a:r>
                <a14:m>
                  <m:oMath xmlns:m="http://schemas.openxmlformats.org/officeDocument/2006/math">
                    <m:r>
                      <a:rPr lang="en-US" sz="2800" i="1" dirty="0">
                        <a:solidFill>
                          <a:schemeClr val="tx1"/>
                        </a:solidFill>
                        <a:latin typeface="Cambria Math" panose="02040503050406030204" pitchFamily="18" charset="0"/>
                      </a:rPr>
                      <m:t>𝑛</m:t>
                    </m:r>
                  </m:oMath>
                </a14:m>
                <a:r>
                  <a:rPr lang="en-US" sz="2800" dirty="0">
                    <a:solidFill>
                      <a:schemeClr val="tx1"/>
                    </a:solidFill>
                    <a:latin typeface="Times New Roman" panose="02020603050405020304" pitchFamily="18" charset="0"/>
                  </a:rPr>
                  <a:t> is small, as shown here, the curves are visibly distinct</a:t>
                </a:r>
              </a:p>
            </p:txBody>
          </p:sp>
        </mc:Choice>
        <mc:Fallback xmlns="">
          <p:sp>
            <p:nvSpPr>
              <p:cNvPr id="3" name="TextBox 2">
                <a:extLst>
                  <a:ext uri="{FF2B5EF4-FFF2-40B4-BE49-F238E27FC236}">
                    <a16:creationId xmlns:a16="http://schemas.microsoft.com/office/drawing/2014/main" id="{63B8A2E3-74D1-25B0-5B63-2D943017478A}"/>
                  </a:ext>
                </a:extLst>
              </p:cNvPr>
              <p:cNvSpPr txBox="1">
                <a:spLocks noRot="1" noChangeAspect="1" noMove="1" noResize="1" noEditPoints="1" noAdjustHandles="1" noChangeArrowheads="1" noChangeShapeType="1" noTextEdit="1"/>
              </p:cNvSpPr>
              <p:nvPr/>
            </p:nvSpPr>
            <p:spPr>
              <a:xfrm>
                <a:off x="744821" y="2263626"/>
                <a:ext cx="5186977" cy="1332673"/>
              </a:xfrm>
              <a:prstGeom prst="rect">
                <a:avLst/>
              </a:prstGeom>
              <a:blipFill>
                <a:blip r:embed="rId5"/>
                <a:stretch>
                  <a:fillRect l="-2439" t="-8491" b="-12264"/>
                </a:stretch>
              </a:blipFill>
            </p:spPr>
            <p:txBody>
              <a:bodyPr/>
              <a:lstStyle/>
              <a:p>
                <a:r>
                  <a:rPr lang="en-US">
                    <a:noFill/>
                  </a:rPr>
                  <a:t> </a:t>
                </a:r>
              </a:p>
            </p:txBody>
          </p:sp>
        </mc:Fallback>
      </mc:AlternateContent>
    </p:spTree>
    <p:extLst>
      <p:ext uri="{BB962C8B-B14F-4D97-AF65-F5344CB8AC3E}">
        <p14:creationId xmlns:p14="http://schemas.microsoft.com/office/powerpoint/2010/main" val="1361607440"/>
      </p:ext>
    </p:extLst>
  </p:cSld>
  <p:clrMapOvr>
    <a:masterClrMapping/>
  </p:clrMapOvr>
  <p:transition spd="med">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 5">
            <a:extLst>
              <a:ext uri="{FF2B5EF4-FFF2-40B4-BE49-F238E27FC236}">
                <a16:creationId xmlns:a16="http://schemas.microsoft.com/office/drawing/2014/main" id="{22B77F87-FD48-4F35-9FC0-CBC4F1C2EA77}"/>
              </a:ext>
            </a:extLst>
          </p:cNvPr>
          <p:cNvSpPr>
            <a:spLocks noGrp="1"/>
          </p:cNvSpPr>
          <p:nvPr>
            <p:ph type="title"/>
          </p:nvPr>
        </p:nvSpPr>
        <p:spPr>
          <a:xfrm>
            <a:off x="673998" y="911279"/>
            <a:ext cx="11163326" cy="424414"/>
          </a:xfrm>
        </p:spPr>
        <p:txBody>
          <a:bodyPr anchor="t" anchorCtr="0">
            <a:noAutofit/>
          </a:bodyPr>
          <a:lstStyle/>
          <a:p>
            <a:r>
              <a:rPr lang="en-US" sz="5400" cap="none" dirty="0">
                <a:effectLst>
                  <a:outerShdw blurRad="38100" dist="38100" dir="2700000" algn="tl">
                    <a:srgbClr val="000000">
                      <a:alpha val="43137"/>
                    </a:srgbClr>
                  </a:outerShdw>
                </a:effectLst>
                <a:ea typeface="+mn-ea"/>
                <a:cs typeface="Times New Roman" panose="02020603050405020304" pitchFamily="18" charset="0"/>
              </a:rPr>
              <a:t>Ignore </a:t>
            </a:r>
            <a:r>
              <a:rPr lang="en-US" sz="5400" cap="none" dirty="0">
                <a:effectLst>
                  <a:outerShdw blurRad="38100" dist="38100" dir="2700000" algn="tl">
                    <a:srgbClr val="000000">
                      <a:alpha val="43137"/>
                    </a:srgbClr>
                  </a:outerShdw>
                </a:effectLst>
                <a:ea typeface="Cambria Math" panose="02040503050406030204" pitchFamily="18" charset="0"/>
                <a:cs typeface="Times New Roman" panose="02020603050405020304" pitchFamily="18" charset="0"/>
              </a:rPr>
              <a:t>Constants and Smaller Terms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3B8A2E3-74D1-25B0-5B63-2D943017478A}"/>
                  </a:ext>
                </a:extLst>
              </p:cNvPr>
              <p:cNvSpPr txBox="1"/>
              <p:nvPr/>
            </p:nvSpPr>
            <p:spPr>
              <a:xfrm>
                <a:off x="434019" y="1838488"/>
                <a:ext cx="10702358" cy="867930"/>
              </a:xfrm>
              <a:prstGeom prst="rect">
                <a:avLst/>
              </a:prstGeom>
              <a:noFill/>
            </p:spPr>
            <p:txBody>
              <a:bodyPr wrap="square">
                <a:spAutoFit/>
              </a:bodyPr>
              <a:lstStyle/>
              <a:p>
                <a:pPr>
                  <a:lnSpc>
                    <a:spcPct val="90000"/>
                  </a:lnSpc>
                  <a:spcAft>
                    <a:spcPts val="600"/>
                  </a:spcAft>
                </a:pPr>
                <a:r>
                  <a:rPr lang="en-US" sz="2800" dirty="0">
                    <a:solidFill>
                      <a:schemeClr val="tx1"/>
                    </a:solidFill>
                    <a:latin typeface="Times New Roman" panose="02020603050405020304" pitchFamily="18" charset="0"/>
                  </a:rPr>
                  <a:t>When </a:t>
                </a:r>
                <a14:m>
                  <m:oMath xmlns:m="http://schemas.openxmlformats.org/officeDocument/2006/math">
                    <m:r>
                      <a:rPr lang="en-US" sz="2800" i="1" dirty="0">
                        <a:solidFill>
                          <a:schemeClr val="tx1"/>
                        </a:solidFill>
                        <a:latin typeface="Cambria Math" panose="02040503050406030204" pitchFamily="18" charset="0"/>
                      </a:rPr>
                      <m:t>𝑛</m:t>
                    </m:r>
                  </m:oMath>
                </a14:m>
                <a:r>
                  <a:rPr lang="en-US" sz="2800" dirty="0">
                    <a:solidFill>
                      <a:schemeClr val="tx1"/>
                    </a:solidFill>
                    <a:latin typeface="Times New Roman" panose="02020603050405020304" pitchFamily="18" charset="0"/>
                  </a:rPr>
                  <a:t> is large, the distinction is negligible. </a:t>
                </a:r>
                <a:r>
                  <a:rPr lang="en-US" sz="2800" dirty="0" smtClean="0">
                    <a:latin typeface="Times New Roman" panose="02020603050405020304" pitchFamily="18" charset="0"/>
                  </a:rPr>
                  <a:t>O-notation allows </a:t>
                </a:r>
                <a:r>
                  <a:rPr lang="en-US" sz="2800" dirty="0">
                    <a:latin typeface="Times New Roman" panose="02020603050405020304" pitchFamily="18" charset="0"/>
                  </a:rPr>
                  <a:t>us to classify the general behavior of an algorithm as </a:t>
                </a:r>
                <a14:m>
                  <m:oMath xmlns:m="http://schemas.openxmlformats.org/officeDocument/2006/math">
                    <m:r>
                      <a:rPr lang="en-US" sz="2800">
                        <a:latin typeface="Cambria Math" panose="02040503050406030204" pitchFamily="18" charset="0"/>
                      </a:rPr>
                      <m:t>𝑛</m:t>
                    </m:r>
                  </m:oMath>
                </a14:m>
                <a:r>
                  <a:rPr lang="en-US" sz="2800" dirty="0">
                    <a:latin typeface="Times New Roman" panose="02020603050405020304" pitchFamily="18" charset="0"/>
                  </a:rPr>
                  <a:t> grows large</a:t>
                </a:r>
              </a:p>
            </p:txBody>
          </p:sp>
        </mc:Choice>
        <mc:Fallback>
          <p:sp>
            <p:nvSpPr>
              <p:cNvPr id="3" name="TextBox 2">
                <a:extLst>
                  <a:ext uri="{FF2B5EF4-FFF2-40B4-BE49-F238E27FC236}">
                    <a16:creationId xmlns:a16="http://schemas.microsoft.com/office/drawing/2014/main" id="{63B8A2E3-74D1-25B0-5B63-2D943017478A}"/>
                  </a:ext>
                </a:extLst>
              </p:cNvPr>
              <p:cNvSpPr txBox="1">
                <a:spLocks noRot="1" noChangeAspect="1" noMove="1" noResize="1" noEditPoints="1" noAdjustHandles="1" noChangeArrowheads="1" noChangeShapeType="1" noTextEdit="1"/>
              </p:cNvSpPr>
              <p:nvPr/>
            </p:nvSpPr>
            <p:spPr>
              <a:xfrm>
                <a:off x="434019" y="1838488"/>
                <a:ext cx="10702358" cy="867930"/>
              </a:xfrm>
              <a:prstGeom prst="rect">
                <a:avLst/>
              </a:prstGeom>
              <a:blipFill>
                <a:blip r:embed="rId2"/>
                <a:stretch>
                  <a:fillRect l="-1139" t="-12676" b="-19014"/>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E799185E-377C-2192-0BF1-574E6FF26D7D}"/>
              </a:ext>
            </a:extLst>
          </p:cNvPr>
          <p:cNvGrpSpPr/>
          <p:nvPr/>
        </p:nvGrpSpPr>
        <p:grpSpPr>
          <a:xfrm>
            <a:off x="434019" y="2810640"/>
            <a:ext cx="4714915" cy="3957304"/>
            <a:chOff x="695369" y="670419"/>
            <a:chExt cx="5333333" cy="4000000"/>
          </a:xfrm>
        </p:grpSpPr>
        <p:pic>
          <p:nvPicPr>
            <p:cNvPr id="8" name="Picture 7">
              <a:extLst>
                <a:ext uri="{FF2B5EF4-FFF2-40B4-BE49-F238E27FC236}">
                  <a16:creationId xmlns:a16="http://schemas.microsoft.com/office/drawing/2014/main" id="{E5E7414C-B8D7-13EF-9F9F-A3AA99D7EB1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95369" y="670419"/>
              <a:ext cx="5333333" cy="4000000"/>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DE5372F-56FA-6936-B8F6-8EB114BDE425}"/>
                    </a:ext>
                  </a:extLst>
                </p:cNvPr>
                <p:cNvSpPr txBox="1"/>
                <p:nvPr/>
              </p:nvSpPr>
              <p:spPr>
                <a:xfrm rot="18576543">
                  <a:off x="2891567" y="1913500"/>
                  <a:ext cx="2266122" cy="369332"/>
                </a:xfrm>
                <a:prstGeom prst="rect">
                  <a:avLst/>
                </a:prstGeom>
                <a:noFill/>
              </p:spPr>
              <p:txBody>
                <a:bodyPr wrap="square" rtlCol="0">
                  <a:spAutoFit/>
                </a:bodyPr>
                <a:lstStyle/>
                <a:p>
                  <a:pPr algn="ctr"/>
                  <a14:m>
                    <m:oMath xmlns:m="http://schemas.openxmlformats.org/officeDocument/2006/math">
                      <m:r>
                        <a:rPr lang="en-US" i="1" smtClean="0">
                          <a:solidFill>
                            <a:srgbClr val="137CBF"/>
                          </a:solidFill>
                          <a:latin typeface="Cambria Math" panose="02040503050406030204" pitchFamily="18" charset="0"/>
                          <a:cs typeface="Times New Roman" panose="02020603050405020304" pitchFamily="18" charset="0"/>
                        </a:rPr>
                        <m:t>𝑛</m:t>
                      </m:r>
                    </m:oMath>
                  </a14:m>
                  <a:r>
                    <a:rPr lang="en-US" b="1" baseline="30000" dirty="0">
                      <a:solidFill>
                        <a:srgbClr val="0064B7"/>
                      </a:solidFill>
                      <a:latin typeface="Cambria Math" panose="02040503050406030204" pitchFamily="18" charset="0"/>
                      <a:ea typeface="Cambria Math" panose="02040503050406030204" pitchFamily="18" charset="0"/>
                    </a:rPr>
                    <a:t>2</a:t>
                  </a:r>
                  <a:r>
                    <a:rPr lang="en-US" b="1" dirty="0">
                      <a:solidFill>
                        <a:srgbClr val="0064B7"/>
                      </a:solidFill>
                      <a:latin typeface="Cambria Math" panose="02040503050406030204" pitchFamily="18" charset="0"/>
                      <a:ea typeface="Cambria Math" panose="02040503050406030204" pitchFamily="18" charset="0"/>
                    </a:rPr>
                    <a:t>+3</a:t>
                  </a:r>
                  <a14:m>
                    <m:oMath xmlns:m="http://schemas.openxmlformats.org/officeDocument/2006/math">
                      <m:r>
                        <a:rPr lang="en-US" i="1">
                          <a:solidFill>
                            <a:srgbClr val="137CBF"/>
                          </a:solidFill>
                          <a:latin typeface="Cambria Math" panose="02040503050406030204" pitchFamily="18" charset="0"/>
                          <a:cs typeface="Times New Roman" panose="02020603050405020304" pitchFamily="18" charset="0"/>
                        </a:rPr>
                        <m:t>𝑛</m:t>
                      </m:r>
                    </m:oMath>
                  </a14:m>
                  <a:r>
                    <a:rPr lang="en-US" b="1" dirty="0">
                      <a:solidFill>
                        <a:srgbClr val="0064B7"/>
                      </a:solidFill>
                      <a:latin typeface="Cambria Math" panose="02040503050406030204" pitchFamily="18" charset="0"/>
                      <a:ea typeface="Cambria Math" panose="02040503050406030204" pitchFamily="18" charset="0"/>
                    </a:rPr>
                    <a:t>+5</a:t>
                  </a:r>
                </a:p>
              </p:txBody>
            </p:sp>
          </mc:Choice>
          <mc:Fallback xmlns="">
            <p:sp>
              <p:nvSpPr>
                <p:cNvPr id="10" name="TextBox 9"/>
                <p:cNvSpPr txBox="1">
                  <a:spLocks noRot="1" noChangeAspect="1" noMove="1" noResize="1" noEditPoints="1" noAdjustHandles="1" noChangeArrowheads="1" noChangeShapeType="1" noTextEdit="1"/>
                </p:cNvSpPr>
                <p:nvPr/>
              </p:nvSpPr>
              <p:spPr>
                <a:xfrm rot="18576543">
                  <a:off x="2891567" y="1913500"/>
                  <a:ext cx="226612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A95D847-C279-4D3F-DC40-C86E7E424CF9}"/>
                    </a:ext>
                  </a:extLst>
                </p:cNvPr>
                <p:cNvSpPr txBox="1"/>
                <p:nvPr/>
              </p:nvSpPr>
              <p:spPr>
                <a:xfrm rot="18576543">
                  <a:off x="3334291" y="2465570"/>
                  <a:ext cx="2266122" cy="369332"/>
                </a:xfrm>
                <a:prstGeom prst="rect">
                  <a:avLst/>
                </a:prstGeom>
                <a:noFill/>
              </p:spPr>
              <p:txBody>
                <a:bodyPr wrap="square" rtlCol="0">
                  <a:spAutoFit/>
                </a:bodyPr>
                <a:lstStyle/>
                <a:p>
                  <a:pPr algn="ctr"/>
                  <a14:m>
                    <m:oMath xmlns:m="http://schemas.openxmlformats.org/officeDocument/2006/math">
                      <m:r>
                        <a:rPr lang="en-US" i="1" smtClean="0">
                          <a:solidFill>
                            <a:srgbClr val="FF0000"/>
                          </a:solidFill>
                          <a:latin typeface="Cambria Math" panose="02040503050406030204" pitchFamily="18" charset="0"/>
                          <a:cs typeface="Times New Roman" panose="02020603050405020304" pitchFamily="18" charset="0"/>
                        </a:rPr>
                        <m:t>𝑛</m:t>
                      </m:r>
                    </m:oMath>
                  </a14:m>
                  <a:r>
                    <a:rPr lang="en-US" b="1" baseline="30000" dirty="0">
                      <a:solidFill>
                        <a:srgbClr val="FF0000"/>
                      </a:solidFill>
                      <a:latin typeface="Cambria Math" panose="02040503050406030204" pitchFamily="18" charset="0"/>
                      <a:ea typeface="Cambria Math" panose="02040503050406030204" pitchFamily="18" charset="0"/>
                    </a:rPr>
                    <a:t>2</a:t>
                  </a:r>
                  <a:endParaRPr lang="en-US" b="1" dirty="0">
                    <a:solidFill>
                      <a:srgbClr val="FF0000"/>
                    </a:solidFill>
                    <a:latin typeface="Cambria Math" panose="02040503050406030204" pitchFamily="18" charset="0"/>
                    <a:ea typeface="Cambria Math" panose="020405030504060302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rot="18576543">
                  <a:off x="3334291" y="2465570"/>
                  <a:ext cx="2266122" cy="369332"/>
                </a:xfrm>
                <a:prstGeom prst="rect">
                  <a:avLst/>
                </a:prstGeom>
                <a:blipFill>
                  <a:blip r:embed="rId5"/>
                  <a:stretch>
                    <a:fillRect/>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42632D03-A264-2B29-9ADA-1A874351CFF2}"/>
              </a:ext>
            </a:extLst>
          </p:cNvPr>
          <p:cNvGrpSpPr/>
          <p:nvPr/>
        </p:nvGrpSpPr>
        <p:grpSpPr>
          <a:xfrm>
            <a:off x="5803044" y="2767944"/>
            <a:ext cx="5333333" cy="4000000"/>
            <a:chOff x="5070739" y="605564"/>
            <a:chExt cx="5333333" cy="4000000"/>
          </a:xfrm>
        </p:grpSpPr>
        <p:pic>
          <p:nvPicPr>
            <p:cNvPr id="17" name="Picture 16">
              <a:extLst>
                <a:ext uri="{FF2B5EF4-FFF2-40B4-BE49-F238E27FC236}">
                  <a16:creationId xmlns:a16="http://schemas.microsoft.com/office/drawing/2014/main" id="{18366F84-B89C-FBA8-AC15-1BEB9ACB58A0}"/>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70739" y="605564"/>
              <a:ext cx="5333333" cy="4000000"/>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848B6CE-27F7-9188-46DA-96F1832FFAE7}"/>
                    </a:ext>
                  </a:extLst>
                </p:cNvPr>
                <p:cNvSpPr txBox="1"/>
                <p:nvPr/>
              </p:nvSpPr>
              <p:spPr>
                <a:xfrm rot="18715703">
                  <a:off x="8210934" y="1785840"/>
                  <a:ext cx="2266122" cy="369332"/>
                </a:xfrm>
                <a:prstGeom prst="rect">
                  <a:avLst/>
                </a:prstGeom>
                <a:noFill/>
              </p:spPr>
              <p:txBody>
                <a:bodyPr wrap="square" rtlCol="0">
                  <a:spAutoFit/>
                </a:bodyPr>
                <a:lstStyle/>
                <a:p>
                  <a:pPr algn="ctr"/>
                  <a14:m>
                    <m:oMath xmlns:m="http://schemas.openxmlformats.org/officeDocument/2006/math">
                      <m:r>
                        <a:rPr lang="en-US" i="1">
                          <a:solidFill>
                            <a:srgbClr val="137CBF"/>
                          </a:solidFill>
                          <a:latin typeface="Cambria Math" panose="02040503050406030204" pitchFamily="18" charset="0"/>
                          <a:cs typeface="Times New Roman" panose="02020603050405020304" pitchFamily="18" charset="0"/>
                        </a:rPr>
                        <m:t>𝑛</m:t>
                      </m:r>
                    </m:oMath>
                  </a14:m>
                  <a:r>
                    <a:rPr lang="en-US" b="1" baseline="30000" dirty="0">
                      <a:solidFill>
                        <a:srgbClr val="0064B7"/>
                      </a:solidFill>
                      <a:latin typeface="Cambria Math" panose="02040503050406030204" pitchFamily="18" charset="0"/>
                      <a:ea typeface="Cambria Math" panose="02040503050406030204" pitchFamily="18" charset="0"/>
                    </a:rPr>
                    <a:t>2</a:t>
                  </a:r>
                  <a:r>
                    <a:rPr lang="en-US" b="1" dirty="0">
                      <a:solidFill>
                        <a:srgbClr val="0064B7"/>
                      </a:solidFill>
                      <a:latin typeface="Cambria Math" panose="02040503050406030204" pitchFamily="18" charset="0"/>
                      <a:ea typeface="Cambria Math" panose="02040503050406030204" pitchFamily="18" charset="0"/>
                    </a:rPr>
                    <a:t>+3</a:t>
                  </a:r>
                  <a14:m>
                    <m:oMath xmlns:m="http://schemas.openxmlformats.org/officeDocument/2006/math">
                      <m:r>
                        <a:rPr lang="en-US" i="1">
                          <a:solidFill>
                            <a:srgbClr val="137CBF"/>
                          </a:solidFill>
                          <a:latin typeface="Cambria Math" panose="02040503050406030204" pitchFamily="18" charset="0"/>
                          <a:cs typeface="Times New Roman" panose="02020603050405020304" pitchFamily="18" charset="0"/>
                        </a:rPr>
                        <m:t>𝑛</m:t>
                      </m:r>
                    </m:oMath>
                  </a14:m>
                  <a:r>
                    <a:rPr lang="en-US" b="1" dirty="0">
                      <a:solidFill>
                        <a:srgbClr val="0064B7"/>
                      </a:solidFill>
                      <a:latin typeface="Cambria Math" panose="02040503050406030204" pitchFamily="18" charset="0"/>
                      <a:ea typeface="Cambria Math" panose="02040503050406030204" pitchFamily="18" charset="0"/>
                    </a:rPr>
                    <a:t>+5</a:t>
                  </a:r>
                  <a:endParaRPr lang="en-US" b="1" i="1" dirty="0">
                    <a:solidFill>
                      <a:srgbClr val="0064B7"/>
                    </a:solidFill>
                    <a:latin typeface="Cambria Math" panose="02040503050406030204" pitchFamily="18" charset="0"/>
                    <a:ea typeface="Cambria Math" panose="02040503050406030204"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rot="18715703">
                  <a:off x="8210934" y="1785840"/>
                  <a:ext cx="226612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02A8897-8ABA-EC13-2391-7D55F3A2CD6B}"/>
                    </a:ext>
                  </a:extLst>
                </p:cNvPr>
                <p:cNvSpPr txBox="1"/>
                <p:nvPr/>
              </p:nvSpPr>
              <p:spPr>
                <a:xfrm rot="18704778">
                  <a:off x="8381988" y="2044959"/>
                  <a:ext cx="2266122" cy="369332"/>
                </a:xfrm>
                <a:prstGeom prst="rect">
                  <a:avLst/>
                </a:prstGeom>
                <a:noFill/>
              </p:spPr>
              <p:txBody>
                <a:bodyPr wrap="square" rtlCol="0">
                  <a:spAutoFit/>
                </a:bodyPr>
                <a:lstStyle/>
                <a:p>
                  <a:pPr algn="ctr"/>
                  <a14:m>
                    <m:oMath xmlns:m="http://schemas.openxmlformats.org/officeDocument/2006/math">
                      <m:r>
                        <a:rPr lang="en-US" i="1" smtClean="0">
                          <a:solidFill>
                            <a:srgbClr val="FF0000"/>
                          </a:solidFill>
                          <a:latin typeface="Cambria Math" panose="02040503050406030204" pitchFamily="18" charset="0"/>
                          <a:cs typeface="Times New Roman" panose="02020603050405020304" pitchFamily="18" charset="0"/>
                        </a:rPr>
                        <m:t>𝑛</m:t>
                      </m:r>
                    </m:oMath>
                  </a14:m>
                  <a:r>
                    <a:rPr lang="en-US" b="1" baseline="30000" dirty="0">
                      <a:solidFill>
                        <a:srgbClr val="FF0000"/>
                      </a:solidFill>
                      <a:latin typeface="Cambria Math" panose="02040503050406030204" pitchFamily="18" charset="0"/>
                      <a:ea typeface="Cambria Math" panose="02040503050406030204" pitchFamily="18" charset="0"/>
                    </a:rPr>
                    <a:t>2</a:t>
                  </a:r>
                  <a:endParaRPr lang="en-US" b="1" dirty="0">
                    <a:solidFill>
                      <a:srgbClr val="FF0000"/>
                    </a:solidFill>
                    <a:latin typeface="Cambria Math" panose="02040503050406030204" pitchFamily="18" charset="0"/>
                    <a:ea typeface="Cambria Math" panose="02040503050406030204"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rot="18704778">
                  <a:off x="8381988" y="2044959"/>
                  <a:ext cx="2266122" cy="369332"/>
                </a:xfrm>
                <a:prstGeom prst="rect">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779289872"/>
      </p:ext>
    </p:extLst>
  </p:cSld>
  <p:clrMapOvr>
    <a:masterClrMapping/>
  </p:clrMapOvr>
  <p:transition spd="med">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 5">
            <a:extLst>
              <a:ext uri="{FF2B5EF4-FFF2-40B4-BE49-F238E27FC236}">
                <a16:creationId xmlns:a16="http://schemas.microsoft.com/office/drawing/2014/main" id="{22B77F87-FD48-4F35-9FC0-CBC4F1C2EA77}"/>
              </a:ext>
            </a:extLst>
          </p:cNvPr>
          <p:cNvSpPr>
            <a:spLocks noGrp="1"/>
          </p:cNvSpPr>
          <p:nvPr>
            <p:ph type="title"/>
          </p:nvPr>
        </p:nvSpPr>
        <p:spPr>
          <a:xfrm>
            <a:off x="673998" y="911279"/>
            <a:ext cx="11163326" cy="424414"/>
          </a:xfrm>
        </p:spPr>
        <p:txBody>
          <a:bodyPr anchor="t" anchorCtr="0">
            <a:noAutofit/>
          </a:bodyPr>
          <a:lstStyle/>
          <a:p>
            <a:r>
              <a:rPr lang="en-US" sz="5400" cap="none" dirty="0">
                <a:effectLst>
                  <a:outerShdw blurRad="38100" dist="38100" dir="2700000" algn="tl">
                    <a:srgbClr val="000000">
                      <a:alpha val="43137"/>
                    </a:srgbClr>
                  </a:outerShdw>
                </a:effectLst>
                <a:ea typeface="+mn-ea"/>
                <a:cs typeface="Times New Roman" panose="02020603050405020304" pitchFamily="18" charset="0"/>
              </a:rPr>
              <a:t>Ignore </a:t>
            </a:r>
            <a:r>
              <a:rPr lang="en-US" sz="5400" cap="none" dirty="0">
                <a:effectLst>
                  <a:outerShdw blurRad="38100" dist="38100" dir="2700000" algn="tl">
                    <a:srgbClr val="000000">
                      <a:alpha val="43137"/>
                    </a:srgbClr>
                  </a:outerShdw>
                </a:effectLst>
                <a:ea typeface="Cambria Math" panose="02040503050406030204" pitchFamily="18" charset="0"/>
                <a:cs typeface="Times New Roman" panose="02020603050405020304" pitchFamily="18" charset="0"/>
              </a:rPr>
              <a:t>Constants and Smaller Terms</a:t>
            </a:r>
          </a:p>
        </p:txBody>
      </p:sp>
      <p:sp>
        <p:nvSpPr>
          <p:cNvPr id="3" name="TextBox 2">
            <a:extLst>
              <a:ext uri="{FF2B5EF4-FFF2-40B4-BE49-F238E27FC236}">
                <a16:creationId xmlns:a16="http://schemas.microsoft.com/office/drawing/2014/main" id="{63B8A2E3-74D1-25B0-5B63-2D943017478A}"/>
              </a:ext>
            </a:extLst>
          </p:cNvPr>
          <p:cNvSpPr txBox="1"/>
          <p:nvPr/>
        </p:nvSpPr>
        <p:spPr>
          <a:xfrm>
            <a:off x="422278" y="2197124"/>
            <a:ext cx="5186977" cy="2960811"/>
          </a:xfrm>
          <a:prstGeom prst="rect">
            <a:avLst/>
          </a:prstGeom>
          <a:noFill/>
        </p:spPr>
        <p:txBody>
          <a:bodyPr wrap="square">
            <a:spAutoFit/>
          </a:bodyPr>
          <a:lstStyle/>
          <a:p>
            <a:pPr>
              <a:lnSpc>
                <a:spcPct val="90000"/>
              </a:lnSpc>
              <a:spcAft>
                <a:spcPts val="600"/>
              </a:spcAft>
            </a:pPr>
            <a:r>
              <a:rPr lang="en-US" sz="2800" dirty="0">
                <a:solidFill>
                  <a:schemeClr val="tx1"/>
                </a:solidFill>
                <a:latin typeface="Times New Roman" panose="02020603050405020304" pitchFamily="18" charset="0"/>
              </a:rPr>
              <a:t>Here are 4 different </a:t>
            </a:r>
            <a:r>
              <a:rPr lang="en-US" sz="2800" dirty="0" smtClean="0">
                <a:solidFill>
                  <a:schemeClr val="tx1"/>
                </a:solidFill>
                <a:latin typeface="Times New Roman" panose="02020603050405020304" pitchFamily="18" charset="0"/>
              </a:rPr>
              <a:t>quadratic functions with </a:t>
            </a:r>
            <a:r>
              <a:rPr lang="en-US" sz="2800" dirty="0">
                <a:solidFill>
                  <a:schemeClr val="tx1"/>
                </a:solidFill>
                <a:latin typeface="Times New Roman" panose="02020603050405020304" pitchFamily="18" charset="0"/>
              </a:rPr>
              <a:t>4 different</a:t>
            </a:r>
            <a:r>
              <a:rPr lang="en-US" sz="2800" dirty="0">
                <a:latin typeface="Times New Roman" panose="02020603050405020304" pitchFamily="18" charset="0"/>
              </a:rPr>
              <a:t> coefficients.</a:t>
            </a:r>
          </a:p>
          <a:p>
            <a:pPr>
              <a:lnSpc>
                <a:spcPct val="90000"/>
              </a:lnSpc>
              <a:spcAft>
                <a:spcPts val="600"/>
              </a:spcAft>
            </a:pPr>
            <a:endParaRPr lang="en-US" sz="2800" dirty="0">
              <a:solidFill>
                <a:schemeClr val="tx1"/>
              </a:solidFill>
              <a:latin typeface="Times New Roman" panose="02020603050405020304" pitchFamily="18" charset="0"/>
            </a:endParaRPr>
          </a:p>
          <a:p>
            <a:pPr>
              <a:lnSpc>
                <a:spcPct val="90000"/>
              </a:lnSpc>
              <a:spcAft>
                <a:spcPts val="600"/>
              </a:spcAft>
            </a:pPr>
            <a:r>
              <a:rPr lang="en-US" sz="2800" dirty="0">
                <a:latin typeface="Times New Roman" panose="02020603050405020304" pitchFamily="18" charset="0"/>
              </a:rPr>
              <a:t>For smaller values of n less than 1,000 there is a noticeable difference in the values.</a:t>
            </a:r>
            <a:endParaRPr lang="en-US" sz="2800" dirty="0">
              <a:solidFill>
                <a:schemeClr val="tx1"/>
              </a:solidFill>
              <a:latin typeface="Times New Roman" panose="02020603050405020304" pitchFamily="18" charset="0"/>
            </a:endParaRPr>
          </a:p>
        </p:txBody>
      </p:sp>
      <p:grpSp>
        <p:nvGrpSpPr>
          <p:cNvPr id="2" name="quadratics" descr=" 8">
            <a:extLst>
              <a:ext uri="{FF2B5EF4-FFF2-40B4-BE49-F238E27FC236}">
                <a16:creationId xmlns:a16="http://schemas.microsoft.com/office/drawing/2014/main" id="{5415140F-F5CD-6C11-56C2-11CD568C862F}"/>
              </a:ext>
            </a:extLst>
          </p:cNvPr>
          <p:cNvGrpSpPr/>
          <p:nvPr/>
        </p:nvGrpSpPr>
        <p:grpSpPr>
          <a:xfrm>
            <a:off x="5609255" y="1956244"/>
            <a:ext cx="6228069" cy="4743813"/>
            <a:chOff x="3071525" y="1751814"/>
            <a:chExt cx="5333333" cy="3990476"/>
          </a:xfrm>
        </p:grpSpPr>
        <p:pic>
          <p:nvPicPr>
            <p:cNvPr id="4" name="Picture 3">
              <a:extLst>
                <a:ext uri="{FF2B5EF4-FFF2-40B4-BE49-F238E27FC236}">
                  <a16:creationId xmlns:a16="http://schemas.microsoft.com/office/drawing/2014/main" id="{12EEF47F-C111-7AC9-553C-59574B7F4FBA}"/>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71525" y="1751814"/>
              <a:ext cx="5333333" cy="3990476"/>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4AB80C9-EEE4-AD22-0114-57D57505305B}"/>
                    </a:ext>
                  </a:extLst>
                </p:cNvPr>
                <p:cNvSpPr txBox="1"/>
                <p:nvPr/>
              </p:nvSpPr>
              <p:spPr>
                <a:xfrm rot="19550619">
                  <a:off x="4959702" y="4363598"/>
                  <a:ext cx="1176212" cy="307777"/>
                </a:xfrm>
                <a:prstGeom prst="rect">
                  <a:avLst/>
                </a:prstGeom>
                <a:noFill/>
              </p:spPr>
              <p:txBody>
                <a:bodyPr wrap="square" rtlCol="0">
                  <a:spAutoFit/>
                </a:bodyPr>
                <a:lstStyle/>
                <a:p>
                  <a:pPr algn="ctr"/>
                  <a:r>
                    <a:rPr lang="en-US" sz="1400" b="1" dirty="0">
                      <a:solidFill>
                        <a:srgbClr val="1414FF"/>
                      </a:solidFill>
                      <a:latin typeface="Cambria Math" panose="02040503050406030204" pitchFamily="18" charset="0"/>
                      <a:ea typeface="Cambria Math" panose="02040503050406030204" pitchFamily="18" charset="0"/>
                    </a:rPr>
                    <a:t>100</a:t>
                  </a:r>
                  <a:r>
                    <a:rPr lang="en-US" sz="1400" dirty="0">
                      <a:solidFill>
                        <a:srgbClr val="0808FF"/>
                      </a:solidFill>
                      <a:ea typeface="Cambria Math" panose="02040503050406030204" pitchFamily="18" charset="0"/>
                      <a:cs typeface="Times New Roman" panose="02020603050405020304" pitchFamily="18" charset="0"/>
                    </a:rPr>
                    <a:t> </a:t>
                  </a:r>
                  <a14:m>
                    <m:oMath xmlns:m="http://schemas.openxmlformats.org/officeDocument/2006/math">
                      <m:r>
                        <a:rPr lang="en-US" sz="1400"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baseline="30000" dirty="0">
                      <a:solidFill>
                        <a:srgbClr val="1414FF"/>
                      </a:solidFill>
                      <a:latin typeface="Cambria Math" panose="02040503050406030204" pitchFamily="18" charset="0"/>
                      <a:ea typeface="Cambria Math" panose="02040503050406030204" pitchFamily="18" charset="0"/>
                    </a:rPr>
                    <a:t>2</a:t>
                  </a:r>
                  <a:endParaRPr lang="en-US" sz="1400" b="1" dirty="0">
                    <a:solidFill>
                      <a:srgbClr val="1414FF"/>
                    </a:solidFill>
                    <a:latin typeface="Cambria Math" panose="02040503050406030204" pitchFamily="18" charset="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rot="19550619">
                  <a:off x="4959702" y="4363598"/>
                  <a:ext cx="1176212"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4C360F9-994B-E43C-35AB-C990FE41B1D9}"/>
                    </a:ext>
                  </a:extLst>
                </p:cNvPr>
                <p:cNvSpPr txBox="1"/>
                <p:nvPr/>
              </p:nvSpPr>
              <p:spPr>
                <a:xfrm rot="21147964">
                  <a:off x="6484570" y="4824180"/>
                  <a:ext cx="1009641" cy="307777"/>
                </a:xfrm>
                <a:prstGeom prst="rect">
                  <a:avLst/>
                </a:prstGeom>
                <a:noFill/>
              </p:spPr>
              <p:txBody>
                <a:bodyPr wrap="square" rtlCol="0">
                  <a:spAutoFit/>
                </a:bodyPr>
                <a:lstStyle/>
                <a:p>
                  <a:pPr algn="ctr"/>
                  <a:r>
                    <a:rPr lang="en-US" sz="1400" b="1" dirty="0">
                      <a:solidFill>
                        <a:srgbClr val="1414FF"/>
                      </a:solidFill>
                      <a:latin typeface="Cambria Math" panose="02040503050406030204" pitchFamily="18" charset="0"/>
                      <a:ea typeface="Cambria Math" panose="02040503050406030204" pitchFamily="18" charset="0"/>
                    </a:rPr>
                    <a:t>5</a:t>
                  </a:r>
                  <a14:m>
                    <m:oMath xmlns:m="http://schemas.openxmlformats.org/officeDocument/2006/math">
                      <m:r>
                        <a:rPr lang="en-US" sz="1400"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baseline="30000" dirty="0">
                      <a:solidFill>
                        <a:srgbClr val="1414FF"/>
                      </a:solidFill>
                      <a:latin typeface="Cambria Math" panose="02040503050406030204" pitchFamily="18" charset="0"/>
                      <a:ea typeface="Cambria Math" panose="02040503050406030204" pitchFamily="18" charset="0"/>
                    </a:rPr>
                    <a:t>2</a:t>
                  </a:r>
                  <a:endParaRPr lang="en-US" sz="1400" b="1" dirty="0">
                    <a:solidFill>
                      <a:srgbClr val="1414FF"/>
                    </a:solidFill>
                    <a:latin typeface="Cambria Math" panose="02040503050406030204" pitchFamily="18" charset="0"/>
                    <a:ea typeface="Cambria Math"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rot="21147964">
                  <a:off x="6484570" y="4824180"/>
                  <a:ext cx="1009641" cy="307777"/>
                </a:xfrm>
                <a:prstGeom prst="rect">
                  <a:avLst/>
                </a:prstGeom>
                <a:blipFill>
                  <a:blip r:embed="rId5"/>
                  <a:stretch>
                    <a:fillRect b="-41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DF562C6-C9C4-07C3-9869-67999EA7EF8E}"/>
                    </a:ext>
                  </a:extLst>
                </p:cNvPr>
                <p:cNvSpPr txBox="1"/>
                <p:nvPr/>
              </p:nvSpPr>
              <p:spPr>
                <a:xfrm rot="20405831">
                  <a:off x="5725587" y="4527474"/>
                  <a:ext cx="1203447" cy="307777"/>
                </a:xfrm>
                <a:prstGeom prst="rect">
                  <a:avLst/>
                </a:prstGeom>
                <a:noFill/>
              </p:spPr>
              <p:txBody>
                <a:bodyPr wrap="square" rtlCol="0">
                  <a:spAutoFit/>
                </a:bodyPr>
                <a:lstStyle/>
                <a:p>
                  <a:pPr algn="ctr"/>
                  <a:r>
                    <a:rPr lang="en-US" sz="1400" b="1" dirty="0">
                      <a:solidFill>
                        <a:srgbClr val="1414FF"/>
                      </a:solidFill>
                      <a:latin typeface="Cambria Math" panose="02040503050406030204" pitchFamily="18" charset="0"/>
                      <a:ea typeface="Cambria Math" panose="02040503050406030204" pitchFamily="18" charset="0"/>
                    </a:rPr>
                    <a:t>20</a:t>
                  </a:r>
                  <a:r>
                    <a:rPr lang="en-US" sz="800" b="1" dirty="0">
                      <a:solidFill>
                        <a:srgbClr val="1414FF"/>
                      </a:solidFill>
                      <a:latin typeface="Cambria Math" panose="02040503050406030204" pitchFamily="18" charset="0"/>
                      <a:ea typeface="Cambria Math" panose="02040503050406030204" pitchFamily="18" charset="0"/>
                    </a:rPr>
                    <a:t> </a:t>
                  </a:r>
                  <a14:m>
                    <m:oMath xmlns:m="http://schemas.openxmlformats.org/officeDocument/2006/math">
                      <m:r>
                        <a:rPr lang="en-US" sz="1400"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baseline="30000" dirty="0">
                      <a:solidFill>
                        <a:srgbClr val="1414FF"/>
                      </a:solidFill>
                      <a:latin typeface="Cambria Math" panose="02040503050406030204" pitchFamily="18" charset="0"/>
                      <a:ea typeface="Cambria Math" panose="02040503050406030204" pitchFamily="18" charset="0"/>
                    </a:rPr>
                    <a:t>2</a:t>
                  </a:r>
                  <a:endParaRPr lang="en-US" sz="1400" b="1" dirty="0">
                    <a:solidFill>
                      <a:srgbClr val="1414FF"/>
                    </a:solidFill>
                    <a:latin typeface="Cambria Math" panose="02040503050406030204" pitchFamily="18" charset="0"/>
                    <a:ea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rot="20405831">
                  <a:off x="5725587" y="4527474"/>
                  <a:ext cx="1203447"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D6C0D75-DAF0-76E5-40DC-0E7B053CB5A2}"/>
                    </a:ext>
                  </a:extLst>
                </p:cNvPr>
                <p:cNvSpPr txBox="1"/>
                <p:nvPr/>
              </p:nvSpPr>
              <p:spPr>
                <a:xfrm>
                  <a:off x="7074543" y="5012566"/>
                  <a:ext cx="918270" cy="307777"/>
                </a:xfrm>
                <a:prstGeom prst="rect">
                  <a:avLst/>
                </a:prstGeom>
                <a:noFill/>
              </p:spPr>
              <p:txBody>
                <a:bodyPr wrap="square" rtlCol="0">
                  <a:spAutoFit/>
                </a:bodyPr>
                <a:lstStyle/>
                <a:p>
                  <a:pPr algn="ctr"/>
                  <a14:m>
                    <m:oMath xmlns:m="http://schemas.openxmlformats.org/officeDocument/2006/math">
                      <m:r>
                        <a:rPr lang="en-US" sz="1400"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baseline="30000" dirty="0">
                      <a:solidFill>
                        <a:srgbClr val="1414FF"/>
                      </a:solidFill>
                      <a:latin typeface="Cambria Math" panose="02040503050406030204" pitchFamily="18" charset="0"/>
                      <a:ea typeface="Cambria Math" panose="02040503050406030204" pitchFamily="18" charset="0"/>
                    </a:rPr>
                    <a:t>2</a:t>
                  </a:r>
                  <a:endParaRPr lang="en-US" sz="1400" b="1" dirty="0">
                    <a:solidFill>
                      <a:srgbClr val="1414FF"/>
                    </a:solidFill>
                    <a:latin typeface="Cambria Math" panose="02040503050406030204" pitchFamily="18" charset="0"/>
                    <a:ea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074543" y="5012566"/>
                  <a:ext cx="918270" cy="307777"/>
                </a:xfrm>
                <a:prstGeom prst="rect">
                  <a:avLst/>
                </a:prstGeom>
                <a:blipFill>
                  <a:blip r:embed="rId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437491790"/>
      </p:ext>
    </p:extLst>
  </p:cSld>
  <p:clrMapOvr>
    <a:masterClrMapping/>
  </p:clrMapOvr>
  <p:transition spd="med">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 5">
            <a:extLst>
              <a:ext uri="{FF2B5EF4-FFF2-40B4-BE49-F238E27FC236}">
                <a16:creationId xmlns:a16="http://schemas.microsoft.com/office/drawing/2014/main" id="{22B77F87-FD48-4F35-9FC0-CBC4F1C2EA77}"/>
              </a:ext>
            </a:extLst>
          </p:cNvPr>
          <p:cNvSpPr>
            <a:spLocks noGrp="1"/>
          </p:cNvSpPr>
          <p:nvPr>
            <p:ph type="title"/>
          </p:nvPr>
        </p:nvSpPr>
        <p:spPr>
          <a:xfrm>
            <a:off x="673998" y="911279"/>
            <a:ext cx="11163326" cy="424414"/>
          </a:xfrm>
        </p:spPr>
        <p:txBody>
          <a:bodyPr anchor="t" anchorCtr="0">
            <a:noAutofit/>
          </a:bodyPr>
          <a:lstStyle/>
          <a:p>
            <a:r>
              <a:rPr lang="en-US" sz="5400" cap="none" dirty="0">
                <a:effectLst>
                  <a:outerShdw blurRad="38100" dist="38100" dir="2700000" algn="tl">
                    <a:srgbClr val="000000">
                      <a:alpha val="43137"/>
                    </a:srgbClr>
                  </a:outerShdw>
                </a:effectLst>
                <a:ea typeface="+mn-ea"/>
                <a:cs typeface="Times New Roman" panose="02020603050405020304" pitchFamily="18" charset="0"/>
              </a:rPr>
              <a:t>Ignore </a:t>
            </a:r>
            <a:r>
              <a:rPr lang="en-US" sz="5400" cap="none" dirty="0">
                <a:effectLst>
                  <a:outerShdw blurRad="38100" dist="38100" dir="2700000" algn="tl">
                    <a:srgbClr val="000000">
                      <a:alpha val="43137"/>
                    </a:srgbClr>
                  </a:outerShdw>
                </a:effectLst>
                <a:ea typeface="Cambria Math" panose="02040503050406030204" pitchFamily="18" charset="0"/>
                <a:cs typeface="Times New Roman" panose="02020603050405020304" pitchFamily="18" charset="0"/>
              </a:rPr>
              <a:t>Constants and Smaller Terms</a:t>
            </a:r>
          </a:p>
        </p:txBody>
      </p:sp>
      <p:sp>
        <p:nvSpPr>
          <p:cNvPr id="3" name="TextBox 2">
            <a:extLst>
              <a:ext uri="{FF2B5EF4-FFF2-40B4-BE49-F238E27FC236}">
                <a16:creationId xmlns:a16="http://schemas.microsoft.com/office/drawing/2014/main" id="{63B8A2E3-74D1-25B0-5B63-2D943017478A}"/>
              </a:ext>
            </a:extLst>
          </p:cNvPr>
          <p:cNvSpPr txBox="1"/>
          <p:nvPr/>
        </p:nvSpPr>
        <p:spPr>
          <a:xfrm>
            <a:off x="434019" y="1838488"/>
            <a:ext cx="10702358" cy="867930"/>
          </a:xfrm>
          <a:prstGeom prst="rect">
            <a:avLst/>
          </a:prstGeom>
          <a:noFill/>
        </p:spPr>
        <p:txBody>
          <a:bodyPr wrap="square">
            <a:spAutoFit/>
          </a:bodyPr>
          <a:lstStyle/>
          <a:p>
            <a:pPr>
              <a:lnSpc>
                <a:spcPct val="90000"/>
              </a:lnSpc>
              <a:spcAft>
                <a:spcPts val="600"/>
              </a:spcAft>
            </a:pPr>
            <a:r>
              <a:rPr lang="en-US" sz="2800" dirty="0">
                <a:latin typeface="Times New Roman" panose="02020603050405020304" pitchFamily="18" charset="0"/>
              </a:rPr>
              <a:t>When compared with a </a:t>
            </a:r>
            <a:r>
              <a:rPr lang="en-US" sz="2800" dirty="0">
                <a:solidFill>
                  <a:srgbClr val="FF0000"/>
                </a:solidFill>
                <a:effectLst>
                  <a:outerShdw blurRad="38100" dist="38100" dir="2700000" algn="tl">
                    <a:srgbClr val="000000">
                      <a:alpha val="43137"/>
                    </a:srgbClr>
                  </a:outerShdw>
                </a:effectLst>
                <a:latin typeface="Times New Roman" panose="02020603050405020304" pitchFamily="18" charset="0"/>
              </a:rPr>
              <a:t>cubic</a:t>
            </a:r>
            <a:r>
              <a:rPr lang="en-US" sz="2800" dirty="0">
                <a:latin typeface="Times New Roman" panose="02020603050405020304" pitchFamily="18" charset="0"/>
              </a:rPr>
              <a:t> growth rate, even the </a:t>
            </a:r>
            <a:r>
              <a:rPr lang="en-US" sz="2800" dirty="0">
                <a:solidFill>
                  <a:srgbClr val="0808FF"/>
                </a:solidFill>
                <a:latin typeface="Times New Roman" panose="02020603050405020304" pitchFamily="18" charset="0"/>
              </a:rPr>
              <a:t>quadratic</a:t>
            </a:r>
            <a:r>
              <a:rPr lang="en-US" sz="2800" dirty="0">
                <a:latin typeface="Times New Roman" panose="02020603050405020304" pitchFamily="18" charset="0"/>
              </a:rPr>
              <a:t> with the largest coefficient eventually lags far behind.</a:t>
            </a:r>
          </a:p>
        </p:txBody>
      </p:sp>
      <p:grpSp>
        <p:nvGrpSpPr>
          <p:cNvPr id="2" name="add the cubic" descr=" 16">
            <a:extLst>
              <a:ext uri="{FF2B5EF4-FFF2-40B4-BE49-F238E27FC236}">
                <a16:creationId xmlns:a16="http://schemas.microsoft.com/office/drawing/2014/main" id="{FE12272C-B73D-6BA5-147F-63B5F54BECA0}"/>
              </a:ext>
            </a:extLst>
          </p:cNvPr>
          <p:cNvGrpSpPr/>
          <p:nvPr/>
        </p:nvGrpSpPr>
        <p:grpSpPr>
          <a:xfrm>
            <a:off x="6424648" y="2678824"/>
            <a:ext cx="5333333" cy="3990476"/>
            <a:chOff x="5625881" y="1612667"/>
            <a:chExt cx="5333333" cy="3990476"/>
          </a:xfrm>
        </p:grpSpPr>
        <p:pic>
          <p:nvPicPr>
            <p:cNvPr id="6" name="cubic">
              <a:extLst>
                <a:ext uri="{FF2B5EF4-FFF2-40B4-BE49-F238E27FC236}">
                  <a16:creationId xmlns:a16="http://schemas.microsoft.com/office/drawing/2014/main" id="{A2978DF0-EB23-2F5F-B9AA-AE3849ED3110}"/>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625881" y="1612667"/>
              <a:ext cx="5333333" cy="399047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AF1F27D-7D56-18CA-594A-2B76DE3CEC08}"/>
                    </a:ext>
                  </a:extLst>
                </p:cNvPr>
                <p:cNvSpPr txBox="1"/>
                <p:nvPr/>
              </p:nvSpPr>
              <p:spPr>
                <a:xfrm rot="21415804">
                  <a:off x="9270842" y="4777768"/>
                  <a:ext cx="1223173" cy="307777"/>
                </a:xfrm>
                <a:prstGeom prst="rect">
                  <a:avLst/>
                </a:prstGeom>
                <a:noFill/>
              </p:spPr>
              <p:txBody>
                <a:bodyPr wrap="square" rtlCol="0">
                  <a:spAutoFit/>
                </a:bodyPr>
                <a:lstStyle/>
                <a:p>
                  <a:pPr algn="ctr"/>
                  <a:r>
                    <a:rPr lang="en-US" sz="1400" b="1" dirty="0">
                      <a:solidFill>
                        <a:srgbClr val="0808FF"/>
                      </a:solidFill>
                      <a:latin typeface="Cambria Math" panose="02040503050406030204" pitchFamily="18" charset="0"/>
                      <a:ea typeface="Cambria Math" panose="02040503050406030204" pitchFamily="18" charset="0"/>
                    </a:rPr>
                    <a:t>100</a:t>
                  </a:r>
                  <a14:m>
                    <m:oMath xmlns:m="http://schemas.openxmlformats.org/officeDocument/2006/math">
                      <m:r>
                        <a:rPr lang="en-US" sz="1400" i="1" smtClean="0">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baseline="30000" dirty="0">
                      <a:solidFill>
                        <a:srgbClr val="0808FF"/>
                      </a:solidFill>
                      <a:latin typeface="Cambria Math" panose="02040503050406030204" pitchFamily="18" charset="0"/>
                      <a:ea typeface="Cambria Math" panose="02040503050406030204" pitchFamily="18" charset="0"/>
                    </a:rPr>
                    <a:t>2</a:t>
                  </a:r>
                  <a:endParaRPr lang="en-US" sz="1400" b="1" dirty="0">
                    <a:solidFill>
                      <a:srgbClr val="0808FF"/>
                    </a:solidFill>
                    <a:latin typeface="Cambria Math" panose="02040503050406030204" pitchFamily="18" charset="0"/>
                    <a:ea typeface="Cambria Math" panose="02040503050406030204" pitchFamily="18" charset="0"/>
                  </a:endParaRPr>
                </a:p>
              </p:txBody>
            </p:sp>
          </mc:Choice>
          <mc:Fallback xmlns="">
            <p:sp>
              <p:nvSpPr>
                <p:cNvPr id="14" name="TextBox 13"/>
                <p:cNvSpPr txBox="1">
                  <a:spLocks noRot="1" noChangeAspect="1" noMove="1" noResize="1" noEditPoints="1" noAdjustHandles="1" noChangeArrowheads="1" noChangeShapeType="1" noTextEdit="1"/>
                </p:cNvSpPr>
                <p:nvPr/>
              </p:nvSpPr>
              <p:spPr>
                <a:xfrm rot="21415804">
                  <a:off x="9270842" y="4777768"/>
                  <a:ext cx="1223173" cy="307777"/>
                </a:xfrm>
                <a:prstGeom prst="rect">
                  <a:avLst/>
                </a:prstGeom>
                <a:blipFill>
                  <a:blip r:embed="rId9"/>
                  <a:stretch>
                    <a:fillRect b="-96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48BC63B-3E9C-28F7-67EB-E1BEF6340FC4}"/>
                    </a:ext>
                  </a:extLst>
                </p:cNvPr>
                <p:cNvSpPr txBox="1"/>
                <p:nvPr/>
              </p:nvSpPr>
              <p:spPr>
                <a:xfrm rot="19351944">
                  <a:off x="7844623" y="4349681"/>
                  <a:ext cx="1329070" cy="307777"/>
                </a:xfrm>
                <a:prstGeom prst="rect">
                  <a:avLst/>
                </a:prstGeom>
                <a:noFill/>
              </p:spPr>
              <p:txBody>
                <a:bodyPr wrap="square" rtlCol="0">
                  <a:spAutoFit/>
                </a:bodyPr>
                <a:lstStyle/>
                <a:p>
                  <a:pPr algn="ctr"/>
                  <a14:m>
                    <m:oMath xmlns:m="http://schemas.openxmlformats.org/officeDocument/2006/math">
                      <m:r>
                        <a:rPr lang="en-US" sz="14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i="1" baseline="30000" dirty="0">
                      <a:solidFill>
                        <a:srgbClr val="FF0000"/>
                      </a:solidFill>
                      <a:latin typeface="Cambria Math" panose="02040503050406030204" pitchFamily="18" charset="0"/>
                      <a:ea typeface="Cambria Math" panose="02040503050406030204" pitchFamily="18" charset="0"/>
                    </a:rPr>
                    <a:t>3</a:t>
                  </a:r>
                </a:p>
              </p:txBody>
            </p:sp>
          </mc:Choice>
          <mc:Fallback xmlns="">
            <p:sp>
              <p:nvSpPr>
                <p:cNvPr id="15" name="TextBox 14"/>
                <p:cNvSpPr txBox="1">
                  <a:spLocks noRot="1" noChangeAspect="1" noMove="1" noResize="1" noEditPoints="1" noAdjustHandles="1" noChangeArrowheads="1" noChangeShapeType="1" noTextEdit="1"/>
                </p:cNvSpPr>
                <p:nvPr/>
              </p:nvSpPr>
              <p:spPr>
                <a:xfrm rot="19351944">
                  <a:off x="7844623" y="4349681"/>
                  <a:ext cx="1329070" cy="307777"/>
                </a:xfrm>
                <a:prstGeom prst="rect">
                  <a:avLst/>
                </a:prstGeom>
                <a:blipFill>
                  <a:blip r:embed="rId10"/>
                  <a:stretch>
                    <a:fillRect/>
                  </a:stretch>
                </a:blipFill>
              </p:spPr>
              <p:txBody>
                <a:bodyPr/>
                <a:lstStyle/>
                <a:p>
                  <a:r>
                    <a:rPr lang="en-US">
                      <a:noFill/>
                    </a:rPr>
                    <a:t> </a:t>
                  </a:r>
                </a:p>
              </p:txBody>
            </p:sp>
          </mc:Fallback>
        </mc:AlternateContent>
      </p:grpSp>
      <p:grpSp>
        <p:nvGrpSpPr>
          <p:cNvPr id="10" name="quadratics" descr=" 8">
            <a:extLst>
              <a:ext uri="{FF2B5EF4-FFF2-40B4-BE49-F238E27FC236}">
                <a16:creationId xmlns:a16="http://schemas.microsoft.com/office/drawing/2014/main" id="{97367B2A-DB9E-7C02-0802-C0CDD33A82F6}"/>
              </a:ext>
            </a:extLst>
          </p:cNvPr>
          <p:cNvGrpSpPr/>
          <p:nvPr/>
        </p:nvGrpSpPr>
        <p:grpSpPr>
          <a:xfrm>
            <a:off x="762667" y="2678824"/>
            <a:ext cx="5333333" cy="3990476"/>
            <a:chOff x="3071525" y="1751814"/>
            <a:chExt cx="5333333" cy="3990476"/>
          </a:xfrm>
        </p:grpSpPr>
        <p:pic>
          <p:nvPicPr>
            <p:cNvPr id="11" name="Picture 10">
              <a:extLst>
                <a:ext uri="{FF2B5EF4-FFF2-40B4-BE49-F238E27FC236}">
                  <a16:creationId xmlns:a16="http://schemas.microsoft.com/office/drawing/2014/main" id="{6D3ED7F1-F83D-F52C-E4C4-6CBF6B294C8A}"/>
                </a:ext>
              </a:extLst>
            </p:cNvPr>
            <p:cNvPicPr>
              <a:picLocks noChangeAspect="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71525" y="1751814"/>
              <a:ext cx="5333333" cy="3990476"/>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1739ABC-1D47-4C54-657F-C516BCDF0392}"/>
                    </a:ext>
                  </a:extLst>
                </p:cNvPr>
                <p:cNvSpPr txBox="1"/>
                <p:nvPr/>
              </p:nvSpPr>
              <p:spPr>
                <a:xfrm rot="19550619">
                  <a:off x="4959702" y="4363598"/>
                  <a:ext cx="1176212" cy="307777"/>
                </a:xfrm>
                <a:prstGeom prst="rect">
                  <a:avLst/>
                </a:prstGeom>
                <a:noFill/>
              </p:spPr>
              <p:txBody>
                <a:bodyPr wrap="square" rtlCol="0">
                  <a:spAutoFit/>
                </a:bodyPr>
                <a:lstStyle/>
                <a:p>
                  <a:pPr algn="ctr"/>
                  <a:r>
                    <a:rPr lang="en-US" sz="1400" b="1" dirty="0">
                      <a:solidFill>
                        <a:srgbClr val="1414FF"/>
                      </a:solidFill>
                      <a:latin typeface="Cambria Math" panose="02040503050406030204" pitchFamily="18" charset="0"/>
                      <a:ea typeface="Cambria Math" panose="02040503050406030204" pitchFamily="18" charset="0"/>
                    </a:rPr>
                    <a:t>100</a:t>
                  </a:r>
                  <a:r>
                    <a:rPr lang="en-US" sz="1400" dirty="0">
                      <a:solidFill>
                        <a:srgbClr val="0808FF"/>
                      </a:solidFill>
                      <a:ea typeface="Cambria Math" panose="02040503050406030204" pitchFamily="18" charset="0"/>
                      <a:cs typeface="Times New Roman" panose="02020603050405020304" pitchFamily="18" charset="0"/>
                    </a:rPr>
                    <a:t> </a:t>
                  </a:r>
                  <a14:m>
                    <m:oMath xmlns:m="http://schemas.openxmlformats.org/officeDocument/2006/math">
                      <m:r>
                        <a:rPr lang="en-US" sz="1400"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baseline="30000" dirty="0">
                      <a:solidFill>
                        <a:srgbClr val="1414FF"/>
                      </a:solidFill>
                      <a:latin typeface="Cambria Math" panose="02040503050406030204" pitchFamily="18" charset="0"/>
                      <a:ea typeface="Cambria Math" panose="02040503050406030204" pitchFamily="18" charset="0"/>
                    </a:rPr>
                    <a:t>2</a:t>
                  </a:r>
                  <a:endParaRPr lang="en-US" sz="1400" b="1" dirty="0">
                    <a:solidFill>
                      <a:srgbClr val="1414FF"/>
                    </a:solidFill>
                    <a:latin typeface="Cambria Math" panose="02040503050406030204" pitchFamily="18" charset="0"/>
                    <a:ea typeface="Cambria Math" panose="020405030504060302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rot="19550619">
                  <a:off x="4959702" y="4363598"/>
                  <a:ext cx="1176212" cy="30777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2CABCE2-BC18-8A87-9091-2BAFF1F800D9}"/>
                    </a:ext>
                  </a:extLst>
                </p:cNvPr>
                <p:cNvSpPr txBox="1"/>
                <p:nvPr/>
              </p:nvSpPr>
              <p:spPr>
                <a:xfrm rot="21147964">
                  <a:off x="6484570" y="4824180"/>
                  <a:ext cx="1009641" cy="307777"/>
                </a:xfrm>
                <a:prstGeom prst="rect">
                  <a:avLst/>
                </a:prstGeom>
                <a:noFill/>
              </p:spPr>
              <p:txBody>
                <a:bodyPr wrap="square" rtlCol="0">
                  <a:spAutoFit/>
                </a:bodyPr>
                <a:lstStyle/>
                <a:p>
                  <a:pPr algn="ctr"/>
                  <a:r>
                    <a:rPr lang="en-US" sz="1400" b="1" dirty="0">
                      <a:solidFill>
                        <a:srgbClr val="1414FF"/>
                      </a:solidFill>
                      <a:latin typeface="Cambria Math" panose="02040503050406030204" pitchFamily="18" charset="0"/>
                      <a:ea typeface="Cambria Math" panose="02040503050406030204" pitchFamily="18" charset="0"/>
                    </a:rPr>
                    <a:t>5</a:t>
                  </a:r>
                  <a14:m>
                    <m:oMath xmlns:m="http://schemas.openxmlformats.org/officeDocument/2006/math">
                      <m:r>
                        <a:rPr lang="en-US" sz="1400"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baseline="30000" dirty="0">
                      <a:solidFill>
                        <a:srgbClr val="1414FF"/>
                      </a:solidFill>
                      <a:latin typeface="Cambria Math" panose="02040503050406030204" pitchFamily="18" charset="0"/>
                      <a:ea typeface="Cambria Math" panose="02040503050406030204" pitchFamily="18" charset="0"/>
                    </a:rPr>
                    <a:t>2</a:t>
                  </a:r>
                  <a:endParaRPr lang="en-US" sz="1400" b="1" dirty="0">
                    <a:solidFill>
                      <a:srgbClr val="1414FF"/>
                    </a:solidFill>
                    <a:latin typeface="Cambria Math" panose="02040503050406030204" pitchFamily="18" charset="0"/>
                    <a:ea typeface="Cambria Math"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rot="21147964">
                  <a:off x="6484570" y="4824180"/>
                  <a:ext cx="1009641" cy="307777"/>
                </a:xfrm>
                <a:prstGeom prst="rect">
                  <a:avLst/>
                </a:prstGeom>
                <a:blipFill>
                  <a:blip r:embed="rId5"/>
                  <a:stretch>
                    <a:fillRect b="-41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C05763A-796F-A96D-2188-E0D8DD803485}"/>
                    </a:ext>
                  </a:extLst>
                </p:cNvPr>
                <p:cNvSpPr txBox="1"/>
                <p:nvPr/>
              </p:nvSpPr>
              <p:spPr>
                <a:xfrm rot="20405831">
                  <a:off x="5725587" y="4527474"/>
                  <a:ext cx="1203447" cy="307777"/>
                </a:xfrm>
                <a:prstGeom prst="rect">
                  <a:avLst/>
                </a:prstGeom>
                <a:noFill/>
              </p:spPr>
              <p:txBody>
                <a:bodyPr wrap="square" rtlCol="0">
                  <a:spAutoFit/>
                </a:bodyPr>
                <a:lstStyle/>
                <a:p>
                  <a:pPr algn="ctr"/>
                  <a:r>
                    <a:rPr lang="en-US" sz="1400" b="1" dirty="0">
                      <a:solidFill>
                        <a:srgbClr val="1414FF"/>
                      </a:solidFill>
                      <a:latin typeface="Cambria Math" panose="02040503050406030204" pitchFamily="18" charset="0"/>
                      <a:ea typeface="Cambria Math" panose="02040503050406030204" pitchFamily="18" charset="0"/>
                    </a:rPr>
                    <a:t>20</a:t>
                  </a:r>
                  <a:r>
                    <a:rPr lang="en-US" sz="800" b="1" dirty="0">
                      <a:solidFill>
                        <a:srgbClr val="1414FF"/>
                      </a:solidFill>
                      <a:latin typeface="Cambria Math" panose="02040503050406030204" pitchFamily="18" charset="0"/>
                      <a:ea typeface="Cambria Math" panose="02040503050406030204" pitchFamily="18" charset="0"/>
                    </a:rPr>
                    <a:t> </a:t>
                  </a:r>
                  <a14:m>
                    <m:oMath xmlns:m="http://schemas.openxmlformats.org/officeDocument/2006/math">
                      <m:r>
                        <a:rPr lang="en-US" sz="1400"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baseline="30000" dirty="0">
                      <a:solidFill>
                        <a:srgbClr val="1414FF"/>
                      </a:solidFill>
                      <a:latin typeface="Cambria Math" panose="02040503050406030204" pitchFamily="18" charset="0"/>
                      <a:ea typeface="Cambria Math" panose="02040503050406030204" pitchFamily="18" charset="0"/>
                    </a:rPr>
                    <a:t>2</a:t>
                  </a:r>
                  <a:endParaRPr lang="en-US" sz="1400" b="1" dirty="0">
                    <a:solidFill>
                      <a:srgbClr val="1414FF"/>
                    </a:solidFill>
                    <a:latin typeface="Cambria Math" panose="02040503050406030204" pitchFamily="18" charset="0"/>
                    <a:ea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rot="20405831">
                  <a:off x="5725587" y="4527474"/>
                  <a:ext cx="1203447" cy="30777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6A3DDC5-83AE-97F3-C0DC-11867D556057}"/>
                    </a:ext>
                  </a:extLst>
                </p:cNvPr>
                <p:cNvSpPr txBox="1"/>
                <p:nvPr/>
              </p:nvSpPr>
              <p:spPr>
                <a:xfrm>
                  <a:off x="7074543" y="5012566"/>
                  <a:ext cx="918270" cy="307777"/>
                </a:xfrm>
                <a:prstGeom prst="rect">
                  <a:avLst/>
                </a:prstGeom>
                <a:noFill/>
              </p:spPr>
              <p:txBody>
                <a:bodyPr wrap="square" rtlCol="0">
                  <a:spAutoFit/>
                </a:bodyPr>
                <a:lstStyle/>
                <a:p>
                  <a:pPr algn="ctr"/>
                  <a14:m>
                    <m:oMath xmlns:m="http://schemas.openxmlformats.org/officeDocument/2006/math">
                      <m:r>
                        <a:rPr lang="en-US" sz="1400"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sz="1400" b="1" baseline="30000" dirty="0">
                      <a:solidFill>
                        <a:srgbClr val="1414FF"/>
                      </a:solidFill>
                      <a:latin typeface="Cambria Math" panose="02040503050406030204" pitchFamily="18" charset="0"/>
                      <a:ea typeface="Cambria Math" panose="02040503050406030204" pitchFamily="18" charset="0"/>
                    </a:rPr>
                    <a:t>2</a:t>
                  </a:r>
                  <a:endParaRPr lang="en-US" sz="1400" b="1" dirty="0">
                    <a:solidFill>
                      <a:srgbClr val="1414FF"/>
                    </a:solidFill>
                    <a:latin typeface="Cambria Math" panose="02040503050406030204" pitchFamily="18" charset="0"/>
                    <a:ea typeface="Cambria Math" panose="020405030504060302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074543" y="5012566"/>
                  <a:ext cx="918270" cy="307777"/>
                </a:xfrm>
                <a:prstGeom prst="rect">
                  <a:avLst/>
                </a:prstGeom>
                <a:blipFill>
                  <a:blip r:embed="rId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043790390"/>
      </p:ext>
    </p:extLst>
  </p:cSld>
  <p:clrMapOvr>
    <a:masterClrMapping/>
  </p:clrMapOvr>
  <p:transition spd="med">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 5">
            <a:extLst>
              <a:ext uri="{FF2B5EF4-FFF2-40B4-BE49-F238E27FC236}">
                <a16:creationId xmlns:a16="http://schemas.microsoft.com/office/drawing/2014/main" id="{22B77F87-FD48-4F35-9FC0-CBC4F1C2EA77}"/>
              </a:ext>
            </a:extLst>
          </p:cNvPr>
          <p:cNvSpPr>
            <a:spLocks noGrp="1"/>
          </p:cNvSpPr>
          <p:nvPr>
            <p:ph type="title"/>
          </p:nvPr>
        </p:nvSpPr>
        <p:spPr>
          <a:xfrm>
            <a:off x="673998" y="911279"/>
            <a:ext cx="11163326" cy="424414"/>
          </a:xfrm>
        </p:spPr>
        <p:txBody>
          <a:bodyPr anchor="t" anchorCtr="0">
            <a:noAutofit/>
          </a:bodyPr>
          <a:lstStyle/>
          <a:p>
            <a:r>
              <a:rPr lang="en-US" sz="5400" cap="none" dirty="0">
                <a:effectLst>
                  <a:outerShdw blurRad="38100" dist="38100" dir="2700000" algn="tl">
                    <a:srgbClr val="000000">
                      <a:alpha val="43137"/>
                    </a:srgbClr>
                  </a:outerShdw>
                </a:effectLst>
                <a:ea typeface="+mn-ea"/>
                <a:cs typeface="Times New Roman" panose="02020603050405020304" pitchFamily="18" charset="0"/>
              </a:rPr>
              <a:t>Larger Terms</a:t>
            </a:r>
            <a:endParaRPr lang="en-US" sz="5400" cap="none" dirty="0">
              <a:effectLst>
                <a:outerShdw blurRad="38100" dist="38100" dir="2700000" algn="tl">
                  <a:srgbClr val="000000">
                    <a:alpha val="43137"/>
                  </a:srgbClr>
                </a:outerShdw>
              </a:effectLst>
              <a:ea typeface="Cambria Math" panose="02040503050406030204" pitchFamily="18" charset="0"/>
              <a:cs typeface="Times New Roman" panose="02020603050405020304" pitchFamily="18" charset="0"/>
            </a:endParaRPr>
          </a:p>
        </p:txBody>
      </p:sp>
      <p:pic>
        <p:nvPicPr>
          <p:cNvPr id="4" name="beginning" descr="A screenshot of a cell phone&#10;&#10;Description automatically generated">
            <a:extLst>
              <a:ext uri="{FF2B5EF4-FFF2-40B4-BE49-F238E27FC236}">
                <a16:creationId xmlns:a16="http://schemas.microsoft.com/office/drawing/2014/main" id="{836BB46E-7AA8-18C1-7F78-4A42C7A551B8}"/>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503324" y="2272453"/>
            <a:ext cx="5334000" cy="4000500"/>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3921C3C-66BB-FF0F-AC82-AA1A34493A47}"/>
                  </a:ext>
                </a:extLst>
              </p:cNvPr>
              <p:cNvSpPr txBox="1"/>
              <p:nvPr/>
            </p:nvSpPr>
            <p:spPr>
              <a:xfrm>
                <a:off x="500521" y="2272453"/>
                <a:ext cx="6216163" cy="1720471"/>
              </a:xfrm>
              <a:prstGeom prst="rect">
                <a:avLst/>
              </a:prstGeom>
              <a:noFill/>
            </p:spPr>
            <p:txBody>
              <a:bodyPr wrap="square">
                <a:spAutoFit/>
              </a:bodyPr>
              <a:lstStyle/>
              <a:p>
                <a:pPr marL="285750" indent="-285750">
                  <a:lnSpc>
                    <a:spcPct val="90000"/>
                  </a:lnSpc>
                  <a:spcAft>
                    <a:spcPts val="600"/>
                  </a:spcAft>
                  <a:buFont typeface="Wingdings" pitchFamily="2" charset="2"/>
                  <a:buChar char="Ø"/>
                </a:pPr>
                <a:r>
                  <a:rPr lang="en-US" sz="2800" dirty="0">
                    <a:solidFill>
                      <a:schemeClr val="tx1"/>
                    </a:solidFill>
                    <a:latin typeface="Times New Roman" panose="02020603050405020304" pitchFamily="18" charset="0"/>
                  </a:rPr>
                  <a:t>Here’s a plot of </a:t>
                </a:r>
                <a:r>
                  <a:rPr lang="en-US" sz="2800" b="1" dirty="0">
                    <a:solidFill>
                      <a:srgbClr val="0808FF"/>
                    </a:solidFill>
                    <a:latin typeface="Cambria Math" panose="02040503050406030204" pitchFamily="18" charset="0"/>
                    <a:cs typeface="Times New Roman" panose="02020603050405020304" pitchFamily="18" charset="0"/>
                  </a:rPr>
                  <a:t>500 </a:t>
                </a:r>
                <a14:m>
                  <m:oMath xmlns:m="http://schemas.openxmlformats.org/officeDocument/2006/math">
                    <m:r>
                      <a:rPr lang="en-US" sz="2800" i="1" smtClean="0">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𝑛</m:t>
                    </m:r>
                  </m:oMath>
                </a14:m>
                <a:r>
                  <a:rPr lang="en-US" sz="2800" b="1" baseline="30000" dirty="0">
                    <a:solidFill>
                      <a:srgbClr val="0808FF"/>
                    </a:solidFill>
                    <a:latin typeface="Cambria Math" panose="02040503050406030204" pitchFamily="18" charset="0"/>
                    <a:cs typeface="Times New Roman" panose="02020603050405020304" pitchFamily="18" charset="0"/>
                  </a:rPr>
                  <a:t>2</a:t>
                </a:r>
                <a:r>
                  <a:rPr lang="en-US" sz="2800" b="1" i="1" dirty="0">
                    <a:solidFill>
                      <a:srgbClr val="0808FF"/>
                    </a:solidFill>
                    <a:latin typeface="Cambria Math" panose="02040503050406030204" pitchFamily="18" charset="0"/>
                    <a:cs typeface="Times New Roman" panose="02020603050405020304" pitchFamily="18" charset="0"/>
                  </a:rPr>
                  <a:t>  </a:t>
                </a:r>
                <a:r>
                  <a:rPr lang="en-US" sz="2800" dirty="0">
                    <a:solidFill>
                      <a:schemeClr val="tx1"/>
                    </a:solidFill>
                    <a:latin typeface="Times New Roman" panose="02020603050405020304" pitchFamily="18" charset="0"/>
                  </a:rPr>
                  <a:t>versus</a:t>
                </a:r>
                <a:r>
                  <a:rPr lang="en-US" sz="2800" dirty="0">
                    <a:solidFill>
                      <a:schemeClr val="tx1"/>
                    </a:solidFill>
                    <a:effectLst>
                      <a:outerShdw blurRad="38100" dist="38100" dir="2700000" algn="tl">
                        <a:srgbClr val="000000">
                          <a:alpha val="43137"/>
                        </a:srgbClr>
                      </a:outerShdw>
                    </a:effectLst>
                    <a:latin typeface="Times New Roman" panose="02020603050405020304" pitchFamily="18" charset="0"/>
                  </a:rPr>
                  <a:t> </a:t>
                </a:r>
                <a:r>
                  <a:rPr lang="en-US" sz="2800" b="1" dirty="0">
                    <a:solidFill>
                      <a:srgbClr val="FF0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a:t>0.01</a:t>
                </a:r>
                <a:r>
                  <a:rPr lang="en-US" sz="2800" dirty="0">
                    <a:solidFill>
                      <a:srgbClr val="0808FF"/>
                    </a:solidFill>
                    <a:effectLst>
                      <a:outerShdw blurRad="38100" dist="38100" dir="2700000" algn="tl">
                        <a:srgbClr val="000000">
                          <a:alpha val="43137"/>
                        </a:srgbClr>
                      </a:outerShdw>
                    </a:effectLst>
                    <a:ea typeface="Cambria Math" panose="02040503050406030204" pitchFamily="18" charset="0"/>
                    <a:cs typeface="Times New Roman" panose="02020603050405020304" pitchFamily="18" charset="0"/>
                  </a:rPr>
                  <a:t> </a:t>
                </a:r>
                <a14:m>
                  <m:oMath xmlns:m="http://schemas.openxmlformats.org/officeDocument/2006/math">
                    <m:r>
                      <a:rPr lang="en-US" sz="2800"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cs typeface="Times New Roman" panose="02020603050405020304" pitchFamily="18" charset="0"/>
                      </a:rPr>
                      <m:t>𝑛</m:t>
                    </m:r>
                  </m:oMath>
                </a14:m>
                <a:r>
                  <a:rPr lang="en-US" sz="2800" b="1" baseline="30000" dirty="0">
                    <a:solidFill>
                      <a:srgbClr val="FF0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a:t>3</a:t>
                </a:r>
                <a:endParaRPr lang="en-US" sz="2800" b="1" baseline="30000" dirty="0">
                  <a:solidFill>
                    <a:srgbClr val="336600"/>
                  </a:solidFill>
                  <a:latin typeface="Cambria Math" panose="02040503050406030204" pitchFamily="18" charset="0"/>
                  <a:cs typeface="Times New Roman" panose="02020603050405020304" pitchFamily="18" charset="0"/>
                </a:endParaRPr>
              </a:p>
              <a:p>
                <a:pPr marL="285750" indent="-285750">
                  <a:lnSpc>
                    <a:spcPct val="90000"/>
                  </a:lnSpc>
                  <a:spcAft>
                    <a:spcPts val="600"/>
                  </a:spcAft>
                  <a:buFont typeface="Wingdings" pitchFamily="2" charset="2"/>
                  <a:buChar char="Ø"/>
                </a:pPr>
                <a:r>
                  <a:rPr lang="en-US" sz="2800" dirty="0">
                    <a:solidFill>
                      <a:schemeClr val="tx1"/>
                    </a:solidFill>
                    <a:latin typeface="Times New Roman" panose="02020603050405020304" pitchFamily="18" charset="0"/>
                  </a:rPr>
                  <a:t>At the beginning, when </a:t>
                </a:r>
                <a14:m>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𝑛</m:t>
                    </m:r>
                  </m:oMath>
                </a14:m>
                <a:r>
                  <a:rPr lang="en-US" sz="2800" dirty="0">
                    <a:solidFill>
                      <a:schemeClr val="tx1"/>
                    </a:solidFill>
                    <a:latin typeface="Times New Roman" panose="02020603050405020304" pitchFamily="18" charset="0"/>
                  </a:rPr>
                  <a:t> is small (less than 10000 in this graph), the </a:t>
                </a:r>
                <a:r>
                  <a:rPr lang="en-US" sz="2800" dirty="0">
                    <a:solidFill>
                      <a:srgbClr val="1414FF"/>
                    </a:solidFill>
                    <a:latin typeface="Times New Roman" panose="02020603050405020304" pitchFamily="18" charset="0"/>
                  </a:rPr>
                  <a:t>quadratic</a:t>
                </a:r>
                <a:r>
                  <a:rPr lang="en-US" sz="2800" dirty="0">
                    <a:solidFill>
                      <a:schemeClr val="tx1"/>
                    </a:solidFill>
                    <a:latin typeface="Times New Roman" panose="02020603050405020304" pitchFamily="18" charset="0"/>
                  </a:rPr>
                  <a:t> with a big coefficient may be greater</a:t>
                </a:r>
                <a:endParaRPr lang="en-US" sz="2800" dirty="0"/>
              </a:p>
            </p:txBody>
          </p:sp>
        </mc:Choice>
        <mc:Fallback xmlns="">
          <p:sp>
            <p:nvSpPr>
              <p:cNvPr id="12" name="TextBox 11">
                <a:extLst>
                  <a:ext uri="{FF2B5EF4-FFF2-40B4-BE49-F238E27FC236}">
                    <a16:creationId xmlns:a16="http://schemas.microsoft.com/office/drawing/2014/main" id="{A3921C3C-66BB-FF0F-AC82-AA1A34493A47}"/>
                  </a:ext>
                </a:extLst>
              </p:cNvPr>
              <p:cNvSpPr txBox="1">
                <a:spLocks noRot="1" noChangeAspect="1" noMove="1" noResize="1" noEditPoints="1" noAdjustHandles="1" noChangeArrowheads="1" noChangeShapeType="1" noTextEdit="1"/>
              </p:cNvSpPr>
              <p:nvPr/>
            </p:nvSpPr>
            <p:spPr>
              <a:xfrm>
                <a:off x="500521" y="2272453"/>
                <a:ext cx="6216163" cy="1720471"/>
              </a:xfrm>
              <a:prstGeom prst="rect">
                <a:avLst/>
              </a:prstGeom>
              <a:blipFill>
                <a:blip r:embed="rId3"/>
                <a:stretch>
                  <a:fillRect l="-1837" t="-7353" r="-408" b="-8824"/>
                </a:stretch>
              </a:blipFill>
            </p:spPr>
            <p:txBody>
              <a:bodyPr/>
              <a:lstStyle/>
              <a:p>
                <a:r>
                  <a:rPr lang="en-US">
                    <a:noFill/>
                  </a:rPr>
                  <a:t> </a:t>
                </a:r>
              </a:p>
            </p:txBody>
          </p:sp>
        </mc:Fallback>
      </mc:AlternateContent>
    </p:spTree>
    <p:extLst>
      <p:ext uri="{BB962C8B-B14F-4D97-AF65-F5344CB8AC3E}">
        <p14:creationId xmlns:p14="http://schemas.microsoft.com/office/powerpoint/2010/main" val="2279572576"/>
      </p:ext>
    </p:extLst>
  </p:cSld>
  <p:clrMapOvr>
    <a:masterClrMapping/>
  </p:clrMapOvr>
  <p:transition spd="med">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 5">
            <a:extLst>
              <a:ext uri="{FF2B5EF4-FFF2-40B4-BE49-F238E27FC236}">
                <a16:creationId xmlns:a16="http://schemas.microsoft.com/office/drawing/2014/main" id="{22B77F87-FD48-4F35-9FC0-CBC4F1C2EA77}"/>
              </a:ext>
            </a:extLst>
          </p:cNvPr>
          <p:cNvSpPr>
            <a:spLocks noGrp="1"/>
          </p:cNvSpPr>
          <p:nvPr>
            <p:ph type="title"/>
          </p:nvPr>
        </p:nvSpPr>
        <p:spPr>
          <a:xfrm>
            <a:off x="673998" y="911279"/>
            <a:ext cx="11163326" cy="424414"/>
          </a:xfrm>
        </p:spPr>
        <p:txBody>
          <a:bodyPr anchor="t" anchorCtr="0">
            <a:noAutofit/>
          </a:bodyPr>
          <a:lstStyle/>
          <a:p>
            <a:r>
              <a:rPr lang="en-US" sz="5400" cap="none" dirty="0">
                <a:effectLst>
                  <a:outerShdw blurRad="38100" dist="38100" dir="2700000" algn="tl">
                    <a:srgbClr val="000000">
                      <a:alpha val="43137"/>
                    </a:srgbClr>
                  </a:outerShdw>
                </a:effectLst>
                <a:ea typeface="+mn-ea"/>
                <a:cs typeface="Times New Roman" panose="02020603050405020304" pitchFamily="18" charset="0"/>
              </a:rPr>
              <a:t>Larger Terms Dominate</a:t>
            </a:r>
            <a:endParaRPr lang="en-US" sz="5400" cap="none" dirty="0">
              <a:effectLst>
                <a:outerShdw blurRad="38100" dist="38100" dir="2700000" algn="tl">
                  <a:srgbClr val="000000">
                    <a:alpha val="43137"/>
                  </a:srgbClr>
                </a:outerShdw>
              </a:effectLst>
              <a:ea typeface="Cambria Math" panose="020405030504060302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3B8A2E3-74D1-25B0-5B63-2D943017478A}"/>
              </a:ext>
            </a:extLst>
          </p:cNvPr>
          <p:cNvSpPr txBox="1"/>
          <p:nvPr/>
        </p:nvSpPr>
        <p:spPr>
          <a:xfrm>
            <a:off x="434019" y="1838488"/>
            <a:ext cx="10702358" cy="867930"/>
          </a:xfrm>
          <a:prstGeom prst="rect">
            <a:avLst/>
          </a:prstGeom>
          <a:noFill/>
        </p:spPr>
        <p:txBody>
          <a:bodyPr wrap="square">
            <a:spAutoFit/>
          </a:bodyPr>
          <a:lstStyle/>
          <a:p>
            <a:pPr>
              <a:lnSpc>
                <a:spcPct val="90000"/>
              </a:lnSpc>
              <a:spcAft>
                <a:spcPts val="600"/>
              </a:spcAft>
            </a:pPr>
            <a:r>
              <a:rPr lang="en-US" sz="2800" dirty="0">
                <a:solidFill>
                  <a:srgbClr val="003A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Any Cubic Eventually Dominates Any Quadratic, Regardless of the Coefficients.</a:t>
            </a:r>
            <a:endParaRPr lang="en-US" sz="2800" dirty="0">
              <a:latin typeface="Times New Roman" panose="02020603050405020304" pitchFamily="18" charset="0"/>
              <a:cs typeface="Times New Roman" panose="02020603050405020304" pitchFamily="18" charset="0"/>
            </a:endParaRPr>
          </a:p>
        </p:txBody>
      </p:sp>
      <p:grpSp>
        <p:nvGrpSpPr>
          <p:cNvPr id="2" name="overtaking" descr=" 31">
            <a:extLst>
              <a:ext uri="{FF2B5EF4-FFF2-40B4-BE49-F238E27FC236}">
                <a16:creationId xmlns:a16="http://schemas.microsoft.com/office/drawing/2014/main" id="{E9858630-6F95-2EBB-4D2C-DED85BF2BE32}"/>
              </a:ext>
            </a:extLst>
          </p:cNvPr>
          <p:cNvGrpSpPr/>
          <p:nvPr/>
        </p:nvGrpSpPr>
        <p:grpSpPr>
          <a:xfrm>
            <a:off x="2145755" y="2459528"/>
            <a:ext cx="8828431" cy="4000500"/>
            <a:chOff x="-65431" y="1428750"/>
            <a:chExt cx="8828431" cy="4000500"/>
          </a:xfrm>
        </p:grpSpPr>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03D5B0F-37D2-EA13-A3CA-164C7B8EF842}"/>
                    </a:ext>
                  </a:extLst>
                </p:cNvPr>
                <p:cNvSpPr/>
                <p:nvPr/>
              </p:nvSpPr>
              <p:spPr>
                <a:xfrm>
                  <a:off x="7215535" y="2327233"/>
                  <a:ext cx="909223" cy="392993"/>
                </a:xfrm>
                <a:prstGeom prst="rect">
                  <a:avLst/>
                </a:prstGeom>
              </p:spPr>
              <p:txBody>
                <a:bodyPr wrap="none">
                  <a:spAutoFit/>
                </a:bodyPr>
                <a:lstStyle/>
                <a:p>
                  <a:r>
                    <a:rPr lang="en-US" b="1" dirty="0">
                      <a:solidFill>
                        <a:srgbClr val="FF0000"/>
                      </a:solidFill>
                      <a:latin typeface="Cambria Math" panose="02040503050406030204" pitchFamily="18" charset="0"/>
                      <a:cs typeface="Times New Roman" panose="02020603050405020304" pitchFamily="18" charset="0"/>
                    </a:rPr>
                    <a:t>0.01</a:t>
                  </a:r>
                  <a:r>
                    <a:rPr lang="en-US" dirty="0">
                      <a:solidFill>
                        <a:srgbClr val="0808FF"/>
                      </a:solidFill>
                      <a:ea typeface="Cambria Math" panose="02040503050406030204" pitchFamily="18" charset="0"/>
                      <a:cs typeface="Times New Roman" panose="02020603050405020304" pitchFamily="18" charset="0"/>
                    </a:rPr>
                    <a:t> </a:t>
                  </a:r>
                  <a14:m>
                    <m:oMath xmlns:m="http://schemas.openxmlformats.org/officeDocument/2006/math">
                      <m:r>
                        <a:rPr lang="en-US"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b="1" baseline="30000" dirty="0">
                      <a:solidFill>
                        <a:srgbClr val="FF0000"/>
                      </a:solidFill>
                      <a:latin typeface="Cambria Math" panose="02040503050406030204" pitchFamily="18" charset="0"/>
                      <a:cs typeface="Times New Roman" panose="02020603050405020304" pitchFamily="18" charset="0"/>
                    </a:rPr>
                    <a:t>3</a:t>
                  </a:r>
                  <a:endParaRPr lang="en-US" b="1" dirty="0">
                    <a:latin typeface="Times New Roman" panose="020206030504050203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7215535" y="2327233"/>
                  <a:ext cx="909223" cy="392993"/>
                </a:xfrm>
                <a:prstGeom prst="rect">
                  <a:avLst/>
                </a:prstGeom>
                <a:blipFill>
                  <a:blip r:embed="rId6"/>
                  <a:stretch>
                    <a:fillRect l="-6040" t="-6250" b="-218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B5D0C11-6CE6-DC45-0B5B-8825DA50B6B3}"/>
                    </a:ext>
                  </a:extLst>
                </p:cNvPr>
                <p:cNvSpPr/>
                <p:nvPr/>
              </p:nvSpPr>
              <p:spPr>
                <a:xfrm>
                  <a:off x="6095999" y="3673900"/>
                  <a:ext cx="862737" cy="392993"/>
                </a:xfrm>
                <a:prstGeom prst="rect">
                  <a:avLst/>
                </a:prstGeom>
              </p:spPr>
              <p:txBody>
                <a:bodyPr wrap="none">
                  <a:spAutoFit/>
                </a:bodyPr>
                <a:lstStyle/>
                <a:p>
                  <a:r>
                    <a:rPr lang="en-US" b="1" dirty="0">
                      <a:solidFill>
                        <a:srgbClr val="1414FF"/>
                      </a:solidFill>
                      <a:latin typeface="Cambria Math" panose="02040503050406030204" pitchFamily="18" charset="0"/>
                      <a:cs typeface="Times New Roman" panose="02020603050405020304" pitchFamily="18" charset="0"/>
                    </a:rPr>
                    <a:t>500</a:t>
                  </a:r>
                  <a:r>
                    <a:rPr lang="en-US" dirty="0">
                      <a:solidFill>
                        <a:srgbClr val="0808FF"/>
                      </a:solidFill>
                      <a:ea typeface="Cambria Math" panose="02040503050406030204" pitchFamily="18" charset="0"/>
                      <a:cs typeface="Times New Roman" panose="02020603050405020304" pitchFamily="18" charset="0"/>
                    </a:rPr>
                    <a:t> </a:t>
                  </a:r>
                  <a14:m>
                    <m:oMath xmlns:m="http://schemas.openxmlformats.org/officeDocument/2006/math">
                      <m:r>
                        <a:rPr lang="en-US" sz="2000" b="1"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b="1" baseline="30000" dirty="0">
                      <a:solidFill>
                        <a:srgbClr val="1414FF"/>
                      </a:solidFill>
                      <a:latin typeface="Cambria Math" panose="02040503050406030204" pitchFamily="18" charset="0"/>
                      <a:cs typeface="Times New Roman" panose="02020603050405020304" pitchFamily="18" charset="0"/>
                    </a:rPr>
                    <a:t>2</a:t>
                  </a:r>
                  <a:endParaRPr lang="en-US" dirty="0">
                    <a:solidFill>
                      <a:srgbClr val="1414FF"/>
                    </a:solidFill>
                    <a:latin typeface="Times New Roman" panose="02020603050405020304" pitchFamily="18"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6095999" y="3673900"/>
                  <a:ext cx="862737" cy="392993"/>
                </a:xfrm>
                <a:prstGeom prst="rect">
                  <a:avLst/>
                </a:prstGeom>
                <a:blipFill>
                  <a:blip r:embed="rId7"/>
                  <a:stretch>
                    <a:fillRect l="-5634" t="-6250" b="-21875"/>
                  </a:stretch>
                </a:blipFill>
              </p:spPr>
              <p:txBody>
                <a:bodyPr/>
                <a:lstStyle/>
                <a:p>
                  <a:r>
                    <a:rPr lang="en-US">
                      <a:noFill/>
                    </a:rPr>
                    <a:t> </a:t>
                  </a:r>
                </a:p>
              </p:txBody>
            </p:sp>
          </mc:Fallback>
        </mc:AlternateContent>
        <p:pic>
          <p:nvPicPr>
            <p:cNvPr id="8" name="overtaking" descr="A close up of a mans face&#10;&#10;Description automatically generated">
              <a:extLst>
                <a:ext uri="{FF2B5EF4-FFF2-40B4-BE49-F238E27FC236}">
                  <a16:creationId xmlns:a16="http://schemas.microsoft.com/office/drawing/2014/main" id="{E2D7B2E9-6E3A-A688-AE74-573E412260EF}"/>
                </a:ext>
              </a:extLst>
            </p:cNvPr>
            <p:cNvPicPr>
              <a:picLocks noChangeAspect="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29000" y="1428750"/>
              <a:ext cx="5334000" cy="4000500"/>
            </a:xfrm>
            <a:prstGeom prst="rect">
              <a:avLst/>
            </a:prstGeom>
          </p:spPr>
        </p:pic>
        <mc:AlternateContent xmlns:mc="http://schemas.openxmlformats.org/markup-compatibility/2006" xmlns:a14="http://schemas.microsoft.com/office/drawing/2010/main">
          <mc:Choice Requires="a14">
            <p:sp>
              <p:nvSpPr>
                <p:cNvPr id="9" name="by the time">
                  <a:extLst>
                    <a:ext uri="{FF2B5EF4-FFF2-40B4-BE49-F238E27FC236}">
                      <a16:creationId xmlns:a16="http://schemas.microsoft.com/office/drawing/2014/main" id="{05EE4726-85F1-C7B1-411B-BDD5E8BE3959}"/>
                    </a:ext>
                  </a:extLst>
                </p:cNvPr>
                <p:cNvSpPr/>
                <p:nvPr/>
              </p:nvSpPr>
              <p:spPr>
                <a:xfrm>
                  <a:off x="-65431" y="2617133"/>
                  <a:ext cx="3672234" cy="777084"/>
                </a:xfrm>
                <a:prstGeom prst="wedgeRoundRectCallout">
                  <a:avLst>
                    <a:gd name="adj1" fmla="val 156689"/>
                    <a:gd name="adj2" fmla="val 44441"/>
                    <a:gd name="adj3" fmla="val 16667"/>
                  </a:avLst>
                </a:prstGeom>
                <a:solidFill>
                  <a:srgbClr val="996633"/>
                </a:solidFill>
                <a:ln w="6350">
                  <a:solidFill>
                    <a:schemeClr val="tx1"/>
                  </a:solidFill>
                </a:ln>
                <a:effectLst>
                  <a:outerShdw blurRad="50800" dist="38100" dir="2700000" algn="t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4163" indent="-284163">
                    <a:lnSpc>
                      <a:spcPct val="90000"/>
                    </a:lnSpc>
                    <a:spcAft>
                      <a:spcPts val="600"/>
                    </a:spcAft>
                  </a:pPr>
                  <a:r>
                    <a:rPr lang="en-US" dirty="0">
                      <a:solidFill>
                        <a:schemeClr val="tx1"/>
                      </a:solidFill>
                      <a:latin typeface="Times New Roman" panose="02020603050405020304" pitchFamily="18" charset="0"/>
                    </a:rPr>
                    <a:t>… by the time </a:t>
                  </a:r>
                  <a14:m>
                    <m:oMath xmlns:m="http://schemas.openxmlformats.org/officeDocument/2006/math">
                      <m:r>
                        <a:rPr lang="en-US" i="1">
                          <a:solidFill>
                            <a:srgbClr val="0808FF"/>
                          </a:solidFill>
                          <a:latin typeface="Cambria Math" panose="02040503050406030204" pitchFamily="18" charset="0"/>
                          <a:ea typeface="Cambria Math" panose="02040503050406030204" pitchFamily="18" charset="0"/>
                          <a:cs typeface="Times New Roman" panose="02020603050405020304" pitchFamily="18" charset="0"/>
                        </a:rPr>
                        <m:t>𝑛</m:t>
                      </m:r>
                    </m:oMath>
                  </a14:m>
                  <a:r>
                    <a:rPr lang="en-US" dirty="0">
                      <a:solidFill>
                        <a:schemeClr val="tx1"/>
                      </a:solidFill>
                      <a:latin typeface="Times New Roman" panose="02020603050405020304" pitchFamily="18" charset="0"/>
                    </a:rPr>
                    <a:t> reaches 50,000, the </a:t>
                  </a:r>
                  <a:r>
                    <a:rPr lang="en-US" dirty="0">
                      <a:solidFill>
                        <a:srgbClr val="FF0000"/>
                      </a:solidFill>
                      <a:effectLst>
                        <a:outerShdw blurRad="38100" dist="38100" dir="2700000" algn="tl">
                          <a:srgbClr val="000000">
                            <a:alpha val="43137"/>
                          </a:srgbClr>
                        </a:outerShdw>
                      </a:effectLst>
                      <a:latin typeface="Times New Roman" panose="02020603050405020304" pitchFamily="18" charset="0"/>
                    </a:rPr>
                    <a:t>cubic</a:t>
                  </a:r>
                  <a:r>
                    <a:rPr lang="en-US" dirty="0">
                      <a:solidFill>
                        <a:schemeClr val="tx1"/>
                      </a:solidFill>
                      <a:latin typeface="Times New Roman" panose="02020603050405020304" pitchFamily="18" charset="0"/>
                    </a:rPr>
                    <a:t> has caught up …</a:t>
                  </a:r>
                </a:p>
              </p:txBody>
            </p:sp>
          </mc:Choice>
          <mc:Fallback xmlns="">
            <p:sp>
              <p:nvSpPr>
                <p:cNvPr id="9" name="by the time">
                  <a:extLst>
                    <a:ext uri="{FF2B5EF4-FFF2-40B4-BE49-F238E27FC236}">
                      <a16:creationId xmlns:a16="http://schemas.microsoft.com/office/drawing/2014/main" id="{05EE4726-85F1-C7B1-411B-BDD5E8BE3959}"/>
                    </a:ext>
                  </a:extLst>
                </p:cNvPr>
                <p:cNvSpPr>
                  <a:spLocks noRot="1" noChangeAspect="1" noMove="1" noResize="1" noEditPoints="1" noAdjustHandles="1" noChangeArrowheads="1" noChangeShapeType="1" noTextEdit="1"/>
                </p:cNvSpPr>
                <p:nvPr/>
              </p:nvSpPr>
              <p:spPr>
                <a:xfrm>
                  <a:off x="-65431" y="2617133"/>
                  <a:ext cx="3672234" cy="777084"/>
                </a:xfrm>
                <a:prstGeom prst="wedgeRoundRectCallout">
                  <a:avLst>
                    <a:gd name="adj1" fmla="val 156689"/>
                    <a:gd name="adj2" fmla="val 44441"/>
                    <a:gd name="adj3" fmla="val 16667"/>
                  </a:avLst>
                </a:prstGeom>
                <a:blipFill>
                  <a:blip r:embed="rId9"/>
                  <a:stretch>
                    <a:fillRect/>
                  </a:stretch>
                </a:blipFill>
                <a:ln w="6350">
                  <a:solidFill>
                    <a:schemeClr val="tx1"/>
                  </a:solidFill>
                </a:ln>
                <a:effectLst>
                  <a:outerShdw blurRad="50800" dist="38100" dir="2700000" algn="tl" rotWithShape="0">
                    <a:prstClr val="black">
                      <a:alpha val="40000"/>
                    </a:prstClr>
                  </a:outerShdw>
                </a:effectLst>
              </p:spPr>
              <p:txBody>
                <a:bodyPr/>
                <a:lstStyle/>
                <a:p>
                  <a:r>
                    <a:rPr lang="en-US">
                      <a:noFill/>
                    </a:rPr>
                    <a:t> </a:t>
                  </a:r>
                </a:p>
              </p:txBody>
            </p:sp>
          </mc:Fallback>
        </mc:AlternateContent>
      </p:grpSp>
    </p:spTree>
    <p:extLst>
      <p:ext uri="{BB962C8B-B14F-4D97-AF65-F5344CB8AC3E}">
        <p14:creationId xmlns:p14="http://schemas.microsoft.com/office/powerpoint/2010/main" val="607748601"/>
      </p:ext>
    </p:extLst>
  </p:cSld>
  <p:clrMapOvr>
    <a:masterClrMapping/>
  </p:clrMapOvr>
  <p:transition spd="med">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 5">
            <a:extLst>
              <a:ext uri="{FF2B5EF4-FFF2-40B4-BE49-F238E27FC236}">
                <a16:creationId xmlns:a16="http://schemas.microsoft.com/office/drawing/2014/main" id="{22B77F87-FD48-4F35-9FC0-CBC4F1C2EA77}"/>
              </a:ext>
            </a:extLst>
          </p:cNvPr>
          <p:cNvSpPr>
            <a:spLocks noGrp="1"/>
          </p:cNvSpPr>
          <p:nvPr>
            <p:ph type="title"/>
          </p:nvPr>
        </p:nvSpPr>
        <p:spPr>
          <a:xfrm>
            <a:off x="673998" y="911279"/>
            <a:ext cx="11163326" cy="424414"/>
          </a:xfrm>
        </p:spPr>
        <p:txBody>
          <a:bodyPr anchor="t" anchorCtr="0">
            <a:noAutofit/>
          </a:bodyPr>
          <a:lstStyle/>
          <a:p>
            <a:r>
              <a:rPr lang="en-US" sz="5400" cap="none" dirty="0">
                <a:effectLst>
                  <a:outerShdw blurRad="38100" dist="38100" dir="2700000" algn="tl">
                    <a:srgbClr val="000000">
                      <a:alpha val="43137"/>
                    </a:srgbClr>
                  </a:outerShdw>
                </a:effectLst>
                <a:ea typeface="+mn-ea"/>
                <a:cs typeface="Times New Roman" panose="02020603050405020304" pitchFamily="18" charset="0"/>
              </a:rPr>
              <a:t>Larger Terms Dominate</a:t>
            </a:r>
            <a:endParaRPr lang="en-US" sz="5400" cap="none" dirty="0">
              <a:effectLst>
                <a:outerShdw blurRad="38100" dist="38100" dir="2700000" algn="tl">
                  <a:srgbClr val="000000">
                    <a:alpha val="43137"/>
                  </a:srgbClr>
                </a:outerShdw>
              </a:effectLst>
              <a:ea typeface="Cambria Math" panose="020405030504060302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3B8A2E3-74D1-25B0-5B63-2D943017478A}"/>
                  </a:ext>
                </a:extLst>
              </p:cNvPr>
              <p:cNvSpPr txBox="1"/>
              <p:nvPr/>
            </p:nvSpPr>
            <p:spPr>
              <a:xfrm>
                <a:off x="434018" y="1838488"/>
                <a:ext cx="11403305" cy="1643527"/>
              </a:xfrm>
              <a:prstGeom prst="rect">
                <a:avLst/>
              </a:prstGeom>
              <a:noFill/>
            </p:spPr>
            <p:txBody>
              <a:bodyPr wrap="square">
                <a:spAutoFit/>
              </a:bodyPr>
              <a:lstStyle/>
              <a:p>
                <a:pPr>
                  <a:lnSpc>
                    <a:spcPct val="90000"/>
                  </a:lnSpc>
                  <a:spcAft>
                    <a:spcPts val="600"/>
                  </a:spcAft>
                </a:pPr>
                <a:r>
                  <a:rPr lang="en-US" sz="2800" dirty="0">
                    <a:solidFill>
                      <a:schemeClr val="tx1"/>
                    </a:solidFill>
                    <a:latin typeface="Times New Roman" panose="02020603050405020304" pitchFamily="18" charset="0"/>
                  </a:rPr>
                  <a:t>by the time </a:t>
                </a:r>
                <a14:m>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𝑛</m:t>
                    </m:r>
                  </m:oMath>
                </a14:m>
                <a:r>
                  <a:rPr lang="en-US" sz="2800" dirty="0">
                    <a:solidFill>
                      <a:schemeClr val="tx1"/>
                    </a:solidFill>
                    <a:latin typeface="Times New Roman" panose="02020603050405020304" pitchFamily="18" charset="0"/>
                  </a:rPr>
                  <a:t> reaches 10</a:t>
                </a:r>
                <a:r>
                  <a:rPr lang="en-US" sz="2800" baseline="30000" dirty="0">
                    <a:solidFill>
                      <a:schemeClr val="tx1"/>
                    </a:solidFill>
                    <a:latin typeface="Times New Roman" panose="02020603050405020304" pitchFamily="18" charset="0"/>
                  </a:rPr>
                  <a:t>6</a:t>
                </a:r>
                <a:r>
                  <a:rPr lang="en-US" sz="2800" dirty="0">
                    <a:solidFill>
                      <a:schemeClr val="tx1"/>
                    </a:solidFill>
                    <a:latin typeface="Times New Roman" panose="02020603050405020304" pitchFamily="18" charset="0"/>
                  </a:rPr>
                  <a:t>, the</a:t>
                </a:r>
                <a:r>
                  <a:rPr lang="en-US" sz="2800" dirty="0">
                    <a:solidFill>
                      <a:srgbClr val="336600"/>
                    </a:solidFill>
                    <a:latin typeface="Times New Roman" panose="02020603050405020304" pitchFamily="18" charset="0"/>
                  </a:rPr>
                  <a:t> </a:t>
                </a:r>
                <a:r>
                  <a:rPr lang="en-US" sz="2800" dirty="0">
                    <a:solidFill>
                      <a:srgbClr val="FF0000"/>
                    </a:solidFill>
                    <a:latin typeface="Times New Roman" panose="02020603050405020304" pitchFamily="18" charset="0"/>
                  </a:rPr>
                  <a:t>cubic</a:t>
                </a:r>
                <a:r>
                  <a:rPr lang="en-US" sz="2800" dirty="0">
                    <a:solidFill>
                      <a:schemeClr val="tx1"/>
                    </a:solidFill>
                    <a:latin typeface="Times New Roman" panose="02020603050405020304" pitchFamily="18" charset="0"/>
                  </a:rPr>
                  <a:t> is leaving the </a:t>
                </a:r>
                <a:r>
                  <a:rPr lang="en-US" sz="2800" dirty="0">
                    <a:solidFill>
                      <a:srgbClr val="0808FF"/>
                    </a:solidFill>
                    <a:latin typeface="Times New Roman" panose="02020603050405020304" pitchFamily="18" charset="0"/>
                  </a:rPr>
                  <a:t>quadratic</a:t>
                </a:r>
                <a:r>
                  <a:rPr lang="en-US" sz="2800" dirty="0">
                    <a:solidFill>
                      <a:schemeClr val="tx1"/>
                    </a:solidFill>
                    <a:latin typeface="Times New Roman" panose="02020603050405020304" pitchFamily="18" charset="0"/>
                  </a:rPr>
                  <a:t> in the dust, illustrating the point that </a:t>
                </a:r>
                <a:r>
                  <a:rPr lang="el-GR" sz="2800" dirty="0">
                    <a:solidFill>
                      <a:schemeClr val="tx1"/>
                    </a:solidFill>
                    <a:latin typeface="Times New Roman" panose="02020603050405020304" pitchFamily="18" charset="0"/>
                  </a:rPr>
                  <a:t>θ</a:t>
                </a:r>
                <a:r>
                  <a:rPr lang="en-US" sz="2800" dirty="0">
                    <a:solidFill>
                      <a:schemeClr val="tx1"/>
                    </a:solidFill>
                    <a:latin typeface="Times New Roman" panose="02020603050405020304" pitchFamily="18" charset="0"/>
                  </a:rPr>
                  <a:t>(</a:t>
                </a:r>
                <a14:m>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𝑛</m:t>
                    </m:r>
                  </m:oMath>
                </a14:m>
                <a:r>
                  <a:rPr lang="en-US" sz="2800" baseline="30000" dirty="0">
                    <a:solidFill>
                      <a:schemeClr val="tx1"/>
                    </a:solidFill>
                    <a:latin typeface="Cambria Math" panose="02040503050406030204" pitchFamily="18" charset="0"/>
                    <a:ea typeface="Cambria Math" panose="02040503050406030204" pitchFamily="18" charset="0"/>
                  </a:rPr>
                  <a:t>2</a:t>
                </a:r>
                <a:r>
                  <a:rPr lang="en-US" sz="2800" dirty="0">
                    <a:solidFill>
                      <a:schemeClr val="tx1"/>
                    </a:solidFill>
                    <a:latin typeface="Times New Roman" panose="02020603050405020304" pitchFamily="18" charset="0"/>
                  </a:rPr>
                  <a:t>) and </a:t>
                </a:r>
                <a:r>
                  <a:rPr lang="el-GR" sz="2800" dirty="0">
                    <a:solidFill>
                      <a:schemeClr val="tx1"/>
                    </a:solidFill>
                    <a:latin typeface="Times New Roman" panose="02020603050405020304" pitchFamily="18" charset="0"/>
                  </a:rPr>
                  <a:t>θ</a:t>
                </a:r>
                <a:r>
                  <a:rPr lang="en-US" sz="2800" dirty="0">
                    <a:solidFill>
                      <a:schemeClr val="tx1"/>
                    </a:solidFill>
                    <a:latin typeface="Times New Roman" panose="02020603050405020304" pitchFamily="18" charset="0"/>
                  </a:rPr>
                  <a:t>(</a:t>
                </a:r>
                <a14:m>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𝑛</m:t>
                    </m:r>
                  </m:oMath>
                </a14:m>
                <a:r>
                  <a:rPr lang="en-US" sz="2800" baseline="30000" dirty="0">
                    <a:solidFill>
                      <a:schemeClr val="tx1"/>
                    </a:solidFill>
                    <a:latin typeface="Cambria Math" panose="02040503050406030204" pitchFamily="18" charset="0"/>
                    <a:ea typeface="Cambria Math" panose="02040503050406030204" pitchFamily="18" charset="0"/>
                  </a:rPr>
                  <a:t>3</a:t>
                </a:r>
                <a:r>
                  <a:rPr lang="en-US" sz="2800" dirty="0">
                    <a:solidFill>
                      <a:schemeClr val="tx1"/>
                    </a:solidFill>
                    <a:latin typeface="Times New Roman" panose="02020603050405020304" pitchFamily="18" charset="0"/>
                  </a:rPr>
                  <a:t>) are very different, much more different from each other than any quadratic can be from another quadratic, regardless of any coefficients.</a:t>
                </a:r>
                <a:endParaRPr lang="en-US" sz="28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63B8A2E3-74D1-25B0-5B63-2D943017478A}"/>
                  </a:ext>
                </a:extLst>
              </p:cNvPr>
              <p:cNvSpPr txBox="1">
                <a:spLocks noRot="1" noChangeAspect="1" noMove="1" noResize="1" noEditPoints="1" noAdjustHandles="1" noChangeArrowheads="1" noChangeShapeType="1" noTextEdit="1"/>
              </p:cNvSpPr>
              <p:nvPr/>
            </p:nvSpPr>
            <p:spPr>
              <a:xfrm>
                <a:off x="434018" y="1838488"/>
                <a:ext cx="11403305" cy="1643527"/>
              </a:xfrm>
              <a:prstGeom prst="rect">
                <a:avLst/>
              </a:prstGeom>
              <a:blipFill>
                <a:blip r:embed="rId2"/>
                <a:stretch>
                  <a:fillRect l="-1112" t="-6107" b="-9160"/>
                </a:stretch>
              </a:blipFill>
            </p:spPr>
            <p:txBody>
              <a:bodyPr/>
              <a:lstStyle/>
              <a:p>
                <a:r>
                  <a:rPr lang="en-US">
                    <a:noFill/>
                  </a:rPr>
                  <a:t> </a:t>
                </a:r>
              </a:p>
            </p:txBody>
          </p:sp>
        </mc:Fallback>
      </mc:AlternateContent>
      <p:grpSp>
        <p:nvGrpSpPr>
          <p:cNvPr id="4" name="Group 3" descr=" 36">
            <a:extLst>
              <a:ext uri="{FF2B5EF4-FFF2-40B4-BE49-F238E27FC236}">
                <a16:creationId xmlns:a16="http://schemas.microsoft.com/office/drawing/2014/main" id="{D4CC14A6-757C-7564-74A9-A6C7D69E8EA9}"/>
              </a:ext>
            </a:extLst>
          </p:cNvPr>
          <p:cNvGrpSpPr/>
          <p:nvPr/>
        </p:nvGrpSpPr>
        <p:grpSpPr>
          <a:xfrm>
            <a:off x="6255661" y="2857500"/>
            <a:ext cx="5334000" cy="4000500"/>
            <a:chOff x="3429000" y="1428750"/>
            <a:chExt cx="5334000" cy="4000500"/>
          </a:xfrm>
        </p:grpSpPr>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27C3615-76AD-F6D7-635E-397243D5F776}"/>
                    </a:ext>
                  </a:extLst>
                </p:cNvPr>
                <p:cNvSpPr/>
                <p:nvPr/>
              </p:nvSpPr>
              <p:spPr>
                <a:xfrm>
                  <a:off x="7037015" y="2223480"/>
                  <a:ext cx="909223" cy="392993"/>
                </a:xfrm>
                <a:prstGeom prst="rect">
                  <a:avLst/>
                </a:prstGeom>
              </p:spPr>
              <p:txBody>
                <a:bodyPr wrap="none">
                  <a:spAutoFit/>
                </a:bodyPr>
                <a:lstStyle/>
                <a:p>
                  <a:r>
                    <a:rPr lang="en-US" b="1" dirty="0">
                      <a:solidFill>
                        <a:srgbClr val="FF0000"/>
                      </a:solidFill>
                      <a:latin typeface="Cambria Math" panose="02040503050406030204" pitchFamily="18" charset="0"/>
                      <a:cs typeface="Times New Roman" panose="02020603050405020304" pitchFamily="18" charset="0"/>
                    </a:rPr>
                    <a:t>0.01</a:t>
                  </a:r>
                  <a:r>
                    <a:rPr lang="en-US" dirty="0">
                      <a:solidFill>
                        <a:srgbClr val="0808FF"/>
                      </a:solidFill>
                      <a:ea typeface="Cambria Math" panose="02040503050406030204" pitchFamily="18" charset="0"/>
                      <a:cs typeface="Times New Roman" panose="02020603050405020304" pitchFamily="18" charset="0"/>
                    </a:rPr>
                    <a:t> </a:t>
                  </a:r>
                  <a14:m>
                    <m:oMath xmlns:m="http://schemas.openxmlformats.org/officeDocument/2006/math">
                      <m:r>
                        <a:rPr lang="en-US" sz="2000" b="1"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𝒏</m:t>
                      </m:r>
                    </m:oMath>
                  </a14:m>
                  <a:r>
                    <a:rPr lang="en-US" b="1" baseline="30000" dirty="0">
                      <a:solidFill>
                        <a:srgbClr val="FF0000"/>
                      </a:solidFill>
                      <a:latin typeface="Cambria Math" panose="02040503050406030204" pitchFamily="18" charset="0"/>
                      <a:cs typeface="Times New Roman" panose="02020603050405020304" pitchFamily="18" charset="0"/>
                    </a:rPr>
                    <a:t>3</a:t>
                  </a:r>
                  <a:endParaRPr lang="en-US" b="1" dirty="0">
                    <a:latin typeface="Times New Roman" panose="02020603050405020304" pitchFamily="18" charset="0"/>
                  </a:endParaRPr>
                </a:p>
              </p:txBody>
            </p:sp>
          </mc:Choice>
          <mc:Fallback xmlns="">
            <p:sp>
              <p:nvSpPr>
                <p:cNvPr id="27" name="Rectangle 26"/>
                <p:cNvSpPr>
                  <a:spLocks noRot="1" noChangeAspect="1" noMove="1" noResize="1" noEditPoints="1" noAdjustHandles="1" noChangeArrowheads="1" noChangeShapeType="1" noTextEdit="1"/>
                </p:cNvSpPr>
                <p:nvPr/>
              </p:nvSpPr>
              <p:spPr>
                <a:xfrm>
                  <a:off x="7037015" y="2223480"/>
                  <a:ext cx="909223" cy="392993"/>
                </a:xfrm>
                <a:prstGeom prst="rect">
                  <a:avLst/>
                </a:prstGeom>
                <a:blipFill>
                  <a:blip r:embed="rId11"/>
                  <a:stretch>
                    <a:fillRect l="-5333" t="-6250" b="-218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C435E5E-CEE8-F1AE-693F-86DE2250BC49}"/>
                    </a:ext>
                  </a:extLst>
                </p:cNvPr>
                <p:cNvSpPr/>
                <p:nvPr/>
              </p:nvSpPr>
              <p:spPr>
                <a:xfrm>
                  <a:off x="7434922" y="4473910"/>
                  <a:ext cx="857927" cy="392993"/>
                </a:xfrm>
                <a:prstGeom prst="rect">
                  <a:avLst/>
                </a:prstGeom>
              </p:spPr>
              <p:txBody>
                <a:bodyPr wrap="none">
                  <a:spAutoFit/>
                </a:bodyPr>
                <a:lstStyle/>
                <a:p>
                  <a:r>
                    <a:rPr lang="en-US" b="1" dirty="0">
                      <a:solidFill>
                        <a:srgbClr val="1414FF"/>
                      </a:solidFill>
                      <a:latin typeface="Cambria Math" panose="02040503050406030204" pitchFamily="18" charset="0"/>
                      <a:cs typeface="Times New Roman" panose="02020603050405020304" pitchFamily="18" charset="0"/>
                    </a:rPr>
                    <a:t>500</a:t>
                  </a:r>
                  <a:r>
                    <a:rPr lang="en-US" b="1" dirty="0">
                      <a:solidFill>
                        <a:srgbClr val="0808FF"/>
                      </a:solidFill>
                      <a:ea typeface="Cambria Math" panose="02040503050406030204" pitchFamily="18" charset="0"/>
                      <a:cs typeface="Times New Roman" panose="02020603050405020304" pitchFamily="18" charset="0"/>
                    </a:rPr>
                    <a:t> </a:t>
                  </a:r>
                  <a14:m>
                    <m:oMath xmlns:m="http://schemas.openxmlformats.org/officeDocument/2006/math">
                      <m:r>
                        <a:rPr lang="en-US" sz="2000" b="1" i="1" smtClean="0">
                          <a:solidFill>
                            <a:srgbClr val="0808FF"/>
                          </a:solidFill>
                          <a:latin typeface="Cambria Math" panose="02040503050406030204" pitchFamily="18" charset="0"/>
                        </a:rPr>
                        <m:t>𝒏</m:t>
                      </m:r>
                    </m:oMath>
                  </a14:m>
                  <a:r>
                    <a:rPr lang="en-US" b="1" baseline="30000" dirty="0"/>
                    <a:t>2</a:t>
                  </a:r>
                  <a:endParaRPr lang="en-US" b="1" baseline="30000" dirty="0">
                    <a:solidFill>
                      <a:srgbClr val="1414FF"/>
                    </a:solidFill>
                    <a:latin typeface="Times New Roman" panose="02020603050405020304" pitchFamily="18" charset="0"/>
                  </a:endParaRPr>
                </a:p>
              </p:txBody>
            </p:sp>
          </mc:Choice>
          <mc:Fallback xmlns="">
            <p:sp>
              <p:nvSpPr>
                <p:cNvPr id="21" name="Rectangle 20"/>
                <p:cNvSpPr>
                  <a:spLocks noRot="1" noChangeAspect="1" noMove="1" noResize="1" noEditPoints="1" noAdjustHandles="1" noChangeArrowheads="1" noChangeShapeType="1" noTextEdit="1"/>
                </p:cNvSpPr>
                <p:nvPr/>
              </p:nvSpPr>
              <p:spPr>
                <a:xfrm>
                  <a:off x="7434922" y="4473910"/>
                  <a:ext cx="857927" cy="392993"/>
                </a:xfrm>
                <a:prstGeom prst="rect">
                  <a:avLst/>
                </a:prstGeom>
                <a:blipFill>
                  <a:blip r:embed="rId12"/>
                  <a:stretch>
                    <a:fillRect l="-6429" t="-6250" b="-21875"/>
                  </a:stretch>
                </a:blipFill>
              </p:spPr>
              <p:txBody>
                <a:bodyPr/>
                <a:lstStyle/>
                <a:p>
                  <a:r>
                    <a:rPr lang="en-US">
                      <a:noFill/>
                    </a:rPr>
                    <a:t> </a:t>
                  </a:r>
                </a:p>
              </p:txBody>
            </p:sp>
          </mc:Fallback>
        </mc:AlternateContent>
        <p:pic>
          <p:nvPicPr>
            <p:cNvPr id="12" name="dominant" descr="A close up of a device&#10;&#10;Description automatically generated">
              <a:extLst>
                <a:ext uri="{FF2B5EF4-FFF2-40B4-BE49-F238E27FC236}">
                  <a16:creationId xmlns:a16="http://schemas.microsoft.com/office/drawing/2014/main" id="{82CF1F33-3BE0-39D9-EA01-E652B90AACEC}"/>
                </a:ext>
              </a:extLst>
            </p:cNvPr>
            <p:cNvPicPr>
              <a:picLocks noChangeAspect="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29000" y="1428750"/>
              <a:ext cx="5334000" cy="4000500"/>
            </a:xfrm>
            <a:prstGeom prst="rect">
              <a:avLst/>
            </a:prstGeom>
          </p:spPr>
        </p:pic>
      </p:grpSp>
    </p:spTree>
    <p:extLst>
      <p:ext uri="{BB962C8B-B14F-4D97-AF65-F5344CB8AC3E}">
        <p14:creationId xmlns:p14="http://schemas.microsoft.com/office/powerpoint/2010/main" val="433839149"/>
      </p:ext>
    </p:extLst>
  </p:cSld>
  <p:clrMapOvr>
    <a:masterClrMapping/>
  </p:clrMapOvr>
  <p:transition spd="med">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54E49-9503-49D3-BE98-4391C95E1459}"/>
              </a:ext>
            </a:extLst>
          </p:cNvPr>
          <p:cNvSpPr>
            <a:spLocks noGrp="1"/>
          </p:cNvSpPr>
          <p:nvPr>
            <p:ph type="title"/>
          </p:nvPr>
        </p:nvSpPr>
        <p:spPr>
          <a:xfrm>
            <a:off x="645574" y="991804"/>
            <a:ext cx="10515600" cy="727951"/>
          </a:xfrm>
        </p:spPr>
        <p:txBody>
          <a:bodyPr>
            <a:noAutofit/>
          </a:bodyPr>
          <a:lstStyle/>
          <a:p>
            <a:r>
              <a:rPr lang="en-US" sz="4400" cap="none" dirty="0">
                <a:effectLst>
                  <a:outerShdw blurRad="38100" dist="38100" dir="2700000" algn="tl">
                    <a:srgbClr val="000000">
                      <a:alpha val="43137"/>
                    </a:srgbClr>
                  </a:outerShdw>
                </a:effectLst>
              </a:rPr>
              <a:t>And </a:t>
            </a:r>
            <a:r>
              <a:rPr lang="en-US" sz="4400" cap="none" dirty="0">
                <a:solidFill>
                  <a:srgbClr val="63B0D1"/>
                </a:solidFill>
                <a:effectLst>
                  <a:outerShdw blurRad="38100" dist="38100" dir="2700000" algn="tl">
                    <a:srgbClr val="000000">
                      <a:alpha val="43137"/>
                    </a:srgbClr>
                  </a:outerShdw>
                </a:effectLst>
              </a:rPr>
              <a:t>Exponential</a:t>
            </a:r>
            <a:r>
              <a:rPr lang="en-US" sz="4400" cap="none" dirty="0">
                <a:effectLst>
                  <a:outerShdw blurRad="38100" dist="38100" dir="2700000" algn="tl">
                    <a:srgbClr val="000000">
                      <a:alpha val="43137"/>
                    </a:srgbClr>
                  </a:outerShdw>
                </a:effectLst>
              </a:rPr>
              <a:t> Growth Is Faster Still</a:t>
            </a:r>
            <a:endParaRPr lang="en-US" sz="4400" cap="none" dirty="0">
              <a:solidFill>
                <a:srgbClr val="84A84A"/>
              </a:solidFill>
              <a:effectLst>
                <a:outerShdw blurRad="38100" dist="38100" dir="2700000" algn="tl">
                  <a:srgbClr val="000000">
                    <a:alpha val="43137"/>
                  </a:srgbClr>
                </a:outerShdw>
              </a:effectLst>
            </a:endParaRPr>
          </a:p>
        </p:txBody>
      </p:sp>
      <p:pic>
        <p:nvPicPr>
          <p:cNvPr id="5" name="exponential vs cubic" descr="A close up of a device&#10;&#10;Description automatically generated">
            <a:extLst>
              <a:ext uri="{FF2B5EF4-FFF2-40B4-BE49-F238E27FC236}">
                <a16:creationId xmlns:a16="http://schemas.microsoft.com/office/drawing/2014/main" id="{F739B6B4-9D05-4B89-98F1-168F876F603C}"/>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23809" y="2264454"/>
            <a:ext cx="5895965" cy="442197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E8F203C-E8C3-445E-99D9-8834196B6B00}"/>
                  </a:ext>
                </a:extLst>
              </p:cNvPr>
              <p:cNvSpPr txBox="1"/>
              <p:nvPr/>
            </p:nvSpPr>
            <p:spPr>
              <a:xfrm>
                <a:off x="6096000" y="2967335"/>
                <a:ext cx="578069" cy="461665"/>
              </a:xfrm>
              <a:prstGeom prst="rect">
                <a:avLst/>
              </a:prstGeom>
              <a:noFill/>
            </p:spPr>
            <p:txBody>
              <a:bodyPr wrap="square" rtlCol="0">
                <a:spAutoFit/>
              </a:bodyPr>
              <a:lstStyle/>
              <a:p>
                <a:pPr algn="ctr"/>
                <a14:m>
                  <m:oMath xmlns:m="http://schemas.openxmlformats.org/officeDocument/2006/math">
                    <m:r>
                      <a:rPr lang="en-US" sz="2400" b="1" i="1" smtClean="0">
                        <a:solidFill>
                          <a:srgbClr val="80A051"/>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𝒏</m:t>
                    </m:r>
                  </m:oMath>
                </a14:m>
                <a:r>
                  <a:rPr lang="en-US" sz="2400" b="1" baseline="30000" dirty="0">
                    <a:solidFill>
                      <a:srgbClr val="80A05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3</a:t>
                </a:r>
              </a:p>
            </p:txBody>
          </p:sp>
        </mc:Choice>
        <mc:Fallback xmlns="">
          <p:sp>
            <p:nvSpPr>
              <p:cNvPr id="6" name="TextBox 5">
                <a:extLst>
                  <a:ext uri="{FF2B5EF4-FFF2-40B4-BE49-F238E27FC236}">
                    <a16:creationId xmlns:a16="http://schemas.microsoft.com/office/drawing/2014/main" id="{EE8F203C-E8C3-445E-99D9-8834196B6B00}"/>
                  </a:ext>
                </a:extLst>
              </p:cNvPr>
              <p:cNvSpPr txBox="1">
                <a:spLocks noRot="1" noChangeAspect="1" noMove="1" noResize="1" noEditPoints="1" noAdjustHandles="1" noChangeArrowheads="1" noChangeShapeType="1" noTextEdit="1"/>
              </p:cNvSpPr>
              <p:nvPr/>
            </p:nvSpPr>
            <p:spPr>
              <a:xfrm>
                <a:off x="6096000" y="2967335"/>
                <a:ext cx="578069" cy="461665"/>
              </a:xfrm>
              <a:prstGeom prst="rect">
                <a:avLst/>
              </a:prstGeom>
              <a:blipFill>
                <a:blip r:embed="rId3"/>
                <a:stretch>
                  <a:fillRect t="-2632" r="-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065819A-CF3F-4EDF-9EBD-5CF5417C1111}"/>
                  </a:ext>
                </a:extLst>
              </p:cNvPr>
              <p:cNvSpPr txBox="1"/>
              <p:nvPr/>
            </p:nvSpPr>
            <p:spPr>
              <a:xfrm>
                <a:off x="4672226" y="2736502"/>
                <a:ext cx="578069" cy="461665"/>
              </a:xfrm>
              <a:prstGeom prst="rect">
                <a:avLst/>
              </a:prstGeom>
              <a:noFill/>
            </p:spPr>
            <p:txBody>
              <a:bodyPr wrap="square" rtlCol="0">
                <a:spAutoFit/>
              </a:bodyPr>
              <a:lstStyle/>
              <a:p>
                <a:pPr algn="ctr"/>
                <a:r>
                  <a:rPr lang="en-US" sz="2400" b="1" dirty="0">
                    <a:solidFill>
                      <a:srgbClr val="63B0D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a:t>
                </a:r>
                <a14:m>
                  <m:oMath xmlns:m="http://schemas.openxmlformats.org/officeDocument/2006/math">
                    <m:r>
                      <a:rPr lang="en-US" sz="2400" b="1" i="1" baseline="30000" smtClean="0">
                        <a:solidFill>
                          <a:srgbClr val="63B0D1"/>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𝒏</m:t>
                    </m:r>
                  </m:oMath>
                </a14:m>
                <a:endParaRPr lang="en-US" sz="2400" b="1" baseline="30000" dirty="0">
                  <a:solidFill>
                    <a:srgbClr val="63B0D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C065819A-CF3F-4EDF-9EBD-5CF5417C1111}"/>
                  </a:ext>
                </a:extLst>
              </p:cNvPr>
              <p:cNvSpPr txBox="1">
                <a:spLocks noRot="1" noChangeAspect="1" noMove="1" noResize="1" noEditPoints="1" noAdjustHandles="1" noChangeArrowheads="1" noChangeShapeType="1" noTextEdit="1"/>
              </p:cNvSpPr>
              <p:nvPr/>
            </p:nvSpPr>
            <p:spPr>
              <a:xfrm>
                <a:off x="4672226" y="2736502"/>
                <a:ext cx="578069" cy="461665"/>
              </a:xfrm>
              <a:prstGeom prst="rect">
                <a:avLst/>
              </a:prstGeom>
              <a:blipFill>
                <a:blip r:embed="rId4"/>
                <a:stretch>
                  <a:fillRect l="-8511" t="-10526" b="-31579"/>
                </a:stretch>
              </a:blipFill>
            </p:spPr>
            <p:txBody>
              <a:bodyPr/>
              <a:lstStyle/>
              <a:p>
                <a:r>
                  <a:rPr lang="en-US">
                    <a:noFill/>
                  </a:rPr>
                  <a:t> </a:t>
                </a:r>
              </a:p>
            </p:txBody>
          </p:sp>
        </mc:Fallback>
      </mc:AlternateContent>
      <p:pic>
        <p:nvPicPr>
          <p:cNvPr id="8" name="linear vs log" hidden="1">
            <a:extLst>
              <a:ext uri="{FF2B5EF4-FFF2-40B4-BE49-F238E27FC236}">
                <a16:creationId xmlns:a16="http://schemas.microsoft.com/office/drawing/2014/main" id="{D4524C21-F4BA-4755-BB10-4578BDF91478}"/>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649264" y="1325920"/>
            <a:ext cx="5012778" cy="375958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04E909F-B159-4D05-B003-37049BBCF299}"/>
                  </a:ext>
                </a:extLst>
              </p:cNvPr>
              <p:cNvSpPr txBox="1"/>
              <p:nvPr/>
            </p:nvSpPr>
            <p:spPr>
              <a:xfrm>
                <a:off x="6385034" y="5660569"/>
                <a:ext cx="578069" cy="461665"/>
              </a:xfrm>
              <a:prstGeom prst="rect">
                <a:avLst/>
              </a:prstGeom>
              <a:noFill/>
            </p:spPr>
            <p:txBody>
              <a:bodyPr wrap="square" rtlCol="0">
                <a:spAutoFit/>
              </a:bodyPr>
              <a:lstStyle/>
              <a:p>
                <a:pPr algn="ctr"/>
                <a14:m>
                  <m:oMath xmlns:m="http://schemas.openxmlformats.org/officeDocument/2006/math">
                    <m:r>
                      <a:rPr lang="en-US" sz="2400" b="1" i="1" smtClean="0">
                        <a:solidFill>
                          <a:srgbClr val="FFC000"/>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𝒏</m:t>
                    </m:r>
                  </m:oMath>
                </a14:m>
                <a:r>
                  <a:rPr lang="en-US" sz="2400" b="1" baseline="30000" dirty="0">
                    <a:solidFill>
                      <a:srgbClr val="FFC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a:t>2</a:t>
                </a:r>
              </a:p>
            </p:txBody>
          </p:sp>
        </mc:Choice>
        <mc:Fallback xmlns="">
          <p:sp>
            <p:nvSpPr>
              <p:cNvPr id="9" name="TextBox 8">
                <a:extLst>
                  <a:ext uri="{FF2B5EF4-FFF2-40B4-BE49-F238E27FC236}">
                    <a16:creationId xmlns:a16="http://schemas.microsoft.com/office/drawing/2014/main" id="{304E909F-B159-4D05-B003-37049BBCF299}"/>
                  </a:ext>
                </a:extLst>
              </p:cNvPr>
              <p:cNvSpPr txBox="1">
                <a:spLocks noRot="1" noChangeAspect="1" noMove="1" noResize="1" noEditPoints="1" noAdjustHandles="1" noChangeArrowheads="1" noChangeShapeType="1" noTextEdit="1"/>
              </p:cNvSpPr>
              <p:nvPr/>
            </p:nvSpPr>
            <p:spPr>
              <a:xfrm>
                <a:off x="6385034" y="5660569"/>
                <a:ext cx="578069" cy="461665"/>
              </a:xfrm>
              <a:prstGeom prst="rect">
                <a:avLst/>
              </a:prstGeom>
              <a:blipFill>
                <a:blip r:embed="rId6"/>
                <a:stretch>
                  <a:fillRect t="-2703" r="-4255"/>
                </a:stretch>
              </a:blipFill>
            </p:spPr>
            <p:txBody>
              <a:bodyPr/>
              <a:lstStyle/>
              <a:p>
                <a:r>
                  <a:rPr lang="en-US">
                    <a:noFill/>
                  </a:rPr>
                  <a:t> </a:t>
                </a:r>
              </a:p>
            </p:txBody>
          </p:sp>
        </mc:Fallback>
      </mc:AlternateContent>
    </p:spTree>
    <p:extLst>
      <p:ext uri="{BB962C8B-B14F-4D97-AF65-F5344CB8AC3E}">
        <p14:creationId xmlns:p14="http://schemas.microsoft.com/office/powerpoint/2010/main" val="2001043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 20">
            <a:extLst>
              <a:ext uri="{FF2B5EF4-FFF2-40B4-BE49-F238E27FC236}">
                <a16:creationId xmlns:a16="http://schemas.microsoft.com/office/drawing/2014/main" id="{561DBA51-32B8-49F5-A29A-4376E977119A}"/>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66396" y="2918910"/>
            <a:ext cx="5012778" cy="3759584"/>
          </a:xfrm>
          <a:prstGeom prst="rect">
            <a:avLst/>
          </a:prstGeom>
        </p:spPr>
      </p:pic>
      <p:sp>
        <p:nvSpPr>
          <p:cNvPr id="31" name="Title 1" descr=" 31">
            <a:extLst>
              <a:ext uri="{FF2B5EF4-FFF2-40B4-BE49-F238E27FC236}">
                <a16:creationId xmlns:a16="http://schemas.microsoft.com/office/drawing/2014/main" id="{1010641F-EFF3-42A7-81E5-C1830E934AC3}"/>
              </a:ext>
            </a:extLst>
          </p:cNvPr>
          <p:cNvSpPr>
            <a:spLocks noGrp="1"/>
          </p:cNvSpPr>
          <p:nvPr>
            <p:ph type="title"/>
          </p:nvPr>
        </p:nvSpPr>
        <p:spPr>
          <a:xfrm>
            <a:off x="764854" y="982929"/>
            <a:ext cx="9798853" cy="764160"/>
          </a:xfrm>
        </p:spPr>
        <p:txBody>
          <a:bodyPr>
            <a:noAutofit/>
          </a:bodyPr>
          <a:lstStyle/>
          <a:p>
            <a:pPr algn="ctr">
              <a:lnSpc>
                <a:spcPct val="80000"/>
              </a:lnSpc>
            </a:pPr>
            <a:r>
              <a:rPr lang="en-US" dirty="0">
                <a:effectLst>
                  <a:outerShdw blurRad="38100" dist="38100" dir="2700000" algn="tl">
                    <a:srgbClr val="000000">
                      <a:alpha val="43137"/>
                    </a:srgbClr>
                  </a:outerShdw>
                </a:effectLst>
              </a:rPr>
              <a:t>Note:  </a:t>
            </a:r>
            <a:r>
              <a:rPr lang="en-US" dirty="0">
                <a:solidFill>
                  <a:srgbClr val="6CB5D8"/>
                </a:solidFill>
                <a:effectLst>
                  <a:outerShdw blurRad="38100" dist="38100" dir="2700000" algn="tl">
                    <a:srgbClr val="000000">
                      <a:alpha val="43137"/>
                    </a:srgbClr>
                  </a:outerShdw>
                </a:effectLst>
              </a:rPr>
              <a:t>Exponential</a:t>
            </a:r>
            <a:r>
              <a:rPr lang="en-US" dirty="0">
                <a:effectLst>
                  <a:outerShdw blurRad="38100" dist="38100" dir="2700000" algn="tl">
                    <a:srgbClr val="000000">
                      <a:alpha val="43137"/>
                    </a:srgbClr>
                  </a:outerShdw>
                </a:effectLst>
              </a:rPr>
              <a:t> Growth is </a:t>
            </a:r>
            <a:r>
              <a:rPr lang="en-US" i="1" dirty="0">
                <a:effectLst>
                  <a:outerShdw blurRad="38100" dist="38100" dir="2700000" algn="tl">
                    <a:srgbClr val="000000">
                      <a:alpha val="43137"/>
                    </a:srgbClr>
                  </a:outerShdw>
                </a:effectLst>
              </a:rPr>
              <a:t>Really</a:t>
            </a:r>
            <a:r>
              <a:rPr lang="en-US" dirty="0">
                <a:effectLst>
                  <a:outerShdw blurRad="38100" dist="38100" dir="2700000" algn="tl">
                    <a:srgbClr val="000000">
                      <a:alpha val="43137"/>
                    </a:srgbClr>
                  </a:outerShdw>
                </a:effectLst>
              </a:rPr>
              <a:t> Faster</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2" name="TextBox 1" descr=" 2">
                <a:extLst>
                  <a:ext uri="{FF2B5EF4-FFF2-40B4-BE49-F238E27FC236}">
                    <a16:creationId xmlns:a16="http://schemas.microsoft.com/office/drawing/2014/main" id="{B368839A-B513-4CA1-B1A4-932006A67D00}"/>
                  </a:ext>
                </a:extLst>
              </p:cNvPr>
              <p:cNvSpPr txBox="1"/>
              <p:nvPr/>
            </p:nvSpPr>
            <p:spPr>
              <a:xfrm>
                <a:off x="10563707" y="3198167"/>
                <a:ext cx="797470" cy="461665"/>
              </a:xfrm>
              <a:prstGeom prst="rect">
                <a:avLst/>
              </a:prstGeom>
              <a:noFill/>
            </p:spPr>
            <p:txBody>
              <a:bodyPr wrap="square" rtlCol="0">
                <a:spAutoFit/>
              </a:bodyPr>
              <a:lstStyle/>
              <a:p>
                <a:pPr algn="ctr"/>
                <a:r>
                  <a:rPr lang="en-US" sz="2400" b="1" dirty="0">
                    <a:solidFill>
                      <a:srgbClr val="00B0F0"/>
                    </a:solidFill>
                    <a:latin typeface="Cambria Math" panose="02040503050406030204" pitchFamily="18" charset="0"/>
                    <a:ea typeface="Cambria Math" panose="02040503050406030204" pitchFamily="18" charset="0"/>
                    <a:cs typeface="Times New Roman" panose="02020603050405020304" pitchFamily="18" charset="0"/>
                  </a:rPr>
                  <a:t>2</a:t>
                </a:r>
                <a14:m>
                  <m:oMath xmlns:m="http://schemas.openxmlformats.org/officeDocument/2006/math">
                    <m:r>
                      <a:rPr lang="en-US" sz="2400" b="1" i="1" baseline="30000">
                        <a:solidFill>
                          <a:srgbClr val="00B0F0"/>
                        </a:solidFill>
                        <a:latin typeface="Cambria Math" panose="02040503050406030204" pitchFamily="18" charset="0"/>
                        <a:cs typeface="Times New Roman" panose="02020603050405020304" pitchFamily="18" charset="0"/>
                      </a:rPr>
                      <m:t>𝒏</m:t>
                    </m:r>
                  </m:oMath>
                </a14:m>
                <a:endParaRPr lang="en-US" sz="2400" dirty="0"/>
              </a:p>
            </p:txBody>
          </p:sp>
        </mc:Choice>
        <mc:Fallback xmlns="">
          <p:sp>
            <p:nvSpPr>
              <p:cNvPr id="2" name="TextBox 1" descr=" 2">
                <a:extLst>
                  <a:ext uri="{FF2B5EF4-FFF2-40B4-BE49-F238E27FC236}">
                    <a16:creationId xmlns:a16="http://schemas.microsoft.com/office/drawing/2014/main" id="{B368839A-B513-4CA1-B1A4-932006A67D00}"/>
                  </a:ext>
                </a:extLst>
              </p:cNvPr>
              <p:cNvSpPr txBox="1">
                <a:spLocks noRot="1" noChangeAspect="1" noMove="1" noResize="1" noEditPoints="1" noAdjustHandles="1" noChangeArrowheads="1" noChangeShapeType="1" noTextEdit="1"/>
              </p:cNvSpPr>
              <p:nvPr/>
            </p:nvSpPr>
            <p:spPr>
              <a:xfrm>
                <a:off x="10563707" y="3198167"/>
                <a:ext cx="797470" cy="461665"/>
              </a:xfrm>
              <a:prstGeom prst="rect">
                <a:avLst/>
              </a:prstGeom>
              <a:blipFill>
                <a:blip r:embed="rId3"/>
                <a:stretch>
                  <a:fillRect t="-8333"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59AA7B4-CAA0-4B61-11F6-3648BE641E63}"/>
                  </a:ext>
                </a:extLst>
              </p:cNvPr>
              <p:cNvSpPr txBox="1"/>
              <p:nvPr/>
            </p:nvSpPr>
            <p:spPr>
              <a:xfrm>
                <a:off x="498846" y="1810191"/>
                <a:ext cx="6533721" cy="5158335"/>
              </a:xfrm>
              <a:prstGeom prst="rect">
                <a:avLst/>
              </a:prstGeom>
              <a:noFill/>
            </p:spPr>
            <p:txBody>
              <a:bodyPr wrap="square">
                <a:spAutoFit/>
              </a:bodyPr>
              <a:lstStyle/>
              <a:p>
                <a:pPr marL="457200" indent="-457200">
                  <a:lnSpc>
                    <a:spcPct val="95000"/>
                  </a:lnSpc>
                  <a:spcAft>
                    <a:spcPts val="1200"/>
                  </a:spcAft>
                  <a:buFont typeface="Wingdings" pitchFamily="2" charset="2"/>
                  <a:buChar char="Ø"/>
                </a:pPr>
                <a:r>
                  <a:rPr lang="en-US" sz="2800" dirty="0">
                    <a:latin typeface="Times New Roman" panose="02020603050405020304" pitchFamily="18" charset="0"/>
                    <a:ea typeface="Cambria Math" panose="02040503050406030204" pitchFamily="18" charset="0"/>
                    <a:cs typeface="Times New Roman" panose="02020603050405020304" pitchFamily="18" charset="0"/>
                  </a:rPr>
                  <a:t>F</a:t>
                </a:r>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ast growing big-</a:t>
                </a:r>
                <a:r>
                  <a:rPr lang="en-US" sz="2800" dirty="0">
                    <a:latin typeface="Times New Roman" panose="02020603050405020304" pitchFamily="18" charset="0"/>
                    <a:ea typeface="Cambria Math" panose="02040503050406030204" pitchFamily="18" charset="0"/>
                    <a:cs typeface="Times New Roman" panose="02020603050405020304" pitchFamily="18" charset="0"/>
                  </a:rPr>
                  <a:t>O</a:t>
                </a:r>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algorithms are bad, not good </a:t>
                </a:r>
              </a:p>
              <a:p>
                <a:pPr marL="457200" indent="-457200">
                  <a:lnSpc>
                    <a:spcPct val="95000"/>
                  </a:lnSpc>
                  <a:buFont typeface="Wingdings" pitchFamily="2" charset="2"/>
                  <a:buChar char="Ø"/>
                </a:pPr>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An </a:t>
                </a:r>
                <a:r>
                  <a:rPr lang="en-US" sz="2800" b="1" dirty="0">
                    <a:solidFill>
                      <a:srgbClr val="6CB5D8"/>
                    </a:solidFill>
                    <a:latin typeface="Times New Roman" panose="02020603050405020304" pitchFamily="18" charset="0"/>
                    <a:ea typeface="Cambria Math" panose="02040503050406030204" pitchFamily="18" charset="0"/>
                    <a:cs typeface="Times New Roman" panose="02020603050405020304" pitchFamily="18" charset="0"/>
                  </a:rPr>
                  <a:t>exponential</a:t>
                </a:r>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time algorithm is not practical for a problem of any substantial size whatsoever</a:t>
                </a:r>
                <a:b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br>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a:t>
                </a:r>
              </a:p>
              <a:p>
                <a:pPr marL="457200" indent="-457200">
                  <a:lnSpc>
                    <a:spcPct val="95000"/>
                  </a:lnSpc>
                  <a:buFont typeface="Wingdings" pitchFamily="2" charset="2"/>
                  <a:buChar char="Ø"/>
                </a:pPr>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NSA really likes encryption/decryption algorithm that’s efficient </a:t>
                </a:r>
                <a:b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br>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(say, O(</a:t>
                </a:r>
                <a14:m>
                  <m:oMath xmlns:m="http://schemas.openxmlformats.org/officeDocument/2006/math">
                    <m:r>
                      <a:rPr lang="en-US" sz="2800" i="1">
                        <a:solidFill>
                          <a:schemeClr val="tx1"/>
                        </a:solidFill>
                        <a:latin typeface="Cambria Math" panose="02040503050406030204" pitchFamily="18" charset="0"/>
                        <a:cs typeface="Times New Roman" panose="02020603050405020304" pitchFamily="18" charset="0"/>
                      </a:rPr>
                      <m:t>𝑛</m:t>
                    </m:r>
                  </m:oMath>
                </a14:m>
                <a:r>
                  <a:rPr lang="en-US" sz="2800" baseline="300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3</a:t>
                </a:r>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or better), where </a:t>
                </a:r>
                <a14:m>
                  <m:oMath xmlns:m="http://schemas.openxmlformats.org/officeDocument/2006/math">
                    <m:r>
                      <a:rPr lang="en-US" sz="2800" i="1">
                        <a:solidFill>
                          <a:schemeClr val="tx1"/>
                        </a:solidFill>
                        <a:latin typeface="Cambria Math" panose="02040503050406030204" pitchFamily="18" charset="0"/>
                        <a:cs typeface="Times New Roman" panose="02020603050405020304" pitchFamily="18" charset="0"/>
                      </a:rPr>
                      <m:t>𝑛</m:t>
                    </m:r>
                  </m:oMath>
                </a14:m>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is the number of bits in the key, where brute-force approach to breaking the encryption is </a:t>
                </a:r>
                <a:r>
                  <a:rPr lang="en-US" sz="2800" dirty="0">
                    <a:latin typeface="Times New Roman" panose="02020603050405020304" pitchFamily="18" charset="0"/>
                    <a:ea typeface="Cambria Math" panose="02040503050406030204" pitchFamily="18" charset="0"/>
                    <a:cs typeface="Times New Roman" panose="02020603050405020304" pitchFamily="18" charset="0"/>
                  </a:rPr>
                  <a:t>at best case </a:t>
                </a:r>
                <a:r>
                  <a:rPr lang="en-US" sz="2800" b="1" dirty="0">
                    <a:solidFill>
                      <a:srgbClr val="00B0F0"/>
                    </a:solidFill>
                    <a:latin typeface="Times New Roman" panose="02020603050405020304" pitchFamily="18" charset="0"/>
                    <a:ea typeface="Cambria Math" panose="02040503050406030204" pitchFamily="18" charset="0"/>
                    <a:cs typeface="Times New Roman" panose="02020603050405020304" pitchFamily="18" charset="0"/>
                  </a:rPr>
                  <a:t>2</a:t>
                </a:r>
                <a14:m>
                  <m:oMath xmlns:m="http://schemas.openxmlformats.org/officeDocument/2006/math">
                    <m:r>
                      <a:rPr lang="en-US" sz="2800" b="1" i="1" baseline="30000">
                        <a:solidFill>
                          <a:srgbClr val="00B0F0"/>
                        </a:solidFill>
                        <a:latin typeface="Cambria Math" panose="02040503050406030204" pitchFamily="18" charset="0"/>
                        <a:cs typeface="Times New Roman" panose="02020603050405020304" pitchFamily="18" charset="0"/>
                      </a:rPr>
                      <m:t>𝒏</m:t>
                    </m:r>
                  </m:oMath>
                </a14:m>
                <a:r>
                  <a:rPr lang="en-US" sz="2800" dirty="0">
                    <a:solidFill>
                      <a:schemeClr val="tx1"/>
                    </a:solidFill>
                    <a:latin typeface="Times New Roman" panose="02020603050405020304" pitchFamily="18" charset="0"/>
                    <a:ea typeface="Cambria Math" panose="02040503050406030204" pitchFamily="18" charset="0"/>
                    <a:cs typeface="Times New Roman" panose="02020603050405020304" pitchFamily="18" charset="0"/>
                  </a:rPr>
                  <a:t> </a:t>
                </a:r>
              </a:p>
            </p:txBody>
          </p:sp>
        </mc:Choice>
        <mc:Fallback xmlns="">
          <p:sp>
            <p:nvSpPr>
              <p:cNvPr id="5" name="TextBox 4">
                <a:extLst>
                  <a:ext uri="{FF2B5EF4-FFF2-40B4-BE49-F238E27FC236}">
                    <a16:creationId xmlns:a16="http://schemas.microsoft.com/office/drawing/2014/main" id="{B59AA7B4-CAA0-4B61-11F6-3648BE641E63}"/>
                  </a:ext>
                </a:extLst>
              </p:cNvPr>
              <p:cNvSpPr txBox="1">
                <a:spLocks noRot="1" noChangeAspect="1" noMove="1" noResize="1" noEditPoints="1" noAdjustHandles="1" noChangeArrowheads="1" noChangeShapeType="1" noTextEdit="1"/>
              </p:cNvSpPr>
              <p:nvPr/>
            </p:nvSpPr>
            <p:spPr>
              <a:xfrm>
                <a:off x="498846" y="1810191"/>
                <a:ext cx="6533721" cy="5158335"/>
              </a:xfrm>
              <a:prstGeom prst="rect">
                <a:avLst/>
              </a:prstGeom>
              <a:blipFill>
                <a:blip r:embed="rId4"/>
                <a:stretch>
                  <a:fillRect l="-1748" t="-1720" r="-2524" b="-2457"/>
                </a:stretch>
              </a:blipFill>
            </p:spPr>
            <p:txBody>
              <a:bodyPr/>
              <a:lstStyle/>
              <a:p>
                <a:r>
                  <a:rPr lang="en-US">
                    <a:noFill/>
                  </a:rPr>
                  <a:t> </a:t>
                </a:r>
              </a:p>
            </p:txBody>
          </p:sp>
        </mc:Fallback>
      </mc:AlternateContent>
    </p:spTree>
    <p:extLst>
      <p:ext uri="{BB962C8B-B14F-4D97-AF65-F5344CB8AC3E}">
        <p14:creationId xmlns:p14="http://schemas.microsoft.com/office/powerpoint/2010/main" val="2190945800"/>
      </p:ext>
    </p:extLst>
  </p:cSld>
  <p:clrMapOvr>
    <a:masterClrMapping/>
  </p:clrMapOvr>
  <p:transition spd="med">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490" y="2018051"/>
            <a:ext cx="11451020" cy="4163647"/>
          </a:xfrm>
        </p:spPr>
        <p:txBody>
          <a:bodyPr anchor="t" anchorCtr="0">
            <a:noAutofit/>
          </a:bodyPr>
          <a:lstStyle/>
          <a:p>
            <a:pPr marL="0" indent="0">
              <a:lnSpc>
                <a:spcPct val="95000"/>
              </a:lnSpc>
              <a:spcAft>
                <a:spcPts val="600"/>
              </a:spcAft>
              <a:buNone/>
            </a:pPr>
            <a:r>
              <a:rPr lang="en-US" sz="3200" dirty="0">
                <a:solidFill>
                  <a:srgbClr val="0070C0"/>
                </a:solidFill>
              </a:rPr>
              <a:t>If n=10, What will print when we run this?</a:t>
            </a:r>
          </a:p>
          <a:p>
            <a:pPr marL="0" indent="0">
              <a:lnSpc>
                <a:spcPct val="95000"/>
              </a:lnSpc>
              <a:spcAft>
                <a:spcPts val="600"/>
              </a:spcAft>
              <a:buNone/>
            </a:pPr>
            <a:r>
              <a:rPr lang="en-US" sz="3200" dirty="0">
                <a:solidFill>
                  <a:srgbClr val="0070C0"/>
                </a:solidFill>
              </a:rPr>
              <a:t>(for a super challenge, what is the time complexity)</a:t>
            </a:r>
            <a:endParaRPr lang="en-US" sz="3200" dirty="0"/>
          </a:p>
          <a:p>
            <a:pPr marL="0" indent="0">
              <a:lnSpc>
                <a:spcPct val="95000"/>
              </a:lnSpc>
              <a:spcAft>
                <a:spcPts val="600"/>
              </a:spcAft>
              <a:buNone/>
            </a:pPr>
            <a:r>
              <a:rPr lang="en-US" sz="3200" dirty="0"/>
              <a:t>int x=</a:t>
            </a:r>
            <a:r>
              <a:rPr lang="en-US" sz="3200" dirty="0">
                <a:solidFill>
                  <a:schemeClr val="tx1"/>
                </a:solidFill>
              </a:rPr>
              <a:t>1</a:t>
            </a:r>
            <a:r>
              <a:rPr lang="en-US" sz="3200" dirty="0"/>
              <a:t>;</a:t>
            </a:r>
          </a:p>
          <a:p>
            <a:pPr marL="0" indent="0">
              <a:lnSpc>
                <a:spcPct val="95000"/>
              </a:lnSpc>
              <a:spcAft>
                <a:spcPts val="600"/>
              </a:spcAft>
              <a:buNone/>
            </a:pPr>
            <a:r>
              <a:rPr lang="en-US" sz="3200" dirty="0"/>
              <a:t>while (x &lt;= n){</a:t>
            </a:r>
          </a:p>
          <a:p>
            <a:pPr marL="0" indent="0">
              <a:lnSpc>
                <a:spcPct val="95000"/>
              </a:lnSpc>
              <a:spcAft>
                <a:spcPts val="600"/>
              </a:spcAft>
              <a:buNone/>
            </a:pPr>
            <a:r>
              <a:rPr lang="en-US" sz="3200" dirty="0"/>
              <a:t>	printf("%d ", x); </a:t>
            </a:r>
          </a:p>
          <a:p>
            <a:pPr marL="0" indent="0">
              <a:lnSpc>
                <a:spcPct val="95000"/>
              </a:lnSpc>
              <a:spcAft>
                <a:spcPts val="600"/>
              </a:spcAft>
              <a:buNone/>
            </a:pPr>
            <a:r>
              <a:rPr lang="en-US" sz="3200" dirty="0"/>
              <a:t>	x</a:t>
            </a:r>
            <a:r>
              <a:rPr lang="en-US" sz="3200" dirty="0">
                <a:solidFill>
                  <a:srgbClr val="FF0000"/>
                </a:solidFill>
              </a:rPr>
              <a:t>*</a:t>
            </a:r>
            <a:r>
              <a:rPr lang="en-US" sz="3200" dirty="0"/>
              <a:t>= </a:t>
            </a:r>
            <a:r>
              <a:rPr lang="en-US" sz="3200" dirty="0">
                <a:solidFill>
                  <a:srgbClr val="FF0000"/>
                </a:solidFill>
              </a:rPr>
              <a:t>2</a:t>
            </a:r>
            <a:r>
              <a:rPr lang="en-US" sz="3200" dirty="0"/>
              <a:t>; </a:t>
            </a:r>
          </a:p>
          <a:p>
            <a:pPr marL="0" indent="0">
              <a:lnSpc>
                <a:spcPct val="95000"/>
              </a:lnSpc>
              <a:spcAft>
                <a:spcPts val="600"/>
              </a:spcAft>
              <a:buNone/>
            </a:pPr>
            <a:r>
              <a:rPr lang="en-US" sz="3200" dirty="0"/>
              <a:t>}</a:t>
            </a:r>
          </a:p>
        </p:txBody>
      </p:sp>
      <p:sp>
        <p:nvSpPr>
          <p:cNvPr id="2" name="TextBox 1"/>
          <p:cNvSpPr txBox="1"/>
          <p:nvPr/>
        </p:nvSpPr>
        <p:spPr>
          <a:xfrm>
            <a:off x="845854" y="782272"/>
            <a:ext cx="10500292" cy="92333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 Complexity</a:t>
            </a:r>
          </a:p>
        </p:txBody>
      </p:sp>
    </p:spTree>
    <p:extLst>
      <p:ext uri="{BB962C8B-B14F-4D97-AF65-F5344CB8AC3E}">
        <p14:creationId xmlns:p14="http://schemas.microsoft.com/office/powerpoint/2010/main" val="954150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0490" y="2018051"/>
            <a:ext cx="11451020" cy="4163647"/>
          </a:xfrm>
        </p:spPr>
        <p:txBody>
          <a:bodyPr anchor="t" anchorCtr="0">
            <a:noAutofit/>
          </a:bodyPr>
          <a:lstStyle/>
          <a:p>
            <a:pPr marL="0" indent="0">
              <a:lnSpc>
                <a:spcPct val="95000"/>
              </a:lnSpc>
              <a:spcAft>
                <a:spcPts val="600"/>
              </a:spcAft>
              <a:buNone/>
            </a:pPr>
            <a:r>
              <a:rPr lang="en-US" sz="3200" dirty="0">
                <a:solidFill>
                  <a:srgbClr val="0070C0"/>
                </a:solidFill>
              </a:rPr>
              <a:t>Notice that our first 2 examples were similar.</a:t>
            </a:r>
          </a:p>
          <a:p>
            <a:pPr marL="0" indent="0">
              <a:lnSpc>
                <a:spcPct val="95000"/>
              </a:lnSpc>
              <a:spcAft>
                <a:spcPts val="600"/>
              </a:spcAft>
              <a:buNone/>
            </a:pPr>
            <a:r>
              <a:rPr lang="en-US" sz="3200" dirty="0">
                <a:solidFill>
                  <a:srgbClr val="0070C0"/>
                </a:solidFill>
              </a:rPr>
              <a:t>1) printing n values</a:t>
            </a:r>
          </a:p>
          <a:p>
            <a:pPr marL="0" indent="0">
              <a:lnSpc>
                <a:spcPct val="95000"/>
              </a:lnSpc>
              <a:spcAft>
                <a:spcPts val="600"/>
              </a:spcAft>
              <a:buNone/>
            </a:pPr>
            <a:r>
              <a:rPr lang="en-US" sz="3200" dirty="0">
                <a:solidFill>
                  <a:srgbClr val="0070C0"/>
                </a:solidFill>
              </a:rPr>
              <a:t>2) printing n/2 values</a:t>
            </a:r>
          </a:p>
          <a:p>
            <a:pPr marL="0" indent="0">
              <a:lnSpc>
                <a:spcPct val="95000"/>
              </a:lnSpc>
              <a:spcAft>
                <a:spcPts val="600"/>
              </a:spcAft>
              <a:buNone/>
            </a:pPr>
            <a:endParaRPr lang="en-US" sz="3200" dirty="0">
              <a:solidFill>
                <a:srgbClr val="0070C0"/>
              </a:solidFill>
            </a:endParaRPr>
          </a:p>
          <a:p>
            <a:pPr marL="0" indent="0">
              <a:lnSpc>
                <a:spcPct val="95000"/>
              </a:lnSpc>
              <a:spcAft>
                <a:spcPts val="600"/>
              </a:spcAft>
              <a:buNone/>
            </a:pPr>
            <a:r>
              <a:rPr lang="en-US" sz="3200" dirty="0">
                <a:solidFill>
                  <a:srgbClr val="0070C0"/>
                </a:solidFill>
              </a:rPr>
              <a:t>3) printing n</a:t>
            </a:r>
            <a:r>
              <a:rPr lang="en-US" sz="3200" baseline="30000" dirty="0">
                <a:solidFill>
                  <a:srgbClr val="0070C0"/>
                </a:solidFill>
              </a:rPr>
              <a:t>2  </a:t>
            </a:r>
            <a:r>
              <a:rPr lang="en-US" sz="3200" dirty="0">
                <a:solidFill>
                  <a:srgbClr val="0070C0"/>
                </a:solidFill>
              </a:rPr>
              <a:t>values</a:t>
            </a:r>
          </a:p>
          <a:p>
            <a:pPr marL="0" indent="0">
              <a:lnSpc>
                <a:spcPct val="95000"/>
              </a:lnSpc>
              <a:spcAft>
                <a:spcPts val="600"/>
              </a:spcAft>
              <a:buNone/>
            </a:pPr>
            <a:r>
              <a:rPr lang="en-US" sz="3200" dirty="0">
                <a:solidFill>
                  <a:srgbClr val="0070C0"/>
                </a:solidFill>
              </a:rPr>
              <a:t>4) printing log</a:t>
            </a:r>
            <a:r>
              <a:rPr lang="en-US" sz="3200" baseline="-25000" dirty="0">
                <a:solidFill>
                  <a:srgbClr val="0070C0"/>
                </a:solidFill>
              </a:rPr>
              <a:t>2</a:t>
            </a:r>
            <a:r>
              <a:rPr lang="en-US" sz="3200" dirty="0">
                <a:solidFill>
                  <a:srgbClr val="0070C0"/>
                </a:solidFill>
              </a:rPr>
              <a:t>(n) values</a:t>
            </a:r>
            <a:endParaRPr lang="en-US" sz="3200" dirty="0"/>
          </a:p>
        </p:txBody>
      </p:sp>
      <p:sp>
        <p:nvSpPr>
          <p:cNvPr id="2" name="TextBox 1"/>
          <p:cNvSpPr txBox="1"/>
          <p:nvPr/>
        </p:nvSpPr>
        <p:spPr>
          <a:xfrm>
            <a:off x="845854" y="782272"/>
            <a:ext cx="10500292" cy="923330"/>
          </a:xfrm>
          <a:prstGeom prst="rect">
            <a:avLst/>
          </a:prstGeom>
          <a:noFill/>
        </p:spPr>
        <p:txBody>
          <a:bodyPr wrap="square" rtlCol="0">
            <a:spAutoFit/>
          </a:bodyPr>
          <a:lstStyle/>
          <a:p>
            <a:pPr algn="ctr"/>
            <a:r>
              <a:rPr lang="en-US" sz="5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 Complexity</a:t>
            </a:r>
          </a:p>
        </p:txBody>
      </p:sp>
      <p:pic>
        <p:nvPicPr>
          <p:cNvPr id="4" name="Picture 3" descr="A screen shot of a graph&#10;&#10;Description automatically generated">
            <a:extLst>
              <a:ext uri="{FF2B5EF4-FFF2-40B4-BE49-F238E27FC236}">
                <a16:creationId xmlns:a16="http://schemas.microsoft.com/office/drawing/2014/main" id="{41364F2B-900C-4887-307F-47608A34E807}"/>
              </a:ext>
            </a:extLst>
          </p:cNvPr>
          <p:cNvPicPr>
            <a:picLocks noChangeAspect="1"/>
          </p:cNvPicPr>
          <p:nvPr/>
        </p:nvPicPr>
        <p:blipFill>
          <a:blip r:embed="rId3"/>
          <a:stretch>
            <a:fillRect/>
          </a:stretch>
        </p:blipFill>
        <p:spPr>
          <a:xfrm>
            <a:off x="621502" y="0"/>
            <a:ext cx="10118216" cy="6616103"/>
          </a:xfrm>
          <a:prstGeom prst="rect">
            <a:avLst/>
          </a:prstGeom>
        </p:spPr>
      </p:pic>
      <p:sp>
        <p:nvSpPr>
          <p:cNvPr id="5" name="Rectangle 4">
            <a:extLst>
              <a:ext uri="{FF2B5EF4-FFF2-40B4-BE49-F238E27FC236}">
                <a16:creationId xmlns:a16="http://schemas.microsoft.com/office/drawing/2014/main" id="{51AAC3C8-37B5-18D9-EF77-B993BAA13BA5}"/>
              </a:ext>
            </a:extLst>
          </p:cNvPr>
          <p:cNvSpPr/>
          <p:nvPr/>
        </p:nvSpPr>
        <p:spPr>
          <a:xfrm>
            <a:off x="6795247" y="4476723"/>
            <a:ext cx="2366682" cy="8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log</a:t>
            </a:r>
            <a:r>
              <a:rPr lang="en-US" sz="2800" baseline="-25000" dirty="0"/>
              <a:t>2</a:t>
            </a:r>
            <a:r>
              <a:rPr lang="en-US" sz="2800" dirty="0"/>
              <a:t>(n) is FAST</a:t>
            </a:r>
          </a:p>
        </p:txBody>
      </p:sp>
      <p:sp>
        <p:nvSpPr>
          <p:cNvPr id="6" name="Rectangle 5">
            <a:extLst>
              <a:ext uri="{FF2B5EF4-FFF2-40B4-BE49-F238E27FC236}">
                <a16:creationId xmlns:a16="http://schemas.microsoft.com/office/drawing/2014/main" id="{F64CD93C-1181-4FE5-F650-B088555675E7}"/>
              </a:ext>
            </a:extLst>
          </p:cNvPr>
          <p:cNvSpPr/>
          <p:nvPr/>
        </p:nvSpPr>
        <p:spPr>
          <a:xfrm>
            <a:off x="6096000" y="2180790"/>
            <a:ext cx="3209364" cy="8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O(n/2) is GOOD, and same as O(n)</a:t>
            </a:r>
          </a:p>
        </p:txBody>
      </p:sp>
      <p:sp>
        <p:nvSpPr>
          <p:cNvPr id="7" name="Rectangle 6">
            <a:extLst>
              <a:ext uri="{FF2B5EF4-FFF2-40B4-BE49-F238E27FC236}">
                <a16:creationId xmlns:a16="http://schemas.microsoft.com/office/drawing/2014/main" id="{BD5D94C8-9839-44C0-ED1A-92214E9CEBB9}"/>
              </a:ext>
            </a:extLst>
          </p:cNvPr>
          <p:cNvSpPr/>
          <p:nvPr/>
        </p:nvSpPr>
        <p:spPr>
          <a:xfrm>
            <a:off x="5351929" y="1098051"/>
            <a:ext cx="2886635" cy="8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O(n) is GOOD</a:t>
            </a:r>
          </a:p>
        </p:txBody>
      </p:sp>
      <p:sp>
        <p:nvSpPr>
          <p:cNvPr id="8" name="Rectangle 7">
            <a:extLst>
              <a:ext uri="{FF2B5EF4-FFF2-40B4-BE49-F238E27FC236}">
                <a16:creationId xmlns:a16="http://schemas.microsoft.com/office/drawing/2014/main" id="{0FE518EA-D989-5B3C-E400-3E3A1E83F377}"/>
              </a:ext>
            </a:extLst>
          </p:cNvPr>
          <p:cNvSpPr/>
          <p:nvPr/>
        </p:nvSpPr>
        <p:spPr>
          <a:xfrm>
            <a:off x="2205317" y="908429"/>
            <a:ext cx="2886635" cy="8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O(n</a:t>
            </a:r>
            <a:r>
              <a:rPr lang="en-US" sz="2800" baseline="30000" dirty="0"/>
              <a:t>2</a:t>
            </a:r>
            <a:r>
              <a:rPr lang="en-US" sz="2800" dirty="0"/>
              <a:t>) is SLOW</a:t>
            </a:r>
          </a:p>
        </p:txBody>
      </p:sp>
    </p:spTree>
    <p:extLst>
      <p:ext uri="{BB962C8B-B14F-4D97-AF65-F5344CB8AC3E}">
        <p14:creationId xmlns:p14="http://schemas.microsoft.com/office/powerpoint/2010/main" val="2324031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F938-D2AC-C01D-50A4-0EF3FF7C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D4102-7AFF-A122-2DF5-A3355887D0E3}"/>
              </a:ext>
            </a:extLst>
          </p:cNvPr>
          <p:cNvSpPr>
            <a:spLocks noGrp="1"/>
          </p:cNvSpPr>
          <p:nvPr>
            <p:ph type="title"/>
          </p:nvPr>
        </p:nvSpPr>
        <p:spPr>
          <a:xfrm>
            <a:off x="581192" y="5264487"/>
            <a:ext cx="11029616" cy="718870"/>
          </a:xfrm>
        </p:spPr>
        <p:txBody>
          <a:bodyPr>
            <a:normAutofit/>
          </a:bodyPr>
          <a:lstStyle/>
          <a:p>
            <a:r>
              <a:rPr lang="en-US" dirty="0">
                <a:solidFill>
                  <a:srgbClr val="FFFEFF"/>
                </a:solidFill>
              </a:rPr>
              <a:t>Which LINE WOULD YOU CHOSE?</a:t>
            </a:r>
          </a:p>
        </p:txBody>
      </p:sp>
      <p:graphicFrame>
        <p:nvGraphicFramePr>
          <p:cNvPr id="6" name="Table 5">
            <a:extLst>
              <a:ext uri="{FF2B5EF4-FFF2-40B4-BE49-F238E27FC236}">
                <a16:creationId xmlns:a16="http://schemas.microsoft.com/office/drawing/2014/main" id="{1D4D5BC1-8420-4F8A-35E8-648D8A94C4C4}"/>
              </a:ext>
            </a:extLst>
          </p:cNvPr>
          <p:cNvGraphicFramePr>
            <a:graphicFrameLocks noGrp="1"/>
          </p:cNvGraphicFramePr>
          <p:nvPr/>
        </p:nvGraphicFramePr>
        <p:xfrm>
          <a:off x="447817" y="843266"/>
          <a:ext cx="11290860" cy="4144370"/>
        </p:xfrm>
        <a:graphic>
          <a:graphicData uri="http://schemas.openxmlformats.org/drawingml/2006/table">
            <a:tbl>
              <a:tblPr firstRow="1" bandRow="1">
                <a:tableStyleId>{5C22544A-7EE6-4342-B048-85BDC9FD1C3A}</a:tableStyleId>
              </a:tblPr>
              <a:tblGrid>
                <a:gridCol w="3661045">
                  <a:extLst>
                    <a:ext uri="{9D8B030D-6E8A-4147-A177-3AD203B41FA5}">
                      <a16:colId xmlns:a16="http://schemas.microsoft.com/office/drawing/2014/main" val="4223890631"/>
                    </a:ext>
                  </a:extLst>
                </a:gridCol>
                <a:gridCol w="3866195">
                  <a:extLst>
                    <a:ext uri="{9D8B030D-6E8A-4147-A177-3AD203B41FA5}">
                      <a16:colId xmlns:a16="http://schemas.microsoft.com/office/drawing/2014/main" val="1409049463"/>
                    </a:ext>
                  </a:extLst>
                </a:gridCol>
                <a:gridCol w="3763620">
                  <a:extLst>
                    <a:ext uri="{9D8B030D-6E8A-4147-A177-3AD203B41FA5}">
                      <a16:colId xmlns:a16="http://schemas.microsoft.com/office/drawing/2014/main" val="2203495784"/>
                    </a:ext>
                  </a:extLst>
                </a:gridCol>
              </a:tblGrid>
              <a:tr h="722757">
                <a:tc>
                  <a:txBody>
                    <a:bodyPr/>
                    <a:lstStyle/>
                    <a:p>
                      <a:r>
                        <a:rPr lang="en-US" dirty="0"/>
                        <a:t>Worst Case: 20-minute wait </a:t>
                      </a:r>
                    </a:p>
                  </a:txBody>
                  <a:tcPr/>
                </a:tc>
                <a:tc>
                  <a:txBody>
                    <a:bodyPr/>
                    <a:lstStyle/>
                    <a:p>
                      <a:r>
                        <a:rPr lang="en-US" dirty="0"/>
                        <a:t>Average Case: 15-minute wait</a:t>
                      </a:r>
                    </a:p>
                  </a:txBody>
                  <a:tcPr/>
                </a:tc>
                <a:tc>
                  <a:txBody>
                    <a:bodyPr/>
                    <a:lstStyle/>
                    <a:p>
                      <a:r>
                        <a:rPr lang="en-US" dirty="0"/>
                        <a:t>Quickest Case: 5-minute wait</a:t>
                      </a:r>
                    </a:p>
                  </a:txBody>
                  <a:tcPr/>
                </a:tc>
                <a:extLst>
                  <a:ext uri="{0D108BD9-81ED-4DB2-BD59-A6C34878D82A}">
                    <a16:rowId xmlns:a16="http://schemas.microsoft.com/office/drawing/2014/main" val="302464176"/>
                  </a:ext>
                </a:extLst>
              </a:tr>
              <a:tr h="3421613">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944974785"/>
                  </a:ext>
                </a:extLst>
              </a:tr>
            </a:tbl>
          </a:graphicData>
        </a:graphic>
      </p:graphicFrame>
      <p:pic>
        <p:nvPicPr>
          <p:cNvPr id="8" name="Picture 7" descr="A line of people standing in line&#10;&#10;Description automatically generated">
            <a:extLst>
              <a:ext uri="{FF2B5EF4-FFF2-40B4-BE49-F238E27FC236}">
                <a16:creationId xmlns:a16="http://schemas.microsoft.com/office/drawing/2014/main" id="{BBA951D1-EB98-15E4-51ED-C611B3AA8DE5}"/>
              </a:ext>
            </a:extLst>
          </p:cNvPr>
          <p:cNvPicPr>
            <a:picLocks noChangeAspect="1"/>
          </p:cNvPicPr>
          <p:nvPr/>
        </p:nvPicPr>
        <p:blipFill>
          <a:blip r:embed="rId3"/>
          <a:stretch>
            <a:fillRect/>
          </a:stretch>
        </p:blipFill>
        <p:spPr>
          <a:xfrm>
            <a:off x="8294282" y="2506143"/>
            <a:ext cx="3316526" cy="2218387"/>
          </a:xfrm>
          <a:prstGeom prst="rect">
            <a:avLst/>
          </a:prstGeom>
        </p:spPr>
      </p:pic>
      <p:pic>
        <p:nvPicPr>
          <p:cNvPr id="10" name="Picture 9" descr="A line of people standing in a line&#10;&#10;Description automatically generated">
            <a:extLst>
              <a:ext uri="{FF2B5EF4-FFF2-40B4-BE49-F238E27FC236}">
                <a16:creationId xmlns:a16="http://schemas.microsoft.com/office/drawing/2014/main" id="{33B289FC-FD1F-01BC-6BBE-5B100AECE19F}"/>
              </a:ext>
            </a:extLst>
          </p:cNvPr>
          <p:cNvPicPr>
            <a:picLocks noChangeAspect="1"/>
          </p:cNvPicPr>
          <p:nvPr/>
        </p:nvPicPr>
        <p:blipFill>
          <a:blip r:embed="rId4"/>
          <a:stretch>
            <a:fillRect/>
          </a:stretch>
        </p:blipFill>
        <p:spPr>
          <a:xfrm>
            <a:off x="4299550" y="2355721"/>
            <a:ext cx="3541409" cy="2368809"/>
          </a:xfrm>
          <a:prstGeom prst="rect">
            <a:avLst/>
          </a:prstGeom>
        </p:spPr>
      </p:pic>
      <p:pic>
        <p:nvPicPr>
          <p:cNvPr id="14" name="Picture 13" descr="A hand pointing at a line of people&#10;&#10;Description automatically generated">
            <a:extLst>
              <a:ext uri="{FF2B5EF4-FFF2-40B4-BE49-F238E27FC236}">
                <a16:creationId xmlns:a16="http://schemas.microsoft.com/office/drawing/2014/main" id="{43714F39-BD7A-00A7-DCEC-70A5201D9DA1}"/>
              </a:ext>
            </a:extLst>
          </p:cNvPr>
          <p:cNvPicPr>
            <a:picLocks noChangeAspect="1"/>
          </p:cNvPicPr>
          <p:nvPr/>
        </p:nvPicPr>
        <p:blipFill>
          <a:blip r:embed="rId5"/>
          <a:stretch>
            <a:fillRect/>
          </a:stretch>
        </p:blipFill>
        <p:spPr>
          <a:xfrm>
            <a:off x="581192" y="2469144"/>
            <a:ext cx="3312406" cy="2215632"/>
          </a:xfrm>
          <a:prstGeom prst="rect">
            <a:avLst/>
          </a:prstGeom>
        </p:spPr>
      </p:pic>
      <p:sp>
        <p:nvSpPr>
          <p:cNvPr id="3" name="TextBox 2">
            <a:extLst>
              <a:ext uri="{FF2B5EF4-FFF2-40B4-BE49-F238E27FC236}">
                <a16:creationId xmlns:a16="http://schemas.microsoft.com/office/drawing/2014/main" id="{E481B29E-5182-FD3E-E84A-EE51FBA7CD5E}"/>
              </a:ext>
            </a:extLst>
          </p:cNvPr>
          <p:cNvSpPr txBox="1"/>
          <p:nvPr/>
        </p:nvSpPr>
        <p:spPr>
          <a:xfrm>
            <a:off x="511942" y="5122023"/>
            <a:ext cx="11290860" cy="138499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Yes, you could analyze an algorithm and talk about worst case, average case, and best case.  But usually, people are most interested in the </a:t>
            </a:r>
            <a:r>
              <a:rPr lang="en-US" sz="2800" dirty="0">
                <a:solidFill>
                  <a:srgbClr val="00B0F0"/>
                </a:solidFill>
                <a:latin typeface="Times New Roman" panose="02020603050405020304" pitchFamily="18" charset="0"/>
                <a:cs typeface="Times New Roman" panose="02020603050405020304" pitchFamily="18" charset="0"/>
              </a:rPr>
              <a:t>worst case</a:t>
            </a:r>
            <a:r>
              <a:rPr lang="en-US" sz="2800" dirty="0">
                <a:latin typeface="Times New Roman" panose="02020603050405020304" pitchFamily="18" charset="0"/>
                <a:cs typeface="Times New Roman" panose="02020603050405020304" pitchFamily="18" charset="0"/>
              </a:rPr>
              <a:t>.  This is what </a:t>
            </a:r>
            <a:r>
              <a:rPr lang="en-US" sz="2800" dirty="0">
                <a:solidFill>
                  <a:srgbClr val="00B0F0"/>
                </a:solidFill>
                <a:latin typeface="Times New Roman" panose="02020603050405020304" pitchFamily="18" charset="0"/>
                <a:cs typeface="Times New Roman" panose="02020603050405020304" pitchFamily="18" charset="0"/>
              </a:rPr>
              <a:t>Big O </a:t>
            </a:r>
            <a:r>
              <a:rPr lang="en-US" sz="2800" dirty="0">
                <a:latin typeface="Times New Roman" panose="02020603050405020304" pitchFamily="18" charset="0"/>
                <a:cs typeface="Times New Roman" panose="02020603050405020304" pitchFamily="18" charset="0"/>
              </a:rPr>
              <a:t>describes.</a:t>
            </a:r>
          </a:p>
        </p:txBody>
      </p:sp>
      <p:sp>
        <p:nvSpPr>
          <p:cNvPr id="4" name="Oval 3">
            <a:extLst>
              <a:ext uri="{FF2B5EF4-FFF2-40B4-BE49-F238E27FC236}">
                <a16:creationId xmlns:a16="http://schemas.microsoft.com/office/drawing/2014/main" id="{315714D7-7014-022C-93E6-EFD6585EFB4F}"/>
              </a:ext>
            </a:extLst>
          </p:cNvPr>
          <p:cNvSpPr/>
          <p:nvPr/>
        </p:nvSpPr>
        <p:spPr>
          <a:xfrm>
            <a:off x="-341074" y="528320"/>
            <a:ext cx="4543390" cy="4459316"/>
          </a:xfrm>
          <a:prstGeom prst="ellipse">
            <a:avLst/>
          </a:prstGeom>
          <a:noFill/>
          <a:ln w="1016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2EF2E3B-8870-5551-6E23-F39FE32591F1}"/>
              </a:ext>
            </a:extLst>
          </p:cNvPr>
          <p:cNvSpPr txBox="1"/>
          <p:nvPr/>
        </p:nvSpPr>
        <p:spPr>
          <a:xfrm>
            <a:off x="4501110" y="570894"/>
            <a:ext cx="3096930" cy="4693593"/>
          </a:xfrm>
          <a:prstGeom prst="rect">
            <a:avLst/>
          </a:prstGeom>
          <a:noFill/>
        </p:spPr>
        <p:txBody>
          <a:bodyPr wrap="square" rtlCol="0">
            <a:spAutoFit/>
          </a:bodyPr>
          <a:lstStyle/>
          <a:p>
            <a:r>
              <a:rPr lang="en-US" sz="29900" dirty="0">
                <a:solidFill>
                  <a:srgbClr val="FF0000"/>
                </a:solidFill>
              </a:rPr>
              <a:t>X</a:t>
            </a:r>
          </a:p>
        </p:txBody>
      </p:sp>
      <p:sp>
        <p:nvSpPr>
          <p:cNvPr id="7" name="TextBox 6">
            <a:extLst>
              <a:ext uri="{FF2B5EF4-FFF2-40B4-BE49-F238E27FC236}">
                <a16:creationId xmlns:a16="http://schemas.microsoft.com/office/drawing/2014/main" id="{5BD161B5-0812-A83D-2657-AE7548311888}"/>
              </a:ext>
            </a:extLst>
          </p:cNvPr>
          <p:cNvSpPr txBox="1"/>
          <p:nvPr/>
        </p:nvSpPr>
        <p:spPr>
          <a:xfrm>
            <a:off x="8133747" y="610135"/>
            <a:ext cx="3096930" cy="4693593"/>
          </a:xfrm>
          <a:prstGeom prst="rect">
            <a:avLst/>
          </a:prstGeom>
          <a:noFill/>
        </p:spPr>
        <p:txBody>
          <a:bodyPr wrap="square" rtlCol="0">
            <a:spAutoFit/>
          </a:bodyPr>
          <a:lstStyle/>
          <a:p>
            <a:r>
              <a:rPr lang="en-US" sz="29900" dirty="0">
                <a:solidFill>
                  <a:srgbClr val="FF0000"/>
                </a:solidFill>
              </a:rPr>
              <a:t>X</a:t>
            </a:r>
          </a:p>
        </p:txBody>
      </p:sp>
    </p:spTree>
    <p:extLst>
      <p:ext uri="{BB962C8B-B14F-4D97-AF65-F5344CB8AC3E}">
        <p14:creationId xmlns:p14="http://schemas.microsoft.com/office/powerpoint/2010/main" val="2859786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endParaRPr>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Times New Roman" panose="02020603050405020304" pitchFamily="18" charset="0"/>
              </a:endParaRPr>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Questions?</a:t>
            </a: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528F-C1D6-6A71-72B2-AB340AFCD395}"/>
              </a:ext>
            </a:extLst>
          </p:cNvPr>
          <p:cNvSpPr>
            <a:spLocks noGrp="1"/>
          </p:cNvSpPr>
          <p:nvPr>
            <p:ph type="title"/>
          </p:nvPr>
        </p:nvSpPr>
        <p:spPr/>
        <p:txBody>
          <a:bodyPr>
            <a:normAutofit/>
          </a:bodyPr>
          <a:lstStyle/>
          <a:p>
            <a:r>
              <a:rPr lang="en-US" sz="6000" cap="none" dirty="0"/>
              <a:t>In Class Exercise</a:t>
            </a:r>
          </a:p>
        </p:txBody>
      </p:sp>
      <p:sp>
        <p:nvSpPr>
          <p:cNvPr id="3" name="Content Placeholder 2">
            <a:extLst>
              <a:ext uri="{FF2B5EF4-FFF2-40B4-BE49-F238E27FC236}">
                <a16:creationId xmlns:a16="http://schemas.microsoft.com/office/drawing/2014/main" id="{2805434B-7F5B-280B-2749-07313FA12C15}"/>
              </a:ext>
            </a:extLst>
          </p:cNvPr>
          <p:cNvSpPr>
            <a:spLocks noGrp="1"/>
          </p:cNvSpPr>
          <p:nvPr>
            <p:ph idx="1"/>
          </p:nvPr>
        </p:nvSpPr>
        <p:spPr>
          <a:xfrm>
            <a:off x="581191" y="2180496"/>
            <a:ext cx="11181317" cy="4282649"/>
          </a:xfrm>
        </p:spPr>
        <p:txBody>
          <a:bodyPr anchor="t" anchorCtr="0">
            <a:normAutofit fontScale="85000" lnSpcReduction="20000"/>
          </a:bodyPr>
          <a:lstStyle/>
          <a:p>
            <a:pPr marL="0" indent="0">
              <a:buNone/>
            </a:pPr>
            <a:r>
              <a:rPr lang="en-US" sz="3600" dirty="0">
                <a:cs typeface="Times New Roman" panose="02020603050405020304" pitchFamily="18" charset="0"/>
              </a:rPr>
              <a:t>See Canvas for the starting code.  MAXROWs and MAXCOLs is set to 15.  You can think about this as the n-value.  As the size of the grid increases, </a:t>
            </a:r>
            <a:r>
              <a:rPr lang="en-US" sz="3600">
                <a:cs typeface="Times New Roman" panose="02020603050405020304" pitchFamily="18" charset="0"/>
              </a:rPr>
              <a:t>the runtime </a:t>
            </a:r>
            <a:r>
              <a:rPr lang="en-US" sz="3600" dirty="0">
                <a:cs typeface="Times New Roman" panose="02020603050405020304" pitchFamily="18" charset="0"/>
              </a:rPr>
              <a:t>will increase.   </a:t>
            </a:r>
          </a:p>
          <a:p>
            <a:pPr marL="0" indent="0">
              <a:buNone/>
            </a:pPr>
            <a:endParaRPr lang="en-US" sz="3600" dirty="0">
              <a:cs typeface="Times New Roman" panose="02020603050405020304" pitchFamily="18" charset="0"/>
            </a:endParaRPr>
          </a:p>
          <a:p>
            <a:pPr marL="0" indent="0">
              <a:buNone/>
            </a:pPr>
            <a:r>
              <a:rPr lang="en-US" sz="3600" dirty="0">
                <a:cs typeface="Times New Roman" panose="02020603050405020304" pitchFamily="18" charset="0"/>
              </a:rPr>
              <a:t>Determine the Big-O </a:t>
            </a:r>
            <a:r>
              <a:rPr lang="en-US" sz="3600" b="0" i="0" u="none" strike="noStrike" dirty="0">
                <a:solidFill>
                  <a:srgbClr val="000000"/>
                </a:solidFill>
                <a:effectLst/>
                <a:cs typeface="Times New Roman" panose="02020603050405020304" pitchFamily="18" charset="0"/>
              </a:rPr>
              <a:t>time complexity for each function </a:t>
            </a:r>
            <a:r>
              <a:rPr lang="en-US" sz="3600" dirty="0">
                <a:solidFill>
                  <a:srgbClr val="000000"/>
                </a:solidFill>
                <a:cs typeface="Times New Roman" panose="02020603050405020304" pitchFamily="18" charset="0"/>
              </a:rPr>
              <a:t>and defend your answer.</a:t>
            </a:r>
          </a:p>
          <a:p>
            <a:pPr marL="0" indent="0">
              <a:buNone/>
            </a:pPr>
            <a:endParaRPr lang="en-US" sz="3600" dirty="0">
              <a:solidFill>
                <a:srgbClr val="000000"/>
              </a:solidFill>
              <a:cs typeface="Times New Roman" panose="02020603050405020304" pitchFamily="18" charset="0"/>
            </a:endParaRPr>
          </a:p>
          <a:p>
            <a:pPr marL="0" indent="0">
              <a:buNone/>
            </a:pPr>
            <a:r>
              <a:rPr lang="en-US" sz="3600" dirty="0">
                <a:solidFill>
                  <a:srgbClr val="0070C0"/>
                </a:solidFill>
                <a:cs typeface="Times New Roman" panose="02020603050405020304" pitchFamily="18" charset="0"/>
              </a:rPr>
              <a:t>Note: There will be a Quiz next week.  Study PPT and Nearpod questions to prepare.</a:t>
            </a:r>
          </a:p>
          <a:p>
            <a:endParaRPr lang="en-US" sz="2800" dirty="0"/>
          </a:p>
        </p:txBody>
      </p:sp>
    </p:spTree>
    <p:extLst>
      <p:ext uri="{BB962C8B-B14F-4D97-AF65-F5344CB8AC3E}">
        <p14:creationId xmlns:p14="http://schemas.microsoft.com/office/powerpoint/2010/main" val="4073374647"/>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Custom</Template>
  <TotalTime>5297</TotalTime>
  <Words>2586</Words>
  <Application>Microsoft Office PowerPoint</Application>
  <PresentationFormat>Widescreen</PresentationFormat>
  <Paragraphs>386</Paragraphs>
  <Slides>32</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Cambria Math</vt:lpstr>
      <vt:lpstr>Gill Sans MT</vt:lpstr>
      <vt:lpstr>npprimarymedium</vt:lpstr>
      <vt:lpstr>npprimarysemibold</vt:lpstr>
      <vt:lpstr>Times New Roman</vt:lpstr>
      <vt:lpstr>Wingdings</vt:lpstr>
      <vt:lpstr>Wingdings 2</vt:lpstr>
      <vt:lpstr>Custom</vt:lpstr>
      <vt:lpstr>RUNTIME ANALYSIS</vt:lpstr>
      <vt:lpstr>PowerPoint Presentation</vt:lpstr>
      <vt:lpstr>PowerPoint Presentation</vt:lpstr>
      <vt:lpstr>Bubble Sort</vt:lpstr>
      <vt:lpstr>PowerPoint Presentation</vt:lpstr>
      <vt:lpstr>PowerPoint Presentation</vt:lpstr>
      <vt:lpstr>PowerPoint Presentation</vt:lpstr>
      <vt:lpstr>PowerPoint Presentation</vt:lpstr>
      <vt:lpstr>PowerPoint Presentation</vt:lpstr>
      <vt:lpstr>Which LINE WOULD YOU CHOSE?</vt:lpstr>
      <vt:lpstr>PowerPoint Presentation</vt:lpstr>
      <vt:lpstr>PowerPoint Presentation</vt:lpstr>
      <vt:lpstr>PowerPoint Presentation</vt:lpstr>
      <vt:lpstr>PowerPoint Presentation</vt:lpstr>
      <vt:lpstr>Constant Time</vt:lpstr>
      <vt:lpstr>LINEAR Time</vt:lpstr>
      <vt:lpstr>QUADRATIC Time</vt:lpstr>
      <vt:lpstr>PowerPoint Presentation</vt:lpstr>
      <vt:lpstr>Ignore Constants and Smaller Terms</vt:lpstr>
      <vt:lpstr>Ignore Constants and Smaller Terms</vt:lpstr>
      <vt:lpstr>Ignore Constants and Smaller Terms</vt:lpstr>
      <vt:lpstr>Ignore Constants and Smaller Terms</vt:lpstr>
      <vt:lpstr>Larger Terms</vt:lpstr>
      <vt:lpstr>Larger Terms Dominate</vt:lpstr>
      <vt:lpstr>Larger Terms Dominate</vt:lpstr>
      <vt:lpstr>And Exponential Growth Is Faster Still</vt:lpstr>
      <vt:lpstr>Note:  Exponential Growth is Really Faster </vt:lpstr>
      <vt:lpstr>PowerPoint Presentation</vt:lpstr>
      <vt:lpstr>PowerPoint Presentation</vt:lpstr>
      <vt:lpstr>Which LINE WOULD YOU CHOSE?</vt:lpstr>
      <vt:lpstr>Questions?</vt:lpstr>
      <vt:lpstr>In Class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CS399 Run Time Analysis </dc:title>
  <dc:creator>Marriott, Heather H</dc:creator>
  <cp:lastModifiedBy>Marriott, Heather H</cp:lastModifiedBy>
  <cp:revision>46</cp:revision>
  <dcterms:created xsi:type="dcterms:W3CDTF">2024-05-27T01:44:40Z</dcterms:created>
  <dcterms:modified xsi:type="dcterms:W3CDTF">2025-08-26T21:13:29Z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