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40"/>
  </p:notesMasterIdLst>
  <p:handoutMasterIdLst>
    <p:handoutMasterId r:id="rId41"/>
  </p:handoutMasterIdLst>
  <p:sldIdLst>
    <p:sldId id="256" r:id="rId5"/>
    <p:sldId id="579" r:id="rId6"/>
    <p:sldId id="578" r:id="rId7"/>
    <p:sldId id="580" r:id="rId8"/>
    <p:sldId id="581" r:id="rId9"/>
    <p:sldId id="582" r:id="rId10"/>
    <p:sldId id="583" r:id="rId11"/>
    <p:sldId id="577" r:id="rId12"/>
    <p:sldId id="584" r:id="rId13"/>
    <p:sldId id="585" r:id="rId14"/>
    <p:sldId id="586" r:id="rId15"/>
    <p:sldId id="340" r:id="rId16"/>
    <p:sldId id="371" r:id="rId17"/>
    <p:sldId id="259" r:id="rId18"/>
    <p:sldId id="561" r:id="rId19"/>
    <p:sldId id="263" r:id="rId20"/>
    <p:sldId id="265" r:id="rId21"/>
    <p:sldId id="587" r:id="rId22"/>
    <p:sldId id="563" r:id="rId23"/>
    <p:sldId id="572" r:id="rId24"/>
    <p:sldId id="562" r:id="rId25"/>
    <p:sldId id="567" r:id="rId26"/>
    <p:sldId id="589" r:id="rId27"/>
    <p:sldId id="590" r:id="rId28"/>
    <p:sldId id="568" r:id="rId29"/>
    <p:sldId id="564" r:id="rId30"/>
    <p:sldId id="570" r:id="rId31"/>
    <p:sldId id="588" r:id="rId32"/>
    <p:sldId id="591" r:id="rId33"/>
    <p:sldId id="272" r:id="rId34"/>
    <p:sldId id="313" r:id="rId35"/>
    <p:sldId id="573" r:id="rId36"/>
    <p:sldId id="282" r:id="rId37"/>
    <p:sldId id="260" r:id="rId38"/>
    <p:sldId id="560"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95" autoAdjust="0"/>
    <p:restoredTop sz="84215" autoAdjust="0"/>
  </p:normalViewPr>
  <p:slideViewPr>
    <p:cSldViewPr snapToGrid="0">
      <p:cViewPr varScale="1">
        <p:scale>
          <a:sx n="79" d="100"/>
          <a:sy n="79" d="100"/>
        </p:scale>
        <p:origin x="240" y="38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Times New Roman" panose="02020603050405020304" pitchFamily="18" charset="0"/>
            </a:endParaRPr>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latin typeface="Times New Roman" panose="02020603050405020304" pitchFamily="18" charset="0"/>
              </a:rPr>
              <a:t>9/16/26</a:t>
            </a:fld>
            <a:endParaRPr lang="en-US" dirty="0">
              <a:latin typeface="Times New Roman" panose="02020603050405020304" pitchFamily="18" charset="0"/>
            </a:endParaRPr>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Times New Roman" panose="02020603050405020304" pitchFamily="18" charset="0"/>
            </a:endParaRPr>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latin typeface="Times New Roman" panose="02020603050405020304" pitchFamily="18" charset="0"/>
              </a:rPr>
              <a:t>‹#›</a:t>
            </a:fld>
            <a:endParaRPr lang="en-US" dirty="0">
              <a:latin typeface="Times New Roman" panose="02020603050405020304" pitchFamily="18" charset="0"/>
            </a:endParaRPr>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Times New Roman" panose="02020603050405020304" pitchFamily="18"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Times New Roman" panose="02020603050405020304" pitchFamily="18" charset="0"/>
              </a:defRPr>
            </a:lvl1pPr>
          </a:lstStyle>
          <a:p>
            <a:fld id="{C732326A-4C88-4AFB-AA5B-5919D81DFF5B}" type="datetimeFigureOut">
              <a:rPr lang="en-US" smtClean="0"/>
              <a:pPr/>
              <a:t>9/16/26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Times New Roman" panose="02020603050405020304" pitchFamily="18"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Times New Roman" panose="02020603050405020304" pitchFamily="18" charset="0"/>
              </a:defRPr>
            </a:lvl1pPr>
          </a:lstStyle>
          <a:p>
            <a:fld id="{C6B3AB32-59DF-41F1-9618-EDFBF5049629}" type="slidenum">
              <a:rPr lang="en-US" smtClean="0"/>
              <a:pPr/>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Times New Roman" panose="02020603050405020304" pitchFamily="18" charset="0"/>
        <a:ea typeface="+mn-ea"/>
        <a:cs typeface="+mn-cs"/>
      </a:defRPr>
    </a:lvl1pPr>
    <a:lvl2pPr marL="457200" algn="l" defTabSz="914400" rtl="0" eaLnBrk="1" latinLnBrk="0" hangingPunct="1">
      <a:defRPr sz="1200" b="0" i="0" kern="1200">
        <a:solidFill>
          <a:schemeClr val="tx1"/>
        </a:solidFill>
        <a:latin typeface="Times New Roman" panose="02020603050405020304" pitchFamily="18" charset="0"/>
        <a:ea typeface="+mn-ea"/>
        <a:cs typeface="+mn-cs"/>
      </a:defRPr>
    </a:lvl2pPr>
    <a:lvl3pPr marL="914400" algn="l" defTabSz="914400" rtl="0" eaLnBrk="1" latinLnBrk="0" hangingPunct="1">
      <a:defRPr sz="1200" b="0" i="0" kern="1200">
        <a:solidFill>
          <a:schemeClr val="tx1"/>
        </a:solidFill>
        <a:latin typeface="Times New Roman" panose="02020603050405020304" pitchFamily="18" charset="0"/>
        <a:ea typeface="+mn-ea"/>
        <a:cs typeface="+mn-cs"/>
      </a:defRPr>
    </a:lvl3pPr>
    <a:lvl4pPr marL="1371600" algn="l" defTabSz="914400" rtl="0" eaLnBrk="1" latinLnBrk="0" hangingPunct="1">
      <a:defRPr sz="1200" b="0" i="0" kern="1200">
        <a:solidFill>
          <a:schemeClr val="tx1"/>
        </a:solidFill>
        <a:latin typeface="Times New Roman" panose="02020603050405020304" pitchFamily="18" charset="0"/>
        <a:ea typeface="+mn-ea"/>
        <a:cs typeface="+mn-cs"/>
      </a:defRPr>
    </a:lvl4pPr>
    <a:lvl5pPr marL="1828800" algn="l" defTabSz="914400" rtl="0" eaLnBrk="1" latinLnBrk="0" hangingPunct="1">
      <a:defRPr sz="1200" b="0" i="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2</a:t>
            </a:fld>
            <a:endParaRPr lang="en-US"/>
          </a:p>
        </p:txBody>
      </p:sp>
    </p:spTree>
    <p:extLst>
      <p:ext uri="{BB962C8B-B14F-4D97-AF65-F5344CB8AC3E}">
        <p14:creationId xmlns:p14="http://schemas.microsoft.com/office/powerpoint/2010/main" val="2624803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3</a:t>
            </a:fld>
            <a:endParaRPr lang="en-US"/>
          </a:p>
        </p:txBody>
      </p:sp>
    </p:spTree>
    <p:extLst>
      <p:ext uri="{BB962C8B-B14F-4D97-AF65-F5344CB8AC3E}">
        <p14:creationId xmlns:p14="http://schemas.microsoft.com/office/powerpoint/2010/main" val="2162689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4</a:t>
            </a:fld>
            <a:endParaRPr lang="en-US"/>
          </a:p>
        </p:txBody>
      </p:sp>
    </p:spTree>
    <p:extLst>
      <p:ext uri="{BB962C8B-B14F-4D97-AF65-F5344CB8AC3E}">
        <p14:creationId xmlns:p14="http://schemas.microsoft.com/office/powerpoint/2010/main" val="3371452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5</a:t>
            </a:fld>
            <a:endParaRPr lang="en-US"/>
          </a:p>
        </p:txBody>
      </p:sp>
    </p:spTree>
    <p:extLst>
      <p:ext uri="{BB962C8B-B14F-4D97-AF65-F5344CB8AC3E}">
        <p14:creationId xmlns:p14="http://schemas.microsoft.com/office/powerpoint/2010/main" val="39641746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6</a:t>
            </a:fld>
            <a:endParaRPr lang="en-US"/>
          </a:p>
        </p:txBody>
      </p:sp>
    </p:spTree>
    <p:extLst>
      <p:ext uri="{BB962C8B-B14F-4D97-AF65-F5344CB8AC3E}">
        <p14:creationId xmlns:p14="http://schemas.microsoft.com/office/powerpoint/2010/main" val="1209887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7</a:t>
            </a:fld>
            <a:endParaRPr lang="en-US"/>
          </a:p>
        </p:txBody>
      </p:sp>
    </p:spTree>
    <p:extLst>
      <p:ext uri="{BB962C8B-B14F-4D97-AF65-F5344CB8AC3E}">
        <p14:creationId xmlns:p14="http://schemas.microsoft.com/office/powerpoint/2010/main" val="4145701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finding O(n)</a:t>
            </a:r>
          </a:p>
          <a:p>
            <a:r>
              <a:rPr lang="en-US" dirty="0"/>
              <a:t>for removing: finding what you need to remove is O(n) and the removal process is O(1)</a:t>
            </a:r>
          </a:p>
          <a:p>
            <a:r>
              <a:rPr lang="en-US" dirty="0"/>
              <a:t>adding O(1) if you need to add somewhere specific it might take longer</a:t>
            </a:r>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8</a:t>
            </a:fld>
            <a:endParaRPr lang="en-US"/>
          </a:p>
        </p:txBody>
      </p:sp>
    </p:spTree>
    <p:extLst>
      <p:ext uri="{BB962C8B-B14F-4D97-AF65-F5344CB8AC3E}">
        <p14:creationId xmlns:p14="http://schemas.microsoft.com/office/powerpoint/2010/main" val="582226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a:solidFill>
                  <a:schemeClr val="tx1"/>
                </a:solidFill>
                <a:effectLst/>
                <a:latin typeface="Times New Roman" panose="02020603050405020304" pitchFamily="18" charset="0"/>
                <a:ea typeface="+mn-ea"/>
                <a:cs typeface="+mn-cs"/>
              </a:rPr>
              <a:t>Generated with AI</a:t>
            </a:r>
            <a:r>
              <a:rPr lang="en-US" sz="1200" b="0" i="0" kern="1200" dirty="0">
                <a:solidFill>
                  <a:schemeClr val="tx1"/>
                </a:solidFill>
                <a:effectLst/>
                <a:latin typeface="Times New Roman" panose="02020603050405020304" pitchFamily="18" charset="0"/>
                <a:ea typeface="+mn-ea"/>
                <a:cs typeface="+mn-cs"/>
              </a:rPr>
              <a:t> ∙ September 16, 2024 at 1:02 PM</a:t>
            </a:r>
          </a:p>
          <a:p>
            <a:r>
              <a:rPr lang="en-US" sz="1200" b="0" i="0" kern="1200" dirty="0">
                <a:solidFill>
                  <a:schemeClr val="tx1"/>
                </a:solidFill>
                <a:effectLst/>
                <a:latin typeface="Times New Roman" panose="02020603050405020304" pitchFamily="18" charset="0"/>
                <a:ea typeface="+mn-ea"/>
                <a:cs typeface="+mn-cs"/>
              </a:rPr>
              <a:t>Bing.com/images</a:t>
            </a:r>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9</a:t>
            </a:fld>
            <a:endParaRPr lang="en-US"/>
          </a:p>
        </p:txBody>
      </p:sp>
    </p:spTree>
    <p:extLst>
      <p:ext uri="{BB962C8B-B14F-4D97-AF65-F5344CB8AC3E}">
        <p14:creationId xmlns:p14="http://schemas.microsoft.com/office/powerpoint/2010/main" val="32730633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10</a:t>
            </a:fld>
            <a:endParaRPr lang="en-US"/>
          </a:p>
        </p:txBody>
      </p:sp>
    </p:spTree>
    <p:extLst>
      <p:ext uri="{BB962C8B-B14F-4D97-AF65-F5344CB8AC3E}">
        <p14:creationId xmlns:p14="http://schemas.microsoft.com/office/powerpoint/2010/main" val="23536176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a:solidFill>
                  <a:schemeClr val="tx1"/>
                </a:solidFill>
                <a:effectLst/>
                <a:latin typeface="Times New Roman" panose="02020603050405020304" pitchFamily="18" charset="0"/>
                <a:ea typeface="+mn-ea"/>
                <a:cs typeface="+mn-cs"/>
              </a:rPr>
              <a:t>Generated with AI</a:t>
            </a:r>
            <a:r>
              <a:rPr lang="en-US" sz="1200" b="0" i="0" kern="1200" dirty="0">
                <a:solidFill>
                  <a:schemeClr val="tx1"/>
                </a:solidFill>
                <a:effectLst/>
                <a:latin typeface="Times New Roman" panose="02020603050405020304" pitchFamily="18" charset="0"/>
                <a:ea typeface="+mn-ea"/>
                <a:cs typeface="+mn-cs"/>
              </a:rPr>
              <a:t> ∙ September 16, 2024 at 1:02 PM</a:t>
            </a:r>
          </a:p>
          <a:p>
            <a:r>
              <a:rPr lang="en-US" sz="1200" b="0" i="0" kern="1200" dirty="0">
                <a:solidFill>
                  <a:schemeClr val="tx1"/>
                </a:solidFill>
                <a:effectLst/>
                <a:latin typeface="Times New Roman" panose="02020603050405020304" pitchFamily="18" charset="0"/>
                <a:ea typeface="+mn-ea"/>
                <a:cs typeface="+mn-cs"/>
              </a:rPr>
              <a:t>Bing.com/images</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DE251A1C-808C-421A-98F8-78BECC8A4831}" type="slidenum">
              <a:rPr lang="en-US" smtClean="0"/>
              <a:pPr>
                <a:defRPr/>
              </a:pPr>
              <a:t>11</a:t>
            </a:fld>
            <a:endParaRPr lang="en-US"/>
          </a:p>
        </p:txBody>
      </p:sp>
    </p:spTree>
    <p:extLst>
      <p:ext uri="{BB962C8B-B14F-4D97-AF65-F5344CB8AC3E}">
        <p14:creationId xmlns:p14="http://schemas.microsoft.com/office/powerpoint/2010/main" val="39047211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look for an open slot</a:t>
            </a:r>
          </a:p>
          <a:p>
            <a:r>
              <a:rPr lang="en-US" b="1" dirty="0"/>
              <a:t>Open Addressing</a:t>
            </a:r>
            <a:r>
              <a:rPr lang="en-US" dirty="0"/>
              <a:t>: In this method, if a collision occurs, the algorithm searches for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another open slot in the table using a probing sequence (e.g., linear probing, quadratic probing, double hashing).</a:t>
            </a:r>
          </a:p>
          <a:p>
            <a:r>
              <a:rPr lang="en-US" dirty="0"/>
              <a:t> </a:t>
            </a:r>
          </a:p>
        </p:txBody>
      </p:sp>
      <p:sp>
        <p:nvSpPr>
          <p:cNvPr id="4" name="Slide Number Placeholder 3"/>
          <p:cNvSpPr>
            <a:spLocks noGrp="1"/>
          </p:cNvSpPr>
          <p:nvPr>
            <p:ph type="sldNum" sz="quarter" idx="5"/>
          </p:nvPr>
        </p:nvSpPr>
        <p:spPr/>
        <p:txBody>
          <a:bodyPr/>
          <a:lstStyle/>
          <a:p>
            <a:fld id="{C6B3AB32-59DF-41F1-9618-EDFBF5049629}" type="slidenum">
              <a:rPr lang="en-US" smtClean="0"/>
              <a:pPr/>
              <a:t>17</a:t>
            </a:fld>
            <a:endParaRPr lang="en-US" dirty="0"/>
          </a:p>
        </p:txBody>
      </p:sp>
    </p:spTree>
    <p:extLst>
      <p:ext uri="{BB962C8B-B14F-4D97-AF65-F5344CB8AC3E}">
        <p14:creationId xmlns:p14="http://schemas.microsoft.com/office/powerpoint/2010/main" val="35058808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FA24F-39D5-5F8D-730C-F4F6EFEBE4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8F238A-B46F-6CCA-9961-009F2DAE19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6ED481-B394-4059-E148-E68066C38B05}"/>
              </a:ext>
            </a:extLst>
          </p:cNvPr>
          <p:cNvSpPr>
            <a:spLocks noGrp="1"/>
          </p:cNvSpPr>
          <p:nvPr>
            <p:ph type="body" idx="1"/>
          </p:nvPr>
        </p:nvSpPr>
        <p:spPr/>
        <p:txBody>
          <a:bodyPr/>
          <a:lstStyle/>
          <a:p>
            <a:r>
              <a:rPr lang="en-US" b="1" dirty="0"/>
              <a:t>look for an open slot</a:t>
            </a:r>
          </a:p>
          <a:p>
            <a:r>
              <a:rPr lang="en-US" b="1" dirty="0"/>
              <a:t>Open Addressing</a:t>
            </a:r>
            <a:r>
              <a:rPr lang="en-US" dirty="0"/>
              <a:t>: In this method, if a collision occurs, the algorithm searches for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another open slot in the table using a probing sequence (e.g., linear probing, quadratic probing, double hashing).</a:t>
            </a:r>
          </a:p>
          <a:p>
            <a:r>
              <a:rPr lang="en-US" dirty="0"/>
              <a:t> </a:t>
            </a:r>
          </a:p>
        </p:txBody>
      </p:sp>
      <p:sp>
        <p:nvSpPr>
          <p:cNvPr id="4" name="Slide Number Placeholder 3">
            <a:extLst>
              <a:ext uri="{FF2B5EF4-FFF2-40B4-BE49-F238E27FC236}">
                <a16:creationId xmlns:a16="http://schemas.microsoft.com/office/drawing/2014/main" id="{A7740E62-243C-AA11-7EFA-D9E97D057C41}"/>
              </a:ext>
            </a:extLst>
          </p:cNvPr>
          <p:cNvSpPr>
            <a:spLocks noGrp="1"/>
          </p:cNvSpPr>
          <p:nvPr>
            <p:ph type="sldNum" sz="quarter" idx="5"/>
          </p:nvPr>
        </p:nvSpPr>
        <p:spPr/>
        <p:txBody>
          <a:bodyPr/>
          <a:lstStyle/>
          <a:p>
            <a:fld id="{C6B3AB32-59DF-41F1-9618-EDFBF5049629}" type="slidenum">
              <a:rPr lang="en-US" smtClean="0"/>
              <a:pPr/>
              <a:t>18</a:t>
            </a:fld>
            <a:endParaRPr lang="en-US" dirty="0"/>
          </a:p>
        </p:txBody>
      </p:sp>
    </p:spTree>
    <p:extLst>
      <p:ext uri="{BB962C8B-B14F-4D97-AF65-F5344CB8AC3E}">
        <p14:creationId xmlns:p14="http://schemas.microsoft.com/office/powerpoint/2010/main" val="18149075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pPr/>
              <a:t>19</a:t>
            </a:fld>
            <a:endParaRPr lang="en-US" dirty="0"/>
          </a:p>
        </p:txBody>
      </p:sp>
    </p:spTree>
    <p:extLst>
      <p:ext uri="{BB962C8B-B14F-4D97-AF65-F5344CB8AC3E}">
        <p14:creationId xmlns:p14="http://schemas.microsoft.com/office/powerpoint/2010/main" val="2039870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#include &lt;</a:t>
            </a:r>
            <a:r>
              <a:rPr lang="en-US" dirty="0" err="1"/>
              <a:t>stdio.h</a:t>
            </a:r>
            <a:r>
              <a:rPr lang="en-US" dirty="0"/>
              <a:t>&gt;</a:t>
            </a:r>
          </a:p>
          <a:p>
            <a:endParaRPr lang="en-US" dirty="0"/>
          </a:p>
          <a:p>
            <a:r>
              <a:rPr lang="en-US" dirty="0"/>
              <a:t>#define TABLE_SIZE 10</a:t>
            </a:r>
          </a:p>
          <a:p>
            <a:endParaRPr lang="en-US" dirty="0"/>
          </a:p>
          <a:p>
            <a:r>
              <a:rPr lang="en-US" dirty="0"/>
              <a:t>// Hash function for linear probing</a:t>
            </a:r>
          </a:p>
          <a:p>
            <a:r>
              <a:rPr lang="en-US" dirty="0"/>
              <a:t>int P(int tries, int key) {</a:t>
            </a:r>
          </a:p>
          <a:p>
            <a:r>
              <a:rPr lang="en-US" dirty="0"/>
              <a:t>    int f = tries; // for linear probing f(</a:t>
            </a:r>
            <a:r>
              <a:rPr lang="en-US" dirty="0" err="1"/>
              <a:t>i</a:t>
            </a:r>
            <a:r>
              <a:rPr lang="en-US" dirty="0"/>
              <a:t>) = </a:t>
            </a:r>
            <a:r>
              <a:rPr lang="en-US" dirty="0" err="1"/>
              <a:t>i</a:t>
            </a:r>
            <a:endParaRPr lang="en-US" dirty="0"/>
          </a:p>
          <a:p>
            <a:r>
              <a:rPr lang="en-US" dirty="0"/>
              <a:t>    int h = key % TABLE_SIZE;</a:t>
            </a:r>
          </a:p>
          <a:p>
            <a:r>
              <a:rPr lang="en-US" dirty="0"/>
              <a:t>    return (f + h) % TABLE_SIZE;</a:t>
            </a:r>
          </a:p>
          <a:p>
            <a:r>
              <a:rPr lang="en-US" dirty="0"/>
              <a:t>}</a:t>
            </a:r>
          </a:p>
          <a:p>
            <a:endParaRPr lang="en-US" dirty="0"/>
          </a:p>
          <a:p>
            <a:r>
              <a:rPr lang="en-US" dirty="0"/>
              <a:t>// Function to add a key to the hash table</a:t>
            </a:r>
          </a:p>
          <a:p>
            <a:r>
              <a:rPr lang="en-US" dirty="0"/>
              <a:t>void add(int array[], int key) {</a:t>
            </a:r>
          </a:p>
          <a:p>
            <a:r>
              <a:rPr lang="en-US" dirty="0"/>
              <a:t>    int tries = 0;</a:t>
            </a:r>
          </a:p>
          <a:p>
            <a:r>
              <a:rPr lang="en-US" dirty="0"/>
              <a:t>    int position = P(tries, key);</a:t>
            </a:r>
          </a:p>
          <a:p>
            <a:r>
              <a:rPr lang="en-US" dirty="0"/>
              <a:t>    // Linear probing to find an empty slot</a:t>
            </a:r>
          </a:p>
          <a:p>
            <a:r>
              <a:rPr lang="en-US" dirty="0"/>
              <a:t>    while (array[position] != 0) {</a:t>
            </a:r>
          </a:p>
          <a:p>
            <a:r>
              <a:rPr lang="en-US" dirty="0"/>
              <a:t>        </a:t>
            </a:r>
            <a:r>
              <a:rPr lang="en-US" dirty="0" err="1"/>
              <a:t>printf</a:t>
            </a:r>
            <a:r>
              <a:rPr lang="en-US" dirty="0"/>
              <a:t>("COLLISION\n");</a:t>
            </a:r>
          </a:p>
          <a:p>
            <a:r>
              <a:rPr lang="en-US" dirty="0"/>
              <a:t>        tries++;</a:t>
            </a:r>
          </a:p>
          <a:p>
            <a:r>
              <a:rPr lang="en-US" dirty="0"/>
              <a:t>        position = P(tries, key);</a:t>
            </a:r>
          </a:p>
          <a:p>
            <a:r>
              <a:rPr lang="en-US" dirty="0"/>
              <a:t>    }</a:t>
            </a:r>
          </a:p>
          <a:p>
            <a:r>
              <a:rPr lang="en-US" dirty="0"/>
              <a:t>    array[position] = key;</a:t>
            </a:r>
          </a:p>
          <a:p>
            <a:r>
              <a:rPr lang="en-US" dirty="0"/>
              <a:t>}</a:t>
            </a:r>
          </a:p>
          <a:p>
            <a:endParaRPr lang="en-US" dirty="0"/>
          </a:p>
          <a:p>
            <a:r>
              <a:rPr lang="en-US" dirty="0"/>
              <a:t>// Main function to test the add function</a:t>
            </a:r>
          </a:p>
          <a:p>
            <a:r>
              <a:rPr lang="en-US" dirty="0"/>
              <a:t>int main() {</a:t>
            </a:r>
          </a:p>
          <a:p>
            <a:r>
              <a:rPr lang="en-US" dirty="0"/>
              <a:t>    // Initialize hash table with zeros</a:t>
            </a:r>
          </a:p>
          <a:p>
            <a:r>
              <a:rPr lang="en-US" dirty="0"/>
              <a:t>    int a[TABLE_SIZE] = {0};</a:t>
            </a:r>
          </a:p>
          <a:p>
            <a:endParaRPr lang="en-US" dirty="0"/>
          </a:p>
          <a:p>
            <a:r>
              <a:rPr lang="en-US" dirty="0"/>
              <a:t>    // Add keys and print the table</a:t>
            </a:r>
          </a:p>
          <a:p>
            <a:r>
              <a:rPr lang="en-US" dirty="0"/>
              <a:t>    add(a, 3);</a:t>
            </a:r>
          </a:p>
          <a:p>
            <a:r>
              <a:rPr lang="en-US" dirty="0"/>
              <a:t>    add(a, 13);</a:t>
            </a:r>
          </a:p>
          <a:p>
            <a:r>
              <a:rPr lang="en-US" dirty="0"/>
              <a:t>    add(a, 43);</a:t>
            </a:r>
          </a:p>
          <a:p>
            <a:r>
              <a:rPr lang="en-US" dirty="0"/>
              <a:t>    add(a, 2);</a:t>
            </a:r>
          </a:p>
          <a:p>
            <a:r>
              <a:rPr lang="en-US" dirty="0"/>
              <a:t>    add(a, 4);</a:t>
            </a:r>
          </a:p>
          <a:p>
            <a:r>
              <a:rPr lang="en-US" dirty="0"/>
              <a:t>    for (int </a:t>
            </a:r>
            <a:r>
              <a:rPr lang="en-US" dirty="0" err="1"/>
              <a:t>i</a:t>
            </a:r>
            <a:r>
              <a:rPr lang="en-US" dirty="0"/>
              <a:t> = 0; </a:t>
            </a:r>
            <a:r>
              <a:rPr lang="en-US" dirty="0" err="1"/>
              <a:t>i</a:t>
            </a:r>
            <a:r>
              <a:rPr lang="en-US" dirty="0"/>
              <a:t> &lt; TABLE_SIZE; </a:t>
            </a:r>
            <a:r>
              <a:rPr lang="en-US" dirty="0" err="1"/>
              <a:t>i</a:t>
            </a:r>
            <a:r>
              <a:rPr lang="en-US" dirty="0"/>
              <a:t>++) {</a:t>
            </a:r>
          </a:p>
          <a:p>
            <a:r>
              <a:rPr lang="en-US" dirty="0"/>
              <a:t>        </a:t>
            </a:r>
            <a:r>
              <a:rPr lang="en-US" dirty="0" err="1"/>
              <a:t>printf</a:t>
            </a:r>
            <a:r>
              <a:rPr lang="en-US" dirty="0"/>
              <a:t>("%d ", a[</a:t>
            </a:r>
            <a:r>
              <a:rPr lang="en-US" dirty="0" err="1"/>
              <a:t>i</a:t>
            </a:r>
            <a:r>
              <a:rPr lang="en-US" dirty="0"/>
              <a:t>]);</a:t>
            </a:r>
          </a:p>
          <a:p>
            <a:r>
              <a:rPr lang="en-US" dirty="0"/>
              <a:t>    }</a:t>
            </a:r>
          </a:p>
          <a:p>
            <a:r>
              <a:rPr lang="en-US" dirty="0"/>
              <a:t>    </a:t>
            </a:r>
            <a:r>
              <a:rPr lang="en-US" dirty="0" err="1"/>
              <a:t>printf</a:t>
            </a:r>
            <a:r>
              <a:rPr lang="en-US" dirty="0"/>
              <a:t>("\n");</a:t>
            </a:r>
          </a:p>
          <a:p>
            <a:endParaRPr lang="en-US" dirty="0"/>
          </a:p>
          <a:p>
            <a:r>
              <a:rPr lang="en-US" dirty="0"/>
              <a:t>    return 0;</a:t>
            </a:r>
          </a:p>
          <a:p>
            <a:r>
              <a:rPr lang="en-US" dirty="0"/>
              <a:t>}</a:t>
            </a:r>
          </a:p>
        </p:txBody>
      </p:sp>
      <p:sp>
        <p:nvSpPr>
          <p:cNvPr id="4" name="Slide Number Placeholder 3"/>
          <p:cNvSpPr>
            <a:spLocks noGrp="1"/>
          </p:cNvSpPr>
          <p:nvPr>
            <p:ph type="sldNum" sz="quarter" idx="5"/>
          </p:nvPr>
        </p:nvSpPr>
        <p:spPr/>
        <p:txBody>
          <a:bodyPr/>
          <a:lstStyle/>
          <a:p>
            <a:fld id="{C6B3AB32-59DF-41F1-9618-EDFBF5049629}" type="slidenum">
              <a:rPr lang="en-US" smtClean="0"/>
              <a:pPr/>
              <a:t>32</a:t>
            </a:fld>
            <a:endParaRPr lang="en-US" dirty="0"/>
          </a:p>
        </p:txBody>
      </p:sp>
    </p:spTree>
    <p:extLst>
      <p:ext uri="{BB962C8B-B14F-4D97-AF65-F5344CB8AC3E}">
        <p14:creationId xmlns:p14="http://schemas.microsoft.com/office/powerpoint/2010/main" val="28146641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double hashing is where you don’t want factors</a:t>
            </a:r>
          </a:p>
        </p:txBody>
      </p:sp>
      <p:sp>
        <p:nvSpPr>
          <p:cNvPr id="4" name="Slide Number Placeholder 3"/>
          <p:cNvSpPr>
            <a:spLocks noGrp="1"/>
          </p:cNvSpPr>
          <p:nvPr>
            <p:ph type="sldNum" sz="quarter" idx="5"/>
          </p:nvPr>
        </p:nvSpPr>
        <p:spPr/>
        <p:txBody>
          <a:bodyPr/>
          <a:lstStyle/>
          <a:p>
            <a:fld id="{C6B3AB32-59DF-41F1-9618-EDFBF5049629}" type="slidenum">
              <a:rPr lang="en-US" smtClean="0"/>
              <a:pPr/>
              <a:t>33</a:t>
            </a:fld>
            <a:endParaRPr lang="en-US" dirty="0"/>
          </a:p>
        </p:txBody>
      </p:sp>
    </p:spTree>
    <p:extLst>
      <p:ext uri="{BB962C8B-B14F-4D97-AF65-F5344CB8AC3E}">
        <p14:creationId xmlns:p14="http://schemas.microsoft.com/office/powerpoint/2010/main" val="25135214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34</a:t>
            </a:fld>
            <a:endParaRPr lang="en-US" dirty="0"/>
          </a:p>
        </p:txBody>
      </p:sp>
    </p:spTree>
    <p:extLst>
      <p:ext uri="{BB962C8B-B14F-4D97-AF65-F5344CB8AC3E}">
        <p14:creationId xmlns:p14="http://schemas.microsoft.com/office/powerpoint/2010/main" val="10467141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91329F50-FE46-44C9-8601-7B49262EBFE5}" type="slidenum">
              <a:rPr lang="en-US" altLang="en-US" sz="1200">
                <a:solidFill>
                  <a:schemeClr val="tx1"/>
                </a:solidFill>
              </a:rPr>
              <a:pPr eaLnBrk="1" hangingPunct="1"/>
              <a:t>35</a:t>
            </a:fld>
            <a:endParaRPr lang="en-US" altLang="en-US" sz="1200">
              <a:solidFill>
                <a:schemeClr val="tx1"/>
              </a:solidFill>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1260415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9/16/26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9/16/26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9/16/26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9/16/26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9/16/26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9/16/26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9/16/26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b="0" i="0">
                <a:solidFill>
                  <a:schemeClr val="accent2"/>
                </a:solidFill>
                <a:latin typeface="Times New Roman" panose="02020603050405020304" pitchFamily="18" charset="0"/>
              </a:defRPr>
            </a:lvl1pPr>
          </a:lstStyle>
          <a:p>
            <a:fld id="{B61BEF0D-F0BB-DE4B-95CE-6DB70DBA9567}" type="datetimeFigureOut">
              <a:rPr lang="en-US" smtClean="0"/>
              <a:pPr/>
              <a:t>9/16/26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b="0" i="0" cap="all">
                <a:solidFill>
                  <a:schemeClr val="accent2"/>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b="0" i="0">
                <a:solidFill>
                  <a:schemeClr val="accent2"/>
                </a:solidFill>
                <a:latin typeface="Times New Roman" panose="02020603050405020304" pitchFamily="18" charset="0"/>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i="0" kern="1200" cap="all">
          <a:solidFill>
            <a:schemeClr val="bg1"/>
          </a:solidFill>
          <a:latin typeface="Times New Roman" panose="02020603050405020304" pitchFamily="18"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b="0" i="0" kern="1200">
          <a:solidFill>
            <a:schemeClr val="tx2"/>
          </a:solidFill>
          <a:latin typeface="Times New Roman" panose="02020603050405020304" pitchFamily="18" charset="0"/>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b="0" i="0" kern="1200">
          <a:solidFill>
            <a:schemeClr val="tx2"/>
          </a:solidFill>
          <a:latin typeface="Times New Roman" panose="02020603050405020304" pitchFamily="18" charset="0"/>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b="0" i="0" kern="1200">
          <a:solidFill>
            <a:schemeClr val="tx2"/>
          </a:solidFill>
          <a:latin typeface="Times New Roman" panose="02020603050405020304" pitchFamily="18" charset="0"/>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jfi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r>
              <a:rPr lang="en-US" sz="6600" dirty="0">
                <a:solidFill>
                  <a:schemeClr val="bg1"/>
                </a:solidFill>
                <a:latin typeface="Times New Roman" panose="02020603050405020304" pitchFamily="18" charset="0"/>
                <a:cs typeface="Times New Roman" panose="02020603050405020304" pitchFamily="18" charset="0"/>
              </a:rPr>
              <a:t>Hash Tables</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cs typeface="Times New Roman" panose="02020603050405020304" pitchFamily="18" charset="0"/>
              </a:rPr>
              <a:t>Feedback in class exercise Lect7 </a:t>
            </a:r>
            <a:endParaRPr lang="en-US" sz="4000" dirty="0"/>
          </a:p>
        </p:txBody>
      </p:sp>
      <p:sp>
        <p:nvSpPr>
          <p:cNvPr id="5" name="Rectangle 4"/>
          <p:cNvSpPr/>
          <p:nvPr/>
        </p:nvSpPr>
        <p:spPr>
          <a:xfrm>
            <a:off x="581192" y="2070969"/>
            <a:ext cx="6096000" cy="4524315"/>
          </a:xfrm>
          <a:prstGeom prst="rect">
            <a:avLst/>
          </a:prstGeom>
        </p:spPr>
        <p:txBody>
          <a:bodyPr>
            <a:spAutoFit/>
          </a:bodyPr>
          <a:lstStyle/>
          <a:p>
            <a:r>
              <a:rPr lang="en-US" dirty="0">
                <a:latin typeface="Times New Roman" panose="02020603050405020304" pitchFamily="18" charset="0"/>
                <a:ea typeface="Calibri" panose="020F0502020204030204" pitchFamily="34" charset="0"/>
                <a:cs typeface="Times New Roman" panose="02020603050405020304" pitchFamily="18" charset="0"/>
              </a:rPr>
              <a:t>#include &lt;</a:t>
            </a:r>
            <a:r>
              <a:rPr lang="en-US" dirty="0" err="1">
                <a:latin typeface="Times New Roman" panose="02020603050405020304" pitchFamily="18" charset="0"/>
                <a:ea typeface="Calibri" panose="020F0502020204030204" pitchFamily="34" charset="0"/>
                <a:cs typeface="Times New Roman" panose="02020603050405020304" pitchFamily="18" charset="0"/>
              </a:rPr>
              <a:t>stdio.h</a:t>
            </a:r>
            <a:r>
              <a:rPr lang="en-US" dirty="0">
                <a:latin typeface="Times New Roman" panose="02020603050405020304" pitchFamily="18" charset="0"/>
                <a:ea typeface="Calibri" panose="020F0502020204030204" pitchFamily="34" charset="0"/>
                <a:cs typeface="Times New Roman" panose="02020603050405020304" pitchFamily="18" charset="0"/>
              </a:rPr>
              <a:t>&gt;</a:t>
            </a:r>
          </a:p>
          <a:p>
            <a:r>
              <a:rPr lang="en-US" dirty="0">
                <a:latin typeface="Times New Roman" panose="02020603050405020304" pitchFamily="18" charset="0"/>
                <a:ea typeface="Calibri" panose="020F0502020204030204" pitchFamily="34" charset="0"/>
                <a:cs typeface="Times New Roman" panose="02020603050405020304" pitchFamily="18" charset="0"/>
              </a:rPr>
              <a:t> </a:t>
            </a:r>
          </a:p>
          <a:p>
            <a:r>
              <a:rPr lang="en-US" dirty="0" err="1">
                <a:latin typeface="Times New Roman" panose="02020603050405020304" pitchFamily="18" charset="0"/>
                <a:ea typeface="Calibri" panose="020F0502020204030204" pitchFamily="34" charset="0"/>
                <a:cs typeface="Times New Roman" panose="02020603050405020304" pitchFamily="18" charset="0"/>
              </a:rPr>
              <a:t>int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S(</a:t>
            </a:r>
            <a:r>
              <a:rPr lang="en-US"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int</a:t>
            </a:r>
            <a:r>
              <a:rPr lang="en-US"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n)</a:t>
            </a:r>
            <a:r>
              <a:rPr lang="en-US" dirty="0">
                <a:latin typeface="Times New Roman" panose="02020603050405020304" pitchFamily="18" charset="0"/>
                <a:ea typeface="Calibri" panose="020F0502020204030204" pitchFamily="34" charset="0"/>
                <a:cs typeface="Times New Roman" panose="02020603050405020304" pitchFamily="18" charset="0"/>
              </a:rPr>
              <a:t>{</a:t>
            </a:r>
          </a:p>
          <a:p>
            <a:r>
              <a:rPr lang="en-US" dirty="0">
                <a:latin typeface="Times New Roman" panose="02020603050405020304" pitchFamily="18" charset="0"/>
                <a:ea typeface="Calibri" panose="020F0502020204030204" pitchFamily="34" charset="0"/>
                <a:cs typeface="Times New Roman" panose="02020603050405020304" pitchFamily="18" charset="0"/>
              </a:rPr>
              <a:t>    if (n &lt;=1)</a:t>
            </a:r>
          </a:p>
          <a:p>
            <a:r>
              <a:rPr lang="en-US" dirty="0">
                <a:latin typeface="Times New Roman" panose="02020603050405020304" pitchFamily="18" charset="0"/>
                <a:ea typeface="Calibri" panose="020F0502020204030204" pitchFamily="34" charset="0"/>
                <a:cs typeface="Times New Roman" panose="02020603050405020304" pitchFamily="18" charset="0"/>
              </a:rPr>
              <a:t>        return 2;</a:t>
            </a:r>
          </a:p>
          <a:p>
            <a:r>
              <a:rPr lang="en-US" dirty="0">
                <a:latin typeface="Times New Roman" panose="02020603050405020304" pitchFamily="18" charset="0"/>
                <a:ea typeface="Calibri" panose="020F0502020204030204" pitchFamily="34" charset="0"/>
                <a:cs typeface="Times New Roman" panose="02020603050405020304" pitchFamily="18" charset="0"/>
              </a:rPr>
              <a:t>    else</a:t>
            </a:r>
          </a:p>
          <a:p>
            <a:r>
              <a:rPr lang="en-US" dirty="0">
                <a:latin typeface="Times New Roman" panose="02020603050405020304" pitchFamily="18" charset="0"/>
                <a:ea typeface="Calibri" panose="020F0502020204030204" pitchFamily="34" charset="0"/>
                <a:cs typeface="Times New Roman" panose="02020603050405020304" pitchFamily="18" charset="0"/>
              </a:rPr>
              <a:t>        return </a:t>
            </a:r>
            <a:r>
              <a:rPr lang="en-US"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S(n-1)</a:t>
            </a:r>
            <a:r>
              <a:rPr lang="en-US" dirty="0">
                <a:latin typeface="Times New Roman" panose="02020603050405020304" pitchFamily="18" charset="0"/>
                <a:ea typeface="Calibri" panose="020F0502020204030204" pitchFamily="34" charset="0"/>
                <a:cs typeface="Times New Roman" panose="02020603050405020304" pitchFamily="18" charset="0"/>
              </a:rPr>
              <a:t> + 2*n;</a:t>
            </a:r>
          </a:p>
          <a:p>
            <a:r>
              <a:rPr lang="en-US" dirty="0">
                <a:latin typeface="Times New Roman" panose="02020603050405020304" pitchFamily="18" charset="0"/>
                <a:ea typeface="Calibri" panose="020F0502020204030204" pitchFamily="34" charset="0"/>
                <a:cs typeface="Times New Roman" panose="02020603050405020304" pitchFamily="18" charset="0"/>
              </a:rPr>
              <a:t>}</a:t>
            </a:r>
          </a:p>
          <a:p>
            <a:r>
              <a:rPr lang="en-US" dirty="0">
                <a:latin typeface="Times New Roman" panose="02020603050405020304" pitchFamily="18" charset="0"/>
                <a:ea typeface="Calibri" panose="020F0502020204030204" pitchFamily="34" charset="0"/>
                <a:cs typeface="Times New Roman" panose="02020603050405020304" pitchFamily="18" charset="0"/>
              </a:rPr>
              <a:t> </a:t>
            </a:r>
          </a:p>
          <a:p>
            <a:r>
              <a:rPr lang="en-US" dirty="0" err="1">
                <a:latin typeface="Times New Roman" panose="02020603050405020304" pitchFamily="18" charset="0"/>
                <a:ea typeface="Calibri" panose="020F0502020204030204" pitchFamily="34" charset="0"/>
                <a:cs typeface="Times New Roman" panose="02020603050405020304" pitchFamily="18" charset="0"/>
              </a:rPr>
              <a:t>int</a:t>
            </a:r>
            <a:r>
              <a:rPr lang="en-US" dirty="0">
                <a:latin typeface="Times New Roman" panose="02020603050405020304" pitchFamily="18" charset="0"/>
                <a:ea typeface="Calibri" panose="020F0502020204030204" pitchFamily="34" charset="0"/>
                <a:cs typeface="Times New Roman" panose="02020603050405020304" pitchFamily="18" charset="0"/>
              </a:rPr>
              <a:t> main() {</a:t>
            </a:r>
          </a:p>
          <a:p>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int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num</a:t>
            </a:r>
            <a:r>
              <a:rPr lang="en-US" dirty="0">
                <a:latin typeface="Times New Roman" panose="02020603050405020304" pitchFamily="18" charset="0"/>
                <a:ea typeface="Calibri" panose="020F0502020204030204" pitchFamily="34" charset="0"/>
                <a:cs typeface="Times New Roman" panose="02020603050405020304" pitchFamily="18" charset="0"/>
              </a:rPr>
              <a:t>;</a:t>
            </a:r>
          </a:p>
          <a:p>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printf</a:t>
            </a:r>
            <a:r>
              <a:rPr lang="en-US" dirty="0">
                <a:latin typeface="Times New Roman" panose="02020603050405020304" pitchFamily="18" charset="0"/>
                <a:ea typeface="Calibri" panose="020F0502020204030204" pitchFamily="34" charset="0"/>
                <a:cs typeface="Times New Roman" panose="02020603050405020304" pitchFamily="18" charset="0"/>
              </a:rPr>
              <a:t>("Enter n = ");</a:t>
            </a:r>
          </a:p>
          <a:p>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scanf</a:t>
            </a:r>
            <a:r>
              <a:rPr lang="en-US" dirty="0">
                <a:latin typeface="Times New Roman" panose="02020603050405020304" pitchFamily="18" charset="0"/>
                <a:ea typeface="Calibri" panose="020F0502020204030204" pitchFamily="34" charset="0"/>
                <a:cs typeface="Times New Roman" panose="02020603050405020304" pitchFamily="18" charset="0"/>
              </a:rPr>
              <a:t>("%d", &amp;</a:t>
            </a:r>
            <a:r>
              <a:rPr lang="en-US" dirty="0" err="1">
                <a:latin typeface="Times New Roman" panose="02020603050405020304" pitchFamily="18" charset="0"/>
                <a:ea typeface="Calibri" panose="020F0502020204030204" pitchFamily="34" charset="0"/>
                <a:cs typeface="Times New Roman" panose="02020603050405020304" pitchFamily="18" charset="0"/>
              </a:rPr>
              <a:t>num</a:t>
            </a:r>
            <a:r>
              <a:rPr lang="en-US" dirty="0">
                <a:latin typeface="Times New Roman" panose="02020603050405020304" pitchFamily="18" charset="0"/>
                <a:ea typeface="Calibri" panose="020F0502020204030204" pitchFamily="34" charset="0"/>
                <a:cs typeface="Times New Roman" panose="02020603050405020304" pitchFamily="18" charset="0"/>
              </a:rPr>
              <a:t>);</a:t>
            </a:r>
          </a:p>
          <a:p>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printf</a:t>
            </a:r>
            <a:r>
              <a:rPr lang="en-US" dirty="0">
                <a:latin typeface="Times New Roman" panose="02020603050405020304" pitchFamily="18" charset="0"/>
                <a:ea typeface="Calibri" panose="020F0502020204030204" pitchFamily="34" charset="0"/>
                <a:cs typeface="Times New Roman" panose="02020603050405020304" pitchFamily="18" charset="0"/>
              </a:rPr>
              <a:t>("S(%d)=%d \n", </a:t>
            </a:r>
            <a:r>
              <a:rPr lang="en-US" dirty="0" err="1">
                <a:latin typeface="Times New Roman" panose="02020603050405020304" pitchFamily="18" charset="0"/>
                <a:ea typeface="Calibri" panose="020F0502020204030204" pitchFamily="34" charset="0"/>
                <a:cs typeface="Times New Roman" panose="02020603050405020304" pitchFamily="18" charset="0"/>
              </a:rPr>
              <a:t>num</a:t>
            </a:r>
            <a:r>
              <a:rPr lang="en-US" dirty="0">
                <a:latin typeface="Times New Roman" panose="02020603050405020304" pitchFamily="18" charset="0"/>
                <a:ea typeface="Calibri" panose="020F0502020204030204" pitchFamily="34" charset="0"/>
                <a:cs typeface="Times New Roman" panose="02020603050405020304" pitchFamily="18" charset="0"/>
              </a:rPr>
              <a:t>, S(</a:t>
            </a:r>
            <a:r>
              <a:rPr lang="en-US" dirty="0" err="1">
                <a:latin typeface="Times New Roman" panose="02020603050405020304" pitchFamily="18" charset="0"/>
                <a:ea typeface="Calibri" panose="020F0502020204030204" pitchFamily="34" charset="0"/>
                <a:cs typeface="Times New Roman" panose="02020603050405020304" pitchFamily="18" charset="0"/>
              </a:rPr>
              <a:t>num</a:t>
            </a:r>
            <a:r>
              <a:rPr lang="en-US" dirty="0">
                <a:latin typeface="Times New Roman" panose="02020603050405020304" pitchFamily="18" charset="0"/>
                <a:ea typeface="Calibri" panose="020F0502020204030204" pitchFamily="34" charset="0"/>
                <a:cs typeface="Times New Roman" panose="02020603050405020304" pitchFamily="18" charset="0"/>
              </a:rPr>
              <a:t>)); </a:t>
            </a:r>
          </a:p>
          <a:p>
            <a:r>
              <a:rPr lang="en-US" dirty="0">
                <a:latin typeface="Times New Roman" panose="02020603050405020304" pitchFamily="18" charset="0"/>
                <a:ea typeface="Calibri" panose="020F0502020204030204" pitchFamily="34" charset="0"/>
                <a:cs typeface="Times New Roman" panose="02020603050405020304" pitchFamily="18" charset="0"/>
              </a:rPr>
              <a:t>    return 0;</a:t>
            </a:r>
          </a:p>
          <a:p>
            <a:r>
              <a:rPr lang="en-US" dirty="0">
                <a:latin typeface="Times New Roman" panose="02020603050405020304" pitchFamily="18"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2347119882"/>
      </p:ext>
    </p:extLst>
  </p:cSld>
  <p:clrMapOvr>
    <a:masterClrMapping/>
  </p:clrMapOvr>
  <p:transition spd="slow">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cs typeface="Times New Roman" panose="02020603050405020304" pitchFamily="18" charset="0"/>
              </a:rPr>
              <a:t>Feedback in class exercise Lect7 Challenge</a:t>
            </a:r>
            <a:endParaRPr lang="en-US" sz="4000" dirty="0"/>
          </a:p>
        </p:txBody>
      </p:sp>
      <p:sp>
        <p:nvSpPr>
          <p:cNvPr id="5" name="Rectangle 4"/>
          <p:cNvSpPr/>
          <p:nvPr/>
        </p:nvSpPr>
        <p:spPr>
          <a:xfrm>
            <a:off x="375707" y="1931714"/>
            <a:ext cx="10771752" cy="5016758"/>
          </a:xfrm>
          <a:prstGeom prst="rect">
            <a:avLst/>
          </a:prstGeom>
        </p:spPr>
        <p:txBody>
          <a:bodyPr wrap="square">
            <a:spAutoFit/>
          </a:bodyPr>
          <a:lstStyle/>
          <a:p>
            <a:r>
              <a:rPr lang="en-US" sz="1600" dirty="0">
                <a:latin typeface="Times New Roman" panose="02020603050405020304" pitchFamily="18" charset="0"/>
                <a:cs typeface="Times New Roman" panose="02020603050405020304" pitchFamily="18" charset="0"/>
              </a:rPr>
              <a:t>#include &lt;</a:t>
            </a:r>
            <a:r>
              <a:rPr lang="en-US" sz="1600" dirty="0" err="1">
                <a:latin typeface="Times New Roman" panose="02020603050405020304" pitchFamily="18" charset="0"/>
                <a:cs typeface="Times New Roman" panose="02020603050405020304" pitchFamily="18" charset="0"/>
              </a:rPr>
              <a:t>iostream</a:t>
            </a:r>
            <a:r>
              <a:rPr lang="en-US" sz="1600" dirty="0">
                <a:latin typeface="Times New Roman" panose="02020603050405020304" pitchFamily="18" charset="0"/>
                <a:cs typeface="Times New Roman" panose="02020603050405020304" pitchFamily="18" charset="0"/>
              </a:rPr>
              <a:t>&gt;</a:t>
            </a:r>
          </a:p>
          <a:p>
            <a:r>
              <a:rPr lang="en-US" sz="1600" dirty="0">
                <a:latin typeface="Times New Roman" panose="02020603050405020304" pitchFamily="18" charset="0"/>
                <a:cs typeface="Times New Roman" panose="02020603050405020304" pitchFamily="18" charset="0"/>
              </a:rPr>
              <a:t>using namespace </a:t>
            </a:r>
            <a:r>
              <a:rPr lang="en-US" sz="1600" dirty="0" err="1">
                <a:latin typeface="Times New Roman" panose="02020603050405020304" pitchFamily="18" charset="0"/>
                <a:cs typeface="Times New Roman" panose="02020603050405020304" pitchFamily="18" charset="0"/>
              </a:rPr>
              <a:t>std</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void </a:t>
            </a:r>
            <a:r>
              <a:rPr lang="en-US" sz="1600" dirty="0" err="1">
                <a:solidFill>
                  <a:srgbClr val="FF0000"/>
                </a:solidFill>
                <a:latin typeface="Times New Roman" panose="02020603050405020304" pitchFamily="18" charset="0"/>
                <a:cs typeface="Times New Roman" panose="02020603050405020304" pitchFamily="18" charset="0"/>
              </a:rPr>
              <a:t>printBits</a:t>
            </a:r>
            <a:r>
              <a:rPr lang="en-US" sz="1600" dirty="0">
                <a:solidFill>
                  <a:srgbClr val="FF0000"/>
                </a:solidFill>
                <a:latin typeface="Times New Roman" panose="02020603050405020304" pitchFamily="18" charset="0"/>
                <a:cs typeface="Times New Roman" panose="02020603050405020304" pitchFamily="18" charset="0"/>
              </a:rPr>
              <a:t>(string </a:t>
            </a:r>
            <a:r>
              <a:rPr lang="en-US" sz="1600" dirty="0" err="1">
                <a:solidFill>
                  <a:srgbClr val="FF0000"/>
                </a:solidFill>
                <a:latin typeface="Times New Roman" panose="02020603050405020304" pitchFamily="18" charset="0"/>
                <a:cs typeface="Times New Roman" panose="02020603050405020304" pitchFamily="18" charset="0"/>
              </a:rPr>
              <a:t>prev</a:t>
            </a:r>
            <a:r>
              <a:rPr lang="en-US" sz="1600" dirty="0">
                <a:solidFill>
                  <a:srgbClr val="FF0000"/>
                </a:solidFill>
                <a:latin typeface="Times New Roman" panose="02020603050405020304" pitchFamily="18" charset="0"/>
                <a:cs typeface="Times New Roman" panose="02020603050405020304" pitchFamily="18" charset="0"/>
              </a:rPr>
              <a:t>, </a:t>
            </a:r>
            <a:r>
              <a:rPr lang="en-US" sz="1600" dirty="0" err="1">
                <a:solidFill>
                  <a:srgbClr val="FF0000"/>
                </a:solidFill>
                <a:latin typeface="Times New Roman" panose="02020603050405020304" pitchFamily="18" charset="0"/>
                <a:cs typeface="Times New Roman" panose="02020603050405020304" pitchFamily="18" charset="0"/>
              </a:rPr>
              <a:t>int</a:t>
            </a:r>
            <a:r>
              <a:rPr lang="en-US" sz="1600" dirty="0">
                <a:solidFill>
                  <a:srgbClr val="FF0000"/>
                </a:solidFill>
                <a:latin typeface="Times New Roman" panose="02020603050405020304" pitchFamily="18" charset="0"/>
                <a:cs typeface="Times New Roman" panose="02020603050405020304" pitchFamily="18" charset="0"/>
              </a:rPr>
              <a:t> </a:t>
            </a:r>
            <a:r>
              <a:rPr lang="en-US" sz="1600" dirty="0" err="1">
                <a:solidFill>
                  <a:srgbClr val="FF0000"/>
                </a:solidFill>
                <a:latin typeface="Times New Roman" panose="02020603050405020304" pitchFamily="18" charset="0"/>
                <a:cs typeface="Times New Roman" panose="02020603050405020304" pitchFamily="18" charset="0"/>
              </a:rPr>
              <a:t>num</a:t>
            </a:r>
            <a:r>
              <a:rPr lang="en-US" sz="1600" dirty="0">
                <a:solidFill>
                  <a:srgbClr val="FF000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    if (</a:t>
            </a:r>
            <a:r>
              <a:rPr lang="en-US" sz="1600" dirty="0" err="1">
                <a:latin typeface="Times New Roman" panose="02020603050405020304" pitchFamily="18" charset="0"/>
                <a:cs typeface="Times New Roman" panose="02020603050405020304" pitchFamily="18" charset="0"/>
              </a:rPr>
              <a:t>num</a:t>
            </a:r>
            <a:r>
              <a:rPr lang="en-US" sz="1600" dirty="0">
                <a:latin typeface="Times New Roman" panose="02020603050405020304" pitchFamily="18" charset="0"/>
                <a:cs typeface="Times New Roman" panose="02020603050405020304" pitchFamily="18" charset="0"/>
              </a:rPr>
              <a:t> &lt;=1){</a:t>
            </a: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cout</a:t>
            </a:r>
            <a:r>
              <a:rPr lang="en-US" sz="1600" dirty="0">
                <a:latin typeface="Times New Roman" panose="02020603050405020304" pitchFamily="18" charset="0"/>
                <a:cs typeface="Times New Roman" panose="02020603050405020304" pitchFamily="18" charset="0"/>
              </a:rPr>
              <a:t>&lt;&lt;</a:t>
            </a:r>
            <a:r>
              <a:rPr lang="en-US" sz="1600" dirty="0" err="1">
                <a:latin typeface="Times New Roman" panose="02020603050405020304" pitchFamily="18" charset="0"/>
                <a:cs typeface="Times New Roman" panose="02020603050405020304" pitchFamily="18" charset="0"/>
              </a:rPr>
              <a:t>prev</a:t>
            </a:r>
            <a:r>
              <a:rPr lang="en-US" sz="1600" dirty="0">
                <a:latin typeface="Times New Roman" panose="02020603050405020304" pitchFamily="18" charset="0"/>
                <a:cs typeface="Times New Roman" panose="02020603050405020304" pitchFamily="18" charset="0"/>
              </a:rPr>
              <a:t>&lt;&lt;"0"&lt;&lt;</a:t>
            </a:r>
            <a:r>
              <a:rPr lang="en-US" sz="1600" dirty="0" err="1">
                <a:latin typeface="Times New Roman" panose="02020603050405020304" pitchFamily="18" charset="0"/>
                <a:cs typeface="Times New Roman" panose="02020603050405020304" pitchFamily="18" charset="0"/>
              </a:rPr>
              <a:t>endl</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cout</a:t>
            </a:r>
            <a:r>
              <a:rPr lang="en-US" sz="1600" dirty="0">
                <a:latin typeface="Times New Roman" panose="02020603050405020304" pitchFamily="18" charset="0"/>
                <a:cs typeface="Times New Roman" panose="02020603050405020304" pitchFamily="18" charset="0"/>
              </a:rPr>
              <a:t>&lt;&lt;</a:t>
            </a:r>
            <a:r>
              <a:rPr lang="en-US" sz="1600" dirty="0" err="1">
                <a:latin typeface="Times New Roman" panose="02020603050405020304" pitchFamily="18" charset="0"/>
                <a:cs typeface="Times New Roman" panose="02020603050405020304" pitchFamily="18" charset="0"/>
              </a:rPr>
              <a:t>prev</a:t>
            </a:r>
            <a:r>
              <a:rPr lang="en-US" sz="1600" dirty="0">
                <a:latin typeface="Times New Roman" panose="02020603050405020304" pitchFamily="18" charset="0"/>
                <a:cs typeface="Times New Roman" panose="02020603050405020304" pitchFamily="18" charset="0"/>
              </a:rPr>
              <a:t>&lt;&lt;"1"&lt;&lt;</a:t>
            </a:r>
            <a:r>
              <a:rPr lang="en-US" sz="1600" dirty="0" err="1">
                <a:latin typeface="Times New Roman" panose="02020603050405020304" pitchFamily="18" charset="0"/>
                <a:cs typeface="Times New Roman" panose="02020603050405020304" pitchFamily="18" charset="0"/>
              </a:rPr>
              <a:t>endl</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    else {</a:t>
            </a:r>
          </a:p>
          <a:p>
            <a:r>
              <a:rPr lang="en-US" sz="1600" dirty="0">
                <a:latin typeface="Times New Roman" panose="02020603050405020304" pitchFamily="18" charset="0"/>
                <a:cs typeface="Times New Roman" panose="02020603050405020304" pitchFamily="18" charset="0"/>
              </a:rPr>
              <a:t>       </a:t>
            </a:r>
            <a:r>
              <a:rPr lang="en-US" sz="1600" dirty="0">
                <a:solidFill>
                  <a:srgbClr val="FF0000"/>
                </a:solidFill>
                <a:latin typeface="Times New Roman" panose="02020603050405020304" pitchFamily="18" charset="0"/>
                <a:cs typeface="Times New Roman" panose="02020603050405020304" pitchFamily="18" charset="0"/>
              </a:rPr>
              <a:t> </a:t>
            </a:r>
            <a:r>
              <a:rPr lang="en-US" sz="1600" dirty="0" err="1">
                <a:solidFill>
                  <a:srgbClr val="FF0000"/>
                </a:solidFill>
                <a:latin typeface="Times New Roman" panose="02020603050405020304" pitchFamily="18" charset="0"/>
                <a:cs typeface="Times New Roman" panose="02020603050405020304" pitchFamily="18" charset="0"/>
              </a:rPr>
              <a:t>printBits</a:t>
            </a:r>
            <a:r>
              <a:rPr lang="en-US" sz="1600" dirty="0">
                <a:solidFill>
                  <a:srgbClr val="FF0000"/>
                </a:solidFill>
                <a:latin typeface="Times New Roman" panose="02020603050405020304" pitchFamily="18" charset="0"/>
                <a:cs typeface="Times New Roman" panose="02020603050405020304" pitchFamily="18" charset="0"/>
              </a:rPr>
              <a:t>(prev+"0", num-1);</a:t>
            </a:r>
          </a:p>
          <a:p>
            <a:r>
              <a:rPr lang="en-US" sz="1600" dirty="0">
                <a:solidFill>
                  <a:srgbClr val="FF0000"/>
                </a:solidFill>
                <a:latin typeface="Times New Roman" panose="02020603050405020304" pitchFamily="18" charset="0"/>
                <a:cs typeface="Times New Roman" panose="02020603050405020304" pitchFamily="18" charset="0"/>
              </a:rPr>
              <a:t>        </a:t>
            </a:r>
            <a:r>
              <a:rPr lang="en-US" sz="1600" dirty="0" err="1">
                <a:solidFill>
                  <a:srgbClr val="FF0000"/>
                </a:solidFill>
                <a:latin typeface="Times New Roman" panose="02020603050405020304" pitchFamily="18" charset="0"/>
                <a:cs typeface="Times New Roman" panose="02020603050405020304" pitchFamily="18" charset="0"/>
              </a:rPr>
              <a:t>printBits</a:t>
            </a:r>
            <a:r>
              <a:rPr lang="en-US" sz="1600" dirty="0">
                <a:solidFill>
                  <a:srgbClr val="FF0000"/>
                </a:solidFill>
                <a:latin typeface="Times New Roman" panose="02020603050405020304" pitchFamily="18" charset="0"/>
                <a:cs typeface="Times New Roman" panose="02020603050405020304" pitchFamily="18" charset="0"/>
              </a:rPr>
              <a:t>(prev+"1", num-1);</a:t>
            </a:r>
          </a:p>
          <a:p>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a:t>
            </a:r>
          </a:p>
          <a:p>
            <a:r>
              <a:rPr lang="en-US" sz="1600" dirty="0" err="1">
                <a:latin typeface="Times New Roman" panose="02020603050405020304" pitchFamily="18" charset="0"/>
                <a:cs typeface="Times New Roman" panose="02020603050405020304" pitchFamily="18" charset="0"/>
              </a:rPr>
              <a:t>int</a:t>
            </a:r>
            <a:r>
              <a:rPr lang="en-US" sz="1600" dirty="0">
                <a:latin typeface="Times New Roman" panose="02020603050405020304" pitchFamily="18" charset="0"/>
                <a:cs typeface="Times New Roman" panose="02020603050405020304" pitchFamily="18" charset="0"/>
              </a:rPr>
              <a:t> main() {</a:t>
            </a: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int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num</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cout</a:t>
            </a:r>
            <a:r>
              <a:rPr lang="en-US" sz="1600" dirty="0">
                <a:latin typeface="Times New Roman" panose="02020603050405020304" pitchFamily="18" charset="0"/>
                <a:cs typeface="Times New Roman" panose="02020603050405020304" pitchFamily="18" charset="0"/>
              </a:rPr>
              <a:t>&lt;&lt;"Enter the number of bits:";</a:t>
            </a: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cin</a:t>
            </a:r>
            <a:r>
              <a:rPr lang="en-US" sz="1600" dirty="0">
                <a:latin typeface="Times New Roman" panose="02020603050405020304" pitchFamily="18" charset="0"/>
                <a:cs typeface="Times New Roman" panose="02020603050405020304" pitchFamily="18" charset="0"/>
              </a:rPr>
              <a:t>&gt;&gt;</a:t>
            </a:r>
            <a:r>
              <a:rPr lang="en-US" sz="1600" dirty="0" err="1">
                <a:latin typeface="Times New Roman" panose="02020603050405020304" pitchFamily="18" charset="0"/>
                <a:cs typeface="Times New Roman" panose="02020603050405020304" pitchFamily="18" charset="0"/>
              </a:rPr>
              <a:t>num</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    string </a:t>
            </a:r>
            <a:r>
              <a:rPr lang="en-US" sz="1600" dirty="0" err="1">
                <a:latin typeface="Times New Roman" panose="02020603050405020304" pitchFamily="18" charset="0"/>
                <a:cs typeface="Times New Roman" panose="02020603050405020304" pitchFamily="18" charset="0"/>
              </a:rPr>
              <a:t>prev</a:t>
            </a:r>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printBits</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prev</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num</a:t>
            </a:r>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    return 0;</a:t>
            </a:r>
          </a:p>
          <a:p>
            <a:r>
              <a:rPr lang="en-US"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93396146"/>
      </p:ext>
    </p:extLst>
  </p:cSld>
  <p:clrMapOvr>
    <a:masterClrMapping/>
  </p:clrMapOvr>
  <p:transition spd="slow">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cs typeface="Times New Roman" panose="02020603050405020304" pitchFamily="18" charset="0"/>
              </a:rPr>
              <a:t>Verbal defense hw1</a:t>
            </a:r>
            <a:endParaRPr lang="en-US" sz="4000" dirty="0"/>
          </a:p>
        </p:txBody>
      </p:sp>
      <p:sp>
        <p:nvSpPr>
          <p:cNvPr id="5" name="Rectangle 4"/>
          <p:cNvSpPr/>
          <p:nvPr/>
        </p:nvSpPr>
        <p:spPr>
          <a:xfrm>
            <a:off x="396256" y="1824389"/>
            <a:ext cx="10956687" cy="2308324"/>
          </a:xfrm>
          <a:prstGeom prst="rect">
            <a:avLst/>
          </a:prstGeom>
        </p:spPr>
        <p:txBody>
          <a:bodyPr wrap="square">
            <a:spAutoFit/>
          </a:bodyPr>
          <a:lstStyle/>
          <a:p>
            <a:pPr marL="285750" indent="-285750">
              <a:buFont typeface="Wingdings" panose="05000000000000000000" pitchFamily="2" charset="2"/>
              <a:buChar char="Ø"/>
            </a:pPr>
            <a:r>
              <a:rPr lang="en-US" sz="2800" dirty="0">
                <a:latin typeface="Times New Roman" panose="02020603050405020304" pitchFamily="18" charset="0"/>
                <a:ea typeface="Calibri" panose="020F0502020204030204" pitchFamily="34" charset="0"/>
                <a:cs typeface="Times New Roman" panose="02020603050405020304" pitchFamily="18" charset="0"/>
              </a:rPr>
              <a:t>If your last name begins with </a:t>
            </a:r>
            <a:r>
              <a:rPr lang="en-US" sz="28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A-C </a:t>
            </a:r>
            <a:r>
              <a:rPr lang="en-US" sz="2800" dirty="0">
                <a:latin typeface="Times New Roman" panose="02020603050405020304" pitchFamily="18" charset="0"/>
                <a:ea typeface="Calibri" panose="020F0502020204030204" pitchFamily="34" charset="0"/>
                <a:cs typeface="Times New Roman" panose="02020603050405020304" pitchFamily="18" charset="0"/>
              </a:rPr>
              <a:t>stick around at the end of class after today’s quiz for your verbal defense of HW1.</a:t>
            </a:r>
          </a:p>
          <a:p>
            <a:pPr marL="285750" indent="-285750">
              <a:buFont typeface="Wingdings" panose="05000000000000000000" pitchFamily="2" charset="2"/>
              <a:buChar char="Ø"/>
            </a:pP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Ø"/>
            </a:pPr>
            <a:r>
              <a:rPr lang="en-US" sz="2800" dirty="0">
                <a:latin typeface="Times New Roman" panose="02020603050405020304" pitchFamily="18" charset="0"/>
                <a:ea typeface="Calibri" panose="020F0502020204030204" pitchFamily="34" charset="0"/>
                <a:cs typeface="Times New Roman" panose="02020603050405020304" pitchFamily="18" charset="0"/>
              </a:rPr>
              <a:t>More verbal defense lined up for Friday.</a:t>
            </a:r>
          </a:p>
          <a:p>
            <a:pPr marL="285750" indent="-285750">
              <a:buFont typeface="Wingdings" panose="05000000000000000000" pitchFamily="2" charset="2"/>
              <a:buChar char="Ø"/>
            </a:pP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a:p>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17093117"/>
      </p:ext>
    </p:extLst>
  </p:cSld>
  <p:clrMapOvr>
    <a:masterClrMapping/>
  </p:clrMapOvr>
  <p:transition spd="slow">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cs typeface="Times New Roman" panose="02020603050405020304" pitchFamily="18" charset="0"/>
              </a:rPr>
              <a:t>Most common issues with hw1</a:t>
            </a:r>
            <a:endParaRPr lang="en-US" sz="4000" dirty="0"/>
          </a:p>
        </p:txBody>
      </p:sp>
      <p:sp>
        <p:nvSpPr>
          <p:cNvPr id="5" name="Rectangle 4"/>
          <p:cNvSpPr/>
          <p:nvPr/>
        </p:nvSpPr>
        <p:spPr>
          <a:xfrm>
            <a:off x="396256" y="1824389"/>
            <a:ext cx="10956687" cy="3724096"/>
          </a:xfrm>
          <a:prstGeom prst="rect">
            <a:avLst/>
          </a:prstGeom>
        </p:spPr>
        <p:txBody>
          <a:bodyPr wrap="square">
            <a:spAutoFit/>
          </a:bodyPr>
          <a:lstStyle/>
          <a:p>
            <a:pPr marL="285750" indent="-285750">
              <a:buFont typeface="Wingdings" panose="05000000000000000000" pitchFamily="2" charset="2"/>
              <a:buChar char="Ø"/>
            </a:pPr>
            <a:r>
              <a:rPr lang="en-US" sz="2800" dirty="0">
                <a:latin typeface="Times New Roman" panose="02020603050405020304" pitchFamily="18" charset="0"/>
                <a:ea typeface="Calibri" panose="020F0502020204030204" pitchFamily="34" charset="0"/>
                <a:cs typeface="Times New Roman" panose="02020603050405020304" pitchFamily="18" charset="0"/>
              </a:rPr>
              <a:t>Hard coding the filename instead of using command line arguments:</a:t>
            </a:r>
          </a:p>
          <a:p>
            <a:pPr marL="285750" indent="-285750">
              <a:buFont typeface="Wingdings" panose="05000000000000000000" pitchFamily="2" charset="2"/>
              <a:buChar char="Ø"/>
            </a:pP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r>
              <a:rPr lang="en-US" dirty="0" err="1"/>
              <a:t>int</a:t>
            </a:r>
            <a:r>
              <a:rPr lang="en-US" dirty="0"/>
              <a:t> main</a:t>
            </a:r>
            <a:r>
              <a:rPr lang="en-US" dirty="0">
                <a:solidFill>
                  <a:srgbClr val="FF0000"/>
                </a:solidFill>
              </a:rPr>
              <a:t>( </a:t>
            </a:r>
            <a:r>
              <a:rPr lang="en-US" dirty="0" err="1">
                <a:solidFill>
                  <a:srgbClr val="FF0000"/>
                </a:solidFill>
              </a:rPr>
              <a:t>int</a:t>
            </a:r>
            <a:r>
              <a:rPr lang="en-US" dirty="0">
                <a:solidFill>
                  <a:srgbClr val="FF0000"/>
                </a:solidFill>
              </a:rPr>
              <a:t> </a:t>
            </a:r>
            <a:r>
              <a:rPr lang="en-US" dirty="0" err="1">
                <a:solidFill>
                  <a:srgbClr val="FF0000"/>
                </a:solidFill>
              </a:rPr>
              <a:t>argc</a:t>
            </a:r>
            <a:r>
              <a:rPr lang="en-US" dirty="0">
                <a:solidFill>
                  <a:srgbClr val="FF0000"/>
                </a:solidFill>
              </a:rPr>
              <a:t>, char** </a:t>
            </a:r>
            <a:r>
              <a:rPr lang="en-US" dirty="0" err="1">
                <a:solidFill>
                  <a:srgbClr val="FF0000"/>
                </a:solidFill>
              </a:rPr>
              <a:t>argv</a:t>
            </a:r>
            <a:r>
              <a:rPr lang="en-US" dirty="0"/>
              <a:t>) {</a:t>
            </a:r>
          </a:p>
          <a:p>
            <a:r>
              <a:rPr lang="en-US" dirty="0"/>
              <a:t>    Person buyer[100];</a:t>
            </a:r>
          </a:p>
          <a:p>
            <a:r>
              <a:rPr lang="en-US" dirty="0"/>
              <a:t>    Person seller[100];</a:t>
            </a:r>
          </a:p>
          <a:p>
            <a:endParaRPr lang="en-US" dirty="0"/>
          </a:p>
          <a:p>
            <a:r>
              <a:rPr lang="en-US" dirty="0"/>
              <a:t>    if (</a:t>
            </a:r>
            <a:r>
              <a:rPr lang="en-US" dirty="0" err="1"/>
              <a:t>argc</a:t>
            </a:r>
            <a:r>
              <a:rPr lang="en-US" dirty="0"/>
              <a:t> &lt; 2) {</a:t>
            </a:r>
          </a:p>
          <a:p>
            <a:r>
              <a:rPr lang="en-US" dirty="0"/>
              <a:t>        </a:t>
            </a:r>
            <a:r>
              <a:rPr lang="en-US" dirty="0" err="1"/>
              <a:t>printf</a:t>
            </a:r>
            <a:r>
              <a:rPr lang="en-US" dirty="0"/>
              <a:t>("Run as: </a:t>
            </a:r>
            <a:r>
              <a:rPr lang="en-US" dirty="0" err="1"/>
              <a:t>a.out</a:t>
            </a:r>
            <a:r>
              <a:rPr lang="en-US" dirty="0"/>
              <a:t> fileName.txt ");</a:t>
            </a:r>
          </a:p>
          <a:p>
            <a:r>
              <a:rPr lang="en-US" dirty="0"/>
              <a:t>        return -1;</a:t>
            </a:r>
          </a:p>
          <a:p>
            <a:r>
              <a:rPr lang="en-US" dirty="0"/>
              <a:t>    }</a:t>
            </a:r>
          </a:p>
          <a:p>
            <a:endParaRPr lang="en-US" dirty="0"/>
          </a:p>
          <a:p>
            <a:r>
              <a:rPr lang="en-US" dirty="0"/>
              <a:t>    FILE* f = </a:t>
            </a:r>
            <a:r>
              <a:rPr lang="en-US" dirty="0" err="1"/>
              <a:t>fopen</a:t>
            </a:r>
            <a:r>
              <a:rPr lang="en-US" dirty="0"/>
              <a:t>( </a:t>
            </a:r>
            <a:r>
              <a:rPr lang="en-US" dirty="0" err="1">
                <a:solidFill>
                  <a:srgbClr val="FF0000"/>
                </a:solidFill>
              </a:rPr>
              <a:t>argv</a:t>
            </a:r>
            <a:r>
              <a:rPr lang="en-US" dirty="0">
                <a:solidFill>
                  <a:srgbClr val="FF0000"/>
                </a:solidFill>
              </a:rPr>
              <a:t>[1]</a:t>
            </a:r>
            <a:r>
              <a:rPr lang="en-US" dirty="0"/>
              <a:t>, "r");</a:t>
            </a: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58267575"/>
      </p:ext>
    </p:extLst>
  </p:cSld>
  <p:clrMapOvr>
    <a:masterClrMapping/>
  </p:clrMapOvr>
  <p:transition spd="slow">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cs typeface="Times New Roman" panose="02020603050405020304" pitchFamily="18" charset="0"/>
              </a:rPr>
              <a:t>Most common issues with hw1</a:t>
            </a:r>
            <a:endParaRPr lang="en-US" sz="4000" dirty="0"/>
          </a:p>
        </p:txBody>
      </p:sp>
      <p:sp>
        <p:nvSpPr>
          <p:cNvPr id="5" name="Rectangle 4"/>
          <p:cNvSpPr/>
          <p:nvPr/>
        </p:nvSpPr>
        <p:spPr>
          <a:xfrm>
            <a:off x="396256" y="1824389"/>
            <a:ext cx="10956687" cy="954107"/>
          </a:xfrm>
          <a:prstGeom prst="rect">
            <a:avLst/>
          </a:prstGeom>
        </p:spPr>
        <p:txBody>
          <a:bodyPr wrap="square">
            <a:spAutoFit/>
          </a:bodyPr>
          <a:lstStyle/>
          <a:p>
            <a:pPr marL="285750" indent="-285750">
              <a:buFont typeface="Wingdings" panose="05000000000000000000" pitchFamily="2" charset="2"/>
              <a:buChar char="Ø"/>
            </a:pPr>
            <a:r>
              <a:rPr lang="en-US" sz="2800" dirty="0">
                <a:latin typeface="Times New Roman" panose="02020603050405020304" pitchFamily="18" charset="0"/>
                <a:ea typeface="Calibri" panose="020F0502020204030204" pitchFamily="34" charset="0"/>
                <a:cs typeface="Times New Roman" panose="02020603050405020304" pitchFamily="18" charset="0"/>
              </a:rPr>
              <a:t>Creating 2 structures when 1 would work.</a:t>
            </a:r>
          </a:p>
          <a:p>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p:cNvSpPr/>
          <p:nvPr/>
        </p:nvSpPr>
        <p:spPr>
          <a:xfrm>
            <a:off x="396256" y="3236360"/>
            <a:ext cx="4397339" cy="3195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err="1">
                <a:latin typeface="Times New Roman" panose="02020603050405020304" pitchFamily="18" charset="0"/>
                <a:cs typeface="Times New Roman" panose="02020603050405020304" pitchFamily="18" charset="0"/>
              </a:rPr>
              <a:t>typedef</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struct</a:t>
            </a:r>
            <a:r>
              <a:rPr lang="en-US" sz="2000" dirty="0">
                <a:latin typeface="Times New Roman" panose="02020603050405020304" pitchFamily="18" charset="0"/>
                <a:cs typeface="Times New Roman" panose="02020603050405020304" pitchFamily="18" charset="0"/>
              </a:rPr>
              <a:t> buyer{</a:t>
            </a:r>
          </a:p>
          <a:p>
            <a:pPr lvl="1"/>
            <a:r>
              <a:rPr lang="en-US" sz="2000" dirty="0">
                <a:latin typeface="Times New Roman" panose="02020603050405020304" pitchFamily="18" charset="0"/>
                <a:cs typeface="Times New Roman" panose="02020603050405020304" pitchFamily="18" charset="0"/>
              </a:rPr>
              <a:t>char name[100];</a:t>
            </a:r>
          </a:p>
          <a:p>
            <a:pPr lvl="1"/>
            <a:r>
              <a:rPr lang="en-US" sz="2000" dirty="0">
                <a:latin typeface="Times New Roman" panose="02020603050405020304" pitchFamily="18" charset="0"/>
                <a:cs typeface="Times New Roman" panose="02020603050405020304" pitchFamily="18" charset="0"/>
              </a:rPr>
              <a:t>float price;</a:t>
            </a:r>
          </a:p>
          <a:p>
            <a:r>
              <a:rPr lang="en-US" sz="2000" dirty="0">
                <a:latin typeface="Times New Roman" panose="02020603050405020304" pitchFamily="18" charset="0"/>
                <a:cs typeface="Times New Roman" panose="02020603050405020304" pitchFamily="18" charset="0"/>
              </a:rPr>
              <a:t>} Buyer;</a:t>
            </a:r>
          </a:p>
          <a:p>
            <a:endParaRPr lang="en-US" sz="2000" dirty="0">
              <a:latin typeface="Times New Roman" panose="02020603050405020304" pitchFamily="18" charset="0"/>
              <a:cs typeface="Times New Roman" panose="02020603050405020304" pitchFamily="18" charset="0"/>
            </a:endParaRPr>
          </a:p>
          <a:p>
            <a:r>
              <a:rPr lang="en-US" sz="2000" dirty="0" err="1">
                <a:latin typeface="Times New Roman" panose="02020603050405020304" pitchFamily="18" charset="0"/>
                <a:cs typeface="Times New Roman" panose="02020603050405020304" pitchFamily="18" charset="0"/>
              </a:rPr>
              <a:t>typedef</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struct</a:t>
            </a:r>
            <a:r>
              <a:rPr lang="en-US" sz="2000" dirty="0">
                <a:latin typeface="Times New Roman" panose="02020603050405020304" pitchFamily="18" charset="0"/>
                <a:cs typeface="Times New Roman" panose="02020603050405020304" pitchFamily="18" charset="0"/>
              </a:rPr>
              <a:t> seller{</a:t>
            </a:r>
          </a:p>
          <a:p>
            <a:pPr lvl="1"/>
            <a:r>
              <a:rPr lang="en-US" sz="2000" dirty="0">
                <a:latin typeface="Times New Roman" panose="02020603050405020304" pitchFamily="18" charset="0"/>
                <a:cs typeface="Times New Roman" panose="02020603050405020304" pitchFamily="18" charset="0"/>
              </a:rPr>
              <a:t>char name[100];</a:t>
            </a:r>
          </a:p>
          <a:p>
            <a:pPr lvl="1"/>
            <a:r>
              <a:rPr lang="en-US" sz="2000" dirty="0">
                <a:latin typeface="Times New Roman" panose="02020603050405020304" pitchFamily="18" charset="0"/>
                <a:cs typeface="Times New Roman" panose="02020603050405020304" pitchFamily="18" charset="0"/>
              </a:rPr>
              <a:t>float price;</a:t>
            </a:r>
          </a:p>
          <a:p>
            <a:r>
              <a:rPr lang="en-US" sz="2000" dirty="0">
                <a:latin typeface="Times New Roman" panose="02020603050405020304" pitchFamily="18" charset="0"/>
                <a:cs typeface="Times New Roman" panose="02020603050405020304" pitchFamily="18" charset="0"/>
              </a:rPr>
              <a:t>} Seller;</a:t>
            </a:r>
          </a:p>
          <a:p>
            <a:endParaRPr lang="en-US" dirty="0"/>
          </a:p>
        </p:txBody>
      </p:sp>
      <p:sp>
        <p:nvSpPr>
          <p:cNvPr id="4" name="Rectangle 3"/>
          <p:cNvSpPr/>
          <p:nvPr/>
        </p:nvSpPr>
        <p:spPr>
          <a:xfrm>
            <a:off x="5699744" y="2964248"/>
            <a:ext cx="6096000" cy="1938992"/>
          </a:xfrm>
          <a:prstGeom prst="rect">
            <a:avLst/>
          </a:prstGeom>
        </p:spPr>
        <p:txBody>
          <a:bodyPr>
            <a:spAutoFit/>
          </a:bodyPr>
          <a:lstStyle/>
          <a:p>
            <a:r>
              <a:rPr lang="en-US" sz="2400" dirty="0" err="1">
                <a:solidFill>
                  <a:srgbClr val="0000FF"/>
                </a:solidFill>
                <a:latin typeface="Times New Roman" panose="02020603050405020304" pitchFamily="18" charset="0"/>
                <a:cs typeface="Times New Roman" panose="02020603050405020304" pitchFamily="18" charset="0"/>
              </a:rPr>
              <a:t>typedef</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FF"/>
                </a:solidFill>
                <a:latin typeface="Times New Roman" panose="02020603050405020304" pitchFamily="18" charset="0"/>
                <a:cs typeface="Times New Roman" panose="02020603050405020304" pitchFamily="18" charset="0"/>
              </a:rPr>
              <a:t>struct</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2B91AF"/>
                </a:solidFill>
                <a:latin typeface="Times New Roman" panose="02020603050405020304" pitchFamily="18" charset="0"/>
                <a:cs typeface="Times New Roman" panose="02020603050405020304" pitchFamily="18" charset="0"/>
              </a:rPr>
              <a:t>person</a:t>
            </a:r>
            <a:r>
              <a:rPr lang="en-US" sz="2400" dirty="0">
                <a:solidFill>
                  <a:srgbClr val="000000"/>
                </a:solidFill>
                <a:latin typeface="Times New Roman" panose="02020603050405020304" pitchFamily="18" charset="0"/>
                <a:cs typeface="Times New Roman" panose="02020603050405020304" pitchFamily="18" charset="0"/>
              </a:rPr>
              <a:t> {</a:t>
            </a:r>
          </a:p>
          <a:p>
            <a:pPr lvl="1"/>
            <a:r>
              <a:rPr lang="en-US" sz="2400" dirty="0">
                <a:solidFill>
                  <a:srgbClr val="0000FF"/>
                </a:solidFill>
                <a:latin typeface="Times New Roman" panose="02020603050405020304" pitchFamily="18" charset="0"/>
                <a:cs typeface="Times New Roman" panose="02020603050405020304" pitchFamily="18" charset="0"/>
              </a:rPr>
              <a:t>char</a:t>
            </a:r>
            <a:r>
              <a:rPr lang="en-US" sz="2400" dirty="0">
                <a:solidFill>
                  <a:srgbClr val="000000"/>
                </a:solidFill>
                <a:latin typeface="Times New Roman" panose="02020603050405020304" pitchFamily="18" charset="0"/>
                <a:cs typeface="Times New Roman" panose="02020603050405020304" pitchFamily="18" charset="0"/>
              </a:rPr>
              <a:t> name[100];</a:t>
            </a:r>
          </a:p>
          <a:p>
            <a:pPr lvl="1"/>
            <a:r>
              <a:rPr lang="en-US" sz="2400" dirty="0">
                <a:solidFill>
                  <a:srgbClr val="0000FF"/>
                </a:solidFill>
                <a:latin typeface="Times New Roman" panose="02020603050405020304" pitchFamily="18" charset="0"/>
                <a:cs typeface="Times New Roman" panose="02020603050405020304" pitchFamily="18" charset="0"/>
              </a:rPr>
              <a:t>char</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sell_buy</a:t>
            </a:r>
            <a:r>
              <a:rPr lang="en-US" sz="2400" dirty="0">
                <a:solidFill>
                  <a:srgbClr val="000000"/>
                </a:solidFill>
                <a:latin typeface="Times New Roman" panose="02020603050405020304" pitchFamily="18" charset="0"/>
                <a:cs typeface="Times New Roman" panose="02020603050405020304" pitchFamily="18" charset="0"/>
              </a:rPr>
              <a:t>[100];</a:t>
            </a:r>
          </a:p>
          <a:p>
            <a:pPr lvl="1"/>
            <a:r>
              <a:rPr lang="en-US" sz="2400" dirty="0">
                <a:solidFill>
                  <a:srgbClr val="0000FF"/>
                </a:solidFill>
                <a:latin typeface="Times New Roman" panose="02020603050405020304" pitchFamily="18" charset="0"/>
                <a:cs typeface="Times New Roman" panose="02020603050405020304" pitchFamily="18" charset="0"/>
              </a:rPr>
              <a:t>float</a:t>
            </a:r>
            <a:r>
              <a:rPr lang="en-US" sz="2400" dirty="0">
                <a:solidFill>
                  <a:srgbClr val="000000"/>
                </a:solidFill>
                <a:latin typeface="Times New Roman" panose="02020603050405020304" pitchFamily="18" charset="0"/>
                <a:cs typeface="Times New Roman" panose="02020603050405020304" pitchFamily="18" charset="0"/>
              </a:rPr>
              <a:t> price;</a:t>
            </a:r>
          </a:p>
          <a:p>
            <a:r>
              <a:rPr lang="en-US"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2B91AF"/>
                </a:solidFill>
                <a:latin typeface="Times New Roman" panose="02020603050405020304" pitchFamily="18" charset="0"/>
                <a:cs typeface="Times New Roman" panose="02020603050405020304" pitchFamily="18" charset="0"/>
              </a:rPr>
              <a:t>Person</a:t>
            </a:r>
            <a:r>
              <a:rPr lang="en-US" sz="2400" dirty="0">
                <a:solidFill>
                  <a:srgbClr val="000000"/>
                </a:solidFill>
                <a:latin typeface="Times New Roman" panose="02020603050405020304" pitchFamily="18" charset="0"/>
                <a:cs typeface="Times New Roman" panose="02020603050405020304" pitchFamily="18" charset="0"/>
              </a:rPr>
              <a:t>;</a:t>
            </a:r>
          </a:p>
        </p:txBody>
      </p:sp>
      <p:sp>
        <p:nvSpPr>
          <p:cNvPr id="6" name="Rectangle 5"/>
          <p:cNvSpPr/>
          <p:nvPr/>
        </p:nvSpPr>
        <p:spPr>
          <a:xfrm>
            <a:off x="5709006" y="5088992"/>
            <a:ext cx="6096000" cy="830997"/>
          </a:xfrm>
          <a:prstGeom prst="rect">
            <a:avLst/>
          </a:prstGeom>
        </p:spPr>
        <p:txBody>
          <a:bodyPr>
            <a:spAutoFit/>
          </a:bodyPr>
          <a:lstStyle/>
          <a:p>
            <a:r>
              <a:rPr lang="en-US" sz="2400" dirty="0">
                <a:latin typeface="Times New Roman" panose="02020603050405020304" pitchFamily="18" charset="0"/>
                <a:cs typeface="Times New Roman" panose="02020603050405020304" pitchFamily="18" charset="0"/>
              </a:rPr>
              <a:t>Person buyer[100];</a:t>
            </a:r>
          </a:p>
          <a:p>
            <a:r>
              <a:rPr lang="en-US" sz="2400" dirty="0">
                <a:latin typeface="Times New Roman" panose="02020603050405020304" pitchFamily="18" charset="0"/>
                <a:cs typeface="Times New Roman" panose="02020603050405020304" pitchFamily="18" charset="0"/>
              </a:rPr>
              <a:t>Person seller[100];</a:t>
            </a:r>
          </a:p>
        </p:txBody>
      </p:sp>
    </p:spTree>
    <p:extLst>
      <p:ext uri="{BB962C8B-B14F-4D97-AF65-F5344CB8AC3E}">
        <p14:creationId xmlns:p14="http://schemas.microsoft.com/office/powerpoint/2010/main" val="3307355847"/>
      </p:ext>
    </p:extLst>
  </p:cSld>
  <p:clrMapOvr>
    <a:masterClrMapping/>
  </p:clrMapOvr>
  <p:transition spd="slow">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cs typeface="Times New Roman" panose="02020603050405020304" pitchFamily="18" charset="0"/>
              </a:rPr>
              <a:t>Most common issues with hw1</a:t>
            </a:r>
            <a:endParaRPr lang="en-US" sz="4000" dirty="0"/>
          </a:p>
        </p:txBody>
      </p:sp>
      <p:sp>
        <p:nvSpPr>
          <p:cNvPr id="5" name="Rectangle 4"/>
          <p:cNvSpPr/>
          <p:nvPr/>
        </p:nvSpPr>
        <p:spPr>
          <a:xfrm>
            <a:off x="581192" y="2183984"/>
            <a:ext cx="10956687" cy="2677656"/>
          </a:xfrm>
          <a:prstGeom prst="rect">
            <a:avLst/>
          </a:prstGeom>
        </p:spPr>
        <p:txBody>
          <a:bodyPr wrap="square">
            <a:spAutoFit/>
          </a:bodyPr>
          <a:lstStyle/>
          <a:p>
            <a:pPr marL="457200" indent="-457200">
              <a:buFont typeface="Wingdings" panose="05000000000000000000" pitchFamily="2" charset="2"/>
              <a:buChar char="Ø"/>
            </a:pPr>
            <a:r>
              <a:rPr lang="en-US" sz="2800" dirty="0">
                <a:latin typeface="Times New Roman" panose="02020603050405020304" pitchFamily="18" charset="0"/>
                <a:ea typeface="Calibri" panose="020F0502020204030204" pitchFamily="34" charset="0"/>
                <a:cs typeface="Times New Roman" panose="02020603050405020304" pitchFamily="18" charset="0"/>
              </a:rPr>
              <a:t>Sorting the buyers and sellers the same way.  Buyers should have been high price to low price.  Sellers low to high.  Secondary sort by name.</a:t>
            </a:r>
          </a:p>
          <a:p>
            <a:pPr marL="457200" indent="-457200">
              <a:buFont typeface="Wingdings" panose="05000000000000000000" pitchFamily="2" charset="2"/>
              <a:buChar char="Ø"/>
            </a:pP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457200" indent="-457200">
              <a:buFont typeface="Wingdings" panose="05000000000000000000" pitchFamily="2" charset="2"/>
              <a:buChar char="Ø"/>
            </a:pPr>
            <a:r>
              <a:rPr lang="en-US" sz="2800" dirty="0">
                <a:latin typeface="Times New Roman" panose="02020603050405020304" pitchFamily="18" charset="0"/>
                <a:ea typeface="Calibri" panose="020F0502020204030204" pitchFamily="34" charset="0"/>
                <a:cs typeface="Times New Roman" panose="02020603050405020304" pitchFamily="18" charset="0"/>
              </a:rPr>
              <a:t>Reading the entire file AND then doing the sorting and matching.  The </a:t>
            </a:r>
            <a:r>
              <a:rPr lang="en-US" sz="2800" dirty="0" err="1">
                <a:latin typeface="Times New Roman" panose="02020603050405020304" pitchFamily="18" charset="0"/>
                <a:ea typeface="Calibri" panose="020F0502020204030204" pitchFamily="34" charset="0"/>
                <a:cs typeface="Times New Roman" panose="02020603050405020304" pitchFamily="18" charset="0"/>
              </a:rPr>
              <a:t>ChatGPT</a:t>
            </a:r>
            <a:r>
              <a:rPr lang="en-US" sz="2800" dirty="0">
                <a:latin typeface="Times New Roman" panose="02020603050405020304" pitchFamily="18" charset="0"/>
                <a:ea typeface="Calibri" panose="020F0502020204030204" pitchFamily="34" charset="0"/>
                <a:cs typeface="Times New Roman" panose="02020603050405020304" pitchFamily="18" charset="0"/>
              </a:rPr>
              <a:t> solutions did it this way, resulting in a different answers for file2 and file4.</a:t>
            </a:r>
          </a:p>
        </p:txBody>
      </p:sp>
    </p:spTree>
    <p:extLst>
      <p:ext uri="{BB962C8B-B14F-4D97-AF65-F5344CB8AC3E}">
        <p14:creationId xmlns:p14="http://schemas.microsoft.com/office/powerpoint/2010/main" val="1183473355"/>
      </p:ext>
    </p:extLst>
  </p:cSld>
  <p:clrMapOvr>
    <a:masterClrMapping/>
  </p:clrMapOvr>
  <p:transition spd="slow">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1130" y="2013270"/>
            <a:ext cx="10608607" cy="3989040"/>
          </a:xfrm>
        </p:spPr>
        <p:txBody>
          <a:bodyPr anchor="t" anchorCtr="0">
            <a:normAutofit/>
          </a:bodyPr>
          <a:lstStyle/>
          <a:p>
            <a:pPr marL="0" indent="0">
              <a:buNone/>
            </a:pPr>
            <a:r>
              <a:rPr lang="en-US" sz="3200" dirty="0"/>
              <a:t>What is the Big-O complexity for </a:t>
            </a:r>
          </a:p>
          <a:p>
            <a:r>
              <a:rPr lang="en-US" sz="3200" dirty="0"/>
              <a:t>Finding an element in a linked list?</a:t>
            </a:r>
          </a:p>
          <a:p>
            <a:r>
              <a:rPr lang="en-US" sz="3200" dirty="0"/>
              <a:t>Removing an element from a linked list?</a:t>
            </a:r>
          </a:p>
          <a:p>
            <a:r>
              <a:rPr lang="en-US" sz="3200" dirty="0"/>
              <a:t>Adding an element to a linked list?</a:t>
            </a:r>
          </a:p>
          <a:p>
            <a:endParaRPr lang="en-US" sz="800" dirty="0"/>
          </a:p>
        </p:txBody>
      </p:sp>
      <p:sp>
        <p:nvSpPr>
          <p:cNvPr id="2" name="Title 1"/>
          <p:cNvSpPr>
            <a:spLocks noGrp="1"/>
          </p:cNvSpPr>
          <p:nvPr>
            <p:ph type="title"/>
          </p:nvPr>
        </p:nvSpPr>
        <p:spPr/>
        <p:txBody>
          <a:bodyPr>
            <a:normAutofit/>
          </a:bodyPr>
          <a:lstStyle/>
          <a:p>
            <a:r>
              <a:rPr lang="en-US" sz="4800" dirty="0">
                <a:latin typeface="Times New Roman" panose="02020603050405020304" pitchFamily="18" charset="0"/>
                <a:cs typeface="Times New Roman" panose="02020603050405020304" pitchFamily="18" charset="0"/>
              </a:rPr>
              <a:t>Review</a:t>
            </a:r>
            <a:endParaRPr lang="en-US" sz="4800" dirty="0"/>
          </a:p>
        </p:txBody>
      </p:sp>
      <p:grpSp>
        <p:nvGrpSpPr>
          <p:cNvPr id="55" name="bare structure"/>
          <p:cNvGrpSpPr>
            <a:grpSpLocks/>
          </p:cNvGrpSpPr>
          <p:nvPr/>
        </p:nvGrpSpPr>
        <p:grpSpPr bwMode="auto">
          <a:xfrm>
            <a:off x="3287689" y="5155780"/>
            <a:ext cx="806387" cy="360040"/>
            <a:chOff x="1798" y="3919"/>
            <a:chExt cx="565" cy="232"/>
          </a:xfrm>
        </p:grpSpPr>
        <p:sp>
          <p:nvSpPr>
            <p:cNvPr id="57" name="Rectangle 56"/>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993300"/>
              </a:extrusionClr>
            </a:sp3d>
          </p:spPr>
          <p:txBody>
            <a:bodyPr wrap="none" anchor="ctr">
              <a:flatTx/>
            </a:bodyPr>
            <a:lstStyle/>
            <a:p>
              <a:endParaRPr lang="en-US">
                <a:latin typeface="Times New Roman" panose="02020603050405020304" pitchFamily="18" charset="0"/>
              </a:endParaRPr>
            </a:p>
          </p:txBody>
        </p:sp>
        <p:sp>
          <p:nvSpPr>
            <p:cNvPr id="58" name="Rectangle 57"/>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006600"/>
              </a:extrusionClr>
            </a:sp3d>
          </p:spPr>
          <p:txBody>
            <a:bodyPr wrap="none" anchor="ctr">
              <a:flatTx/>
            </a:bodyPr>
            <a:lstStyle/>
            <a:p>
              <a:endParaRPr lang="en-US">
                <a:latin typeface="Times New Roman" panose="02020603050405020304" pitchFamily="18" charset="0"/>
              </a:endParaRPr>
            </a:p>
          </p:txBody>
        </p:sp>
      </p:grpSp>
      <p:sp>
        <p:nvSpPr>
          <p:cNvPr id="54" name="TextBox 53"/>
          <p:cNvSpPr txBox="1"/>
          <p:nvPr/>
        </p:nvSpPr>
        <p:spPr>
          <a:xfrm>
            <a:off x="3299572" y="5112347"/>
            <a:ext cx="504056" cy="400110"/>
          </a:xfrm>
          <a:prstGeom prst="rect">
            <a:avLst/>
          </a:prstGeom>
          <a:noFill/>
        </p:spPr>
        <p:txBody>
          <a:bodyPr wrap="square" rtlCol="0">
            <a:spAutoFit/>
          </a:bodyPr>
          <a:lstStyle/>
          <a:p>
            <a:pPr>
              <a:buNone/>
            </a:pPr>
            <a:r>
              <a:rPr lang="en-US" sz="2000">
                <a:solidFill>
                  <a:srgbClr val="FFC000"/>
                </a:solidFill>
                <a:latin typeface="Times New Roman" panose="02020603050405020304" pitchFamily="18" charset="0"/>
              </a:rPr>
              <a:t>-4</a:t>
            </a:r>
          </a:p>
        </p:txBody>
      </p:sp>
      <p:grpSp>
        <p:nvGrpSpPr>
          <p:cNvPr id="141" name="most of the list"/>
          <p:cNvGrpSpPr/>
          <p:nvPr/>
        </p:nvGrpSpPr>
        <p:grpSpPr>
          <a:xfrm>
            <a:off x="3967978" y="5052122"/>
            <a:ext cx="6016454" cy="704377"/>
            <a:chOff x="2443978" y="5916217"/>
            <a:chExt cx="6016454" cy="704377"/>
          </a:xfrm>
        </p:grpSpPr>
        <p:sp>
          <p:nvSpPr>
            <p:cNvPr id="56" name="Line 40"/>
            <p:cNvSpPr>
              <a:spLocks noChangeShapeType="1"/>
            </p:cNvSpPr>
            <p:nvPr/>
          </p:nvSpPr>
          <p:spPr bwMode="auto">
            <a:xfrm flipV="1">
              <a:off x="2443978" y="6136255"/>
              <a:ext cx="633866" cy="0"/>
            </a:xfrm>
            <a:prstGeom prst="line">
              <a:avLst/>
            </a:prstGeom>
            <a:noFill/>
            <a:ln w="28575">
              <a:solidFill>
                <a:srgbClr val="FFCC00"/>
              </a:solidFill>
              <a:round/>
              <a:headEnd type="oval" w="med" len="med"/>
              <a:tailEnd type="triangle" w="lg" len="lg"/>
            </a:ln>
          </p:spPr>
          <p:txBody>
            <a:bodyPr/>
            <a:lstStyle/>
            <a:p>
              <a:endParaRPr lang="en-US">
                <a:latin typeface="Times New Roman" panose="02020603050405020304" pitchFamily="18" charset="0"/>
              </a:endParaRPr>
            </a:p>
          </p:txBody>
        </p:sp>
        <p:grpSp>
          <p:nvGrpSpPr>
            <p:cNvPr id="66" name="Group 65"/>
            <p:cNvGrpSpPr/>
            <p:nvPr/>
          </p:nvGrpSpPr>
          <p:grpSpPr>
            <a:xfrm>
              <a:off x="5679473" y="5936805"/>
              <a:ext cx="1314155" cy="403473"/>
              <a:chOff x="2428447" y="1657375"/>
              <a:chExt cx="1314155" cy="403473"/>
            </a:xfrm>
          </p:grpSpPr>
          <p:grpSp>
            <p:nvGrpSpPr>
              <p:cNvPr id="67" name="Group 13"/>
              <p:cNvGrpSpPr/>
              <p:nvPr/>
            </p:nvGrpSpPr>
            <p:grpSpPr>
              <a:xfrm>
                <a:off x="2428447" y="1700808"/>
                <a:ext cx="1314155" cy="360040"/>
                <a:chOff x="2195736" y="1628800"/>
                <a:chExt cx="727564" cy="222770"/>
              </a:xfrm>
            </p:grpSpPr>
            <p:grpSp>
              <p:nvGrpSpPr>
                <p:cNvPr id="69" name="Group 33"/>
                <p:cNvGrpSpPr>
                  <a:grpSpLocks/>
                </p:cNvGrpSpPr>
                <p:nvPr/>
              </p:nvGrpSpPr>
              <p:grpSpPr bwMode="auto">
                <a:xfrm>
                  <a:off x="2195736" y="1628800"/>
                  <a:ext cx="446445" cy="222770"/>
                  <a:chOff x="1798" y="3919"/>
                  <a:chExt cx="565" cy="232"/>
                </a:xfrm>
              </p:grpSpPr>
              <p:sp>
                <p:nvSpPr>
                  <p:cNvPr id="71" name="Rectangle 70"/>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993300"/>
                    </a:extrusionClr>
                  </a:sp3d>
                </p:spPr>
                <p:txBody>
                  <a:bodyPr wrap="none" anchor="ctr">
                    <a:flatTx/>
                  </a:bodyPr>
                  <a:lstStyle/>
                  <a:p>
                    <a:endParaRPr lang="en-US">
                      <a:latin typeface="Times New Roman" panose="02020603050405020304" pitchFamily="18" charset="0"/>
                    </a:endParaRPr>
                  </a:p>
                </p:txBody>
              </p:sp>
              <p:sp>
                <p:nvSpPr>
                  <p:cNvPr id="72" name="Rectangle 71"/>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006600"/>
                    </a:extrusionClr>
                  </a:sp3d>
                </p:spPr>
                <p:txBody>
                  <a:bodyPr wrap="none" anchor="ctr">
                    <a:flatTx/>
                  </a:bodyPr>
                  <a:lstStyle/>
                  <a:p>
                    <a:endParaRPr lang="en-US">
                      <a:latin typeface="Times New Roman" panose="02020603050405020304" pitchFamily="18" charset="0"/>
                    </a:endParaRPr>
                  </a:p>
                </p:txBody>
              </p:sp>
            </p:grpSp>
            <p:sp>
              <p:nvSpPr>
                <p:cNvPr id="70" name="Line 40"/>
                <p:cNvSpPr>
                  <a:spLocks noChangeShapeType="1"/>
                </p:cNvSpPr>
                <p:nvPr/>
              </p:nvSpPr>
              <p:spPr bwMode="auto">
                <a:xfrm flipV="1">
                  <a:off x="2572369" y="1700808"/>
                  <a:ext cx="350931" cy="0"/>
                </a:xfrm>
                <a:prstGeom prst="line">
                  <a:avLst/>
                </a:prstGeom>
                <a:noFill/>
                <a:ln w="28575">
                  <a:solidFill>
                    <a:srgbClr val="FFCC00"/>
                  </a:solidFill>
                  <a:round/>
                  <a:headEnd type="oval" w="med" len="med"/>
                  <a:tailEnd type="triangle" w="lg" len="lg"/>
                </a:ln>
              </p:spPr>
              <p:txBody>
                <a:bodyPr/>
                <a:lstStyle/>
                <a:p>
                  <a:endParaRPr lang="en-US">
                    <a:latin typeface="Times New Roman" panose="02020603050405020304" pitchFamily="18" charset="0"/>
                  </a:endParaRPr>
                </a:p>
              </p:txBody>
            </p:sp>
          </p:grpSp>
          <p:sp>
            <p:nvSpPr>
              <p:cNvPr id="68" name="TextBox 67"/>
              <p:cNvSpPr txBox="1"/>
              <p:nvPr/>
            </p:nvSpPr>
            <p:spPr>
              <a:xfrm>
                <a:off x="2440335" y="1657375"/>
                <a:ext cx="504056" cy="400110"/>
              </a:xfrm>
              <a:prstGeom prst="rect">
                <a:avLst/>
              </a:prstGeom>
              <a:noFill/>
            </p:spPr>
            <p:txBody>
              <a:bodyPr wrap="square" rtlCol="0">
                <a:spAutoFit/>
              </a:bodyPr>
              <a:lstStyle/>
              <a:p>
                <a:pPr>
                  <a:buNone/>
                </a:pPr>
                <a:r>
                  <a:rPr lang="en-US" sz="2000">
                    <a:solidFill>
                      <a:srgbClr val="FFC000"/>
                    </a:solidFill>
                    <a:latin typeface="Times New Roman" panose="02020603050405020304" pitchFamily="18" charset="0"/>
                  </a:rPr>
                  <a:t>78</a:t>
                </a:r>
              </a:p>
            </p:txBody>
          </p:sp>
        </p:grpSp>
        <p:grpSp>
          <p:nvGrpSpPr>
            <p:cNvPr id="73" name="Group 72"/>
            <p:cNvGrpSpPr/>
            <p:nvPr/>
          </p:nvGrpSpPr>
          <p:grpSpPr>
            <a:xfrm>
              <a:off x="6996307" y="5923460"/>
              <a:ext cx="806387" cy="403473"/>
              <a:chOff x="2428447" y="1657375"/>
              <a:chExt cx="806387" cy="403473"/>
            </a:xfrm>
          </p:grpSpPr>
          <p:grpSp>
            <p:nvGrpSpPr>
              <p:cNvPr id="76" name="Group 33"/>
              <p:cNvGrpSpPr>
                <a:grpSpLocks/>
              </p:cNvGrpSpPr>
              <p:nvPr/>
            </p:nvGrpSpPr>
            <p:grpSpPr bwMode="auto">
              <a:xfrm>
                <a:off x="2428447" y="1700808"/>
                <a:ext cx="806387" cy="360040"/>
                <a:chOff x="1798" y="3919"/>
                <a:chExt cx="565" cy="232"/>
              </a:xfrm>
            </p:grpSpPr>
            <p:sp>
              <p:nvSpPr>
                <p:cNvPr id="78" name="Rectangle 77"/>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993300"/>
                  </a:extrusionClr>
                </a:sp3d>
              </p:spPr>
              <p:txBody>
                <a:bodyPr wrap="none" anchor="ctr">
                  <a:flatTx/>
                </a:bodyPr>
                <a:lstStyle/>
                <a:p>
                  <a:endParaRPr lang="en-US">
                    <a:latin typeface="Times New Roman" panose="02020603050405020304" pitchFamily="18" charset="0"/>
                  </a:endParaRPr>
                </a:p>
              </p:txBody>
            </p:sp>
            <p:sp>
              <p:nvSpPr>
                <p:cNvPr id="79" name="Rectangle 78"/>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006600"/>
                  </a:extrusionClr>
                </a:sp3d>
              </p:spPr>
              <p:txBody>
                <a:bodyPr wrap="none" anchor="ctr">
                  <a:flatTx/>
                </a:bodyPr>
                <a:lstStyle/>
                <a:p>
                  <a:endParaRPr lang="en-US">
                    <a:latin typeface="Times New Roman" panose="02020603050405020304" pitchFamily="18" charset="0"/>
                  </a:endParaRPr>
                </a:p>
              </p:txBody>
            </p:sp>
          </p:grpSp>
          <p:sp>
            <p:nvSpPr>
              <p:cNvPr id="75" name="TextBox 74"/>
              <p:cNvSpPr txBox="1"/>
              <p:nvPr/>
            </p:nvSpPr>
            <p:spPr>
              <a:xfrm>
                <a:off x="2440335" y="1657375"/>
                <a:ext cx="504056" cy="400110"/>
              </a:xfrm>
              <a:prstGeom prst="rect">
                <a:avLst/>
              </a:prstGeom>
              <a:noFill/>
            </p:spPr>
            <p:txBody>
              <a:bodyPr wrap="square" rtlCol="0">
                <a:spAutoFit/>
              </a:bodyPr>
              <a:lstStyle/>
              <a:p>
                <a:pPr>
                  <a:buNone/>
                </a:pPr>
                <a:r>
                  <a:rPr lang="en-US" sz="2000">
                    <a:solidFill>
                      <a:srgbClr val="FFC000"/>
                    </a:solidFill>
                    <a:latin typeface="Times New Roman" panose="02020603050405020304" pitchFamily="18" charset="0"/>
                  </a:rPr>
                  <a:t>52</a:t>
                </a:r>
              </a:p>
            </p:txBody>
          </p:sp>
        </p:grpSp>
        <p:grpSp>
          <p:nvGrpSpPr>
            <p:cNvPr id="80" name="Group 79"/>
            <p:cNvGrpSpPr/>
            <p:nvPr/>
          </p:nvGrpSpPr>
          <p:grpSpPr>
            <a:xfrm>
              <a:off x="4388290" y="5916217"/>
              <a:ext cx="1314155" cy="403473"/>
              <a:chOff x="2428447" y="1657375"/>
              <a:chExt cx="1314155" cy="403473"/>
            </a:xfrm>
          </p:grpSpPr>
          <p:grpSp>
            <p:nvGrpSpPr>
              <p:cNvPr id="81" name="Group 13"/>
              <p:cNvGrpSpPr/>
              <p:nvPr/>
            </p:nvGrpSpPr>
            <p:grpSpPr>
              <a:xfrm>
                <a:off x="2428447" y="1700808"/>
                <a:ext cx="1314155" cy="360040"/>
                <a:chOff x="2195736" y="1628800"/>
                <a:chExt cx="727564" cy="222770"/>
              </a:xfrm>
            </p:grpSpPr>
            <p:grpSp>
              <p:nvGrpSpPr>
                <p:cNvPr id="83" name="Group 33"/>
                <p:cNvGrpSpPr>
                  <a:grpSpLocks/>
                </p:cNvGrpSpPr>
                <p:nvPr/>
              </p:nvGrpSpPr>
              <p:grpSpPr bwMode="auto">
                <a:xfrm>
                  <a:off x="2195736" y="1628800"/>
                  <a:ext cx="446445" cy="222770"/>
                  <a:chOff x="1798" y="3919"/>
                  <a:chExt cx="565" cy="232"/>
                </a:xfrm>
              </p:grpSpPr>
              <p:sp>
                <p:nvSpPr>
                  <p:cNvPr id="85" name="Rectangle 84"/>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993300"/>
                    </a:extrusionClr>
                  </a:sp3d>
                </p:spPr>
                <p:txBody>
                  <a:bodyPr wrap="none" anchor="ctr">
                    <a:flatTx/>
                  </a:bodyPr>
                  <a:lstStyle/>
                  <a:p>
                    <a:endParaRPr lang="en-US">
                      <a:latin typeface="Times New Roman" panose="02020603050405020304" pitchFamily="18" charset="0"/>
                    </a:endParaRPr>
                  </a:p>
                </p:txBody>
              </p:sp>
              <p:sp>
                <p:nvSpPr>
                  <p:cNvPr id="86" name="Rectangle 85"/>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006600"/>
                    </a:extrusionClr>
                  </a:sp3d>
                </p:spPr>
                <p:txBody>
                  <a:bodyPr wrap="none" anchor="ctr">
                    <a:flatTx/>
                  </a:bodyPr>
                  <a:lstStyle/>
                  <a:p>
                    <a:endParaRPr lang="en-US">
                      <a:latin typeface="Times New Roman" panose="02020603050405020304" pitchFamily="18" charset="0"/>
                    </a:endParaRPr>
                  </a:p>
                </p:txBody>
              </p:sp>
            </p:grpSp>
            <p:sp>
              <p:nvSpPr>
                <p:cNvPr id="84" name="Line 40"/>
                <p:cNvSpPr>
                  <a:spLocks noChangeShapeType="1"/>
                </p:cNvSpPr>
                <p:nvPr/>
              </p:nvSpPr>
              <p:spPr bwMode="auto">
                <a:xfrm flipV="1">
                  <a:off x="2572369" y="1700808"/>
                  <a:ext cx="350931" cy="0"/>
                </a:xfrm>
                <a:prstGeom prst="line">
                  <a:avLst/>
                </a:prstGeom>
                <a:noFill/>
                <a:ln w="28575">
                  <a:solidFill>
                    <a:srgbClr val="FFCC00"/>
                  </a:solidFill>
                  <a:round/>
                  <a:headEnd type="oval" w="med" len="med"/>
                  <a:tailEnd type="triangle" w="lg" len="lg"/>
                </a:ln>
              </p:spPr>
              <p:txBody>
                <a:bodyPr/>
                <a:lstStyle/>
                <a:p>
                  <a:endParaRPr lang="en-US">
                    <a:latin typeface="Times New Roman" panose="02020603050405020304" pitchFamily="18" charset="0"/>
                  </a:endParaRPr>
                </a:p>
              </p:txBody>
            </p:sp>
          </p:grpSp>
          <p:sp>
            <p:nvSpPr>
              <p:cNvPr id="82" name="TextBox 81"/>
              <p:cNvSpPr txBox="1"/>
              <p:nvPr/>
            </p:nvSpPr>
            <p:spPr>
              <a:xfrm>
                <a:off x="2440335" y="1657375"/>
                <a:ext cx="504056" cy="400110"/>
              </a:xfrm>
              <a:prstGeom prst="rect">
                <a:avLst/>
              </a:prstGeom>
              <a:noFill/>
            </p:spPr>
            <p:txBody>
              <a:bodyPr wrap="square" rtlCol="0">
                <a:spAutoFit/>
              </a:bodyPr>
              <a:lstStyle/>
              <a:p>
                <a:pPr>
                  <a:buNone/>
                </a:pPr>
                <a:r>
                  <a:rPr lang="en-US" sz="2000">
                    <a:solidFill>
                      <a:srgbClr val="FFC000"/>
                    </a:solidFill>
                    <a:latin typeface="Times New Roman" panose="02020603050405020304" pitchFamily="18" charset="0"/>
                  </a:rPr>
                  <a:t>2</a:t>
                </a:r>
              </a:p>
            </p:txBody>
          </p:sp>
        </p:grpSp>
        <p:grpSp>
          <p:nvGrpSpPr>
            <p:cNvPr id="87" name="Group 86"/>
            <p:cNvGrpSpPr/>
            <p:nvPr/>
          </p:nvGrpSpPr>
          <p:grpSpPr>
            <a:xfrm>
              <a:off x="3055636" y="5952060"/>
              <a:ext cx="1314155" cy="403473"/>
              <a:chOff x="2428447" y="1657375"/>
              <a:chExt cx="1314155" cy="403473"/>
            </a:xfrm>
          </p:grpSpPr>
          <p:grpSp>
            <p:nvGrpSpPr>
              <p:cNvPr id="88" name="Group 13"/>
              <p:cNvGrpSpPr/>
              <p:nvPr/>
            </p:nvGrpSpPr>
            <p:grpSpPr>
              <a:xfrm>
                <a:off x="2428447" y="1700808"/>
                <a:ext cx="1314155" cy="360040"/>
                <a:chOff x="2195736" y="1628800"/>
                <a:chExt cx="727564" cy="222770"/>
              </a:xfrm>
            </p:grpSpPr>
            <p:grpSp>
              <p:nvGrpSpPr>
                <p:cNvPr id="90" name="Group 33"/>
                <p:cNvGrpSpPr>
                  <a:grpSpLocks/>
                </p:cNvGrpSpPr>
                <p:nvPr/>
              </p:nvGrpSpPr>
              <p:grpSpPr bwMode="auto">
                <a:xfrm>
                  <a:off x="2195736" y="1628800"/>
                  <a:ext cx="446445" cy="222770"/>
                  <a:chOff x="1798" y="3919"/>
                  <a:chExt cx="565" cy="232"/>
                </a:xfrm>
              </p:grpSpPr>
              <p:sp>
                <p:nvSpPr>
                  <p:cNvPr id="92" name="Rectangle 91"/>
                  <p:cNvSpPr>
                    <a:spLocks noChangeArrowheads="1"/>
                  </p:cNvSpPr>
                  <p:nvPr/>
                </p:nvSpPr>
                <p:spPr bwMode="auto">
                  <a:xfrm>
                    <a:off x="1798" y="3919"/>
                    <a:ext cx="340" cy="232"/>
                  </a:xfrm>
                  <a:prstGeom prst="rect">
                    <a:avLst/>
                  </a:prstGeom>
                  <a:solidFill>
                    <a:srgbClr val="9933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993300"/>
                    </a:extrusionClr>
                  </a:sp3d>
                </p:spPr>
                <p:txBody>
                  <a:bodyPr wrap="none" anchor="ctr">
                    <a:flatTx/>
                  </a:bodyPr>
                  <a:lstStyle/>
                  <a:p>
                    <a:endParaRPr lang="en-US">
                      <a:latin typeface="Times New Roman" panose="02020603050405020304" pitchFamily="18" charset="0"/>
                    </a:endParaRPr>
                  </a:p>
                </p:txBody>
              </p:sp>
              <p:sp>
                <p:nvSpPr>
                  <p:cNvPr id="93" name="Rectangle 92"/>
                  <p:cNvSpPr>
                    <a:spLocks noChangeArrowheads="1"/>
                  </p:cNvSpPr>
                  <p:nvPr/>
                </p:nvSpPr>
                <p:spPr bwMode="auto">
                  <a:xfrm>
                    <a:off x="2126" y="3919"/>
                    <a:ext cx="237" cy="232"/>
                  </a:xfrm>
                  <a:prstGeom prst="rect">
                    <a:avLst/>
                  </a:prstGeom>
                  <a:solidFill>
                    <a:srgbClr val="006600"/>
                  </a:solidFill>
                  <a:ln w="9525">
                    <a:miter lim="800000"/>
                    <a:headEnd/>
                    <a:tailEnd/>
                  </a:ln>
                  <a:scene3d>
                    <a:camera prst="legacyObliqueTopRight"/>
                    <a:lightRig rig="legacyFlat3" dir="b"/>
                  </a:scene3d>
                  <a:sp3d extrusionH="304800" prstMaterial="legacyMatte">
                    <a:bevelT w="13500" h="13500" prst="angle"/>
                    <a:bevelB w="13500" h="13500" prst="angle"/>
                    <a:extrusionClr>
                      <a:srgbClr val="006600"/>
                    </a:extrusionClr>
                  </a:sp3d>
                </p:spPr>
                <p:txBody>
                  <a:bodyPr wrap="none" anchor="ctr">
                    <a:flatTx/>
                  </a:bodyPr>
                  <a:lstStyle/>
                  <a:p>
                    <a:endParaRPr lang="en-US">
                      <a:latin typeface="Times New Roman" panose="02020603050405020304" pitchFamily="18" charset="0"/>
                    </a:endParaRPr>
                  </a:p>
                </p:txBody>
              </p:sp>
            </p:grpSp>
            <p:sp>
              <p:nvSpPr>
                <p:cNvPr id="91" name="Line 40"/>
                <p:cNvSpPr>
                  <a:spLocks noChangeShapeType="1"/>
                </p:cNvSpPr>
                <p:nvPr/>
              </p:nvSpPr>
              <p:spPr bwMode="auto">
                <a:xfrm flipV="1">
                  <a:off x="2572369" y="1700808"/>
                  <a:ext cx="350931" cy="0"/>
                </a:xfrm>
                <a:prstGeom prst="line">
                  <a:avLst/>
                </a:prstGeom>
                <a:noFill/>
                <a:ln w="28575">
                  <a:solidFill>
                    <a:srgbClr val="FFCC00"/>
                  </a:solidFill>
                  <a:round/>
                  <a:headEnd type="oval" w="med" len="med"/>
                  <a:tailEnd type="triangle" w="lg" len="lg"/>
                </a:ln>
              </p:spPr>
              <p:txBody>
                <a:bodyPr/>
                <a:lstStyle/>
                <a:p>
                  <a:endParaRPr lang="en-US">
                    <a:latin typeface="Times New Roman" panose="02020603050405020304" pitchFamily="18" charset="0"/>
                  </a:endParaRPr>
                </a:p>
              </p:txBody>
            </p:sp>
          </p:grpSp>
          <p:sp>
            <p:nvSpPr>
              <p:cNvPr id="89" name="TextBox 88"/>
              <p:cNvSpPr txBox="1"/>
              <p:nvPr/>
            </p:nvSpPr>
            <p:spPr>
              <a:xfrm>
                <a:off x="2440335" y="1657375"/>
                <a:ext cx="504056" cy="400110"/>
              </a:xfrm>
              <a:prstGeom prst="rect">
                <a:avLst/>
              </a:prstGeom>
              <a:noFill/>
            </p:spPr>
            <p:txBody>
              <a:bodyPr wrap="square" rtlCol="0">
                <a:spAutoFit/>
              </a:bodyPr>
              <a:lstStyle/>
              <a:p>
                <a:pPr>
                  <a:buNone/>
                </a:pPr>
                <a:r>
                  <a:rPr lang="en-US" sz="2000">
                    <a:solidFill>
                      <a:srgbClr val="FFC000"/>
                    </a:solidFill>
                    <a:latin typeface="Times New Roman" panose="02020603050405020304" pitchFamily="18" charset="0"/>
                  </a:rPr>
                  <a:t>17</a:t>
                </a:r>
              </a:p>
            </p:txBody>
          </p:sp>
        </p:grpSp>
        <p:sp>
          <p:nvSpPr>
            <p:cNvPr id="106" name="Freeform 29"/>
            <p:cNvSpPr>
              <a:spLocks/>
            </p:cNvSpPr>
            <p:nvPr/>
          </p:nvSpPr>
          <p:spPr bwMode="auto">
            <a:xfrm>
              <a:off x="7668344" y="6101409"/>
              <a:ext cx="732911" cy="358880"/>
            </a:xfrm>
            <a:custGeom>
              <a:avLst/>
              <a:gdLst>
                <a:gd name="T0" fmla="*/ 0 w 338"/>
                <a:gd name="T1" fmla="*/ 7 h 230"/>
                <a:gd name="T2" fmla="*/ 211 w 338"/>
                <a:gd name="T3" fmla="*/ 10 h 230"/>
                <a:gd name="T4" fmla="*/ 319 w 338"/>
                <a:gd name="T5" fmla="*/ 67 h 230"/>
                <a:gd name="T6" fmla="*/ 328 w 338"/>
                <a:gd name="T7" fmla="*/ 230 h 230"/>
                <a:gd name="T8" fmla="*/ 0 60000 65536"/>
                <a:gd name="T9" fmla="*/ 0 60000 65536"/>
                <a:gd name="T10" fmla="*/ 0 60000 65536"/>
                <a:gd name="T11" fmla="*/ 0 60000 65536"/>
                <a:gd name="T12" fmla="*/ 0 w 338"/>
                <a:gd name="T13" fmla="*/ 0 h 230"/>
                <a:gd name="T14" fmla="*/ 338 w 338"/>
                <a:gd name="T15" fmla="*/ 230 h 230"/>
                <a:gd name="connsiteX0" fmla="*/ 0 w 10384"/>
                <a:gd name="connsiteY0" fmla="*/ 2711 h 12407"/>
                <a:gd name="connsiteX1" fmla="*/ 4026 w 10384"/>
                <a:gd name="connsiteY1" fmla="*/ 435 h 12407"/>
                <a:gd name="connsiteX2" fmla="*/ 9438 w 10384"/>
                <a:gd name="connsiteY2" fmla="*/ 5320 h 12407"/>
                <a:gd name="connsiteX3" fmla="*/ 9704 w 10384"/>
                <a:gd name="connsiteY3" fmla="*/ 12407 h 12407"/>
                <a:gd name="connsiteX0" fmla="*/ 0 w 10340"/>
                <a:gd name="connsiteY0" fmla="*/ 4271 h 13967"/>
                <a:gd name="connsiteX1" fmla="*/ 4026 w 10340"/>
                <a:gd name="connsiteY1" fmla="*/ 1995 h 13967"/>
                <a:gd name="connsiteX2" fmla="*/ 9394 w 10340"/>
                <a:gd name="connsiteY2" fmla="*/ 1995 h 13967"/>
                <a:gd name="connsiteX3" fmla="*/ 9704 w 10340"/>
                <a:gd name="connsiteY3" fmla="*/ 13967 h 13967"/>
                <a:gd name="connsiteX0" fmla="*/ 0 w 11436"/>
                <a:gd name="connsiteY0" fmla="*/ 3232 h 6695"/>
                <a:gd name="connsiteX1" fmla="*/ 4026 w 11436"/>
                <a:gd name="connsiteY1" fmla="*/ 956 h 6695"/>
                <a:gd name="connsiteX2" fmla="*/ 9394 w 11436"/>
                <a:gd name="connsiteY2" fmla="*/ 956 h 6695"/>
                <a:gd name="connsiteX3" fmla="*/ 11436 w 11436"/>
                <a:gd name="connsiteY3" fmla="*/ 6695 h 6695"/>
                <a:gd name="connsiteX0" fmla="*/ 0 w 10809"/>
                <a:gd name="connsiteY0" fmla="*/ 9251 h 14424"/>
                <a:gd name="connsiteX1" fmla="*/ 3520 w 10809"/>
                <a:gd name="connsiteY1" fmla="*/ 5852 h 14424"/>
                <a:gd name="connsiteX2" fmla="*/ 9729 w 10809"/>
                <a:gd name="connsiteY2" fmla="*/ 1428 h 14424"/>
                <a:gd name="connsiteX3" fmla="*/ 10000 w 10809"/>
                <a:gd name="connsiteY3" fmla="*/ 14424 h 14424"/>
                <a:gd name="connsiteX0" fmla="*/ 0 w 10618"/>
                <a:gd name="connsiteY0" fmla="*/ 9091 h 14264"/>
                <a:gd name="connsiteX1" fmla="*/ 3520 w 10618"/>
                <a:gd name="connsiteY1" fmla="*/ 5692 h 14264"/>
                <a:gd name="connsiteX2" fmla="*/ 9538 w 10618"/>
                <a:gd name="connsiteY2" fmla="*/ 1428 h 14264"/>
                <a:gd name="connsiteX3" fmla="*/ 10000 w 10618"/>
                <a:gd name="connsiteY3" fmla="*/ 14264 h 14264"/>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4082"/>
                <a:gd name="connsiteY0" fmla="*/ 11994 h 26269"/>
                <a:gd name="connsiteX1" fmla="*/ 4985 w 14082"/>
                <a:gd name="connsiteY1" fmla="*/ 283 h 26269"/>
                <a:gd name="connsiteX2" fmla="*/ 9538 w 14082"/>
                <a:gd name="connsiteY2" fmla="*/ 4331 h 26269"/>
                <a:gd name="connsiteX3" fmla="*/ 14082 w 14082"/>
                <a:gd name="connsiteY3" fmla="*/ 26269 h 26269"/>
                <a:gd name="connsiteX0" fmla="*/ 0 w 14082"/>
                <a:gd name="connsiteY0" fmla="*/ 11711 h 25986"/>
                <a:gd name="connsiteX1" fmla="*/ 4985 w 14082"/>
                <a:gd name="connsiteY1" fmla="*/ 0 h 25986"/>
                <a:gd name="connsiteX2" fmla="*/ 14082 w 14082"/>
                <a:gd name="connsiteY2" fmla="*/ 25986 h 25986"/>
                <a:gd name="connsiteX0" fmla="*/ 0 w 14082"/>
                <a:gd name="connsiteY0" fmla="*/ 7210 h 21485"/>
                <a:gd name="connsiteX1" fmla="*/ 9388 w 14082"/>
                <a:gd name="connsiteY1" fmla="*/ 865 h 21485"/>
                <a:gd name="connsiteX2" fmla="*/ 14082 w 14082"/>
                <a:gd name="connsiteY2" fmla="*/ 21485 h 21485"/>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2908 w 14082"/>
                <a:gd name="connsiteY2" fmla="*/ 8055 h 22784"/>
                <a:gd name="connsiteX3" fmla="*/ 14082 w 14082"/>
                <a:gd name="connsiteY3" fmla="*/ 22784 h 22784"/>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864"/>
                <a:gd name="connsiteY0" fmla="*/ 8509 h 22130"/>
                <a:gd name="connsiteX1" fmla="*/ 9388 w 14864"/>
                <a:gd name="connsiteY1" fmla="*/ 2164 h 22130"/>
                <a:gd name="connsiteX2" fmla="*/ 14082 w 14864"/>
                <a:gd name="connsiteY2" fmla="*/ 5110 h 22130"/>
                <a:gd name="connsiteX3" fmla="*/ 14659 w 14864"/>
                <a:gd name="connsiteY3" fmla="*/ 22130 h 22130"/>
                <a:gd name="connsiteX0" fmla="*/ 0 w 14864"/>
                <a:gd name="connsiteY0" fmla="*/ 10596 h 24217"/>
                <a:gd name="connsiteX1" fmla="*/ 8214 w 14864"/>
                <a:gd name="connsiteY1" fmla="*/ 1305 h 24217"/>
                <a:gd name="connsiteX2" fmla="*/ 14082 w 14864"/>
                <a:gd name="connsiteY2" fmla="*/ 7197 h 24217"/>
                <a:gd name="connsiteX3" fmla="*/ 14659 w 14864"/>
                <a:gd name="connsiteY3" fmla="*/ 24217 h 24217"/>
                <a:gd name="connsiteX0" fmla="*/ 0 w 14864"/>
                <a:gd name="connsiteY0" fmla="*/ 10615 h 24236"/>
                <a:gd name="connsiteX1" fmla="*/ 8214 w 14864"/>
                <a:gd name="connsiteY1" fmla="*/ 1324 h 24236"/>
                <a:gd name="connsiteX2" fmla="*/ 14082 w 14864"/>
                <a:gd name="connsiteY2" fmla="*/ 7216 h 24236"/>
                <a:gd name="connsiteX3" fmla="*/ 14659 w 14864"/>
                <a:gd name="connsiteY3" fmla="*/ 24236 h 2423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659"/>
                <a:gd name="connsiteY0" fmla="*/ 9865 h 23486"/>
                <a:gd name="connsiteX1" fmla="*/ 8214 w 14659"/>
                <a:gd name="connsiteY1" fmla="*/ 574 h 23486"/>
                <a:gd name="connsiteX2" fmla="*/ 14082 w 14659"/>
                <a:gd name="connsiteY2" fmla="*/ 6466 h 23486"/>
                <a:gd name="connsiteX3" fmla="*/ 14659 w 14659"/>
                <a:gd name="connsiteY3" fmla="*/ 23486 h 23486"/>
                <a:gd name="connsiteX0" fmla="*/ 0 w 14844"/>
                <a:gd name="connsiteY0" fmla="*/ 9865 h 23486"/>
                <a:gd name="connsiteX1" fmla="*/ 8214 w 14844"/>
                <a:gd name="connsiteY1" fmla="*/ 574 h 23486"/>
                <a:gd name="connsiteX2" fmla="*/ 14082 w 14844"/>
                <a:gd name="connsiteY2" fmla="*/ 6466 h 23486"/>
                <a:gd name="connsiteX3" fmla="*/ 14659 w 14844"/>
                <a:gd name="connsiteY3" fmla="*/ 23486 h 23486"/>
                <a:gd name="connsiteX0" fmla="*/ 0 w 14659"/>
                <a:gd name="connsiteY0" fmla="*/ 9865 h 23486"/>
                <a:gd name="connsiteX1" fmla="*/ 8214 w 14659"/>
                <a:gd name="connsiteY1" fmla="*/ 574 h 23486"/>
                <a:gd name="connsiteX2" fmla="*/ 12908 w 14659"/>
                <a:gd name="connsiteY2" fmla="*/ 3520 h 23486"/>
                <a:gd name="connsiteX3" fmla="*/ 14659 w 14659"/>
                <a:gd name="connsiteY3" fmla="*/ 23486 h 23486"/>
                <a:gd name="connsiteX0" fmla="*/ 0 w 14659"/>
                <a:gd name="connsiteY0" fmla="*/ 11631 h 25252"/>
                <a:gd name="connsiteX1" fmla="*/ 8214 w 14659"/>
                <a:gd name="connsiteY1" fmla="*/ 2340 h 25252"/>
                <a:gd name="connsiteX2" fmla="*/ 12908 w 14659"/>
                <a:gd name="connsiteY2" fmla="*/ 5286 h 25252"/>
                <a:gd name="connsiteX3" fmla="*/ 14659 w 14659"/>
                <a:gd name="connsiteY3" fmla="*/ 25252 h 25252"/>
                <a:gd name="connsiteX0" fmla="*/ 0 w 14659"/>
                <a:gd name="connsiteY0" fmla="*/ 12438 h 26059"/>
                <a:gd name="connsiteX1" fmla="*/ 8214 w 14659"/>
                <a:gd name="connsiteY1" fmla="*/ 3147 h 26059"/>
                <a:gd name="connsiteX2" fmla="*/ 12908 w 14659"/>
                <a:gd name="connsiteY2" fmla="*/ 6093 h 26059"/>
                <a:gd name="connsiteX3" fmla="*/ 14659 w 14659"/>
                <a:gd name="connsiteY3" fmla="*/ 26059 h 26059"/>
                <a:gd name="connsiteX0" fmla="*/ 0 w 14659"/>
                <a:gd name="connsiteY0" fmla="*/ 8615 h 22236"/>
                <a:gd name="connsiteX1" fmla="*/ 12908 w 14659"/>
                <a:gd name="connsiteY1" fmla="*/ 2270 h 22236"/>
                <a:gd name="connsiteX2" fmla="*/ 14659 w 14659"/>
                <a:gd name="connsiteY2" fmla="*/ 22236 h 22236"/>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291 h 22912"/>
                <a:gd name="connsiteX1" fmla="*/ 10561 w 14659"/>
                <a:gd name="connsiteY1" fmla="*/ 0 h 22912"/>
                <a:gd name="connsiteX2" fmla="*/ 14659 w 14659"/>
                <a:gd name="connsiteY2" fmla="*/ 22912 h 22912"/>
                <a:gd name="connsiteX0" fmla="*/ 0 w 14659"/>
                <a:gd name="connsiteY0" fmla="*/ 9291 h 22912"/>
                <a:gd name="connsiteX1" fmla="*/ 10561 w 14659"/>
                <a:gd name="connsiteY1" fmla="*/ 0 h 22912"/>
                <a:gd name="connsiteX2" fmla="*/ 14659 w 14659"/>
                <a:gd name="connsiteY2" fmla="*/ 22912 h 22912"/>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5101"/>
                <a:gd name="connsiteY0" fmla="*/ 8257 h 21878"/>
                <a:gd name="connsiteX1" fmla="*/ 10561 w 15101"/>
                <a:gd name="connsiteY1" fmla="*/ 1912 h 21878"/>
                <a:gd name="connsiteX2" fmla="*/ 14659 w 15101"/>
                <a:gd name="connsiteY2" fmla="*/ 21878 h 21878"/>
                <a:gd name="connsiteX0" fmla="*/ 0 w 16291"/>
                <a:gd name="connsiteY0" fmla="*/ 8257 h 21878"/>
                <a:gd name="connsiteX1" fmla="*/ 10561 w 16291"/>
                <a:gd name="connsiteY1" fmla="*/ 1912 h 21878"/>
                <a:gd name="connsiteX2" fmla="*/ 14659 w 16291"/>
                <a:gd name="connsiteY2" fmla="*/ 21878 h 21878"/>
                <a:gd name="connsiteX0" fmla="*/ 0 w 15439"/>
                <a:gd name="connsiteY0" fmla="*/ 8257 h 21878"/>
                <a:gd name="connsiteX1" fmla="*/ 10561 w 15439"/>
                <a:gd name="connsiteY1" fmla="*/ 1912 h 21878"/>
                <a:gd name="connsiteX2" fmla="*/ 14659 w 15439"/>
                <a:gd name="connsiteY2" fmla="*/ 21878 h 21878"/>
                <a:gd name="connsiteX0" fmla="*/ 0 w 15439"/>
                <a:gd name="connsiteY0" fmla="*/ 8257 h 21878"/>
                <a:gd name="connsiteX1" fmla="*/ 8214 w 15439"/>
                <a:gd name="connsiteY1" fmla="*/ 1912 h 21878"/>
                <a:gd name="connsiteX2" fmla="*/ 14659 w 15439"/>
                <a:gd name="connsiteY2" fmla="*/ 21878 h 21878"/>
                <a:gd name="connsiteX0" fmla="*/ 0 w 15439"/>
                <a:gd name="connsiteY0" fmla="*/ 8257 h 21878"/>
                <a:gd name="connsiteX1" fmla="*/ 8214 w 15439"/>
                <a:gd name="connsiteY1" fmla="*/ 7804 h 21878"/>
                <a:gd name="connsiteX2" fmla="*/ 14659 w 15439"/>
                <a:gd name="connsiteY2" fmla="*/ 21878 h 21878"/>
                <a:gd name="connsiteX0" fmla="*/ 0 w 15439"/>
                <a:gd name="connsiteY0" fmla="*/ 2440 h 16061"/>
                <a:gd name="connsiteX1" fmla="*/ 8214 w 15439"/>
                <a:gd name="connsiteY1" fmla="*/ 1987 h 16061"/>
                <a:gd name="connsiteX2" fmla="*/ 14659 w 15439"/>
                <a:gd name="connsiteY2" fmla="*/ 16061 h 16061"/>
                <a:gd name="connsiteX0" fmla="*/ 0 w 15439"/>
                <a:gd name="connsiteY0" fmla="*/ 3528 h 17149"/>
                <a:gd name="connsiteX1" fmla="*/ 8214 w 15439"/>
                <a:gd name="connsiteY1" fmla="*/ 129 h 17149"/>
                <a:gd name="connsiteX2" fmla="*/ 14659 w 15439"/>
                <a:gd name="connsiteY2" fmla="*/ 17149 h 17149"/>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7960 w 15439"/>
                <a:gd name="connsiteY1" fmla="*/ 2970 h 17430"/>
                <a:gd name="connsiteX2" fmla="*/ 14659 w 15439"/>
                <a:gd name="connsiteY2" fmla="*/ 17430 h 17430"/>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039"/>
                <a:gd name="connsiteY0" fmla="*/ 1060 h 14681"/>
                <a:gd name="connsiteX1" fmla="*/ 8044 w 15039"/>
                <a:gd name="connsiteY1" fmla="*/ 832 h 14681"/>
                <a:gd name="connsiteX2" fmla="*/ 14659 w 15039"/>
                <a:gd name="connsiteY2" fmla="*/ 14681 h 14681"/>
              </a:gdLst>
              <a:ahLst/>
              <a:cxnLst>
                <a:cxn ang="0">
                  <a:pos x="connsiteX0" y="connsiteY0"/>
                </a:cxn>
                <a:cxn ang="0">
                  <a:pos x="connsiteX1" y="connsiteY1"/>
                </a:cxn>
                <a:cxn ang="0">
                  <a:pos x="connsiteX2" y="connsiteY2"/>
                </a:cxn>
              </a:cxnLst>
              <a:rect l="l" t="t" r="r" b="b"/>
              <a:pathLst>
                <a:path w="15039" h="14681">
                  <a:moveTo>
                    <a:pt x="0" y="1060"/>
                  </a:moveTo>
                  <a:lnTo>
                    <a:pt x="8044" y="832"/>
                  </a:lnTo>
                  <a:cubicBezTo>
                    <a:pt x="12490" y="727"/>
                    <a:pt x="15039" y="0"/>
                    <a:pt x="14659" y="14681"/>
                  </a:cubicBezTo>
                </a:path>
              </a:pathLst>
            </a:custGeom>
            <a:noFill/>
            <a:ln w="38100" cap="flat" cmpd="sng">
              <a:solidFill>
                <a:schemeClr val="bg2"/>
              </a:solidFill>
              <a:prstDash val="solid"/>
              <a:round/>
              <a:headEnd type="oval" w="med" len="med"/>
              <a:tailEnd type="triangle" w="lg" len="lg"/>
            </a:ln>
          </p:spPr>
          <p:txBody>
            <a:bodyPr tIns="91440" bIns="91440" anchor="ctr"/>
            <a:lstStyle/>
            <a:p>
              <a:endParaRPr lang="en-US">
                <a:latin typeface="Times New Roman" panose="02020603050405020304" pitchFamily="18" charset="0"/>
              </a:endParaRPr>
            </a:p>
          </p:txBody>
        </p:sp>
        <p:grpSp>
          <p:nvGrpSpPr>
            <p:cNvPr id="107" name="ground"/>
            <p:cNvGrpSpPr>
              <a:grpSpLocks/>
            </p:cNvGrpSpPr>
            <p:nvPr/>
          </p:nvGrpSpPr>
          <p:grpSpPr bwMode="auto">
            <a:xfrm>
              <a:off x="8288965" y="6496769"/>
              <a:ext cx="171467" cy="123825"/>
              <a:chOff x="4543" y="1682"/>
              <a:chExt cx="136" cy="78"/>
            </a:xfrm>
          </p:grpSpPr>
          <p:sp>
            <p:nvSpPr>
              <p:cNvPr id="108" name="Line 31"/>
              <p:cNvSpPr>
                <a:spLocks noChangeShapeType="1"/>
              </p:cNvSpPr>
              <p:nvPr/>
            </p:nvSpPr>
            <p:spPr bwMode="auto">
              <a:xfrm>
                <a:off x="4543" y="1682"/>
                <a:ext cx="136" cy="0"/>
              </a:xfrm>
              <a:prstGeom prst="line">
                <a:avLst/>
              </a:prstGeom>
              <a:noFill/>
              <a:ln w="28575">
                <a:solidFill>
                  <a:schemeClr val="bg2"/>
                </a:solidFill>
                <a:round/>
                <a:headEnd/>
                <a:tailEnd/>
              </a:ln>
            </p:spPr>
            <p:txBody>
              <a:bodyPr/>
              <a:lstStyle/>
              <a:p>
                <a:endParaRPr lang="en-US">
                  <a:latin typeface="Times New Roman" panose="02020603050405020304" pitchFamily="18" charset="0"/>
                </a:endParaRPr>
              </a:p>
            </p:txBody>
          </p:sp>
          <p:sp>
            <p:nvSpPr>
              <p:cNvPr id="109" name="Line 32"/>
              <p:cNvSpPr>
                <a:spLocks noChangeShapeType="1"/>
              </p:cNvSpPr>
              <p:nvPr/>
            </p:nvSpPr>
            <p:spPr bwMode="auto">
              <a:xfrm>
                <a:off x="4575" y="1720"/>
                <a:ext cx="86" cy="0"/>
              </a:xfrm>
              <a:prstGeom prst="line">
                <a:avLst/>
              </a:prstGeom>
              <a:noFill/>
              <a:ln w="28575">
                <a:solidFill>
                  <a:schemeClr val="bg2"/>
                </a:solidFill>
                <a:round/>
                <a:headEnd/>
                <a:tailEnd/>
              </a:ln>
            </p:spPr>
            <p:txBody>
              <a:bodyPr/>
              <a:lstStyle/>
              <a:p>
                <a:endParaRPr lang="en-US">
                  <a:latin typeface="Times New Roman" panose="02020603050405020304" pitchFamily="18" charset="0"/>
                </a:endParaRPr>
              </a:p>
            </p:txBody>
          </p:sp>
          <p:sp>
            <p:nvSpPr>
              <p:cNvPr id="110" name="Line 33"/>
              <p:cNvSpPr>
                <a:spLocks noChangeShapeType="1"/>
              </p:cNvSpPr>
              <p:nvPr/>
            </p:nvSpPr>
            <p:spPr bwMode="auto">
              <a:xfrm>
                <a:off x="4594" y="1760"/>
                <a:ext cx="52" cy="0"/>
              </a:xfrm>
              <a:prstGeom prst="line">
                <a:avLst/>
              </a:prstGeom>
              <a:noFill/>
              <a:ln w="28575">
                <a:solidFill>
                  <a:schemeClr val="bg2"/>
                </a:solidFill>
                <a:round/>
                <a:headEnd/>
                <a:tailEnd/>
              </a:ln>
            </p:spPr>
            <p:txBody>
              <a:bodyPr/>
              <a:lstStyle/>
              <a:p>
                <a:endParaRPr lang="en-US">
                  <a:latin typeface="Times New Roman" panose="02020603050405020304" pitchFamily="18" charset="0"/>
                </a:endParaRPr>
              </a:p>
            </p:txBody>
          </p:sp>
        </p:grpSp>
      </p:grpSp>
      <p:sp>
        <p:nvSpPr>
          <p:cNvPr id="113" name="Rectangle 112"/>
          <p:cNvSpPr>
            <a:spLocks noChangeArrowheads="1"/>
          </p:cNvSpPr>
          <p:nvPr/>
        </p:nvSpPr>
        <p:spPr bwMode="auto">
          <a:xfrm>
            <a:off x="1919536" y="4816200"/>
            <a:ext cx="1000358" cy="287428"/>
          </a:xfrm>
          <a:prstGeom prst="rect">
            <a:avLst/>
          </a:prstGeom>
          <a:solidFill>
            <a:srgbClr val="006600"/>
          </a:solidFill>
          <a:ln w="9525">
            <a:miter lim="800000"/>
            <a:headEnd/>
            <a:tailEnd/>
          </a:ln>
          <a:scene3d>
            <a:camera prst="legacyObliqueTopRight"/>
            <a:lightRig rig="legacyFlat3" dir="b"/>
          </a:scene3d>
          <a:sp3d extrusionH="254000" prstMaterial="legacyMatte">
            <a:bevelT w="13500" h="13500" prst="angle"/>
            <a:bevelB w="13500" h="13500" prst="angle"/>
            <a:extrusionClr>
              <a:srgbClr val="006600"/>
            </a:extrusionClr>
          </a:sp3d>
        </p:spPr>
        <p:txBody>
          <a:bodyPr wrap="none" anchor="ctr">
            <a:flatTx/>
          </a:bodyPr>
          <a:lstStyle/>
          <a:p>
            <a:pPr>
              <a:buNone/>
            </a:pPr>
            <a:r>
              <a:rPr lang="en-US" dirty="0">
                <a:solidFill>
                  <a:srgbClr val="66FF33"/>
                </a:solidFill>
                <a:latin typeface="Times New Roman" panose="02020603050405020304" pitchFamily="18" charset="0"/>
                <a:cs typeface="Times New Roman" panose="02020603050405020304" pitchFamily="18" charset="0"/>
              </a:rPr>
              <a:t>start</a:t>
            </a:r>
          </a:p>
        </p:txBody>
      </p:sp>
      <p:sp>
        <p:nvSpPr>
          <p:cNvPr id="114" name="Freeform 29"/>
          <p:cNvSpPr>
            <a:spLocks/>
          </p:cNvSpPr>
          <p:nvPr/>
        </p:nvSpPr>
        <p:spPr bwMode="auto">
          <a:xfrm>
            <a:off x="2795057" y="4943487"/>
            <a:ext cx="564627" cy="285712"/>
          </a:xfrm>
          <a:custGeom>
            <a:avLst/>
            <a:gdLst>
              <a:gd name="T0" fmla="*/ 0 w 338"/>
              <a:gd name="T1" fmla="*/ 7 h 230"/>
              <a:gd name="T2" fmla="*/ 211 w 338"/>
              <a:gd name="T3" fmla="*/ 10 h 230"/>
              <a:gd name="T4" fmla="*/ 319 w 338"/>
              <a:gd name="T5" fmla="*/ 67 h 230"/>
              <a:gd name="T6" fmla="*/ 328 w 338"/>
              <a:gd name="T7" fmla="*/ 230 h 230"/>
              <a:gd name="T8" fmla="*/ 0 60000 65536"/>
              <a:gd name="T9" fmla="*/ 0 60000 65536"/>
              <a:gd name="T10" fmla="*/ 0 60000 65536"/>
              <a:gd name="T11" fmla="*/ 0 60000 65536"/>
              <a:gd name="T12" fmla="*/ 0 w 338"/>
              <a:gd name="T13" fmla="*/ 0 h 230"/>
              <a:gd name="T14" fmla="*/ 338 w 338"/>
              <a:gd name="T15" fmla="*/ 230 h 230"/>
              <a:gd name="connsiteX0" fmla="*/ 0 w 10384"/>
              <a:gd name="connsiteY0" fmla="*/ 2711 h 12407"/>
              <a:gd name="connsiteX1" fmla="*/ 4026 w 10384"/>
              <a:gd name="connsiteY1" fmla="*/ 435 h 12407"/>
              <a:gd name="connsiteX2" fmla="*/ 9438 w 10384"/>
              <a:gd name="connsiteY2" fmla="*/ 5320 h 12407"/>
              <a:gd name="connsiteX3" fmla="*/ 9704 w 10384"/>
              <a:gd name="connsiteY3" fmla="*/ 12407 h 12407"/>
              <a:gd name="connsiteX0" fmla="*/ 0 w 10340"/>
              <a:gd name="connsiteY0" fmla="*/ 4271 h 13967"/>
              <a:gd name="connsiteX1" fmla="*/ 4026 w 10340"/>
              <a:gd name="connsiteY1" fmla="*/ 1995 h 13967"/>
              <a:gd name="connsiteX2" fmla="*/ 9394 w 10340"/>
              <a:gd name="connsiteY2" fmla="*/ 1995 h 13967"/>
              <a:gd name="connsiteX3" fmla="*/ 9704 w 10340"/>
              <a:gd name="connsiteY3" fmla="*/ 13967 h 13967"/>
              <a:gd name="connsiteX0" fmla="*/ 0 w 11436"/>
              <a:gd name="connsiteY0" fmla="*/ 3232 h 6695"/>
              <a:gd name="connsiteX1" fmla="*/ 4026 w 11436"/>
              <a:gd name="connsiteY1" fmla="*/ 956 h 6695"/>
              <a:gd name="connsiteX2" fmla="*/ 9394 w 11436"/>
              <a:gd name="connsiteY2" fmla="*/ 956 h 6695"/>
              <a:gd name="connsiteX3" fmla="*/ 11436 w 11436"/>
              <a:gd name="connsiteY3" fmla="*/ 6695 h 6695"/>
              <a:gd name="connsiteX0" fmla="*/ 0 w 10809"/>
              <a:gd name="connsiteY0" fmla="*/ 9251 h 14424"/>
              <a:gd name="connsiteX1" fmla="*/ 3520 w 10809"/>
              <a:gd name="connsiteY1" fmla="*/ 5852 h 14424"/>
              <a:gd name="connsiteX2" fmla="*/ 9729 w 10809"/>
              <a:gd name="connsiteY2" fmla="*/ 1428 h 14424"/>
              <a:gd name="connsiteX3" fmla="*/ 10000 w 10809"/>
              <a:gd name="connsiteY3" fmla="*/ 14424 h 14424"/>
              <a:gd name="connsiteX0" fmla="*/ 0 w 10618"/>
              <a:gd name="connsiteY0" fmla="*/ 9091 h 14264"/>
              <a:gd name="connsiteX1" fmla="*/ 3520 w 10618"/>
              <a:gd name="connsiteY1" fmla="*/ 5692 h 14264"/>
              <a:gd name="connsiteX2" fmla="*/ 9538 w 10618"/>
              <a:gd name="connsiteY2" fmla="*/ 1428 h 14264"/>
              <a:gd name="connsiteX3" fmla="*/ 10000 w 10618"/>
              <a:gd name="connsiteY3" fmla="*/ 14264 h 14264"/>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2988 h 18161"/>
              <a:gd name="connsiteX1" fmla="*/ 4985 w 10374"/>
              <a:gd name="connsiteY1" fmla="*/ 1277 h 18161"/>
              <a:gd name="connsiteX2" fmla="*/ 9538 w 10374"/>
              <a:gd name="connsiteY2" fmla="*/ 5325 h 18161"/>
              <a:gd name="connsiteX3" fmla="*/ 10000 w 10374"/>
              <a:gd name="connsiteY3" fmla="*/ 18161 h 18161"/>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0374"/>
              <a:gd name="connsiteY0" fmla="*/ 11711 h 16884"/>
              <a:gd name="connsiteX1" fmla="*/ 4985 w 10374"/>
              <a:gd name="connsiteY1" fmla="*/ 0 h 16884"/>
              <a:gd name="connsiteX2" fmla="*/ 9538 w 10374"/>
              <a:gd name="connsiteY2" fmla="*/ 4048 h 16884"/>
              <a:gd name="connsiteX3" fmla="*/ 10000 w 10374"/>
              <a:gd name="connsiteY3" fmla="*/ 16884 h 16884"/>
              <a:gd name="connsiteX0" fmla="*/ 0 w 14082"/>
              <a:gd name="connsiteY0" fmla="*/ 11994 h 26269"/>
              <a:gd name="connsiteX1" fmla="*/ 4985 w 14082"/>
              <a:gd name="connsiteY1" fmla="*/ 283 h 26269"/>
              <a:gd name="connsiteX2" fmla="*/ 9538 w 14082"/>
              <a:gd name="connsiteY2" fmla="*/ 4331 h 26269"/>
              <a:gd name="connsiteX3" fmla="*/ 14082 w 14082"/>
              <a:gd name="connsiteY3" fmla="*/ 26269 h 26269"/>
              <a:gd name="connsiteX0" fmla="*/ 0 w 14082"/>
              <a:gd name="connsiteY0" fmla="*/ 11711 h 25986"/>
              <a:gd name="connsiteX1" fmla="*/ 4985 w 14082"/>
              <a:gd name="connsiteY1" fmla="*/ 0 h 25986"/>
              <a:gd name="connsiteX2" fmla="*/ 14082 w 14082"/>
              <a:gd name="connsiteY2" fmla="*/ 25986 h 25986"/>
              <a:gd name="connsiteX0" fmla="*/ 0 w 14082"/>
              <a:gd name="connsiteY0" fmla="*/ 7210 h 21485"/>
              <a:gd name="connsiteX1" fmla="*/ 9388 w 14082"/>
              <a:gd name="connsiteY1" fmla="*/ 865 h 21485"/>
              <a:gd name="connsiteX2" fmla="*/ 14082 w 14082"/>
              <a:gd name="connsiteY2" fmla="*/ 21485 h 21485"/>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7827 h 22102"/>
              <a:gd name="connsiteX1" fmla="*/ 9388 w 14082"/>
              <a:gd name="connsiteY1" fmla="*/ 1482 h 22102"/>
              <a:gd name="connsiteX2" fmla="*/ 14082 w 14082"/>
              <a:gd name="connsiteY2" fmla="*/ 22102 h 22102"/>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4082 w 14082"/>
              <a:gd name="connsiteY2"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1954 w 14082"/>
              <a:gd name="connsiteY2" fmla="*/ 11369 h 22784"/>
              <a:gd name="connsiteX3" fmla="*/ 14082 w 14082"/>
              <a:gd name="connsiteY3" fmla="*/ 22784 h 22784"/>
              <a:gd name="connsiteX0" fmla="*/ 0 w 14082"/>
              <a:gd name="connsiteY0" fmla="*/ 8509 h 22784"/>
              <a:gd name="connsiteX1" fmla="*/ 9388 w 14082"/>
              <a:gd name="connsiteY1" fmla="*/ 2164 h 22784"/>
              <a:gd name="connsiteX2" fmla="*/ 12908 w 14082"/>
              <a:gd name="connsiteY2" fmla="*/ 8055 h 22784"/>
              <a:gd name="connsiteX3" fmla="*/ 14082 w 14082"/>
              <a:gd name="connsiteY3" fmla="*/ 22784 h 22784"/>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659"/>
              <a:gd name="connsiteY0" fmla="*/ 8509 h 22130"/>
              <a:gd name="connsiteX1" fmla="*/ 9388 w 14659"/>
              <a:gd name="connsiteY1" fmla="*/ 2164 h 22130"/>
              <a:gd name="connsiteX2" fmla="*/ 12908 w 14659"/>
              <a:gd name="connsiteY2" fmla="*/ 8055 h 22130"/>
              <a:gd name="connsiteX3" fmla="*/ 14659 w 14659"/>
              <a:gd name="connsiteY3" fmla="*/ 22130 h 22130"/>
              <a:gd name="connsiteX0" fmla="*/ 0 w 14864"/>
              <a:gd name="connsiteY0" fmla="*/ 8509 h 22130"/>
              <a:gd name="connsiteX1" fmla="*/ 9388 w 14864"/>
              <a:gd name="connsiteY1" fmla="*/ 2164 h 22130"/>
              <a:gd name="connsiteX2" fmla="*/ 14082 w 14864"/>
              <a:gd name="connsiteY2" fmla="*/ 5110 h 22130"/>
              <a:gd name="connsiteX3" fmla="*/ 14659 w 14864"/>
              <a:gd name="connsiteY3" fmla="*/ 22130 h 22130"/>
              <a:gd name="connsiteX0" fmla="*/ 0 w 14864"/>
              <a:gd name="connsiteY0" fmla="*/ 10596 h 24217"/>
              <a:gd name="connsiteX1" fmla="*/ 8214 w 14864"/>
              <a:gd name="connsiteY1" fmla="*/ 1305 h 24217"/>
              <a:gd name="connsiteX2" fmla="*/ 14082 w 14864"/>
              <a:gd name="connsiteY2" fmla="*/ 7197 h 24217"/>
              <a:gd name="connsiteX3" fmla="*/ 14659 w 14864"/>
              <a:gd name="connsiteY3" fmla="*/ 24217 h 24217"/>
              <a:gd name="connsiteX0" fmla="*/ 0 w 14864"/>
              <a:gd name="connsiteY0" fmla="*/ 10615 h 24236"/>
              <a:gd name="connsiteX1" fmla="*/ 8214 w 14864"/>
              <a:gd name="connsiteY1" fmla="*/ 1324 h 24236"/>
              <a:gd name="connsiteX2" fmla="*/ 14082 w 14864"/>
              <a:gd name="connsiteY2" fmla="*/ 7216 h 24236"/>
              <a:gd name="connsiteX3" fmla="*/ 14659 w 14864"/>
              <a:gd name="connsiteY3" fmla="*/ 24236 h 2423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864"/>
              <a:gd name="connsiteY0" fmla="*/ 9865 h 23486"/>
              <a:gd name="connsiteX1" fmla="*/ 8214 w 14864"/>
              <a:gd name="connsiteY1" fmla="*/ 574 h 23486"/>
              <a:gd name="connsiteX2" fmla="*/ 14082 w 14864"/>
              <a:gd name="connsiteY2" fmla="*/ 6466 h 23486"/>
              <a:gd name="connsiteX3" fmla="*/ 14659 w 14864"/>
              <a:gd name="connsiteY3" fmla="*/ 23486 h 23486"/>
              <a:gd name="connsiteX0" fmla="*/ 0 w 14659"/>
              <a:gd name="connsiteY0" fmla="*/ 9865 h 23486"/>
              <a:gd name="connsiteX1" fmla="*/ 8214 w 14659"/>
              <a:gd name="connsiteY1" fmla="*/ 574 h 23486"/>
              <a:gd name="connsiteX2" fmla="*/ 14082 w 14659"/>
              <a:gd name="connsiteY2" fmla="*/ 6466 h 23486"/>
              <a:gd name="connsiteX3" fmla="*/ 14659 w 14659"/>
              <a:gd name="connsiteY3" fmla="*/ 23486 h 23486"/>
              <a:gd name="connsiteX0" fmla="*/ 0 w 14844"/>
              <a:gd name="connsiteY0" fmla="*/ 9865 h 23486"/>
              <a:gd name="connsiteX1" fmla="*/ 8214 w 14844"/>
              <a:gd name="connsiteY1" fmla="*/ 574 h 23486"/>
              <a:gd name="connsiteX2" fmla="*/ 14082 w 14844"/>
              <a:gd name="connsiteY2" fmla="*/ 6466 h 23486"/>
              <a:gd name="connsiteX3" fmla="*/ 14659 w 14844"/>
              <a:gd name="connsiteY3" fmla="*/ 23486 h 23486"/>
              <a:gd name="connsiteX0" fmla="*/ 0 w 14659"/>
              <a:gd name="connsiteY0" fmla="*/ 9865 h 23486"/>
              <a:gd name="connsiteX1" fmla="*/ 8214 w 14659"/>
              <a:gd name="connsiteY1" fmla="*/ 574 h 23486"/>
              <a:gd name="connsiteX2" fmla="*/ 12908 w 14659"/>
              <a:gd name="connsiteY2" fmla="*/ 3520 h 23486"/>
              <a:gd name="connsiteX3" fmla="*/ 14659 w 14659"/>
              <a:gd name="connsiteY3" fmla="*/ 23486 h 23486"/>
              <a:gd name="connsiteX0" fmla="*/ 0 w 14659"/>
              <a:gd name="connsiteY0" fmla="*/ 11631 h 25252"/>
              <a:gd name="connsiteX1" fmla="*/ 8214 w 14659"/>
              <a:gd name="connsiteY1" fmla="*/ 2340 h 25252"/>
              <a:gd name="connsiteX2" fmla="*/ 12908 w 14659"/>
              <a:gd name="connsiteY2" fmla="*/ 5286 h 25252"/>
              <a:gd name="connsiteX3" fmla="*/ 14659 w 14659"/>
              <a:gd name="connsiteY3" fmla="*/ 25252 h 25252"/>
              <a:gd name="connsiteX0" fmla="*/ 0 w 14659"/>
              <a:gd name="connsiteY0" fmla="*/ 12438 h 26059"/>
              <a:gd name="connsiteX1" fmla="*/ 8214 w 14659"/>
              <a:gd name="connsiteY1" fmla="*/ 3147 h 26059"/>
              <a:gd name="connsiteX2" fmla="*/ 12908 w 14659"/>
              <a:gd name="connsiteY2" fmla="*/ 6093 h 26059"/>
              <a:gd name="connsiteX3" fmla="*/ 14659 w 14659"/>
              <a:gd name="connsiteY3" fmla="*/ 26059 h 26059"/>
              <a:gd name="connsiteX0" fmla="*/ 0 w 14659"/>
              <a:gd name="connsiteY0" fmla="*/ 8615 h 22236"/>
              <a:gd name="connsiteX1" fmla="*/ 12908 w 14659"/>
              <a:gd name="connsiteY1" fmla="*/ 2270 h 22236"/>
              <a:gd name="connsiteX2" fmla="*/ 14659 w 14659"/>
              <a:gd name="connsiteY2" fmla="*/ 22236 h 22236"/>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11561 h 25182"/>
              <a:gd name="connsiteX1" fmla="*/ 10561 w 14659"/>
              <a:gd name="connsiteY1" fmla="*/ 2270 h 25182"/>
              <a:gd name="connsiteX2" fmla="*/ 14659 w 14659"/>
              <a:gd name="connsiteY2" fmla="*/ 25182 h 25182"/>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365 h 22986"/>
              <a:gd name="connsiteX1" fmla="*/ 10561 w 14659"/>
              <a:gd name="connsiteY1" fmla="*/ 74 h 22986"/>
              <a:gd name="connsiteX2" fmla="*/ 14659 w 14659"/>
              <a:gd name="connsiteY2" fmla="*/ 22986 h 22986"/>
              <a:gd name="connsiteX0" fmla="*/ 0 w 14659"/>
              <a:gd name="connsiteY0" fmla="*/ 9291 h 22912"/>
              <a:gd name="connsiteX1" fmla="*/ 10561 w 14659"/>
              <a:gd name="connsiteY1" fmla="*/ 0 h 22912"/>
              <a:gd name="connsiteX2" fmla="*/ 14659 w 14659"/>
              <a:gd name="connsiteY2" fmla="*/ 22912 h 22912"/>
              <a:gd name="connsiteX0" fmla="*/ 0 w 14659"/>
              <a:gd name="connsiteY0" fmla="*/ 9291 h 22912"/>
              <a:gd name="connsiteX1" fmla="*/ 10561 w 14659"/>
              <a:gd name="connsiteY1" fmla="*/ 0 h 22912"/>
              <a:gd name="connsiteX2" fmla="*/ 14659 w 14659"/>
              <a:gd name="connsiteY2" fmla="*/ 22912 h 22912"/>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4659"/>
              <a:gd name="connsiteY0" fmla="*/ 8257 h 21878"/>
              <a:gd name="connsiteX1" fmla="*/ 10561 w 14659"/>
              <a:gd name="connsiteY1" fmla="*/ 1912 h 21878"/>
              <a:gd name="connsiteX2" fmla="*/ 14659 w 14659"/>
              <a:gd name="connsiteY2" fmla="*/ 21878 h 21878"/>
              <a:gd name="connsiteX0" fmla="*/ 0 w 15101"/>
              <a:gd name="connsiteY0" fmla="*/ 8257 h 21878"/>
              <a:gd name="connsiteX1" fmla="*/ 10561 w 15101"/>
              <a:gd name="connsiteY1" fmla="*/ 1912 h 21878"/>
              <a:gd name="connsiteX2" fmla="*/ 14659 w 15101"/>
              <a:gd name="connsiteY2" fmla="*/ 21878 h 21878"/>
              <a:gd name="connsiteX0" fmla="*/ 0 w 16291"/>
              <a:gd name="connsiteY0" fmla="*/ 8257 h 21878"/>
              <a:gd name="connsiteX1" fmla="*/ 10561 w 16291"/>
              <a:gd name="connsiteY1" fmla="*/ 1912 h 21878"/>
              <a:gd name="connsiteX2" fmla="*/ 14659 w 16291"/>
              <a:gd name="connsiteY2" fmla="*/ 21878 h 21878"/>
              <a:gd name="connsiteX0" fmla="*/ 0 w 15439"/>
              <a:gd name="connsiteY0" fmla="*/ 8257 h 21878"/>
              <a:gd name="connsiteX1" fmla="*/ 10561 w 15439"/>
              <a:gd name="connsiteY1" fmla="*/ 1912 h 21878"/>
              <a:gd name="connsiteX2" fmla="*/ 14659 w 15439"/>
              <a:gd name="connsiteY2" fmla="*/ 21878 h 21878"/>
              <a:gd name="connsiteX0" fmla="*/ 0 w 15439"/>
              <a:gd name="connsiteY0" fmla="*/ 8257 h 21878"/>
              <a:gd name="connsiteX1" fmla="*/ 8214 w 15439"/>
              <a:gd name="connsiteY1" fmla="*/ 1912 h 21878"/>
              <a:gd name="connsiteX2" fmla="*/ 14659 w 15439"/>
              <a:gd name="connsiteY2" fmla="*/ 21878 h 21878"/>
              <a:gd name="connsiteX0" fmla="*/ 0 w 15439"/>
              <a:gd name="connsiteY0" fmla="*/ 8257 h 21878"/>
              <a:gd name="connsiteX1" fmla="*/ 8214 w 15439"/>
              <a:gd name="connsiteY1" fmla="*/ 7804 h 21878"/>
              <a:gd name="connsiteX2" fmla="*/ 14659 w 15439"/>
              <a:gd name="connsiteY2" fmla="*/ 21878 h 21878"/>
              <a:gd name="connsiteX0" fmla="*/ 0 w 15439"/>
              <a:gd name="connsiteY0" fmla="*/ 2440 h 16061"/>
              <a:gd name="connsiteX1" fmla="*/ 8214 w 15439"/>
              <a:gd name="connsiteY1" fmla="*/ 1987 h 16061"/>
              <a:gd name="connsiteX2" fmla="*/ 14659 w 15439"/>
              <a:gd name="connsiteY2" fmla="*/ 16061 h 16061"/>
              <a:gd name="connsiteX0" fmla="*/ 0 w 15439"/>
              <a:gd name="connsiteY0" fmla="*/ 3528 h 17149"/>
              <a:gd name="connsiteX1" fmla="*/ 8214 w 15439"/>
              <a:gd name="connsiteY1" fmla="*/ 129 h 17149"/>
              <a:gd name="connsiteX2" fmla="*/ 14659 w 15439"/>
              <a:gd name="connsiteY2" fmla="*/ 17149 h 17149"/>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8214 w 15439"/>
              <a:gd name="connsiteY1" fmla="*/ 410 h 17430"/>
              <a:gd name="connsiteX2" fmla="*/ 14659 w 15439"/>
              <a:gd name="connsiteY2" fmla="*/ 17430 h 17430"/>
              <a:gd name="connsiteX0" fmla="*/ 0 w 15439"/>
              <a:gd name="connsiteY0" fmla="*/ 3809 h 17430"/>
              <a:gd name="connsiteX1" fmla="*/ 7960 w 15439"/>
              <a:gd name="connsiteY1" fmla="*/ 2970 h 17430"/>
              <a:gd name="connsiteX2" fmla="*/ 14659 w 15439"/>
              <a:gd name="connsiteY2" fmla="*/ 17430 h 17430"/>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7960 w 15439"/>
              <a:gd name="connsiteY1" fmla="*/ 1601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439"/>
              <a:gd name="connsiteY0" fmla="*/ 2440 h 16061"/>
              <a:gd name="connsiteX1" fmla="*/ 8044 w 15439"/>
              <a:gd name="connsiteY1" fmla="*/ 2212 h 16061"/>
              <a:gd name="connsiteX2" fmla="*/ 14659 w 15439"/>
              <a:gd name="connsiteY2" fmla="*/ 16061 h 16061"/>
              <a:gd name="connsiteX0" fmla="*/ 0 w 15039"/>
              <a:gd name="connsiteY0" fmla="*/ 1060 h 14681"/>
              <a:gd name="connsiteX1" fmla="*/ 8044 w 15039"/>
              <a:gd name="connsiteY1" fmla="*/ 832 h 14681"/>
              <a:gd name="connsiteX2" fmla="*/ 14659 w 15039"/>
              <a:gd name="connsiteY2" fmla="*/ 14681 h 14681"/>
              <a:gd name="connsiteX0" fmla="*/ 0 w 15039"/>
              <a:gd name="connsiteY0" fmla="*/ 6130 h 19751"/>
              <a:gd name="connsiteX1" fmla="*/ 7898 w 15039"/>
              <a:gd name="connsiteY1" fmla="*/ 105 h 19751"/>
              <a:gd name="connsiteX2" fmla="*/ 14659 w 15039"/>
              <a:gd name="connsiteY2" fmla="*/ 19751 h 19751"/>
              <a:gd name="connsiteX0" fmla="*/ 0 w 15039"/>
              <a:gd name="connsiteY0" fmla="*/ 6025 h 19646"/>
              <a:gd name="connsiteX1" fmla="*/ 7898 w 15039"/>
              <a:gd name="connsiteY1" fmla="*/ 0 h 19646"/>
              <a:gd name="connsiteX2" fmla="*/ 14659 w 15039"/>
              <a:gd name="connsiteY2" fmla="*/ 19646 h 19646"/>
              <a:gd name="connsiteX0" fmla="*/ 0 w 15039"/>
              <a:gd name="connsiteY0" fmla="*/ 6025 h 19646"/>
              <a:gd name="connsiteX1" fmla="*/ 7898 w 15039"/>
              <a:gd name="connsiteY1" fmla="*/ 0 h 19646"/>
              <a:gd name="connsiteX2" fmla="*/ 14659 w 15039"/>
              <a:gd name="connsiteY2" fmla="*/ 19646 h 19646"/>
              <a:gd name="connsiteX0" fmla="*/ 0 w 12972"/>
              <a:gd name="connsiteY0" fmla="*/ 8923 h 14681"/>
              <a:gd name="connsiteX1" fmla="*/ 7898 w 12972"/>
              <a:gd name="connsiteY1" fmla="*/ 2898 h 14681"/>
              <a:gd name="connsiteX2" fmla="*/ 12592 w 12972"/>
              <a:gd name="connsiteY2" fmla="*/ 14681 h 14681"/>
              <a:gd name="connsiteX0" fmla="*/ 0 w 12972"/>
              <a:gd name="connsiteY0" fmla="*/ 8923 h 14681"/>
              <a:gd name="connsiteX1" fmla="*/ 7263 w 12972"/>
              <a:gd name="connsiteY1" fmla="*/ 1519 h 14681"/>
              <a:gd name="connsiteX2" fmla="*/ 12592 w 12972"/>
              <a:gd name="connsiteY2" fmla="*/ 14681 h 14681"/>
              <a:gd name="connsiteX0" fmla="*/ 0 w 12592"/>
              <a:gd name="connsiteY0" fmla="*/ 7404 h 13162"/>
              <a:gd name="connsiteX1" fmla="*/ 7263 w 12592"/>
              <a:gd name="connsiteY1" fmla="*/ 0 h 13162"/>
              <a:gd name="connsiteX2" fmla="*/ 12592 w 12592"/>
              <a:gd name="connsiteY2" fmla="*/ 13162 h 13162"/>
              <a:gd name="connsiteX0" fmla="*/ 0 w 12592"/>
              <a:gd name="connsiteY0" fmla="*/ 7404 h 13162"/>
              <a:gd name="connsiteX1" fmla="*/ 7263 w 12592"/>
              <a:gd name="connsiteY1" fmla="*/ 0 h 13162"/>
              <a:gd name="connsiteX2" fmla="*/ 12592 w 12592"/>
              <a:gd name="connsiteY2" fmla="*/ 13162 h 13162"/>
              <a:gd name="connsiteX0" fmla="*/ 0 w 9567"/>
              <a:gd name="connsiteY0" fmla="*/ 7404 h 26175"/>
              <a:gd name="connsiteX1" fmla="*/ 7263 w 9567"/>
              <a:gd name="connsiteY1" fmla="*/ 0 h 26175"/>
              <a:gd name="connsiteX2" fmla="*/ 4909 w 9567"/>
              <a:gd name="connsiteY2" fmla="*/ 26175 h 26175"/>
              <a:gd name="connsiteX0" fmla="*/ 0 w 10000"/>
              <a:gd name="connsiteY0" fmla="*/ 2829 h 10000"/>
              <a:gd name="connsiteX1" fmla="*/ 7592 w 10000"/>
              <a:gd name="connsiteY1" fmla="*/ 0 h 10000"/>
              <a:gd name="connsiteX2" fmla="*/ 5131 w 10000"/>
              <a:gd name="connsiteY2" fmla="*/ 10000 h 10000"/>
              <a:gd name="connsiteX0" fmla="*/ 0 w 7598"/>
              <a:gd name="connsiteY0" fmla="*/ 2032 h 9203"/>
              <a:gd name="connsiteX1" fmla="*/ 5131 w 7598"/>
              <a:gd name="connsiteY1" fmla="*/ 2451 h 9203"/>
              <a:gd name="connsiteX2" fmla="*/ 5131 w 7598"/>
              <a:gd name="connsiteY2" fmla="*/ 9203 h 9203"/>
              <a:gd name="connsiteX0" fmla="*/ 0 w 10000"/>
              <a:gd name="connsiteY0" fmla="*/ 0 h 7792"/>
              <a:gd name="connsiteX1" fmla="*/ 6753 w 10000"/>
              <a:gd name="connsiteY1" fmla="*/ 455 h 7792"/>
              <a:gd name="connsiteX2" fmla="*/ 6753 w 10000"/>
              <a:gd name="connsiteY2" fmla="*/ 7792 h 7792"/>
              <a:gd name="connsiteX0" fmla="*/ 0 w 10000"/>
              <a:gd name="connsiteY0" fmla="*/ 0 h 10000"/>
              <a:gd name="connsiteX1" fmla="*/ 6753 w 10000"/>
              <a:gd name="connsiteY1" fmla="*/ 584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10000"/>
              <a:gd name="connsiteY0" fmla="*/ 0 h 10000"/>
              <a:gd name="connsiteX1" fmla="*/ 6753 w 10000"/>
              <a:gd name="connsiteY1" fmla="*/ 2153 h 10000"/>
              <a:gd name="connsiteX2" fmla="*/ 6753 w 10000"/>
              <a:gd name="connsiteY2" fmla="*/ 10000 h 10000"/>
              <a:gd name="connsiteX0" fmla="*/ 0 w 6753"/>
              <a:gd name="connsiteY0" fmla="*/ 0 h 10000"/>
              <a:gd name="connsiteX1" fmla="*/ 6753 w 6753"/>
              <a:gd name="connsiteY1" fmla="*/ 10000 h 10000"/>
              <a:gd name="connsiteX0" fmla="*/ 0 w 10000"/>
              <a:gd name="connsiteY0" fmla="*/ 0 h 10000"/>
              <a:gd name="connsiteX1" fmla="*/ 10000 w 10000"/>
              <a:gd name="connsiteY1" fmla="*/ 10000 h 10000"/>
              <a:gd name="connsiteX0" fmla="*/ 0 w 10000"/>
              <a:gd name="connsiteY0" fmla="*/ 0 h 10000"/>
              <a:gd name="connsiteX1" fmla="*/ 10000 w 10000"/>
              <a:gd name="connsiteY1" fmla="*/ 10000 h 10000"/>
              <a:gd name="connsiteX0" fmla="*/ 0 w 10453"/>
              <a:gd name="connsiteY0" fmla="*/ 7375 h 8436"/>
              <a:gd name="connsiteX1" fmla="*/ 10453 w 10453"/>
              <a:gd name="connsiteY1" fmla="*/ 8375 h 8436"/>
              <a:gd name="connsiteX0" fmla="*/ 0 w 10000"/>
              <a:gd name="connsiteY0" fmla="*/ 38 h 1296"/>
              <a:gd name="connsiteX1" fmla="*/ 10000 w 10000"/>
              <a:gd name="connsiteY1" fmla="*/ 1224 h 1296"/>
              <a:gd name="connsiteX0" fmla="*/ 0 w 10000"/>
              <a:gd name="connsiteY0" fmla="*/ 18588 h 28295"/>
              <a:gd name="connsiteX1" fmla="*/ 10000 w 10000"/>
              <a:gd name="connsiteY1" fmla="*/ 9444 h 28295"/>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 name="connsiteX0" fmla="*/ 0 w 11368"/>
              <a:gd name="connsiteY0" fmla="*/ 0 h 72877"/>
              <a:gd name="connsiteX1" fmla="*/ 11368 w 11368"/>
              <a:gd name="connsiteY1" fmla="*/ 72877 h 72877"/>
              <a:gd name="connsiteX0" fmla="*/ 0 w 7543"/>
              <a:gd name="connsiteY0" fmla="*/ 0 h 51959"/>
              <a:gd name="connsiteX1" fmla="*/ 7543 w 7543"/>
              <a:gd name="connsiteY1" fmla="*/ 51959 h 51959"/>
              <a:gd name="connsiteX0" fmla="*/ 0 w 10000"/>
              <a:gd name="connsiteY0" fmla="*/ 0 h 10000"/>
              <a:gd name="connsiteX1" fmla="*/ 10000 w 10000"/>
              <a:gd name="connsiteY1" fmla="*/ 10000 h 10000"/>
              <a:gd name="connsiteX0" fmla="*/ 0 w 13255"/>
              <a:gd name="connsiteY0" fmla="*/ 0 h 7987"/>
              <a:gd name="connsiteX1" fmla="*/ 13255 w 13255"/>
              <a:gd name="connsiteY1" fmla="*/ 7987 h 7987"/>
            </a:gdLst>
            <a:ahLst/>
            <a:cxnLst>
              <a:cxn ang="0">
                <a:pos x="connsiteX0" y="connsiteY0"/>
              </a:cxn>
              <a:cxn ang="0">
                <a:pos x="connsiteX1" y="connsiteY1"/>
              </a:cxn>
            </a:cxnLst>
            <a:rect l="l" t="t" r="r" b="b"/>
            <a:pathLst>
              <a:path w="13255" h="7987">
                <a:moveTo>
                  <a:pt x="0" y="0"/>
                </a:moveTo>
                <a:cubicBezTo>
                  <a:pt x="5972" y="190"/>
                  <a:pt x="8642" y="456"/>
                  <a:pt x="13255" y="7987"/>
                </a:cubicBezTo>
              </a:path>
            </a:pathLst>
          </a:custGeom>
          <a:noFill/>
          <a:ln w="38100" cap="flat" cmpd="sng">
            <a:solidFill>
              <a:srgbClr val="FFC000"/>
            </a:solidFill>
            <a:prstDash val="solid"/>
            <a:round/>
            <a:headEnd type="oval" w="med" len="med"/>
            <a:tailEnd type="triangle" w="lg" len="lg"/>
          </a:ln>
        </p:spPr>
        <p:txBody>
          <a:bodyPr tIns="91440" bIns="91440" anchor="ctr"/>
          <a:lstStyle/>
          <a:p>
            <a:endParaRPr lang="en-US">
              <a:latin typeface="Times New Roman" panose="02020603050405020304" pitchFamily="18" charset="0"/>
            </a:endParaRPr>
          </a:p>
        </p:txBody>
      </p:sp>
    </p:spTree>
    <p:extLst>
      <p:ext uri="{BB962C8B-B14F-4D97-AF65-F5344CB8AC3E}">
        <p14:creationId xmlns:p14="http://schemas.microsoft.com/office/powerpoint/2010/main" val="3465827410"/>
      </p:ext>
    </p:extLst>
  </p:cSld>
  <p:clrMapOvr>
    <a:masterClrMapping/>
  </p:clrMapOvr>
  <p:transition spd="slow">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1130" y="2013270"/>
            <a:ext cx="10907976" cy="709381"/>
          </a:xfrm>
        </p:spPr>
        <p:txBody>
          <a:bodyPr anchor="t" anchorCtr="0">
            <a:normAutofit/>
          </a:bodyPr>
          <a:lstStyle/>
          <a:p>
            <a:pPr marL="0" indent="0">
              <a:buNone/>
            </a:pPr>
            <a:r>
              <a:rPr lang="en-US" sz="3200" dirty="0"/>
              <a:t>Imagine one of these lockers has the solution to the final exam.</a:t>
            </a:r>
          </a:p>
          <a:p>
            <a:pPr marL="0" indent="0">
              <a:buNone/>
            </a:pPr>
            <a:endParaRPr lang="en-US" sz="8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056" y="2722651"/>
            <a:ext cx="3940139" cy="3940139"/>
          </a:xfrm>
          <a:prstGeom prst="rect">
            <a:avLst/>
          </a:prstGeom>
        </p:spPr>
      </p:pic>
      <p:sp>
        <p:nvSpPr>
          <p:cNvPr id="45" name="Content Placeholder 2"/>
          <p:cNvSpPr txBox="1">
            <a:spLocks/>
          </p:cNvSpPr>
          <p:nvPr/>
        </p:nvSpPr>
        <p:spPr>
          <a:xfrm>
            <a:off x="4403824" y="2722651"/>
            <a:ext cx="6962208" cy="2095929"/>
          </a:xfrm>
          <a:prstGeom prst="rect">
            <a:avLst/>
          </a:prstGeom>
        </p:spPr>
        <p:txBody>
          <a:bodyPr vert="horz" lIns="91440" tIns="45720" rIns="91440" bIns="45720" rtlCol="0" anchor="t" anchorCtr="0">
            <a:normAutofit fontScale="925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b="0" i="0" kern="1200">
                <a:solidFill>
                  <a:schemeClr val="tx2"/>
                </a:solidFill>
                <a:latin typeface="Times New Roman" panose="02020603050405020304" pitchFamily="18" charset="0"/>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b="0" i="0" kern="1200">
                <a:solidFill>
                  <a:schemeClr val="tx2"/>
                </a:solidFill>
                <a:latin typeface="Times New Roman" panose="02020603050405020304" pitchFamily="18" charset="0"/>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b="0" i="0" kern="1200">
                <a:solidFill>
                  <a:schemeClr val="tx2"/>
                </a:solidFill>
                <a:latin typeface="Times New Roman" panose="02020603050405020304" pitchFamily="18" charset="0"/>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3200" dirty="0"/>
              <a:t>There are no labels on the lockers or clues, and you need to search them all.  Worst case is the last locker you search has what you want.  If there are 7 lockers, it takes you 7 tries. </a:t>
            </a:r>
          </a:p>
          <a:p>
            <a:pPr marL="0" indent="0">
              <a:buFont typeface="Wingdings 2" panose="05020102010507070707" pitchFamily="18" charset="2"/>
              <a:buNone/>
            </a:pPr>
            <a:endParaRPr lang="en-US" sz="800" dirty="0"/>
          </a:p>
        </p:txBody>
      </p:sp>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t="20075" b="15655"/>
          <a:stretch/>
        </p:blipFill>
        <p:spPr>
          <a:xfrm>
            <a:off x="4921320" y="4627831"/>
            <a:ext cx="2928991" cy="1882453"/>
          </a:xfrm>
          <a:prstGeom prst="rect">
            <a:avLst/>
          </a:prstGeom>
        </p:spPr>
      </p:pic>
      <p:sp>
        <p:nvSpPr>
          <p:cNvPr id="47" name="Content Placeholder 2"/>
          <p:cNvSpPr txBox="1">
            <a:spLocks/>
          </p:cNvSpPr>
          <p:nvPr/>
        </p:nvSpPr>
        <p:spPr>
          <a:xfrm>
            <a:off x="8367807" y="4627831"/>
            <a:ext cx="2979503" cy="1750709"/>
          </a:xfrm>
          <a:prstGeom prst="rect">
            <a:avLst/>
          </a:prstGeom>
        </p:spPr>
        <p:txBody>
          <a:bodyPr vert="horz" lIns="91440" tIns="45720" rIns="91440" bIns="45720" rtlCol="0" anchor="t" anchorCtr="0">
            <a:normAutofit fontScale="925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b="0" i="0" kern="1200">
                <a:solidFill>
                  <a:schemeClr val="tx2"/>
                </a:solidFill>
                <a:latin typeface="Times New Roman" panose="02020603050405020304" pitchFamily="18" charset="0"/>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b="0" i="0" kern="1200">
                <a:solidFill>
                  <a:schemeClr val="tx2"/>
                </a:solidFill>
                <a:latin typeface="Times New Roman" panose="02020603050405020304" pitchFamily="18" charset="0"/>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b="0" i="0" kern="1200">
                <a:solidFill>
                  <a:schemeClr val="tx2"/>
                </a:solidFill>
                <a:latin typeface="Times New Roman" panose="02020603050405020304" pitchFamily="18" charset="0"/>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sz="3200" dirty="0"/>
              <a:t>If there are 26 lockers, worst case is 26 tries.  </a:t>
            </a:r>
            <a:r>
              <a:rPr lang="en-US" sz="3200" dirty="0">
                <a:solidFill>
                  <a:srgbClr val="0070C0"/>
                </a:solidFill>
              </a:rPr>
              <a:t>O(n) problem</a:t>
            </a:r>
            <a:r>
              <a:rPr lang="en-US" sz="3200" dirty="0"/>
              <a:t>.</a:t>
            </a:r>
          </a:p>
          <a:p>
            <a:pPr marL="0" indent="0">
              <a:buFont typeface="Wingdings 2" panose="05020102010507070707" pitchFamily="18" charset="2"/>
              <a:buNone/>
            </a:pPr>
            <a:endParaRPr lang="en-US" sz="800" dirty="0"/>
          </a:p>
        </p:txBody>
      </p:sp>
    </p:spTree>
    <p:extLst>
      <p:ext uri="{BB962C8B-B14F-4D97-AF65-F5344CB8AC3E}">
        <p14:creationId xmlns:p14="http://schemas.microsoft.com/office/powerpoint/2010/main" val="380286355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
                                        </p:tgtEl>
                                        <p:attrNameLst>
                                          <p:attrName>style.visibility</p:attrName>
                                        </p:attrNameLst>
                                      </p:cBhvr>
                                      <p:to>
                                        <p:strVal val="visible"/>
                                      </p:to>
                                    </p:set>
                                    <p:anim calcmode="lin" valueType="num">
                                      <p:cBhvr additive="base">
                                        <p:cTn id="13" dur="500" fill="hold"/>
                                        <p:tgtEl>
                                          <p:spTgt spid="47"/>
                                        </p:tgtEl>
                                        <p:attrNameLst>
                                          <p:attrName>ppt_x</p:attrName>
                                        </p:attrNameLst>
                                      </p:cBhvr>
                                      <p:tavLst>
                                        <p:tav tm="0">
                                          <p:val>
                                            <p:strVal val="#ppt_x"/>
                                          </p:val>
                                        </p:tav>
                                        <p:tav tm="100000">
                                          <p:val>
                                            <p:strVal val="#ppt_x"/>
                                          </p:val>
                                        </p:tav>
                                      </p:tavLst>
                                    </p:anim>
                                    <p:anim calcmode="lin" valueType="num">
                                      <p:cBhvr additive="base">
                                        <p:cTn id="14"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4529" y="2866491"/>
            <a:ext cx="10859785" cy="1767154"/>
          </a:xfrm>
        </p:spPr>
        <p:txBody>
          <a:bodyPr anchor="t" anchorCtr="0">
            <a:normAutofit/>
          </a:bodyPr>
          <a:lstStyle/>
          <a:p>
            <a:pPr marL="0" indent="0">
              <a:buNone/>
            </a:pPr>
            <a:r>
              <a:rPr lang="en-US" sz="3800" dirty="0"/>
              <a:t>What if I told you there was a way we could turn this into a </a:t>
            </a:r>
            <a:r>
              <a:rPr lang="en-US" sz="3800" dirty="0">
                <a:solidFill>
                  <a:srgbClr val="0070C0"/>
                </a:solidFill>
              </a:rPr>
              <a:t>O(1) </a:t>
            </a:r>
            <a:r>
              <a:rPr lang="en-US" sz="3800" dirty="0"/>
              <a:t>solution.</a:t>
            </a:r>
          </a:p>
          <a:p>
            <a:pPr marL="0" indent="0">
              <a:buNone/>
            </a:pPr>
            <a:endParaRPr lang="en-US" sz="800" dirty="0"/>
          </a:p>
        </p:txBody>
      </p:sp>
    </p:spTree>
    <p:extLst>
      <p:ext uri="{BB962C8B-B14F-4D97-AF65-F5344CB8AC3E}">
        <p14:creationId xmlns:p14="http://schemas.microsoft.com/office/powerpoint/2010/main" val="517335996"/>
      </p:ext>
    </p:extLst>
  </p:cSld>
  <p:clrMapOvr>
    <a:masterClrMapping/>
  </p:clrMapOvr>
  <p:transition spd="slow">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06975" y="2321960"/>
            <a:ext cx="4428162" cy="1746606"/>
          </a:xfrm>
        </p:spPr>
        <p:txBody>
          <a:bodyPr anchor="t" anchorCtr="0">
            <a:normAutofit/>
          </a:bodyPr>
          <a:lstStyle/>
          <a:p>
            <a:pPr marL="0" indent="0">
              <a:buNone/>
            </a:pPr>
            <a:r>
              <a:rPr lang="en-US" sz="3200" dirty="0"/>
              <a:t>Guess which locker has the exam solutions.</a:t>
            </a:r>
            <a:endParaRPr lang="en-US" sz="8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056" y="514563"/>
            <a:ext cx="6148227" cy="6148227"/>
          </a:xfrm>
          <a:prstGeom prst="rect">
            <a:avLst/>
          </a:prstGeom>
        </p:spPr>
      </p:pic>
      <p:sp>
        <p:nvSpPr>
          <p:cNvPr id="2" name="TextBox 1"/>
          <p:cNvSpPr txBox="1"/>
          <p:nvPr/>
        </p:nvSpPr>
        <p:spPr>
          <a:xfrm>
            <a:off x="585627" y="2568539"/>
            <a:ext cx="1099335" cy="323165"/>
          </a:xfrm>
          <a:prstGeom prst="rect">
            <a:avLst/>
          </a:prstGeom>
          <a:noFill/>
        </p:spPr>
        <p:txBody>
          <a:bodyPr wrap="square" rtlCol="0">
            <a:spAutoFit/>
          </a:bodyPr>
          <a:lstStyle/>
          <a:p>
            <a:r>
              <a:rPr lang="en-US" sz="1500" dirty="0">
                <a:latin typeface="Times New Roman" panose="02020603050405020304" pitchFamily="18" charset="0"/>
                <a:cs typeface="Times New Roman" panose="02020603050405020304" pitchFamily="18" charset="0"/>
              </a:rPr>
              <a:t>Notebooks</a:t>
            </a:r>
          </a:p>
        </p:txBody>
      </p:sp>
      <p:sp>
        <p:nvSpPr>
          <p:cNvPr id="8" name="TextBox 7"/>
          <p:cNvSpPr txBox="1"/>
          <p:nvPr/>
        </p:nvSpPr>
        <p:spPr>
          <a:xfrm>
            <a:off x="1812533" y="2595937"/>
            <a:ext cx="766280" cy="323165"/>
          </a:xfrm>
          <a:prstGeom prst="rect">
            <a:avLst/>
          </a:prstGeom>
          <a:noFill/>
        </p:spPr>
        <p:txBody>
          <a:bodyPr wrap="square" rtlCol="0">
            <a:spAutoFit/>
          </a:bodyPr>
          <a:lstStyle/>
          <a:p>
            <a:r>
              <a:rPr lang="en-US" sz="1500" dirty="0">
                <a:latin typeface="Times New Roman" panose="02020603050405020304" pitchFamily="18" charset="0"/>
                <a:cs typeface="Times New Roman" panose="02020603050405020304" pitchFamily="18" charset="0"/>
              </a:rPr>
              <a:t>Pencils</a:t>
            </a:r>
          </a:p>
        </p:txBody>
      </p:sp>
      <p:sp>
        <p:nvSpPr>
          <p:cNvPr id="9" name="TextBox 8"/>
          <p:cNvSpPr txBox="1"/>
          <p:nvPr/>
        </p:nvSpPr>
        <p:spPr>
          <a:xfrm>
            <a:off x="2860500" y="2595937"/>
            <a:ext cx="807376" cy="323165"/>
          </a:xfrm>
          <a:prstGeom prst="rect">
            <a:avLst/>
          </a:prstGeom>
          <a:noFill/>
        </p:spPr>
        <p:txBody>
          <a:bodyPr wrap="square" rtlCol="0">
            <a:spAutoFit/>
          </a:bodyPr>
          <a:lstStyle/>
          <a:p>
            <a:r>
              <a:rPr lang="en-US" sz="1500" dirty="0">
                <a:latin typeface="Times New Roman" panose="02020603050405020304" pitchFamily="18" charset="0"/>
                <a:cs typeface="Times New Roman" panose="02020603050405020304" pitchFamily="18" charset="0"/>
              </a:rPr>
              <a:t>Paper</a:t>
            </a:r>
          </a:p>
        </p:txBody>
      </p:sp>
      <p:sp>
        <p:nvSpPr>
          <p:cNvPr id="10" name="TextBox 9"/>
          <p:cNvSpPr txBox="1"/>
          <p:nvPr/>
        </p:nvSpPr>
        <p:spPr>
          <a:xfrm>
            <a:off x="3667876" y="2657492"/>
            <a:ext cx="893850" cy="492443"/>
          </a:xfrm>
          <a:prstGeom prst="rect">
            <a:avLst/>
          </a:prstGeom>
          <a:noFill/>
        </p:spPr>
        <p:txBody>
          <a:bodyPr wrap="square" rtlCol="0">
            <a:spAutoFit/>
          </a:bodyPr>
          <a:lstStyle/>
          <a:p>
            <a:r>
              <a:rPr lang="en-US" sz="1300" dirty="0">
                <a:latin typeface="Times New Roman" panose="02020603050405020304" pitchFamily="18" charset="0"/>
                <a:cs typeface="Times New Roman" panose="02020603050405020304" pitchFamily="18" charset="0"/>
              </a:rPr>
              <a:t>Exams Solutions</a:t>
            </a:r>
          </a:p>
        </p:txBody>
      </p:sp>
      <p:sp>
        <p:nvSpPr>
          <p:cNvPr id="11" name="TextBox 10"/>
          <p:cNvSpPr txBox="1"/>
          <p:nvPr/>
        </p:nvSpPr>
        <p:spPr>
          <a:xfrm>
            <a:off x="4530904" y="2732926"/>
            <a:ext cx="719190"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Erasers</a:t>
            </a:r>
          </a:p>
        </p:txBody>
      </p:sp>
      <p:sp>
        <p:nvSpPr>
          <p:cNvPr id="12" name="TextBox 11"/>
          <p:cNvSpPr txBox="1"/>
          <p:nvPr/>
        </p:nvSpPr>
        <p:spPr>
          <a:xfrm>
            <a:off x="5301465" y="2806222"/>
            <a:ext cx="595901" cy="553998"/>
          </a:xfrm>
          <a:prstGeom prst="rect">
            <a:avLst/>
          </a:prstGeom>
          <a:noFill/>
        </p:spPr>
        <p:txBody>
          <a:bodyPr wrap="square" rtlCol="0">
            <a:spAutoFit/>
          </a:bodyPr>
          <a:lstStyle/>
          <a:p>
            <a:r>
              <a:rPr lang="en-US" sz="1500" dirty="0">
                <a:latin typeface="Times New Roman" panose="02020603050405020304" pitchFamily="18" charset="0"/>
                <a:cs typeface="Times New Roman" panose="02020603050405020304" pitchFamily="18" charset="0"/>
              </a:rPr>
              <a:t>Post its</a:t>
            </a:r>
          </a:p>
        </p:txBody>
      </p:sp>
      <p:sp>
        <p:nvSpPr>
          <p:cNvPr id="13" name="TextBox 12"/>
          <p:cNvSpPr txBox="1"/>
          <p:nvPr/>
        </p:nvSpPr>
        <p:spPr>
          <a:xfrm>
            <a:off x="6007819" y="2872098"/>
            <a:ext cx="628432" cy="323165"/>
          </a:xfrm>
          <a:prstGeom prst="rect">
            <a:avLst/>
          </a:prstGeom>
          <a:noFill/>
        </p:spPr>
        <p:txBody>
          <a:bodyPr wrap="square" rtlCol="0">
            <a:spAutoFit/>
          </a:bodyPr>
          <a:lstStyle/>
          <a:p>
            <a:r>
              <a:rPr lang="en-US" sz="1500" dirty="0">
                <a:latin typeface="Times New Roman" panose="02020603050405020304" pitchFamily="18" charset="0"/>
                <a:cs typeface="Times New Roman" panose="02020603050405020304" pitchFamily="18" charset="0"/>
              </a:rPr>
              <a:t>Pens</a:t>
            </a:r>
          </a:p>
        </p:txBody>
      </p:sp>
    </p:spTree>
    <p:extLst>
      <p:ext uri="{BB962C8B-B14F-4D97-AF65-F5344CB8AC3E}">
        <p14:creationId xmlns:p14="http://schemas.microsoft.com/office/powerpoint/2010/main" val="304256164"/>
      </p:ext>
    </p:extLst>
  </p:cSld>
  <p:clrMapOvr>
    <a:masterClrMapping/>
  </p:clrMapOvr>
  <p:transition spd="slow">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38199" y="774700"/>
            <a:ext cx="9389533" cy="990600"/>
          </a:xfrm>
        </p:spPr>
        <p:txBody>
          <a:bodyPr>
            <a:noAutofit/>
          </a:bodyPr>
          <a:lstStyle/>
          <a:p>
            <a:r>
              <a:rPr lang="en-US" sz="4800" dirty="0">
                <a:solidFill>
                  <a:schemeClr val="bg1"/>
                </a:solidFill>
                <a:latin typeface="Times New Roman" panose="02020603050405020304" pitchFamily="18" charset="0"/>
                <a:cs typeface="Times New Roman" panose="02020603050405020304" pitchFamily="18" charset="0"/>
              </a:rPr>
              <a:t>Hash Tables (hash maps)</a:t>
            </a:r>
          </a:p>
        </p:txBody>
      </p:sp>
      <p:sp>
        <p:nvSpPr>
          <p:cNvPr id="5" name="Content Placeholder 2"/>
          <p:cNvSpPr txBox="1">
            <a:spLocks/>
          </p:cNvSpPr>
          <p:nvPr/>
        </p:nvSpPr>
        <p:spPr bwMode="auto">
          <a:xfrm>
            <a:off x="533400" y="2070100"/>
            <a:ext cx="10629900" cy="198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6213" indent="-176213">
              <a:lnSpc>
                <a:spcPct val="100000"/>
              </a:lnSpc>
              <a:spcAft>
                <a:spcPts val="600"/>
              </a:spcAft>
            </a:pPr>
            <a:r>
              <a:rPr lang="en-US" dirty="0">
                <a:latin typeface="Times New Roman" panose="02020603050405020304" pitchFamily="18" charset="0"/>
              </a:rPr>
              <a:t>Hash tables are dynamic data structures that support the operations search/find, insertion, and deletion.</a:t>
            </a:r>
          </a:p>
          <a:p>
            <a:pPr marL="176213" indent="-176213">
              <a:lnSpc>
                <a:spcPct val="100000"/>
              </a:lnSpc>
              <a:spcAft>
                <a:spcPts val="600"/>
              </a:spcAft>
            </a:pPr>
            <a:r>
              <a:rPr lang="en-US" dirty="0">
                <a:solidFill>
                  <a:srgbClr val="70AD47">
                    <a:lumMod val="50000"/>
                  </a:srgbClr>
                </a:solidFill>
                <a:latin typeface="Times New Roman" panose="02020603050405020304" pitchFamily="18" charset="0"/>
              </a:rPr>
              <a:t>A</a:t>
            </a:r>
            <a:r>
              <a:rPr lang="en-US" dirty="0">
                <a:latin typeface="Times New Roman" panose="02020603050405020304" pitchFamily="18" charset="0"/>
              </a:rPr>
              <a:t> hash table can be very fast, potentially </a:t>
            </a:r>
            <a:r>
              <a:rPr lang="en-US" dirty="0">
                <a:solidFill>
                  <a:srgbClr val="00B0F0"/>
                </a:solidFill>
                <a:latin typeface="Times New Roman" panose="02020603050405020304" pitchFamily="18" charset="0"/>
                <a:cs typeface="Times New Roman" panose="02020603050405020304" pitchFamily="18" charset="0"/>
              </a:rPr>
              <a:t>O(1)</a:t>
            </a:r>
            <a:r>
              <a:rPr lang="en-US" dirty="0">
                <a:latin typeface="Times New Roman" panose="02020603050405020304" pitchFamily="18" charset="0"/>
                <a:cs typeface="Times New Roman" panose="02020603050405020304" pitchFamily="18" charset="0"/>
              </a:rPr>
              <a:t>, for all three operations (search/insert/delete)</a:t>
            </a:r>
          </a:p>
          <a:p>
            <a:pPr marL="176213" indent="-176213">
              <a:lnSpc>
                <a:spcPct val="100000"/>
              </a:lnSpc>
              <a:spcAft>
                <a:spcPts val="600"/>
              </a:spcAft>
            </a:pPr>
            <a:r>
              <a:rPr lang="en-US" dirty="0">
                <a:latin typeface="Times New Roman" panose="02020603050405020304" pitchFamily="18" charset="0"/>
              </a:rPr>
              <a:t>In other languages you might call hash tables/maps, dictionaries or associative arrays.</a:t>
            </a:r>
          </a:p>
        </p:txBody>
      </p:sp>
    </p:spTree>
    <p:extLst>
      <p:ext uri="{BB962C8B-B14F-4D97-AF65-F5344CB8AC3E}">
        <p14:creationId xmlns:p14="http://schemas.microsoft.com/office/powerpoint/2010/main" val="370561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p:txBody>
          <a:bodyPr>
            <a:normAutofit/>
          </a:bodyPr>
          <a:lstStyle/>
          <a:p>
            <a:pPr eaLnBrk="1" hangingPunct="1"/>
            <a:r>
              <a:rPr lang="en-US" sz="4800" dirty="0">
                <a:latin typeface="Times New Roman" panose="02020603050405020304" pitchFamily="18" charset="0"/>
              </a:rPr>
              <a:t>Example</a:t>
            </a:r>
          </a:p>
        </p:txBody>
      </p:sp>
      <p:sp>
        <p:nvSpPr>
          <p:cNvPr id="14341" name="Rectangle 3" descr="Rectangle: Click to edit Master text styles&#10;Second level&#10;Third level&#10;Fourth level&#10;Fifth level"/>
          <p:cNvSpPr>
            <a:spLocks noGrp="1" noChangeArrowheads="1"/>
          </p:cNvSpPr>
          <p:nvPr>
            <p:ph type="body" idx="1"/>
          </p:nvPr>
        </p:nvSpPr>
        <p:spPr>
          <a:xfrm>
            <a:off x="476417" y="1864876"/>
            <a:ext cx="6245058" cy="4419600"/>
          </a:xfrm>
        </p:spPr>
        <p:txBody>
          <a:bodyPr>
            <a:noAutofit/>
          </a:bodyPr>
          <a:lstStyle/>
          <a:p>
            <a:pPr eaLnBrk="1" hangingPunct="1"/>
            <a:r>
              <a:rPr lang="en-US" sz="2800" dirty="0">
                <a:latin typeface="Times New Roman" panose="02020603050405020304" pitchFamily="18" charset="0"/>
              </a:rPr>
              <a:t>We design a hash table </a:t>
            </a:r>
          </a:p>
          <a:p>
            <a:pPr lvl="1" eaLnBrk="1" hangingPunct="1"/>
            <a:r>
              <a:rPr lang="en-US" sz="2800" dirty="0">
                <a:latin typeface="Times New Roman" panose="02020603050405020304" pitchFamily="18" charset="0"/>
              </a:rPr>
              <a:t>storing entries as (</a:t>
            </a:r>
            <a:r>
              <a:rPr lang="en-US" sz="2800" dirty="0"/>
              <a:t>Phone#</a:t>
            </a:r>
            <a:r>
              <a:rPr lang="en-US" sz="2800" dirty="0">
                <a:latin typeface="Times New Roman" panose="02020603050405020304" pitchFamily="18" charset="0"/>
              </a:rPr>
              <a:t>, Name)</a:t>
            </a:r>
          </a:p>
          <a:p>
            <a:pPr lvl="1" eaLnBrk="1" hangingPunct="1"/>
            <a:r>
              <a:rPr lang="en-US" sz="2800" dirty="0">
                <a:latin typeface="Times New Roman" panose="02020603050405020304" pitchFamily="18" charset="0"/>
              </a:rPr>
              <a:t>Phone# is a </a:t>
            </a:r>
            <a:r>
              <a:rPr lang="en-US" sz="2800" dirty="0"/>
              <a:t>ten</a:t>
            </a:r>
            <a:r>
              <a:rPr lang="en-US" sz="2800" dirty="0">
                <a:latin typeface="Times New Roman" panose="02020603050405020304" pitchFamily="18" charset="0"/>
              </a:rPr>
              <a:t>-digit positive integer</a:t>
            </a:r>
          </a:p>
          <a:p>
            <a:pPr eaLnBrk="1" hangingPunct="1"/>
            <a:r>
              <a:rPr lang="en-US" sz="2800" dirty="0">
                <a:latin typeface="Times New Roman" panose="02020603050405020304" pitchFamily="18" charset="0"/>
              </a:rPr>
              <a:t>Our hash table uses</a:t>
            </a:r>
          </a:p>
          <a:p>
            <a:pPr lvl="1" eaLnBrk="1" hangingPunct="1"/>
            <a:r>
              <a:rPr lang="en-US" sz="2800" dirty="0">
                <a:latin typeface="Times New Roman" panose="02020603050405020304" pitchFamily="18" charset="0"/>
              </a:rPr>
              <a:t> array of size</a:t>
            </a:r>
            <a:r>
              <a:rPr lang="en-US" sz="2800" dirty="0">
                <a:latin typeface="Times New Roman" charset="0"/>
              </a:rPr>
              <a:t> </a:t>
            </a:r>
            <a:r>
              <a:rPr lang="en-US" sz="2800" b="1" i="1" dirty="0">
                <a:latin typeface="Times New Roman" charset="0"/>
              </a:rPr>
              <a:t>N</a:t>
            </a:r>
            <a:r>
              <a:rPr lang="en-US" sz="2800" dirty="0"/>
              <a:t> = </a:t>
            </a:r>
            <a:r>
              <a:rPr lang="en-US" sz="2800" dirty="0">
                <a:latin typeface="Times New Roman" charset="0"/>
              </a:rPr>
              <a:t>10,000</a:t>
            </a:r>
            <a:r>
              <a:rPr lang="en-US" sz="2800" dirty="0">
                <a:latin typeface="Times New Roman" panose="02020603050405020304" pitchFamily="18" charset="0"/>
              </a:rPr>
              <a:t> and </a:t>
            </a:r>
          </a:p>
          <a:p>
            <a:pPr lvl="1" eaLnBrk="1" hangingPunct="1"/>
            <a:r>
              <a:rPr lang="en-US" sz="2800" dirty="0">
                <a:latin typeface="Times New Roman" panose="02020603050405020304" pitchFamily="18" charset="0"/>
              </a:rPr>
              <a:t> hash function</a:t>
            </a:r>
            <a:br>
              <a:rPr lang="en-US" sz="2800" dirty="0">
                <a:latin typeface="Times New Roman" panose="02020603050405020304" pitchFamily="18" charset="0"/>
              </a:rPr>
            </a:br>
            <a:r>
              <a:rPr lang="en-US" sz="2800" b="1" i="1" dirty="0">
                <a:latin typeface="Times New Roman" charset="0"/>
              </a:rPr>
              <a:t>h</a:t>
            </a:r>
            <a:r>
              <a:rPr lang="en-US" sz="2800" dirty="0">
                <a:latin typeface="Times New Roman" charset="0"/>
              </a:rPr>
              <a:t>(</a:t>
            </a:r>
            <a:r>
              <a:rPr lang="en-US" sz="2800" b="1" i="1" dirty="0">
                <a:latin typeface="Times New Roman" charset="0"/>
              </a:rPr>
              <a:t>x</a:t>
            </a:r>
            <a:r>
              <a:rPr lang="en-US" sz="2800" dirty="0">
                <a:latin typeface="Times New Roman" charset="0"/>
              </a:rPr>
              <a:t>)</a:t>
            </a:r>
            <a:r>
              <a:rPr lang="en-US" sz="2800" dirty="0"/>
              <a:t> = </a:t>
            </a:r>
            <a:r>
              <a:rPr lang="en-US" sz="2800" dirty="0">
                <a:latin typeface="Times New Roman" charset="0"/>
              </a:rPr>
              <a:t>last four digits of </a:t>
            </a:r>
            <a:r>
              <a:rPr lang="en-US" sz="2800" b="1" i="1" dirty="0">
                <a:latin typeface="Times New Roman" charset="0"/>
              </a:rPr>
              <a:t>x</a:t>
            </a:r>
          </a:p>
        </p:txBody>
      </p:sp>
      <p:grpSp>
        <p:nvGrpSpPr>
          <p:cNvPr id="14342" name="Group 30"/>
          <p:cNvGrpSpPr>
            <a:grpSpLocks/>
          </p:cNvGrpSpPr>
          <p:nvPr/>
        </p:nvGrpSpPr>
        <p:grpSpPr bwMode="auto">
          <a:xfrm>
            <a:off x="6781800" y="1828800"/>
            <a:ext cx="2978150" cy="3200400"/>
            <a:chOff x="2496" y="1488"/>
            <a:chExt cx="1876" cy="2016"/>
          </a:xfrm>
        </p:grpSpPr>
        <p:sp>
          <p:nvSpPr>
            <p:cNvPr id="14344" name="Rectangle 4"/>
            <p:cNvSpPr>
              <a:spLocks noChangeArrowheads="1"/>
            </p:cNvSpPr>
            <p:nvPr/>
          </p:nvSpPr>
          <p:spPr bwMode="auto">
            <a:xfrm>
              <a:off x="2996" y="1536"/>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r>
                <a:rPr lang="en-US" dirty="0">
                  <a:latin typeface="Times New Roman" panose="02020603050405020304" pitchFamily="18" charset="0"/>
                  <a:sym typeface="Symbol" charset="0"/>
                </a:rPr>
                <a:t></a:t>
              </a:r>
              <a:endParaRPr lang="en-US" dirty="0">
                <a:latin typeface="Times New Roman" panose="02020603050405020304" pitchFamily="18" charset="0"/>
              </a:endParaRPr>
            </a:p>
          </p:txBody>
        </p:sp>
        <p:sp>
          <p:nvSpPr>
            <p:cNvPr id="14345" name="Rectangle 5"/>
            <p:cNvSpPr>
              <a:spLocks noChangeArrowheads="1"/>
            </p:cNvSpPr>
            <p:nvPr/>
          </p:nvSpPr>
          <p:spPr bwMode="auto">
            <a:xfrm>
              <a:off x="2996" y="1728"/>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Times New Roman" panose="02020603050405020304" pitchFamily="18" charset="0"/>
              </a:endParaRPr>
            </a:p>
          </p:txBody>
        </p:sp>
        <p:sp>
          <p:nvSpPr>
            <p:cNvPr id="14346" name="Rectangle 6"/>
            <p:cNvSpPr>
              <a:spLocks noChangeArrowheads="1"/>
            </p:cNvSpPr>
            <p:nvPr/>
          </p:nvSpPr>
          <p:spPr bwMode="auto">
            <a:xfrm>
              <a:off x="2996" y="1920"/>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Times New Roman" panose="02020603050405020304" pitchFamily="18" charset="0"/>
                <a:sym typeface="Symbol" charset="0"/>
              </a:endParaRPr>
            </a:p>
          </p:txBody>
        </p:sp>
        <p:sp>
          <p:nvSpPr>
            <p:cNvPr id="14347" name="Rectangle 7"/>
            <p:cNvSpPr>
              <a:spLocks noChangeArrowheads="1"/>
            </p:cNvSpPr>
            <p:nvPr/>
          </p:nvSpPr>
          <p:spPr bwMode="auto">
            <a:xfrm>
              <a:off x="2996" y="2112"/>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r>
                <a:rPr lang="en-US" dirty="0">
                  <a:latin typeface="Times New Roman" panose="02020603050405020304" pitchFamily="18" charset="0"/>
                  <a:sym typeface="Symbol" charset="0"/>
                </a:rPr>
                <a:t></a:t>
              </a:r>
            </a:p>
          </p:txBody>
        </p:sp>
        <p:sp>
          <p:nvSpPr>
            <p:cNvPr id="14348" name="Rectangle 8"/>
            <p:cNvSpPr>
              <a:spLocks noChangeArrowheads="1"/>
            </p:cNvSpPr>
            <p:nvPr/>
          </p:nvSpPr>
          <p:spPr bwMode="auto">
            <a:xfrm>
              <a:off x="2996" y="2304"/>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Times New Roman" panose="02020603050405020304" pitchFamily="18" charset="0"/>
              </a:endParaRPr>
            </a:p>
          </p:txBody>
        </p:sp>
        <p:sp>
          <p:nvSpPr>
            <p:cNvPr id="14349" name="Rectangle 9"/>
            <p:cNvSpPr>
              <a:spLocks noChangeArrowheads="1"/>
            </p:cNvSpPr>
            <p:nvPr/>
          </p:nvSpPr>
          <p:spPr bwMode="auto">
            <a:xfrm>
              <a:off x="2996" y="3072"/>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Times New Roman" panose="02020603050405020304" pitchFamily="18" charset="0"/>
              </a:endParaRPr>
            </a:p>
          </p:txBody>
        </p:sp>
        <p:sp>
          <p:nvSpPr>
            <p:cNvPr id="14350" name="Rectangle 10"/>
            <p:cNvSpPr>
              <a:spLocks noChangeArrowheads="1"/>
            </p:cNvSpPr>
            <p:nvPr/>
          </p:nvSpPr>
          <p:spPr bwMode="auto">
            <a:xfrm>
              <a:off x="2996" y="2880"/>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r>
                <a:rPr lang="en-US" dirty="0">
                  <a:latin typeface="Times New Roman" panose="02020603050405020304" pitchFamily="18" charset="0"/>
                  <a:sym typeface="Symbol" charset="0"/>
                </a:rPr>
                <a:t></a:t>
              </a:r>
            </a:p>
          </p:txBody>
        </p:sp>
        <p:sp>
          <p:nvSpPr>
            <p:cNvPr id="14351" name="Rectangle 11"/>
            <p:cNvSpPr>
              <a:spLocks noChangeArrowheads="1"/>
            </p:cNvSpPr>
            <p:nvPr/>
          </p:nvSpPr>
          <p:spPr bwMode="auto">
            <a:xfrm>
              <a:off x="2996" y="3264"/>
              <a:ext cx="192" cy="19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r>
                <a:rPr lang="en-US" dirty="0">
                  <a:latin typeface="Times New Roman" panose="02020603050405020304" pitchFamily="18" charset="0"/>
                  <a:sym typeface="Symbol" charset="0"/>
                </a:rPr>
                <a:t></a:t>
              </a:r>
            </a:p>
          </p:txBody>
        </p:sp>
        <p:sp>
          <p:nvSpPr>
            <p:cNvPr id="14352" name="Text Box 12"/>
            <p:cNvSpPr txBox="1">
              <a:spLocks noChangeArrowheads="1"/>
            </p:cNvSpPr>
            <p:nvPr/>
          </p:nvSpPr>
          <p:spPr bwMode="auto">
            <a:xfrm>
              <a:off x="2784" y="148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a:latin typeface="Times New Roman" charset="0"/>
                </a:rPr>
                <a:t>0</a:t>
              </a:r>
            </a:p>
          </p:txBody>
        </p:sp>
        <p:sp>
          <p:nvSpPr>
            <p:cNvPr id="14353" name="Text Box 13"/>
            <p:cNvSpPr txBox="1">
              <a:spLocks noChangeArrowheads="1"/>
            </p:cNvSpPr>
            <p:nvPr/>
          </p:nvSpPr>
          <p:spPr bwMode="auto">
            <a:xfrm>
              <a:off x="2784" y="168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a:latin typeface="Times New Roman" charset="0"/>
                </a:rPr>
                <a:t>1</a:t>
              </a:r>
            </a:p>
          </p:txBody>
        </p:sp>
        <p:sp>
          <p:nvSpPr>
            <p:cNvPr id="14354" name="Text Box 14"/>
            <p:cNvSpPr txBox="1">
              <a:spLocks noChangeArrowheads="1"/>
            </p:cNvSpPr>
            <p:nvPr/>
          </p:nvSpPr>
          <p:spPr bwMode="auto">
            <a:xfrm>
              <a:off x="2784" y="187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a:latin typeface="Times New Roman" charset="0"/>
                </a:rPr>
                <a:t>2</a:t>
              </a:r>
            </a:p>
          </p:txBody>
        </p:sp>
        <p:sp>
          <p:nvSpPr>
            <p:cNvPr id="14355" name="Text Box 15"/>
            <p:cNvSpPr txBox="1">
              <a:spLocks noChangeArrowheads="1"/>
            </p:cNvSpPr>
            <p:nvPr/>
          </p:nvSpPr>
          <p:spPr bwMode="auto">
            <a:xfrm>
              <a:off x="2784" y="206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a:latin typeface="Times New Roman" charset="0"/>
                </a:rPr>
                <a:t>3</a:t>
              </a:r>
            </a:p>
          </p:txBody>
        </p:sp>
        <p:sp>
          <p:nvSpPr>
            <p:cNvPr id="14356" name="Text Box 16"/>
            <p:cNvSpPr txBox="1">
              <a:spLocks noChangeArrowheads="1"/>
            </p:cNvSpPr>
            <p:nvPr/>
          </p:nvSpPr>
          <p:spPr bwMode="auto">
            <a:xfrm>
              <a:off x="2784" y="22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a:latin typeface="Times New Roman" charset="0"/>
                </a:rPr>
                <a:t>4</a:t>
              </a:r>
            </a:p>
          </p:txBody>
        </p:sp>
        <p:sp>
          <p:nvSpPr>
            <p:cNvPr id="14357" name="Text Box 17"/>
            <p:cNvSpPr txBox="1">
              <a:spLocks noChangeArrowheads="1"/>
            </p:cNvSpPr>
            <p:nvPr/>
          </p:nvSpPr>
          <p:spPr bwMode="auto">
            <a:xfrm>
              <a:off x="2496" y="2832"/>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algn="r" eaLnBrk="1" hangingPunct="1"/>
              <a:r>
                <a:rPr lang="en-US">
                  <a:latin typeface="Times New Roman" charset="0"/>
                </a:rPr>
                <a:t>9997</a:t>
              </a:r>
            </a:p>
          </p:txBody>
        </p:sp>
        <p:sp>
          <p:nvSpPr>
            <p:cNvPr id="14358" name="Text Box 18"/>
            <p:cNvSpPr txBox="1">
              <a:spLocks noChangeArrowheads="1"/>
            </p:cNvSpPr>
            <p:nvPr/>
          </p:nvSpPr>
          <p:spPr bwMode="auto">
            <a:xfrm>
              <a:off x="2496" y="3024"/>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a:latin typeface="Times New Roman" charset="0"/>
                </a:rPr>
                <a:t>9998</a:t>
              </a:r>
            </a:p>
          </p:txBody>
        </p:sp>
        <p:sp>
          <p:nvSpPr>
            <p:cNvPr id="14359" name="Text Box 19"/>
            <p:cNvSpPr txBox="1">
              <a:spLocks noChangeArrowheads="1"/>
            </p:cNvSpPr>
            <p:nvPr/>
          </p:nvSpPr>
          <p:spPr bwMode="auto">
            <a:xfrm>
              <a:off x="2496" y="3216"/>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a:latin typeface="Times New Roman" charset="0"/>
                </a:rPr>
                <a:t>9999</a:t>
              </a:r>
            </a:p>
          </p:txBody>
        </p:sp>
        <p:sp>
          <p:nvSpPr>
            <p:cNvPr id="14360" name="Text Box 20"/>
            <p:cNvSpPr txBox="1">
              <a:spLocks noChangeArrowheads="1"/>
            </p:cNvSpPr>
            <p:nvPr/>
          </p:nvSpPr>
          <p:spPr bwMode="auto">
            <a:xfrm rot="5400000">
              <a:off x="2986" y="2542"/>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a:latin typeface="Times New Roman" charset="0"/>
                </a:rPr>
                <a:t>…</a:t>
              </a:r>
            </a:p>
          </p:txBody>
        </p:sp>
        <p:sp>
          <p:nvSpPr>
            <p:cNvPr id="14361" name="AutoShape 21"/>
            <p:cNvSpPr>
              <a:spLocks noChangeArrowheads="1"/>
            </p:cNvSpPr>
            <p:nvPr/>
          </p:nvSpPr>
          <p:spPr bwMode="auto">
            <a:xfrm>
              <a:off x="3360" y="2304"/>
              <a:ext cx="1008" cy="192"/>
            </a:xfrm>
            <a:prstGeom prst="roundRect">
              <a:avLst>
                <a:gd name="adj" fmla="val 16667"/>
              </a:avLst>
            </a:prstGeom>
            <a:solidFill>
              <a:schemeClr val="accent1"/>
            </a:solidFill>
            <a:ln w="19050">
              <a:solidFill>
                <a:schemeClr val="tx1"/>
              </a:solidFill>
              <a:round/>
              <a:headEnd/>
              <a:tailEnd/>
            </a:ln>
          </p:spPr>
          <p:txBody>
            <a:bodyPr wrap="none" anchor="ctr"/>
            <a:lstStyle/>
            <a:p>
              <a:r>
                <a:rPr lang="en-US" sz="1600" dirty="0">
                  <a:solidFill>
                    <a:schemeClr val="bg1"/>
                  </a:solidFill>
                  <a:latin typeface="Times New Roman" panose="02020603050405020304" pitchFamily="18" charset="0"/>
                </a:rPr>
                <a:t>451-229-0004</a:t>
              </a:r>
            </a:p>
          </p:txBody>
        </p:sp>
        <p:sp>
          <p:nvSpPr>
            <p:cNvPr id="14362" name="AutoShape 22"/>
            <p:cNvSpPr>
              <a:spLocks noChangeArrowheads="1"/>
            </p:cNvSpPr>
            <p:nvPr/>
          </p:nvSpPr>
          <p:spPr bwMode="auto">
            <a:xfrm>
              <a:off x="3360" y="1920"/>
              <a:ext cx="1008" cy="192"/>
            </a:xfrm>
            <a:prstGeom prst="roundRect">
              <a:avLst>
                <a:gd name="adj" fmla="val 16667"/>
              </a:avLst>
            </a:prstGeom>
            <a:solidFill>
              <a:schemeClr val="accent1"/>
            </a:solidFill>
            <a:ln w="19050">
              <a:solidFill>
                <a:schemeClr val="tx1"/>
              </a:solidFill>
              <a:round/>
              <a:headEnd/>
              <a:tailEnd/>
            </a:ln>
          </p:spPr>
          <p:txBody>
            <a:bodyPr wrap="none" anchor="ctr"/>
            <a:lstStyle/>
            <a:p>
              <a:r>
                <a:rPr lang="en-US" sz="1600" dirty="0">
                  <a:solidFill>
                    <a:schemeClr val="bg1"/>
                  </a:solidFill>
                  <a:latin typeface="Times New Roman" panose="02020603050405020304" pitchFamily="18" charset="0"/>
                </a:rPr>
                <a:t>981-101-0002</a:t>
              </a:r>
            </a:p>
          </p:txBody>
        </p:sp>
        <p:sp>
          <p:nvSpPr>
            <p:cNvPr id="14363" name="Line 24"/>
            <p:cNvSpPr>
              <a:spLocks noChangeShapeType="1"/>
            </p:cNvSpPr>
            <p:nvPr/>
          </p:nvSpPr>
          <p:spPr bwMode="auto">
            <a:xfrm>
              <a:off x="3092" y="2400"/>
              <a:ext cx="268" cy="0"/>
            </a:xfrm>
            <a:prstGeom prst="line">
              <a:avLst/>
            </a:prstGeom>
            <a:noFill/>
            <a:ln w="1905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Times New Roman" panose="02020603050405020304" pitchFamily="18" charset="0"/>
              </a:endParaRPr>
            </a:p>
          </p:txBody>
        </p:sp>
        <p:sp>
          <p:nvSpPr>
            <p:cNvPr id="14364" name="AutoShape 25"/>
            <p:cNvSpPr>
              <a:spLocks noChangeArrowheads="1"/>
            </p:cNvSpPr>
            <p:nvPr/>
          </p:nvSpPr>
          <p:spPr bwMode="auto">
            <a:xfrm>
              <a:off x="3364" y="3072"/>
              <a:ext cx="1008" cy="192"/>
            </a:xfrm>
            <a:prstGeom prst="roundRect">
              <a:avLst>
                <a:gd name="adj" fmla="val 16667"/>
              </a:avLst>
            </a:prstGeom>
            <a:solidFill>
              <a:schemeClr val="accent1"/>
            </a:solidFill>
            <a:ln w="19050">
              <a:solidFill>
                <a:schemeClr val="tx1"/>
              </a:solidFill>
              <a:round/>
              <a:headEnd/>
              <a:tailEnd/>
            </a:ln>
          </p:spPr>
          <p:txBody>
            <a:bodyPr wrap="none" anchor="ctr"/>
            <a:lstStyle/>
            <a:p>
              <a:r>
                <a:rPr lang="en-US" sz="1600" dirty="0">
                  <a:solidFill>
                    <a:schemeClr val="bg1"/>
                  </a:solidFill>
                  <a:latin typeface="Times New Roman" panose="02020603050405020304" pitchFamily="18" charset="0"/>
                </a:rPr>
                <a:t>200-751-9998</a:t>
              </a:r>
            </a:p>
          </p:txBody>
        </p:sp>
        <p:sp>
          <p:nvSpPr>
            <p:cNvPr id="14365" name="Line 26"/>
            <p:cNvSpPr>
              <a:spLocks noChangeShapeType="1"/>
            </p:cNvSpPr>
            <p:nvPr/>
          </p:nvSpPr>
          <p:spPr bwMode="auto">
            <a:xfrm>
              <a:off x="3096" y="3168"/>
              <a:ext cx="268" cy="0"/>
            </a:xfrm>
            <a:prstGeom prst="line">
              <a:avLst/>
            </a:prstGeom>
            <a:noFill/>
            <a:ln w="1905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Times New Roman" panose="02020603050405020304" pitchFamily="18" charset="0"/>
              </a:endParaRPr>
            </a:p>
          </p:txBody>
        </p:sp>
        <p:sp>
          <p:nvSpPr>
            <p:cNvPr id="14366" name="AutoShape 27"/>
            <p:cNvSpPr>
              <a:spLocks noChangeArrowheads="1"/>
            </p:cNvSpPr>
            <p:nvPr/>
          </p:nvSpPr>
          <p:spPr bwMode="auto">
            <a:xfrm>
              <a:off x="3360" y="1728"/>
              <a:ext cx="1008" cy="192"/>
            </a:xfrm>
            <a:prstGeom prst="roundRect">
              <a:avLst>
                <a:gd name="adj" fmla="val 16667"/>
              </a:avLst>
            </a:prstGeom>
            <a:solidFill>
              <a:schemeClr val="accent1"/>
            </a:solidFill>
            <a:ln w="19050">
              <a:solidFill>
                <a:schemeClr val="tx1"/>
              </a:solidFill>
              <a:round/>
              <a:headEnd/>
              <a:tailEnd/>
            </a:ln>
          </p:spPr>
          <p:txBody>
            <a:bodyPr wrap="none" anchor="ctr"/>
            <a:lstStyle/>
            <a:p>
              <a:r>
                <a:rPr lang="en-US" sz="1600" dirty="0">
                  <a:solidFill>
                    <a:schemeClr val="bg1"/>
                  </a:solidFill>
                  <a:latin typeface="Times New Roman" panose="02020603050405020304" pitchFamily="18" charset="0"/>
                </a:rPr>
                <a:t>025-612-0001</a:t>
              </a:r>
            </a:p>
          </p:txBody>
        </p:sp>
        <p:sp>
          <p:nvSpPr>
            <p:cNvPr id="14367" name="Line 28"/>
            <p:cNvSpPr>
              <a:spLocks noChangeShapeType="1"/>
            </p:cNvSpPr>
            <p:nvPr/>
          </p:nvSpPr>
          <p:spPr bwMode="auto">
            <a:xfrm>
              <a:off x="3092" y="1824"/>
              <a:ext cx="268" cy="0"/>
            </a:xfrm>
            <a:prstGeom prst="line">
              <a:avLst/>
            </a:prstGeom>
            <a:noFill/>
            <a:ln w="1905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Times New Roman" panose="02020603050405020304" pitchFamily="18" charset="0"/>
              </a:endParaRPr>
            </a:p>
          </p:txBody>
        </p:sp>
        <p:sp>
          <p:nvSpPr>
            <p:cNvPr id="14368" name="Line 29"/>
            <p:cNvSpPr>
              <a:spLocks noChangeShapeType="1"/>
            </p:cNvSpPr>
            <p:nvPr/>
          </p:nvSpPr>
          <p:spPr bwMode="auto">
            <a:xfrm>
              <a:off x="3072" y="2016"/>
              <a:ext cx="268" cy="0"/>
            </a:xfrm>
            <a:prstGeom prst="line">
              <a:avLst/>
            </a:prstGeom>
            <a:noFill/>
            <a:ln w="1905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Times New Roman" panose="02020603050405020304" pitchFamily="18" charset="0"/>
              </a:endParaRPr>
            </a:p>
          </p:txBody>
        </p:sp>
      </p:grpSp>
      <p:sp>
        <p:nvSpPr>
          <p:cNvPr id="14343" name="Date Placeholder 31"/>
          <p:cNvSpPr>
            <a:spLocks noGrp="1"/>
          </p:cNvSpPr>
          <p:nvPr>
            <p:ph type="dt" sz="quarter" idx="10"/>
          </p:nvPr>
        </p:nvSpPr>
        <p:spPr>
          <a:xfrm>
            <a:off x="9197684" y="6294437"/>
            <a:ext cx="2844799"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dirty="0">
                <a:latin typeface="Times New Roman" panose="02020603050405020304" pitchFamily="18" charset="0"/>
              </a:rPr>
              <a:t>© 2014 Goodrich, </a:t>
            </a:r>
            <a:r>
              <a:rPr lang="en-US" sz="1400" dirty="0" err="1">
                <a:latin typeface="Times New Roman" panose="02020603050405020304" pitchFamily="18" charset="0"/>
              </a:rPr>
              <a:t>Tamassia</a:t>
            </a:r>
            <a:r>
              <a:rPr lang="en-US" sz="1400" dirty="0">
                <a:latin typeface="Times New Roman" panose="02020603050405020304" pitchFamily="18" charset="0"/>
              </a:rPr>
              <a:t>, </a:t>
            </a:r>
            <a:r>
              <a:rPr lang="en-US" sz="1400" dirty="0" err="1">
                <a:latin typeface="Times New Roman" panose="02020603050405020304" pitchFamily="18" charset="0"/>
              </a:rPr>
              <a:t>Godlwasser</a:t>
            </a:r>
            <a:endParaRPr lang="en-US" sz="1400" dirty="0">
              <a:latin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F932D4-799B-423D-B03D-E80043D662A1}"/>
              </a:ext>
            </a:extLst>
          </p:cNvPr>
          <p:cNvSpPr>
            <a:spLocks noGrp="1"/>
          </p:cNvSpPr>
          <p:nvPr>
            <p:ph idx="1"/>
          </p:nvPr>
        </p:nvSpPr>
        <p:spPr>
          <a:xfrm>
            <a:off x="375978" y="1983702"/>
            <a:ext cx="8194819" cy="4014128"/>
          </a:xfrm>
        </p:spPr>
        <p:txBody>
          <a:bodyPr anchor="t" anchorCtr="0">
            <a:noAutofit/>
          </a:bodyPr>
          <a:lstStyle/>
          <a:p>
            <a:pPr>
              <a:lnSpc>
                <a:spcPct val="100000"/>
              </a:lnSpc>
              <a:spcBef>
                <a:spcPts val="600"/>
              </a:spcBef>
              <a:spcAft>
                <a:spcPts val="600"/>
              </a:spcAft>
            </a:pPr>
            <a:r>
              <a:rPr lang="en-US" sz="3200" dirty="0">
                <a:latin typeface="Times New Roman" panose="02020603050405020304" pitchFamily="18" charset="0"/>
                <a:cs typeface="Times New Roman" panose="02020603050405020304" pitchFamily="18" charset="0"/>
              </a:rPr>
              <a:t>If you want to look people up by last name, you could have a hash table like this.</a:t>
            </a:r>
          </a:p>
          <a:p>
            <a:pPr>
              <a:lnSpc>
                <a:spcPct val="100000"/>
              </a:lnSpc>
              <a:spcBef>
                <a:spcPts val="600"/>
              </a:spcBef>
              <a:spcAft>
                <a:spcPts val="600"/>
              </a:spcAft>
            </a:pPr>
            <a:endParaRPr lang="en-US" sz="3200" dirty="0">
              <a:latin typeface="Times New Roman" panose="02020603050405020304" pitchFamily="18" charset="0"/>
              <a:cs typeface="Times New Roman" panose="02020603050405020304" pitchFamily="18" charset="0"/>
            </a:endParaRPr>
          </a:p>
          <a:p>
            <a:pPr>
              <a:lnSpc>
                <a:spcPct val="100000"/>
              </a:lnSpc>
              <a:spcBef>
                <a:spcPts val="600"/>
              </a:spcBef>
              <a:spcAft>
                <a:spcPts val="600"/>
              </a:spcAft>
            </a:pPr>
            <a:r>
              <a:rPr lang="en-US" sz="3200" dirty="0">
                <a:latin typeface="Times New Roman" panose="02020603050405020304" pitchFamily="18" charset="0"/>
                <a:cs typeface="Times New Roman" panose="02020603050405020304" pitchFamily="18" charset="0"/>
              </a:rPr>
              <a:t>It’s possible to hash a string and come up with an integer you can use as an index into the hash table ex. ‘A’ in ascii is 65, so if we take the first letter of last name – 65, we get a number that can be used as the position in the hash table.</a:t>
            </a:r>
          </a:p>
        </p:txBody>
      </p:sp>
      <p:sp>
        <p:nvSpPr>
          <p:cNvPr id="3" name="Title 2">
            <a:extLst>
              <a:ext uri="{FF2B5EF4-FFF2-40B4-BE49-F238E27FC236}">
                <a16:creationId xmlns:a16="http://schemas.microsoft.com/office/drawing/2014/main" id="{EC7DA9E1-4607-4F21-8927-B9C8A2C88A37}"/>
              </a:ext>
            </a:extLst>
          </p:cNvPr>
          <p:cNvSpPr>
            <a:spLocks noGrp="1"/>
          </p:cNvSpPr>
          <p:nvPr>
            <p:ph type="title"/>
          </p:nvPr>
        </p:nvSpPr>
        <p:spPr>
          <a:xfrm>
            <a:off x="513459" y="1091315"/>
            <a:ext cx="7665341" cy="693113"/>
          </a:xfrm>
        </p:spPr>
        <p:txBody>
          <a:bodyPr>
            <a:noAutofit/>
          </a:bodyPr>
          <a:lstStyle/>
          <a:p>
            <a:r>
              <a:rPr lang="en-US" sz="4800" dirty="0"/>
              <a:t>Example</a:t>
            </a:r>
          </a:p>
        </p:txBody>
      </p:sp>
      <p:grpSp>
        <p:nvGrpSpPr>
          <p:cNvPr id="4" name="the hash table">
            <a:extLst>
              <a:ext uri="{FF2B5EF4-FFF2-40B4-BE49-F238E27FC236}">
                <a16:creationId xmlns:a16="http://schemas.microsoft.com/office/drawing/2014/main" id="{F125BD8F-396E-4E81-8768-E1AC4767A5E3}"/>
              </a:ext>
            </a:extLst>
          </p:cNvPr>
          <p:cNvGrpSpPr/>
          <p:nvPr/>
        </p:nvGrpSpPr>
        <p:grpSpPr>
          <a:xfrm>
            <a:off x="8570797" y="2138608"/>
            <a:ext cx="1987503" cy="4413477"/>
            <a:chOff x="9230061" y="1271505"/>
            <a:chExt cx="1987503" cy="4413477"/>
          </a:xfrm>
        </p:grpSpPr>
        <p:grpSp>
          <p:nvGrpSpPr>
            <p:cNvPr id="5" name="Group 4">
              <a:extLst>
                <a:ext uri="{FF2B5EF4-FFF2-40B4-BE49-F238E27FC236}">
                  <a16:creationId xmlns:a16="http://schemas.microsoft.com/office/drawing/2014/main" id="{AB4801ED-B1B7-4DBC-B43B-E103705110E7}"/>
                </a:ext>
              </a:extLst>
            </p:cNvPr>
            <p:cNvGrpSpPr/>
            <p:nvPr/>
          </p:nvGrpSpPr>
          <p:grpSpPr>
            <a:xfrm>
              <a:off x="10132291" y="1302327"/>
              <a:ext cx="1085273" cy="4382655"/>
              <a:chOff x="10497128" y="1302327"/>
              <a:chExt cx="720436" cy="4382655"/>
            </a:xfrm>
          </p:grpSpPr>
          <p:grpSp>
            <p:nvGrpSpPr>
              <p:cNvPr id="7" name="Group 6">
                <a:extLst>
                  <a:ext uri="{FF2B5EF4-FFF2-40B4-BE49-F238E27FC236}">
                    <a16:creationId xmlns:a16="http://schemas.microsoft.com/office/drawing/2014/main" id="{3DADBFAF-25CE-4267-9832-98C2EC131C77}"/>
                  </a:ext>
                </a:extLst>
              </p:cNvPr>
              <p:cNvGrpSpPr/>
              <p:nvPr/>
            </p:nvGrpSpPr>
            <p:grpSpPr>
              <a:xfrm>
                <a:off x="10497128" y="1302327"/>
                <a:ext cx="720436" cy="4382655"/>
                <a:chOff x="10497128" y="1302327"/>
                <a:chExt cx="720436" cy="4382655"/>
              </a:xfrm>
            </p:grpSpPr>
            <p:cxnSp>
              <p:nvCxnSpPr>
                <p:cNvPr id="10" name="Straight Connector 9">
                  <a:extLst>
                    <a:ext uri="{FF2B5EF4-FFF2-40B4-BE49-F238E27FC236}">
                      <a16:creationId xmlns:a16="http://schemas.microsoft.com/office/drawing/2014/main" id="{F3F10E07-4476-4647-9E95-92E5C23F5A68}"/>
                    </a:ext>
                  </a:extLst>
                </p:cNvPr>
                <p:cNvCxnSpPr>
                  <a:cxnSpLocks/>
                </p:cNvCxnSpPr>
                <p:nvPr/>
              </p:nvCxnSpPr>
              <p:spPr>
                <a:xfrm>
                  <a:off x="10497128" y="130232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96DB8AB-FB25-421D-9E3E-30F5E5F902D5}"/>
                    </a:ext>
                  </a:extLst>
                </p:cNvPr>
                <p:cNvCxnSpPr>
                  <a:cxnSpLocks/>
                </p:cNvCxnSpPr>
                <p:nvPr/>
              </p:nvCxnSpPr>
              <p:spPr>
                <a:xfrm>
                  <a:off x="10497128" y="163945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D1EEE34-4189-4F95-B366-5177963065DD}"/>
                    </a:ext>
                  </a:extLst>
                </p:cNvPr>
                <p:cNvCxnSpPr>
                  <a:cxnSpLocks/>
                </p:cNvCxnSpPr>
                <p:nvPr/>
              </p:nvCxnSpPr>
              <p:spPr>
                <a:xfrm>
                  <a:off x="10497128" y="197658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929C7FC-7018-49E3-A024-CAFAB1E23FB0}"/>
                    </a:ext>
                  </a:extLst>
                </p:cNvPr>
                <p:cNvCxnSpPr>
                  <a:cxnSpLocks/>
                </p:cNvCxnSpPr>
                <p:nvPr/>
              </p:nvCxnSpPr>
              <p:spPr>
                <a:xfrm>
                  <a:off x="10497128" y="2313708"/>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B112ABC-A376-426F-A739-BFA76D306809}"/>
                    </a:ext>
                  </a:extLst>
                </p:cNvPr>
                <p:cNvCxnSpPr>
                  <a:cxnSpLocks/>
                </p:cNvCxnSpPr>
                <p:nvPr/>
              </p:nvCxnSpPr>
              <p:spPr>
                <a:xfrm>
                  <a:off x="10497128" y="2650835"/>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C986D7-A259-421A-8238-2555B007DF43}"/>
                    </a:ext>
                  </a:extLst>
                </p:cNvPr>
                <p:cNvCxnSpPr>
                  <a:cxnSpLocks/>
                </p:cNvCxnSpPr>
                <p:nvPr/>
              </p:nvCxnSpPr>
              <p:spPr>
                <a:xfrm>
                  <a:off x="10497128" y="298796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D834D52-3819-49F1-8BE4-EB971FFA4844}"/>
                    </a:ext>
                  </a:extLst>
                </p:cNvPr>
                <p:cNvCxnSpPr>
                  <a:cxnSpLocks/>
                </p:cNvCxnSpPr>
                <p:nvPr/>
              </p:nvCxnSpPr>
              <p:spPr>
                <a:xfrm>
                  <a:off x="10497128" y="3325089"/>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7A39376-CA93-4C95-AB74-71E5C8978E33}"/>
                    </a:ext>
                  </a:extLst>
                </p:cNvPr>
                <p:cNvCxnSpPr>
                  <a:cxnSpLocks/>
                </p:cNvCxnSpPr>
                <p:nvPr/>
              </p:nvCxnSpPr>
              <p:spPr>
                <a:xfrm>
                  <a:off x="10497128" y="3662216"/>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B2AC669-2798-4E44-862E-05744D36B99F}"/>
                    </a:ext>
                  </a:extLst>
                </p:cNvPr>
                <p:cNvCxnSpPr>
                  <a:cxnSpLocks/>
                </p:cNvCxnSpPr>
                <p:nvPr/>
              </p:nvCxnSpPr>
              <p:spPr>
                <a:xfrm>
                  <a:off x="10497128" y="3999343"/>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C490D53-7C4F-46C7-850F-FF73B79DBA3E}"/>
                    </a:ext>
                  </a:extLst>
                </p:cNvPr>
                <p:cNvCxnSpPr>
                  <a:cxnSpLocks/>
                </p:cNvCxnSpPr>
                <p:nvPr/>
              </p:nvCxnSpPr>
              <p:spPr>
                <a:xfrm>
                  <a:off x="10497128" y="4336470"/>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2974001-DA62-42B6-B246-81732B919461}"/>
                    </a:ext>
                  </a:extLst>
                </p:cNvPr>
                <p:cNvCxnSpPr>
                  <a:cxnSpLocks/>
                </p:cNvCxnSpPr>
                <p:nvPr/>
              </p:nvCxnSpPr>
              <p:spPr>
                <a:xfrm>
                  <a:off x="10497128" y="467359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1AA9583-C09F-4FDD-8425-D4892CBAAF78}"/>
                    </a:ext>
                  </a:extLst>
                </p:cNvPr>
                <p:cNvCxnSpPr>
                  <a:cxnSpLocks/>
                </p:cNvCxnSpPr>
                <p:nvPr/>
              </p:nvCxnSpPr>
              <p:spPr>
                <a:xfrm>
                  <a:off x="10497128" y="501072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9700755-69BE-4498-8268-EE34C9A9DECC}"/>
                    </a:ext>
                  </a:extLst>
                </p:cNvPr>
                <p:cNvCxnSpPr>
                  <a:cxnSpLocks/>
                </p:cNvCxnSpPr>
                <p:nvPr/>
              </p:nvCxnSpPr>
              <p:spPr>
                <a:xfrm>
                  <a:off x="10497128" y="534785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345D2FE-639D-4AE9-9B04-20F3A900E898}"/>
                    </a:ext>
                  </a:extLst>
                </p:cNvPr>
                <p:cNvCxnSpPr>
                  <a:cxnSpLocks/>
                </p:cNvCxnSpPr>
                <p:nvPr/>
              </p:nvCxnSpPr>
              <p:spPr>
                <a:xfrm>
                  <a:off x="10497128" y="568498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8" name="Straight Connector 7">
                <a:extLst>
                  <a:ext uri="{FF2B5EF4-FFF2-40B4-BE49-F238E27FC236}">
                    <a16:creationId xmlns:a16="http://schemas.microsoft.com/office/drawing/2014/main" id="{9FC619EA-7B3F-42C5-B098-8A25BE748C2D}"/>
                  </a:ext>
                </a:extLst>
              </p:cNvPr>
              <p:cNvCxnSpPr>
                <a:cxnSpLocks/>
              </p:cNvCxnSpPr>
              <p:nvPr/>
            </p:nvCxnSpPr>
            <p:spPr>
              <a:xfrm>
                <a:off x="10497128"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94A05E1-6F6C-4B39-AE6B-A95255BD9D40}"/>
                  </a:ext>
                </a:extLst>
              </p:cNvPr>
              <p:cNvCxnSpPr>
                <a:cxnSpLocks/>
              </p:cNvCxnSpPr>
              <p:nvPr/>
            </p:nvCxnSpPr>
            <p:spPr>
              <a:xfrm>
                <a:off x="11217564"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DA1EF364-D951-4A61-AD1F-AE5FDB0ECEDB}"/>
                </a:ext>
              </a:extLst>
            </p:cNvPr>
            <p:cNvSpPr txBox="1"/>
            <p:nvPr/>
          </p:nvSpPr>
          <p:spPr>
            <a:xfrm>
              <a:off x="9230061" y="1271505"/>
              <a:ext cx="982480" cy="4405052"/>
            </a:xfrm>
            <a:prstGeom prst="rect">
              <a:avLst/>
            </a:prstGeom>
            <a:noFill/>
          </p:spPr>
          <p:txBody>
            <a:bodyPr wrap="square" rtlCol="0">
              <a:spAutoFit/>
            </a:bodyPr>
            <a:lstStyle/>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[0]</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[2]</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[3]</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[4]</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[5]</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[6]</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[7]</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[8]</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[9]</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[10]</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[11]</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[12]</a:t>
              </a:r>
            </a:p>
          </p:txBody>
        </p:sp>
      </p:grpSp>
      <p:sp>
        <p:nvSpPr>
          <p:cNvPr id="24" name="TextBox 23">
            <a:extLst>
              <a:ext uri="{FF2B5EF4-FFF2-40B4-BE49-F238E27FC236}">
                <a16:creationId xmlns:a16="http://schemas.microsoft.com/office/drawing/2014/main" id="{76D8E8ED-CD64-4C57-B3D1-A6ABE778277B}"/>
              </a:ext>
            </a:extLst>
          </p:cNvPr>
          <p:cNvSpPr txBox="1"/>
          <p:nvPr/>
        </p:nvSpPr>
        <p:spPr>
          <a:xfrm>
            <a:off x="9523087" y="2112616"/>
            <a:ext cx="1063941"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Adams</a:t>
            </a:r>
          </a:p>
        </p:txBody>
      </p:sp>
      <p:sp>
        <p:nvSpPr>
          <p:cNvPr id="25" name="TextBox 24">
            <a:extLst>
              <a:ext uri="{FF2B5EF4-FFF2-40B4-BE49-F238E27FC236}">
                <a16:creationId xmlns:a16="http://schemas.microsoft.com/office/drawing/2014/main" id="{25EFB53E-E1A6-4D17-835E-3CC6556E0E7C}"/>
              </a:ext>
            </a:extLst>
          </p:cNvPr>
          <p:cNvSpPr txBox="1"/>
          <p:nvPr/>
        </p:nvSpPr>
        <p:spPr>
          <a:xfrm>
            <a:off x="9574603" y="3125838"/>
            <a:ext cx="1063939"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Davis</a:t>
            </a:r>
          </a:p>
        </p:txBody>
      </p:sp>
      <p:sp>
        <p:nvSpPr>
          <p:cNvPr id="26" name="TextBox 25">
            <a:extLst>
              <a:ext uri="{FF2B5EF4-FFF2-40B4-BE49-F238E27FC236}">
                <a16:creationId xmlns:a16="http://schemas.microsoft.com/office/drawing/2014/main" id="{B6C41900-D820-4BFA-A949-8F3A46EE5A1A}"/>
              </a:ext>
            </a:extLst>
          </p:cNvPr>
          <p:cNvSpPr txBox="1"/>
          <p:nvPr/>
        </p:nvSpPr>
        <p:spPr>
          <a:xfrm>
            <a:off x="9574603" y="5141672"/>
            <a:ext cx="1063937"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Jones</a:t>
            </a:r>
          </a:p>
        </p:txBody>
      </p:sp>
    </p:spTree>
    <p:extLst>
      <p:ext uri="{BB962C8B-B14F-4D97-AF65-F5344CB8AC3E}">
        <p14:creationId xmlns:p14="http://schemas.microsoft.com/office/powerpoint/2010/main" val="2375999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F932D4-799B-423D-B03D-E80043D662A1}"/>
              </a:ext>
            </a:extLst>
          </p:cNvPr>
          <p:cNvSpPr>
            <a:spLocks noGrp="1"/>
          </p:cNvSpPr>
          <p:nvPr>
            <p:ph idx="1"/>
          </p:nvPr>
        </p:nvSpPr>
        <p:spPr>
          <a:xfrm>
            <a:off x="192937" y="1937683"/>
            <a:ext cx="8377860" cy="4014128"/>
          </a:xfrm>
        </p:spPr>
        <p:txBody>
          <a:bodyPr anchor="t" anchorCtr="0">
            <a:noAutofit/>
          </a:bodyPr>
          <a:lstStyle/>
          <a:p>
            <a:pPr marL="0" indent="0">
              <a:lnSpc>
                <a:spcPct val="120000"/>
              </a:lnSpc>
              <a:spcBef>
                <a:spcPts val="600"/>
              </a:spcBef>
              <a:spcAft>
                <a:spcPts val="600"/>
              </a:spcAft>
              <a:buNone/>
            </a:pPr>
            <a:r>
              <a:rPr lang="en-US" sz="2800" dirty="0"/>
              <a:t>If we need to insert another name like: Apple, there will be a collision. </a:t>
            </a:r>
          </a:p>
          <a:p>
            <a:pPr marL="0" indent="0">
              <a:lnSpc>
                <a:spcPct val="120000"/>
              </a:lnSpc>
              <a:spcBef>
                <a:spcPts val="600"/>
              </a:spcBef>
              <a:spcAft>
                <a:spcPts val="600"/>
              </a:spcAft>
              <a:buNone/>
            </a:pPr>
            <a:endParaRPr lang="en-US" sz="2800" dirty="0"/>
          </a:p>
          <a:p>
            <a:pPr marL="0" indent="0">
              <a:lnSpc>
                <a:spcPct val="120000"/>
              </a:lnSpc>
              <a:spcBef>
                <a:spcPts val="600"/>
              </a:spcBef>
              <a:spcAft>
                <a:spcPts val="600"/>
              </a:spcAft>
              <a:buNone/>
            </a:pPr>
            <a:r>
              <a:rPr lang="en-US" sz="2800" dirty="0"/>
              <a:t>Ideally you want a hash function that minimizes (and in some cases even eliminates!) collisions</a:t>
            </a:r>
            <a:br>
              <a:rPr lang="en-US" sz="2800" dirty="0"/>
            </a:br>
            <a:br>
              <a:rPr lang="en-US" sz="2800" dirty="0"/>
            </a:br>
            <a:r>
              <a:rPr lang="en-US" sz="2800" dirty="0"/>
              <a:t>You need a collision resolution strategy, for use when collisions can’t be completely prevented</a:t>
            </a:r>
          </a:p>
        </p:txBody>
      </p:sp>
      <p:sp>
        <p:nvSpPr>
          <p:cNvPr id="3" name="Title 2">
            <a:extLst>
              <a:ext uri="{FF2B5EF4-FFF2-40B4-BE49-F238E27FC236}">
                <a16:creationId xmlns:a16="http://schemas.microsoft.com/office/drawing/2014/main" id="{EC7DA9E1-4607-4F21-8927-B9C8A2C88A37}"/>
              </a:ext>
            </a:extLst>
          </p:cNvPr>
          <p:cNvSpPr>
            <a:spLocks noGrp="1"/>
          </p:cNvSpPr>
          <p:nvPr>
            <p:ph type="title"/>
          </p:nvPr>
        </p:nvSpPr>
        <p:spPr>
          <a:xfrm>
            <a:off x="627469" y="912180"/>
            <a:ext cx="12096307" cy="693113"/>
          </a:xfrm>
        </p:spPr>
        <p:txBody>
          <a:bodyPr>
            <a:noAutofit/>
          </a:bodyPr>
          <a:lstStyle/>
          <a:p>
            <a:r>
              <a:rPr lang="en-US" dirty="0">
                <a:latin typeface="Times New Roman" panose="02020603050405020304" pitchFamily="18" charset="0"/>
                <a:cs typeface="Times New Roman" panose="02020603050405020304" pitchFamily="18" charset="0"/>
              </a:rPr>
              <a:t>Collisions: The Reason We Usually Can’t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Get Perfect O(1) Performance</a:t>
            </a:r>
          </a:p>
        </p:txBody>
      </p:sp>
      <p:grpSp>
        <p:nvGrpSpPr>
          <p:cNvPr id="4" name="the hash table">
            <a:extLst>
              <a:ext uri="{FF2B5EF4-FFF2-40B4-BE49-F238E27FC236}">
                <a16:creationId xmlns:a16="http://schemas.microsoft.com/office/drawing/2014/main" id="{F125BD8F-396E-4E81-8768-E1AC4767A5E3}"/>
              </a:ext>
            </a:extLst>
          </p:cNvPr>
          <p:cNvGrpSpPr/>
          <p:nvPr/>
        </p:nvGrpSpPr>
        <p:grpSpPr>
          <a:xfrm>
            <a:off x="8570797" y="2138608"/>
            <a:ext cx="1987503" cy="4413477"/>
            <a:chOff x="9230061" y="1271505"/>
            <a:chExt cx="1987503" cy="4413477"/>
          </a:xfrm>
        </p:grpSpPr>
        <p:grpSp>
          <p:nvGrpSpPr>
            <p:cNvPr id="5" name="Group 4">
              <a:extLst>
                <a:ext uri="{FF2B5EF4-FFF2-40B4-BE49-F238E27FC236}">
                  <a16:creationId xmlns:a16="http://schemas.microsoft.com/office/drawing/2014/main" id="{AB4801ED-B1B7-4DBC-B43B-E103705110E7}"/>
                </a:ext>
              </a:extLst>
            </p:cNvPr>
            <p:cNvGrpSpPr/>
            <p:nvPr/>
          </p:nvGrpSpPr>
          <p:grpSpPr>
            <a:xfrm>
              <a:off x="10132291" y="1302327"/>
              <a:ext cx="1085273" cy="4382655"/>
              <a:chOff x="10497128" y="1302327"/>
              <a:chExt cx="720436" cy="4382655"/>
            </a:xfrm>
          </p:grpSpPr>
          <p:grpSp>
            <p:nvGrpSpPr>
              <p:cNvPr id="7" name="Group 6">
                <a:extLst>
                  <a:ext uri="{FF2B5EF4-FFF2-40B4-BE49-F238E27FC236}">
                    <a16:creationId xmlns:a16="http://schemas.microsoft.com/office/drawing/2014/main" id="{3DADBFAF-25CE-4267-9832-98C2EC131C77}"/>
                  </a:ext>
                </a:extLst>
              </p:cNvPr>
              <p:cNvGrpSpPr/>
              <p:nvPr/>
            </p:nvGrpSpPr>
            <p:grpSpPr>
              <a:xfrm>
                <a:off x="10497128" y="1302327"/>
                <a:ext cx="720436" cy="4382655"/>
                <a:chOff x="10497128" y="1302327"/>
                <a:chExt cx="720436" cy="4382655"/>
              </a:xfrm>
            </p:grpSpPr>
            <p:cxnSp>
              <p:nvCxnSpPr>
                <p:cNvPr id="10" name="Straight Connector 9">
                  <a:extLst>
                    <a:ext uri="{FF2B5EF4-FFF2-40B4-BE49-F238E27FC236}">
                      <a16:creationId xmlns:a16="http://schemas.microsoft.com/office/drawing/2014/main" id="{F3F10E07-4476-4647-9E95-92E5C23F5A68}"/>
                    </a:ext>
                  </a:extLst>
                </p:cNvPr>
                <p:cNvCxnSpPr>
                  <a:cxnSpLocks/>
                </p:cNvCxnSpPr>
                <p:nvPr/>
              </p:nvCxnSpPr>
              <p:spPr>
                <a:xfrm>
                  <a:off x="10497128" y="130232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96DB8AB-FB25-421D-9E3E-30F5E5F902D5}"/>
                    </a:ext>
                  </a:extLst>
                </p:cNvPr>
                <p:cNvCxnSpPr>
                  <a:cxnSpLocks/>
                </p:cNvCxnSpPr>
                <p:nvPr/>
              </p:nvCxnSpPr>
              <p:spPr>
                <a:xfrm>
                  <a:off x="10497128" y="163945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D1EEE34-4189-4F95-B366-5177963065DD}"/>
                    </a:ext>
                  </a:extLst>
                </p:cNvPr>
                <p:cNvCxnSpPr>
                  <a:cxnSpLocks/>
                </p:cNvCxnSpPr>
                <p:nvPr/>
              </p:nvCxnSpPr>
              <p:spPr>
                <a:xfrm>
                  <a:off x="10497128" y="197658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929C7FC-7018-49E3-A024-CAFAB1E23FB0}"/>
                    </a:ext>
                  </a:extLst>
                </p:cNvPr>
                <p:cNvCxnSpPr>
                  <a:cxnSpLocks/>
                </p:cNvCxnSpPr>
                <p:nvPr/>
              </p:nvCxnSpPr>
              <p:spPr>
                <a:xfrm>
                  <a:off x="10497128" y="2313708"/>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B112ABC-A376-426F-A739-BFA76D306809}"/>
                    </a:ext>
                  </a:extLst>
                </p:cNvPr>
                <p:cNvCxnSpPr>
                  <a:cxnSpLocks/>
                </p:cNvCxnSpPr>
                <p:nvPr/>
              </p:nvCxnSpPr>
              <p:spPr>
                <a:xfrm>
                  <a:off x="10497128" y="2650835"/>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C986D7-A259-421A-8238-2555B007DF43}"/>
                    </a:ext>
                  </a:extLst>
                </p:cNvPr>
                <p:cNvCxnSpPr>
                  <a:cxnSpLocks/>
                </p:cNvCxnSpPr>
                <p:nvPr/>
              </p:nvCxnSpPr>
              <p:spPr>
                <a:xfrm>
                  <a:off x="10497128" y="298796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D834D52-3819-49F1-8BE4-EB971FFA4844}"/>
                    </a:ext>
                  </a:extLst>
                </p:cNvPr>
                <p:cNvCxnSpPr>
                  <a:cxnSpLocks/>
                </p:cNvCxnSpPr>
                <p:nvPr/>
              </p:nvCxnSpPr>
              <p:spPr>
                <a:xfrm>
                  <a:off x="10497128" y="3325089"/>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7A39376-CA93-4C95-AB74-71E5C8978E33}"/>
                    </a:ext>
                  </a:extLst>
                </p:cNvPr>
                <p:cNvCxnSpPr>
                  <a:cxnSpLocks/>
                </p:cNvCxnSpPr>
                <p:nvPr/>
              </p:nvCxnSpPr>
              <p:spPr>
                <a:xfrm>
                  <a:off x="10497128" y="3662216"/>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B2AC669-2798-4E44-862E-05744D36B99F}"/>
                    </a:ext>
                  </a:extLst>
                </p:cNvPr>
                <p:cNvCxnSpPr>
                  <a:cxnSpLocks/>
                </p:cNvCxnSpPr>
                <p:nvPr/>
              </p:nvCxnSpPr>
              <p:spPr>
                <a:xfrm>
                  <a:off x="10497128" y="3999343"/>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C490D53-7C4F-46C7-850F-FF73B79DBA3E}"/>
                    </a:ext>
                  </a:extLst>
                </p:cNvPr>
                <p:cNvCxnSpPr>
                  <a:cxnSpLocks/>
                </p:cNvCxnSpPr>
                <p:nvPr/>
              </p:nvCxnSpPr>
              <p:spPr>
                <a:xfrm>
                  <a:off x="10497128" y="4336470"/>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2974001-DA62-42B6-B246-81732B919461}"/>
                    </a:ext>
                  </a:extLst>
                </p:cNvPr>
                <p:cNvCxnSpPr>
                  <a:cxnSpLocks/>
                </p:cNvCxnSpPr>
                <p:nvPr/>
              </p:nvCxnSpPr>
              <p:spPr>
                <a:xfrm>
                  <a:off x="10497128" y="467359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1AA9583-C09F-4FDD-8425-D4892CBAAF78}"/>
                    </a:ext>
                  </a:extLst>
                </p:cNvPr>
                <p:cNvCxnSpPr>
                  <a:cxnSpLocks/>
                </p:cNvCxnSpPr>
                <p:nvPr/>
              </p:nvCxnSpPr>
              <p:spPr>
                <a:xfrm>
                  <a:off x="10497128" y="501072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9700755-69BE-4498-8268-EE34C9A9DECC}"/>
                    </a:ext>
                  </a:extLst>
                </p:cNvPr>
                <p:cNvCxnSpPr>
                  <a:cxnSpLocks/>
                </p:cNvCxnSpPr>
                <p:nvPr/>
              </p:nvCxnSpPr>
              <p:spPr>
                <a:xfrm>
                  <a:off x="10497128" y="534785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345D2FE-639D-4AE9-9B04-20F3A900E898}"/>
                    </a:ext>
                  </a:extLst>
                </p:cNvPr>
                <p:cNvCxnSpPr>
                  <a:cxnSpLocks/>
                </p:cNvCxnSpPr>
                <p:nvPr/>
              </p:nvCxnSpPr>
              <p:spPr>
                <a:xfrm>
                  <a:off x="10497128" y="568498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8" name="Straight Connector 7">
                <a:extLst>
                  <a:ext uri="{FF2B5EF4-FFF2-40B4-BE49-F238E27FC236}">
                    <a16:creationId xmlns:a16="http://schemas.microsoft.com/office/drawing/2014/main" id="{9FC619EA-7B3F-42C5-B098-8A25BE748C2D}"/>
                  </a:ext>
                </a:extLst>
              </p:cNvPr>
              <p:cNvCxnSpPr>
                <a:cxnSpLocks/>
              </p:cNvCxnSpPr>
              <p:nvPr/>
            </p:nvCxnSpPr>
            <p:spPr>
              <a:xfrm>
                <a:off x="10497128"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94A05E1-6F6C-4B39-AE6B-A95255BD9D40}"/>
                  </a:ext>
                </a:extLst>
              </p:cNvPr>
              <p:cNvCxnSpPr>
                <a:cxnSpLocks/>
              </p:cNvCxnSpPr>
              <p:nvPr/>
            </p:nvCxnSpPr>
            <p:spPr>
              <a:xfrm>
                <a:off x="11217564"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DA1EF364-D951-4A61-AD1F-AE5FDB0ECEDB}"/>
                </a:ext>
              </a:extLst>
            </p:cNvPr>
            <p:cNvSpPr txBox="1"/>
            <p:nvPr/>
          </p:nvSpPr>
          <p:spPr>
            <a:xfrm>
              <a:off x="9230061" y="1271505"/>
              <a:ext cx="982480" cy="4405052"/>
            </a:xfrm>
            <a:prstGeom prst="rect">
              <a:avLst/>
            </a:prstGeom>
            <a:noFill/>
          </p:spPr>
          <p:txBody>
            <a:bodyPr wrap="square" rtlCol="0">
              <a:spAutoFit/>
            </a:bodyPr>
            <a:lstStyle/>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[0]</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[2]</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[3]</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[4]</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[5]</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[6]</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[7]</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[8]</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[9]</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[10]</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[11]</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[12]</a:t>
              </a:r>
            </a:p>
          </p:txBody>
        </p:sp>
      </p:grpSp>
      <p:sp>
        <p:nvSpPr>
          <p:cNvPr id="24" name="TextBox 23">
            <a:extLst>
              <a:ext uri="{FF2B5EF4-FFF2-40B4-BE49-F238E27FC236}">
                <a16:creationId xmlns:a16="http://schemas.microsoft.com/office/drawing/2014/main" id="{76D8E8ED-CD64-4C57-B3D1-A6ABE778277B}"/>
              </a:ext>
            </a:extLst>
          </p:cNvPr>
          <p:cNvSpPr txBox="1"/>
          <p:nvPr/>
        </p:nvSpPr>
        <p:spPr>
          <a:xfrm>
            <a:off x="9523087" y="2112616"/>
            <a:ext cx="1063941"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Adams</a:t>
            </a:r>
          </a:p>
        </p:txBody>
      </p:sp>
      <p:sp>
        <p:nvSpPr>
          <p:cNvPr id="25" name="TextBox 24">
            <a:extLst>
              <a:ext uri="{FF2B5EF4-FFF2-40B4-BE49-F238E27FC236}">
                <a16:creationId xmlns:a16="http://schemas.microsoft.com/office/drawing/2014/main" id="{25EFB53E-E1A6-4D17-835E-3CC6556E0E7C}"/>
              </a:ext>
            </a:extLst>
          </p:cNvPr>
          <p:cNvSpPr txBox="1"/>
          <p:nvPr/>
        </p:nvSpPr>
        <p:spPr>
          <a:xfrm>
            <a:off x="9574603" y="3125838"/>
            <a:ext cx="1063939"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Davis</a:t>
            </a:r>
          </a:p>
        </p:txBody>
      </p:sp>
      <p:sp>
        <p:nvSpPr>
          <p:cNvPr id="26" name="TextBox 25">
            <a:extLst>
              <a:ext uri="{FF2B5EF4-FFF2-40B4-BE49-F238E27FC236}">
                <a16:creationId xmlns:a16="http://schemas.microsoft.com/office/drawing/2014/main" id="{B6C41900-D820-4BFA-A949-8F3A46EE5A1A}"/>
              </a:ext>
            </a:extLst>
          </p:cNvPr>
          <p:cNvSpPr txBox="1"/>
          <p:nvPr/>
        </p:nvSpPr>
        <p:spPr>
          <a:xfrm>
            <a:off x="9574603" y="5141672"/>
            <a:ext cx="1063937"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Jones</a:t>
            </a:r>
          </a:p>
        </p:txBody>
      </p:sp>
      <p:sp>
        <p:nvSpPr>
          <p:cNvPr id="27" name="TextBox 26">
            <a:extLst>
              <a:ext uri="{FF2B5EF4-FFF2-40B4-BE49-F238E27FC236}">
                <a16:creationId xmlns:a16="http://schemas.microsoft.com/office/drawing/2014/main" id="{AE3696D4-B33E-100F-28D9-C2BF296C59B6}"/>
              </a:ext>
            </a:extLst>
          </p:cNvPr>
          <p:cNvSpPr txBox="1"/>
          <p:nvPr/>
        </p:nvSpPr>
        <p:spPr>
          <a:xfrm>
            <a:off x="5953594" y="2719693"/>
            <a:ext cx="1444059" cy="584775"/>
          </a:xfrm>
          <a:prstGeom prst="rect">
            <a:avLst/>
          </a:prstGeom>
          <a:noFill/>
        </p:spPr>
        <p:txBody>
          <a:bodyPr wrap="square" rtlCol="0">
            <a:spAutoFit/>
          </a:bodyPr>
          <a:lstStyle/>
          <a:p>
            <a:r>
              <a:rPr lang="en-US" sz="3200" dirty="0">
                <a:solidFill>
                  <a:srgbClr val="002060"/>
                </a:solidFill>
                <a:latin typeface="Times New Roman" panose="02020603050405020304" pitchFamily="18" charset="0"/>
                <a:cs typeface="Times New Roman" panose="02020603050405020304" pitchFamily="18" charset="0"/>
              </a:rPr>
              <a:t>Apple</a:t>
            </a:r>
          </a:p>
        </p:txBody>
      </p:sp>
      <p:sp>
        <p:nvSpPr>
          <p:cNvPr id="28" name="Right Arrow 27">
            <a:extLst>
              <a:ext uri="{FF2B5EF4-FFF2-40B4-BE49-F238E27FC236}">
                <a16:creationId xmlns:a16="http://schemas.microsoft.com/office/drawing/2014/main" id="{535CA8FE-DBDE-AD01-71DA-8896D04CEABB}"/>
              </a:ext>
            </a:extLst>
          </p:cNvPr>
          <p:cNvSpPr/>
          <p:nvPr/>
        </p:nvSpPr>
        <p:spPr>
          <a:xfrm rot="20318539">
            <a:off x="7067115" y="2626286"/>
            <a:ext cx="1647941" cy="2065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spTree>
    <p:extLst>
      <p:ext uri="{BB962C8B-B14F-4D97-AF65-F5344CB8AC3E}">
        <p14:creationId xmlns:p14="http://schemas.microsoft.com/office/powerpoint/2010/main" val="3732837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098E3D-F269-4206-90A4-F15EF15795A4}"/>
              </a:ext>
            </a:extLst>
          </p:cNvPr>
          <p:cNvSpPr>
            <a:spLocks noGrp="1"/>
          </p:cNvSpPr>
          <p:nvPr>
            <p:ph idx="1"/>
          </p:nvPr>
        </p:nvSpPr>
        <p:spPr>
          <a:xfrm>
            <a:off x="499421" y="1957886"/>
            <a:ext cx="6961639" cy="4900113"/>
          </a:xfrm>
        </p:spPr>
        <p:txBody>
          <a:bodyPr>
            <a:normAutofit lnSpcReduction="10000"/>
          </a:bodyPr>
          <a:lstStyle/>
          <a:p>
            <a:pPr>
              <a:lnSpc>
                <a:spcPct val="100000"/>
              </a:lnSpc>
              <a:spcBef>
                <a:spcPts val="0"/>
              </a:spcBef>
              <a:spcAft>
                <a:spcPts val="600"/>
              </a:spcAft>
              <a:buFont typeface="Wingdings" pitchFamily="2" charset="2"/>
              <a:buChar char="Ø"/>
            </a:pPr>
            <a:r>
              <a:rPr lang="en-US" sz="2800" dirty="0"/>
              <a:t>With chaining, each element in the hash table is the start of a list of all the elements that have collided at that entry in the hash table</a:t>
            </a:r>
          </a:p>
          <a:p>
            <a:pPr>
              <a:lnSpc>
                <a:spcPct val="100000"/>
              </a:lnSpc>
              <a:spcBef>
                <a:spcPts val="0"/>
              </a:spcBef>
              <a:spcAft>
                <a:spcPts val="600"/>
              </a:spcAft>
              <a:buFont typeface="Wingdings" pitchFamily="2" charset="2"/>
              <a:buChar char="Ø"/>
            </a:pPr>
            <a:r>
              <a:rPr lang="en-US" sz="2800" dirty="0"/>
              <a:t>Advantage: Very simple, the logic for search, insertion, and removal is obvious, there are no hidden complications</a:t>
            </a:r>
          </a:p>
          <a:p>
            <a:pPr>
              <a:lnSpc>
                <a:spcPct val="100000"/>
              </a:lnSpc>
              <a:spcBef>
                <a:spcPts val="0"/>
              </a:spcBef>
              <a:spcAft>
                <a:spcPts val="600"/>
              </a:spcAft>
              <a:buFont typeface="Wingdings" pitchFamily="2" charset="2"/>
              <a:buChar char="Ø"/>
            </a:pPr>
            <a:r>
              <a:rPr lang="en-US" sz="2800" dirty="0"/>
              <a:t>Disadvantage:  Wasteful of space ‒ why add a chain when there is often, as in this example, lots of open space in the underlying array itself; using that open space is the idea behind open addressing (next up)</a:t>
            </a:r>
          </a:p>
          <a:p>
            <a:pPr>
              <a:lnSpc>
                <a:spcPct val="100000"/>
              </a:lnSpc>
              <a:spcBef>
                <a:spcPts val="0"/>
              </a:spcBef>
              <a:spcAft>
                <a:spcPts val="600"/>
              </a:spcAft>
            </a:pPr>
            <a:endParaRPr lang="en-US" sz="2200" dirty="0"/>
          </a:p>
        </p:txBody>
      </p:sp>
      <p:sp>
        <p:nvSpPr>
          <p:cNvPr id="3" name="Title 2">
            <a:extLst>
              <a:ext uri="{FF2B5EF4-FFF2-40B4-BE49-F238E27FC236}">
                <a16:creationId xmlns:a16="http://schemas.microsoft.com/office/drawing/2014/main" id="{4B5D6A8E-FA40-4B3D-BCB9-81FEE3F478A2}"/>
              </a:ext>
            </a:extLst>
          </p:cNvPr>
          <p:cNvSpPr>
            <a:spLocks noGrp="1"/>
          </p:cNvSpPr>
          <p:nvPr>
            <p:ph type="title"/>
          </p:nvPr>
        </p:nvSpPr>
        <p:spPr>
          <a:xfrm>
            <a:off x="622654" y="982049"/>
            <a:ext cx="6715172" cy="693113"/>
          </a:xfrm>
        </p:spPr>
        <p:txBody>
          <a:bodyPr>
            <a:noAutofit/>
          </a:bodyPr>
          <a:lstStyle/>
          <a:p>
            <a:r>
              <a:rPr lang="en-US" sz="4800" dirty="0"/>
              <a:t>Chaining</a:t>
            </a:r>
          </a:p>
        </p:txBody>
      </p:sp>
      <p:grpSp>
        <p:nvGrpSpPr>
          <p:cNvPr id="4" name="the hash table">
            <a:extLst>
              <a:ext uri="{FF2B5EF4-FFF2-40B4-BE49-F238E27FC236}">
                <a16:creationId xmlns:a16="http://schemas.microsoft.com/office/drawing/2014/main" id="{543EFD6E-D396-4ECE-9BB5-704CA367C04F}"/>
              </a:ext>
            </a:extLst>
          </p:cNvPr>
          <p:cNvGrpSpPr/>
          <p:nvPr/>
        </p:nvGrpSpPr>
        <p:grpSpPr>
          <a:xfrm>
            <a:off x="7553372" y="2018589"/>
            <a:ext cx="1943517" cy="4405052"/>
            <a:chOff x="9274047" y="1302327"/>
            <a:chExt cx="1943517" cy="4405052"/>
          </a:xfrm>
        </p:grpSpPr>
        <p:grpSp>
          <p:nvGrpSpPr>
            <p:cNvPr id="5" name="Group 4">
              <a:extLst>
                <a:ext uri="{FF2B5EF4-FFF2-40B4-BE49-F238E27FC236}">
                  <a16:creationId xmlns:a16="http://schemas.microsoft.com/office/drawing/2014/main" id="{BDD859F0-20E6-4E8E-AD13-D22307023A04}"/>
                </a:ext>
              </a:extLst>
            </p:cNvPr>
            <p:cNvGrpSpPr/>
            <p:nvPr/>
          </p:nvGrpSpPr>
          <p:grpSpPr>
            <a:xfrm>
              <a:off x="10132291" y="1302327"/>
              <a:ext cx="1085273" cy="4382655"/>
              <a:chOff x="10497128" y="1302327"/>
              <a:chExt cx="720436" cy="4382655"/>
            </a:xfrm>
          </p:grpSpPr>
          <p:grpSp>
            <p:nvGrpSpPr>
              <p:cNvPr id="7" name="Group 6">
                <a:extLst>
                  <a:ext uri="{FF2B5EF4-FFF2-40B4-BE49-F238E27FC236}">
                    <a16:creationId xmlns:a16="http://schemas.microsoft.com/office/drawing/2014/main" id="{37AC8667-2826-43CC-9F9C-32E0C8E730CA}"/>
                  </a:ext>
                </a:extLst>
              </p:cNvPr>
              <p:cNvGrpSpPr/>
              <p:nvPr/>
            </p:nvGrpSpPr>
            <p:grpSpPr>
              <a:xfrm>
                <a:off x="10497128" y="1302327"/>
                <a:ext cx="720436" cy="4382655"/>
                <a:chOff x="10497128" y="1302327"/>
                <a:chExt cx="720436" cy="4382655"/>
              </a:xfrm>
            </p:grpSpPr>
            <p:cxnSp>
              <p:nvCxnSpPr>
                <p:cNvPr id="10" name="Straight Connector 9">
                  <a:extLst>
                    <a:ext uri="{FF2B5EF4-FFF2-40B4-BE49-F238E27FC236}">
                      <a16:creationId xmlns:a16="http://schemas.microsoft.com/office/drawing/2014/main" id="{AF96BDED-933F-43B5-858D-723146B85F2B}"/>
                    </a:ext>
                  </a:extLst>
                </p:cNvPr>
                <p:cNvCxnSpPr>
                  <a:cxnSpLocks/>
                </p:cNvCxnSpPr>
                <p:nvPr/>
              </p:nvCxnSpPr>
              <p:spPr>
                <a:xfrm>
                  <a:off x="10497128" y="130232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8FB31F9-FDC7-46D5-9972-9E2B347020EA}"/>
                    </a:ext>
                  </a:extLst>
                </p:cNvPr>
                <p:cNvCxnSpPr>
                  <a:cxnSpLocks/>
                </p:cNvCxnSpPr>
                <p:nvPr/>
              </p:nvCxnSpPr>
              <p:spPr>
                <a:xfrm>
                  <a:off x="10497128" y="163945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D5A1AD7-BD9A-4B2F-8924-AD33996859D7}"/>
                    </a:ext>
                  </a:extLst>
                </p:cNvPr>
                <p:cNvCxnSpPr>
                  <a:cxnSpLocks/>
                </p:cNvCxnSpPr>
                <p:nvPr/>
              </p:nvCxnSpPr>
              <p:spPr>
                <a:xfrm>
                  <a:off x="10497128" y="197658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3B19E4F-BE36-434A-A583-827CD33AAA73}"/>
                    </a:ext>
                  </a:extLst>
                </p:cNvPr>
                <p:cNvCxnSpPr>
                  <a:cxnSpLocks/>
                </p:cNvCxnSpPr>
                <p:nvPr/>
              </p:nvCxnSpPr>
              <p:spPr>
                <a:xfrm>
                  <a:off x="10497128" y="2313708"/>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3C6A2E2-A390-477C-8AAC-7753C56A8ADD}"/>
                    </a:ext>
                  </a:extLst>
                </p:cNvPr>
                <p:cNvCxnSpPr>
                  <a:cxnSpLocks/>
                </p:cNvCxnSpPr>
                <p:nvPr/>
              </p:nvCxnSpPr>
              <p:spPr>
                <a:xfrm>
                  <a:off x="10497128" y="2650835"/>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CB68F7A-33DB-4DB2-8B41-9E6BCD9A68B1}"/>
                    </a:ext>
                  </a:extLst>
                </p:cNvPr>
                <p:cNvCxnSpPr>
                  <a:cxnSpLocks/>
                </p:cNvCxnSpPr>
                <p:nvPr/>
              </p:nvCxnSpPr>
              <p:spPr>
                <a:xfrm>
                  <a:off x="10497128" y="298796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4EF02AB-0946-412E-8A65-62DE77C65939}"/>
                    </a:ext>
                  </a:extLst>
                </p:cNvPr>
                <p:cNvCxnSpPr>
                  <a:cxnSpLocks/>
                </p:cNvCxnSpPr>
                <p:nvPr/>
              </p:nvCxnSpPr>
              <p:spPr>
                <a:xfrm>
                  <a:off x="10497128" y="3325089"/>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0504C43-6D86-47E0-BAA3-0473CEA86BA9}"/>
                    </a:ext>
                  </a:extLst>
                </p:cNvPr>
                <p:cNvCxnSpPr>
                  <a:cxnSpLocks/>
                </p:cNvCxnSpPr>
                <p:nvPr/>
              </p:nvCxnSpPr>
              <p:spPr>
                <a:xfrm>
                  <a:off x="10497128" y="3662216"/>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74ADDD2-7CEA-4824-824F-12225053408F}"/>
                    </a:ext>
                  </a:extLst>
                </p:cNvPr>
                <p:cNvCxnSpPr>
                  <a:cxnSpLocks/>
                </p:cNvCxnSpPr>
                <p:nvPr/>
              </p:nvCxnSpPr>
              <p:spPr>
                <a:xfrm>
                  <a:off x="10497128" y="3999343"/>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0BDF84F-FDD5-4759-9825-3A830027DD7D}"/>
                    </a:ext>
                  </a:extLst>
                </p:cNvPr>
                <p:cNvCxnSpPr>
                  <a:cxnSpLocks/>
                </p:cNvCxnSpPr>
                <p:nvPr/>
              </p:nvCxnSpPr>
              <p:spPr>
                <a:xfrm>
                  <a:off x="10497128" y="4336470"/>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E2B8FDE-FFD6-44DA-890D-9AE030FD0BE1}"/>
                    </a:ext>
                  </a:extLst>
                </p:cNvPr>
                <p:cNvCxnSpPr>
                  <a:cxnSpLocks/>
                </p:cNvCxnSpPr>
                <p:nvPr/>
              </p:nvCxnSpPr>
              <p:spPr>
                <a:xfrm>
                  <a:off x="10497128" y="467359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24098A2-9378-42C4-90DE-80828763320F}"/>
                    </a:ext>
                  </a:extLst>
                </p:cNvPr>
                <p:cNvCxnSpPr>
                  <a:cxnSpLocks/>
                </p:cNvCxnSpPr>
                <p:nvPr/>
              </p:nvCxnSpPr>
              <p:spPr>
                <a:xfrm>
                  <a:off x="10497128" y="501072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CDDF032-627A-42E6-ABDE-A15B754782C6}"/>
                    </a:ext>
                  </a:extLst>
                </p:cNvPr>
                <p:cNvCxnSpPr>
                  <a:cxnSpLocks/>
                </p:cNvCxnSpPr>
                <p:nvPr/>
              </p:nvCxnSpPr>
              <p:spPr>
                <a:xfrm>
                  <a:off x="10497128" y="534785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FBD3B4C-2E4A-4759-AC70-86B469E1698C}"/>
                    </a:ext>
                  </a:extLst>
                </p:cNvPr>
                <p:cNvCxnSpPr>
                  <a:cxnSpLocks/>
                </p:cNvCxnSpPr>
                <p:nvPr/>
              </p:nvCxnSpPr>
              <p:spPr>
                <a:xfrm>
                  <a:off x="10497128" y="568498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8" name="Straight Connector 7">
                <a:extLst>
                  <a:ext uri="{FF2B5EF4-FFF2-40B4-BE49-F238E27FC236}">
                    <a16:creationId xmlns:a16="http://schemas.microsoft.com/office/drawing/2014/main" id="{64F01C86-164C-4615-B63F-EA7EEC3FED67}"/>
                  </a:ext>
                </a:extLst>
              </p:cNvPr>
              <p:cNvCxnSpPr>
                <a:cxnSpLocks/>
              </p:cNvCxnSpPr>
              <p:nvPr/>
            </p:nvCxnSpPr>
            <p:spPr>
              <a:xfrm>
                <a:off x="10497128"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49E5003-36BB-4C74-B3C7-FB5E9E694B5F}"/>
                  </a:ext>
                </a:extLst>
              </p:cNvPr>
              <p:cNvCxnSpPr>
                <a:cxnSpLocks/>
              </p:cNvCxnSpPr>
              <p:nvPr/>
            </p:nvCxnSpPr>
            <p:spPr>
              <a:xfrm>
                <a:off x="11217564"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0D5BD37E-52B8-4C98-95BC-5E80FA45F918}"/>
                </a:ext>
              </a:extLst>
            </p:cNvPr>
            <p:cNvSpPr txBox="1"/>
            <p:nvPr/>
          </p:nvSpPr>
          <p:spPr>
            <a:xfrm>
              <a:off x="9274047" y="1302327"/>
              <a:ext cx="989864" cy="4405052"/>
            </a:xfrm>
            <a:prstGeom prst="rect">
              <a:avLst/>
            </a:prstGeom>
            <a:noFill/>
          </p:spPr>
          <p:txBody>
            <a:bodyPr wrap="square" rtlCol="0">
              <a:spAutoFit/>
            </a:bodyPr>
            <a:lstStyle/>
            <a:p>
              <a:pP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[0]</a:t>
              </a:r>
            </a:p>
            <a:p>
              <a:pP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a:t>
              </a:r>
            </a:p>
            <a:p>
              <a:pP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[2]</a:t>
              </a:r>
            </a:p>
            <a:p>
              <a:pP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[3]</a:t>
              </a:r>
            </a:p>
            <a:p>
              <a:pP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[4]</a:t>
              </a:r>
            </a:p>
            <a:p>
              <a:pP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[5]</a:t>
              </a:r>
            </a:p>
            <a:p>
              <a:pP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[6]</a:t>
              </a:r>
            </a:p>
            <a:p>
              <a:pP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[7]</a:t>
              </a:r>
            </a:p>
            <a:p>
              <a:pP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[8]</a:t>
              </a:r>
            </a:p>
            <a:p>
              <a:pP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[9]</a:t>
              </a:r>
            </a:p>
            <a:p>
              <a:pP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[10]</a:t>
              </a:r>
            </a:p>
            <a:p>
              <a:pP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[11]</a:t>
              </a:r>
            </a:p>
            <a:p>
              <a:pP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[12]</a:t>
              </a:r>
            </a:p>
          </p:txBody>
        </p:sp>
      </p:grpSp>
      <p:sp>
        <p:nvSpPr>
          <p:cNvPr id="24" name="TextBox 23">
            <a:extLst>
              <a:ext uri="{FF2B5EF4-FFF2-40B4-BE49-F238E27FC236}">
                <a16:creationId xmlns:a16="http://schemas.microsoft.com/office/drawing/2014/main" id="{3E55FCD5-07C3-4240-B798-D2DE4D032C4C}"/>
              </a:ext>
            </a:extLst>
          </p:cNvPr>
          <p:cNvSpPr txBox="1"/>
          <p:nvPr/>
        </p:nvSpPr>
        <p:spPr>
          <a:xfrm>
            <a:off x="8419440" y="1988216"/>
            <a:ext cx="1136153"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Adams</a:t>
            </a:r>
          </a:p>
        </p:txBody>
      </p:sp>
      <p:sp>
        <p:nvSpPr>
          <p:cNvPr id="26" name="TextBox 25">
            <a:extLst>
              <a:ext uri="{FF2B5EF4-FFF2-40B4-BE49-F238E27FC236}">
                <a16:creationId xmlns:a16="http://schemas.microsoft.com/office/drawing/2014/main" id="{B6D33C26-BF9B-47B5-A566-7BDE62685A56}"/>
              </a:ext>
            </a:extLst>
          </p:cNvPr>
          <p:cNvSpPr txBox="1"/>
          <p:nvPr/>
        </p:nvSpPr>
        <p:spPr>
          <a:xfrm>
            <a:off x="8513192" y="4990831"/>
            <a:ext cx="994099"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Jones</a:t>
            </a:r>
          </a:p>
        </p:txBody>
      </p:sp>
      <p:sp>
        <p:nvSpPr>
          <p:cNvPr id="27" name="Donna">
            <a:extLst>
              <a:ext uri="{FF2B5EF4-FFF2-40B4-BE49-F238E27FC236}">
                <a16:creationId xmlns:a16="http://schemas.microsoft.com/office/drawing/2014/main" id="{911627DB-7BFB-4449-A0B1-C9070ED4EE2D}"/>
              </a:ext>
            </a:extLst>
          </p:cNvPr>
          <p:cNvSpPr/>
          <p:nvPr/>
        </p:nvSpPr>
        <p:spPr>
          <a:xfrm>
            <a:off x="9637587" y="3069794"/>
            <a:ext cx="1089303" cy="248534"/>
          </a:xfrm>
          <a:prstGeom prst="rect">
            <a:avLst/>
          </a:prstGeom>
          <a:solidFill>
            <a:schemeClr val="accent6">
              <a:lumMod val="75000"/>
            </a:schemeClr>
          </a:solidFill>
          <a:ln w="317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0" bIns="0" numCol="1" spcCol="0" rtlCol="0" fromWordArt="0" anchor="ctr" anchorCtr="0" forceAA="0" compatLnSpc="1">
            <a:prstTxWarp prst="textNoShape">
              <a:avLst/>
            </a:prstTxWarp>
            <a:noAutofit/>
          </a:bodyPr>
          <a:lstStyle/>
          <a:p>
            <a:pPr>
              <a:lnSpc>
                <a:spcPct val="80000"/>
              </a:lnSpc>
              <a:spcBef>
                <a:spcPts val="600"/>
              </a:spcBef>
            </a:pPr>
            <a:r>
              <a:rPr lang="en-US" sz="2200" dirty="0">
                <a:solidFill>
                  <a:schemeClr val="tx1"/>
                </a:solidFill>
                <a:latin typeface="Times New Roman" panose="02020603050405020304" pitchFamily="18" charset="0"/>
                <a:cs typeface="Times New Roman" panose="02020603050405020304" pitchFamily="18" charset="0"/>
              </a:rPr>
              <a:t>  Doe</a:t>
            </a:r>
          </a:p>
        </p:txBody>
      </p:sp>
      <p:cxnSp>
        <p:nvCxnSpPr>
          <p:cNvPr id="31" name="Straight Arrow Connector 30">
            <a:extLst>
              <a:ext uri="{FF2B5EF4-FFF2-40B4-BE49-F238E27FC236}">
                <a16:creationId xmlns:a16="http://schemas.microsoft.com/office/drawing/2014/main" id="{3297EC7B-CE5D-4F93-B4EA-82C8C195422E}"/>
              </a:ext>
            </a:extLst>
          </p:cNvPr>
          <p:cNvCxnSpPr>
            <a:cxnSpLocks/>
          </p:cNvCxnSpPr>
          <p:nvPr/>
        </p:nvCxnSpPr>
        <p:spPr>
          <a:xfrm>
            <a:off x="10620195" y="3201843"/>
            <a:ext cx="326130" cy="0"/>
          </a:xfrm>
          <a:prstGeom prst="straightConnector1">
            <a:avLst/>
          </a:prstGeom>
          <a:noFill/>
          <a:ln w="12700">
            <a:solidFill>
              <a:schemeClr val="tx1"/>
            </a:solidFill>
            <a:headEnd type="oval" w="lg" len="lg"/>
            <a:tailEnd type="stealth" w="lg" len="lg"/>
          </a:ln>
          <a:effectLst/>
        </p:spPr>
        <p:style>
          <a:lnRef idx="1">
            <a:schemeClr val="accent1"/>
          </a:lnRef>
          <a:fillRef idx="0">
            <a:schemeClr val="accent1"/>
          </a:fillRef>
          <a:effectRef idx="0">
            <a:schemeClr val="accent1"/>
          </a:effectRef>
          <a:fontRef idx="minor">
            <a:schemeClr val="tx1"/>
          </a:fontRef>
        </p:style>
      </p:cxnSp>
      <p:sp>
        <p:nvSpPr>
          <p:cNvPr id="34" name="Dick">
            <a:extLst>
              <a:ext uri="{FF2B5EF4-FFF2-40B4-BE49-F238E27FC236}">
                <a16:creationId xmlns:a16="http://schemas.microsoft.com/office/drawing/2014/main" id="{DF56D1DA-0B7B-464D-AC8D-4CF128995BC0}"/>
              </a:ext>
            </a:extLst>
          </p:cNvPr>
          <p:cNvSpPr/>
          <p:nvPr/>
        </p:nvSpPr>
        <p:spPr>
          <a:xfrm>
            <a:off x="10949727" y="3069065"/>
            <a:ext cx="840838" cy="248534"/>
          </a:xfrm>
          <a:prstGeom prst="rect">
            <a:avLst/>
          </a:prstGeom>
          <a:solidFill>
            <a:schemeClr val="accent6">
              <a:lumMod val="75000"/>
            </a:schemeClr>
          </a:solidFill>
          <a:ln w="317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0" bIns="0" numCol="1" spcCol="0" rtlCol="0" fromWordArt="0" anchor="ctr" anchorCtr="0" forceAA="0" compatLnSpc="1">
            <a:prstTxWarp prst="textNoShape">
              <a:avLst/>
            </a:prstTxWarp>
            <a:noAutofit/>
          </a:bodyPr>
          <a:lstStyle/>
          <a:p>
            <a:pPr>
              <a:lnSpc>
                <a:spcPct val="80000"/>
              </a:lnSpc>
              <a:spcBef>
                <a:spcPts val="600"/>
              </a:spcBef>
            </a:pPr>
            <a:r>
              <a:rPr lang="en-US" sz="2200" dirty="0">
                <a:solidFill>
                  <a:schemeClr val="tx1"/>
                </a:solidFill>
                <a:latin typeface="Times New Roman" panose="02020603050405020304" pitchFamily="18" charset="0"/>
                <a:cs typeface="Times New Roman" panose="02020603050405020304" pitchFamily="18" charset="0"/>
              </a:rPr>
              <a:t>Dean</a:t>
            </a:r>
          </a:p>
        </p:txBody>
      </p:sp>
      <p:sp>
        <p:nvSpPr>
          <p:cNvPr id="32" name="Rectangle 31">
            <a:extLst>
              <a:ext uri="{FF2B5EF4-FFF2-40B4-BE49-F238E27FC236}">
                <a16:creationId xmlns:a16="http://schemas.microsoft.com/office/drawing/2014/main" id="{D890867E-CE95-4AAA-8E01-E51CF2FCD64D}"/>
              </a:ext>
            </a:extLst>
          </p:cNvPr>
          <p:cNvSpPr/>
          <p:nvPr/>
        </p:nvSpPr>
        <p:spPr>
          <a:xfrm>
            <a:off x="8509391" y="3058334"/>
            <a:ext cx="905359" cy="248541"/>
          </a:xfrm>
          <a:prstGeom prst="rect">
            <a:avLst/>
          </a:prstGeom>
          <a:solidFill>
            <a:srgbClr val="54823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0" bIns="91440" numCol="1" spcCol="0" rtlCol="0" fromWordArt="0" anchor="ctr" anchorCtr="0" forceAA="0" compatLnSpc="1">
            <a:prstTxWarp prst="textNoShape">
              <a:avLst/>
            </a:prstTxWarp>
            <a:noAutofit/>
          </a:bodyPr>
          <a:lstStyle/>
          <a:p>
            <a:pPr algn="l"/>
            <a:endParaRPr lang="en-US" sz="2000" dirty="0">
              <a:solidFill>
                <a:schemeClr val="tx1"/>
              </a:solidFill>
              <a:latin typeface="Times New Roman" panose="02020603050405020304" pitchFamily="18" charset="0"/>
            </a:endParaRPr>
          </a:p>
        </p:txBody>
      </p:sp>
      <p:sp>
        <p:nvSpPr>
          <p:cNvPr id="25" name="Dave">
            <a:extLst>
              <a:ext uri="{FF2B5EF4-FFF2-40B4-BE49-F238E27FC236}">
                <a16:creationId xmlns:a16="http://schemas.microsoft.com/office/drawing/2014/main" id="{A3C77579-07D2-4A91-9F3F-59C016AF6E5A}"/>
              </a:ext>
            </a:extLst>
          </p:cNvPr>
          <p:cNvSpPr txBox="1"/>
          <p:nvPr/>
        </p:nvSpPr>
        <p:spPr>
          <a:xfrm>
            <a:off x="8578805" y="3012472"/>
            <a:ext cx="928488" cy="338554"/>
          </a:xfrm>
          <a:prstGeom prst="rect">
            <a:avLst/>
          </a:prstGeom>
          <a:noFill/>
          <a:ln>
            <a:noFill/>
          </a:ln>
        </p:spPr>
        <p:txBody>
          <a:bodyPr wrap="square" lIns="0" tIns="0" bIns="0" rtlCol="0" anchor="ctr" anchorCtr="0">
            <a:spAutoFit/>
          </a:bodyPr>
          <a:lstStyle/>
          <a:p>
            <a:r>
              <a:rPr lang="en-US" sz="2200" dirty="0">
                <a:latin typeface="Times New Roman" panose="02020603050405020304" pitchFamily="18" charset="0"/>
                <a:cs typeface="Times New Roman" panose="02020603050405020304" pitchFamily="18" charset="0"/>
              </a:rPr>
              <a:t>Davis</a:t>
            </a:r>
          </a:p>
        </p:txBody>
      </p:sp>
      <p:cxnSp>
        <p:nvCxnSpPr>
          <p:cNvPr id="29" name="Straight Arrow Connector 28">
            <a:extLst>
              <a:ext uri="{FF2B5EF4-FFF2-40B4-BE49-F238E27FC236}">
                <a16:creationId xmlns:a16="http://schemas.microsoft.com/office/drawing/2014/main" id="{7C50CBA7-2936-4597-AB82-20B09251CCD1}"/>
              </a:ext>
            </a:extLst>
          </p:cNvPr>
          <p:cNvCxnSpPr>
            <a:cxnSpLocks/>
          </p:cNvCxnSpPr>
          <p:nvPr/>
        </p:nvCxnSpPr>
        <p:spPr>
          <a:xfrm>
            <a:off x="9333385" y="3182604"/>
            <a:ext cx="322963" cy="0"/>
          </a:xfrm>
          <a:prstGeom prst="straightConnector1">
            <a:avLst/>
          </a:prstGeom>
          <a:noFill/>
          <a:ln w="12700">
            <a:solidFill>
              <a:schemeClr val="tx1"/>
            </a:solidFill>
            <a:headEnd type="oval" w="lg" len="lg"/>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5802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22" presetClass="entr" presetSubtype="8"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left)">
                                      <p:cBhvr>
                                        <p:cTn id="13" dur="200"/>
                                        <p:tgtEl>
                                          <p:spTgt spid="29"/>
                                        </p:tgtEl>
                                      </p:cBhvr>
                                    </p:animEffect>
                                  </p:childTnLst>
                                </p:cTn>
                              </p:par>
                            </p:childTnLst>
                          </p:cTn>
                        </p:par>
                        <p:par>
                          <p:cTn id="14" fill="hold">
                            <p:stCondLst>
                              <p:cond delay="700"/>
                            </p:stCondLst>
                            <p:childTnLst>
                              <p:par>
                                <p:cTn id="15" presetID="22" presetClass="entr" presetSubtype="8" fill="hold" grpId="0" nodeType="after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wipe(left)">
                                      <p:cBhvr>
                                        <p:cTn id="17" dur="200"/>
                                        <p:tgtEl>
                                          <p:spTgt spid="27"/>
                                        </p:tgtEl>
                                      </p:cBhvr>
                                    </p:animEffect>
                                  </p:childTnLst>
                                </p:cTn>
                              </p:par>
                            </p:childTnLst>
                          </p:cTn>
                        </p:par>
                        <p:par>
                          <p:cTn id="18" fill="hold">
                            <p:stCondLst>
                              <p:cond delay="900"/>
                            </p:stCondLst>
                            <p:childTnLst>
                              <p:par>
                                <p:cTn id="19" presetID="22" presetClass="entr" presetSubtype="8" fill="hold" nodeType="after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wipe(left)">
                                      <p:cBhvr>
                                        <p:cTn id="21" dur="200"/>
                                        <p:tgtEl>
                                          <p:spTgt spid="31"/>
                                        </p:tgtEl>
                                      </p:cBhvr>
                                    </p:animEffect>
                                  </p:childTnLst>
                                </p:cTn>
                              </p:par>
                            </p:childTnLst>
                          </p:cTn>
                        </p:par>
                        <p:par>
                          <p:cTn id="22" fill="hold">
                            <p:stCondLst>
                              <p:cond delay="1100"/>
                            </p:stCondLst>
                            <p:childTnLst>
                              <p:par>
                                <p:cTn id="23" presetID="22" presetClass="entr" presetSubtype="8" fill="hold" grpId="0" nodeType="after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wipe(left)">
                                      <p:cBhvr>
                                        <p:cTn id="25" dur="200"/>
                                        <p:tgtEl>
                                          <p:spTgt spid="3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
                                            <p:txEl>
                                              <p:pRg st="1" end="1"/>
                                            </p:txEl>
                                          </p:spTgt>
                                        </p:tgtEl>
                                        <p:attrNameLst>
                                          <p:attrName>style.visibility</p:attrName>
                                        </p:attrNameLst>
                                      </p:cBhvr>
                                      <p:to>
                                        <p:strVal val="visible"/>
                                      </p:to>
                                    </p:set>
                                    <p:animEffect transition="in" filter="fade">
                                      <p:cBhvr>
                                        <p:cTn id="30" dur="500"/>
                                        <p:tgtEl>
                                          <p:spTgt spid="2">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
                                            <p:txEl>
                                              <p:pRg st="2" end="2"/>
                                            </p:txEl>
                                          </p:spTgt>
                                        </p:tgtEl>
                                        <p:attrNameLst>
                                          <p:attrName>style.visibility</p:attrName>
                                        </p:attrNameLst>
                                      </p:cBhvr>
                                      <p:to>
                                        <p:strVal val="visible"/>
                                      </p:to>
                                    </p:set>
                                    <p:animEffect transition="in" filter="fade">
                                      <p:cBhvr>
                                        <p:cTn id="35"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27" grpId="0" animBg="1"/>
      <p:bldP spid="34" grpId="0" animBg="1"/>
      <p:bldP spid="3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BD4A68-0624-4080-ACDF-CBF1CC40402E}"/>
              </a:ext>
            </a:extLst>
          </p:cNvPr>
          <p:cNvSpPr>
            <a:spLocks noGrp="1"/>
          </p:cNvSpPr>
          <p:nvPr>
            <p:ph type="title"/>
          </p:nvPr>
        </p:nvSpPr>
        <p:spPr>
          <a:xfrm>
            <a:off x="581192" y="976562"/>
            <a:ext cx="10515600" cy="693113"/>
          </a:xfrm>
        </p:spPr>
        <p:txBody>
          <a:bodyPr>
            <a:normAutofit/>
          </a:bodyPr>
          <a:lstStyle/>
          <a:p>
            <a:r>
              <a:rPr lang="en-US" sz="3600" dirty="0"/>
              <a:t>Open Addressing to Resolve Collisions</a:t>
            </a:r>
          </a:p>
        </p:txBody>
      </p:sp>
      <p:grpSp>
        <p:nvGrpSpPr>
          <p:cNvPr id="6" name="the hash table">
            <a:extLst>
              <a:ext uri="{FF2B5EF4-FFF2-40B4-BE49-F238E27FC236}">
                <a16:creationId xmlns:a16="http://schemas.microsoft.com/office/drawing/2014/main" id="{E4D9D04F-D75B-84EE-92B2-326C9FFD22C9}"/>
              </a:ext>
            </a:extLst>
          </p:cNvPr>
          <p:cNvGrpSpPr/>
          <p:nvPr/>
        </p:nvGrpSpPr>
        <p:grpSpPr>
          <a:xfrm>
            <a:off x="9574602" y="2081083"/>
            <a:ext cx="1987503" cy="4413477"/>
            <a:chOff x="9230061" y="1271505"/>
            <a:chExt cx="1987503" cy="4413477"/>
          </a:xfrm>
        </p:grpSpPr>
        <p:grpSp>
          <p:nvGrpSpPr>
            <p:cNvPr id="7" name="Group 6">
              <a:extLst>
                <a:ext uri="{FF2B5EF4-FFF2-40B4-BE49-F238E27FC236}">
                  <a16:creationId xmlns:a16="http://schemas.microsoft.com/office/drawing/2014/main" id="{F7C2D0A6-6CC1-8B87-06B9-31305E94BFFB}"/>
                </a:ext>
              </a:extLst>
            </p:cNvPr>
            <p:cNvGrpSpPr/>
            <p:nvPr/>
          </p:nvGrpSpPr>
          <p:grpSpPr>
            <a:xfrm>
              <a:off x="10132291" y="1302327"/>
              <a:ext cx="1085273" cy="4382655"/>
              <a:chOff x="10497128" y="1302327"/>
              <a:chExt cx="720436" cy="4382655"/>
            </a:xfrm>
          </p:grpSpPr>
          <p:grpSp>
            <p:nvGrpSpPr>
              <p:cNvPr id="9" name="Group 8">
                <a:extLst>
                  <a:ext uri="{FF2B5EF4-FFF2-40B4-BE49-F238E27FC236}">
                    <a16:creationId xmlns:a16="http://schemas.microsoft.com/office/drawing/2014/main" id="{7F1419AE-9E60-14EF-C233-838DE4DC3629}"/>
                  </a:ext>
                </a:extLst>
              </p:cNvPr>
              <p:cNvGrpSpPr/>
              <p:nvPr/>
            </p:nvGrpSpPr>
            <p:grpSpPr>
              <a:xfrm>
                <a:off x="10497128" y="1302327"/>
                <a:ext cx="720436" cy="4382655"/>
                <a:chOff x="10497128" y="1302327"/>
                <a:chExt cx="720436" cy="4382655"/>
              </a:xfrm>
            </p:grpSpPr>
            <p:cxnSp>
              <p:nvCxnSpPr>
                <p:cNvPr id="12" name="Straight Connector 11">
                  <a:extLst>
                    <a:ext uri="{FF2B5EF4-FFF2-40B4-BE49-F238E27FC236}">
                      <a16:creationId xmlns:a16="http://schemas.microsoft.com/office/drawing/2014/main" id="{74B1FBF0-1ADC-B546-DFD7-5B989AF409B5}"/>
                    </a:ext>
                  </a:extLst>
                </p:cNvPr>
                <p:cNvCxnSpPr>
                  <a:cxnSpLocks/>
                </p:cNvCxnSpPr>
                <p:nvPr/>
              </p:nvCxnSpPr>
              <p:spPr>
                <a:xfrm>
                  <a:off x="10497128" y="130232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3D1CDDA-B8E9-E208-1E16-46E550C351F6}"/>
                    </a:ext>
                  </a:extLst>
                </p:cNvPr>
                <p:cNvCxnSpPr>
                  <a:cxnSpLocks/>
                </p:cNvCxnSpPr>
                <p:nvPr/>
              </p:nvCxnSpPr>
              <p:spPr>
                <a:xfrm>
                  <a:off x="10497128" y="163945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2836F5-989D-8610-9E23-B2D20B120D8B}"/>
                    </a:ext>
                  </a:extLst>
                </p:cNvPr>
                <p:cNvCxnSpPr>
                  <a:cxnSpLocks/>
                </p:cNvCxnSpPr>
                <p:nvPr/>
              </p:nvCxnSpPr>
              <p:spPr>
                <a:xfrm>
                  <a:off x="10497128" y="197658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92EF4FB-BE7B-C94D-7B9E-E3C168C4EF40}"/>
                    </a:ext>
                  </a:extLst>
                </p:cNvPr>
                <p:cNvCxnSpPr>
                  <a:cxnSpLocks/>
                </p:cNvCxnSpPr>
                <p:nvPr/>
              </p:nvCxnSpPr>
              <p:spPr>
                <a:xfrm>
                  <a:off x="10497128" y="2313708"/>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51D8156-27CA-F076-1907-EA3BE269B871}"/>
                    </a:ext>
                  </a:extLst>
                </p:cNvPr>
                <p:cNvCxnSpPr>
                  <a:cxnSpLocks/>
                </p:cNvCxnSpPr>
                <p:nvPr/>
              </p:nvCxnSpPr>
              <p:spPr>
                <a:xfrm>
                  <a:off x="10497128" y="2650835"/>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B4F9085-1B4E-3F85-FED6-A7A533D9A3F7}"/>
                    </a:ext>
                  </a:extLst>
                </p:cNvPr>
                <p:cNvCxnSpPr>
                  <a:cxnSpLocks/>
                </p:cNvCxnSpPr>
                <p:nvPr/>
              </p:nvCxnSpPr>
              <p:spPr>
                <a:xfrm>
                  <a:off x="10497128" y="298796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BF58A2B-E926-69CD-9548-DC4F0843B2C6}"/>
                    </a:ext>
                  </a:extLst>
                </p:cNvPr>
                <p:cNvCxnSpPr>
                  <a:cxnSpLocks/>
                </p:cNvCxnSpPr>
                <p:nvPr/>
              </p:nvCxnSpPr>
              <p:spPr>
                <a:xfrm>
                  <a:off x="10497128" y="3325089"/>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8BC3D56-5C5A-80A3-53E3-32F4468DB8FB}"/>
                    </a:ext>
                  </a:extLst>
                </p:cNvPr>
                <p:cNvCxnSpPr>
                  <a:cxnSpLocks/>
                </p:cNvCxnSpPr>
                <p:nvPr/>
              </p:nvCxnSpPr>
              <p:spPr>
                <a:xfrm>
                  <a:off x="10497128" y="3662216"/>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F784851-E19D-9918-B855-BC69CAC75F7C}"/>
                    </a:ext>
                  </a:extLst>
                </p:cNvPr>
                <p:cNvCxnSpPr>
                  <a:cxnSpLocks/>
                </p:cNvCxnSpPr>
                <p:nvPr/>
              </p:nvCxnSpPr>
              <p:spPr>
                <a:xfrm>
                  <a:off x="10497128" y="3999343"/>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60BF6CF-04C3-37EB-7F97-27B1B409D59A}"/>
                    </a:ext>
                  </a:extLst>
                </p:cNvPr>
                <p:cNvCxnSpPr>
                  <a:cxnSpLocks/>
                </p:cNvCxnSpPr>
                <p:nvPr/>
              </p:nvCxnSpPr>
              <p:spPr>
                <a:xfrm>
                  <a:off x="10497128" y="4336470"/>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D162456-CFC7-56EE-0DBF-1164809E3E99}"/>
                    </a:ext>
                  </a:extLst>
                </p:cNvPr>
                <p:cNvCxnSpPr>
                  <a:cxnSpLocks/>
                </p:cNvCxnSpPr>
                <p:nvPr/>
              </p:nvCxnSpPr>
              <p:spPr>
                <a:xfrm>
                  <a:off x="10497128" y="467359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7351EAD-5E2E-1FE1-4CCB-6B0F7F6069BC}"/>
                    </a:ext>
                  </a:extLst>
                </p:cNvPr>
                <p:cNvCxnSpPr>
                  <a:cxnSpLocks/>
                </p:cNvCxnSpPr>
                <p:nvPr/>
              </p:nvCxnSpPr>
              <p:spPr>
                <a:xfrm>
                  <a:off x="10497128" y="501072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BB42509-8647-7DDA-2910-842373E34E4B}"/>
                    </a:ext>
                  </a:extLst>
                </p:cNvPr>
                <p:cNvCxnSpPr>
                  <a:cxnSpLocks/>
                </p:cNvCxnSpPr>
                <p:nvPr/>
              </p:nvCxnSpPr>
              <p:spPr>
                <a:xfrm>
                  <a:off x="10497128" y="534785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C86A2AB-A667-BC11-9C92-CD932E9FFD6E}"/>
                    </a:ext>
                  </a:extLst>
                </p:cNvPr>
                <p:cNvCxnSpPr>
                  <a:cxnSpLocks/>
                </p:cNvCxnSpPr>
                <p:nvPr/>
              </p:nvCxnSpPr>
              <p:spPr>
                <a:xfrm>
                  <a:off x="10497128" y="568498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0" name="Straight Connector 9">
                <a:extLst>
                  <a:ext uri="{FF2B5EF4-FFF2-40B4-BE49-F238E27FC236}">
                    <a16:creationId xmlns:a16="http://schemas.microsoft.com/office/drawing/2014/main" id="{A968C0B5-BEE0-1C71-559D-DD0CD92E25FC}"/>
                  </a:ext>
                </a:extLst>
              </p:cNvPr>
              <p:cNvCxnSpPr>
                <a:cxnSpLocks/>
              </p:cNvCxnSpPr>
              <p:nvPr/>
            </p:nvCxnSpPr>
            <p:spPr>
              <a:xfrm>
                <a:off x="10497128"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C3868EE-ADED-982C-4E4C-C0B5284E7F9A}"/>
                  </a:ext>
                </a:extLst>
              </p:cNvPr>
              <p:cNvCxnSpPr>
                <a:cxnSpLocks/>
              </p:cNvCxnSpPr>
              <p:nvPr/>
            </p:nvCxnSpPr>
            <p:spPr>
              <a:xfrm>
                <a:off x="11217564"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A0EE72AE-FB6C-F915-FC28-D8205EE4E37C}"/>
                </a:ext>
              </a:extLst>
            </p:cNvPr>
            <p:cNvSpPr txBox="1"/>
            <p:nvPr/>
          </p:nvSpPr>
          <p:spPr>
            <a:xfrm>
              <a:off x="9230061" y="1271505"/>
              <a:ext cx="982480" cy="4405052"/>
            </a:xfrm>
            <a:prstGeom prst="rect">
              <a:avLst/>
            </a:prstGeom>
            <a:noFill/>
          </p:spPr>
          <p:txBody>
            <a:bodyPr wrap="square" rtlCol="0">
              <a:spAutoFit/>
            </a:bodyPr>
            <a:lstStyle/>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[0]</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[2]</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[3]</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[4]</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[5]</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[6]</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[7]</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[8]</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[9]</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[10]</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[11]</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[12]</a:t>
              </a:r>
            </a:p>
          </p:txBody>
        </p:sp>
      </p:grpSp>
      <p:sp>
        <p:nvSpPr>
          <p:cNvPr id="26" name="TextBox 25">
            <a:extLst>
              <a:ext uri="{FF2B5EF4-FFF2-40B4-BE49-F238E27FC236}">
                <a16:creationId xmlns:a16="http://schemas.microsoft.com/office/drawing/2014/main" id="{FE895693-CACF-EC35-06A8-E3321AA64F20}"/>
              </a:ext>
            </a:extLst>
          </p:cNvPr>
          <p:cNvSpPr txBox="1"/>
          <p:nvPr/>
        </p:nvSpPr>
        <p:spPr>
          <a:xfrm>
            <a:off x="10516838" y="2081084"/>
            <a:ext cx="1063941"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Adams</a:t>
            </a:r>
          </a:p>
        </p:txBody>
      </p:sp>
      <p:sp>
        <p:nvSpPr>
          <p:cNvPr id="27" name="TextBox 26">
            <a:extLst>
              <a:ext uri="{FF2B5EF4-FFF2-40B4-BE49-F238E27FC236}">
                <a16:creationId xmlns:a16="http://schemas.microsoft.com/office/drawing/2014/main" id="{F20549E1-A287-DEA4-72D0-7B8203488F5B}"/>
              </a:ext>
            </a:extLst>
          </p:cNvPr>
          <p:cNvSpPr txBox="1"/>
          <p:nvPr/>
        </p:nvSpPr>
        <p:spPr>
          <a:xfrm>
            <a:off x="10568354" y="3094306"/>
            <a:ext cx="1063939"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Davis</a:t>
            </a:r>
          </a:p>
        </p:txBody>
      </p:sp>
      <p:sp>
        <p:nvSpPr>
          <p:cNvPr id="28" name="TextBox 27">
            <a:extLst>
              <a:ext uri="{FF2B5EF4-FFF2-40B4-BE49-F238E27FC236}">
                <a16:creationId xmlns:a16="http://schemas.microsoft.com/office/drawing/2014/main" id="{DAC6CE73-8E68-566E-C37F-E034D57FF64E}"/>
              </a:ext>
            </a:extLst>
          </p:cNvPr>
          <p:cNvSpPr txBox="1"/>
          <p:nvPr/>
        </p:nvSpPr>
        <p:spPr>
          <a:xfrm>
            <a:off x="10568354" y="5110140"/>
            <a:ext cx="1063937"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Jones</a:t>
            </a:r>
          </a:p>
        </p:txBody>
      </p:sp>
      <p:sp>
        <p:nvSpPr>
          <p:cNvPr id="5" name="Content Placeholder 4">
            <a:extLst>
              <a:ext uri="{FF2B5EF4-FFF2-40B4-BE49-F238E27FC236}">
                <a16:creationId xmlns:a16="http://schemas.microsoft.com/office/drawing/2014/main" id="{6E085F45-1048-E220-4006-BE4F8B7C6B86}"/>
              </a:ext>
            </a:extLst>
          </p:cNvPr>
          <p:cNvSpPr>
            <a:spLocks noGrp="1"/>
          </p:cNvSpPr>
          <p:nvPr>
            <p:ph idx="1"/>
          </p:nvPr>
        </p:nvSpPr>
        <p:spPr>
          <a:xfrm>
            <a:off x="581192" y="2935474"/>
            <a:ext cx="8993409" cy="3746894"/>
          </a:xfrm>
        </p:spPr>
        <p:txBody>
          <a:bodyPr>
            <a:normAutofit/>
          </a:bodyPr>
          <a:lstStyle/>
          <a:p>
            <a:pPr marL="0" indent="0">
              <a:buNone/>
            </a:pPr>
            <a:r>
              <a:rPr lang="en-US" sz="3200" b="0" i="0" dirty="0">
                <a:solidFill>
                  <a:srgbClr val="236FA1"/>
                </a:solidFill>
                <a:effectLst/>
              </a:rPr>
              <a:t>Open Addressing</a:t>
            </a:r>
            <a:r>
              <a:rPr lang="en-US" sz="3200" b="0" i="0" dirty="0">
                <a:solidFill>
                  <a:srgbClr val="000000"/>
                </a:solidFill>
                <a:effectLst/>
              </a:rPr>
              <a:t> - when there is a collision, search for the next available spot in the hash table.</a:t>
            </a:r>
          </a:p>
          <a:p>
            <a:pPr marL="0" indent="0">
              <a:buNone/>
            </a:pPr>
            <a:endParaRPr lang="en-US" sz="3200" dirty="0">
              <a:solidFill>
                <a:srgbClr val="000000"/>
              </a:solidFill>
            </a:endParaRPr>
          </a:p>
          <a:p>
            <a:pPr marL="0" indent="0">
              <a:buNone/>
            </a:pPr>
            <a:r>
              <a:rPr lang="en-US" sz="3200" dirty="0">
                <a:solidFill>
                  <a:srgbClr val="000000"/>
                </a:solidFill>
              </a:rPr>
              <a:t>1) Use the hash function to find the ideal position.  If that is free, use it.</a:t>
            </a:r>
          </a:p>
          <a:p>
            <a:pPr marL="0" indent="0">
              <a:buNone/>
            </a:pPr>
            <a:r>
              <a:rPr lang="en-US" sz="3200" dirty="0">
                <a:solidFill>
                  <a:srgbClr val="000000"/>
                </a:solidFill>
              </a:rPr>
              <a:t>2) If the ideal position is taken the new position will be the ideal position + some step (determined by which collision handling option you use)</a:t>
            </a:r>
          </a:p>
          <a:p>
            <a:pPr marL="0" indent="0">
              <a:buNone/>
            </a:pPr>
            <a:endParaRPr lang="en-US" sz="3200" dirty="0">
              <a:solidFill>
                <a:srgbClr val="000000"/>
              </a:solidFill>
            </a:endParaRPr>
          </a:p>
          <a:p>
            <a:pPr marL="0" indent="0">
              <a:buNone/>
            </a:pPr>
            <a:endParaRPr lang="en-US" sz="3200" dirty="0"/>
          </a:p>
        </p:txBody>
      </p:sp>
    </p:spTree>
    <p:extLst>
      <p:ext uri="{BB962C8B-B14F-4D97-AF65-F5344CB8AC3E}">
        <p14:creationId xmlns:p14="http://schemas.microsoft.com/office/powerpoint/2010/main" val="39182252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6F589-0829-5342-140A-54EC6531693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1E24A6-076E-A194-CA24-9C019C0BDC38}"/>
              </a:ext>
            </a:extLst>
          </p:cNvPr>
          <p:cNvSpPr>
            <a:spLocks noGrp="1"/>
          </p:cNvSpPr>
          <p:nvPr>
            <p:ph idx="1"/>
          </p:nvPr>
        </p:nvSpPr>
        <p:spPr>
          <a:xfrm>
            <a:off x="559708" y="1908338"/>
            <a:ext cx="8694652" cy="4603790"/>
          </a:xfrm>
        </p:spPr>
        <p:txBody>
          <a:bodyPr anchor="t" anchorCtr="0">
            <a:noAutofit/>
          </a:bodyPr>
          <a:lstStyle/>
          <a:p>
            <a:pPr eaLnBrk="0" fontAlgn="base" hangingPunct="0">
              <a:lnSpc>
                <a:spcPct val="100000"/>
              </a:lnSpc>
              <a:spcBef>
                <a:spcPct val="0"/>
              </a:spcBef>
              <a:spcAft>
                <a:spcPts val="2400"/>
              </a:spcAft>
            </a:pPr>
            <a:r>
              <a:rPr lang="en-US" altLang="en-US" sz="2800" b="1" dirty="0">
                <a:latin typeface="Times New Roman" panose="02020603050405020304" pitchFamily="18" charset="0"/>
                <a:cs typeface="Times New Roman" panose="02020603050405020304" pitchFamily="18" charset="0"/>
              </a:rPr>
              <a:t>Linear probing</a:t>
            </a:r>
            <a:r>
              <a:rPr lang="en-US" altLang="en-US" sz="2800" dirty="0">
                <a:latin typeface="Times New Roman" panose="02020603050405020304" pitchFamily="18" charset="0"/>
                <a:cs typeface="Times New Roman" panose="02020603050405020304" pitchFamily="18" charset="0"/>
              </a:rPr>
              <a:t> ‒ the distance between successive probes is fixed at 1</a:t>
            </a:r>
          </a:p>
          <a:p>
            <a:pPr eaLnBrk="0" fontAlgn="base" hangingPunct="0">
              <a:lnSpc>
                <a:spcPct val="100000"/>
              </a:lnSpc>
              <a:spcBef>
                <a:spcPct val="0"/>
              </a:spcBef>
              <a:spcAft>
                <a:spcPts val="2400"/>
              </a:spcAft>
            </a:pPr>
            <a:r>
              <a:rPr lang="en-US" altLang="en-US" sz="2800" b="1" dirty="0">
                <a:latin typeface="Times New Roman" panose="02020603050405020304" pitchFamily="18" charset="0"/>
                <a:cs typeface="Times New Roman" panose="02020603050405020304" pitchFamily="18" charset="0"/>
              </a:rPr>
              <a:t>Quadratic probing</a:t>
            </a:r>
            <a:r>
              <a:rPr lang="en-US" altLang="en-US" sz="2800" dirty="0">
                <a:latin typeface="Times New Roman" panose="02020603050405020304" pitchFamily="18" charset="0"/>
                <a:cs typeface="Times New Roman" panose="02020603050405020304" pitchFamily="18" charset="0"/>
              </a:rPr>
              <a:t> ‒ the distance between successive probes increases quadratically</a:t>
            </a:r>
          </a:p>
          <a:p>
            <a:pPr eaLnBrk="0" fontAlgn="base" hangingPunct="0">
              <a:lnSpc>
                <a:spcPct val="100000"/>
              </a:lnSpc>
              <a:spcBef>
                <a:spcPct val="0"/>
              </a:spcBef>
              <a:spcAft>
                <a:spcPts val="2400"/>
              </a:spcAft>
            </a:pPr>
            <a:r>
              <a:rPr lang="en-US" altLang="en-US" sz="2800" b="1" dirty="0">
                <a:latin typeface="Times New Roman" panose="02020603050405020304" pitchFamily="18" charset="0"/>
                <a:cs typeface="Times New Roman" panose="02020603050405020304" pitchFamily="18" charset="0"/>
              </a:rPr>
              <a:t>Double hashing</a:t>
            </a:r>
            <a:r>
              <a:rPr lang="en-US" altLang="en-US" sz="2800" dirty="0">
                <a:latin typeface="Times New Roman" panose="02020603050405020304" pitchFamily="18" charset="0"/>
                <a:cs typeface="Times New Roman" panose="02020603050405020304" pitchFamily="18" charset="0"/>
              </a:rPr>
              <a:t> ‒ the distance between successive probes is fixed for each key but differs from one key to another, the fixed delta being computed by a second hash function</a:t>
            </a:r>
          </a:p>
          <a:p>
            <a:pPr>
              <a:lnSpc>
                <a:spcPct val="90000"/>
              </a:lnSpc>
            </a:pPr>
            <a:endParaRPr lang="en-US" sz="3200" dirty="0"/>
          </a:p>
        </p:txBody>
      </p:sp>
      <p:sp>
        <p:nvSpPr>
          <p:cNvPr id="3" name="Title 2">
            <a:extLst>
              <a:ext uri="{FF2B5EF4-FFF2-40B4-BE49-F238E27FC236}">
                <a16:creationId xmlns:a16="http://schemas.microsoft.com/office/drawing/2014/main" id="{0EF785B8-0D32-5D96-03EF-B6092CA6F356}"/>
              </a:ext>
            </a:extLst>
          </p:cNvPr>
          <p:cNvSpPr>
            <a:spLocks noGrp="1"/>
          </p:cNvSpPr>
          <p:nvPr>
            <p:ph type="title"/>
          </p:nvPr>
        </p:nvSpPr>
        <p:spPr>
          <a:xfrm>
            <a:off x="581192" y="976562"/>
            <a:ext cx="10515600" cy="693113"/>
          </a:xfrm>
        </p:spPr>
        <p:txBody>
          <a:bodyPr>
            <a:normAutofit/>
          </a:bodyPr>
          <a:lstStyle/>
          <a:p>
            <a:r>
              <a:rPr lang="en-US" sz="3600" dirty="0"/>
              <a:t>Open Addressing to Resolve Collisions</a:t>
            </a:r>
          </a:p>
        </p:txBody>
      </p:sp>
      <p:grpSp>
        <p:nvGrpSpPr>
          <p:cNvPr id="6" name="the hash table">
            <a:extLst>
              <a:ext uri="{FF2B5EF4-FFF2-40B4-BE49-F238E27FC236}">
                <a16:creationId xmlns:a16="http://schemas.microsoft.com/office/drawing/2014/main" id="{CE319E7C-B4E9-A3DF-DF08-44F09C364436}"/>
              </a:ext>
            </a:extLst>
          </p:cNvPr>
          <p:cNvGrpSpPr/>
          <p:nvPr/>
        </p:nvGrpSpPr>
        <p:grpSpPr>
          <a:xfrm>
            <a:off x="9574602" y="2081083"/>
            <a:ext cx="1987503" cy="4413477"/>
            <a:chOff x="9230061" y="1271505"/>
            <a:chExt cx="1987503" cy="4413477"/>
          </a:xfrm>
        </p:grpSpPr>
        <p:grpSp>
          <p:nvGrpSpPr>
            <p:cNvPr id="7" name="Group 6">
              <a:extLst>
                <a:ext uri="{FF2B5EF4-FFF2-40B4-BE49-F238E27FC236}">
                  <a16:creationId xmlns:a16="http://schemas.microsoft.com/office/drawing/2014/main" id="{9025CB73-E145-6A59-95AD-F9AF92EF3D8D}"/>
                </a:ext>
              </a:extLst>
            </p:cNvPr>
            <p:cNvGrpSpPr/>
            <p:nvPr/>
          </p:nvGrpSpPr>
          <p:grpSpPr>
            <a:xfrm>
              <a:off x="10132291" y="1302327"/>
              <a:ext cx="1085273" cy="4382655"/>
              <a:chOff x="10497128" y="1302327"/>
              <a:chExt cx="720436" cy="4382655"/>
            </a:xfrm>
          </p:grpSpPr>
          <p:grpSp>
            <p:nvGrpSpPr>
              <p:cNvPr id="9" name="Group 8">
                <a:extLst>
                  <a:ext uri="{FF2B5EF4-FFF2-40B4-BE49-F238E27FC236}">
                    <a16:creationId xmlns:a16="http://schemas.microsoft.com/office/drawing/2014/main" id="{B14251AD-5B4E-A4FD-A057-4DA3FF993B67}"/>
                  </a:ext>
                </a:extLst>
              </p:cNvPr>
              <p:cNvGrpSpPr/>
              <p:nvPr/>
            </p:nvGrpSpPr>
            <p:grpSpPr>
              <a:xfrm>
                <a:off x="10497128" y="1302327"/>
                <a:ext cx="720436" cy="4382655"/>
                <a:chOff x="10497128" y="1302327"/>
                <a:chExt cx="720436" cy="4382655"/>
              </a:xfrm>
            </p:grpSpPr>
            <p:cxnSp>
              <p:nvCxnSpPr>
                <p:cNvPr id="12" name="Straight Connector 11">
                  <a:extLst>
                    <a:ext uri="{FF2B5EF4-FFF2-40B4-BE49-F238E27FC236}">
                      <a16:creationId xmlns:a16="http://schemas.microsoft.com/office/drawing/2014/main" id="{45197739-8C7F-135A-EC61-9BD72A3B2BB6}"/>
                    </a:ext>
                  </a:extLst>
                </p:cNvPr>
                <p:cNvCxnSpPr>
                  <a:cxnSpLocks/>
                </p:cNvCxnSpPr>
                <p:nvPr/>
              </p:nvCxnSpPr>
              <p:spPr>
                <a:xfrm>
                  <a:off x="10497128" y="130232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97511E4-65C6-AE5C-A9D8-5E2512B42D1D}"/>
                    </a:ext>
                  </a:extLst>
                </p:cNvPr>
                <p:cNvCxnSpPr>
                  <a:cxnSpLocks/>
                </p:cNvCxnSpPr>
                <p:nvPr/>
              </p:nvCxnSpPr>
              <p:spPr>
                <a:xfrm>
                  <a:off x="10497128" y="163945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34BD74B-D075-F1E7-EE78-3E7366A44598}"/>
                    </a:ext>
                  </a:extLst>
                </p:cNvPr>
                <p:cNvCxnSpPr>
                  <a:cxnSpLocks/>
                </p:cNvCxnSpPr>
                <p:nvPr/>
              </p:nvCxnSpPr>
              <p:spPr>
                <a:xfrm>
                  <a:off x="10497128" y="197658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D22F120-724D-6B23-A1E5-38A1CF1B791A}"/>
                    </a:ext>
                  </a:extLst>
                </p:cNvPr>
                <p:cNvCxnSpPr>
                  <a:cxnSpLocks/>
                </p:cNvCxnSpPr>
                <p:nvPr/>
              </p:nvCxnSpPr>
              <p:spPr>
                <a:xfrm>
                  <a:off x="10497128" y="2313708"/>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8420F05-C205-43D2-E4B3-3DF961A97C4F}"/>
                    </a:ext>
                  </a:extLst>
                </p:cNvPr>
                <p:cNvCxnSpPr>
                  <a:cxnSpLocks/>
                </p:cNvCxnSpPr>
                <p:nvPr/>
              </p:nvCxnSpPr>
              <p:spPr>
                <a:xfrm>
                  <a:off x="10497128" y="2650835"/>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8A10934-A59F-10D4-7BF1-F3D45035A113}"/>
                    </a:ext>
                  </a:extLst>
                </p:cNvPr>
                <p:cNvCxnSpPr>
                  <a:cxnSpLocks/>
                </p:cNvCxnSpPr>
                <p:nvPr/>
              </p:nvCxnSpPr>
              <p:spPr>
                <a:xfrm>
                  <a:off x="10497128" y="298796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AC8E890-12E1-38CD-8931-CCA65550A341}"/>
                    </a:ext>
                  </a:extLst>
                </p:cNvPr>
                <p:cNvCxnSpPr>
                  <a:cxnSpLocks/>
                </p:cNvCxnSpPr>
                <p:nvPr/>
              </p:nvCxnSpPr>
              <p:spPr>
                <a:xfrm>
                  <a:off x="10497128" y="3325089"/>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41DE35E-F73F-034B-9476-3D1D0BE7A155}"/>
                    </a:ext>
                  </a:extLst>
                </p:cNvPr>
                <p:cNvCxnSpPr>
                  <a:cxnSpLocks/>
                </p:cNvCxnSpPr>
                <p:nvPr/>
              </p:nvCxnSpPr>
              <p:spPr>
                <a:xfrm>
                  <a:off x="10497128" y="3662216"/>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B3318AF-EBCD-BC09-6094-5D4175A1B844}"/>
                    </a:ext>
                  </a:extLst>
                </p:cNvPr>
                <p:cNvCxnSpPr>
                  <a:cxnSpLocks/>
                </p:cNvCxnSpPr>
                <p:nvPr/>
              </p:nvCxnSpPr>
              <p:spPr>
                <a:xfrm>
                  <a:off x="10497128" y="3999343"/>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55D415D-9088-F550-29C3-63C522C20B23}"/>
                    </a:ext>
                  </a:extLst>
                </p:cNvPr>
                <p:cNvCxnSpPr>
                  <a:cxnSpLocks/>
                </p:cNvCxnSpPr>
                <p:nvPr/>
              </p:nvCxnSpPr>
              <p:spPr>
                <a:xfrm>
                  <a:off x="10497128" y="4336470"/>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F2DB194-DEF7-DC5B-6F2A-DFA82E05CE76}"/>
                    </a:ext>
                  </a:extLst>
                </p:cNvPr>
                <p:cNvCxnSpPr>
                  <a:cxnSpLocks/>
                </p:cNvCxnSpPr>
                <p:nvPr/>
              </p:nvCxnSpPr>
              <p:spPr>
                <a:xfrm>
                  <a:off x="10497128" y="467359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80EFCAE-43D2-DFC1-F1D5-FB24CC661CAD}"/>
                    </a:ext>
                  </a:extLst>
                </p:cNvPr>
                <p:cNvCxnSpPr>
                  <a:cxnSpLocks/>
                </p:cNvCxnSpPr>
                <p:nvPr/>
              </p:nvCxnSpPr>
              <p:spPr>
                <a:xfrm>
                  <a:off x="10497128" y="501072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D08AD6A-1C00-FBC4-BCF8-A3A5BAE9289D}"/>
                    </a:ext>
                  </a:extLst>
                </p:cNvPr>
                <p:cNvCxnSpPr>
                  <a:cxnSpLocks/>
                </p:cNvCxnSpPr>
                <p:nvPr/>
              </p:nvCxnSpPr>
              <p:spPr>
                <a:xfrm>
                  <a:off x="10497128" y="534785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FAB2068-FFC8-861B-5D4A-B5CB1F2EE60E}"/>
                    </a:ext>
                  </a:extLst>
                </p:cNvPr>
                <p:cNvCxnSpPr>
                  <a:cxnSpLocks/>
                </p:cNvCxnSpPr>
                <p:nvPr/>
              </p:nvCxnSpPr>
              <p:spPr>
                <a:xfrm>
                  <a:off x="10497128" y="568498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0" name="Straight Connector 9">
                <a:extLst>
                  <a:ext uri="{FF2B5EF4-FFF2-40B4-BE49-F238E27FC236}">
                    <a16:creationId xmlns:a16="http://schemas.microsoft.com/office/drawing/2014/main" id="{51821718-1102-9E25-169B-61B07E19E3A4}"/>
                  </a:ext>
                </a:extLst>
              </p:cNvPr>
              <p:cNvCxnSpPr>
                <a:cxnSpLocks/>
              </p:cNvCxnSpPr>
              <p:nvPr/>
            </p:nvCxnSpPr>
            <p:spPr>
              <a:xfrm>
                <a:off x="10497128"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F6F8547-F0E6-84F5-E807-4D2897E75F4A}"/>
                  </a:ext>
                </a:extLst>
              </p:cNvPr>
              <p:cNvCxnSpPr>
                <a:cxnSpLocks/>
              </p:cNvCxnSpPr>
              <p:nvPr/>
            </p:nvCxnSpPr>
            <p:spPr>
              <a:xfrm>
                <a:off x="11217564"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FD551E55-C59C-FF22-EEE1-9B35A460717D}"/>
                </a:ext>
              </a:extLst>
            </p:cNvPr>
            <p:cNvSpPr txBox="1"/>
            <p:nvPr/>
          </p:nvSpPr>
          <p:spPr>
            <a:xfrm>
              <a:off x="9230061" y="1271505"/>
              <a:ext cx="982480" cy="4405052"/>
            </a:xfrm>
            <a:prstGeom prst="rect">
              <a:avLst/>
            </a:prstGeom>
            <a:noFill/>
          </p:spPr>
          <p:txBody>
            <a:bodyPr wrap="square" rtlCol="0">
              <a:spAutoFit/>
            </a:bodyPr>
            <a:lstStyle/>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[0]</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[2]</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[3]</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[4]</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[5]</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[6]</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[7]</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[8]</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[9]</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[10]</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[11]</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[12]</a:t>
              </a:r>
            </a:p>
          </p:txBody>
        </p:sp>
      </p:grpSp>
      <p:sp>
        <p:nvSpPr>
          <p:cNvPr id="26" name="TextBox 25">
            <a:extLst>
              <a:ext uri="{FF2B5EF4-FFF2-40B4-BE49-F238E27FC236}">
                <a16:creationId xmlns:a16="http://schemas.microsoft.com/office/drawing/2014/main" id="{4FC181DC-AAFC-1843-41D1-DA5C237BEE82}"/>
              </a:ext>
            </a:extLst>
          </p:cNvPr>
          <p:cNvSpPr txBox="1"/>
          <p:nvPr/>
        </p:nvSpPr>
        <p:spPr>
          <a:xfrm>
            <a:off x="10516838" y="2081084"/>
            <a:ext cx="1063941"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Adams</a:t>
            </a:r>
          </a:p>
        </p:txBody>
      </p:sp>
      <p:sp>
        <p:nvSpPr>
          <p:cNvPr id="27" name="TextBox 26">
            <a:extLst>
              <a:ext uri="{FF2B5EF4-FFF2-40B4-BE49-F238E27FC236}">
                <a16:creationId xmlns:a16="http://schemas.microsoft.com/office/drawing/2014/main" id="{1A25A939-D9F7-3E0C-E833-6E25F0EAF68B}"/>
              </a:ext>
            </a:extLst>
          </p:cNvPr>
          <p:cNvSpPr txBox="1"/>
          <p:nvPr/>
        </p:nvSpPr>
        <p:spPr>
          <a:xfrm>
            <a:off x="10568354" y="3094306"/>
            <a:ext cx="1063939"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Davis</a:t>
            </a:r>
          </a:p>
        </p:txBody>
      </p:sp>
      <p:sp>
        <p:nvSpPr>
          <p:cNvPr id="28" name="TextBox 27">
            <a:extLst>
              <a:ext uri="{FF2B5EF4-FFF2-40B4-BE49-F238E27FC236}">
                <a16:creationId xmlns:a16="http://schemas.microsoft.com/office/drawing/2014/main" id="{1719D6DE-A5A7-ED2F-5C73-451122B3A256}"/>
              </a:ext>
            </a:extLst>
          </p:cNvPr>
          <p:cNvSpPr txBox="1"/>
          <p:nvPr/>
        </p:nvSpPr>
        <p:spPr>
          <a:xfrm>
            <a:off x="10568354" y="5110140"/>
            <a:ext cx="1063937"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Jones</a:t>
            </a:r>
          </a:p>
        </p:txBody>
      </p:sp>
    </p:spTree>
    <p:extLst>
      <p:ext uri="{BB962C8B-B14F-4D97-AF65-F5344CB8AC3E}">
        <p14:creationId xmlns:p14="http://schemas.microsoft.com/office/powerpoint/2010/main" val="1473454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2E56C0-35C2-4EAB-9EDB-646E8C5E289B}"/>
              </a:ext>
            </a:extLst>
          </p:cNvPr>
          <p:cNvSpPr>
            <a:spLocks noGrp="1"/>
          </p:cNvSpPr>
          <p:nvPr>
            <p:ph idx="1"/>
          </p:nvPr>
        </p:nvSpPr>
        <p:spPr>
          <a:xfrm>
            <a:off x="559708" y="1908338"/>
            <a:ext cx="8694652" cy="4603790"/>
          </a:xfrm>
        </p:spPr>
        <p:txBody>
          <a:bodyPr anchor="t" anchorCtr="0">
            <a:noAutofit/>
          </a:bodyPr>
          <a:lstStyle/>
          <a:p>
            <a:pPr>
              <a:lnSpc>
                <a:spcPct val="90000"/>
              </a:lnSpc>
            </a:pPr>
            <a:r>
              <a:rPr lang="en-US" sz="3200" dirty="0">
                <a:latin typeface="Times New Roman" panose="02020603050405020304" pitchFamily="18" charset="0"/>
                <a:cs typeface="Times New Roman" panose="02020603050405020304" pitchFamily="18" charset="0"/>
              </a:rPr>
              <a:t>Look within the hash table itself for an open slot to store an item that cannot be stored at its "proper" location because of a collision</a:t>
            </a:r>
          </a:p>
          <a:p>
            <a:pPr>
              <a:lnSpc>
                <a:spcPct val="90000"/>
              </a:lnSpc>
            </a:pPr>
            <a:r>
              <a:rPr lang="en-US" sz="3200" dirty="0">
                <a:latin typeface="Times New Roman" panose="02020603050405020304" pitchFamily="18" charset="0"/>
                <a:cs typeface="Times New Roman" panose="02020603050405020304" pitchFamily="18" charset="0"/>
              </a:rPr>
              <a:t>But if our strategy is just to put the item in the next open slot, what happens if we later get a B name: Baker.  Now the </a:t>
            </a:r>
            <a:r>
              <a:rPr lang="en-US" sz="3200" dirty="0" err="1">
                <a:latin typeface="Times New Roman" panose="02020603050405020304" pitchFamily="18" charset="0"/>
                <a:cs typeface="Times New Roman" panose="02020603050405020304" pitchFamily="18" charset="0"/>
              </a:rPr>
              <a:t>ht</a:t>
            </a:r>
            <a:r>
              <a:rPr lang="en-US" sz="3200" dirty="0">
                <a:latin typeface="Times New Roman" panose="02020603050405020304" pitchFamily="18" charset="0"/>
                <a:cs typeface="Times New Roman" panose="02020603050405020304" pitchFamily="18" charset="0"/>
              </a:rPr>
              <a:t>[1] is already taken up, so we lose our O(1) time and end up having to search item by item in the table.</a:t>
            </a:r>
          </a:p>
        </p:txBody>
      </p:sp>
      <p:sp>
        <p:nvSpPr>
          <p:cNvPr id="3" name="Title 2">
            <a:extLst>
              <a:ext uri="{FF2B5EF4-FFF2-40B4-BE49-F238E27FC236}">
                <a16:creationId xmlns:a16="http://schemas.microsoft.com/office/drawing/2014/main" id="{DCBD4A68-0624-4080-ACDF-CBF1CC40402E}"/>
              </a:ext>
            </a:extLst>
          </p:cNvPr>
          <p:cNvSpPr>
            <a:spLocks noGrp="1"/>
          </p:cNvSpPr>
          <p:nvPr>
            <p:ph type="title"/>
          </p:nvPr>
        </p:nvSpPr>
        <p:spPr>
          <a:xfrm>
            <a:off x="581192" y="976562"/>
            <a:ext cx="9528008" cy="693113"/>
          </a:xfrm>
        </p:spPr>
        <p:txBody>
          <a:bodyPr>
            <a:noAutofit/>
          </a:bodyPr>
          <a:lstStyle/>
          <a:p>
            <a:r>
              <a:rPr lang="en-US" sz="4800" dirty="0"/>
              <a:t>Open Addressing - LINEAR</a:t>
            </a:r>
          </a:p>
        </p:txBody>
      </p:sp>
      <p:grpSp>
        <p:nvGrpSpPr>
          <p:cNvPr id="6" name="the hash table">
            <a:extLst>
              <a:ext uri="{FF2B5EF4-FFF2-40B4-BE49-F238E27FC236}">
                <a16:creationId xmlns:a16="http://schemas.microsoft.com/office/drawing/2014/main" id="{E4D9D04F-D75B-84EE-92B2-326C9FFD22C9}"/>
              </a:ext>
            </a:extLst>
          </p:cNvPr>
          <p:cNvGrpSpPr/>
          <p:nvPr/>
        </p:nvGrpSpPr>
        <p:grpSpPr>
          <a:xfrm>
            <a:off x="9593276" y="2139291"/>
            <a:ext cx="1987503" cy="4413477"/>
            <a:chOff x="9230061" y="1271505"/>
            <a:chExt cx="1987503" cy="4413477"/>
          </a:xfrm>
        </p:grpSpPr>
        <p:grpSp>
          <p:nvGrpSpPr>
            <p:cNvPr id="7" name="Group 6">
              <a:extLst>
                <a:ext uri="{FF2B5EF4-FFF2-40B4-BE49-F238E27FC236}">
                  <a16:creationId xmlns:a16="http://schemas.microsoft.com/office/drawing/2014/main" id="{F7C2D0A6-6CC1-8B87-06B9-31305E94BFFB}"/>
                </a:ext>
              </a:extLst>
            </p:cNvPr>
            <p:cNvGrpSpPr/>
            <p:nvPr/>
          </p:nvGrpSpPr>
          <p:grpSpPr>
            <a:xfrm>
              <a:off x="10132291" y="1302327"/>
              <a:ext cx="1085273" cy="4382655"/>
              <a:chOff x="10497128" y="1302327"/>
              <a:chExt cx="720436" cy="4382655"/>
            </a:xfrm>
          </p:grpSpPr>
          <p:grpSp>
            <p:nvGrpSpPr>
              <p:cNvPr id="9" name="Group 8">
                <a:extLst>
                  <a:ext uri="{FF2B5EF4-FFF2-40B4-BE49-F238E27FC236}">
                    <a16:creationId xmlns:a16="http://schemas.microsoft.com/office/drawing/2014/main" id="{7F1419AE-9E60-14EF-C233-838DE4DC3629}"/>
                  </a:ext>
                </a:extLst>
              </p:cNvPr>
              <p:cNvGrpSpPr/>
              <p:nvPr/>
            </p:nvGrpSpPr>
            <p:grpSpPr>
              <a:xfrm>
                <a:off x="10497128" y="1302327"/>
                <a:ext cx="720436" cy="4382655"/>
                <a:chOff x="10497128" y="1302327"/>
                <a:chExt cx="720436" cy="4382655"/>
              </a:xfrm>
            </p:grpSpPr>
            <p:cxnSp>
              <p:nvCxnSpPr>
                <p:cNvPr id="12" name="Straight Connector 11">
                  <a:extLst>
                    <a:ext uri="{FF2B5EF4-FFF2-40B4-BE49-F238E27FC236}">
                      <a16:creationId xmlns:a16="http://schemas.microsoft.com/office/drawing/2014/main" id="{74B1FBF0-1ADC-B546-DFD7-5B989AF409B5}"/>
                    </a:ext>
                  </a:extLst>
                </p:cNvPr>
                <p:cNvCxnSpPr>
                  <a:cxnSpLocks/>
                </p:cNvCxnSpPr>
                <p:nvPr/>
              </p:nvCxnSpPr>
              <p:spPr>
                <a:xfrm>
                  <a:off x="10497128" y="130232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3D1CDDA-B8E9-E208-1E16-46E550C351F6}"/>
                    </a:ext>
                  </a:extLst>
                </p:cNvPr>
                <p:cNvCxnSpPr>
                  <a:cxnSpLocks/>
                </p:cNvCxnSpPr>
                <p:nvPr/>
              </p:nvCxnSpPr>
              <p:spPr>
                <a:xfrm>
                  <a:off x="10497128" y="163945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2836F5-989D-8610-9E23-B2D20B120D8B}"/>
                    </a:ext>
                  </a:extLst>
                </p:cNvPr>
                <p:cNvCxnSpPr>
                  <a:cxnSpLocks/>
                </p:cNvCxnSpPr>
                <p:nvPr/>
              </p:nvCxnSpPr>
              <p:spPr>
                <a:xfrm>
                  <a:off x="10497128" y="197658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92EF4FB-BE7B-C94D-7B9E-E3C168C4EF40}"/>
                    </a:ext>
                  </a:extLst>
                </p:cNvPr>
                <p:cNvCxnSpPr>
                  <a:cxnSpLocks/>
                </p:cNvCxnSpPr>
                <p:nvPr/>
              </p:nvCxnSpPr>
              <p:spPr>
                <a:xfrm>
                  <a:off x="10497128" y="2313708"/>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51D8156-27CA-F076-1907-EA3BE269B871}"/>
                    </a:ext>
                  </a:extLst>
                </p:cNvPr>
                <p:cNvCxnSpPr>
                  <a:cxnSpLocks/>
                </p:cNvCxnSpPr>
                <p:nvPr/>
              </p:nvCxnSpPr>
              <p:spPr>
                <a:xfrm>
                  <a:off x="10497128" y="2650835"/>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B4F9085-1B4E-3F85-FED6-A7A533D9A3F7}"/>
                    </a:ext>
                  </a:extLst>
                </p:cNvPr>
                <p:cNvCxnSpPr>
                  <a:cxnSpLocks/>
                </p:cNvCxnSpPr>
                <p:nvPr/>
              </p:nvCxnSpPr>
              <p:spPr>
                <a:xfrm>
                  <a:off x="10497128" y="298796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BF58A2B-E926-69CD-9548-DC4F0843B2C6}"/>
                    </a:ext>
                  </a:extLst>
                </p:cNvPr>
                <p:cNvCxnSpPr>
                  <a:cxnSpLocks/>
                </p:cNvCxnSpPr>
                <p:nvPr/>
              </p:nvCxnSpPr>
              <p:spPr>
                <a:xfrm>
                  <a:off x="10497128" y="3325089"/>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8BC3D56-5C5A-80A3-53E3-32F4468DB8FB}"/>
                    </a:ext>
                  </a:extLst>
                </p:cNvPr>
                <p:cNvCxnSpPr>
                  <a:cxnSpLocks/>
                </p:cNvCxnSpPr>
                <p:nvPr/>
              </p:nvCxnSpPr>
              <p:spPr>
                <a:xfrm>
                  <a:off x="10497128" y="3662216"/>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F784851-E19D-9918-B855-BC69CAC75F7C}"/>
                    </a:ext>
                  </a:extLst>
                </p:cNvPr>
                <p:cNvCxnSpPr>
                  <a:cxnSpLocks/>
                </p:cNvCxnSpPr>
                <p:nvPr/>
              </p:nvCxnSpPr>
              <p:spPr>
                <a:xfrm>
                  <a:off x="10497128" y="3999343"/>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60BF6CF-04C3-37EB-7F97-27B1B409D59A}"/>
                    </a:ext>
                  </a:extLst>
                </p:cNvPr>
                <p:cNvCxnSpPr>
                  <a:cxnSpLocks/>
                </p:cNvCxnSpPr>
                <p:nvPr/>
              </p:nvCxnSpPr>
              <p:spPr>
                <a:xfrm>
                  <a:off x="10497128" y="4336470"/>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D162456-CFC7-56EE-0DBF-1164809E3E99}"/>
                    </a:ext>
                  </a:extLst>
                </p:cNvPr>
                <p:cNvCxnSpPr>
                  <a:cxnSpLocks/>
                </p:cNvCxnSpPr>
                <p:nvPr/>
              </p:nvCxnSpPr>
              <p:spPr>
                <a:xfrm>
                  <a:off x="10497128" y="467359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7351EAD-5E2E-1FE1-4CCB-6B0F7F6069BC}"/>
                    </a:ext>
                  </a:extLst>
                </p:cNvPr>
                <p:cNvCxnSpPr>
                  <a:cxnSpLocks/>
                </p:cNvCxnSpPr>
                <p:nvPr/>
              </p:nvCxnSpPr>
              <p:spPr>
                <a:xfrm>
                  <a:off x="10497128" y="501072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BB42509-8647-7DDA-2910-842373E34E4B}"/>
                    </a:ext>
                  </a:extLst>
                </p:cNvPr>
                <p:cNvCxnSpPr>
                  <a:cxnSpLocks/>
                </p:cNvCxnSpPr>
                <p:nvPr/>
              </p:nvCxnSpPr>
              <p:spPr>
                <a:xfrm>
                  <a:off x="10497128" y="534785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C86A2AB-A667-BC11-9C92-CD932E9FFD6E}"/>
                    </a:ext>
                  </a:extLst>
                </p:cNvPr>
                <p:cNvCxnSpPr>
                  <a:cxnSpLocks/>
                </p:cNvCxnSpPr>
                <p:nvPr/>
              </p:nvCxnSpPr>
              <p:spPr>
                <a:xfrm>
                  <a:off x="10497128" y="568498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0" name="Straight Connector 9">
                <a:extLst>
                  <a:ext uri="{FF2B5EF4-FFF2-40B4-BE49-F238E27FC236}">
                    <a16:creationId xmlns:a16="http://schemas.microsoft.com/office/drawing/2014/main" id="{A968C0B5-BEE0-1C71-559D-DD0CD92E25FC}"/>
                  </a:ext>
                </a:extLst>
              </p:cNvPr>
              <p:cNvCxnSpPr>
                <a:cxnSpLocks/>
              </p:cNvCxnSpPr>
              <p:nvPr/>
            </p:nvCxnSpPr>
            <p:spPr>
              <a:xfrm>
                <a:off x="10497128"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C3868EE-ADED-982C-4E4C-C0B5284E7F9A}"/>
                  </a:ext>
                </a:extLst>
              </p:cNvPr>
              <p:cNvCxnSpPr>
                <a:cxnSpLocks/>
              </p:cNvCxnSpPr>
              <p:nvPr/>
            </p:nvCxnSpPr>
            <p:spPr>
              <a:xfrm>
                <a:off x="11217564"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A0EE72AE-FB6C-F915-FC28-D8205EE4E37C}"/>
                </a:ext>
              </a:extLst>
            </p:cNvPr>
            <p:cNvSpPr txBox="1"/>
            <p:nvPr/>
          </p:nvSpPr>
          <p:spPr>
            <a:xfrm>
              <a:off x="9230061" y="1271505"/>
              <a:ext cx="982480" cy="4405052"/>
            </a:xfrm>
            <a:prstGeom prst="rect">
              <a:avLst/>
            </a:prstGeom>
            <a:noFill/>
          </p:spPr>
          <p:txBody>
            <a:bodyPr wrap="square" rtlCol="0">
              <a:spAutoFit/>
            </a:bodyPr>
            <a:lstStyle/>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[0]</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[2]</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[3]</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[4]</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[5]</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[6]</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[7]</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[8]</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[9]</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[10]</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[11]</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[12]</a:t>
              </a:r>
            </a:p>
          </p:txBody>
        </p:sp>
      </p:grpSp>
      <p:sp>
        <p:nvSpPr>
          <p:cNvPr id="26" name="TextBox 25">
            <a:extLst>
              <a:ext uri="{FF2B5EF4-FFF2-40B4-BE49-F238E27FC236}">
                <a16:creationId xmlns:a16="http://schemas.microsoft.com/office/drawing/2014/main" id="{FE895693-CACF-EC35-06A8-E3321AA64F20}"/>
              </a:ext>
            </a:extLst>
          </p:cNvPr>
          <p:cNvSpPr txBox="1"/>
          <p:nvPr/>
        </p:nvSpPr>
        <p:spPr>
          <a:xfrm>
            <a:off x="10516838" y="2081084"/>
            <a:ext cx="1063941"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Adams</a:t>
            </a:r>
          </a:p>
        </p:txBody>
      </p:sp>
      <p:sp>
        <p:nvSpPr>
          <p:cNvPr id="27" name="TextBox 26">
            <a:extLst>
              <a:ext uri="{FF2B5EF4-FFF2-40B4-BE49-F238E27FC236}">
                <a16:creationId xmlns:a16="http://schemas.microsoft.com/office/drawing/2014/main" id="{F20549E1-A287-DEA4-72D0-7B8203488F5B}"/>
              </a:ext>
            </a:extLst>
          </p:cNvPr>
          <p:cNvSpPr txBox="1"/>
          <p:nvPr/>
        </p:nvSpPr>
        <p:spPr>
          <a:xfrm>
            <a:off x="10568354" y="3094306"/>
            <a:ext cx="1063939"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Davis</a:t>
            </a:r>
          </a:p>
        </p:txBody>
      </p:sp>
      <p:sp>
        <p:nvSpPr>
          <p:cNvPr id="28" name="TextBox 27">
            <a:extLst>
              <a:ext uri="{FF2B5EF4-FFF2-40B4-BE49-F238E27FC236}">
                <a16:creationId xmlns:a16="http://schemas.microsoft.com/office/drawing/2014/main" id="{DAC6CE73-8E68-566E-C37F-E034D57FF64E}"/>
              </a:ext>
            </a:extLst>
          </p:cNvPr>
          <p:cNvSpPr txBox="1"/>
          <p:nvPr/>
        </p:nvSpPr>
        <p:spPr>
          <a:xfrm>
            <a:off x="10568354" y="5110140"/>
            <a:ext cx="1063937"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Jones</a:t>
            </a:r>
          </a:p>
        </p:txBody>
      </p:sp>
      <p:sp>
        <p:nvSpPr>
          <p:cNvPr id="29" name="TextBox 28">
            <a:extLst>
              <a:ext uri="{FF2B5EF4-FFF2-40B4-BE49-F238E27FC236}">
                <a16:creationId xmlns:a16="http://schemas.microsoft.com/office/drawing/2014/main" id="{1FF8CE52-C3CF-1842-D530-6CD4A7F5242A}"/>
              </a:ext>
            </a:extLst>
          </p:cNvPr>
          <p:cNvSpPr txBox="1"/>
          <p:nvPr/>
        </p:nvSpPr>
        <p:spPr>
          <a:xfrm>
            <a:off x="10533212" y="2412389"/>
            <a:ext cx="1032655" cy="461665"/>
          </a:xfrm>
          <a:prstGeom prst="rect">
            <a:avLst/>
          </a:prstGeom>
          <a:noFill/>
        </p:spPr>
        <p:txBody>
          <a:bodyPr wrap="square" rtlCol="0">
            <a:spAutoFit/>
          </a:bodyPr>
          <a:lstStyle/>
          <a:p>
            <a:r>
              <a:rPr lang="en-US" sz="2400" dirty="0">
                <a:solidFill>
                  <a:srgbClr val="0070C0"/>
                </a:solidFill>
                <a:latin typeface="Times New Roman" panose="02020603050405020304" pitchFamily="18" charset="0"/>
              </a:rPr>
              <a:t>Apple</a:t>
            </a:r>
          </a:p>
        </p:txBody>
      </p:sp>
      <p:sp>
        <p:nvSpPr>
          <p:cNvPr id="30" name="TextBox 29">
            <a:extLst>
              <a:ext uri="{FF2B5EF4-FFF2-40B4-BE49-F238E27FC236}">
                <a16:creationId xmlns:a16="http://schemas.microsoft.com/office/drawing/2014/main" id="{20A97E02-B101-1AAC-C92A-6D20990467BC}"/>
              </a:ext>
            </a:extLst>
          </p:cNvPr>
          <p:cNvSpPr txBox="1"/>
          <p:nvPr/>
        </p:nvSpPr>
        <p:spPr>
          <a:xfrm>
            <a:off x="10483153" y="2721869"/>
            <a:ext cx="1032655" cy="461665"/>
          </a:xfrm>
          <a:prstGeom prst="rect">
            <a:avLst/>
          </a:prstGeom>
          <a:noFill/>
        </p:spPr>
        <p:txBody>
          <a:bodyPr wrap="square" rtlCol="0">
            <a:spAutoFit/>
          </a:bodyPr>
          <a:lstStyle/>
          <a:p>
            <a:r>
              <a:rPr lang="en-US" sz="2400" dirty="0">
                <a:solidFill>
                  <a:srgbClr val="0070C0"/>
                </a:solidFill>
                <a:latin typeface="Times New Roman" panose="02020603050405020304" pitchFamily="18" charset="0"/>
              </a:rPr>
              <a:t>Ant</a:t>
            </a:r>
          </a:p>
        </p:txBody>
      </p:sp>
      <p:sp>
        <p:nvSpPr>
          <p:cNvPr id="31" name="TextBox 30">
            <a:extLst>
              <a:ext uri="{FF2B5EF4-FFF2-40B4-BE49-F238E27FC236}">
                <a16:creationId xmlns:a16="http://schemas.microsoft.com/office/drawing/2014/main" id="{DB83375E-1C2E-492A-F090-E31F71676F60}"/>
              </a:ext>
            </a:extLst>
          </p:cNvPr>
          <p:cNvSpPr txBox="1"/>
          <p:nvPr/>
        </p:nvSpPr>
        <p:spPr>
          <a:xfrm>
            <a:off x="10530717" y="3416093"/>
            <a:ext cx="1032655" cy="461665"/>
          </a:xfrm>
          <a:prstGeom prst="rect">
            <a:avLst/>
          </a:prstGeom>
          <a:noFill/>
        </p:spPr>
        <p:txBody>
          <a:bodyPr wrap="square" rtlCol="0">
            <a:spAutoFit/>
          </a:bodyPr>
          <a:lstStyle/>
          <a:p>
            <a:r>
              <a:rPr lang="en-US" sz="2400" dirty="0">
                <a:solidFill>
                  <a:srgbClr val="0070C0"/>
                </a:solidFill>
                <a:latin typeface="Times New Roman" panose="02020603050405020304" pitchFamily="18" charset="0"/>
              </a:rPr>
              <a:t>Arrow</a:t>
            </a:r>
          </a:p>
        </p:txBody>
      </p:sp>
      <p:sp>
        <p:nvSpPr>
          <p:cNvPr id="32" name="TextBox 31">
            <a:extLst>
              <a:ext uri="{FF2B5EF4-FFF2-40B4-BE49-F238E27FC236}">
                <a16:creationId xmlns:a16="http://schemas.microsoft.com/office/drawing/2014/main" id="{C618D3BF-188D-AAAB-F153-35C59A173D67}"/>
              </a:ext>
            </a:extLst>
          </p:cNvPr>
          <p:cNvSpPr txBox="1"/>
          <p:nvPr/>
        </p:nvSpPr>
        <p:spPr>
          <a:xfrm>
            <a:off x="10493087" y="3744291"/>
            <a:ext cx="1032655" cy="461665"/>
          </a:xfrm>
          <a:prstGeom prst="rect">
            <a:avLst/>
          </a:prstGeom>
          <a:noFill/>
        </p:spPr>
        <p:txBody>
          <a:bodyPr wrap="square" rtlCol="0">
            <a:spAutoFit/>
          </a:bodyPr>
          <a:lstStyle/>
          <a:p>
            <a:r>
              <a:rPr lang="en-US" sz="2400" dirty="0">
                <a:solidFill>
                  <a:srgbClr val="0070C0"/>
                </a:solidFill>
                <a:latin typeface="Times New Roman" panose="02020603050405020304" pitchFamily="18" charset="0"/>
              </a:rPr>
              <a:t>Delta</a:t>
            </a:r>
          </a:p>
        </p:txBody>
      </p:sp>
    </p:spTree>
    <p:extLst>
      <p:ext uri="{BB962C8B-B14F-4D97-AF65-F5344CB8AC3E}">
        <p14:creationId xmlns:p14="http://schemas.microsoft.com/office/powerpoint/2010/main" val="2327341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 calcmode="lin" valueType="num">
                                      <p:cBhvr additive="base">
                                        <p:cTn id="13" dur="500" fill="hold"/>
                                        <p:tgtEl>
                                          <p:spTgt spid="30"/>
                                        </p:tgtEl>
                                        <p:attrNameLst>
                                          <p:attrName>ppt_x</p:attrName>
                                        </p:attrNameLst>
                                      </p:cBhvr>
                                      <p:tavLst>
                                        <p:tav tm="0">
                                          <p:val>
                                            <p:strVal val="#ppt_x"/>
                                          </p:val>
                                        </p:tav>
                                        <p:tav tm="100000">
                                          <p:val>
                                            <p:strVal val="#ppt_x"/>
                                          </p:val>
                                        </p:tav>
                                      </p:tavLst>
                                    </p:anim>
                                    <p:anim calcmode="lin" valueType="num">
                                      <p:cBhvr additive="base">
                                        <p:cTn id="14"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fill="hold"/>
                                        <p:tgtEl>
                                          <p:spTgt spid="31"/>
                                        </p:tgtEl>
                                        <p:attrNameLst>
                                          <p:attrName>ppt_x</p:attrName>
                                        </p:attrNameLst>
                                      </p:cBhvr>
                                      <p:tavLst>
                                        <p:tav tm="0">
                                          <p:val>
                                            <p:strVal val="#ppt_x"/>
                                          </p:val>
                                        </p:tav>
                                        <p:tav tm="100000">
                                          <p:val>
                                            <p:strVal val="#ppt_x"/>
                                          </p:val>
                                        </p:tav>
                                      </p:tavLst>
                                    </p:anim>
                                    <p:anim calcmode="lin" valueType="num">
                                      <p:cBhvr additive="base">
                                        <p:cTn id="20"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ppt_x"/>
                                          </p:val>
                                        </p:tav>
                                        <p:tav tm="100000">
                                          <p:val>
                                            <p:strVal val="#ppt_x"/>
                                          </p:val>
                                        </p:tav>
                                      </p:tavLst>
                                    </p:anim>
                                    <p:anim calcmode="lin" valueType="num">
                                      <p:cBhvr additive="base">
                                        <p:cTn id="26"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2E56C0-35C2-4EAB-9EDB-646E8C5E289B}"/>
              </a:ext>
            </a:extLst>
          </p:cNvPr>
          <p:cNvSpPr>
            <a:spLocks noGrp="1"/>
          </p:cNvSpPr>
          <p:nvPr>
            <p:ph idx="1"/>
          </p:nvPr>
        </p:nvSpPr>
        <p:spPr>
          <a:xfrm>
            <a:off x="348180" y="1876804"/>
            <a:ext cx="11262628" cy="5402762"/>
          </a:xfrm>
        </p:spPr>
        <p:txBody>
          <a:bodyPr anchor="t" anchorCtr="0">
            <a:noAutofit/>
          </a:bodyPr>
          <a:lstStyle/>
          <a:p>
            <a:pPr>
              <a:lnSpc>
                <a:spcPct val="90000"/>
              </a:lnSpc>
            </a:pPr>
            <a:r>
              <a:rPr lang="en-US" sz="2800" dirty="0"/>
              <a:t>The </a:t>
            </a:r>
            <a:r>
              <a:rPr lang="en-US" sz="2800" b="1" dirty="0">
                <a:solidFill>
                  <a:srgbClr val="00B0F0"/>
                </a:solidFill>
              </a:rPr>
              <a:t>probes</a:t>
            </a:r>
            <a:r>
              <a:rPr lang="en-US" sz="2800" dirty="0"/>
              <a:t> into our hash table, looking for an open spot.</a:t>
            </a:r>
          </a:p>
          <a:p>
            <a:pPr marL="0" indent="0">
              <a:lnSpc>
                <a:spcPct val="90000"/>
              </a:lnSpc>
              <a:buNone/>
            </a:pPr>
            <a:endParaRPr lang="en-US" sz="2800" dirty="0"/>
          </a:p>
        </p:txBody>
      </p:sp>
      <p:sp>
        <p:nvSpPr>
          <p:cNvPr id="3" name="Title 2">
            <a:extLst>
              <a:ext uri="{FF2B5EF4-FFF2-40B4-BE49-F238E27FC236}">
                <a16:creationId xmlns:a16="http://schemas.microsoft.com/office/drawing/2014/main" id="{DCBD4A68-0624-4080-ACDF-CBF1CC40402E}"/>
              </a:ext>
            </a:extLst>
          </p:cNvPr>
          <p:cNvSpPr>
            <a:spLocks noGrp="1"/>
          </p:cNvSpPr>
          <p:nvPr>
            <p:ph type="title"/>
          </p:nvPr>
        </p:nvSpPr>
        <p:spPr>
          <a:xfrm>
            <a:off x="581192" y="976562"/>
            <a:ext cx="11029616" cy="693113"/>
          </a:xfrm>
        </p:spPr>
        <p:txBody>
          <a:bodyPr>
            <a:noAutofit/>
          </a:bodyPr>
          <a:lstStyle/>
          <a:p>
            <a:r>
              <a:rPr lang="en-US" sz="3400" dirty="0"/>
              <a:t>Probing the Hash table to find AN open spot</a:t>
            </a:r>
          </a:p>
        </p:txBody>
      </p:sp>
      <p:graphicFrame>
        <p:nvGraphicFramePr>
          <p:cNvPr id="4" name="Table 3">
            <a:extLst>
              <a:ext uri="{FF2B5EF4-FFF2-40B4-BE49-F238E27FC236}">
                <a16:creationId xmlns:a16="http://schemas.microsoft.com/office/drawing/2014/main" id="{B34B24EC-0A0F-E47D-9E1F-45412C5605D0}"/>
              </a:ext>
            </a:extLst>
          </p:cNvPr>
          <p:cNvGraphicFramePr>
            <a:graphicFrameLocks noGrp="1"/>
          </p:cNvGraphicFramePr>
          <p:nvPr/>
        </p:nvGraphicFramePr>
        <p:xfrm>
          <a:off x="2007894" y="2398730"/>
          <a:ext cx="7943200" cy="514657"/>
        </p:xfrm>
        <a:graphic>
          <a:graphicData uri="http://schemas.openxmlformats.org/drawingml/2006/table">
            <a:tbl>
              <a:tblPr firstRow="1" bandRow="1">
                <a:tableStyleId>{F5AB1C69-6EDB-4FF4-983F-18BD219EF322}</a:tableStyleId>
              </a:tblPr>
              <a:tblGrid>
                <a:gridCol w="794320">
                  <a:extLst>
                    <a:ext uri="{9D8B030D-6E8A-4147-A177-3AD203B41FA5}">
                      <a16:colId xmlns:a16="http://schemas.microsoft.com/office/drawing/2014/main" val="1838891793"/>
                    </a:ext>
                  </a:extLst>
                </a:gridCol>
                <a:gridCol w="794320">
                  <a:extLst>
                    <a:ext uri="{9D8B030D-6E8A-4147-A177-3AD203B41FA5}">
                      <a16:colId xmlns:a16="http://schemas.microsoft.com/office/drawing/2014/main" val="3216229625"/>
                    </a:ext>
                  </a:extLst>
                </a:gridCol>
                <a:gridCol w="794320">
                  <a:extLst>
                    <a:ext uri="{9D8B030D-6E8A-4147-A177-3AD203B41FA5}">
                      <a16:colId xmlns:a16="http://schemas.microsoft.com/office/drawing/2014/main" val="67122098"/>
                    </a:ext>
                  </a:extLst>
                </a:gridCol>
                <a:gridCol w="794320">
                  <a:extLst>
                    <a:ext uri="{9D8B030D-6E8A-4147-A177-3AD203B41FA5}">
                      <a16:colId xmlns:a16="http://schemas.microsoft.com/office/drawing/2014/main" val="1048929879"/>
                    </a:ext>
                  </a:extLst>
                </a:gridCol>
                <a:gridCol w="794320">
                  <a:extLst>
                    <a:ext uri="{9D8B030D-6E8A-4147-A177-3AD203B41FA5}">
                      <a16:colId xmlns:a16="http://schemas.microsoft.com/office/drawing/2014/main" val="1290365078"/>
                    </a:ext>
                  </a:extLst>
                </a:gridCol>
                <a:gridCol w="794320">
                  <a:extLst>
                    <a:ext uri="{9D8B030D-6E8A-4147-A177-3AD203B41FA5}">
                      <a16:colId xmlns:a16="http://schemas.microsoft.com/office/drawing/2014/main" val="1794349000"/>
                    </a:ext>
                  </a:extLst>
                </a:gridCol>
                <a:gridCol w="794320">
                  <a:extLst>
                    <a:ext uri="{9D8B030D-6E8A-4147-A177-3AD203B41FA5}">
                      <a16:colId xmlns:a16="http://schemas.microsoft.com/office/drawing/2014/main" val="247777362"/>
                    </a:ext>
                  </a:extLst>
                </a:gridCol>
                <a:gridCol w="794320">
                  <a:extLst>
                    <a:ext uri="{9D8B030D-6E8A-4147-A177-3AD203B41FA5}">
                      <a16:colId xmlns:a16="http://schemas.microsoft.com/office/drawing/2014/main" val="2704796698"/>
                    </a:ext>
                  </a:extLst>
                </a:gridCol>
                <a:gridCol w="794320">
                  <a:extLst>
                    <a:ext uri="{9D8B030D-6E8A-4147-A177-3AD203B41FA5}">
                      <a16:colId xmlns:a16="http://schemas.microsoft.com/office/drawing/2014/main" val="53088556"/>
                    </a:ext>
                  </a:extLst>
                </a:gridCol>
                <a:gridCol w="794320">
                  <a:extLst>
                    <a:ext uri="{9D8B030D-6E8A-4147-A177-3AD203B41FA5}">
                      <a16:colId xmlns:a16="http://schemas.microsoft.com/office/drawing/2014/main" val="2122746333"/>
                    </a:ext>
                  </a:extLst>
                </a:gridCol>
              </a:tblGrid>
              <a:tr h="514657">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extLst>
                  <a:ext uri="{0D108BD9-81ED-4DB2-BD59-A6C34878D82A}">
                    <a16:rowId xmlns:a16="http://schemas.microsoft.com/office/drawing/2014/main" val="4061759863"/>
                  </a:ext>
                </a:extLst>
              </a:tr>
            </a:tbl>
          </a:graphicData>
        </a:graphic>
      </p:graphicFrame>
      <p:sp>
        <p:nvSpPr>
          <p:cNvPr id="6" name="TextBox 5">
            <a:extLst>
              <a:ext uri="{FF2B5EF4-FFF2-40B4-BE49-F238E27FC236}">
                <a16:creationId xmlns:a16="http://schemas.microsoft.com/office/drawing/2014/main" id="{B8237779-9578-8A8F-85EB-EA6CC8A9312B}"/>
              </a:ext>
            </a:extLst>
          </p:cNvPr>
          <p:cNvSpPr txBox="1"/>
          <p:nvPr/>
        </p:nvSpPr>
        <p:spPr>
          <a:xfrm>
            <a:off x="1991864" y="2834052"/>
            <a:ext cx="7975260" cy="369332"/>
          </a:xfrm>
          <a:prstGeom prst="rect">
            <a:avLst/>
          </a:prstGeom>
          <a:noFill/>
        </p:spPr>
        <p:txBody>
          <a:bodyPr wrap="none" rtlCol="0">
            <a:spAutoFit/>
          </a:bodyPr>
          <a:lstStyle/>
          <a:p>
            <a:r>
              <a:rPr lang="en-US" dirty="0">
                <a:latin typeface="Times New Roman" panose="02020603050405020304" pitchFamily="18" charset="0"/>
              </a:rPr>
              <a:t>0             1                2            3              4           5            6           7           8            9</a:t>
            </a:r>
          </a:p>
        </p:txBody>
      </p:sp>
      <p:sp>
        <p:nvSpPr>
          <p:cNvPr id="8" name="TextBox 7">
            <a:extLst>
              <a:ext uri="{FF2B5EF4-FFF2-40B4-BE49-F238E27FC236}">
                <a16:creationId xmlns:a16="http://schemas.microsoft.com/office/drawing/2014/main" id="{58AF52DB-0F67-5C4D-4518-7F6C58D336DF}"/>
              </a:ext>
            </a:extLst>
          </p:cNvPr>
          <p:cNvSpPr txBox="1"/>
          <p:nvPr/>
        </p:nvSpPr>
        <p:spPr>
          <a:xfrm>
            <a:off x="348180" y="3206504"/>
            <a:ext cx="11495640" cy="3539430"/>
          </a:xfrm>
          <a:prstGeom prst="rect">
            <a:avLst/>
          </a:prstGeom>
          <a:noFill/>
        </p:spPr>
        <p:txBody>
          <a:bodyPr wrap="square">
            <a:spAutoFit/>
          </a:bodyPr>
          <a:lstStyle/>
          <a:p>
            <a:r>
              <a:rPr lang="en-US" sz="2800" dirty="0">
                <a:solidFill>
                  <a:srgbClr val="0070C0"/>
                </a:solidFill>
                <a:latin typeface="Times New Roman" panose="02020603050405020304" pitchFamily="18" charset="0"/>
                <a:cs typeface="Times New Roman" panose="02020603050405020304" pitchFamily="18" charset="0"/>
              </a:rPr>
              <a:t>//Probe Function Pseudocode</a:t>
            </a:r>
          </a:p>
          <a:p>
            <a:r>
              <a:rPr lang="en-US" sz="2800" dirty="0">
                <a:solidFill>
                  <a:srgbClr val="0070C0"/>
                </a:solidFill>
                <a:latin typeface="Times New Roman" panose="02020603050405020304" pitchFamily="18" charset="0"/>
                <a:cs typeface="Times New Roman" panose="02020603050405020304" pitchFamily="18" charset="0"/>
              </a:rPr>
              <a:t>int   </a:t>
            </a:r>
            <a:r>
              <a:rPr lang="en-US" sz="2800" dirty="0" err="1">
                <a:solidFill>
                  <a:srgbClr val="0070C0"/>
                </a:solidFill>
                <a:latin typeface="Times New Roman" panose="02020603050405020304" pitchFamily="18" charset="0"/>
                <a:cs typeface="Times New Roman" panose="02020603050405020304" pitchFamily="18" charset="0"/>
              </a:rPr>
              <a:t>linearProbingPosition</a:t>
            </a:r>
            <a:r>
              <a:rPr lang="en-US" sz="2800" dirty="0">
                <a:solidFill>
                  <a:srgbClr val="0070C0"/>
                </a:solidFill>
                <a:latin typeface="Times New Roman" panose="02020603050405020304" pitchFamily="18" charset="0"/>
                <a:cs typeface="Times New Roman" panose="02020603050405020304" pitchFamily="18" charset="0"/>
              </a:rPr>
              <a:t>(int tries, key){       //ex.  </a:t>
            </a:r>
            <a:r>
              <a:rPr lang="en-US" sz="2800" dirty="0" err="1">
                <a:solidFill>
                  <a:srgbClr val="0070C0"/>
                </a:solidFill>
                <a:latin typeface="Times New Roman" panose="02020603050405020304" pitchFamily="18" charset="0"/>
                <a:cs typeface="Times New Roman" panose="02020603050405020304" pitchFamily="18" charset="0"/>
              </a:rPr>
              <a:t>findIndex</a:t>
            </a:r>
            <a:r>
              <a:rPr lang="en-US" sz="2800" dirty="0">
                <a:solidFill>
                  <a:srgbClr val="0070C0"/>
                </a:solidFill>
                <a:latin typeface="Times New Roman" panose="02020603050405020304" pitchFamily="18" charset="0"/>
                <a:cs typeface="Times New Roman" panose="02020603050405020304" pitchFamily="18" charset="0"/>
              </a:rPr>
              <a:t>(0, 3);</a:t>
            </a:r>
          </a:p>
          <a:p>
            <a:r>
              <a:rPr lang="en-US" sz="2800" dirty="0">
                <a:solidFill>
                  <a:srgbClr val="0070C0"/>
                </a:solidFill>
                <a:latin typeface="Times New Roman" panose="02020603050405020304" pitchFamily="18" charset="0"/>
                <a:cs typeface="Times New Roman" panose="02020603050405020304" pitchFamily="18" charset="0"/>
              </a:rPr>
              <a:t>	//Use a hash function to figure out where to put the value</a:t>
            </a:r>
          </a:p>
          <a:p>
            <a:r>
              <a:rPr lang="en-US" sz="2800" dirty="0">
                <a:solidFill>
                  <a:srgbClr val="0070C0"/>
                </a:solidFill>
                <a:latin typeface="Times New Roman" panose="02020603050405020304" pitchFamily="18" charset="0"/>
                <a:cs typeface="Times New Roman" panose="02020603050405020304" pitchFamily="18" charset="0"/>
              </a:rPr>
              <a:t>     //ex.  if your hash function is %10     3%10=3, you should put 3 at index 3</a:t>
            </a:r>
            <a:br>
              <a:rPr lang="en-US" sz="2800" dirty="0">
                <a:solidFill>
                  <a:srgbClr val="0070C0"/>
                </a:solidFill>
                <a:latin typeface="Times New Roman" panose="02020603050405020304" pitchFamily="18" charset="0"/>
                <a:cs typeface="Times New Roman" panose="02020603050405020304" pitchFamily="18" charset="0"/>
              </a:rPr>
            </a:br>
            <a:r>
              <a:rPr lang="en-US" sz="2800" dirty="0">
                <a:solidFill>
                  <a:srgbClr val="0070C0"/>
                </a:solidFill>
                <a:latin typeface="Times New Roman" panose="02020603050405020304" pitchFamily="18" charset="0"/>
                <a:cs typeface="Times New Roman" panose="02020603050405020304" pitchFamily="18" charset="0"/>
              </a:rPr>
              <a:t>     //                                                        13%10=3, you should put 13 at index 3</a:t>
            </a:r>
          </a:p>
          <a:p>
            <a:r>
              <a:rPr lang="en-US" sz="2800" dirty="0">
                <a:solidFill>
                  <a:srgbClr val="0070C0"/>
                </a:solidFill>
                <a:latin typeface="Times New Roman" panose="02020603050405020304" pitchFamily="18" charset="0"/>
                <a:cs typeface="Times New Roman" panose="02020603050405020304" pitchFamily="18" charset="0"/>
              </a:rPr>
              <a:t>     //add on tries</a:t>
            </a:r>
          </a:p>
          <a:p>
            <a:r>
              <a:rPr lang="en-US" sz="2800" dirty="0">
                <a:solidFill>
                  <a:srgbClr val="0070C0"/>
                </a:solidFill>
                <a:latin typeface="Times New Roman" panose="02020603050405020304" pitchFamily="18" charset="0"/>
                <a:cs typeface="Times New Roman" panose="02020603050405020304" pitchFamily="18" charset="0"/>
              </a:rPr>
              <a:t>     //if this puts you outside bounds of array, adjust %10 (ARRAY_SIZE)</a:t>
            </a:r>
          </a:p>
          <a:p>
            <a:r>
              <a:rPr lang="en-US" sz="2800" dirty="0">
                <a:solidFill>
                  <a:srgbClr val="0070C0"/>
                </a:solidFill>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endParaRPr>
          </a:p>
        </p:txBody>
      </p:sp>
      <p:sp>
        <p:nvSpPr>
          <p:cNvPr id="10" name="TextBox 9">
            <a:extLst>
              <a:ext uri="{FF2B5EF4-FFF2-40B4-BE49-F238E27FC236}">
                <a16:creationId xmlns:a16="http://schemas.microsoft.com/office/drawing/2014/main" id="{31F27A57-9229-F8BA-5137-6CD8C6E93AB4}"/>
              </a:ext>
            </a:extLst>
          </p:cNvPr>
          <p:cNvSpPr txBox="1"/>
          <p:nvPr/>
        </p:nvSpPr>
        <p:spPr>
          <a:xfrm>
            <a:off x="4634584" y="2384213"/>
            <a:ext cx="409903" cy="523220"/>
          </a:xfrm>
          <a:prstGeom prst="rect">
            <a:avLst/>
          </a:prstGeom>
          <a:noFill/>
        </p:spPr>
        <p:txBody>
          <a:bodyPr wrap="square" rtlCol="0">
            <a:spAutoFit/>
          </a:bodyPr>
          <a:lstStyle/>
          <a:p>
            <a:r>
              <a:rPr lang="en-US" sz="2800" dirty="0">
                <a:latin typeface="Times New Roman" panose="02020603050405020304" pitchFamily="18" charset="0"/>
              </a:rPr>
              <a:t>3</a:t>
            </a:r>
          </a:p>
        </p:txBody>
      </p:sp>
    </p:spTree>
    <p:extLst>
      <p:ext uri="{BB962C8B-B14F-4D97-AF65-F5344CB8AC3E}">
        <p14:creationId xmlns:p14="http://schemas.microsoft.com/office/powerpoint/2010/main" val="3585635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2E56C0-35C2-4EAB-9EDB-646E8C5E289B}"/>
              </a:ext>
            </a:extLst>
          </p:cNvPr>
          <p:cNvSpPr>
            <a:spLocks noGrp="1"/>
          </p:cNvSpPr>
          <p:nvPr>
            <p:ph idx="1"/>
          </p:nvPr>
        </p:nvSpPr>
        <p:spPr>
          <a:xfrm>
            <a:off x="348180" y="1876804"/>
            <a:ext cx="11262628" cy="5402762"/>
          </a:xfrm>
        </p:spPr>
        <p:txBody>
          <a:bodyPr anchor="t" anchorCtr="0">
            <a:noAutofit/>
          </a:bodyPr>
          <a:lstStyle/>
          <a:p>
            <a:pPr>
              <a:lnSpc>
                <a:spcPct val="90000"/>
              </a:lnSpc>
            </a:pPr>
            <a:r>
              <a:rPr lang="en-US" sz="2800" dirty="0"/>
              <a:t>The </a:t>
            </a:r>
            <a:r>
              <a:rPr lang="en-US" sz="2800" b="1" dirty="0">
                <a:solidFill>
                  <a:srgbClr val="00B0F0"/>
                </a:solidFill>
              </a:rPr>
              <a:t>probes</a:t>
            </a:r>
            <a:r>
              <a:rPr lang="en-US" sz="2800" dirty="0"/>
              <a:t> into our hash table, looking for an open spot</a:t>
            </a:r>
          </a:p>
          <a:p>
            <a:pPr>
              <a:lnSpc>
                <a:spcPct val="90000"/>
              </a:lnSpc>
            </a:pPr>
            <a:r>
              <a:rPr lang="en-US" sz="2800" dirty="0"/>
              <a:t>Our </a:t>
            </a:r>
            <a:r>
              <a:rPr lang="en-US" sz="2800" b="1" dirty="0">
                <a:solidFill>
                  <a:srgbClr val="00B0F0"/>
                </a:solidFill>
              </a:rPr>
              <a:t>probe generator</a:t>
            </a:r>
            <a:r>
              <a:rPr lang="en-US" sz="2800" dirty="0"/>
              <a:t>, will find the next spot to check</a:t>
            </a:r>
          </a:p>
          <a:p>
            <a:pPr marL="0" indent="0">
              <a:lnSpc>
                <a:spcPct val="90000"/>
              </a:lnSpc>
              <a:buNone/>
            </a:pPr>
            <a:r>
              <a:rPr lang="en-US" sz="2800" dirty="0">
                <a:solidFill>
                  <a:schemeClr val="tx1"/>
                </a:solidFill>
                <a:latin typeface="Times New Roman" panose="02020603050405020304" pitchFamily="18" charset="0"/>
                <a:cs typeface="Times New Roman" panose="02020603050405020304" pitchFamily="18" charset="0"/>
              </a:rPr>
              <a:t>   </a:t>
            </a:r>
          </a:p>
        </p:txBody>
      </p:sp>
      <p:sp>
        <p:nvSpPr>
          <p:cNvPr id="3" name="Title 2">
            <a:extLst>
              <a:ext uri="{FF2B5EF4-FFF2-40B4-BE49-F238E27FC236}">
                <a16:creationId xmlns:a16="http://schemas.microsoft.com/office/drawing/2014/main" id="{DCBD4A68-0624-4080-ACDF-CBF1CC40402E}"/>
              </a:ext>
            </a:extLst>
          </p:cNvPr>
          <p:cNvSpPr>
            <a:spLocks noGrp="1"/>
          </p:cNvSpPr>
          <p:nvPr>
            <p:ph type="title"/>
          </p:nvPr>
        </p:nvSpPr>
        <p:spPr>
          <a:xfrm>
            <a:off x="581192" y="976562"/>
            <a:ext cx="10515600" cy="693113"/>
          </a:xfrm>
        </p:spPr>
        <p:txBody>
          <a:bodyPr>
            <a:normAutofit/>
          </a:bodyPr>
          <a:lstStyle/>
          <a:p>
            <a:r>
              <a:rPr lang="en-US" sz="3200" dirty="0"/>
              <a:t>Probing the Hash table to find AN open spot</a:t>
            </a:r>
          </a:p>
        </p:txBody>
      </p:sp>
      <p:graphicFrame>
        <p:nvGraphicFramePr>
          <p:cNvPr id="4" name="Table 3">
            <a:extLst>
              <a:ext uri="{FF2B5EF4-FFF2-40B4-BE49-F238E27FC236}">
                <a16:creationId xmlns:a16="http://schemas.microsoft.com/office/drawing/2014/main" id="{B34B24EC-0A0F-E47D-9E1F-45412C5605D0}"/>
              </a:ext>
            </a:extLst>
          </p:cNvPr>
          <p:cNvGraphicFramePr>
            <a:graphicFrameLocks noGrp="1"/>
          </p:cNvGraphicFramePr>
          <p:nvPr>
            <p:extLst>
              <p:ext uri="{D42A27DB-BD31-4B8C-83A1-F6EECF244321}">
                <p14:modId xmlns:p14="http://schemas.microsoft.com/office/powerpoint/2010/main" val="901111822"/>
              </p:ext>
            </p:extLst>
          </p:nvPr>
        </p:nvGraphicFramePr>
        <p:xfrm>
          <a:off x="2032000" y="2914342"/>
          <a:ext cx="7943200" cy="514657"/>
        </p:xfrm>
        <a:graphic>
          <a:graphicData uri="http://schemas.openxmlformats.org/drawingml/2006/table">
            <a:tbl>
              <a:tblPr firstRow="1" bandRow="1">
                <a:tableStyleId>{F5AB1C69-6EDB-4FF4-983F-18BD219EF322}</a:tableStyleId>
              </a:tblPr>
              <a:tblGrid>
                <a:gridCol w="794320">
                  <a:extLst>
                    <a:ext uri="{9D8B030D-6E8A-4147-A177-3AD203B41FA5}">
                      <a16:colId xmlns:a16="http://schemas.microsoft.com/office/drawing/2014/main" val="1838891793"/>
                    </a:ext>
                  </a:extLst>
                </a:gridCol>
                <a:gridCol w="794320">
                  <a:extLst>
                    <a:ext uri="{9D8B030D-6E8A-4147-A177-3AD203B41FA5}">
                      <a16:colId xmlns:a16="http://schemas.microsoft.com/office/drawing/2014/main" val="3216229625"/>
                    </a:ext>
                  </a:extLst>
                </a:gridCol>
                <a:gridCol w="794320">
                  <a:extLst>
                    <a:ext uri="{9D8B030D-6E8A-4147-A177-3AD203B41FA5}">
                      <a16:colId xmlns:a16="http://schemas.microsoft.com/office/drawing/2014/main" val="67122098"/>
                    </a:ext>
                  </a:extLst>
                </a:gridCol>
                <a:gridCol w="794320">
                  <a:extLst>
                    <a:ext uri="{9D8B030D-6E8A-4147-A177-3AD203B41FA5}">
                      <a16:colId xmlns:a16="http://schemas.microsoft.com/office/drawing/2014/main" val="1048929879"/>
                    </a:ext>
                  </a:extLst>
                </a:gridCol>
                <a:gridCol w="794320">
                  <a:extLst>
                    <a:ext uri="{9D8B030D-6E8A-4147-A177-3AD203B41FA5}">
                      <a16:colId xmlns:a16="http://schemas.microsoft.com/office/drawing/2014/main" val="1290365078"/>
                    </a:ext>
                  </a:extLst>
                </a:gridCol>
                <a:gridCol w="794320">
                  <a:extLst>
                    <a:ext uri="{9D8B030D-6E8A-4147-A177-3AD203B41FA5}">
                      <a16:colId xmlns:a16="http://schemas.microsoft.com/office/drawing/2014/main" val="1794349000"/>
                    </a:ext>
                  </a:extLst>
                </a:gridCol>
                <a:gridCol w="794320">
                  <a:extLst>
                    <a:ext uri="{9D8B030D-6E8A-4147-A177-3AD203B41FA5}">
                      <a16:colId xmlns:a16="http://schemas.microsoft.com/office/drawing/2014/main" val="247777362"/>
                    </a:ext>
                  </a:extLst>
                </a:gridCol>
                <a:gridCol w="794320">
                  <a:extLst>
                    <a:ext uri="{9D8B030D-6E8A-4147-A177-3AD203B41FA5}">
                      <a16:colId xmlns:a16="http://schemas.microsoft.com/office/drawing/2014/main" val="2704796698"/>
                    </a:ext>
                  </a:extLst>
                </a:gridCol>
                <a:gridCol w="794320">
                  <a:extLst>
                    <a:ext uri="{9D8B030D-6E8A-4147-A177-3AD203B41FA5}">
                      <a16:colId xmlns:a16="http://schemas.microsoft.com/office/drawing/2014/main" val="53088556"/>
                    </a:ext>
                  </a:extLst>
                </a:gridCol>
                <a:gridCol w="794320">
                  <a:extLst>
                    <a:ext uri="{9D8B030D-6E8A-4147-A177-3AD203B41FA5}">
                      <a16:colId xmlns:a16="http://schemas.microsoft.com/office/drawing/2014/main" val="2122746333"/>
                    </a:ext>
                  </a:extLst>
                </a:gridCol>
              </a:tblGrid>
              <a:tr h="514657">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extLst>
                  <a:ext uri="{0D108BD9-81ED-4DB2-BD59-A6C34878D82A}">
                    <a16:rowId xmlns:a16="http://schemas.microsoft.com/office/drawing/2014/main" val="4061759863"/>
                  </a:ext>
                </a:extLst>
              </a:tr>
            </a:tbl>
          </a:graphicData>
        </a:graphic>
      </p:graphicFrame>
      <p:sp>
        <p:nvSpPr>
          <p:cNvPr id="6" name="TextBox 5">
            <a:extLst>
              <a:ext uri="{FF2B5EF4-FFF2-40B4-BE49-F238E27FC236}">
                <a16:creationId xmlns:a16="http://schemas.microsoft.com/office/drawing/2014/main" id="{B8237779-9578-8A8F-85EB-EA6CC8A9312B}"/>
              </a:ext>
            </a:extLst>
          </p:cNvPr>
          <p:cNvSpPr txBox="1"/>
          <p:nvPr/>
        </p:nvSpPr>
        <p:spPr>
          <a:xfrm>
            <a:off x="1968936" y="3370117"/>
            <a:ext cx="7975260" cy="369332"/>
          </a:xfrm>
          <a:prstGeom prst="rect">
            <a:avLst/>
          </a:prstGeom>
          <a:noFill/>
        </p:spPr>
        <p:txBody>
          <a:bodyPr wrap="none" rtlCol="0">
            <a:spAutoFit/>
          </a:bodyPr>
          <a:lstStyle/>
          <a:p>
            <a:r>
              <a:rPr lang="en-US" dirty="0">
                <a:latin typeface="Times New Roman" panose="02020603050405020304" pitchFamily="18" charset="0"/>
              </a:rPr>
              <a:t>0             1                2            3              4           5            6           7           8            9</a:t>
            </a:r>
          </a:p>
        </p:txBody>
      </p:sp>
      <p:sp>
        <p:nvSpPr>
          <p:cNvPr id="8" name="TextBox 7">
            <a:extLst>
              <a:ext uri="{FF2B5EF4-FFF2-40B4-BE49-F238E27FC236}">
                <a16:creationId xmlns:a16="http://schemas.microsoft.com/office/drawing/2014/main" id="{58AF52DB-0F67-5C4D-4518-7F6C58D336DF}"/>
              </a:ext>
            </a:extLst>
          </p:cNvPr>
          <p:cNvSpPr txBox="1"/>
          <p:nvPr/>
        </p:nvSpPr>
        <p:spPr>
          <a:xfrm>
            <a:off x="503703" y="3579121"/>
            <a:ext cx="11495640" cy="1815882"/>
          </a:xfrm>
          <a:prstGeom prst="rect">
            <a:avLst/>
          </a:prstGeom>
          <a:noFill/>
        </p:spPr>
        <p:txBody>
          <a:bodyPr wrap="square">
            <a:spAutoFit/>
          </a:bodyPr>
          <a:lstStyle/>
          <a:p>
            <a:r>
              <a:rPr lang="en-US" sz="2800" dirty="0">
                <a:solidFill>
                  <a:srgbClr val="0070C0"/>
                </a:solidFill>
                <a:latin typeface="Times New Roman" panose="02020603050405020304" pitchFamily="18" charset="0"/>
                <a:cs typeface="Times New Roman" panose="02020603050405020304" pitchFamily="18" charset="0"/>
              </a:rPr>
              <a:t>P(</a:t>
            </a:r>
            <a:r>
              <a:rPr lang="en-US" sz="2800" dirty="0" err="1">
                <a:solidFill>
                  <a:srgbClr val="0070C0"/>
                </a:solidFill>
                <a:latin typeface="Times New Roman" panose="02020603050405020304" pitchFamily="18" charset="0"/>
                <a:cs typeface="Times New Roman" panose="02020603050405020304" pitchFamily="18" charset="0"/>
              </a:rPr>
              <a:t>i</a:t>
            </a:r>
            <a:r>
              <a:rPr lang="en-US" sz="2800" dirty="0">
                <a:solidFill>
                  <a:srgbClr val="0070C0"/>
                </a:solidFill>
                <a:latin typeface="Times New Roman" panose="02020603050405020304" pitchFamily="18" charset="0"/>
                <a:cs typeface="Times New Roman" panose="02020603050405020304" pitchFamily="18" charset="0"/>
              </a:rPr>
              <a:t>, key)=</a:t>
            </a:r>
            <a:r>
              <a:rPr lang="en-US" sz="2800" dirty="0">
                <a:solidFill>
                  <a:srgbClr val="0070C0"/>
                </a:solidFill>
                <a:latin typeface="Times New Roman" panose="02020603050405020304" pitchFamily="18" charset="0"/>
              </a:rPr>
              <a:t> </a:t>
            </a:r>
            <a:r>
              <a:rPr lang="en-US" sz="2800" dirty="0">
                <a:solidFill>
                  <a:srgbClr val="0070C0"/>
                </a:solidFill>
                <a:latin typeface="Times New Roman" panose="02020603050405020304" pitchFamily="18" charset="0"/>
                <a:cs typeface="Times New Roman" panose="02020603050405020304" pitchFamily="18" charset="0"/>
              </a:rPr>
              <a:t>H(key)+ f(</a:t>
            </a:r>
            <a:r>
              <a:rPr lang="en-US" sz="2800" dirty="0" err="1">
                <a:solidFill>
                  <a:srgbClr val="0070C0"/>
                </a:solidFill>
                <a:latin typeface="Times New Roman" panose="02020603050405020304" pitchFamily="18" charset="0"/>
                <a:cs typeface="Times New Roman" panose="02020603050405020304" pitchFamily="18" charset="0"/>
              </a:rPr>
              <a:t>i</a:t>
            </a:r>
            <a:r>
              <a:rPr lang="en-US" sz="2800" dirty="0">
                <a:solidFill>
                  <a:srgbClr val="0070C0"/>
                </a:solidFill>
                <a:latin typeface="Times New Roman" panose="02020603050405020304" pitchFamily="18" charset="0"/>
                <a:cs typeface="Times New Roman" panose="02020603050405020304" pitchFamily="18" charset="0"/>
              </a:rPr>
              <a:t>)</a:t>
            </a:r>
            <a:br>
              <a:rPr lang="en-US" sz="2800" dirty="0">
                <a:solidFill>
                  <a:srgbClr val="0070C0"/>
                </a:solidFill>
                <a:latin typeface="Times New Roman" panose="02020603050405020304" pitchFamily="18" charset="0"/>
                <a:cs typeface="Times New Roman" panose="02020603050405020304" pitchFamily="18" charset="0"/>
              </a:rPr>
            </a:br>
            <a:r>
              <a:rPr lang="en-US" sz="2800" dirty="0">
                <a:solidFill>
                  <a:schemeClr val="tx1"/>
                </a:solidFill>
                <a:latin typeface="Times New Roman" panose="02020603050405020304" pitchFamily="18" charset="0"/>
                <a:cs typeface="Times New Roman" panose="02020603050405020304" pitchFamily="18" charset="0"/>
              </a:rPr>
              <a:t>P(0, 3)  we are using the prob generator to try to add 3 to our array. </a:t>
            </a:r>
          </a:p>
          <a:p>
            <a:r>
              <a:rPr lang="en-US" sz="2800" dirty="0">
                <a:latin typeface="Times New Roman" panose="02020603050405020304" pitchFamily="18" charset="0"/>
              </a:rPr>
              <a:t>Let’s say our Hashing Function is %10, so 3%10 = 3</a:t>
            </a:r>
          </a:p>
          <a:p>
            <a:r>
              <a:rPr lang="en-US" sz="2800" dirty="0">
                <a:latin typeface="Times New Roman" panose="02020603050405020304" pitchFamily="18" charset="0"/>
              </a:rPr>
              <a:t>For linear probing f(</a:t>
            </a:r>
            <a:r>
              <a:rPr lang="en-US" sz="2800" dirty="0" err="1">
                <a:latin typeface="Times New Roman" panose="02020603050405020304" pitchFamily="18" charset="0"/>
              </a:rPr>
              <a:t>i</a:t>
            </a:r>
            <a:r>
              <a:rPr lang="en-US" sz="2800" dirty="0">
                <a:latin typeface="Times New Roman" panose="02020603050405020304" pitchFamily="18" charset="0"/>
              </a:rPr>
              <a:t>)=</a:t>
            </a:r>
            <a:r>
              <a:rPr lang="en-US" sz="2800" dirty="0" err="1">
                <a:latin typeface="Times New Roman" panose="02020603050405020304" pitchFamily="18" charset="0"/>
              </a:rPr>
              <a:t>i</a:t>
            </a:r>
            <a:r>
              <a:rPr lang="en-US" sz="2800" dirty="0">
                <a:latin typeface="Times New Roman" panose="02020603050405020304" pitchFamily="18" charset="0"/>
              </a:rPr>
              <a:t>.</a:t>
            </a:r>
          </a:p>
        </p:txBody>
      </p:sp>
      <p:sp>
        <p:nvSpPr>
          <p:cNvPr id="9" name="TextBox 8">
            <a:extLst>
              <a:ext uri="{FF2B5EF4-FFF2-40B4-BE49-F238E27FC236}">
                <a16:creationId xmlns:a16="http://schemas.microsoft.com/office/drawing/2014/main" id="{E2851A34-3B00-0312-D021-978C815A13D5}"/>
              </a:ext>
            </a:extLst>
          </p:cNvPr>
          <p:cNvSpPr txBox="1"/>
          <p:nvPr/>
        </p:nvSpPr>
        <p:spPr>
          <a:xfrm>
            <a:off x="348180" y="5868335"/>
            <a:ext cx="11495640" cy="954107"/>
          </a:xfrm>
          <a:prstGeom prst="rect">
            <a:avLst/>
          </a:prstGeom>
          <a:noFill/>
        </p:spPr>
        <p:txBody>
          <a:bodyPr wrap="square">
            <a:spAutoFit/>
          </a:bodyPr>
          <a:lstStyle/>
          <a:p>
            <a:r>
              <a:rPr lang="en-US" sz="2800" dirty="0">
                <a:latin typeface="Times New Roman" panose="02020603050405020304" pitchFamily="18" charset="0"/>
              </a:rPr>
              <a:t>This is the first time we have tried to put 3 in the array, so </a:t>
            </a:r>
            <a:r>
              <a:rPr lang="en-US" sz="2800" dirty="0" err="1">
                <a:latin typeface="Times New Roman" panose="02020603050405020304" pitchFamily="18" charset="0"/>
              </a:rPr>
              <a:t>i</a:t>
            </a:r>
            <a:r>
              <a:rPr lang="en-US" sz="2800" dirty="0">
                <a:latin typeface="Times New Roman" panose="02020603050405020304" pitchFamily="18" charset="0"/>
              </a:rPr>
              <a:t> = 0 (number of times we have tried to add an item)  </a:t>
            </a:r>
          </a:p>
        </p:txBody>
      </p:sp>
      <p:sp>
        <p:nvSpPr>
          <p:cNvPr id="10" name="TextBox 9">
            <a:extLst>
              <a:ext uri="{FF2B5EF4-FFF2-40B4-BE49-F238E27FC236}">
                <a16:creationId xmlns:a16="http://schemas.microsoft.com/office/drawing/2014/main" id="{31F27A57-9229-F8BA-5137-6CD8C6E93AB4}"/>
              </a:ext>
            </a:extLst>
          </p:cNvPr>
          <p:cNvSpPr txBox="1"/>
          <p:nvPr/>
        </p:nvSpPr>
        <p:spPr>
          <a:xfrm>
            <a:off x="4745421" y="2914343"/>
            <a:ext cx="409903" cy="523220"/>
          </a:xfrm>
          <a:prstGeom prst="rect">
            <a:avLst/>
          </a:prstGeom>
          <a:noFill/>
        </p:spPr>
        <p:txBody>
          <a:bodyPr wrap="square" rtlCol="0">
            <a:spAutoFit/>
          </a:bodyPr>
          <a:lstStyle/>
          <a:p>
            <a:r>
              <a:rPr lang="en-US" sz="2800" dirty="0">
                <a:latin typeface="Times New Roman" panose="02020603050405020304" pitchFamily="18" charset="0"/>
              </a:rPr>
              <a:t>3</a:t>
            </a:r>
          </a:p>
        </p:txBody>
      </p:sp>
      <p:sp>
        <p:nvSpPr>
          <p:cNvPr id="11" name="Rectangle 10">
            <a:extLst>
              <a:ext uri="{FF2B5EF4-FFF2-40B4-BE49-F238E27FC236}">
                <a16:creationId xmlns:a16="http://schemas.microsoft.com/office/drawing/2014/main" id="{EA37B1AD-7D52-D752-AE58-A12D8CEB0314}"/>
              </a:ext>
            </a:extLst>
          </p:cNvPr>
          <p:cNvSpPr/>
          <p:nvPr/>
        </p:nvSpPr>
        <p:spPr>
          <a:xfrm>
            <a:off x="8308428" y="4578185"/>
            <a:ext cx="3535392" cy="8635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Times New Roman" panose="02020603050405020304" pitchFamily="18" charset="0"/>
              </a:rPr>
              <a:t>H(3) + f(0)</a:t>
            </a:r>
            <a:br>
              <a:rPr lang="en-US" dirty="0">
                <a:solidFill>
                  <a:schemeClr val="bg1"/>
                </a:solidFill>
                <a:latin typeface="Times New Roman" panose="02020603050405020304" pitchFamily="18" charset="0"/>
              </a:rPr>
            </a:br>
            <a:r>
              <a:rPr lang="en-US" dirty="0">
                <a:solidFill>
                  <a:schemeClr val="bg1"/>
                </a:solidFill>
                <a:latin typeface="Times New Roman" panose="02020603050405020304" pitchFamily="18" charset="0"/>
              </a:rPr>
              <a:t>3 +  0</a:t>
            </a:r>
            <a:br>
              <a:rPr lang="en-US" dirty="0">
                <a:solidFill>
                  <a:schemeClr val="bg1"/>
                </a:solidFill>
                <a:latin typeface="Times New Roman" panose="02020603050405020304" pitchFamily="18" charset="0"/>
              </a:rPr>
            </a:br>
            <a:r>
              <a:rPr lang="en-US" dirty="0">
                <a:solidFill>
                  <a:schemeClr val="bg1"/>
                </a:solidFill>
                <a:latin typeface="Times New Roman" panose="02020603050405020304" pitchFamily="18" charset="0"/>
              </a:rPr>
              <a:t>try to put number is position 3</a:t>
            </a:r>
          </a:p>
        </p:txBody>
      </p:sp>
    </p:spTree>
    <p:extLst>
      <p:ext uri="{BB962C8B-B14F-4D97-AF65-F5344CB8AC3E}">
        <p14:creationId xmlns:p14="http://schemas.microsoft.com/office/powerpoint/2010/main" val="2388935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2E56C0-35C2-4EAB-9EDB-646E8C5E289B}"/>
              </a:ext>
            </a:extLst>
          </p:cNvPr>
          <p:cNvSpPr>
            <a:spLocks noGrp="1"/>
          </p:cNvSpPr>
          <p:nvPr>
            <p:ph idx="1"/>
          </p:nvPr>
        </p:nvSpPr>
        <p:spPr>
          <a:xfrm>
            <a:off x="348180" y="1876804"/>
            <a:ext cx="11262628" cy="5402762"/>
          </a:xfrm>
        </p:spPr>
        <p:txBody>
          <a:bodyPr anchor="t" anchorCtr="0">
            <a:noAutofit/>
          </a:bodyPr>
          <a:lstStyle/>
          <a:p>
            <a:pPr marL="0" indent="0">
              <a:lnSpc>
                <a:spcPct val="90000"/>
              </a:lnSpc>
              <a:buNone/>
            </a:pPr>
            <a:r>
              <a:rPr lang="en-US" sz="2800" dirty="0">
                <a:solidFill>
                  <a:schemeClr val="tx1"/>
                </a:solidFill>
                <a:latin typeface="Times New Roman" panose="02020603050405020304" pitchFamily="18" charset="0"/>
                <a:cs typeface="Times New Roman" panose="02020603050405020304" pitchFamily="18" charset="0"/>
              </a:rPr>
              <a:t>Try to add 13   </a:t>
            </a:r>
          </a:p>
        </p:txBody>
      </p:sp>
      <p:sp>
        <p:nvSpPr>
          <p:cNvPr id="3" name="Title 2">
            <a:extLst>
              <a:ext uri="{FF2B5EF4-FFF2-40B4-BE49-F238E27FC236}">
                <a16:creationId xmlns:a16="http://schemas.microsoft.com/office/drawing/2014/main" id="{DCBD4A68-0624-4080-ACDF-CBF1CC40402E}"/>
              </a:ext>
            </a:extLst>
          </p:cNvPr>
          <p:cNvSpPr>
            <a:spLocks noGrp="1"/>
          </p:cNvSpPr>
          <p:nvPr>
            <p:ph type="title"/>
          </p:nvPr>
        </p:nvSpPr>
        <p:spPr>
          <a:xfrm>
            <a:off x="581192" y="976562"/>
            <a:ext cx="10515600" cy="693113"/>
          </a:xfrm>
        </p:spPr>
        <p:txBody>
          <a:bodyPr/>
          <a:lstStyle/>
          <a:p>
            <a:r>
              <a:rPr lang="en-US" dirty="0"/>
              <a:t>Probing the Hash table to find AN open spot</a:t>
            </a:r>
          </a:p>
        </p:txBody>
      </p:sp>
      <p:graphicFrame>
        <p:nvGraphicFramePr>
          <p:cNvPr id="4" name="Table 3">
            <a:extLst>
              <a:ext uri="{FF2B5EF4-FFF2-40B4-BE49-F238E27FC236}">
                <a16:creationId xmlns:a16="http://schemas.microsoft.com/office/drawing/2014/main" id="{B34B24EC-0A0F-E47D-9E1F-45412C5605D0}"/>
              </a:ext>
            </a:extLst>
          </p:cNvPr>
          <p:cNvGraphicFramePr>
            <a:graphicFrameLocks noGrp="1"/>
          </p:cNvGraphicFramePr>
          <p:nvPr/>
        </p:nvGraphicFramePr>
        <p:xfrm>
          <a:off x="2032000" y="2914342"/>
          <a:ext cx="7943200" cy="514657"/>
        </p:xfrm>
        <a:graphic>
          <a:graphicData uri="http://schemas.openxmlformats.org/drawingml/2006/table">
            <a:tbl>
              <a:tblPr firstRow="1" bandRow="1">
                <a:tableStyleId>{F5AB1C69-6EDB-4FF4-983F-18BD219EF322}</a:tableStyleId>
              </a:tblPr>
              <a:tblGrid>
                <a:gridCol w="794320">
                  <a:extLst>
                    <a:ext uri="{9D8B030D-6E8A-4147-A177-3AD203B41FA5}">
                      <a16:colId xmlns:a16="http://schemas.microsoft.com/office/drawing/2014/main" val="1838891793"/>
                    </a:ext>
                  </a:extLst>
                </a:gridCol>
                <a:gridCol w="794320">
                  <a:extLst>
                    <a:ext uri="{9D8B030D-6E8A-4147-A177-3AD203B41FA5}">
                      <a16:colId xmlns:a16="http://schemas.microsoft.com/office/drawing/2014/main" val="3216229625"/>
                    </a:ext>
                  </a:extLst>
                </a:gridCol>
                <a:gridCol w="794320">
                  <a:extLst>
                    <a:ext uri="{9D8B030D-6E8A-4147-A177-3AD203B41FA5}">
                      <a16:colId xmlns:a16="http://schemas.microsoft.com/office/drawing/2014/main" val="67122098"/>
                    </a:ext>
                  </a:extLst>
                </a:gridCol>
                <a:gridCol w="794320">
                  <a:extLst>
                    <a:ext uri="{9D8B030D-6E8A-4147-A177-3AD203B41FA5}">
                      <a16:colId xmlns:a16="http://schemas.microsoft.com/office/drawing/2014/main" val="1048929879"/>
                    </a:ext>
                  </a:extLst>
                </a:gridCol>
                <a:gridCol w="794320">
                  <a:extLst>
                    <a:ext uri="{9D8B030D-6E8A-4147-A177-3AD203B41FA5}">
                      <a16:colId xmlns:a16="http://schemas.microsoft.com/office/drawing/2014/main" val="1290365078"/>
                    </a:ext>
                  </a:extLst>
                </a:gridCol>
                <a:gridCol w="794320">
                  <a:extLst>
                    <a:ext uri="{9D8B030D-6E8A-4147-A177-3AD203B41FA5}">
                      <a16:colId xmlns:a16="http://schemas.microsoft.com/office/drawing/2014/main" val="1794349000"/>
                    </a:ext>
                  </a:extLst>
                </a:gridCol>
                <a:gridCol w="794320">
                  <a:extLst>
                    <a:ext uri="{9D8B030D-6E8A-4147-A177-3AD203B41FA5}">
                      <a16:colId xmlns:a16="http://schemas.microsoft.com/office/drawing/2014/main" val="247777362"/>
                    </a:ext>
                  </a:extLst>
                </a:gridCol>
                <a:gridCol w="794320">
                  <a:extLst>
                    <a:ext uri="{9D8B030D-6E8A-4147-A177-3AD203B41FA5}">
                      <a16:colId xmlns:a16="http://schemas.microsoft.com/office/drawing/2014/main" val="2704796698"/>
                    </a:ext>
                  </a:extLst>
                </a:gridCol>
                <a:gridCol w="794320">
                  <a:extLst>
                    <a:ext uri="{9D8B030D-6E8A-4147-A177-3AD203B41FA5}">
                      <a16:colId xmlns:a16="http://schemas.microsoft.com/office/drawing/2014/main" val="53088556"/>
                    </a:ext>
                  </a:extLst>
                </a:gridCol>
                <a:gridCol w="794320">
                  <a:extLst>
                    <a:ext uri="{9D8B030D-6E8A-4147-A177-3AD203B41FA5}">
                      <a16:colId xmlns:a16="http://schemas.microsoft.com/office/drawing/2014/main" val="2122746333"/>
                    </a:ext>
                  </a:extLst>
                </a:gridCol>
              </a:tblGrid>
              <a:tr h="514657">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extLst>
                  <a:ext uri="{0D108BD9-81ED-4DB2-BD59-A6C34878D82A}">
                    <a16:rowId xmlns:a16="http://schemas.microsoft.com/office/drawing/2014/main" val="4061759863"/>
                  </a:ext>
                </a:extLst>
              </a:tr>
            </a:tbl>
          </a:graphicData>
        </a:graphic>
      </p:graphicFrame>
      <p:sp>
        <p:nvSpPr>
          <p:cNvPr id="6" name="TextBox 5">
            <a:extLst>
              <a:ext uri="{FF2B5EF4-FFF2-40B4-BE49-F238E27FC236}">
                <a16:creationId xmlns:a16="http://schemas.microsoft.com/office/drawing/2014/main" id="{B8237779-9578-8A8F-85EB-EA6CC8A9312B}"/>
              </a:ext>
            </a:extLst>
          </p:cNvPr>
          <p:cNvSpPr txBox="1"/>
          <p:nvPr/>
        </p:nvSpPr>
        <p:spPr>
          <a:xfrm>
            <a:off x="1968936" y="3370117"/>
            <a:ext cx="7859844" cy="369332"/>
          </a:xfrm>
          <a:prstGeom prst="rect">
            <a:avLst/>
          </a:prstGeom>
          <a:noFill/>
        </p:spPr>
        <p:txBody>
          <a:bodyPr wrap="none" rtlCol="0">
            <a:spAutoFit/>
          </a:bodyPr>
          <a:lstStyle/>
          <a:p>
            <a:r>
              <a:rPr lang="en-US" dirty="0">
                <a:latin typeface="Times New Roman" panose="02020603050405020304" pitchFamily="18" charset="0"/>
              </a:rPr>
              <a:t>0             1             2                3             4           5          6             7           8              9</a:t>
            </a:r>
          </a:p>
        </p:txBody>
      </p:sp>
      <p:sp>
        <p:nvSpPr>
          <p:cNvPr id="8" name="TextBox 7">
            <a:extLst>
              <a:ext uri="{FF2B5EF4-FFF2-40B4-BE49-F238E27FC236}">
                <a16:creationId xmlns:a16="http://schemas.microsoft.com/office/drawing/2014/main" id="{58AF52DB-0F67-5C4D-4518-7F6C58D336DF}"/>
              </a:ext>
            </a:extLst>
          </p:cNvPr>
          <p:cNvSpPr txBox="1"/>
          <p:nvPr/>
        </p:nvSpPr>
        <p:spPr>
          <a:xfrm>
            <a:off x="581192" y="3706054"/>
            <a:ext cx="11495640" cy="954107"/>
          </a:xfrm>
          <a:prstGeom prst="rect">
            <a:avLst/>
          </a:prstGeom>
          <a:noFill/>
        </p:spPr>
        <p:txBody>
          <a:bodyPr wrap="square">
            <a:spAutoFit/>
          </a:bodyPr>
          <a:lstStyle/>
          <a:p>
            <a:r>
              <a:rPr lang="en-US" sz="2800" dirty="0">
                <a:solidFill>
                  <a:srgbClr val="0070C0"/>
                </a:solidFill>
                <a:latin typeface="Times New Roman" panose="02020603050405020304" pitchFamily="18" charset="0"/>
                <a:cs typeface="Times New Roman" panose="02020603050405020304" pitchFamily="18" charset="0"/>
              </a:rPr>
              <a:t>P(</a:t>
            </a:r>
            <a:r>
              <a:rPr lang="en-US" sz="2800" dirty="0" err="1">
                <a:solidFill>
                  <a:srgbClr val="0070C0"/>
                </a:solidFill>
                <a:latin typeface="Times New Roman" panose="02020603050405020304" pitchFamily="18" charset="0"/>
                <a:cs typeface="Times New Roman" panose="02020603050405020304" pitchFamily="18" charset="0"/>
              </a:rPr>
              <a:t>i</a:t>
            </a:r>
            <a:r>
              <a:rPr lang="en-US" sz="2800" dirty="0">
                <a:solidFill>
                  <a:srgbClr val="0070C0"/>
                </a:solidFill>
                <a:latin typeface="Times New Roman" panose="02020603050405020304" pitchFamily="18" charset="0"/>
                <a:cs typeface="Times New Roman" panose="02020603050405020304" pitchFamily="18" charset="0"/>
              </a:rPr>
              <a:t>, key)=</a:t>
            </a:r>
            <a:r>
              <a:rPr lang="en-US" sz="2800" dirty="0">
                <a:solidFill>
                  <a:srgbClr val="0070C0"/>
                </a:solidFill>
                <a:latin typeface="Times New Roman" panose="02020603050405020304" pitchFamily="18" charset="0"/>
              </a:rPr>
              <a:t> </a:t>
            </a:r>
            <a:r>
              <a:rPr lang="en-US" sz="2800" dirty="0">
                <a:solidFill>
                  <a:srgbClr val="0070C0"/>
                </a:solidFill>
                <a:latin typeface="Times New Roman" panose="02020603050405020304" pitchFamily="18" charset="0"/>
                <a:cs typeface="Times New Roman" panose="02020603050405020304" pitchFamily="18" charset="0"/>
              </a:rPr>
              <a:t>H(key)+ f(</a:t>
            </a:r>
            <a:r>
              <a:rPr lang="en-US" sz="2800" dirty="0" err="1">
                <a:solidFill>
                  <a:srgbClr val="0070C0"/>
                </a:solidFill>
                <a:latin typeface="Times New Roman" panose="02020603050405020304" pitchFamily="18" charset="0"/>
                <a:cs typeface="Times New Roman" panose="02020603050405020304" pitchFamily="18" charset="0"/>
              </a:rPr>
              <a:t>i</a:t>
            </a:r>
            <a:r>
              <a:rPr lang="en-US" sz="2800" dirty="0">
                <a:solidFill>
                  <a:srgbClr val="0070C0"/>
                </a:solidFill>
                <a:latin typeface="Times New Roman" panose="02020603050405020304" pitchFamily="18" charset="0"/>
                <a:cs typeface="Times New Roman" panose="02020603050405020304" pitchFamily="18" charset="0"/>
              </a:rPr>
              <a:t>)</a:t>
            </a:r>
            <a:br>
              <a:rPr lang="en-US" sz="2800" dirty="0">
                <a:solidFill>
                  <a:srgbClr val="0070C0"/>
                </a:solidFill>
                <a:latin typeface="Times New Roman" panose="02020603050405020304" pitchFamily="18" charset="0"/>
                <a:cs typeface="Times New Roman" panose="02020603050405020304" pitchFamily="18" charset="0"/>
              </a:rPr>
            </a:br>
            <a:r>
              <a:rPr lang="en-US" sz="2800" dirty="0">
                <a:solidFill>
                  <a:schemeClr val="tx1"/>
                </a:solidFill>
                <a:latin typeface="Times New Roman" panose="02020603050405020304" pitchFamily="18" charset="0"/>
                <a:cs typeface="Times New Roman" panose="02020603050405020304" pitchFamily="18" charset="0"/>
              </a:rPr>
              <a:t>P(0, 13) = H(13) + f(0)</a:t>
            </a:r>
          </a:p>
        </p:txBody>
      </p:sp>
      <p:sp>
        <p:nvSpPr>
          <p:cNvPr id="9" name="TextBox 8">
            <a:extLst>
              <a:ext uri="{FF2B5EF4-FFF2-40B4-BE49-F238E27FC236}">
                <a16:creationId xmlns:a16="http://schemas.microsoft.com/office/drawing/2014/main" id="{E2851A34-3B00-0312-D021-978C815A13D5}"/>
              </a:ext>
            </a:extLst>
          </p:cNvPr>
          <p:cNvSpPr txBox="1"/>
          <p:nvPr/>
        </p:nvSpPr>
        <p:spPr>
          <a:xfrm>
            <a:off x="255780" y="5009669"/>
            <a:ext cx="11495640" cy="954107"/>
          </a:xfrm>
          <a:prstGeom prst="rect">
            <a:avLst/>
          </a:prstGeom>
          <a:noFill/>
        </p:spPr>
        <p:txBody>
          <a:bodyPr wrap="square">
            <a:spAutoFit/>
          </a:bodyPr>
          <a:lstStyle/>
          <a:p>
            <a:r>
              <a:rPr lang="en-US" sz="2800" dirty="0">
                <a:latin typeface="Times New Roman" panose="02020603050405020304" pitchFamily="18" charset="0"/>
              </a:rPr>
              <a:t>This is the first time we have tried to put 13 in the array, so </a:t>
            </a:r>
            <a:r>
              <a:rPr lang="en-US" sz="2800" dirty="0" err="1">
                <a:latin typeface="Times New Roman" panose="02020603050405020304" pitchFamily="18" charset="0"/>
              </a:rPr>
              <a:t>i</a:t>
            </a:r>
            <a:r>
              <a:rPr lang="en-US" sz="2800" dirty="0">
                <a:latin typeface="Times New Roman" panose="02020603050405020304" pitchFamily="18" charset="0"/>
              </a:rPr>
              <a:t> = 0.  P(0,13) = 3 But there is already something there so try again</a:t>
            </a:r>
          </a:p>
        </p:txBody>
      </p:sp>
      <p:sp>
        <p:nvSpPr>
          <p:cNvPr id="10" name="TextBox 9">
            <a:extLst>
              <a:ext uri="{FF2B5EF4-FFF2-40B4-BE49-F238E27FC236}">
                <a16:creationId xmlns:a16="http://schemas.microsoft.com/office/drawing/2014/main" id="{31F27A57-9229-F8BA-5137-6CD8C6E93AB4}"/>
              </a:ext>
            </a:extLst>
          </p:cNvPr>
          <p:cNvSpPr txBox="1"/>
          <p:nvPr/>
        </p:nvSpPr>
        <p:spPr>
          <a:xfrm>
            <a:off x="4745421" y="2914343"/>
            <a:ext cx="409903" cy="523220"/>
          </a:xfrm>
          <a:prstGeom prst="rect">
            <a:avLst/>
          </a:prstGeom>
          <a:noFill/>
        </p:spPr>
        <p:txBody>
          <a:bodyPr wrap="square" rtlCol="0">
            <a:spAutoFit/>
          </a:bodyPr>
          <a:lstStyle/>
          <a:p>
            <a:r>
              <a:rPr lang="en-US" sz="2800" dirty="0">
                <a:latin typeface="Times New Roman" panose="02020603050405020304" pitchFamily="18" charset="0"/>
              </a:rPr>
              <a:t>3</a:t>
            </a:r>
          </a:p>
        </p:txBody>
      </p:sp>
      <p:sp>
        <p:nvSpPr>
          <p:cNvPr id="11" name="Rectangle 10">
            <a:extLst>
              <a:ext uri="{FF2B5EF4-FFF2-40B4-BE49-F238E27FC236}">
                <a16:creationId xmlns:a16="http://schemas.microsoft.com/office/drawing/2014/main" id="{EA37B1AD-7D52-D752-AE58-A12D8CEB0314}"/>
              </a:ext>
            </a:extLst>
          </p:cNvPr>
          <p:cNvSpPr/>
          <p:nvPr/>
        </p:nvSpPr>
        <p:spPr>
          <a:xfrm>
            <a:off x="348180" y="5881493"/>
            <a:ext cx="9081570" cy="8635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Times New Roman" panose="02020603050405020304" pitchFamily="18" charset="0"/>
              </a:rPr>
              <a:t>H(13) + f(1)</a:t>
            </a:r>
            <a:br>
              <a:rPr lang="en-US" sz="2000" dirty="0">
                <a:solidFill>
                  <a:schemeClr val="bg1"/>
                </a:solidFill>
                <a:latin typeface="Times New Roman" panose="02020603050405020304" pitchFamily="18" charset="0"/>
              </a:rPr>
            </a:br>
            <a:r>
              <a:rPr lang="en-US" sz="2000" dirty="0">
                <a:solidFill>
                  <a:schemeClr val="bg1"/>
                </a:solidFill>
                <a:latin typeface="Times New Roman" panose="02020603050405020304" pitchFamily="18" charset="0"/>
              </a:rPr>
              <a:t>3 +  1</a:t>
            </a:r>
            <a:br>
              <a:rPr lang="en-US" sz="2000" dirty="0">
                <a:solidFill>
                  <a:schemeClr val="bg1"/>
                </a:solidFill>
                <a:latin typeface="Times New Roman" panose="02020603050405020304" pitchFamily="18" charset="0"/>
              </a:rPr>
            </a:br>
            <a:r>
              <a:rPr lang="en-US" sz="2000" dirty="0">
                <a:solidFill>
                  <a:schemeClr val="bg1"/>
                </a:solidFill>
                <a:latin typeface="Times New Roman" panose="02020603050405020304" pitchFamily="18" charset="0"/>
              </a:rPr>
              <a:t>try to put number is position 4</a:t>
            </a:r>
          </a:p>
        </p:txBody>
      </p:sp>
      <p:sp>
        <p:nvSpPr>
          <p:cNvPr id="5" name="TextBox 4">
            <a:extLst>
              <a:ext uri="{FF2B5EF4-FFF2-40B4-BE49-F238E27FC236}">
                <a16:creationId xmlns:a16="http://schemas.microsoft.com/office/drawing/2014/main" id="{377CE0BD-DB58-97D1-9CB9-7B2039302906}"/>
              </a:ext>
            </a:extLst>
          </p:cNvPr>
          <p:cNvSpPr txBox="1"/>
          <p:nvPr/>
        </p:nvSpPr>
        <p:spPr>
          <a:xfrm>
            <a:off x="5417646" y="2924756"/>
            <a:ext cx="868853" cy="523220"/>
          </a:xfrm>
          <a:prstGeom prst="rect">
            <a:avLst/>
          </a:prstGeom>
          <a:noFill/>
        </p:spPr>
        <p:txBody>
          <a:bodyPr wrap="square" rtlCol="0">
            <a:spAutoFit/>
          </a:bodyPr>
          <a:lstStyle/>
          <a:p>
            <a:r>
              <a:rPr lang="en-US" sz="2800" dirty="0">
                <a:latin typeface="Times New Roman" panose="02020603050405020304" pitchFamily="18" charset="0"/>
              </a:rPr>
              <a:t>13</a:t>
            </a:r>
          </a:p>
        </p:txBody>
      </p:sp>
    </p:spTree>
    <p:extLst>
      <p:ext uri="{BB962C8B-B14F-4D97-AF65-F5344CB8AC3E}">
        <p14:creationId xmlns:p14="http://schemas.microsoft.com/office/powerpoint/2010/main" val="4190348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animBg="1"/>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C3C15-E1A2-A7BC-A1CF-A98AFDBF69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C4EB0E-623F-B8EF-38DE-512EF9C29162}"/>
              </a:ext>
            </a:extLst>
          </p:cNvPr>
          <p:cNvSpPr>
            <a:spLocks noGrp="1"/>
          </p:cNvSpPr>
          <p:nvPr>
            <p:ph type="title"/>
          </p:nvPr>
        </p:nvSpPr>
        <p:spPr/>
        <p:txBody>
          <a:bodyPr/>
          <a:lstStyle/>
          <a:p>
            <a:r>
              <a:rPr lang="en-US" dirty="0"/>
              <a:t>Linear probing for collisions - SOLUTION</a:t>
            </a:r>
          </a:p>
        </p:txBody>
      </p:sp>
      <p:sp>
        <p:nvSpPr>
          <p:cNvPr id="3" name="Content Placeholder 2">
            <a:extLst>
              <a:ext uri="{FF2B5EF4-FFF2-40B4-BE49-F238E27FC236}">
                <a16:creationId xmlns:a16="http://schemas.microsoft.com/office/drawing/2014/main" id="{A051C002-DF74-D8E8-AF12-40266D80C280}"/>
              </a:ext>
            </a:extLst>
          </p:cNvPr>
          <p:cNvSpPr>
            <a:spLocks noGrp="1"/>
          </p:cNvSpPr>
          <p:nvPr>
            <p:ph idx="1"/>
          </p:nvPr>
        </p:nvSpPr>
        <p:spPr>
          <a:xfrm>
            <a:off x="305421" y="1919239"/>
            <a:ext cx="11029615" cy="3678303"/>
          </a:xfrm>
        </p:spPr>
        <p:txBody>
          <a:bodyPr/>
          <a:lstStyle/>
          <a:p>
            <a:pPr algn="l"/>
            <a:r>
              <a:rPr lang="en-US" b="0" i="0" dirty="0">
                <a:solidFill>
                  <a:srgbClr val="000000"/>
                </a:solidFill>
                <a:effectLst/>
              </a:rPr>
              <a:t>Table size 10</a:t>
            </a:r>
          </a:p>
          <a:p>
            <a:pPr algn="l"/>
            <a:r>
              <a:rPr lang="en-US" b="0" i="0" dirty="0">
                <a:solidFill>
                  <a:srgbClr val="000000"/>
                </a:solidFill>
                <a:effectLst/>
              </a:rPr>
              <a:t>The hashing algorithm is  h(key) = key%10</a:t>
            </a:r>
          </a:p>
          <a:p>
            <a:pPr algn="l"/>
            <a:r>
              <a:rPr lang="en-US" b="0" i="0" dirty="0">
                <a:solidFill>
                  <a:srgbClr val="000000"/>
                </a:solidFill>
                <a:effectLst/>
              </a:rPr>
              <a:t>Using linear probing for hash collisions, place the following numbers: 7, 12, 102, 3, 44, 77, 92</a:t>
            </a:r>
          </a:p>
          <a:p>
            <a:pPr algn="l"/>
            <a:endParaRPr lang="en-US" dirty="0">
              <a:solidFill>
                <a:srgbClr val="000000"/>
              </a:solidFill>
            </a:endParaRPr>
          </a:p>
          <a:p>
            <a:pPr algn="l"/>
            <a:endParaRPr lang="en-US" b="0" i="0" dirty="0">
              <a:solidFill>
                <a:srgbClr val="000000"/>
              </a:solidFill>
              <a:effectLst/>
            </a:endParaRPr>
          </a:p>
          <a:p>
            <a:pPr algn="l"/>
            <a:endParaRPr lang="en-US" dirty="0">
              <a:solidFill>
                <a:srgbClr val="000000"/>
              </a:solidFill>
            </a:endParaRPr>
          </a:p>
          <a:p>
            <a:pPr marL="0" indent="0" algn="l">
              <a:buNone/>
            </a:pPr>
            <a:r>
              <a:rPr lang="en-US" b="0" i="0" dirty="0">
                <a:solidFill>
                  <a:srgbClr val="000000"/>
                </a:solidFill>
                <a:effectLst/>
              </a:rPr>
              <a:t> </a:t>
            </a:r>
          </a:p>
          <a:p>
            <a:endParaRPr lang="en-US" dirty="0"/>
          </a:p>
        </p:txBody>
      </p:sp>
      <p:pic>
        <p:nvPicPr>
          <p:cNvPr id="5" name="Picture 4" descr="A blue rectangular object with black text&#10;&#10;AI-generated content may be incorrect.">
            <a:extLst>
              <a:ext uri="{FF2B5EF4-FFF2-40B4-BE49-F238E27FC236}">
                <a16:creationId xmlns:a16="http://schemas.microsoft.com/office/drawing/2014/main" id="{71B0D0EC-5B59-1B5A-01E9-4A8691C19919}"/>
              </a:ext>
            </a:extLst>
          </p:cNvPr>
          <p:cNvPicPr>
            <a:picLocks noChangeAspect="1"/>
          </p:cNvPicPr>
          <p:nvPr/>
        </p:nvPicPr>
        <p:blipFill>
          <a:blip r:embed="rId2"/>
          <a:stretch>
            <a:fillRect/>
          </a:stretch>
        </p:blipFill>
        <p:spPr>
          <a:xfrm>
            <a:off x="1934027" y="3429000"/>
            <a:ext cx="9591451" cy="2971800"/>
          </a:xfrm>
          <a:prstGeom prst="rect">
            <a:avLst/>
          </a:prstGeom>
        </p:spPr>
      </p:pic>
    </p:spTree>
    <p:extLst>
      <p:ext uri="{BB962C8B-B14F-4D97-AF65-F5344CB8AC3E}">
        <p14:creationId xmlns:p14="http://schemas.microsoft.com/office/powerpoint/2010/main" val="3681812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math test&#10;&#10;AI-generated content may be incorrect.">
            <a:extLst>
              <a:ext uri="{FF2B5EF4-FFF2-40B4-BE49-F238E27FC236}">
                <a16:creationId xmlns:a16="http://schemas.microsoft.com/office/drawing/2014/main" id="{427BD203-8B29-1FD8-4DF2-EE25FC1985FD}"/>
              </a:ext>
            </a:extLst>
          </p:cNvPr>
          <p:cNvPicPr>
            <a:picLocks noChangeAspect="1"/>
          </p:cNvPicPr>
          <p:nvPr/>
        </p:nvPicPr>
        <p:blipFill>
          <a:blip r:embed="rId2"/>
          <a:stretch>
            <a:fillRect/>
          </a:stretch>
        </p:blipFill>
        <p:spPr>
          <a:xfrm>
            <a:off x="1790377" y="559693"/>
            <a:ext cx="8611245" cy="6298307"/>
          </a:xfrm>
          <a:prstGeom prst="rect">
            <a:avLst/>
          </a:prstGeom>
        </p:spPr>
      </p:pic>
    </p:spTree>
    <p:extLst>
      <p:ext uri="{BB962C8B-B14F-4D97-AF65-F5344CB8AC3E}">
        <p14:creationId xmlns:p14="http://schemas.microsoft.com/office/powerpoint/2010/main" val="7471562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2E56C0-35C2-4EAB-9EDB-646E8C5E289B}"/>
              </a:ext>
            </a:extLst>
          </p:cNvPr>
          <p:cNvSpPr>
            <a:spLocks noGrp="1"/>
          </p:cNvSpPr>
          <p:nvPr>
            <p:ph idx="1"/>
          </p:nvPr>
        </p:nvSpPr>
        <p:spPr>
          <a:xfrm>
            <a:off x="348180" y="1876804"/>
            <a:ext cx="11262628" cy="5402762"/>
          </a:xfrm>
        </p:spPr>
        <p:txBody>
          <a:bodyPr anchor="t" anchorCtr="0">
            <a:noAutofit/>
          </a:bodyPr>
          <a:lstStyle/>
          <a:p>
            <a:pPr marL="0" indent="0">
              <a:lnSpc>
                <a:spcPct val="90000"/>
              </a:lnSpc>
              <a:buNone/>
            </a:pPr>
            <a:r>
              <a:rPr lang="en-US" sz="2800" dirty="0">
                <a:solidFill>
                  <a:schemeClr val="tx1"/>
                </a:solidFill>
                <a:latin typeface="Times New Roman" panose="02020603050405020304" pitchFamily="18" charset="0"/>
                <a:cs typeface="Times New Roman" panose="02020603050405020304" pitchFamily="18" charset="0"/>
              </a:rPr>
              <a:t>Try to add 43   </a:t>
            </a:r>
          </a:p>
        </p:txBody>
      </p:sp>
      <p:sp>
        <p:nvSpPr>
          <p:cNvPr id="3" name="Title 2">
            <a:extLst>
              <a:ext uri="{FF2B5EF4-FFF2-40B4-BE49-F238E27FC236}">
                <a16:creationId xmlns:a16="http://schemas.microsoft.com/office/drawing/2014/main" id="{DCBD4A68-0624-4080-ACDF-CBF1CC40402E}"/>
              </a:ext>
            </a:extLst>
          </p:cNvPr>
          <p:cNvSpPr>
            <a:spLocks noGrp="1"/>
          </p:cNvSpPr>
          <p:nvPr>
            <p:ph type="title"/>
          </p:nvPr>
        </p:nvSpPr>
        <p:spPr>
          <a:xfrm>
            <a:off x="581192" y="976562"/>
            <a:ext cx="10515600" cy="693113"/>
          </a:xfrm>
        </p:spPr>
        <p:txBody>
          <a:bodyPr/>
          <a:lstStyle/>
          <a:p>
            <a:r>
              <a:rPr lang="en-US" dirty="0"/>
              <a:t>Probing the Hash table to find AN open spot</a:t>
            </a:r>
          </a:p>
        </p:txBody>
      </p:sp>
      <p:graphicFrame>
        <p:nvGraphicFramePr>
          <p:cNvPr id="4" name="Table 3">
            <a:extLst>
              <a:ext uri="{FF2B5EF4-FFF2-40B4-BE49-F238E27FC236}">
                <a16:creationId xmlns:a16="http://schemas.microsoft.com/office/drawing/2014/main" id="{B34B24EC-0A0F-E47D-9E1F-45412C5605D0}"/>
              </a:ext>
            </a:extLst>
          </p:cNvPr>
          <p:cNvGraphicFramePr>
            <a:graphicFrameLocks noGrp="1"/>
          </p:cNvGraphicFramePr>
          <p:nvPr/>
        </p:nvGraphicFramePr>
        <p:xfrm>
          <a:off x="2032000" y="2914342"/>
          <a:ext cx="7943200" cy="514657"/>
        </p:xfrm>
        <a:graphic>
          <a:graphicData uri="http://schemas.openxmlformats.org/drawingml/2006/table">
            <a:tbl>
              <a:tblPr firstRow="1" bandRow="1">
                <a:tableStyleId>{F5AB1C69-6EDB-4FF4-983F-18BD219EF322}</a:tableStyleId>
              </a:tblPr>
              <a:tblGrid>
                <a:gridCol w="794320">
                  <a:extLst>
                    <a:ext uri="{9D8B030D-6E8A-4147-A177-3AD203B41FA5}">
                      <a16:colId xmlns:a16="http://schemas.microsoft.com/office/drawing/2014/main" val="1838891793"/>
                    </a:ext>
                  </a:extLst>
                </a:gridCol>
                <a:gridCol w="794320">
                  <a:extLst>
                    <a:ext uri="{9D8B030D-6E8A-4147-A177-3AD203B41FA5}">
                      <a16:colId xmlns:a16="http://schemas.microsoft.com/office/drawing/2014/main" val="3216229625"/>
                    </a:ext>
                  </a:extLst>
                </a:gridCol>
                <a:gridCol w="794320">
                  <a:extLst>
                    <a:ext uri="{9D8B030D-6E8A-4147-A177-3AD203B41FA5}">
                      <a16:colId xmlns:a16="http://schemas.microsoft.com/office/drawing/2014/main" val="67122098"/>
                    </a:ext>
                  </a:extLst>
                </a:gridCol>
                <a:gridCol w="794320">
                  <a:extLst>
                    <a:ext uri="{9D8B030D-6E8A-4147-A177-3AD203B41FA5}">
                      <a16:colId xmlns:a16="http://schemas.microsoft.com/office/drawing/2014/main" val="1048929879"/>
                    </a:ext>
                  </a:extLst>
                </a:gridCol>
                <a:gridCol w="794320">
                  <a:extLst>
                    <a:ext uri="{9D8B030D-6E8A-4147-A177-3AD203B41FA5}">
                      <a16:colId xmlns:a16="http://schemas.microsoft.com/office/drawing/2014/main" val="1290365078"/>
                    </a:ext>
                  </a:extLst>
                </a:gridCol>
                <a:gridCol w="794320">
                  <a:extLst>
                    <a:ext uri="{9D8B030D-6E8A-4147-A177-3AD203B41FA5}">
                      <a16:colId xmlns:a16="http://schemas.microsoft.com/office/drawing/2014/main" val="1794349000"/>
                    </a:ext>
                  </a:extLst>
                </a:gridCol>
                <a:gridCol w="794320">
                  <a:extLst>
                    <a:ext uri="{9D8B030D-6E8A-4147-A177-3AD203B41FA5}">
                      <a16:colId xmlns:a16="http://schemas.microsoft.com/office/drawing/2014/main" val="247777362"/>
                    </a:ext>
                  </a:extLst>
                </a:gridCol>
                <a:gridCol w="794320">
                  <a:extLst>
                    <a:ext uri="{9D8B030D-6E8A-4147-A177-3AD203B41FA5}">
                      <a16:colId xmlns:a16="http://schemas.microsoft.com/office/drawing/2014/main" val="2704796698"/>
                    </a:ext>
                  </a:extLst>
                </a:gridCol>
                <a:gridCol w="794320">
                  <a:extLst>
                    <a:ext uri="{9D8B030D-6E8A-4147-A177-3AD203B41FA5}">
                      <a16:colId xmlns:a16="http://schemas.microsoft.com/office/drawing/2014/main" val="53088556"/>
                    </a:ext>
                  </a:extLst>
                </a:gridCol>
                <a:gridCol w="794320">
                  <a:extLst>
                    <a:ext uri="{9D8B030D-6E8A-4147-A177-3AD203B41FA5}">
                      <a16:colId xmlns:a16="http://schemas.microsoft.com/office/drawing/2014/main" val="2122746333"/>
                    </a:ext>
                  </a:extLst>
                </a:gridCol>
              </a:tblGrid>
              <a:tr h="514657">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extLst>
                  <a:ext uri="{0D108BD9-81ED-4DB2-BD59-A6C34878D82A}">
                    <a16:rowId xmlns:a16="http://schemas.microsoft.com/office/drawing/2014/main" val="4061759863"/>
                  </a:ext>
                </a:extLst>
              </a:tr>
            </a:tbl>
          </a:graphicData>
        </a:graphic>
      </p:graphicFrame>
      <p:sp>
        <p:nvSpPr>
          <p:cNvPr id="6" name="TextBox 5">
            <a:extLst>
              <a:ext uri="{FF2B5EF4-FFF2-40B4-BE49-F238E27FC236}">
                <a16:creationId xmlns:a16="http://schemas.microsoft.com/office/drawing/2014/main" id="{B8237779-9578-8A8F-85EB-EA6CC8A9312B}"/>
              </a:ext>
            </a:extLst>
          </p:cNvPr>
          <p:cNvSpPr txBox="1"/>
          <p:nvPr/>
        </p:nvSpPr>
        <p:spPr>
          <a:xfrm>
            <a:off x="1968936" y="3370117"/>
            <a:ext cx="8090676" cy="369332"/>
          </a:xfrm>
          <a:prstGeom prst="rect">
            <a:avLst/>
          </a:prstGeom>
          <a:noFill/>
        </p:spPr>
        <p:txBody>
          <a:bodyPr wrap="none" rtlCol="0">
            <a:spAutoFit/>
          </a:bodyPr>
          <a:lstStyle/>
          <a:p>
            <a:r>
              <a:rPr lang="en-US" dirty="0">
                <a:latin typeface="Times New Roman" panose="02020603050405020304" pitchFamily="18" charset="0"/>
              </a:rPr>
              <a:t>      0             1             2            3           4           5          6           7           8               9</a:t>
            </a:r>
          </a:p>
        </p:txBody>
      </p:sp>
      <p:sp>
        <p:nvSpPr>
          <p:cNvPr id="8" name="TextBox 7">
            <a:extLst>
              <a:ext uri="{FF2B5EF4-FFF2-40B4-BE49-F238E27FC236}">
                <a16:creationId xmlns:a16="http://schemas.microsoft.com/office/drawing/2014/main" id="{58AF52DB-0F67-5C4D-4518-7F6C58D336DF}"/>
              </a:ext>
            </a:extLst>
          </p:cNvPr>
          <p:cNvSpPr txBox="1"/>
          <p:nvPr/>
        </p:nvSpPr>
        <p:spPr>
          <a:xfrm>
            <a:off x="581192" y="3706054"/>
            <a:ext cx="11495640" cy="954107"/>
          </a:xfrm>
          <a:prstGeom prst="rect">
            <a:avLst/>
          </a:prstGeom>
          <a:noFill/>
        </p:spPr>
        <p:txBody>
          <a:bodyPr wrap="square">
            <a:spAutoFit/>
          </a:bodyPr>
          <a:lstStyle/>
          <a:p>
            <a:r>
              <a:rPr lang="en-US" sz="2800" dirty="0">
                <a:solidFill>
                  <a:srgbClr val="0070C0"/>
                </a:solidFill>
                <a:latin typeface="Times New Roman" panose="02020603050405020304" pitchFamily="18" charset="0"/>
                <a:cs typeface="Times New Roman" panose="02020603050405020304" pitchFamily="18" charset="0"/>
              </a:rPr>
              <a:t>P(</a:t>
            </a:r>
            <a:r>
              <a:rPr lang="en-US" sz="2800" dirty="0" err="1">
                <a:solidFill>
                  <a:srgbClr val="0070C0"/>
                </a:solidFill>
                <a:latin typeface="Times New Roman" panose="02020603050405020304" pitchFamily="18" charset="0"/>
                <a:cs typeface="Times New Roman" panose="02020603050405020304" pitchFamily="18" charset="0"/>
              </a:rPr>
              <a:t>i</a:t>
            </a:r>
            <a:r>
              <a:rPr lang="en-US" sz="2800" dirty="0">
                <a:solidFill>
                  <a:srgbClr val="0070C0"/>
                </a:solidFill>
                <a:latin typeface="Times New Roman" panose="02020603050405020304" pitchFamily="18" charset="0"/>
                <a:cs typeface="Times New Roman" panose="02020603050405020304" pitchFamily="18" charset="0"/>
              </a:rPr>
              <a:t>, key)=</a:t>
            </a:r>
            <a:r>
              <a:rPr lang="en-US" sz="2800" dirty="0">
                <a:solidFill>
                  <a:srgbClr val="0070C0"/>
                </a:solidFill>
                <a:latin typeface="Times New Roman" panose="02020603050405020304" pitchFamily="18" charset="0"/>
              </a:rPr>
              <a:t> </a:t>
            </a:r>
            <a:r>
              <a:rPr lang="en-US" sz="2800" dirty="0">
                <a:solidFill>
                  <a:srgbClr val="0070C0"/>
                </a:solidFill>
                <a:latin typeface="Times New Roman" panose="02020603050405020304" pitchFamily="18" charset="0"/>
                <a:cs typeface="Times New Roman" panose="02020603050405020304" pitchFamily="18" charset="0"/>
              </a:rPr>
              <a:t>H(key)+ f(</a:t>
            </a:r>
            <a:r>
              <a:rPr lang="en-US" sz="2800" dirty="0" err="1">
                <a:solidFill>
                  <a:srgbClr val="0070C0"/>
                </a:solidFill>
                <a:latin typeface="Times New Roman" panose="02020603050405020304" pitchFamily="18" charset="0"/>
                <a:cs typeface="Times New Roman" panose="02020603050405020304" pitchFamily="18" charset="0"/>
              </a:rPr>
              <a:t>i</a:t>
            </a:r>
            <a:r>
              <a:rPr lang="en-US" sz="2800" dirty="0">
                <a:solidFill>
                  <a:srgbClr val="0070C0"/>
                </a:solidFill>
                <a:latin typeface="Times New Roman" panose="02020603050405020304" pitchFamily="18" charset="0"/>
                <a:cs typeface="Times New Roman" panose="02020603050405020304" pitchFamily="18" charset="0"/>
              </a:rPr>
              <a:t>)</a:t>
            </a:r>
            <a:br>
              <a:rPr lang="en-US" sz="2800" dirty="0">
                <a:solidFill>
                  <a:srgbClr val="0070C0"/>
                </a:solidFill>
                <a:latin typeface="Times New Roman" panose="02020603050405020304" pitchFamily="18" charset="0"/>
                <a:cs typeface="Times New Roman" panose="02020603050405020304" pitchFamily="18" charset="0"/>
              </a:rPr>
            </a:br>
            <a:r>
              <a:rPr lang="en-US" sz="2800" dirty="0">
                <a:solidFill>
                  <a:schemeClr val="tx1"/>
                </a:solidFill>
                <a:latin typeface="Times New Roman" panose="02020603050405020304" pitchFamily="18" charset="0"/>
                <a:cs typeface="Times New Roman" panose="02020603050405020304" pitchFamily="18" charset="0"/>
              </a:rPr>
              <a:t>P(0, 43) = H(43) + f(0)</a:t>
            </a:r>
          </a:p>
        </p:txBody>
      </p:sp>
      <p:sp>
        <p:nvSpPr>
          <p:cNvPr id="9" name="TextBox 8">
            <a:extLst>
              <a:ext uri="{FF2B5EF4-FFF2-40B4-BE49-F238E27FC236}">
                <a16:creationId xmlns:a16="http://schemas.microsoft.com/office/drawing/2014/main" id="{E2851A34-3B00-0312-D021-978C815A13D5}"/>
              </a:ext>
            </a:extLst>
          </p:cNvPr>
          <p:cNvSpPr txBox="1"/>
          <p:nvPr/>
        </p:nvSpPr>
        <p:spPr>
          <a:xfrm>
            <a:off x="255780" y="4755708"/>
            <a:ext cx="11495640" cy="1815882"/>
          </a:xfrm>
          <a:prstGeom prst="rect">
            <a:avLst/>
          </a:prstGeom>
          <a:noFill/>
        </p:spPr>
        <p:txBody>
          <a:bodyPr wrap="square">
            <a:spAutoFit/>
          </a:bodyPr>
          <a:lstStyle/>
          <a:p>
            <a:r>
              <a:rPr lang="en-US" sz="2800" dirty="0">
                <a:latin typeface="Times New Roman" panose="02020603050405020304" pitchFamily="18" charset="0"/>
              </a:rPr>
              <a:t>This is the first time we have tried to put 43 in the array, so </a:t>
            </a:r>
            <a:r>
              <a:rPr lang="en-US" sz="2800" dirty="0" err="1">
                <a:latin typeface="Times New Roman" panose="02020603050405020304" pitchFamily="18" charset="0"/>
              </a:rPr>
              <a:t>i</a:t>
            </a:r>
            <a:r>
              <a:rPr lang="en-US" sz="2800" dirty="0">
                <a:latin typeface="Times New Roman" panose="02020603050405020304" pitchFamily="18" charset="0"/>
              </a:rPr>
              <a:t> = 0.  P(0,43) = 3 But there is already something there so try again.</a:t>
            </a:r>
          </a:p>
          <a:p>
            <a:r>
              <a:rPr lang="en-US" sz="2800" dirty="0">
                <a:latin typeface="Times New Roman" panose="02020603050405020304" pitchFamily="18" charset="0"/>
              </a:rPr>
              <a:t>P(1, 43) but there is something in 4 already.</a:t>
            </a:r>
            <a:br>
              <a:rPr lang="en-US" sz="2800" dirty="0">
                <a:latin typeface="Times New Roman" panose="02020603050405020304" pitchFamily="18" charset="0"/>
              </a:rPr>
            </a:br>
            <a:r>
              <a:rPr lang="en-US" sz="2800" dirty="0">
                <a:latin typeface="Times New Roman" panose="02020603050405020304" pitchFamily="18" charset="0"/>
              </a:rPr>
              <a:t>P(2, 43) will give you H(43) + f(2) = 3+2 = 5</a:t>
            </a:r>
          </a:p>
        </p:txBody>
      </p:sp>
      <p:sp>
        <p:nvSpPr>
          <p:cNvPr id="10" name="TextBox 9">
            <a:extLst>
              <a:ext uri="{FF2B5EF4-FFF2-40B4-BE49-F238E27FC236}">
                <a16:creationId xmlns:a16="http://schemas.microsoft.com/office/drawing/2014/main" id="{31F27A57-9229-F8BA-5137-6CD8C6E93AB4}"/>
              </a:ext>
            </a:extLst>
          </p:cNvPr>
          <p:cNvSpPr txBox="1"/>
          <p:nvPr/>
        </p:nvSpPr>
        <p:spPr>
          <a:xfrm>
            <a:off x="4745421" y="2914343"/>
            <a:ext cx="409903" cy="523220"/>
          </a:xfrm>
          <a:prstGeom prst="rect">
            <a:avLst/>
          </a:prstGeom>
          <a:noFill/>
        </p:spPr>
        <p:txBody>
          <a:bodyPr wrap="square" rtlCol="0">
            <a:spAutoFit/>
          </a:bodyPr>
          <a:lstStyle/>
          <a:p>
            <a:r>
              <a:rPr lang="en-US" sz="2800" dirty="0">
                <a:latin typeface="Times New Roman" panose="02020603050405020304" pitchFamily="18" charset="0"/>
              </a:rPr>
              <a:t>3</a:t>
            </a:r>
          </a:p>
        </p:txBody>
      </p:sp>
      <p:sp>
        <p:nvSpPr>
          <p:cNvPr id="5" name="TextBox 4">
            <a:extLst>
              <a:ext uri="{FF2B5EF4-FFF2-40B4-BE49-F238E27FC236}">
                <a16:creationId xmlns:a16="http://schemas.microsoft.com/office/drawing/2014/main" id="{377CE0BD-DB58-97D1-9CB9-7B2039302906}"/>
              </a:ext>
            </a:extLst>
          </p:cNvPr>
          <p:cNvSpPr txBox="1"/>
          <p:nvPr/>
        </p:nvSpPr>
        <p:spPr>
          <a:xfrm>
            <a:off x="5417646" y="2924756"/>
            <a:ext cx="868853" cy="523220"/>
          </a:xfrm>
          <a:prstGeom prst="rect">
            <a:avLst/>
          </a:prstGeom>
          <a:noFill/>
        </p:spPr>
        <p:txBody>
          <a:bodyPr wrap="square" rtlCol="0">
            <a:spAutoFit/>
          </a:bodyPr>
          <a:lstStyle/>
          <a:p>
            <a:r>
              <a:rPr lang="en-US" sz="2800" dirty="0">
                <a:latin typeface="Times New Roman" panose="02020603050405020304" pitchFamily="18" charset="0"/>
              </a:rPr>
              <a:t>13</a:t>
            </a:r>
          </a:p>
        </p:txBody>
      </p:sp>
    </p:spTree>
    <p:extLst>
      <p:ext uri="{BB962C8B-B14F-4D97-AF65-F5344CB8AC3E}">
        <p14:creationId xmlns:p14="http://schemas.microsoft.com/office/powerpoint/2010/main" val="4129031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3BD9D9-83CD-4234-AD50-27B24199753D}"/>
              </a:ext>
            </a:extLst>
          </p:cNvPr>
          <p:cNvSpPr>
            <a:spLocks noGrp="1"/>
          </p:cNvSpPr>
          <p:nvPr>
            <p:ph idx="1"/>
          </p:nvPr>
        </p:nvSpPr>
        <p:spPr>
          <a:xfrm>
            <a:off x="557706" y="2129649"/>
            <a:ext cx="8823800" cy="3166260"/>
          </a:xfrm>
        </p:spPr>
        <p:txBody>
          <a:bodyPr anchor="t" anchorCtr="0">
            <a:noAutofit/>
          </a:bodyPr>
          <a:lstStyle/>
          <a:p>
            <a:pPr>
              <a:lnSpc>
                <a:spcPct val="100000"/>
              </a:lnSpc>
              <a:spcAft>
                <a:spcPts val="400"/>
              </a:spcAft>
            </a:pPr>
            <a:r>
              <a:rPr lang="en-US" sz="3200" dirty="0">
                <a:solidFill>
                  <a:srgbClr val="70AD47">
                    <a:lumMod val="50000"/>
                  </a:srgbClr>
                </a:solidFill>
                <a:cs typeface="Times New Roman" panose="02020603050405020304" pitchFamily="18" charset="0"/>
                <a:sym typeface="Symbol" panose="05050102010706020507" pitchFamily="18" charset="2"/>
              </a:rPr>
              <a:t>The disadvantage to using linear open addressing is primary clustering </a:t>
            </a:r>
          </a:p>
          <a:p>
            <a:pPr>
              <a:lnSpc>
                <a:spcPct val="100000"/>
              </a:lnSpc>
              <a:spcAft>
                <a:spcPts val="400"/>
              </a:spcAft>
            </a:pPr>
            <a:r>
              <a:rPr lang="en-US" sz="3200" dirty="0">
                <a:solidFill>
                  <a:srgbClr val="70AD47">
                    <a:lumMod val="50000"/>
                  </a:srgbClr>
                </a:solidFill>
                <a:cs typeface="Times New Roman" panose="02020603050405020304" pitchFamily="18" charset="0"/>
                <a:sym typeface="Symbol" panose="05050102010706020507" pitchFamily="18" charset="2"/>
              </a:rPr>
              <a:t>Primary clusters tend to expand.  </a:t>
            </a:r>
            <a:r>
              <a:rPr lang="en-US" sz="3200" dirty="0">
                <a:solidFill>
                  <a:srgbClr val="70AD47">
                    <a:lumMod val="50000"/>
                  </a:srgbClr>
                </a:solidFill>
                <a:cs typeface="Times New Roman" panose="02020603050405020304" pitchFamily="18" charset="0"/>
              </a:rPr>
              <a:t>The larger they are, the more likely they are to get even larger, since an attempt to insert a new entry anywhere in the cluster will wind up using the open slot at its end, thus making the cluster even larger</a:t>
            </a:r>
            <a:endParaRPr lang="en-US" sz="3200" dirty="0">
              <a:solidFill>
                <a:srgbClr val="70AD47">
                  <a:lumMod val="50000"/>
                </a:srgbClr>
              </a:solidFill>
              <a:cs typeface="Times New Roman" panose="02020603050405020304" pitchFamily="18" charset="0"/>
              <a:sym typeface="Symbol" panose="05050102010706020507" pitchFamily="18" charset="2"/>
            </a:endParaRPr>
          </a:p>
        </p:txBody>
      </p:sp>
      <p:sp>
        <p:nvSpPr>
          <p:cNvPr id="3" name="Title 2">
            <a:extLst>
              <a:ext uri="{FF2B5EF4-FFF2-40B4-BE49-F238E27FC236}">
                <a16:creationId xmlns:a16="http://schemas.microsoft.com/office/drawing/2014/main" id="{B59EA9AB-B2A1-431F-9113-07C451B032C3}"/>
              </a:ext>
            </a:extLst>
          </p:cNvPr>
          <p:cNvSpPr>
            <a:spLocks noGrp="1"/>
          </p:cNvSpPr>
          <p:nvPr>
            <p:ph type="title"/>
          </p:nvPr>
        </p:nvSpPr>
        <p:spPr>
          <a:xfrm>
            <a:off x="557706" y="1101144"/>
            <a:ext cx="7214694" cy="517933"/>
          </a:xfrm>
        </p:spPr>
        <p:txBody>
          <a:bodyPr>
            <a:noAutofit/>
          </a:bodyPr>
          <a:lstStyle/>
          <a:p>
            <a:r>
              <a:rPr lang="en-US" sz="4400" dirty="0"/>
              <a:t>Clustering</a:t>
            </a:r>
          </a:p>
        </p:txBody>
      </p:sp>
      <p:grpSp>
        <p:nvGrpSpPr>
          <p:cNvPr id="4" name="the hash table">
            <a:extLst>
              <a:ext uri="{FF2B5EF4-FFF2-40B4-BE49-F238E27FC236}">
                <a16:creationId xmlns:a16="http://schemas.microsoft.com/office/drawing/2014/main" id="{815662AC-6B18-0921-F444-8F7599C87715}"/>
              </a:ext>
            </a:extLst>
          </p:cNvPr>
          <p:cNvGrpSpPr/>
          <p:nvPr/>
        </p:nvGrpSpPr>
        <p:grpSpPr>
          <a:xfrm>
            <a:off x="9564548" y="2107076"/>
            <a:ext cx="1987503" cy="4413477"/>
            <a:chOff x="9230061" y="1271505"/>
            <a:chExt cx="1987503" cy="4413477"/>
          </a:xfrm>
        </p:grpSpPr>
        <p:grpSp>
          <p:nvGrpSpPr>
            <p:cNvPr id="28" name="Group 27">
              <a:extLst>
                <a:ext uri="{FF2B5EF4-FFF2-40B4-BE49-F238E27FC236}">
                  <a16:creationId xmlns:a16="http://schemas.microsoft.com/office/drawing/2014/main" id="{7F24200A-1848-DB91-D8C8-77C60FCC0946}"/>
                </a:ext>
              </a:extLst>
            </p:cNvPr>
            <p:cNvGrpSpPr/>
            <p:nvPr/>
          </p:nvGrpSpPr>
          <p:grpSpPr>
            <a:xfrm>
              <a:off x="10132291" y="1302327"/>
              <a:ext cx="1085273" cy="4382655"/>
              <a:chOff x="10497128" y="1302327"/>
              <a:chExt cx="720436" cy="4382655"/>
            </a:xfrm>
          </p:grpSpPr>
          <p:grpSp>
            <p:nvGrpSpPr>
              <p:cNvPr id="33" name="Group 32">
                <a:extLst>
                  <a:ext uri="{FF2B5EF4-FFF2-40B4-BE49-F238E27FC236}">
                    <a16:creationId xmlns:a16="http://schemas.microsoft.com/office/drawing/2014/main" id="{365595EE-C30D-DE9C-248B-1C4B842B52A0}"/>
                  </a:ext>
                </a:extLst>
              </p:cNvPr>
              <p:cNvGrpSpPr/>
              <p:nvPr/>
            </p:nvGrpSpPr>
            <p:grpSpPr>
              <a:xfrm>
                <a:off x="10497128" y="1302327"/>
                <a:ext cx="720436" cy="4382655"/>
                <a:chOff x="10497128" y="1302327"/>
                <a:chExt cx="720436" cy="4382655"/>
              </a:xfrm>
            </p:grpSpPr>
            <p:cxnSp>
              <p:nvCxnSpPr>
                <p:cNvPr id="36" name="Straight Connector 35">
                  <a:extLst>
                    <a:ext uri="{FF2B5EF4-FFF2-40B4-BE49-F238E27FC236}">
                      <a16:creationId xmlns:a16="http://schemas.microsoft.com/office/drawing/2014/main" id="{24A34698-0CB4-536C-5C49-8EDE9DF0F354}"/>
                    </a:ext>
                  </a:extLst>
                </p:cNvPr>
                <p:cNvCxnSpPr>
                  <a:cxnSpLocks/>
                </p:cNvCxnSpPr>
                <p:nvPr/>
              </p:nvCxnSpPr>
              <p:spPr>
                <a:xfrm>
                  <a:off x="10497128" y="130232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F0F7EB2-A504-9123-ACCB-62CA42021F61}"/>
                    </a:ext>
                  </a:extLst>
                </p:cNvPr>
                <p:cNvCxnSpPr>
                  <a:cxnSpLocks/>
                </p:cNvCxnSpPr>
                <p:nvPr/>
              </p:nvCxnSpPr>
              <p:spPr>
                <a:xfrm>
                  <a:off x="10497128" y="163945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B204B6E-4461-0771-BC3A-A6BC189E1DB9}"/>
                    </a:ext>
                  </a:extLst>
                </p:cNvPr>
                <p:cNvCxnSpPr>
                  <a:cxnSpLocks/>
                </p:cNvCxnSpPr>
                <p:nvPr/>
              </p:nvCxnSpPr>
              <p:spPr>
                <a:xfrm>
                  <a:off x="10497128" y="197658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086395B-B004-A670-6663-56A4D201859E}"/>
                    </a:ext>
                  </a:extLst>
                </p:cNvPr>
                <p:cNvCxnSpPr>
                  <a:cxnSpLocks/>
                </p:cNvCxnSpPr>
                <p:nvPr/>
              </p:nvCxnSpPr>
              <p:spPr>
                <a:xfrm>
                  <a:off x="10497128" y="2313708"/>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F97F920-2EC5-8442-672A-32EDF9C1818D}"/>
                    </a:ext>
                  </a:extLst>
                </p:cNvPr>
                <p:cNvCxnSpPr>
                  <a:cxnSpLocks/>
                </p:cNvCxnSpPr>
                <p:nvPr/>
              </p:nvCxnSpPr>
              <p:spPr>
                <a:xfrm>
                  <a:off x="10497128" y="2650835"/>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61BAC02-A6A9-FA8B-7734-12BC02869FC2}"/>
                    </a:ext>
                  </a:extLst>
                </p:cNvPr>
                <p:cNvCxnSpPr>
                  <a:cxnSpLocks/>
                </p:cNvCxnSpPr>
                <p:nvPr/>
              </p:nvCxnSpPr>
              <p:spPr>
                <a:xfrm>
                  <a:off x="10497128" y="298796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45F6170-E174-BAEE-E662-59755EDEF7CC}"/>
                    </a:ext>
                  </a:extLst>
                </p:cNvPr>
                <p:cNvCxnSpPr>
                  <a:cxnSpLocks/>
                </p:cNvCxnSpPr>
                <p:nvPr/>
              </p:nvCxnSpPr>
              <p:spPr>
                <a:xfrm>
                  <a:off x="10497128" y="3325089"/>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22FCB85-4DEF-9684-D5DC-25629C176C20}"/>
                    </a:ext>
                  </a:extLst>
                </p:cNvPr>
                <p:cNvCxnSpPr>
                  <a:cxnSpLocks/>
                </p:cNvCxnSpPr>
                <p:nvPr/>
              </p:nvCxnSpPr>
              <p:spPr>
                <a:xfrm>
                  <a:off x="10497128" y="3662216"/>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FB1ABAF-E261-CEEE-B2D2-57A829E312EE}"/>
                    </a:ext>
                  </a:extLst>
                </p:cNvPr>
                <p:cNvCxnSpPr>
                  <a:cxnSpLocks/>
                </p:cNvCxnSpPr>
                <p:nvPr/>
              </p:nvCxnSpPr>
              <p:spPr>
                <a:xfrm>
                  <a:off x="10497128" y="3999343"/>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B3832590-43DB-9DE7-D747-C625258A1DCA}"/>
                    </a:ext>
                  </a:extLst>
                </p:cNvPr>
                <p:cNvCxnSpPr>
                  <a:cxnSpLocks/>
                </p:cNvCxnSpPr>
                <p:nvPr/>
              </p:nvCxnSpPr>
              <p:spPr>
                <a:xfrm>
                  <a:off x="10497128" y="4336470"/>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371BE08-83D0-987D-87BE-10086EAE5633}"/>
                    </a:ext>
                  </a:extLst>
                </p:cNvPr>
                <p:cNvCxnSpPr>
                  <a:cxnSpLocks/>
                </p:cNvCxnSpPr>
                <p:nvPr/>
              </p:nvCxnSpPr>
              <p:spPr>
                <a:xfrm>
                  <a:off x="10497128" y="467359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271271D-D468-2D89-B22E-ED0FF68D5F90}"/>
                    </a:ext>
                  </a:extLst>
                </p:cNvPr>
                <p:cNvCxnSpPr>
                  <a:cxnSpLocks/>
                </p:cNvCxnSpPr>
                <p:nvPr/>
              </p:nvCxnSpPr>
              <p:spPr>
                <a:xfrm>
                  <a:off x="10497128" y="501072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004796C-8B6C-FF2F-2625-86D726BDC8D8}"/>
                    </a:ext>
                  </a:extLst>
                </p:cNvPr>
                <p:cNvCxnSpPr>
                  <a:cxnSpLocks/>
                </p:cNvCxnSpPr>
                <p:nvPr/>
              </p:nvCxnSpPr>
              <p:spPr>
                <a:xfrm>
                  <a:off x="10497128" y="534785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259E1CF-02BE-A038-D0AF-2A77298898DE}"/>
                    </a:ext>
                  </a:extLst>
                </p:cNvPr>
                <p:cNvCxnSpPr>
                  <a:cxnSpLocks/>
                </p:cNvCxnSpPr>
                <p:nvPr/>
              </p:nvCxnSpPr>
              <p:spPr>
                <a:xfrm>
                  <a:off x="10497128" y="568498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4" name="Straight Connector 33">
                <a:extLst>
                  <a:ext uri="{FF2B5EF4-FFF2-40B4-BE49-F238E27FC236}">
                    <a16:creationId xmlns:a16="http://schemas.microsoft.com/office/drawing/2014/main" id="{48FBBD30-FCA9-AD37-31BA-8213004B15BC}"/>
                  </a:ext>
                </a:extLst>
              </p:cNvPr>
              <p:cNvCxnSpPr>
                <a:cxnSpLocks/>
              </p:cNvCxnSpPr>
              <p:nvPr/>
            </p:nvCxnSpPr>
            <p:spPr>
              <a:xfrm>
                <a:off x="10497128"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DE218CF-6934-14BF-2714-597906D67244}"/>
                  </a:ext>
                </a:extLst>
              </p:cNvPr>
              <p:cNvCxnSpPr>
                <a:cxnSpLocks/>
              </p:cNvCxnSpPr>
              <p:nvPr/>
            </p:nvCxnSpPr>
            <p:spPr>
              <a:xfrm>
                <a:off x="11217564"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2" name="TextBox 31">
              <a:extLst>
                <a:ext uri="{FF2B5EF4-FFF2-40B4-BE49-F238E27FC236}">
                  <a16:creationId xmlns:a16="http://schemas.microsoft.com/office/drawing/2014/main" id="{E526121B-66A6-F6E2-63DA-41FF36981BB2}"/>
                </a:ext>
              </a:extLst>
            </p:cNvPr>
            <p:cNvSpPr txBox="1"/>
            <p:nvPr/>
          </p:nvSpPr>
          <p:spPr>
            <a:xfrm>
              <a:off x="9230061" y="1271505"/>
              <a:ext cx="982480" cy="4405052"/>
            </a:xfrm>
            <a:prstGeom prst="rect">
              <a:avLst/>
            </a:prstGeom>
            <a:noFill/>
          </p:spPr>
          <p:txBody>
            <a:bodyPr wrap="square" rtlCol="0">
              <a:spAutoFit/>
            </a:bodyPr>
            <a:lstStyle/>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[0]</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[2]</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[3]</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[4]</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[5]</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[6]</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[7]</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[8]</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[9]</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[10]</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[11]</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[12]</a:t>
              </a:r>
            </a:p>
          </p:txBody>
        </p:sp>
      </p:grpSp>
      <p:sp>
        <p:nvSpPr>
          <p:cNvPr id="50" name="TextBox 49">
            <a:extLst>
              <a:ext uri="{FF2B5EF4-FFF2-40B4-BE49-F238E27FC236}">
                <a16:creationId xmlns:a16="http://schemas.microsoft.com/office/drawing/2014/main" id="{6BD2390B-08BD-D7A7-051F-AB68A8FAB2EF}"/>
              </a:ext>
            </a:extLst>
          </p:cNvPr>
          <p:cNvSpPr txBox="1"/>
          <p:nvPr/>
        </p:nvSpPr>
        <p:spPr>
          <a:xfrm>
            <a:off x="10516838" y="2081084"/>
            <a:ext cx="1063941"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Adams</a:t>
            </a:r>
          </a:p>
        </p:txBody>
      </p:sp>
      <p:sp>
        <p:nvSpPr>
          <p:cNvPr id="51" name="TextBox 50">
            <a:extLst>
              <a:ext uri="{FF2B5EF4-FFF2-40B4-BE49-F238E27FC236}">
                <a16:creationId xmlns:a16="http://schemas.microsoft.com/office/drawing/2014/main" id="{4FCBAE40-6D2B-3EA2-3B94-23DC770CFF43}"/>
              </a:ext>
            </a:extLst>
          </p:cNvPr>
          <p:cNvSpPr txBox="1"/>
          <p:nvPr/>
        </p:nvSpPr>
        <p:spPr>
          <a:xfrm>
            <a:off x="10568354" y="5110140"/>
            <a:ext cx="1063937"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Jones</a:t>
            </a:r>
          </a:p>
        </p:txBody>
      </p:sp>
      <p:sp>
        <p:nvSpPr>
          <p:cNvPr id="52" name="TextBox 51">
            <a:extLst>
              <a:ext uri="{FF2B5EF4-FFF2-40B4-BE49-F238E27FC236}">
                <a16:creationId xmlns:a16="http://schemas.microsoft.com/office/drawing/2014/main" id="{37B75820-6635-E50C-1E75-8BBB407842F4}"/>
              </a:ext>
            </a:extLst>
          </p:cNvPr>
          <p:cNvSpPr txBox="1"/>
          <p:nvPr/>
        </p:nvSpPr>
        <p:spPr>
          <a:xfrm>
            <a:off x="10533212" y="2412389"/>
            <a:ext cx="1032655" cy="461665"/>
          </a:xfrm>
          <a:prstGeom prst="rect">
            <a:avLst/>
          </a:prstGeom>
          <a:noFill/>
        </p:spPr>
        <p:txBody>
          <a:bodyPr wrap="square" rtlCol="0">
            <a:spAutoFit/>
          </a:bodyPr>
          <a:lstStyle/>
          <a:p>
            <a:r>
              <a:rPr lang="en-US" sz="2400" dirty="0">
                <a:solidFill>
                  <a:srgbClr val="0070C0"/>
                </a:solidFill>
                <a:latin typeface="Times New Roman" panose="02020603050405020304" pitchFamily="18" charset="0"/>
              </a:rPr>
              <a:t>Apple</a:t>
            </a:r>
          </a:p>
        </p:txBody>
      </p:sp>
      <p:sp>
        <p:nvSpPr>
          <p:cNvPr id="53" name="TextBox 52">
            <a:extLst>
              <a:ext uri="{FF2B5EF4-FFF2-40B4-BE49-F238E27FC236}">
                <a16:creationId xmlns:a16="http://schemas.microsoft.com/office/drawing/2014/main" id="{816514EB-48B7-7D77-CDA0-3761516CCAEB}"/>
              </a:ext>
            </a:extLst>
          </p:cNvPr>
          <p:cNvSpPr txBox="1"/>
          <p:nvPr/>
        </p:nvSpPr>
        <p:spPr>
          <a:xfrm>
            <a:off x="10483153" y="2721869"/>
            <a:ext cx="1032655" cy="461665"/>
          </a:xfrm>
          <a:prstGeom prst="rect">
            <a:avLst/>
          </a:prstGeom>
          <a:noFill/>
        </p:spPr>
        <p:txBody>
          <a:bodyPr wrap="square" rtlCol="0">
            <a:spAutoFit/>
          </a:bodyPr>
          <a:lstStyle/>
          <a:p>
            <a:r>
              <a:rPr lang="en-US" sz="2400" dirty="0">
                <a:solidFill>
                  <a:srgbClr val="0070C0"/>
                </a:solidFill>
                <a:latin typeface="Times New Roman" panose="02020603050405020304" pitchFamily="18" charset="0"/>
              </a:rPr>
              <a:t>Ant</a:t>
            </a:r>
          </a:p>
        </p:txBody>
      </p:sp>
      <p:sp>
        <p:nvSpPr>
          <p:cNvPr id="54" name="TextBox 53">
            <a:extLst>
              <a:ext uri="{FF2B5EF4-FFF2-40B4-BE49-F238E27FC236}">
                <a16:creationId xmlns:a16="http://schemas.microsoft.com/office/drawing/2014/main" id="{C2A68BCA-DF40-8E52-7F59-D4C1E5BA757F}"/>
              </a:ext>
            </a:extLst>
          </p:cNvPr>
          <p:cNvSpPr txBox="1"/>
          <p:nvPr/>
        </p:nvSpPr>
        <p:spPr>
          <a:xfrm>
            <a:off x="10530717" y="3416093"/>
            <a:ext cx="1032655" cy="461665"/>
          </a:xfrm>
          <a:prstGeom prst="rect">
            <a:avLst/>
          </a:prstGeom>
          <a:noFill/>
        </p:spPr>
        <p:txBody>
          <a:bodyPr wrap="square" rtlCol="0">
            <a:spAutoFit/>
          </a:bodyPr>
          <a:lstStyle/>
          <a:p>
            <a:r>
              <a:rPr lang="en-US" sz="2400" dirty="0">
                <a:solidFill>
                  <a:srgbClr val="0070C0"/>
                </a:solidFill>
                <a:latin typeface="Times New Roman" panose="02020603050405020304" pitchFamily="18" charset="0"/>
              </a:rPr>
              <a:t>Arrow</a:t>
            </a:r>
          </a:p>
        </p:txBody>
      </p:sp>
      <p:sp>
        <p:nvSpPr>
          <p:cNvPr id="55" name="TextBox 54">
            <a:extLst>
              <a:ext uri="{FF2B5EF4-FFF2-40B4-BE49-F238E27FC236}">
                <a16:creationId xmlns:a16="http://schemas.microsoft.com/office/drawing/2014/main" id="{BF84DC62-C5CB-D78C-8602-A9C882AAB02E}"/>
              </a:ext>
            </a:extLst>
          </p:cNvPr>
          <p:cNvSpPr txBox="1"/>
          <p:nvPr/>
        </p:nvSpPr>
        <p:spPr>
          <a:xfrm>
            <a:off x="10493087" y="3744291"/>
            <a:ext cx="1032655" cy="461665"/>
          </a:xfrm>
          <a:prstGeom prst="rect">
            <a:avLst/>
          </a:prstGeom>
          <a:noFill/>
        </p:spPr>
        <p:txBody>
          <a:bodyPr wrap="square" rtlCol="0">
            <a:spAutoFit/>
          </a:bodyPr>
          <a:lstStyle/>
          <a:p>
            <a:r>
              <a:rPr lang="en-US" sz="2400" dirty="0">
                <a:solidFill>
                  <a:srgbClr val="0070C0"/>
                </a:solidFill>
                <a:latin typeface="Times New Roman" panose="02020603050405020304" pitchFamily="18" charset="0"/>
              </a:rPr>
              <a:t>Delta</a:t>
            </a:r>
          </a:p>
        </p:txBody>
      </p:sp>
      <p:sp>
        <p:nvSpPr>
          <p:cNvPr id="5" name="TextBox 4">
            <a:extLst>
              <a:ext uri="{FF2B5EF4-FFF2-40B4-BE49-F238E27FC236}">
                <a16:creationId xmlns:a16="http://schemas.microsoft.com/office/drawing/2014/main" id="{B99DBB6A-20CE-AF25-7A83-B202F53239C2}"/>
              </a:ext>
            </a:extLst>
          </p:cNvPr>
          <p:cNvSpPr txBox="1"/>
          <p:nvPr/>
        </p:nvSpPr>
        <p:spPr>
          <a:xfrm>
            <a:off x="10530716" y="3059306"/>
            <a:ext cx="1032655" cy="461665"/>
          </a:xfrm>
          <a:prstGeom prst="rect">
            <a:avLst/>
          </a:prstGeom>
          <a:noFill/>
        </p:spPr>
        <p:txBody>
          <a:bodyPr wrap="square" rtlCol="0">
            <a:spAutoFit/>
          </a:bodyPr>
          <a:lstStyle/>
          <a:p>
            <a:r>
              <a:rPr lang="en-US" sz="2400" dirty="0">
                <a:latin typeface="Times New Roman" panose="02020603050405020304" pitchFamily="18" charset="0"/>
              </a:rPr>
              <a:t>Davis</a:t>
            </a:r>
          </a:p>
        </p:txBody>
      </p:sp>
    </p:spTree>
    <p:extLst>
      <p:ext uri="{BB962C8B-B14F-4D97-AF65-F5344CB8AC3E}">
        <p14:creationId xmlns:p14="http://schemas.microsoft.com/office/powerpoint/2010/main" val="3487842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additive="base">
                                        <p:cTn id="7" dur="500" fill="hold"/>
                                        <p:tgtEl>
                                          <p:spTgt spid="52"/>
                                        </p:tgtEl>
                                        <p:attrNameLst>
                                          <p:attrName>ppt_x</p:attrName>
                                        </p:attrNameLst>
                                      </p:cBhvr>
                                      <p:tavLst>
                                        <p:tav tm="0">
                                          <p:val>
                                            <p:strVal val="#ppt_x"/>
                                          </p:val>
                                        </p:tav>
                                        <p:tav tm="100000">
                                          <p:val>
                                            <p:strVal val="#ppt_x"/>
                                          </p:val>
                                        </p:tav>
                                      </p:tavLst>
                                    </p:anim>
                                    <p:anim calcmode="lin" valueType="num">
                                      <p:cBhvr additive="base">
                                        <p:cTn id="8"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3"/>
                                        </p:tgtEl>
                                        <p:attrNameLst>
                                          <p:attrName>style.visibility</p:attrName>
                                        </p:attrNameLst>
                                      </p:cBhvr>
                                      <p:to>
                                        <p:strVal val="visible"/>
                                      </p:to>
                                    </p:set>
                                    <p:anim calcmode="lin" valueType="num">
                                      <p:cBhvr additive="base">
                                        <p:cTn id="13" dur="500" fill="hold"/>
                                        <p:tgtEl>
                                          <p:spTgt spid="53"/>
                                        </p:tgtEl>
                                        <p:attrNameLst>
                                          <p:attrName>ppt_x</p:attrName>
                                        </p:attrNameLst>
                                      </p:cBhvr>
                                      <p:tavLst>
                                        <p:tav tm="0">
                                          <p:val>
                                            <p:strVal val="#ppt_x"/>
                                          </p:val>
                                        </p:tav>
                                        <p:tav tm="100000">
                                          <p:val>
                                            <p:strVal val="#ppt_x"/>
                                          </p:val>
                                        </p:tav>
                                      </p:tavLst>
                                    </p:anim>
                                    <p:anim calcmode="lin" valueType="num">
                                      <p:cBhvr additive="base">
                                        <p:cTn id="14"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4"/>
                                        </p:tgtEl>
                                        <p:attrNameLst>
                                          <p:attrName>style.visibility</p:attrName>
                                        </p:attrNameLst>
                                      </p:cBhvr>
                                      <p:to>
                                        <p:strVal val="visible"/>
                                      </p:to>
                                    </p:set>
                                    <p:anim calcmode="lin" valueType="num">
                                      <p:cBhvr additive="base">
                                        <p:cTn id="19" dur="500" fill="hold"/>
                                        <p:tgtEl>
                                          <p:spTgt spid="54"/>
                                        </p:tgtEl>
                                        <p:attrNameLst>
                                          <p:attrName>ppt_x</p:attrName>
                                        </p:attrNameLst>
                                      </p:cBhvr>
                                      <p:tavLst>
                                        <p:tav tm="0">
                                          <p:val>
                                            <p:strVal val="#ppt_x"/>
                                          </p:val>
                                        </p:tav>
                                        <p:tav tm="100000">
                                          <p:val>
                                            <p:strVal val="#ppt_x"/>
                                          </p:val>
                                        </p:tav>
                                      </p:tavLst>
                                    </p:anim>
                                    <p:anim calcmode="lin" valueType="num">
                                      <p:cBhvr additive="base">
                                        <p:cTn id="20"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5"/>
                                        </p:tgtEl>
                                        <p:attrNameLst>
                                          <p:attrName>style.visibility</p:attrName>
                                        </p:attrNameLst>
                                      </p:cBhvr>
                                      <p:to>
                                        <p:strVal val="visible"/>
                                      </p:to>
                                    </p:set>
                                    <p:anim calcmode="lin" valueType="num">
                                      <p:cBhvr additive="base">
                                        <p:cTn id="25" dur="500" fill="hold"/>
                                        <p:tgtEl>
                                          <p:spTgt spid="55"/>
                                        </p:tgtEl>
                                        <p:attrNameLst>
                                          <p:attrName>ppt_x</p:attrName>
                                        </p:attrNameLst>
                                      </p:cBhvr>
                                      <p:tavLst>
                                        <p:tav tm="0">
                                          <p:val>
                                            <p:strVal val="#ppt_x"/>
                                          </p:val>
                                        </p:tav>
                                        <p:tav tm="100000">
                                          <p:val>
                                            <p:strVal val="#ppt_x"/>
                                          </p:val>
                                        </p:tav>
                                      </p:tavLst>
                                    </p:anim>
                                    <p:anim calcmode="lin" valueType="num">
                                      <p:cBhvr additive="base">
                                        <p:cTn id="26"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3" grpId="0"/>
      <p:bldP spid="54" grpId="0"/>
      <p:bldP spid="5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2E56C0-35C2-4EAB-9EDB-646E8C5E289B}"/>
              </a:ext>
            </a:extLst>
          </p:cNvPr>
          <p:cNvSpPr>
            <a:spLocks noGrp="1"/>
          </p:cNvSpPr>
          <p:nvPr>
            <p:ph idx="1"/>
          </p:nvPr>
        </p:nvSpPr>
        <p:spPr>
          <a:xfrm>
            <a:off x="348180" y="1876804"/>
            <a:ext cx="11262628" cy="5402762"/>
          </a:xfrm>
        </p:spPr>
        <p:txBody>
          <a:bodyPr anchor="t" anchorCtr="0">
            <a:noAutofit/>
          </a:bodyPr>
          <a:lstStyle/>
          <a:p>
            <a:pPr marL="0" indent="0">
              <a:lnSpc>
                <a:spcPct val="90000"/>
              </a:lnSpc>
              <a:buNone/>
            </a:pPr>
            <a:r>
              <a:rPr lang="en-US" sz="2800" dirty="0">
                <a:solidFill>
                  <a:schemeClr val="tx1"/>
                </a:solidFill>
                <a:latin typeface="Times New Roman" panose="02020603050405020304" pitchFamily="18" charset="0"/>
                <a:cs typeface="Times New Roman" panose="02020603050405020304" pitchFamily="18" charset="0"/>
              </a:rPr>
              <a:t>   </a:t>
            </a:r>
          </a:p>
        </p:txBody>
      </p:sp>
      <p:sp>
        <p:nvSpPr>
          <p:cNvPr id="3" name="Title 2">
            <a:extLst>
              <a:ext uri="{FF2B5EF4-FFF2-40B4-BE49-F238E27FC236}">
                <a16:creationId xmlns:a16="http://schemas.microsoft.com/office/drawing/2014/main" id="{DCBD4A68-0624-4080-ACDF-CBF1CC40402E}"/>
              </a:ext>
            </a:extLst>
          </p:cNvPr>
          <p:cNvSpPr>
            <a:spLocks noGrp="1"/>
          </p:cNvSpPr>
          <p:nvPr>
            <p:ph type="title"/>
          </p:nvPr>
        </p:nvSpPr>
        <p:spPr>
          <a:xfrm>
            <a:off x="581192" y="976562"/>
            <a:ext cx="11262628" cy="693113"/>
          </a:xfrm>
        </p:spPr>
        <p:txBody>
          <a:bodyPr>
            <a:noAutofit/>
          </a:bodyPr>
          <a:lstStyle/>
          <a:p>
            <a:r>
              <a:rPr lang="en-US" sz="3600" dirty="0"/>
              <a:t>Quadratic PROBING</a:t>
            </a:r>
          </a:p>
        </p:txBody>
      </p:sp>
      <p:sp>
        <p:nvSpPr>
          <p:cNvPr id="8" name="TextBox 7">
            <a:extLst>
              <a:ext uri="{FF2B5EF4-FFF2-40B4-BE49-F238E27FC236}">
                <a16:creationId xmlns:a16="http://schemas.microsoft.com/office/drawing/2014/main" id="{58AF52DB-0F67-5C4D-4518-7F6C58D336DF}"/>
              </a:ext>
            </a:extLst>
          </p:cNvPr>
          <p:cNvSpPr txBox="1"/>
          <p:nvPr/>
        </p:nvSpPr>
        <p:spPr>
          <a:xfrm>
            <a:off x="581192" y="2104111"/>
            <a:ext cx="10747208" cy="4688463"/>
          </a:xfrm>
          <a:prstGeom prst="rect">
            <a:avLst/>
          </a:prstGeom>
          <a:noFill/>
        </p:spPr>
        <p:txBody>
          <a:bodyPr wrap="square">
            <a:spAutoFit/>
          </a:bodyPr>
          <a:lstStyle/>
          <a:p>
            <a:r>
              <a:rPr lang="en-US" sz="2800" dirty="0">
                <a:solidFill>
                  <a:srgbClr val="0070C0"/>
                </a:solidFill>
                <a:latin typeface="Times New Roman" panose="02020603050405020304" pitchFamily="18" charset="0"/>
                <a:cs typeface="Times New Roman" panose="02020603050405020304" pitchFamily="18" charset="0"/>
              </a:rPr>
              <a:t>P(</a:t>
            </a:r>
            <a:r>
              <a:rPr lang="en-US" sz="2800" dirty="0" err="1">
                <a:solidFill>
                  <a:srgbClr val="0070C0"/>
                </a:solidFill>
                <a:latin typeface="Times New Roman" panose="02020603050405020304" pitchFamily="18" charset="0"/>
                <a:cs typeface="Times New Roman" panose="02020603050405020304" pitchFamily="18" charset="0"/>
              </a:rPr>
              <a:t>i</a:t>
            </a:r>
            <a:r>
              <a:rPr lang="en-US" sz="2800" dirty="0">
                <a:solidFill>
                  <a:srgbClr val="0070C0"/>
                </a:solidFill>
                <a:latin typeface="Times New Roman" panose="02020603050405020304" pitchFamily="18" charset="0"/>
                <a:cs typeface="Times New Roman" panose="02020603050405020304" pitchFamily="18" charset="0"/>
              </a:rPr>
              <a:t>, key)=</a:t>
            </a:r>
            <a:r>
              <a:rPr lang="en-US" sz="2800" dirty="0">
                <a:solidFill>
                  <a:srgbClr val="0070C0"/>
                </a:solidFill>
                <a:latin typeface="Times New Roman" panose="02020603050405020304" pitchFamily="18" charset="0"/>
              </a:rPr>
              <a:t> </a:t>
            </a:r>
            <a:r>
              <a:rPr lang="en-US" sz="2800" dirty="0">
                <a:solidFill>
                  <a:srgbClr val="0070C0"/>
                </a:solidFill>
                <a:latin typeface="Times New Roman" panose="02020603050405020304" pitchFamily="18" charset="0"/>
                <a:cs typeface="Times New Roman" panose="02020603050405020304" pitchFamily="18" charset="0"/>
              </a:rPr>
              <a:t>H(key)+ f(</a:t>
            </a:r>
            <a:r>
              <a:rPr lang="en-US" sz="2800" dirty="0" err="1">
                <a:solidFill>
                  <a:srgbClr val="0070C0"/>
                </a:solidFill>
                <a:latin typeface="Times New Roman" panose="02020603050405020304" pitchFamily="18" charset="0"/>
                <a:cs typeface="Times New Roman" panose="02020603050405020304" pitchFamily="18" charset="0"/>
              </a:rPr>
              <a:t>i</a:t>
            </a:r>
            <a:r>
              <a:rPr lang="en-US" sz="2800" dirty="0">
                <a:solidFill>
                  <a:srgbClr val="0070C0"/>
                </a:solidFill>
                <a:latin typeface="Times New Roman" panose="02020603050405020304" pitchFamily="18" charset="0"/>
                <a:cs typeface="Times New Roman" panose="02020603050405020304" pitchFamily="18" charset="0"/>
              </a:rPr>
              <a:t>)</a:t>
            </a:r>
          </a:p>
          <a:p>
            <a:endParaRPr lang="en-US" sz="2800" dirty="0">
              <a:solidFill>
                <a:srgbClr val="0070C0"/>
              </a:solidFill>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For Linear Probing  </a:t>
            </a:r>
            <a:r>
              <a:rPr lang="en-US" sz="2800" dirty="0">
                <a:solidFill>
                  <a:srgbClr val="0070C0"/>
                </a:solidFill>
                <a:latin typeface="Times New Roman" panose="02020603050405020304" pitchFamily="18" charset="0"/>
                <a:cs typeface="Times New Roman" panose="02020603050405020304" pitchFamily="18" charset="0"/>
              </a:rPr>
              <a:t>f(</a:t>
            </a:r>
            <a:r>
              <a:rPr lang="en-US" sz="2800" dirty="0" err="1">
                <a:solidFill>
                  <a:srgbClr val="0070C0"/>
                </a:solidFill>
                <a:latin typeface="Times New Roman" panose="02020603050405020304" pitchFamily="18" charset="0"/>
                <a:cs typeface="Times New Roman" panose="02020603050405020304" pitchFamily="18" charset="0"/>
              </a:rPr>
              <a:t>i</a:t>
            </a:r>
            <a:r>
              <a:rPr lang="en-US" sz="2800" dirty="0">
                <a:solidFill>
                  <a:srgbClr val="0070C0"/>
                </a:solidFill>
                <a:latin typeface="Times New Roman" panose="02020603050405020304" pitchFamily="18" charset="0"/>
                <a:cs typeface="Times New Roman" panose="02020603050405020304" pitchFamily="18" charset="0"/>
              </a:rPr>
              <a:t>) = </a:t>
            </a:r>
            <a:r>
              <a:rPr lang="en-US" sz="2800" dirty="0" err="1">
                <a:solidFill>
                  <a:srgbClr val="0070C0"/>
                </a:solidFill>
                <a:latin typeface="Times New Roman" panose="02020603050405020304" pitchFamily="18" charset="0"/>
                <a:cs typeface="Times New Roman" panose="02020603050405020304" pitchFamily="18" charset="0"/>
              </a:rPr>
              <a:t>i</a:t>
            </a:r>
            <a:endParaRPr lang="en-US" sz="2800" dirty="0">
              <a:solidFill>
                <a:srgbClr val="0070C0"/>
              </a:solidFill>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For Quadratic probing </a:t>
            </a:r>
            <a:r>
              <a:rPr lang="en-US" sz="2800" dirty="0">
                <a:solidFill>
                  <a:srgbClr val="0070C0"/>
                </a:solidFill>
                <a:latin typeface="Times New Roman" panose="02020603050405020304" pitchFamily="18" charset="0"/>
                <a:cs typeface="Times New Roman" panose="02020603050405020304" pitchFamily="18" charset="0"/>
              </a:rPr>
              <a:t>f(</a:t>
            </a:r>
            <a:r>
              <a:rPr lang="en-US" sz="2800" dirty="0" err="1">
                <a:solidFill>
                  <a:srgbClr val="0070C0"/>
                </a:solidFill>
                <a:latin typeface="Times New Roman" panose="02020603050405020304" pitchFamily="18" charset="0"/>
                <a:cs typeface="Times New Roman" panose="02020603050405020304" pitchFamily="18" charset="0"/>
              </a:rPr>
              <a:t>i</a:t>
            </a:r>
            <a:r>
              <a:rPr lang="en-US" sz="2800" dirty="0">
                <a:solidFill>
                  <a:srgbClr val="0070C0"/>
                </a:solidFill>
                <a:latin typeface="Times New Roman" panose="02020603050405020304" pitchFamily="18" charset="0"/>
                <a:cs typeface="Times New Roman" panose="02020603050405020304" pitchFamily="18" charset="0"/>
              </a:rPr>
              <a:t>) = i</a:t>
            </a:r>
            <a:r>
              <a:rPr lang="en-US" sz="2800" baseline="30000" dirty="0">
                <a:solidFill>
                  <a:srgbClr val="0070C0"/>
                </a:solidFill>
                <a:latin typeface="Times New Roman" panose="02020603050405020304" pitchFamily="18" charset="0"/>
                <a:cs typeface="Times New Roman" panose="02020603050405020304" pitchFamily="18" charset="0"/>
              </a:rPr>
              <a:t>2</a:t>
            </a:r>
          </a:p>
          <a:p>
            <a:endParaRPr lang="en-US" sz="2800" baseline="30000" dirty="0">
              <a:solidFill>
                <a:srgbClr val="0070C0"/>
              </a:solidFill>
              <a:latin typeface="Times New Roman" panose="02020603050405020304" pitchFamily="18" charset="0"/>
              <a:cs typeface="Times New Roman" panose="02020603050405020304" pitchFamily="18" charset="0"/>
            </a:endParaRPr>
          </a:p>
          <a:p>
            <a:r>
              <a:rPr lang="en-US" sz="2800" dirty="0">
                <a:solidFill>
                  <a:srgbClr val="0070C0"/>
                </a:solidFill>
                <a:latin typeface="Times New Roman" panose="02020603050405020304" pitchFamily="18" charset="0"/>
                <a:cs typeface="Times New Roman" panose="02020603050405020304" pitchFamily="18" charset="0"/>
              </a:rPr>
              <a:t>If you need to place 71 and the Hashing function  H(key)=key%10</a:t>
            </a:r>
          </a:p>
          <a:p>
            <a:endParaRPr lang="en-US" sz="2800" dirty="0">
              <a:solidFill>
                <a:srgbClr val="0070C0"/>
              </a:solidFill>
              <a:latin typeface="Times New Roman" panose="02020603050405020304" pitchFamily="18" charset="0"/>
              <a:cs typeface="Times New Roman" panose="02020603050405020304" pitchFamily="18" charset="0"/>
            </a:endParaRPr>
          </a:p>
          <a:p>
            <a:endParaRPr lang="en-US" sz="2800" dirty="0">
              <a:solidFill>
                <a:srgbClr val="0070C0"/>
              </a:solidFill>
              <a:latin typeface="Times New Roman" panose="02020603050405020304" pitchFamily="18" charset="0"/>
              <a:cs typeface="Times New Roman" panose="02020603050405020304" pitchFamily="18" charset="0"/>
            </a:endParaRPr>
          </a:p>
          <a:p>
            <a:endParaRPr lang="en-US" sz="2800" dirty="0">
              <a:solidFill>
                <a:srgbClr val="0070C0"/>
              </a:solidFill>
              <a:latin typeface="Times New Roman" panose="02020603050405020304" pitchFamily="18" charset="0"/>
              <a:cs typeface="Times New Roman" panose="02020603050405020304" pitchFamily="18" charset="0"/>
            </a:endParaRPr>
          </a:p>
          <a:p>
            <a:r>
              <a:rPr lang="en-US" sz="2800" dirty="0">
                <a:solidFill>
                  <a:srgbClr val="0070C0"/>
                </a:solidFill>
                <a:latin typeface="Times New Roman" panose="02020603050405020304" pitchFamily="18" charset="0"/>
                <a:cs typeface="Times New Roman" panose="02020603050405020304" pitchFamily="18" charset="0"/>
              </a:rPr>
              <a:t>Try to place in pos 1</a:t>
            </a:r>
          </a:p>
          <a:p>
            <a:r>
              <a:rPr lang="en-US" sz="2800" dirty="0">
                <a:solidFill>
                  <a:srgbClr val="0070C0"/>
                </a:solidFill>
                <a:latin typeface="Times New Roman" panose="02020603050405020304" pitchFamily="18" charset="0"/>
                <a:cs typeface="Times New Roman" panose="02020603050405020304" pitchFamily="18" charset="0"/>
              </a:rPr>
              <a:t>Try to place in pos 2     H(key) + i</a:t>
            </a:r>
            <a:r>
              <a:rPr lang="en-US" sz="2800" baseline="30000" dirty="0">
                <a:solidFill>
                  <a:srgbClr val="0070C0"/>
                </a:solidFill>
                <a:latin typeface="Times New Roman" panose="02020603050405020304" pitchFamily="18" charset="0"/>
                <a:cs typeface="Times New Roman" panose="02020603050405020304" pitchFamily="18" charset="0"/>
              </a:rPr>
              <a:t>2</a:t>
            </a:r>
            <a:r>
              <a:rPr lang="en-US" sz="2800" dirty="0">
                <a:solidFill>
                  <a:srgbClr val="0070C0"/>
                </a:solidFill>
                <a:latin typeface="Times New Roman" panose="02020603050405020304" pitchFamily="18" charset="0"/>
                <a:cs typeface="Times New Roman" panose="02020603050405020304" pitchFamily="18" charset="0"/>
              </a:rPr>
              <a:t>     1+1</a:t>
            </a:r>
            <a:r>
              <a:rPr lang="en-US" sz="2800" baseline="30000" dirty="0">
                <a:solidFill>
                  <a:srgbClr val="0070C0"/>
                </a:solidFill>
                <a:latin typeface="Times New Roman" panose="02020603050405020304" pitchFamily="18" charset="0"/>
                <a:cs typeface="Times New Roman" panose="02020603050405020304" pitchFamily="18" charset="0"/>
              </a:rPr>
              <a:t>2</a:t>
            </a:r>
            <a:r>
              <a:rPr lang="en-US" sz="2800" dirty="0">
                <a:solidFill>
                  <a:srgbClr val="0070C0"/>
                </a:solidFill>
                <a:latin typeface="Times New Roman" panose="02020603050405020304" pitchFamily="18" charset="0"/>
                <a:cs typeface="Times New Roman" panose="02020603050405020304" pitchFamily="18" charset="0"/>
              </a:rPr>
              <a:t> = 2</a:t>
            </a:r>
          </a:p>
        </p:txBody>
      </p:sp>
      <p:graphicFrame>
        <p:nvGraphicFramePr>
          <p:cNvPr id="4" name="Table 3">
            <a:extLst>
              <a:ext uri="{FF2B5EF4-FFF2-40B4-BE49-F238E27FC236}">
                <a16:creationId xmlns:a16="http://schemas.microsoft.com/office/drawing/2014/main" id="{C6A99377-A569-E201-5DE5-CB03B76EFA3F}"/>
              </a:ext>
            </a:extLst>
          </p:cNvPr>
          <p:cNvGraphicFramePr>
            <a:graphicFrameLocks noGrp="1"/>
          </p:cNvGraphicFramePr>
          <p:nvPr>
            <p:extLst>
              <p:ext uri="{D42A27DB-BD31-4B8C-83A1-F6EECF244321}">
                <p14:modId xmlns:p14="http://schemas.microsoft.com/office/powerpoint/2010/main" val="1535908119"/>
              </p:ext>
            </p:extLst>
          </p:nvPr>
        </p:nvGraphicFramePr>
        <p:xfrm>
          <a:off x="2713926" y="4991115"/>
          <a:ext cx="7943200" cy="514657"/>
        </p:xfrm>
        <a:graphic>
          <a:graphicData uri="http://schemas.openxmlformats.org/drawingml/2006/table">
            <a:tbl>
              <a:tblPr firstRow="1" bandRow="1">
                <a:tableStyleId>{F5AB1C69-6EDB-4FF4-983F-18BD219EF322}</a:tableStyleId>
              </a:tblPr>
              <a:tblGrid>
                <a:gridCol w="794320">
                  <a:extLst>
                    <a:ext uri="{9D8B030D-6E8A-4147-A177-3AD203B41FA5}">
                      <a16:colId xmlns:a16="http://schemas.microsoft.com/office/drawing/2014/main" val="1838891793"/>
                    </a:ext>
                  </a:extLst>
                </a:gridCol>
                <a:gridCol w="794320">
                  <a:extLst>
                    <a:ext uri="{9D8B030D-6E8A-4147-A177-3AD203B41FA5}">
                      <a16:colId xmlns:a16="http://schemas.microsoft.com/office/drawing/2014/main" val="3216229625"/>
                    </a:ext>
                  </a:extLst>
                </a:gridCol>
                <a:gridCol w="794320">
                  <a:extLst>
                    <a:ext uri="{9D8B030D-6E8A-4147-A177-3AD203B41FA5}">
                      <a16:colId xmlns:a16="http://schemas.microsoft.com/office/drawing/2014/main" val="67122098"/>
                    </a:ext>
                  </a:extLst>
                </a:gridCol>
                <a:gridCol w="794320">
                  <a:extLst>
                    <a:ext uri="{9D8B030D-6E8A-4147-A177-3AD203B41FA5}">
                      <a16:colId xmlns:a16="http://schemas.microsoft.com/office/drawing/2014/main" val="1048929879"/>
                    </a:ext>
                  </a:extLst>
                </a:gridCol>
                <a:gridCol w="794320">
                  <a:extLst>
                    <a:ext uri="{9D8B030D-6E8A-4147-A177-3AD203B41FA5}">
                      <a16:colId xmlns:a16="http://schemas.microsoft.com/office/drawing/2014/main" val="1290365078"/>
                    </a:ext>
                  </a:extLst>
                </a:gridCol>
                <a:gridCol w="794320">
                  <a:extLst>
                    <a:ext uri="{9D8B030D-6E8A-4147-A177-3AD203B41FA5}">
                      <a16:colId xmlns:a16="http://schemas.microsoft.com/office/drawing/2014/main" val="1794349000"/>
                    </a:ext>
                  </a:extLst>
                </a:gridCol>
                <a:gridCol w="794320">
                  <a:extLst>
                    <a:ext uri="{9D8B030D-6E8A-4147-A177-3AD203B41FA5}">
                      <a16:colId xmlns:a16="http://schemas.microsoft.com/office/drawing/2014/main" val="247777362"/>
                    </a:ext>
                  </a:extLst>
                </a:gridCol>
                <a:gridCol w="794320">
                  <a:extLst>
                    <a:ext uri="{9D8B030D-6E8A-4147-A177-3AD203B41FA5}">
                      <a16:colId xmlns:a16="http://schemas.microsoft.com/office/drawing/2014/main" val="2704796698"/>
                    </a:ext>
                  </a:extLst>
                </a:gridCol>
                <a:gridCol w="794320">
                  <a:extLst>
                    <a:ext uri="{9D8B030D-6E8A-4147-A177-3AD203B41FA5}">
                      <a16:colId xmlns:a16="http://schemas.microsoft.com/office/drawing/2014/main" val="53088556"/>
                    </a:ext>
                  </a:extLst>
                </a:gridCol>
                <a:gridCol w="794320">
                  <a:extLst>
                    <a:ext uri="{9D8B030D-6E8A-4147-A177-3AD203B41FA5}">
                      <a16:colId xmlns:a16="http://schemas.microsoft.com/office/drawing/2014/main" val="2122746333"/>
                    </a:ext>
                  </a:extLst>
                </a:gridCol>
              </a:tblGrid>
              <a:tr h="514657">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tc>
                  <a:txBody>
                    <a:bodyPr/>
                    <a:lstStyle/>
                    <a:p>
                      <a:endParaRPr lang="en-US" b="0" i="0" dirty="0">
                        <a:latin typeface="Times New Roman" panose="02020603050405020304" pitchFamily="18" charset="0"/>
                      </a:endParaRPr>
                    </a:p>
                  </a:txBody>
                  <a:tcPr/>
                </a:tc>
                <a:extLst>
                  <a:ext uri="{0D108BD9-81ED-4DB2-BD59-A6C34878D82A}">
                    <a16:rowId xmlns:a16="http://schemas.microsoft.com/office/drawing/2014/main" val="4061759863"/>
                  </a:ext>
                </a:extLst>
              </a:tr>
            </a:tbl>
          </a:graphicData>
        </a:graphic>
      </p:graphicFrame>
      <p:sp>
        <p:nvSpPr>
          <p:cNvPr id="6" name="TextBox 5">
            <a:extLst>
              <a:ext uri="{FF2B5EF4-FFF2-40B4-BE49-F238E27FC236}">
                <a16:creationId xmlns:a16="http://schemas.microsoft.com/office/drawing/2014/main" id="{4D7A42C8-62A5-642A-9D70-41C9B277B241}"/>
              </a:ext>
            </a:extLst>
          </p:cNvPr>
          <p:cNvSpPr txBox="1"/>
          <p:nvPr/>
        </p:nvSpPr>
        <p:spPr>
          <a:xfrm>
            <a:off x="3791895" y="4979224"/>
            <a:ext cx="409903" cy="523220"/>
          </a:xfrm>
          <a:prstGeom prst="rect">
            <a:avLst/>
          </a:prstGeom>
          <a:noFill/>
        </p:spPr>
        <p:txBody>
          <a:bodyPr wrap="square" rtlCol="0">
            <a:spAutoFit/>
          </a:bodyPr>
          <a:lstStyle/>
          <a:p>
            <a:r>
              <a:rPr lang="en-US" sz="2800" dirty="0">
                <a:latin typeface="Times New Roman" panose="02020603050405020304" pitchFamily="18" charset="0"/>
              </a:rPr>
              <a:t>1</a:t>
            </a:r>
          </a:p>
        </p:txBody>
      </p:sp>
      <p:sp>
        <p:nvSpPr>
          <p:cNvPr id="7" name="TextBox 6">
            <a:extLst>
              <a:ext uri="{FF2B5EF4-FFF2-40B4-BE49-F238E27FC236}">
                <a16:creationId xmlns:a16="http://schemas.microsoft.com/office/drawing/2014/main" id="{B78F87FB-3DAE-E240-D727-9B26E91F1DEE}"/>
              </a:ext>
            </a:extLst>
          </p:cNvPr>
          <p:cNvSpPr txBox="1"/>
          <p:nvPr/>
        </p:nvSpPr>
        <p:spPr>
          <a:xfrm>
            <a:off x="4410915" y="4991114"/>
            <a:ext cx="564042" cy="523220"/>
          </a:xfrm>
          <a:prstGeom prst="rect">
            <a:avLst/>
          </a:prstGeom>
          <a:noFill/>
        </p:spPr>
        <p:txBody>
          <a:bodyPr wrap="square" rtlCol="0">
            <a:spAutoFit/>
          </a:bodyPr>
          <a:lstStyle/>
          <a:p>
            <a:r>
              <a:rPr lang="en-US" sz="2800" dirty="0">
                <a:latin typeface="Times New Roman" panose="02020603050405020304" pitchFamily="18" charset="0"/>
              </a:rPr>
              <a:t>2</a:t>
            </a:r>
          </a:p>
        </p:txBody>
      </p:sp>
      <p:sp>
        <p:nvSpPr>
          <p:cNvPr id="9" name="TextBox 8">
            <a:extLst>
              <a:ext uri="{FF2B5EF4-FFF2-40B4-BE49-F238E27FC236}">
                <a16:creationId xmlns:a16="http://schemas.microsoft.com/office/drawing/2014/main" id="{A43914E8-73E6-E9D8-87E4-3832542EF6DA}"/>
              </a:ext>
            </a:extLst>
          </p:cNvPr>
          <p:cNvSpPr txBox="1"/>
          <p:nvPr/>
        </p:nvSpPr>
        <p:spPr>
          <a:xfrm>
            <a:off x="2713926" y="5464090"/>
            <a:ext cx="7859844" cy="369332"/>
          </a:xfrm>
          <a:prstGeom prst="rect">
            <a:avLst/>
          </a:prstGeom>
          <a:noFill/>
        </p:spPr>
        <p:txBody>
          <a:bodyPr wrap="none" rtlCol="0">
            <a:spAutoFit/>
          </a:bodyPr>
          <a:lstStyle/>
          <a:p>
            <a:r>
              <a:rPr lang="en-US" dirty="0">
                <a:latin typeface="Times New Roman" panose="02020603050405020304" pitchFamily="18" charset="0"/>
              </a:rPr>
              <a:t>0             1             2                3             4           5          6             7           8              9</a:t>
            </a:r>
          </a:p>
        </p:txBody>
      </p:sp>
      <p:sp>
        <p:nvSpPr>
          <p:cNvPr id="10" name="TextBox 9">
            <a:extLst>
              <a:ext uri="{FF2B5EF4-FFF2-40B4-BE49-F238E27FC236}">
                <a16:creationId xmlns:a16="http://schemas.microsoft.com/office/drawing/2014/main" id="{827F1AF3-85B8-2F51-5AF3-067111B23C51}"/>
              </a:ext>
            </a:extLst>
          </p:cNvPr>
          <p:cNvSpPr txBox="1"/>
          <p:nvPr/>
        </p:nvSpPr>
        <p:spPr>
          <a:xfrm>
            <a:off x="6212506" y="5750986"/>
            <a:ext cx="6817497"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Try to place pos 3  H(key) + 2</a:t>
            </a:r>
            <a:r>
              <a:rPr lang="en-US" sz="2800" baseline="30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 1 + 4 </a:t>
            </a:r>
          </a:p>
        </p:txBody>
      </p:sp>
      <p:sp>
        <p:nvSpPr>
          <p:cNvPr id="11" name="TextBox 10">
            <a:extLst>
              <a:ext uri="{FF2B5EF4-FFF2-40B4-BE49-F238E27FC236}">
                <a16:creationId xmlns:a16="http://schemas.microsoft.com/office/drawing/2014/main" id="{085FEC96-77CD-9B6C-0731-5067D392806A}"/>
              </a:ext>
            </a:extLst>
          </p:cNvPr>
          <p:cNvSpPr txBox="1"/>
          <p:nvPr/>
        </p:nvSpPr>
        <p:spPr>
          <a:xfrm>
            <a:off x="6969978" y="4971008"/>
            <a:ext cx="564042" cy="523220"/>
          </a:xfrm>
          <a:prstGeom prst="rect">
            <a:avLst/>
          </a:prstGeom>
          <a:noFill/>
        </p:spPr>
        <p:txBody>
          <a:bodyPr wrap="square" rtlCol="0">
            <a:spAutoFit/>
          </a:bodyPr>
          <a:lstStyle/>
          <a:p>
            <a:r>
              <a:rPr lang="en-US" sz="2800" dirty="0">
                <a:latin typeface="Times New Roman" panose="02020603050405020304" pitchFamily="18" charset="0"/>
              </a:rPr>
              <a:t>71</a:t>
            </a:r>
          </a:p>
        </p:txBody>
      </p:sp>
    </p:spTree>
    <p:extLst>
      <p:ext uri="{BB962C8B-B14F-4D97-AF65-F5344CB8AC3E}">
        <p14:creationId xmlns:p14="http://schemas.microsoft.com/office/powerpoint/2010/main" val="612296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C6468-8442-2624-31BE-617A3204A214}"/>
              </a:ext>
            </a:extLst>
          </p:cNvPr>
          <p:cNvSpPr>
            <a:spLocks noGrp="1"/>
          </p:cNvSpPr>
          <p:nvPr>
            <p:ph type="title"/>
          </p:nvPr>
        </p:nvSpPr>
        <p:spPr/>
        <p:txBody>
          <a:bodyPr/>
          <a:lstStyle/>
          <a:p>
            <a:r>
              <a:rPr lang="en-US" dirty="0"/>
              <a:t>Quadratic probing for collisions</a:t>
            </a:r>
          </a:p>
        </p:txBody>
      </p:sp>
      <p:sp>
        <p:nvSpPr>
          <p:cNvPr id="3" name="Content Placeholder 2">
            <a:extLst>
              <a:ext uri="{FF2B5EF4-FFF2-40B4-BE49-F238E27FC236}">
                <a16:creationId xmlns:a16="http://schemas.microsoft.com/office/drawing/2014/main" id="{4A5858E9-90FD-19C4-7A21-D5C1CF118178}"/>
              </a:ext>
            </a:extLst>
          </p:cNvPr>
          <p:cNvSpPr>
            <a:spLocks noGrp="1"/>
          </p:cNvSpPr>
          <p:nvPr>
            <p:ph idx="1"/>
          </p:nvPr>
        </p:nvSpPr>
        <p:spPr>
          <a:xfrm>
            <a:off x="305421" y="1919239"/>
            <a:ext cx="11029615" cy="3678303"/>
          </a:xfrm>
        </p:spPr>
        <p:txBody>
          <a:bodyPr/>
          <a:lstStyle/>
          <a:p>
            <a:pPr algn="l"/>
            <a:r>
              <a:rPr lang="en-US" b="0" i="0" dirty="0">
                <a:solidFill>
                  <a:srgbClr val="000000"/>
                </a:solidFill>
                <a:effectLst/>
              </a:rPr>
              <a:t>Table size 10</a:t>
            </a:r>
          </a:p>
          <a:p>
            <a:pPr algn="l"/>
            <a:r>
              <a:rPr lang="en-US" b="0" i="0" dirty="0">
                <a:solidFill>
                  <a:srgbClr val="000000"/>
                </a:solidFill>
                <a:effectLst/>
              </a:rPr>
              <a:t>The hashing algorithm is  h(key) = key%10</a:t>
            </a:r>
          </a:p>
          <a:p>
            <a:pPr algn="l"/>
            <a:r>
              <a:rPr lang="en-US" b="0" i="0" dirty="0">
                <a:solidFill>
                  <a:srgbClr val="000000"/>
                </a:solidFill>
                <a:effectLst/>
              </a:rPr>
              <a:t>Using linear probing for hash collisions, place the following numbers: 1, 11, 21, 8, 51, 9, 99</a:t>
            </a:r>
          </a:p>
          <a:p>
            <a:pPr algn="l"/>
            <a:endParaRPr lang="en-US" dirty="0">
              <a:solidFill>
                <a:srgbClr val="000000"/>
              </a:solidFill>
            </a:endParaRPr>
          </a:p>
          <a:p>
            <a:pPr algn="l"/>
            <a:endParaRPr lang="en-US" b="0" i="0" dirty="0">
              <a:solidFill>
                <a:srgbClr val="000000"/>
              </a:solidFill>
              <a:effectLst/>
            </a:endParaRPr>
          </a:p>
          <a:p>
            <a:pPr algn="l"/>
            <a:endParaRPr lang="en-US" dirty="0">
              <a:solidFill>
                <a:srgbClr val="000000"/>
              </a:solidFill>
            </a:endParaRPr>
          </a:p>
          <a:p>
            <a:pPr marL="0" indent="0" algn="l">
              <a:buNone/>
            </a:pPr>
            <a:r>
              <a:rPr lang="en-US" b="0" i="0" dirty="0">
                <a:solidFill>
                  <a:srgbClr val="000000"/>
                </a:solidFill>
                <a:effectLst/>
              </a:rPr>
              <a:t> </a:t>
            </a:r>
          </a:p>
          <a:p>
            <a:endParaRPr lang="en-US" dirty="0"/>
          </a:p>
        </p:txBody>
      </p:sp>
      <p:pic>
        <p:nvPicPr>
          <p:cNvPr id="5" name="Picture 4" descr="A blue rectangular object with black text&#10;&#10;AI-generated content may be incorrect.">
            <a:extLst>
              <a:ext uri="{FF2B5EF4-FFF2-40B4-BE49-F238E27FC236}">
                <a16:creationId xmlns:a16="http://schemas.microsoft.com/office/drawing/2014/main" id="{C02BF2CB-9F28-58B4-7E27-EB4E920F0F28}"/>
              </a:ext>
            </a:extLst>
          </p:cNvPr>
          <p:cNvPicPr>
            <a:picLocks noChangeAspect="1"/>
          </p:cNvPicPr>
          <p:nvPr/>
        </p:nvPicPr>
        <p:blipFill>
          <a:blip r:embed="rId2"/>
          <a:stretch>
            <a:fillRect/>
          </a:stretch>
        </p:blipFill>
        <p:spPr>
          <a:xfrm>
            <a:off x="1934027" y="3429000"/>
            <a:ext cx="9591451" cy="2971800"/>
          </a:xfrm>
          <a:prstGeom prst="rect">
            <a:avLst/>
          </a:prstGeom>
        </p:spPr>
      </p:pic>
    </p:spTree>
    <p:extLst>
      <p:ext uri="{BB962C8B-B14F-4D97-AF65-F5344CB8AC3E}">
        <p14:creationId xmlns:p14="http://schemas.microsoft.com/office/powerpoint/2010/main" val="36335883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math problem&#10;&#10;AI-generated content may be incorrect.">
            <a:extLst>
              <a:ext uri="{FF2B5EF4-FFF2-40B4-BE49-F238E27FC236}">
                <a16:creationId xmlns:a16="http://schemas.microsoft.com/office/drawing/2014/main" id="{7D5D4753-757F-7AE6-7376-F1A3B57080CB}"/>
              </a:ext>
            </a:extLst>
          </p:cNvPr>
          <p:cNvPicPr>
            <a:picLocks noChangeAspect="1"/>
          </p:cNvPicPr>
          <p:nvPr/>
        </p:nvPicPr>
        <p:blipFill>
          <a:blip r:embed="rId2"/>
          <a:stretch>
            <a:fillRect/>
          </a:stretch>
        </p:blipFill>
        <p:spPr>
          <a:xfrm>
            <a:off x="1860437" y="520779"/>
            <a:ext cx="8426563" cy="5847363"/>
          </a:xfrm>
          <a:prstGeom prst="rect">
            <a:avLst/>
          </a:prstGeom>
        </p:spPr>
      </p:pic>
    </p:spTree>
    <p:extLst>
      <p:ext uri="{BB962C8B-B14F-4D97-AF65-F5344CB8AC3E}">
        <p14:creationId xmlns:p14="http://schemas.microsoft.com/office/powerpoint/2010/main" val="39535618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3BD9D9-83CD-4234-AD50-27B24199753D}"/>
              </a:ext>
            </a:extLst>
          </p:cNvPr>
          <p:cNvSpPr>
            <a:spLocks noGrp="1"/>
          </p:cNvSpPr>
          <p:nvPr>
            <p:ph idx="1"/>
          </p:nvPr>
        </p:nvSpPr>
        <p:spPr>
          <a:xfrm>
            <a:off x="288984" y="1964281"/>
            <a:ext cx="9266982" cy="4415952"/>
          </a:xfrm>
        </p:spPr>
        <p:txBody>
          <a:bodyPr anchor="t" anchorCtr="0">
            <a:noAutofit/>
          </a:bodyPr>
          <a:lstStyle/>
          <a:p>
            <a:pPr>
              <a:lnSpc>
                <a:spcPct val="100000"/>
              </a:lnSpc>
              <a:spcBef>
                <a:spcPts val="600"/>
              </a:spcBef>
              <a:spcAft>
                <a:spcPts val="600"/>
              </a:spcAft>
            </a:pPr>
            <a:r>
              <a:rPr lang="en-US" sz="2800" dirty="0">
                <a:solidFill>
                  <a:srgbClr val="70AD47">
                    <a:lumMod val="50000"/>
                  </a:srgbClr>
                </a:solidFill>
                <a:cs typeface="Times New Roman" panose="02020603050405020304" pitchFamily="18" charset="0"/>
              </a:rPr>
              <a:t>Suppose we want to delete Earl, if we find him, we delete him, no problem </a:t>
            </a:r>
          </a:p>
          <a:p>
            <a:pPr>
              <a:lnSpc>
                <a:spcPct val="100000"/>
              </a:lnSpc>
              <a:spcBef>
                <a:spcPts val="600"/>
              </a:spcBef>
              <a:spcAft>
                <a:spcPts val="600"/>
              </a:spcAft>
            </a:pPr>
            <a:r>
              <a:rPr lang="en-US" sz="2800" dirty="0">
                <a:solidFill>
                  <a:srgbClr val="70AD47">
                    <a:lumMod val="50000"/>
                  </a:srgbClr>
                </a:solidFill>
                <a:cs typeface="Times New Roman" panose="02020603050405020304" pitchFamily="18" charset="0"/>
              </a:rPr>
              <a:t>But now look what happens when we try to find Calle, Since </a:t>
            </a:r>
            <a:r>
              <a:rPr lang="en-US" sz="2800" dirty="0">
                <a:solidFill>
                  <a:schemeClr val="tx1"/>
                </a:solidFill>
                <a:cs typeface="Times New Roman" panose="02020603050405020304" pitchFamily="18" charset="0"/>
              </a:rPr>
              <a:t>H("Calle")</a:t>
            </a:r>
            <a:r>
              <a:rPr lang="en-US" sz="2800" dirty="0">
                <a:solidFill>
                  <a:srgbClr val="70AD47">
                    <a:lumMod val="50000"/>
                  </a:srgbClr>
                </a:solidFill>
                <a:cs typeface="Times New Roman" panose="02020603050405020304" pitchFamily="18" charset="0"/>
              </a:rPr>
              <a:t> is 2, we start probing at </a:t>
            </a:r>
            <a:r>
              <a:rPr lang="en-US" sz="2800" dirty="0" err="1">
                <a:solidFill>
                  <a:schemeClr val="tx1"/>
                </a:solidFill>
                <a:cs typeface="Times New Roman" panose="02020603050405020304" pitchFamily="18" charset="0"/>
              </a:rPr>
              <a:t>ht</a:t>
            </a:r>
            <a:r>
              <a:rPr lang="en-US" sz="2800" dirty="0">
                <a:solidFill>
                  <a:schemeClr val="tx1"/>
                </a:solidFill>
                <a:cs typeface="Times New Roman" panose="02020603050405020304" pitchFamily="18" charset="0"/>
              </a:rPr>
              <a:t>[2]</a:t>
            </a:r>
            <a:r>
              <a:rPr lang="en-US" sz="2800" dirty="0">
                <a:solidFill>
                  <a:srgbClr val="70AD47">
                    <a:lumMod val="50000"/>
                  </a:srgbClr>
                </a:solidFill>
                <a:cs typeface="Times New Roman" panose="02020603050405020304" pitchFamily="18" charset="0"/>
              </a:rPr>
              <a:t> and when we hit the empty slot at </a:t>
            </a:r>
            <a:r>
              <a:rPr lang="en-US" sz="2800" dirty="0" err="1">
                <a:solidFill>
                  <a:schemeClr val="tx1"/>
                </a:solidFill>
                <a:cs typeface="Times New Roman" panose="02020603050405020304" pitchFamily="18" charset="0"/>
              </a:rPr>
              <a:t>ht</a:t>
            </a:r>
            <a:r>
              <a:rPr lang="en-US" sz="2800" dirty="0">
                <a:solidFill>
                  <a:schemeClr val="tx1"/>
                </a:solidFill>
                <a:cs typeface="Times New Roman" panose="02020603050405020304" pitchFamily="18" charset="0"/>
              </a:rPr>
              <a:t>[4]</a:t>
            </a:r>
            <a:r>
              <a:rPr lang="en-US" sz="2800" dirty="0">
                <a:solidFill>
                  <a:srgbClr val="70AD47">
                    <a:lumMod val="50000"/>
                  </a:srgbClr>
                </a:solidFill>
                <a:cs typeface="Times New Roman" panose="02020603050405020304" pitchFamily="18" charset="0"/>
              </a:rPr>
              <a:t> we quit and declare the search unsuccessful, Calle is not in the hash table ‒ oops</a:t>
            </a:r>
          </a:p>
          <a:p>
            <a:pPr>
              <a:lnSpc>
                <a:spcPct val="100000"/>
              </a:lnSpc>
              <a:spcBef>
                <a:spcPts val="600"/>
              </a:spcBef>
              <a:spcAft>
                <a:spcPts val="600"/>
              </a:spcAft>
            </a:pPr>
            <a:r>
              <a:rPr lang="en-US" sz="2800" dirty="0">
                <a:solidFill>
                  <a:srgbClr val="70AD47">
                    <a:lumMod val="50000"/>
                  </a:srgbClr>
                </a:solidFill>
                <a:cs typeface="Times New Roman" panose="02020603050405020304" pitchFamily="18" charset="0"/>
              </a:rPr>
              <a:t>The solution is lazy deletion ‒ to delete an entry we just set a status marker of some sort to indicate that the data that used to be there has been deleted</a:t>
            </a:r>
            <a:endParaRPr lang="en-US" sz="2800" dirty="0">
              <a:sym typeface="Symbol" panose="05050102010706020507" pitchFamily="18" charset="2"/>
            </a:endParaRPr>
          </a:p>
        </p:txBody>
      </p:sp>
      <p:sp>
        <p:nvSpPr>
          <p:cNvPr id="3" name="Title 2">
            <a:extLst>
              <a:ext uri="{FF2B5EF4-FFF2-40B4-BE49-F238E27FC236}">
                <a16:creationId xmlns:a16="http://schemas.microsoft.com/office/drawing/2014/main" id="{B59EA9AB-B2A1-431F-9113-07C451B032C3}"/>
              </a:ext>
            </a:extLst>
          </p:cNvPr>
          <p:cNvSpPr>
            <a:spLocks noGrp="1"/>
          </p:cNvSpPr>
          <p:nvPr>
            <p:ph type="title"/>
          </p:nvPr>
        </p:nvSpPr>
        <p:spPr>
          <a:xfrm>
            <a:off x="551794" y="924803"/>
            <a:ext cx="11117513" cy="517933"/>
          </a:xfrm>
        </p:spPr>
        <p:txBody>
          <a:bodyPr>
            <a:noAutofit/>
          </a:bodyPr>
          <a:lstStyle/>
          <a:p>
            <a:r>
              <a:rPr lang="en-US" sz="3200" dirty="0"/>
              <a:t>Lazy Deletion and Occupied/Empty/Deleted Slot</a:t>
            </a:r>
          </a:p>
        </p:txBody>
      </p:sp>
      <p:grpSp>
        <p:nvGrpSpPr>
          <p:cNvPr id="5" name="the hash table">
            <a:extLst>
              <a:ext uri="{FF2B5EF4-FFF2-40B4-BE49-F238E27FC236}">
                <a16:creationId xmlns:a16="http://schemas.microsoft.com/office/drawing/2014/main" id="{2583B8C4-D441-4422-B1EA-297081AF1A0E}"/>
              </a:ext>
            </a:extLst>
          </p:cNvPr>
          <p:cNvGrpSpPr/>
          <p:nvPr/>
        </p:nvGrpSpPr>
        <p:grpSpPr>
          <a:xfrm>
            <a:off x="9641403" y="2323382"/>
            <a:ext cx="2074094" cy="4405052"/>
            <a:chOff x="9143470" y="1302327"/>
            <a:chExt cx="2074094" cy="4405052"/>
          </a:xfrm>
        </p:grpSpPr>
        <p:grpSp>
          <p:nvGrpSpPr>
            <p:cNvPr id="7" name="Group 6">
              <a:extLst>
                <a:ext uri="{FF2B5EF4-FFF2-40B4-BE49-F238E27FC236}">
                  <a16:creationId xmlns:a16="http://schemas.microsoft.com/office/drawing/2014/main" id="{3B93C9A5-01BE-4152-9BED-BC778CBB4F51}"/>
                </a:ext>
              </a:extLst>
            </p:cNvPr>
            <p:cNvGrpSpPr/>
            <p:nvPr/>
          </p:nvGrpSpPr>
          <p:grpSpPr>
            <a:xfrm>
              <a:off x="10132291" y="1302327"/>
              <a:ext cx="1085273" cy="4382655"/>
              <a:chOff x="10497128" y="1302327"/>
              <a:chExt cx="720436" cy="4382655"/>
            </a:xfrm>
          </p:grpSpPr>
          <p:grpSp>
            <p:nvGrpSpPr>
              <p:cNvPr id="9" name="Group 8">
                <a:extLst>
                  <a:ext uri="{FF2B5EF4-FFF2-40B4-BE49-F238E27FC236}">
                    <a16:creationId xmlns:a16="http://schemas.microsoft.com/office/drawing/2014/main" id="{D17706EB-504C-4941-9CDB-E3C84B3B57A7}"/>
                  </a:ext>
                </a:extLst>
              </p:cNvPr>
              <p:cNvGrpSpPr/>
              <p:nvPr/>
            </p:nvGrpSpPr>
            <p:grpSpPr>
              <a:xfrm>
                <a:off x="10497128" y="1302327"/>
                <a:ext cx="720436" cy="4382655"/>
                <a:chOff x="10497128" y="1302327"/>
                <a:chExt cx="720436" cy="4382655"/>
              </a:xfrm>
            </p:grpSpPr>
            <p:cxnSp>
              <p:nvCxnSpPr>
                <p:cNvPr id="12" name="Straight Connector 11">
                  <a:extLst>
                    <a:ext uri="{FF2B5EF4-FFF2-40B4-BE49-F238E27FC236}">
                      <a16:creationId xmlns:a16="http://schemas.microsoft.com/office/drawing/2014/main" id="{22819F17-6CC2-4634-A46B-12405F5C84D5}"/>
                    </a:ext>
                  </a:extLst>
                </p:cNvPr>
                <p:cNvCxnSpPr>
                  <a:cxnSpLocks/>
                </p:cNvCxnSpPr>
                <p:nvPr/>
              </p:nvCxnSpPr>
              <p:spPr>
                <a:xfrm>
                  <a:off x="10497128" y="130232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AFFFF39-A34D-47A4-B08F-747517B68E20}"/>
                    </a:ext>
                  </a:extLst>
                </p:cNvPr>
                <p:cNvCxnSpPr>
                  <a:cxnSpLocks/>
                </p:cNvCxnSpPr>
                <p:nvPr/>
              </p:nvCxnSpPr>
              <p:spPr>
                <a:xfrm>
                  <a:off x="10497128" y="163945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F9A32EB-3BE8-4DBF-988C-0501E7FA6015}"/>
                    </a:ext>
                  </a:extLst>
                </p:cNvPr>
                <p:cNvCxnSpPr>
                  <a:cxnSpLocks/>
                </p:cNvCxnSpPr>
                <p:nvPr/>
              </p:nvCxnSpPr>
              <p:spPr>
                <a:xfrm>
                  <a:off x="10497128" y="197658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55C49D-4D70-4627-85A6-1D4E54BCE001}"/>
                    </a:ext>
                  </a:extLst>
                </p:cNvPr>
                <p:cNvCxnSpPr>
                  <a:cxnSpLocks/>
                </p:cNvCxnSpPr>
                <p:nvPr/>
              </p:nvCxnSpPr>
              <p:spPr>
                <a:xfrm>
                  <a:off x="10497128" y="2313708"/>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F31364F-1810-40CC-BD10-21DA38C84241}"/>
                    </a:ext>
                  </a:extLst>
                </p:cNvPr>
                <p:cNvCxnSpPr>
                  <a:cxnSpLocks/>
                </p:cNvCxnSpPr>
                <p:nvPr/>
              </p:nvCxnSpPr>
              <p:spPr>
                <a:xfrm>
                  <a:off x="10497128" y="2650835"/>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92928AB-CF69-42D2-9167-A860E8FBBAC4}"/>
                    </a:ext>
                  </a:extLst>
                </p:cNvPr>
                <p:cNvCxnSpPr>
                  <a:cxnSpLocks/>
                </p:cNvCxnSpPr>
                <p:nvPr/>
              </p:nvCxnSpPr>
              <p:spPr>
                <a:xfrm>
                  <a:off x="10497128" y="298796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444134-9E6E-4EA0-90FB-88FE2E50951E}"/>
                    </a:ext>
                  </a:extLst>
                </p:cNvPr>
                <p:cNvCxnSpPr>
                  <a:cxnSpLocks/>
                </p:cNvCxnSpPr>
                <p:nvPr/>
              </p:nvCxnSpPr>
              <p:spPr>
                <a:xfrm>
                  <a:off x="10497128" y="3325089"/>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B2A708C-AB8A-497D-BE72-AE71234C56F9}"/>
                    </a:ext>
                  </a:extLst>
                </p:cNvPr>
                <p:cNvCxnSpPr>
                  <a:cxnSpLocks/>
                </p:cNvCxnSpPr>
                <p:nvPr/>
              </p:nvCxnSpPr>
              <p:spPr>
                <a:xfrm>
                  <a:off x="10497128" y="3662216"/>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9EDDE3B-A12F-4A60-ADA7-7DA1062C97E8}"/>
                    </a:ext>
                  </a:extLst>
                </p:cNvPr>
                <p:cNvCxnSpPr>
                  <a:cxnSpLocks/>
                </p:cNvCxnSpPr>
                <p:nvPr/>
              </p:nvCxnSpPr>
              <p:spPr>
                <a:xfrm>
                  <a:off x="10497128" y="3999343"/>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C608939-20AF-443C-942A-29FD65E4D0C0}"/>
                    </a:ext>
                  </a:extLst>
                </p:cNvPr>
                <p:cNvCxnSpPr>
                  <a:cxnSpLocks/>
                </p:cNvCxnSpPr>
                <p:nvPr/>
              </p:nvCxnSpPr>
              <p:spPr>
                <a:xfrm>
                  <a:off x="10497128" y="4336470"/>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D46E38F-EA85-4EF2-87F7-8773F17ACD7A}"/>
                    </a:ext>
                  </a:extLst>
                </p:cNvPr>
                <p:cNvCxnSpPr>
                  <a:cxnSpLocks/>
                </p:cNvCxnSpPr>
                <p:nvPr/>
              </p:nvCxnSpPr>
              <p:spPr>
                <a:xfrm>
                  <a:off x="10497128" y="467359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C1ACE2D-1E39-47E9-8D65-E3487801A79D}"/>
                    </a:ext>
                  </a:extLst>
                </p:cNvPr>
                <p:cNvCxnSpPr>
                  <a:cxnSpLocks/>
                </p:cNvCxnSpPr>
                <p:nvPr/>
              </p:nvCxnSpPr>
              <p:spPr>
                <a:xfrm>
                  <a:off x="10497128" y="501072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D0758DD-8C17-4DB8-BF0C-2D3EDCB6062C}"/>
                    </a:ext>
                  </a:extLst>
                </p:cNvPr>
                <p:cNvCxnSpPr>
                  <a:cxnSpLocks/>
                </p:cNvCxnSpPr>
                <p:nvPr/>
              </p:nvCxnSpPr>
              <p:spPr>
                <a:xfrm>
                  <a:off x="10497128" y="534785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B219D63-17CC-47C7-BAB2-0D226A5BB51F}"/>
                    </a:ext>
                  </a:extLst>
                </p:cNvPr>
                <p:cNvCxnSpPr>
                  <a:cxnSpLocks/>
                </p:cNvCxnSpPr>
                <p:nvPr/>
              </p:nvCxnSpPr>
              <p:spPr>
                <a:xfrm>
                  <a:off x="10497128" y="568498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0" name="Straight Connector 9">
                <a:extLst>
                  <a:ext uri="{FF2B5EF4-FFF2-40B4-BE49-F238E27FC236}">
                    <a16:creationId xmlns:a16="http://schemas.microsoft.com/office/drawing/2014/main" id="{B4FF351F-4518-45AB-A3E5-FA97FE038EC5}"/>
                  </a:ext>
                </a:extLst>
              </p:cNvPr>
              <p:cNvCxnSpPr>
                <a:cxnSpLocks/>
              </p:cNvCxnSpPr>
              <p:nvPr/>
            </p:nvCxnSpPr>
            <p:spPr>
              <a:xfrm>
                <a:off x="10497128"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D1627D9-31DE-4C82-829B-B937591AD797}"/>
                  </a:ext>
                </a:extLst>
              </p:cNvPr>
              <p:cNvCxnSpPr>
                <a:cxnSpLocks/>
              </p:cNvCxnSpPr>
              <p:nvPr/>
            </p:nvCxnSpPr>
            <p:spPr>
              <a:xfrm>
                <a:off x="11217564"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31670E13-BFB2-4F49-96C0-C7B453569B69}"/>
                </a:ext>
              </a:extLst>
            </p:cNvPr>
            <p:cNvSpPr txBox="1"/>
            <p:nvPr/>
          </p:nvSpPr>
          <p:spPr>
            <a:xfrm>
              <a:off x="9143470" y="1302327"/>
              <a:ext cx="1085272" cy="4405052"/>
            </a:xfrm>
            <a:prstGeom prst="rect">
              <a:avLst/>
            </a:prstGeom>
            <a:noFill/>
          </p:spPr>
          <p:txBody>
            <a:bodyPr wrap="square" rtlCol="0">
              <a:spAutoFit/>
            </a:bodyPr>
            <a:lstStyle/>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[0]</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[2]</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[3]</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[4]</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[5]</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[6]</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[7]</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[8]</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[9]</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[10]</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[11]</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[12]</a:t>
              </a:r>
            </a:p>
          </p:txBody>
        </p:sp>
      </p:grpSp>
      <p:sp>
        <p:nvSpPr>
          <p:cNvPr id="27" name="TextBox 26">
            <a:extLst>
              <a:ext uri="{FF2B5EF4-FFF2-40B4-BE49-F238E27FC236}">
                <a16:creationId xmlns:a16="http://schemas.microsoft.com/office/drawing/2014/main" id="{FB2258E6-33D3-4A8D-91BE-A5EDB6454103}"/>
              </a:ext>
            </a:extLst>
          </p:cNvPr>
          <p:cNvSpPr txBox="1"/>
          <p:nvPr/>
        </p:nvSpPr>
        <p:spPr>
          <a:xfrm>
            <a:off x="10715658" y="2263253"/>
            <a:ext cx="953649" cy="4493538"/>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Cook</a:t>
            </a:r>
          </a:p>
          <a:p>
            <a:r>
              <a:rPr lang="en-US" sz="2200" dirty="0">
                <a:latin typeface="Times New Roman" panose="02020603050405020304" pitchFamily="18" charset="0"/>
                <a:cs typeface="Times New Roman" panose="02020603050405020304" pitchFamily="18" charset="0"/>
              </a:rPr>
              <a:t>Davis</a:t>
            </a:r>
          </a:p>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Frank</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a:t>
            </a:r>
          </a:p>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CBE0F616-566B-4C94-B9ED-2BCDDF656AA4}"/>
              </a:ext>
            </a:extLst>
          </p:cNvPr>
          <p:cNvSpPr txBox="1"/>
          <p:nvPr/>
        </p:nvSpPr>
        <p:spPr>
          <a:xfrm>
            <a:off x="10781740" y="4310464"/>
            <a:ext cx="868220"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Calle</a:t>
            </a:r>
          </a:p>
        </p:txBody>
      </p:sp>
      <p:sp>
        <p:nvSpPr>
          <p:cNvPr id="29" name="TextBox 28">
            <a:extLst>
              <a:ext uri="{FF2B5EF4-FFF2-40B4-BE49-F238E27FC236}">
                <a16:creationId xmlns:a16="http://schemas.microsoft.com/office/drawing/2014/main" id="{9920F248-D46A-427E-80D1-55069D94E9D5}"/>
              </a:ext>
            </a:extLst>
          </p:cNvPr>
          <p:cNvSpPr txBox="1"/>
          <p:nvPr/>
        </p:nvSpPr>
        <p:spPr>
          <a:xfrm>
            <a:off x="10762393" y="3677444"/>
            <a:ext cx="868220"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Earl</a:t>
            </a:r>
          </a:p>
        </p:txBody>
      </p:sp>
      <p:grpSp>
        <p:nvGrpSpPr>
          <p:cNvPr id="31" name="Group 30">
            <a:extLst>
              <a:ext uri="{FF2B5EF4-FFF2-40B4-BE49-F238E27FC236}">
                <a16:creationId xmlns:a16="http://schemas.microsoft.com/office/drawing/2014/main" id="{ABDE0652-CFCA-44FC-9AE4-7D86D1CE8FBD}"/>
              </a:ext>
            </a:extLst>
          </p:cNvPr>
          <p:cNvGrpSpPr/>
          <p:nvPr/>
        </p:nvGrpSpPr>
        <p:grpSpPr>
          <a:xfrm>
            <a:off x="10564687" y="3685867"/>
            <a:ext cx="1085273" cy="337127"/>
            <a:chOff x="10630224" y="2836761"/>
            <a:chExt cx="1085273" cy="337127"/>
          </a:xfrm>
        </p:grpSpPr>
        <p:cxnSp>
          <p:nvCxnSpPr>
            <p:cNvPr id="6" name="Straight Connector 5">
              <a:extLst>
                <a:ext uri="{FF2B5EF4-FFF2-40B4-BE49-F238E27FC236}">
                  <a16:creationId xmlns:a16="http://schemas.microsoft.com/office/drawing/2014/main" id="{AA16544B-0663-4E2E-BFB4-41655C971430}"/>
                </a:ext>
              </a:extLst>
            </p:cNvPr>
            <p:cNvCxnSpPr>
              <a:cxnSpLocks/>
            </p:cNvCxnSpPr>
            <p:nvPr/>
          </p:nvCxnSpPr>
          <p:spPr>
            <a:xfrm flipV="1">
              <a:off x="10630224" y="2836761"/>
              <a:ext cx="1085273" cy="337127"/>
            </a:xfrm>
            <a:prstGeom prst="line">
              <a:avLst/>
            </a:prstGeom>
            <a:ln w="28575">
              <a:solidFill>
                <a:schemeClr val="accent5">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5065CB5-9F9B-423B-8FE4-741627C14592}"/>
                </a:ext>
              </a:extLst>
            </p:cNvPr>
            <p:cNvCxnSpPr>
              <a:cxnSpLocks/>
            </p:cNvCxnSpPr>
            <p:nvPr/>
          </p:nvCxnSpPr>
          <p:spPr>
            <a:xfrm flipH="1" flipV="1">
              <a:off x="10630224" y="2836761"/>
              <a:ext cx="1085273" cy="337127"/>
            </a:xfrm>
            <a:prstGeom prst="line">
              <a:avLst/>
            </a:prstGeom>
            <a:ln w="28575">
              <a:solidFill>
                <a:schemeClr val="accent5">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2" name="Arrow: Right 31">
            <a:extLst>
              <a:ext uri="{FF2B5EF4-FFF2-40B4-BE49-F238E27FC236}">
                <a16:creationId xmlns:a16="http://schemas.microsoft.com/office/drawing/2014/main" id="{A1176BAB-6A8C-406F-99EF-94E523D4A186}"/>
              </a:ext>
            </a:extLst>
          </p:cNvPr>
          <p:cNvSpPr/>
          <p:nvPr/>
        </p:nvSpPr>
        <p:spPr>
          <a:xfrm>
            <a:off x="9419965" y="3749446"/>
            <a:ext cx="555719" cy="259571"/>
          </a:xfrm>
          <a:prstGeom prst="rightArrow">
            <a:avLst>
              <a:gd name="adj1" fmla="val 71378"/>
              <a:gd name="adj2" fmla="val 111418"/>
            </a:avLst>
          </a:prstGeom>
          <a:solidFill>
            <a:schemeClr val="accent6">
              <a:lumMod val="75000"/>
            </a:schemeClr>
          </a:solidFill>
          <a:ln w="3175">
            <a:noFill/>
          </a:ln>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0" bIns="91440" numCol="1" spcCol="0" rtlCol="0" fromWordArt="0" anchor="ctr" anchorCtr="0" forceAA="0" compatLnSpc="1">
            <a:prstTxWarp prst="textNoShape">
              <a:avLst/>
            </a:prstTxWarp>
            <a:noAutofit/>
          </a:bodyPr>
          <a:lstStyle/>
          <a:p>
            <a:pPr algn="l">
              <a:lnSpc>
                <a:spcPct val="80000"/>
              </a:lnSpc>
              <a:spcBef>
                <a:spcPts val="600"/>
              </a:spcBef>
            </a:pPr>
            <a:endParaRPr lang="en-US" sz="2000" dirty="0">
              <a:solidFill>
                <a:srgbClr val="422C1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6434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5000" fill="hold" grpId="1" nodeType="clickEffect">
                                  <p:stCondLst>
                                    <p:cond delay="0"/>
                                  </p:stCondLst>
                                  <p:childTnLst>
                                    <p:anim calcmode="discrete" valueType="str">
                                      <p:cBhvr>
                                        <p:cTn id="6" dur="300" fill="hold"/>
                                        <p:tgtEl>
                                          <p:spTgt spid="29"/>
                                        </p:tgtEl>
                                        <p:attrNameLst>
                                          <p:attrName>style.visibility</p:attrName>
                                        </p:attrNameLst>
                                      </p:cBhvr>
                                      <p:tavLst>
                                        <p:tav tm="0">
                                          <p:val>
                                            <p:strVal val="hidden"/>
                                          </p:val>
                                        </p:tav>
                                        <p:tav tm="50000">
                                          <p:val>
                                            <p:strVal val="visible"/>
                                          </p:val>
                                        </p:tav>
                                      </p:tavLst>
                                    </p:anim>
                                  </p:childTnLst>
                                </p:cTn>
                              </p:par>
                              <p:par>
                                <p:cTn id="7" presetID="10"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animEffect transition="in" filter="fade">
                                      <p:cBhvr>
                                        <p:cTn id="9" dur="500"/>
                                        <p:tgtEl>
                                          <p:spTgt spid="32"/>
                                        </p:tgtEl>
                                      </p:cBhvr>
                                    </p:animEffect>
                                  </p:childTnLst>
                                </p:cTn>
                              </p:par>
                            </p:childTnLst>
                          </p:cTn>
                        </p:par>
                        <p:par>
                          <p:cTn id="10" fill="hold">
                            <p:stCondLst>
                              <p:cond delay="1500"/>
                            </p:stCondLst>
                            <p:childTnLst>
                              <p:par>
                                <p:cTn id="11" presetID="5" presetClass="exit" presetSubtype="10" fill="hold" grpId="0" nodeType="afterEffect">
                                  <p:stCondLst>
                                    <p:cond delay="0"/>
                                  </p:stCondLst>
                                  <p:childTnLst>
                                    <p:animEffect transition="out" filter="checkerboard(across)">
                                      <p:cBhvr>
                                        <p:cTn id="12" dur="500"/>
                                        <p:tgtEl>
                                          <p:spTgt spid="29"/>
                                        </p:tgtEl>
                                      </p:cBhvr>
                                    </p:animEffect>
                                    <p:set>
                                      <p:cBhvr>
                                        <p:cTn id="13" dur="1" fill="hold">
                                          <p:stCondLst>
                                            <p:cond delay="499"/>
                                          </p:stCondLst>
                                        </p:cTn>
                                        <p:tgtEl>
                                          <p:spTgt spid="29"/>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
                                            <p:txEl>
                                              <p:pRg st="1" end="1"/>
                                            </p:txEl>
                                          </p:spTgt>
                                        </p:tgtEl>
                                        <p:attrNameLst>
                                          <p:attrName>style.visibility</p:attrName>
                                        </p:attrNameLst>
                                      </p:cBhvr>
                                      <p:to>
                                        <p:strVal val="visible"/>
                                      </p:to>
                                    </p:set>
                                    <p:animEffect transition="in" filter="fade">
                                      <p:cBhvr>
                                        <p:cTn id="18" dur="500"/>
                                        <p:tgtEl>
                                          <p:spTgt spid="2">
                                            <p:txEl>
                                              <p:pRg st="1" end="1"/>
                                            </p:txEl>
                                          </p:spTgt>
                                        </p:tgtEl>
                                      </p:cBhvr>
                                    </p:animEffect>
                                  </p:childTnLst>
                                </p:cTn>
                              </p:par>
                              <p:par>
                                <p:cTn id="19" presetID="1" presetClass="exit" presetSubtype="0" fill="hold" grpId="1" nodeType="withEffect">
                                  <p:stCondLst>
                                    <p:cond delay="0"/>
                                  </p:stCondLst>
                                  <p:childTnLst>
                                    <p:set>
                                      <p:cBhvr>
                                        <p:cTn id="20" dur="1" fill="hold">
                                          <p:stCondLst>
                                            <p:cond delay="0"/>
                                          </p:stCondLst>
                                        </p:cTn>
                                        <p:tgtEl>
                                          <p:spTgt spid="32"/>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Effect transition="in" filter="fade">
                                      <p:cBhvr>
                                        <p:cTn id="25" dur="500"/>
                                        <p:tgtEl>
                                          <p:spTgt spid="2">
                                            <p:txEl>
                                              <p:pRg st="2" end="2"/>
                                            </p:txEl>
                                          </p:spTgt>
                                        </p:tgtEl>
                                      </p:cBhvr>
                                    </p:animEffect>
                                  </p:childTnLst>
                                </p:cTn>
                              </p:par>
                            </p:childTnLst>
                          </p:cTn>
                        </p:par>
                        <p:par>
                          <p:cTn id="26" fill="hold">
                            <p:stCondLst>
                              <p:cond delay="500"/>
                            </p:stCondLst>
                            <p:childTnLst>
                              <p:par>
                                <p:cTn id="27" presetID="1" presetClass="entr" presetSubtype="0" fill="hold" grpId="2" nodeType="after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3" presetClass="emph" presetSubtype="2" fill="hold" grpId="4" nodeType="withEffect">
                                  <p:stCondLst>
                                    <p:cond delay="0"/>
                                  </p:stCondLst>
                                  <p:childTnLst>
                                    <p:animClr clrSpc="rgb" dir="cw">
                                      <p:cBhvr override="childStyle">
                                        <p:cTn id="30" dur="500" fill="hold"/>
                                        <p:tgtEl>
                                          <p:spTgt spid="29"/>
                                        </p:tgtEl>
                                        <p:attrNameLst>
                                          <p:attrName>style.color</p:attrName>
                                        </p:attrNameLst>
                                      </p:cBhvr>
                                      <p:to>
                                        <a:srgbClr val="2F5496"/>
                                      </p:to>
                                    </p:animClr>
                                  </p:childTnLst>
                                </p:cTn>
                              </p:par>
                              <p:par>
                                <p:cTn id="31" presetID="35" presetClass="emph" presetSubtype="0" repeatCount="5000" fill="hold" grpId="3" nodeType="withEffect">
                                  <p:stCondLst>
                                    <p:cond delay="0"/>
                                  </p:stCondLst>
                                  <p:childTnLst>
                                    <p:anim calcmode="discrete" valueType="str">
                                      <p:cBhvr>
                                        <p:cTn id="32" dur="300" fill="hold"/>
                                        <p:tgtEl>
                                          <p:spTgt spid="29"/>
                                        </p:tgtEl>
                                        <p:attrNameLst>
                                          <p:attrName>style.visibility</p:attrName>
                                        </p:attrNameLst>
                                      </p:cBhvr>
                                      <p:tavLst>
                                        <p:tav tm="0">
                                          <p:val>
                                            <p:strVal val="hidden"/>
                                          </p:val>
                                        </p:tav>
                                        <p:tav tm="50000">
                                          <p:val>
                                            <p:strVal val="visible"/>
                                          </p:val>
                                        </p:tav>
                                      </p:tavLst>
                                    </p:anim>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35" presetClass="emph" presetSubtype="0" repeatCount="5000" fill="hold" nodeType="withEffect">
                                  <p:stCondLst>
                                    <p:cond delay="0"/>
                                  </p:stCondLst>
                                  <p:childTnLst>
                                    <p:anim calcmode="discrete" valueType="str">
                                      <p:cBhvr>
                                        <p:cTn id="36" dur="300" fill="hold"/>
                                        <p:tgtEl>
                                          <p:spTgt spid="3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29" grpId="0"/>
      <p:bldP spid="29" grpId="1"/>
      <p:bldP spid="29" grpId="2"/>
      <p:bldP spid="29" grpId="3"/>
      <p:bldP spid="29" grpId="4"/>
      <p:bldP spid="32" grpId="0" animBg="1"/>
      <p:bldP spid="32"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3BD9D9-83CD-4234-AD50-27B24199753D}"/>
              </a:ext>
            </a:extLst>
          </p:cNvPr>
          <p:cNvSpPr>
            <a:spLocks noGrp="1"/>
          </p:cNvSpPr>
          <p:nvPr>
            <p:ph idx="1"/>
          </p:nvPr>
        </p:nvSpPr>
        <p:spPr>
          <a:xfrm>
            <a:off x="280804" y="1845870"/>
            <a:ext cx="9270126" cy="3166260"/>
          </a:xfrm>
        </p:spPr>
        <p:txBody>
          <a:bodyPr anchor="t" anchorCtr="0">
            <a:noAutofit/>
          </a:bodyPr>
          <a:lstStyle/>
          <a:p>
            <a:pPr>
              <a:lnSpc>
                <a:spcPct val="100000"/>
              </a:lnSpc>
              <a:spcAft>
                <a:spcPts val="400"/>
              </a:spcAft>
            </a:pPr>
            <a:r>
              <a:rPr lang="en-US" sz="2800" dirty="0">
                <a:solidFill>
                  <a:srgbClr val="70AD47">
                    <a:lumMod val="50000"/>
                  </a:srgbClr>
                </a:solidFill>
                <a:cs typeface="Times New Roman" panose="02020603050405020304" pitchFamily="18" charset="0"/>
              </a:rPr>
              <a:t>So open addressing (all three types, not just linear open) needs to distinguish among 3 conditions:</a:t>
            </a:r>
          </a:p>
          <a:p>
            <a:pPr marL="1025525" lvl="1" indent="-457200">
              <a:lnSpc>
                <a:spcPct val="100000"/>
              </a:lnSpc>
              <a:spcBef>
                <a:spcPts val="0"/>
              </a:spcBef>
              <a:spcAft>
                <a:spcPts val="400"/>
              </a:spcAft>
              <a:buFont typeface="+mj-lt"/>
              <a:buAutoNum type="arabicPeriod"/>
            </a:pPr>
            <a:r>
              <a:rPr lang="en-US" sz="2800" dirty="0">
                <a:solidFill>
                  <a:srgbClr val="70AD47">
                    <a:lumMod val="50000"/>
                  </a:srgbClr>
                </a:solidFill>
                <a:cs typeface="Times New Roman" panose="02020603050405020304" pitchFamily="18" charset="0"/>
              </a:rPr>
              <a:t>Currently occupied</a:t>
            </a:r>
          </a:p>
          <a:p>
            <a:pPr marL="1025525" lvl="1" indent="-457200">
              <a:lnSpc>
                <a:spcPct val="100000"/>
              </a:lnSpc>
              <a:spcBef>
                <a:spcPts val="0"/>
              </a:spcBef>
              <a:spcAft>
                <a:spcPts val="400"/>
              </a:spcAft>
              <a:buFont typeface="+mj-lt"/>
              <a:buAutoNum type="arabicPeriod"/>
            </a:pPr>
            <a:r>
              <a:rPr lang="en-US" sz="2800" dirty="0">
                <a:solidFill>
                  <a:srgbClr val="70AD47">
                    <a:lumMod val="50000"/>
                  </a:srgbClr>
                </a:solidFill>
                <a:cs typeface="Times New Roman" panose="02020603050405020304" pitchFamily="18" charset="0"/>
              </a:rPr>
              <a:t>Previously deleted</a:t>
            </a:r>
          </a:p>
          <a:p>
            <a:pPr marL="1025525" lvl="1" indent="-457200">
              <a:lnSpc>
                <a:spcPct val="100000"/>
              </a:lnSpc>
              <a:spcBef>
                <a:spcPts val="0"/>
              </a:spcBef>
              <a:spcAft>
                <a:spcPts val="400"/>
              </a:spcAft>
              <a:buFont typeface="+mj-lt"/>
              <a:buAutoNum type="arabicPeriod"/>
            </a:pPr>
            <a:r>
              <a:rPr lang="en-US" sz="2800" dirty="0">
                <a:solidFill>
                  <a:srgbClr val="70AD47">
                    <a:lumMod val="50000"/>
                  </a:srgbClr>
                </a:solidFill>
                <a:cs typeface="Times New Roman" panose="02020603050405020304" pitchFamily="18" charset="0"/>
              </a:rPr>
              <a:t>Never occupied</a:t>
            </a:r>
          </a:p>
          <a:p>
            <a:pPr>
              <a:lnSpc>
                <a:spcPct val="100000"/>
              </a:lnSpc>
              <a:spcBef>
                <a:spcPts val="600"/>
              </a:spcBef>
              <a:spcAft>
                <a:spcPts val="400"/>
              </a:spcAft>
            </a:pPr>
            <a:r>
              <a:rPr lang="en-US" sz="2800" dirty="0">
                <a:solidFill>
                  <a:srgbClr val="70AD47">
                    <a:lumMod val="50000"/>
                  </a:srgbClr>
                </a:solidFill>
                <a:cs typeface="Times New Roman" panose="02020603050405020304" pitchFamily="18" charset="0"/>
              </a:rPr>
              <a:t>The search function can skip over previously deleted slots and keep probing to terminate successfully if the key is found in a currently occupied slot, unsuccessfully if the probe sequence hits a never occupied slot</a:t>
            </a:r>
          </a:p>
          <a:p>
            <a:pPr>
              <a:lnSpc>
                <a:spcPct val="100000"/>
              </a:lnSpc>
              <a:spcBef>
                <a:spcPts val="600"/>
              </a:spcBef>
              <a:spcAft>
                <a:spcPts val="400"/>
              </a:spcAft>
            </a:pPr>
            <a:r>
              <a:rPr lang="en-US" sz="2800" dirty="0">
                <a:solidFill>
                  <a:srgbClr val="70AD47">
                    <a:lumMod val="50000"/>
                  </a:srgbClr>
                </a:solidFill>
                <a:cs typeface="Times New Roman" panose="02020603050405020304" pitchFamily="18" charset="0"/>
              </a:rPr>
              <a:t>But insertion can use an empty or a previously deleted slot</a:t>
            </a:r>
            <a:endParaRPr lang="en-US" dirty="0">
              <a:sym typeface="Symbol" panose="05050102010706020507" pitchFamily="18" charset="2"/>
            </a:endParaRPr>
          </a:p>
        </p:txBody>
      </p:sp>
      <p:sp>
        <p:nvSpPr>
          <p:cNvPr id="3" name="Title 2">
            <a:extLst>
              <a:ext uri="{FF2B5EF4-FFF2-40B4-BE49-F238E27FC236}">
                <a16:creationId xmlns:a16="http://schemas.microsoft.com/office/drawing/2014/main" id="{B59EA9AB-B2A1-431F-9113-07C451B032C3}"/>
              </a:ext>
            </a:extLst>
          </p:cNvPr>
          <p:cNvSpPr>
            <a:spLocks noGrp="1"/>
          </p:cNvSpPr>
          <p:nvPr>
            <p:ph type="title"/>
          </p:nvPr>
        </p:nvSpPr>
        <p:spPr>
          <a:xfrm>
            <a:off x="557706" y="1101144"/>
            <a:ext cx="12192000" cy="517933"/>
          </a:xfrm>
        </p:spPr>
        <p:txBody>
          <a:bodyPr>
            <a:noAutofit/>
          </a:bodyPr>
          <a:lstStyle/>
          <a:p>
            <a:r>
              <a:rPr lang="en-US" dirty="0"/>
              <a:t>Lazy Deletion and Occupied/Empty/Deleted Slot Status</a:t>
            </a:r>
          </a:p>
        </p:txBody>
      </p:sp>
      <p:grpSp>
        <p:nvGrpSpPr>
          <p:cNvPr id="5" name="the hash table">
            <a:extLst>
              <a:ext uri="{FF2B5EF4-FFF2-40B4-BE49-F238E27FC236}">
                <a16:creationId xmlns:a16="http://schemas.microsoft.com/office/drawing/2014/main" id="{2583B8C4-D441-4422-B1EA-297081AF1A0E}"/>
              </a:ext>
            </a:extLst>
          </p:cNvPr>
          <p:cNvGrpSpPr/>
          <p:nvPr/>
        </p:nvGrpSpPr>
        <p:grpSpPr>
          <a:xfrm>
            <a:off x="9308558" y="2452948"/>
            <a:ext cx="2097542" cy="4405052"/>
            <a:chOff x="9120022" y="1302327"/>
            <a:chExt cx="2097542" cy="4405052"/>
          </a:xfrm>
        </p:grpSpPr>
        <p:grpSp>
          <p:nvGrpSpPr>
            <p:cNvPr id="7" name="Group 6">
              <a:extLst>
                <a:ext uri="{FF2B5EF4-FFF2-40B4-BE49-F238E27FC236}">
                  <a16:creationId xmlns:a16="http://schemas.microsoft.com/office/drawing/2014/main" id="{3B93C9A5-01BE-4152-9BED-BC778CBB4F51}"/>
                </a:ext>
              </a:extLst>
            </p:cNvPr>
            <p:cNvGrpSpPr/>
            <p:nvPr/>
          </p:nvGrpSpPr>
          <p:grpSpPr>
            <a:xfrm>
              <a:off x="10132291" y="1302327"/>
              <a:ext cx="1085273" cy="4382655"/>
              <a:chOff x="10497128" y="1302327"/>
              <a:chExt cx="720436" cy="4382655"/>
            </a:xfrm>
          </p:grpSpPr>
          <p:grpSp>
            <p:nvGrpSpPr>
              <p:cNvPr id="9" name="Group 8">
                <a:extLst>
                  <a:ext uri="{FF2B5EF4-FFF2-40B4-BE49-F238E27FC236}">
                    <a16:creationId xmlns:a16="http://schemas.microsoft.com/office/drawing/2014/main" id="{D17706EB-504C-4941-9CDB-E3C84B3B57A7}"/>
                  </a:ext>
                </a:extLst>
              </p:cNvPr>
              <p:cNvGrpSpPr/>
              <p:nvPr/>
            </p:nvGrpSpPr>
            <p:grpSpPr>
              <a:xfrm>
                <a:off x="10497128" y="1302327"/>
                <a:ext cx="720436" cy="4382655"/>
                <a:chOff x="10497128" y="1302327"/>
                <a:chExt cx="720436" cy="4382655"/>
              </a:xfrm>
            </p:grpSpPr>
            <p:cxnSp>
              <p:nvCxnSpPr>
                <p:cNvPr id="12" name="Straight Connector 11">
                  <a:extLst>
                    <a:ext uri="{FF2B5EF4-FFF2-40B4-BE49-F238E27FC236}">
                      <a16:creationId xmlns:a16="http://schemas.microsoft.com/office/drawing/2014/main" id="{22819F17-6CC2-4634-A46B-12405F5C84D5}"/>
                    </a:ext>
                  </a:extLst>
                </p:cNvPr>
                <p:cNvCxnSpPr>
                  <a:cxnSpLocks/>
                </p:cNvCxnSpPr>
                <p:nvPr/>
              </p:nvCxnSpPr>
              <p:spPr>
                <a:xfrm>
                  <a:off x="10497128" y="130232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AFFFF39-A34D-47A4-B08F-747517B68E20}"/>
                    </a:ext>
                  </a:extLst>
                </p:cNvPr>
                <p:cNvCxnSpPr>
                  <a:cxnSpLocks/>
                </p:cNvCxnSpPr>
                <p:nvPr/>
              </p:nvCxnSpPr>
              <p:spPr>
                <a:xfrm>
                  <a:off x="10497128" y="163945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F9A32EB-3BE8-4DBF-988C-0501E7FA6015}"/>
                    </a:ext>
                  </a:extLst>
                </p:cNvPr>
                <p:cNvCxnSpPr>
                  <a:cxnSpLocks/>
                </p:cNvCxnSpPr>
                <p:nvPr/>
              </p:nvCxnSpPr>
              <p:spPr>
                <a:xfrm>
                  <a:off x="10497128" y="197658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55C49D-4D70-4627-85A6-1D4E54BCE001}"/>
                    </a:ext>
                  </a:extLst>
                </p:cNvPr>
                <p:cNvCxnSpPr>
                  <a:cxnSpLocks/>
                </p:cNvCxnSpPr>
                <p:nvPr/>
              </p:nvCxnSpPr>
              <p:spPr>
                <a:xfrm>
                  <a:off x="10497128" y="2313708"/>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F31364F-1810-40CC-BD10-21DA38C84241}"/>
                    </a:ext>
                  </a:extLst>
                </p:cNvPr>
                <p:cNvCxnSpPr>
                  <a:cxnSpLocks/>
                </p:cNvCxnSpPr>
                <p:nvPr/>
              </p:nvCxnSpPr>
              <p:spPr>
                <a:xfrm>
                  <a:off x="10497128" y="2650835"/>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92928AB-CF69-42D2-9167-A860E8FBBAC4}"/>
                    </a:ext>
                  </a:extLst>
                </p:cNvPr>
                <p:cNvCxnSpPr>
                  <a:cxnSpLocks/>
                </p:cNvCxnSpPr>
                <p:nvPr/>
              </p:nvCxnSpPr>
              <p:spPr>
                <a:xfrm>
                  <a:off x="10497128" y="298796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444134-9E6E-4EA0-90FB-88FE2E50951E}"/>
                    </a:ext>
                  </a:extLst>
                </p:cNvPr>
                <p:cNvCxnSpPr>
                  <a:cxnSpLocks/>
                </p:cNvCxnSpPr>
                <p:nvPr/>
              </p:nvCxnSpPr>
              <p:spPr>
                <a:xfrm>
                  <a:off x="10497128" y="3325089"/>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B2A708C-AB8A-497D-BE72-AE71234C56F9}"/>
                    </a:ext>
                  </a:extLst>
                </p:cNvPr>
                <p:cNvCxnSpPr>
                  <a:cxnSpLocks/>
                </p:cNvCxnSpPr>
                <p:nvPr/>
              </p:nvCxnSpPr>
              <p:spPr>
                <a:xfrm>
                  <a:off x="10497128" y="3662216"/>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9EDDE3B-A12F-4A60-ADA7-7DA1062C97E8}"/>
                    </a:ext>
                  </a:extLst>
                </p:cNvPr>
                <p:cNvCxnSpPr>
                  <a:cxnSpLocks/>
                </p:cNvCxnSpPr>
                <p:nvPr/>
              </p:nvCxnSpPr>
              <p:spPr>
                <a:xfrm>
                  <a:off x="10497128" y="3999343"/>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C608939-20AF-443C-942A-29FD65E4D0C0}"/>
                    </a:ext>
                  </a:extLst>
                </p:cNvPr>
                <p:cNvCxnSpPr>
                  <a:cxnSpLocks/>
                </p:cNvCxnSpPr>
                <p:nvPr/>
              </p:nvCxnSpPr>
              <p:spPr>
                <a:xfrm>
                  <a:off x="10497128" y="4336470"/>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D46E38F-EA85-4EF2-87F7-8773F17ACD7A}"/>
                    </a:ext>
                  </a:extLst>
                </p:cNvPr>
                <p:cNvCxnSpPr>
                  <a:cxnSpLocks/>
                </p:cNvCxnSpPr>
                <p:nvPr/>
              </p:nvCxnSpPr>
              <p:spPr>
                <a:xfrm>
                  <a:off x="10497128" y="4673597"/>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C1ACE2D-1E39-47E9-8D65-E3487801A79D}"/>
                    </a:ext>
                  </a:extLst>
                </p:cNvPr>
                <p:cNvCxnSpPr>
                  <a:cxnSpLocks/>
                </p:cNvCxnSpPr>
                <p:nvPr/>
              </p:nvCxnSpPr>
              <p:spPr>
                <a:xfrm>
                  <a:off x="10497128" y="5010724"/>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D0758DD-8C17-4DB8-BF0C-2D3EDCB6062C}"/>
                    </a:ext>
                  </a:extLst>
                </p:cNvPr>
                <p:cNvCxnSpPr>
                  <a:cxnSpLocks/>
                </p:cNvCxnSpPr>
                <p:nvPr/>
              </p:nvCxnSpPr>
              <p:spPr>
                <a:xfrm>
                  <a:off x="10497128" y="5347851"/>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B219D63-17CC-47C7-BAB2-0D226A5BB51F}"/>
                    </a:ext>
                  </a:extLst>
                </p:cNvPr>
                <p:cNvCxnSpPr>
                  <a:cxnSpLocks/>
                </p:cNvCxnSpPr>
                <p:nvPr/>
              </p:nvCxnSpPr>
              <p:spPr>
                <a:xfrm>
                  <a:off x="10497128" y="5684982"/>
                  <a:ext cx="72043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0" name="Straight Connector 9">
                <a:extLst>
                  <a:ext uri="{FF2B5EF4-FFF2-40B4-BE49-F238E27FC236}">
                    <a16:creationId xmlns:a16="http://schemas.microsoft.com/office/drawing/2014/main" id="{B4FF351F-4518-45AB-A3E5-FA97FE038EC5}"/>
                  </a:ext>
                </a:extLst>
              </p:cNvPr>
              <p:cNvCxnSpPr>
                <a:cxnSpLocks/>
              </p:cNvCxnSpPr>
              <p:nvPr/>
            </p:nvCxnSpPr>
            <p:spPr>
              <a:xfrm>
                <a:off x="10497128"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D1627D9-31DE-4C82-829B-B937591AD797}"/>
                  </a:ext>
                </a:extLst>
              </p:cNvPr>
              <p:cNvCxnSpPr>
                <a:cxnSpLocks/>
              </p:cNvCxnSpPr>
              <p:nvPr/>
            </p:nvCxnSpPr>
            <p:spPr>
              <a:xfrm>
                <a:off x="11217564" y="1302327"/>
                <a:ext cx="0" cy="4382655"/>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31670E13-BFB2-4F49-96C0-C7B453569B69}"/>
                </a:ext>
              </a:extLst>
            </p:cNvPr>
            <p:cNvSpPr txBox="1"/>
            <p:nvPr/>
          </p:nvSpPr>
          <p:spPr>
            <a:xfrm>
              <a:off x="9120022" y="1302327"/>
              <a:ext cx="1085273" cy="4405052"/>
            </a:xfrm>
            <a:prstGeom prst="rect">
              <a:avLst/>
            </a:prstGeom>
            <a:noFill/>
          </p:spPr>
          <p:txBody>
            <a:bodyPr wrap="square" rtlCol="0">
              <a:spAutoFit/>
            </a:bodyPr>
            <a:lstStyle/>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[0]</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[2]</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[3]</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[4]</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[5]</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[6]</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[7]</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[8]</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[9]</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[10]</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[11]</a:t>
              </a:r>
            </a:p>
            <a:p>
              <a:pPr algn="r">
                <a:lnSpc>
                  <a:spcPts val="2600"/>
                </a:lnSpc>
              </a:pPr>
              <a:r>
                <a:rPr lang="en-US" sz="1600" dirty="0" err="1">
                  <a:latin typeface="Times New Roman" panose="02020603050405020304" pitchFamily="18" charset="0"/>
                  <a:cs typeface="Times New Roman" panose="02020603050405020304" pitchFamily="18" charset="0"/>
                </a:rPr>
                <a:t>ht</a:t>
              </a:r>
              <a:r>
                <a:rPr lang="en-US" sz="1600" dirty="0">
                  <a:latin typeface="Times New Roman" panose="02020603050405020304" pitchFamily="18" charset="0"/>
                  <a:cs typeface="Times New Roman" panose="02020603050405020304" pitchFamily="18" charset="0"/>
                </a:rPr>
                <a:t>[12]</a:t>
              </a:r>
            </a:p>
          </p:txBody>
        </p:sp>
      </p:grpSp>
      <p:sp>
        <p:nvSpPr>
          <p:cNvPr id="27" name="TextBox 26">
            <a:extLst>
              <a:ext uri="{FF2B5EF4-FFF2-40B4-BE49-F238E27FC236}">
                <a16:creationId xmlns:a16="http://schemas.microsoft.com/office/drawing/2014/main" id="{FB2258E6-33D3-4A8D-91BE-A5EDB6454103}"/>
              </a:ext>
            </a:extLst>
          </p:cNvPr>
          <p:cNvSpPr txBox="1"/>
          <p:nvPr/>
        </p:nvSpPr>
        <p:spPr>
          <a:xfrm>
            <a:off x="10393835" y="2452948"/>
            <a:ext cx="1012265" cy="4493538"/>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Cook</a:t>
            </a:r>
          </a:p>
          <a:p>
            <a:r>
              <a:rPr lang="en-US" sz="2200" dirty="0">
                <a:latin typeface="Times New Roman" panose="02020603050405020304" pitchFamily="18" charset="0"/>
                <a:cs typeface="Times New Roman" panose="02020603050405020304" pitchFamily="18" charset="0"/>
              </a:rPr>
              <a:t>Davis</a:t>
            </a:r>
          </a:p>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Frank</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a:t>
            </a:r>
          </a:p>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CBE0F616-566B-4C94-B9ED-2BCDDF656AA4}"/>
              </a:ext>
            </a:extLst>
          </p:cNvPr>
          <p:cNvSpPr txBox="1"/>
          <p:nvPr/>
        </p:nvSpPr>
        <p:spPr>
          <a:xfrm>
            <a:off x="10458102" y="4440030"/>
            <a:ext cx="868220"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Calle</a:t>
            </a:r>
          </a:p>
        </p:txBody>
      </p:sp>
      <p:sp>
        <p:nvSpPr>
          <p:cNvPr id="29" name="TextBox 28">
            <a:extLst>
              <a:ext uri="{FF2B5EF4-FFF2-40B4-BE49-F238E27FC236}">
                <a16:creationId xmlns:a16="http://schemas.microsoft.com/office/drawing/2014/main" id="{9920F248-D46A-427E-80D1-55069D94E9D5}"/>
              </a:ext>
            </a:extLst>
          </p:cNvPr>
          <p:cNvSpPr txBox="1"/>
          <p:nvPr/>
        </p:nvSpPr>
        <p:spPr>
          <a:xfrm>
            <a:off x="10393831" y="3745630"/>
            <a:ext cx="868220"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Earl</a:t>
            </a:r>
          </a:p>
        </p:txBody>
      </p:sp>
      <p:grpSp>
        <p:nvGrpSpPr>
          <p:cNvPr id="31" name="Group 30">
            <a:extLst>
              <a:ext uri="{FF2B5EF4-FFF2-40B4-BE49-F238E27FC236}">
                <a16:creationId xmlns:a16="http://schemas.microsoft.com/office/drawing/2014/main" id="{ABDE0652-CFCA-44FC-9AE4-7D86D1CE8FBD}"/>
              </a:ext>
            </a:extLst>
          </p:cNvPr>
          <p:cNvGrpSpPr/>
          <p:nvPr/>
        </p:nvGrpSpPr>
        <p:grpSpPr>
          <a:xfrm>
            <a:off x="10320827" y="3801456"/>
            <a:ext cx="1085273" cy="337127"/>
            <a:chOff x="10630224" y="2836761"/>
            <a:chExt cx="1085273" cy="337127"/>
          </a:xfrm>
        </p:grpSpPr>
        <p:cxnSp>
          <p:nvCxnSpPr>
            <p:cNvPr id="6" name="Straight Connector 5">
              <a:extLst>
                <a:ext uri="{FF2B5EF4-FFF2-40B4-BE49-F238E27FC236}">
                  <a16:creationId xmlns:a16="http://schemas.microsoft.com/office/drawing/2014/main" id="{AA16544B-0663-4E2E-BFB4-41655C971430}"/>
                </a:ext>
              </a:extLst>
            </p:cNvPr>
            <p:cNvCxnSpPr>
              <a:cxnSpLocks/>
            </p:cNvCxnSpPr>
            <p:nvPr/>
          </p:nvCxnSpPr>
          <p:spPr>
            <a:xfrm flipV="1">
              <a:off x="10630224" y="2836761"/>
              <a:ext cx="1085273" cy="337127"/>
            </a:xfrm>
            <a:prstGeom prst="line">
              <a:avLst/>
            </a:prstGeom>
            <a:ln w="28575">
              <a:solidFill>
                <a:schemeClr val="accent5">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5065CB5-9F9B-423B-8FE4-741627C14592}"/>
                </a:ext>
              </a:extLst>
            </p:cNvPr>
            <p:cNvCxnSpPr>
              <a:cxnSpLocks/>
            </p:cNvCxnSpPr>
            <p:nvPr/>
          </p:nvCxnSpPr>
          <p:spPr>
            <a:xfrm flipH="1" flipV="1">
              <a:off x="10630224" y="2836761"/>
              <a:ext cx="1085273" cy="337127"/>
            </a:xfrm>
            <a:prstGeom prst="line">
              <a:avLst/>
            </a:prstGeom>
            <a:ln w="28575">
              <a:solidFill>
                <a:schemeClr val="accent5">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5625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fade">
                                      <p:cBhvr>
                                        <p:cTn id="7" dur="500"/>
                                        <p:tgtEl>
                                          <p:spTgt spid="2">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5" end="5"/>
                                            </p:txEl>
                                          </p:spTgt>
                                        </p:tgtEl>
                                        <p:attrNameLst>
                                          <p:attrName>style.visibility</p:attrName>
                                        </p:attrNameLst>
                                      </p:cBhvr>
                                      <p:to>
                                        <p:strVal val="visible"/>
                                      </p:to>
                                    </p:set>
                                    <p:animEffect transition="in" filter="fade">
                                      <p:cBhvr>
                                        <p:cTn id="1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B19F3-4B80-C325-2C29-CCA8A36FC369}"/>
              </a:ext>
            </a:extLst>
          </p:cNvPr>
          <p:cNvSpPr>
            <a:spLocks noGrp="1"/>
          </p:cNvSpPr>
          <p:nvPr>
            <p:ph type="title"/>
          </p:nvPr>
        </p:nvSpPr>
        <p:spPr/>
        <p:txBody>
          <a:bodyPr/>
          <a:lstStyle/>
          <a:p>
            <a:r>
              <a:rPr lang="en-US" dirty="0"/>
              <a:t>size of hash table</a:t>
            </a:r>
          </a:p>
        </p:txBody>
      </p:sp>
      <p:sp>
        <p:nvSpPr>
          <p:cNvPr id="3" name="Content Placeholder 2">
            <a:extLst>
              <a:ext uri="{FF2B5EF4-FFF2-40B4-BE49-F238E27FC236}">
                <a16:creationId xmlns:a16="http://schemas.microsoft.com/office/drawing/2014/main" id="{8151DA30-60CC-7292-82FB-FAC9CEE0B4E3}"/>
              </a:ext>
            </a:extLst>
          </p:cNvPr>
          <p:cNvSpPr>
            <a:spLocks noGrp="1"/>
          </p:cNvSpPr>
          <p:nvPr>
            <p:ph idx="1"/>
          </p:nvPr>
        </p:nvSpPr>
        <p:spPr/>
        <p:txBody>
          <a:bodyPr anchor="t" anchorCtr="0">
            <a:normAutofit/>
          </a:bodyPr>
          <a:lstStyle/>
          <a:p>
            <a:pPr>
              <a:buFont typeface="Wingdings" pitchFamily="2" charset="2"/>
              <a:buChar char="Ø"/>
            </a:pPr>
            <a:r>
              <a:rPr lang="en-US" sz="3200" dirty="0"/>
              <a:t>How does the size of the hash table influence the number of collisions?</a:t>
            </a:r>
          </a:p>
          <a:p>
            <a:pPr>
              <a:buFont typeface="Wingdings" pitchFamily="2" charset="2"/>
              <a:buChar char="Ø"/>
            </a:pPr>
            <a:endParaRPr lang="en-US" sz="3200" dirty="0"/>
          </a:p>
          <a:p>
            <a:pPr>
              <a:buFont typeface="Wingdings" pitchFamily="2" charset="2"/>
              <a:buChar char="Ø"/>
            </a:pPr>
            <a:endParaRPr lang="en-US" sz="3200" dirty="0"/>
          </a:p>
          <a:p>
            <a:pPr>
              <a:buFont typeface="Wingdings" pitchFamily="2" charset="2"/>
              <a:buChar char="Ø"/>
            </a:pPr>
            <a:r>
              <a:rPr lang="en-US" sz="3200" dirty="0"/>
              <a:t>Let’s try running an example and changing the size of the hash table.</a:t>
            </a:r>
          </a:p>
        </p:txBody>
      </p:sp>
    </p:spTree>
    <p:extLst>
      <p:ext uri="{BB962C8B-B14F-4D97-AF65-F5344CB8AC3E}">
        <p14:creationId xmlns:p14="http://schemas.microsoft.com/office/powerpoint/2010/main" val="41302780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32221B-2D69-45AB-8B48-17963805D342}"/>
              </a:ext>
            </a:extLst>
          </p:cNvPr>
          <p:cNvSpPr>
            <a:spLocks noGrp="1"/>
          </p:cNvSpPr>
          <p:nvPr>
            <p:ph idx="1"/>
          </p:nvPr>
        </p:nvSpPr>
        <p:spPr>
          <a:xfrm>
            <a:off x="145888" y="1933847"/>
            <a:ext cx="11588912" cy="4416153"/>
          </a:xfrm>
        </p:spPr>
        <p:txBody>
          <a:bodyPr anchor="t" anchorCtr="0">
            <a:noAutofit/>
          </a:bodyPr>
          <a:lstStyle/>
          <a:p>
            <a:pPr>
              <a:lnSpc>
                <a:spcPct val="100000"/>
              </a:lnSpc>
              <a:spcBef>
                <a:spcPts val="1400"/>
              </a:spcBef>
            </a:pPr>
            <a:r>
              <a:rPr lang="en-US" sz="2800" dirty="0"/>
              <a:t>Table sizes should be prime numbers (no factors) if you want to reduce collisions.</a:t>
            </a:r>
          </a:p>
          <a:p>
            <a:pPr>
              <a:lnSpc>
                <a:spcPct val="100000"/>
              </a:lnSpc>
              <a:spcBef>
                <a:spcPts val="1400"/>
              </a:spcBef>
            </a:pPr>
            <a:r>
              <a:rPr lang="en-US" sz="2800" dirty="0"/>
              <a:t>A constant trade-off with hash tables is that increasing the array size to improve performance by reducing collisions wastes space; decreasing the array size to conserve space increases collisions and thus decreases performance</a:t>
            </a:r>
          </a:p>
          <a:p>
            <a:pPr>
              <a:lnSpc>
                <a:spcPct val="100000"/>
              </a:lnSpc>
              <a:spcBef>
                <a:spcPts val="1400"/>
              </a:spcBef>
            </a:pPr>
            <a:r>
              <a:rPr lang="en-US" sz="2800" dirty="0"/>
              <a:t>But sometimes (not always) we can develop a </a:t>
            </a:r>
            <a:r>
              <a:rPr lang="en-US" sz="2800" b="1" dirty="0"/>
              <a:t>perfect hash function</a:t>
            </a:r>
            <a:r>
              <a:rPr lang="en-US" sz="2800" dirty="0"/>
              <a:t> which never has collisions, thus guaranteeing Ɵ(1) performance without wasting space with a low load factor</a:t>
            </a:r>
            <a:endParaRPr lang="en-US" sz="2800" b="1" dirty="0"/>
          </a:p>
        </p:txBody>
      </p:sp>
      <p:sp>
        <p:nvSpPr>
          <p:cNvPr id="3" name="Title 2">
            <a:extLst>
              <a:ext uri="{FF2B5EF4-FFF2-40B4-BE49-F238E27FC236}">
                <a16:creationId xmlns:a16="http://schemas.microsoft.com/office/drawing/2014/main" id="{B8C49C39-2299-4989-86B5-2C5A4ECCAC45}"/>
              </a:ext>
            </a:extLst>
          </p:cNvPr>
          <p:cNvSpPr>
            <a:spLocks noGrp="1"/>
          </p:cNvSpPr>
          <p:nvPr>
            <p:ph type="title"/>
          </p:nvPr>
        </p:nvSpPr>
        <p:spPr>
          <a:xfrm>
            <a:off x="635000" y="999066"/>
            <a:ext cx="8559800" cy="693113"/>
          </a:xfrm>
        </p:spPr>
        <p:txBody>
          <a:bodyPr>
            <a:noAutofit/>
          </a:bodyPr>
          <a:lstStyle/>
          <a:p>
            <a:r>
              <a:rPr lang="en-US" sz="4400" dirty="0"/>
              <a:t>Perfect Hashing</a:t>
            </a:r>
          </a:p>
        </p:txBody>
      </p:sp>
    </p:spTree>
    <p:extLst>
      <p:ext uri="{BB962C8B-B14F-4D97-AF65-F5344CB8AC3E}">
        <p14:creationId xmlns:p14="http://schemas.microsoft.com/office/powerpoint/2010/main" val="39546930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dirty="0">
                <a:solidFill>
                  <a:srgbClr val="FFFFFF"/>
                </a:solidFill>
              </a:rPr>
              <a:t>Questions?</a:t>
            </a: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p:txBody>
          <a:bodyPr>
            <a:normAutofit/>
          </a:bodyPr>
          <a:lstStyle/>
          <a:p>
            <a:pPr eaLnBrk="1" hangingPunct="1"/>
            <a:r>
              <a:rPr lang="en-US" altLang="en-US" sz="4800" dirty="0">
                <a:latin typeface="Times New Roman" panose="02020603050405020304" pitchFamily="18" charset="0"/>
                <a:cs typeface="Times New Roman" panose="02020603050405020304" pitchFamily="18" charset="0"/>
              </a:rPr>
              <a:t>In Class Exercise </a:t>
            </a:r>
          </a:p>
        </p:txBody>
      </p:sp>
      <p:sp>
        <p:nvSpPr>
          <p:cNvPr id="2" name="Content Placeholder 1"/>
          <p:cNvSpPr>
            <a:spLocks noGrp="1"/>
          </p:cNvSpPr>
          <p:nvPr>
            <p:ph idx="1"/>
          </p:nvPr>
        </p:nvSpPr>
        <p:spPr>
          <a:xfrm>
            <a:off x="581192" y="1981200"/>
            <a:ext cx="8534400" cy="4114800"/>
          </a:xfrm>
        </p:spPr>
        <p:txBody>
          <a:bodyPr anchor="t" anchorCtr="0">
            <a:normAutofit/>
          </a:bodyPr>
          <a:lstStyle/>
          <a:p>
            <a:pPr>
              <a:buNone/>
            </a:pPr>
            <a:endParaRPr lang="en-US" altLang="en-US" sz="5400" dirty="0"/>
          </a:p>
        </p:txBody>
      </p:sp>
    </p:spTree>
    <p:extLst>
      <p:ext uri="{BB962C8B-B14F-4D97-AF65-F5344CB8AC3E}">
        <p14:creationId xmlns:p14="http://schemas.microsoft.com/office/powerpoint/2010/main" val="4022517574"/>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2D3C2F-55A5-48C0-9D5A-95C7FF0389D0}">
  <ds:schemaRefs>
    <ds:schemaRef ds:uri="http://schemas.microsoft.com/sharepoint/v3/contenttype/forms"/>
  </ds:schemaRefs>
</ds:datastoreItem>
</file>

<file path=customXml/itemProps3.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Custom</Template>
  <TotalTime>3276</TotalTime>
  <Words>3300</Words>
  <Application>Microsoft Macintosh PowerPoint</Application>
  <PresentationFormat>Widescreen</PresentationFormat>
  <Paragraphs>502</Paragraphs>
  <Slides>35</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Symbol</vt:lpstr>
      <vt:lpstr>Times New Roman</vt:lpstr>
      <vt:lpstr>Wingdings</vt:lpstr>
      <vt:lpstr>Wingdings 2</vt:lpstr>
      <vt:lpstr>Custom</vt:lpstr>
      <vt:lpstr>Hash Tables</vt:lpstr>
      <vt:lpstr>Feedback in class exercise Lect7 </vt:lpstr>
      <vt:lpstr>Feedback in class exercise Lect7 Challenge</vt:lpstr>
      <vt:lpstr>Verbal defense hw1</vt:lpstr>
      <vt:lpstr>Most common issues with hw1</vt:lpstr>
      <vt:lpstr>Most common issues with hw1</vt:lpstr>
      <vt:lpstr>Most common issues with hw1</vt:lpstr>
      <vt:lpstr>Review</vt:lpstr>
      <vt:lpstr>PowerPoint Presentation</vt:lpstr>
      <vt:lpstr>PowerPoint Presentation</vt:lpstr>
      <vt:lpstr>PowerPoint Presentation</vt:lpstr>
      <vt:lpstr>Hash Tables (hash maps)</vt:lpstr>
      <vt:lpstr>Example</vt:lpstr>
      <vt:lpstr>Example</vt:lpstr>
      <vt:lpstr>Collisions: The Reason We Usually Can’t Get Perfect O(1) Performance</vt:lpstr>
      <vt:lpstr>Chaining</vt:lpstr>
      <vt:lpstr>Open Addressing to Resolve Collisions</vt:lpstr>
      <vt:lpstr>Open Addressing to Resolve Collisions</vt:lpstr>
      <vt:lpstr>Open Addressing - LINEAR</vt:lpstr>
      <vt:lpstr>Probing the Hash table to find AN open spot</vt:lpstr>
      <vt:lpstr>Probing the Hash table to find AN open spot</vt:lpstr>
      <vt:lpstr>Probing the Hash table to find AN open spot</vt:lpstr>
      <vt:lpstr>Linear probing for collisions - SOLUTION</vt:lpstr>
      <vt:lpstr>PowerPoint Presentation</vt:lpstr>
      <vt:lpstr>Probing the Hash table to find AN open spot</vt:lpstr>
      <vt:lpstr>Clustering</vt:lpstr>
      <vt:lpstr>Quadratic PROBING</vt:lpstr>
      <vt:lpstr>Quadratic probing for collisions</vt:lpstr>
      <vt:lpstr>PowerPoint Presentation</vt:lpstr>
      <vt:lpstr>Lazy Deletion and Occupied/Empty/Deleted Slot</vt:lpstr>
      <vt:lpstr>Lazy Deletion and Occupied/Empty/Deleted Slot Status</vt:lpstr>
      <vt:lpstr>size of hash table</vt:lpstr>
      <vt:lpstr>Perfect Hashing</vt:lpstr>
      <vt:lpstr>Questions?</vt:lpstr>
      <vt:lpstr>In Class Exercise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CS399 Run Time Analysis </dc:title>
  <dc:creator>Marriott, Heather H</dc:creator>
  <cp:lastModifiedBy>Marriott, Heather H</cp:lastModifiedBy>
  <cp:revision>35</cp:revision>
  <dcterms:created xsi:type="dcterms:W3CDTF">2024-05-27T01:44:40Z</dcterms:created>
  <dcterms:modified xsi:type="dcterms:W3CDTF">2026-09-16T17:28:54Z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